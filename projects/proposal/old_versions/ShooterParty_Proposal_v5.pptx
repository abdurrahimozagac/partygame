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d93ab78-9b82-e825-e1a3-c0290a0220db}">
          <p14:sldIdLst>
            <p14:sldId id="256"/>
            <p14:sldId id="257"/>
          </p14:sldIdLst>
        </p14:section>
        <p14:section name="Gameplay and tech" id="{a6b158fc-2f9a-6f44-5191-d0f70886c766}">
          <p14:sldIdLst>
            <p14:sldId id="258"/>
            <p14:sldId id="259"/>
            <p14:sldId id="260"/>
            <p14:sldId id="261"/>
            <p14:sldId id="262"/>
            <p14:sldId id="263"/>
          </p14:sldIdLst>
        </p14:section>
        <p14:section name="Market" id="{51c68c8f-a275-b5cc-e8cc-06bef9dfcbbe}">
          <p14:sldIdLst>
            <p14:sldId id="264"/>
            <p14:sldId id="265"/>
            <p14:sldId id="266"/>
          </p14:sldIdLst>
        </p14:section>
        <p14:section name="Innovation" id="{3b53b24c-93fa-8a2d-4859-f885901c6985}">
          <p14:sldIdLst>
            <p14:sldId id="267"/>
            <p14:sldId id="268"/>
            <p14:sldId id="269"/>
          </p14:sldIdLst>
        </p14:section>
        <p14:section name="Drafts and prototypes" id="{f76fa747-9f6a-1591-36b0-8707bfed5f63}">
          <p14:sldIdLst>
            <p14:sldId id="270"/>
            <p14:sldId id="271"/>
            <p14:sldId id="272"/>
            <p14:sldId id="273"/>
          </p14:sldIdLst>
        </p14:section>
        <p14:section name="Plan" id="{c55cf7e3-2c00-31cc-cce0-fc6be0dd1f56}">
          <p14:sldIdLst>
            <p14:sldId id="274"/>
          </p14:sldIdLst>
        </p14:section>
        <p14:section name="Close" id="{b2f0ac7a-d4b6-631c-9b6b-8f89a33c8a32}">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The four of us are the four player slots at the bottom.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first: two to four friends, each on a PC, in the same room; one PC hosts. Everyone plays the same cube in one of four colours. 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the cube spits out a piece of its own body, hit or miss. Getting hit loses it and pushes you back. And the less you have, the further the same hit sends you; off the edge is a knockout.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shooting would be pure loss and hiding would win. If only the target paid, shooting would be free and spamming would win. Charging both makes each shot a trade: a hit should take more from the target than the shot cost you, and a miss costs only you. So aim and timing become the skill. The obvious objection, why not just wait and stay heavy, is answered by scoring: points come from knockouts, not survival, so a cube that never shoots scores nothing. Respawn at full mass and a round timer handle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not velocity, and sideways grip is low, so you have to set up corners early. Braking restores grip. Falling sends you back to the last checkpoint: you lose time, not the race. Finish order gives placement, and anyone unfinished at the timeout is ranked by track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Spend your body to shoot, lose body when hit, that body is your size, ammunition and health, and less of it means you fly further. We searched for the last link and did not find it in any shipped game. The next slide shows the closest prior art for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Lighter-means-launched-further, and all four links in one 3D party game, we did not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This is a real prototype: a deterministic physics simulation of the Mass Knockout rule, written in Three.js and rendered frame by frame. Over three shots the target shrinks and is pushed further each time. We built it to check that the escalating knockback reads clearly on screen before writing any Unity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art-direction drafts for the same character: vinyl toy, building blocks, tin toy and jelly. We generated them to choose a direction before anyone models anything. The concept renders in this deck follow the glossy-toy direction. The four player colours stay the same whatever look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drafts for the working title. A is a wordmark for the title screen and this deck. B stacks the name under the cube for square formats like a store capsule. C is a small icon for the taskbar and the build. None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Mass Knockout: one flat square platform with open edges and no walls, so every edge is a knockout line; players spawn near the corners. Ice Race: a closed loop with a start-finish line and checkpoints; corners are where low grip matters, and a fall puts you back at the last checkpoint. These are drafts for the blockout, not final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order. The shared core comes first, then the LAN layer, then the two mini-games, Ice Race first because it reuses more of the core, Mass Knockout as the riskier one. Then the session loop and tuning. The order is fixed; milestone dates and owners are still to be decided. Below, the three main risks: networked physics, handled by host authority; balance, handled by scoring knockouts, full-mass respawns, a timer and catch-up scoring; and scope, handled by keeping the MVP to exactly two mini-games.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
          <p:cNvSpPr txBox="1"/>
          <p:nvPr/>
        </p:nvSpPr>
        <p:spPr>
          <a:xfrm>
            <a:off x="609585" y="406390"/>
            <a:ext cx="3450264"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8C9FC3"/>
                </a:solidFill>
                <a:latin typeface="Courier New" pitchFamily="34" charset="0"/>
                <a:ea typeface="Courier New" pitchFamily="34" charset="-122"/>
                <a:cs typeface="Courier New" pitchFamily="34" charset="-120"/>
              </a:rPr>
              <a:t>CMP406 GAMETECH · FALL 2026 · GAME PROPOSAL</a:t>
            </a:r>
            <a:endParaRPr lang="en-US" sz="750" dirty="0"/>
          </a:p>
        </p:txBody>
      </p:sp>
      <p:sp>
        <p:nvSpPr>
          <p:cNvPr id="3" name="Text 1.2"/>
          <p:cNvSpPr txBox="1"/>
          <p:nvPr/>
        </p:nvSpPr>
        <p:spPr>
          <a:xfrm>
            <a:off x="571486" y="1206470"/>
            <a:ext cx="2204534" cy="1460463"/>
          </a:xfrm>
          <a:prstGeom prst="rect">
            <a:avLst/>
          </a:prstGeom>
          <a:noFill/>
          <a:ln/>
        </p:spPr>
        <p:txBody>
          <a:bodyPr wrap="square" lIns="0" tIns="0" rIns="0" bIns="0" rtlCol="0" anchor="t"/>
          <a:lstStyle/>
          <a:p>
            <a:pPr algn="l" indent="0" marL="0">
              <a:lnSpc>
                <a:spcPts val="11500"/>
              </a:lnSpc>
              <a:buNone/>
            </a:pPr>
            <a:r>
              <a:rPr lang="en-US" sz="12500" spc="63" kern="0" dirty="0">
                <a:solidFill>
                  <a:srgbClr val="2EC0FF"/>
                </a:solidFill>
                <a:latin typeface="Impact" pitchFamily="34" charset="0"/>
                <a:ea typeface="Impact" pitchFamily="34" charset="-122"/>
                <a:cs typeface="Impact" pitchFamily="34" charset="-120"/>
              </a:rPr>
              <a:t>ICE</a:t>
            </a:r>
            <a:endParaRPr lang="en-US" sz="12500" dirty="0"/>
          </a:p>
        </p:txBody>
      </p:sp>
      <p:sp>
        <p:nvSpPr>
          <p:cNvPr id="4" name="Text 1.3"/>
          <p:cNvSpPr txBox="1"/>
          <p:nvPr/>
        </p:nvSpPr>
        <p:spPr>
          <a:xfrm>
            <a:off x="571486" y="2603435"/>
            <a:ext cx="5415246" cy="1460463"/>
          </a:xfrm>
          <a:prstGeom prst="rect">
            <a:avLst/>
          </a:prstGeom>
          <a:noFill/>
          <a:ln/>
        </p:spPr>
        <p:txBody>
          <a:bodyPr wrap="square" lIns="0" tIns="0" rIns="0" bIns="0" rtlCol="0" anchor="t"/>
          <a:lstStyle/>
          <a:p>
            <a:pPr algn="l" indent="0" marL="0">
              <a:lnSpc>
                <a:spcPts val="11500"/>
              </a:lnSpc>
              <a:buNone/>
            </a:pPr>
            <a:r>
              <a:rPr lang="en-US" sz="12500" spc="63" kern="0" dirty="0">
                <a:solidFill>
                  <a:srgbClr val="EEF5FF"/>
                </a:solidFill>
                <a:latin typeface="Impact" pitchFamily="34" charset="0"/>
                <a:ea typeface="Impact" pitchFamily="34" charset="-122"/>
                <a:cs typeface="Impact" pitchFamily="34" charset="-120"/>
              </a:rPr>
              <a:t>RUMBLE</a:t>
            </a:r>
            <a:endParaRPr lang="en-US" sz="12500" dirty="0"/>
          </a:p>
        </p:txBody>
      </p:sp>
      <p:sp>
        <p:nvSpPr>
          <p:cNvPr id="5" name="Text 1.4"/>
          <p:cNvSpPr txBox="1"/>
          <p:nvPr/>
        </p:nvSpPr>
        <p:spPr>
          <a:xfrm>
            <a:off x="609585" y="4190895"/>
            <a:ext cx="1396965" cy="2539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FF6A1A"/>
                </a:solidFill>
                <a:latin typeface="Courier New" pitchFamily="34" charset="0"/>
                <a:ea typeface="Courier New" pitchFamily="34" charset="-122"/>
                <a:cs typeface="Courier New" pitchFamily="34" charset="-120"/>
              </a:rPr>
              <a:t>WORKING TITLE</a:t>
            </a:r>
            <a:endParaRPr lang="en-US" sz="700" dirty="0"/>
          </a:p>
        </p:txBody>
      </p:sp>
      <p:sp>
        <p:nvSpPr>
          <p:cNvPr id="6" name="Text 1.5"/>
          <p:cNvSpPr txBox="1"/>
          <p:nvPr/>
        </p:nvSpPr>
        <p:spPr>
          <a:xfrm>
            <a:off x="609585" y="4597285"/>
            <a:ext cx="4863978" cy="518107"/>
          </a:xfrm>
          <a:prstGeom prst="rect">
            <a:avLst/>
          </a:prstGeom>
          <a:noFill/>
          <a:ln/>
        </p:spPr>
        <p:txBody>
          <a:bodyPr wrap="square" lIns="0" tIns="0" rIns="0" bIns="0" rtlCol="0" anchor="t"/>
          <a:lstStyle/>
          <a:p>
            <a:pPr algn="l" indent="0" marL="0">
              <a:lnSpc>
                <a:spcPts val="2040"/>
              </a:lnSpc>
              <a:buNone/>
            </a:pPr>
            <a:r>
              <a:rPr lang="en-US" sz="1500" dirty="0">
                <a:solidFill>
                  <a:srgbClr val="EEF5FF"/>
                </a:solidFill>
                <a:latin typeface="Arial" pitchFamily="34" charset="0"/>
                <a:ea typeface="Arial" pitchFamily="34" charset="-122"/>
                <a:cs typeface="Arial" pitchFamily="34" charset="-120"/>
              </a:rPr>
              <a:t>A LAN party game for 2–4 players: short physics mini-games, one shared scoreboard.</a:t>
            </a:r>
            <a:endParaRPr lang="en-US" sz="1500" dirty="0"/>
          </a:p>
        </p:txBody>
      </p:sp>
      <p:sp>
        <p:nvSpPr>
          <p:cNvPr id="7" name="Text 1.6"/>
          <p:cNvSpPr txBox="1"/>
          <p:nvPr/>
        </p:nvSpPr>
        <p:spPr>
          <a:xfrm>
            <a:off x="761981" y="5613260"/>
            <a:ext cx="400040" cy="327144"/>
          </a:xfrm>
          <a:prstGeom prst="rect">
            <a:avLst/>
          </a:prstGeom>
          <a:noFill/>
          <a:ln/>
        </p:spPr>
        <p:txBody>
          <a:bodyPr wrap="square" lIns="0" tIns="0" rIns="0" bIns="0" rtlCol="0" anchor="t"/>
          <a:lstStyle/>
          <a:p>
            <a:pPr algn="l" indent="0" marL="0">
              <a:lnSpc>
                <a:spcPts val="2580"/>
              </a:lnSpc>
              <a:buNone/>
            </a:pPr>
            <a:r>
              <a:rPr lang="en-US" sz="2800" spc="14" kern="0" dirty="0">
                <a:solidFill>
                  <a:srgbClr val="FF6A1A"/>
                </a:solidFill>
                <a:latin typeface="Impact" pitchFamily="34" charset="0"/>
                <a:ea typeface="Impact" pitchFamily="34" charset="-122"/>
                <a:cs typeface="Impact" pitchFamily="34" charset="-120"/>
              </a:rPr>
              <a:t>P1</a:t>
            </a:r>
            <a:endParaRPr lang="en-US" sz="2800" dirty="0"/>
          </a:p>
        </p:txBody>
      </p:sp>
      <p:sp>
        <p:nvSpPr>
          <p:cNvPr id="8" name="Text 1.7"/>
          <p:cNvSpPr txBox="1"/>
          <p:nvPr/>
        </p:nvSpPr>
        <p:spPr>
          <a:xfrm>
            <a:off x="1269968" y="5638659"/>
            <a:ext cx="1943051"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Ezel Bayraktar</a:t>
            </a:r>
            <a:endParaRPr lang="en-US" sz="1150" dirty="0"/>
          </a:p>
        </p:txBody>
      </p:sp>
      <p:sp>
        <p:nvSpPr>
          <p:cNvPr id="9" name="Text 1.8"/>
          <p:cNvSpPr txBox="1"/>
          <p:nvPr/>
        </p:nvSpPr>
        <p:spPr>
          <a:xfrm>
            <a:off x="1269968" y="5854554"/>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2220356197</a:t>
            </a:r>
            <a:endParaRPr lang="en-US" sz="750" dirty="0"/>
          </a:p>
        </p:txBody>
      </p:sp>
      <p:sp>
        <p:nvSpPr>
          <p:cNvPr id="10" name="Text 1.9"/>
          <p:cNvSpPr txBox="1"/>
          <p:nvPr/>
        </p:nvSpPr>
        <p:spPr>
          <a:xfrm>
            <a:off x="2514537" y="6019650"/>
            <a:ext cx="584185" cy="106677"/>
          </a:xfrm>
          <a:prstGeom prst="rect">
            <a:avLst/>
          </a:prstGeom>
          <a:noFill/>
          <a:ln/>
        </p:spPr>
        <p:txBody>
          <a:bodyPr wrap="square" lIns="0" tIns="0" rIns="0" bIns="0" rtlCol="0" anchor="t"/>
          <a:lstStyle/>
          <a:p>
            <a:pPr algn="r"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READY</a:t>
            </a:r>
            <a:endParaRPr lang="en-US" sz="700" dirty="0"/>
          </a:p>
        </p:txBody>
      </p:sp>
      <p:sp>
        <p:nvSpPr>
          <p:cNvPr id="11" name="Text 1.10"/>
          <p:cNvSpPr txBox="1"/>
          <p:nvPr/>
        </p:nvSpPr>
        <p:spPr>
          <a:xfrm>
            <a:off x="3555911" y="5613260"/>
            <a:ext cx="445683" cy="327144"/>
          </a:xfrm>
          <a:prstGeom prst="rect">
            <a:avLst/>
          </a:prstGeom>
          <a:noFill/>
          <a:ln/>
        </p:spPr>
        <p:txBody>
          <a:bodyPr wrap="square" lIns="0" tIns="0" rIns="0" bIns="0" rtlCol="0" anchor="t"/>
          <a:lstStyle/>
          <a:p>
            <a:pPr algn="l" indent="0" marL="0">
              <a:lnSpc>
                <a:spcPts val="2580"/>
              </a:lnSpc>
              <a:buNone/>
            </a:pPr>
            <a:r>
              <a:rPr lang="en-US" sz="2800" spc="14" kern="0" dirty="0">
                <a:solidFill>
                  <a:srgbClr val="2EC0FF"/>
                </a:solidFill>
                <a:latin typeface="Impact" pitchFamily="34" charset="0"/>
                <a:ea typeface="Impact" pitchFamily="34" charset="-122"/>
                <a:cs typeface="Impact" pitchFamily="34" charset="-120"/>
              </a:rPr>
              <a:t>P2</a:t>
            </a:r>
            <a:endParaRPr lang="en-US" sz="2800" dirty="0"/>
          </a:p>
        </p:txBody>
      </p:sp>
      <p:sp>
        <p:nvSpPr>
          <p:cNvPr id="12" name="Text 1.11"/>
          <p:cNvSpPr txBox="1"/>
          <p:nvPr/>
        </p:nvSpPr>
        <p:spPr>
          <a:xfrm>
            <a:off x="4063898" y="5638659"/>
            <a:ext cx="1943051"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Abdurrahim Özağaç</a:t>
            </a:r>
            <a:endParaRPr lang="en-US" sz="1150" dirty="0"/>
          </a:p>
        </p:txBody>
      </p:sp>
      <p:sp>
        <p:nvSpPr>
          <p:cNvPr id="13" name="Text 1.12"/>
          <p:cNvSpPr txBox="1"/>
          <p:nvPr/>
        </p:nvSpPr>
        <p:spPr>
          <a:xfrm>
            <a:off x="4063898" y="5854554"/>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2220356033</a:t>
            </a:r>
            <a:endParaRPr lang="en-US" sz="750" dirty="0"/>
          </a:p>
        </p:txBody>
      </p:sp>
      <p:sp>
        <p:nvSpPr>
          <p:cNvPr id="14" name="Text 1.13"/>
          <p:cNvSpPr txBox="1"/>
          <p:nvPr/>
        </p:nvSpPr>
        <p:spPr>
          <a:xfrm>
            <a:off x="5308467" y="6019650"/>
            <a:ext cx="584185" cy="106677"/>
          </a:xfrm>
          <a:prstGeom prst="rect">
            <a:avLst/>
          </a:prstGeom>
          <a:noFill/>
          <a:ln/>
        </p:spPr>
        <p:txBody>
          <a:bodyPr wrap="square" lIns="0" tIns="0" rIns="0" bIns="0" rtlCol="0" anchor="t"/>
          <a:lstStyle/>
          <a:p>
            <a:pPr algn="r"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READY</a:t>
            </a:r>
            <a:endParaRPr lang="en-US" sz="700" dirty="0"/>
          </a:p>
        </p:txBody>
      </p:sp>
      <p:sp>
        <p:nvSpPr>
          <p:cNvPr id="15" name="Text 1.14"/>
          <p:cNvSpPr txBox="1"/>
          <p:nvPr/>
        </p:nvSpPr>
        <p:spPr>
          <a:xfrm>
            <a:off x="6349841" y="5613260"/>
            <a:ext cx="456411" cy="327144"/>
          </a:xfrm>
          <a:prstGeom prst="rect">
            <a:avLst/>
          </a:prstGeom>
          <a:noFill/>
          <a:ln/>
        </p:spPr>
        <p:txBody>
          <a:bodyPr wrap="square" lIns="0" tIns="0" rIns="0" bIns="0" rtlCol="0" anchor="t"/>
          <a:lstStyle/>
          <a:p>
            <a:pPr algn="l" indent="0" marL="0">
              <a:lnSpc>
                <a:spcPts val="2580"/>
              </a:lnSpc>
              <a:buNone/>
            </a:pPr>
            <a:r>
              <a:rPr lang="en-US" sz="2800" spc="14" kern="0" dirty="0">
                <a:solidFill>
                  <a:srgbClr val="6CD63A"/>
                </a:solidFill>
                <a:latin typeface="Impact" pitchFamily="34" charset="0"/>
                <a:ea typeface="Impact" pitchFamily="34" charset="-122"/>
                <a:cs typeface="Impact" pitchFamily="34" charset="-120"/>
              </a:rPr>
              <a:t>P3</a:t>
            </a:r>
            <a:endParaRPr lang="en-US" sz="2800" dirty="0"/>
          </a:p>
        </p:txBody>
      </p:sp>
      <p:sp>
        <p:nvSpPr>
          <p:cNvPr id="16" name="Text 1.15"/>
          <p:cNvSpPr txBox="1"/>
          <p:nvPr/>
        </p:nvSpPr>
        <p:spPr>
          <a:xfrm>
            <a:off x="6857829" y="5638659"/>
            <a:ext cx="1943051"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Kürşat Hürkan Aydın</a:t>
            </a:r>
            <a:endParaRPr lang="en-US" sz="1150" dirty="0"/>
          </a:p>
        </p:txBody>
      </p:sp>
      <p:sp>
        <p:nvSpPr>
          <p:cNvPr id="17" name="Text 1.16"/>
          <p:cNvSpPr txBox="1"/>
          <p:nvPr/>
        </p:nvSpPr>
        <p:spPr>
          <a:xfrm>
            <a:off x="6857829" y="5854554"/>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2230356008</a:t>
            </a:r>
            <a:endParaRPr lang="en-US" sz="750" dirty="0"/>
          </a:p>
        </p:txBody>
      </p:sp>
      <p:sp>
        <p:nvSpPr>
          <p:cNvPr id="18" name="Text 1.17"/>
          <p:cNvSpPr txBox="1"/>
          <p:nvPr/>
        </p:nvSpPr>
        <p:spPr>
          <a:xfrm>
            <a:off x="8102397" y="6019650"/>
            <a:ext cx="584185" cy="106677"/>
          </a:xfrm>
          <a:prstGeom prst="rect">
            <a:avLst/>
          </a:prstGeom>
          <a:noFill/>
          <a:ln/>
        </p:spPr>
        <p:txBody>
          <a:bodyPr wrap="square" lIns="0" tIns="0" rIns="0" bIns="0" rtlCol="0" anchor="t"/>
          <a:lstStyle/>
          <a:p>
            <a:pPr algn="r" indent="0" marL="0">
              <a:lnSpc>
                <a:spcPts val="840"/>
              </a:lnSpc>
              <a:buNone/>
            </a:pPr>
            <a:r>
              <a:rPr lang="en-US" sz="700" b="1" spc="126" kern="0" dirty="0">
                <a:solidFill>
                  <a:srgbClr val="6CD63A"/>
                </a:solidFill>
                <a:latin typeface="Courier New" pitchFamily="34" charset="0"/>
                <a:ea typeface="Courier New" pitchFamily="34" charset="-122"/>
                <a:cs typeface="Courier New" pitchFamily="34" charset="-120"/>
              </a:rPr>
              <a:t>READY</a:t>
            </a:r>
            <a:endParaRPr lang="en-US" sz="700" dirty="0"/>
          </a:p>
        </p:txBody>
      </p:sp>
      <p:sp>
        <p:nvSpPr>
          <p:cNvPr id="19" name="Text 1.18"/>
          <p:cNvSpPr txBox="1"/>
          <p:nvPr/>
        </p:nvSpPr>
        <p:spPr>
          <a:xfrm>
            <a:off x="9143771" y="5613260"/>
            <a:ext cx="444842" cy="327144"/>
          </a:xfrm>
          <a:prstGeom prst="rect">
            <a:avLst/>
          </a:prstGeom>
          <a:noFill/>
          <a:ln/>
        </p:spPr>
        <p:txBody>
          <a:bodyPr wrap="square" lIns="0" tIns="0" rIns="0" bIns="0" rtlCol="0" anchor="t"/>
          <a:lstStyle/>
          <a:p>
            <a:pPr algn="l" indent="0" marL="0">
              <a:lnSpc>
                <a:spcPts val="2580"/>
              </a:lnSpc>
              <a:buNone/>
            </a:pPr>
            <a:r>
              <a:rPr lang="en-US" sz="2800" spc="14" kern="0" dirty="0">
                <a:solidFill>
                  <a:srgbClr val="A56BFF"/>
                </a:solidFill>
                <a:latin typeface="Impact" pitchFamily="34" charset="0"/>
                <a:ea typeface="Impact" pitchFamily="34" charset="-122"/>
                <a:cs typeface="Impact" pitchFamily="34" charset="-120"/>
              </a:rPr>
              <a:t>P4</a:t>
            </a:r>
            <a:endParaRPr lang="en-US" sz="2800" dirty="0"/>
          </a:p>
        </p:txBody>
      </p:sp>
      <p:sp>
        <p:nvSpPr>
          <p:cNvPr id="20" name="Text 1.19"/>
          <p:cNvSpPr txBox="1"/>
          <p:nvPr/>
        </p:nvSpPr>
        <p:spPr>
          <a:xfrm>
            <a:off x="9651759" y="5638659"/>
            <a:ext cx="1943051"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Ardıl Bilal Ülkü</a:t>
            </a:r>
            <a:endParaRPr lang="en-US" sz="1150" dirty="0"/>
          </a:p>
        </p:txBody>
      </p:sp>
      <p:sp>
        <p:nvSpPr>
          <p:cNvPr id="21" name="Text 1.20"/>
          <p:cNvSpPr txBox="1"/>
          <p:nvPr/>
        </p:nvSpPr>
        <p:spPr>
          <a:xfrm>
            <a:off x="9651759" y="5854554"/>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2230356051</a:t>
            </a:r>
            <a:endParaRPr lang="en-US" sz="750" dirty="0"/>
          </a:p>
        </p:txBody>
      </p:sp>
      <p:sp>
        <p:nvSpPr>
          <p:cNvPr id="22" name="Text 1.21"/>
          <p:cNvSpPr txBox="1"/>
          <p:nvPr/>
        </p:nvSpPr>
        <p:spPr>
          <a:xfrm>
            <a:off x="10896328" y="6019650"/>
            <a:ext cx="584185" cy="106677"/>
          </a:xfrm>
          <a:prstGeom prst="rect">
            <a:avLst/>
          </a:prstGeom>
          <a:noFill/>
          <a:ln/>
        </p:spPr>
        <p:txBody>
          <a:bodyPr wrap="square" lIns="0" tIns="0" rIns="0" bIns="0" rtlCol="0" anchor="t"/>
          <a:lstStyle/>
          <a:p>
            <a:pPr algn="r" indent="0" marL="0">
              <a:lnSpc>
                <a:spcPts val="840"/>
              </a:lnSpc>
              <a:buNone/>
            </a:pPr>
            <a:r>
              <a:rPr lang="en-US" sz="700" b="1" spc="126" kern="0" dirty="0">
                <a:solidFill>
                  <a:srgbClr val="A56BFF"/>
                </a:solidFill>
                <a:latin typeface="Courier New" pitchFamily="34" charset="0"/>
                <a:ea typeface="Courier New" pitchFamily="34" charset="-122"/>
                <a:cs typeface="Courier New" pitchFamily="34" charset="-120"/>
              </a:rPr>
              <a:t>READY</a:t>
            </a:r>
            <a:endParaRPr lang="en-US" sz="700" dirty="0"/>
          </a:p>
        </p:txBody>
      </p:sp>
      <p:sp>
        <p:nvSpPr>
          <p:cNvPr id="23" name="Text 1.22"/>
          <p:cNvSpPr txBox="1"/>
          <p:nvPr/>
        </p:nvSpPr>
        <p:spPr>
          <a:xfrm>
            <a:off x="8913254" y="406390"/>
            <a:ext cx="2668856" cy="128584"/>
          </a:xfrm>
          <a:prstGeom prst="rect">
            <a:avLst/>
          </a:prstGeom>
          <a:noFill/>
          <a:ln/>
        </p:spPr>
        <p:txBody>
          <a:bodyPr wrap="square" lIns="0" tIns="0" rIns="0" bIns="0" rtlCol="0" anchor="t"/>
          <a:lstStyle/>
          <a:p>
            <a:pPr algn="r" indent="0" marL="0">
              <a:lnSpc>
                <a:spcPts val="1010"/>
              </a:lnSpc>
              <a:buNone/>
            </a:pPr>
            <a:r>
              <a:rPr lang="en-US" sz="750" dirty="0">
                <a:solidFill>
                  <a:srgbClr val="EEF5FF"/>
                </a:solidFill>
                <a:latin typeface="Courier New" pitchFamily="34" charset="0"/>
                <a:ea typeface="Courier New" pitchFamily="34" charset="-122"/>
                <a:cs typeface="Courier New" pitchFamily="34" charset="-120"/>
              </a:rPr>
              <a:t>Concept render, AI-generated. Not gameplay.</a:t>
            </a:r>
            <a:endParaRPr lang="en-US" sz="7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How it plays: </a:t>
            </a:r>
            <a:pPr algn="l" indent="0" marL="0">
              <a:lnSpc>
                <a:spcPts val="3080"/>
              </a:lnSpc>
              <a:buNone/>
            </a:pPr>
            <a:r>
              <a:rPr lang="en-US" sz="2800" b="1" spc="-50" kern="0" dirty="0">
                <a:solidFill>
                  <a:srgbClr val="2EC0FF"/>
                </a:solidFill>
                <a:latin typeface="Arial" pitchFamily="34" charset="0"/>
                <a:ea typeface="Arial" pitchFamily="34" charset="-122"/>
                <a:cs typeface="Arial" pitchFamily="34" charset="-120"/>
              </a:rPr>
              <a:t>one room</a:t>
            </a:r>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 short rounds, one scoreboard</a:t>
            </a:r>
            <a:endParaRPr lang="en-US" sz="2800" dirty="0"/>
          </a:p>
        </p:txBody>
      </p:sp>
      <p:sp>
        <p:nvSpPr>
          <p:cNvPr id="3" name="Text 2.2"/>
          <p:cNvSpPr txBox="1"/>
          <p:nvPr/>
        </p:nvSpPr>
        <p:spPr>
          <a:xfrm>
            <a:off x="609585" y="1435064"/>
            <a:ext cx="11010625" cy="497074"/>
          </a:xfrm>
          <a:prstGeom prst="rect">
            <a:avLst/>
          </a:prstGeom>
          <a:noFill/>
          <a:ln/>
        </p:spPr>
        <p:txBody>
          <a:bodyPr wrap="square" lIns="0" tIns="0" rIns="0" bIns="0" rtlCol="0" anchor="t"/>
          <a:lstStyle/>
          <a:p>
            <a:pPr algn="l" indent="0" marL="0">
              <a:lnSpc>
                <a:spcPts val="1960"/>
              </a:lnSpc>
              <a:buNone/>
            </a:pPr>
            <a:r>
              <a:rPr lang="en-US" sz="1350" dirty="0">
                <a:solidFill>
                  <a:srgbClr val="D3DEF2"/>
                </a:solidFill>
                <a:latin typeface="Arial" pitchFamily="34" charset="0"/>
                <a:ea typeface="Arial" pitchFamily="34" charset="-122"/>
                <a:cs typeface="Arial" pitchFamily="34" charset="-120"/>
              </a:rPr>
              <a:t>2–4 friends in one room, each at their own PC. One PC hosts; the others join over the local network. </a:t>
            </a:r>
            <a:pPr algn="l" indent="0" marL="0">
              <a:lnSpc>
                <a:spcPts val="1960"/>
              </a:lnSpc>
              <a:buNone/>
            </a:pPr>
            <a:r>
              <a:rPr lang="en-US" sz="1350" b="1" dirty="0">
                <a:solidFill>
                  <a:srgbClr val="EEF5FF"/>
                </a:solidFill>
                <a:latin typeface="Arial" pitchFamily="34" charset="0"/>
                <a:ea typeface="Arial" pitchFamily="34" charset="-122"/>
                <a:cs typeface="Arial" pitchFamily="34" charset="-120"/>
              </a:rPr>
              <a:t>Everyone plays the same cube, in one of four colours.</a:t>
            </a:r>
            <a:endParaRPr lang="en-US" sz="1350" dirty="0"/>
          </a:p>
        </p:txBody>
      </p:sp>
      <p:sp>
        <p:nvSpPr>
          <p:cNvPr id="4" name="Text 2.3"/>
          <p:cNvSpPr txBox="1"/>
          <p:nvPr/>
        </p:nvSpPr>
        <p:spPr>
          <a:xfrm>
            <a:off x="761981" y="2311342"/>
            <a:ext cx="2105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01</a:t>
            </a:r>
            <a:endParaRPr lang="en-US" sz="700" dirty="0"/>
          </a:p>
        </p:txBody>
      </p:sp>
      <p:sp>
        <p:nvSpPr>
          <p:cNvPr id="5" name="Text 2.4"/>
          <p:cNvSpPr txBox="1"/>
          <p:nvPr/>
        </p:nvSpPr>
        <p:spPr>
          <a:xfrm>
            <a:off x="761981" y="2476438"/>
            <a:ext cx="841961" cy="268725"/>
          </a:xfrm>
          <a:prstGeom prst="rect">
            <a:avLst/>
          </a:prstGeom>
          <a:noFill/>
          <a:ln/>
        </p:spPr>
        <p:txBody>
          <a:bodyPr wrap="square" lIns="0" tIns="0" rIns="0" bIns="0" rtlCol="0" anchor="t"/>
          <a:lstStyle/>
          <a:p>
            <a:pPr algn="l" indent="0" marL="0">
              <a:lnSpc>
                <a:spcPts val="2120"/>
              </a:lnSpc>
              <a:buNone/>
            </a:pPr>
            <a:r>
              <a:rPr lang="en-US" sz="2300" spc="12" kern="0" dirty="0">
                <a:solidFill>
                  <a:srgbClr val="EEF5FF"/>
                </a:solidFill>
                <a:latin typeface="Impact" pitchFamily="34" charset="0"/>
                <a:ea typeface="Impact" pitchFamily="34" charset="-122"/>
                <a:cs typeface="Impact" pitchFamily="34" charset="-120"/>
              </a:rPr>
              <a:t>LOBBY</a:t>
            </a:r>
            <a:endParaRPr lang="en-US" sz="2300" dirty="0"/>
          </a:p>
        </p:txBody>
      </p:sp>
      <p:sp>
        <p:nvSpPr>
          <p:cNvPr id="6" name="Text 2.5"/>
          <p:cNvSpPr txBox="1"/>
          <p:nvPr/>
        </p:nvSpPr>
        <p:spPr>
          <a:xfrm>
            <a:off x="761981" y="2819330"/>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Host starts a session. Others join with the host’s local IP.</a:t>
            </a:r>
            <a:endParaRPr lang="en-US" sz="900" dirty="0"/>
          </a:p>
        </p:txBody>
      </p:sp>
      <p:sp>
        <p:nvSpPr>
          <p:cNvPr id="7" name="Text 2.6"/>
          <p:cNvSpPr txBox="1"/>
          <p:nvPr/>
        </p:nvSpPr>
        <p:spPr>
          <a:xfrm>
            <a:off x="3028874" y="2311342"/>
            <a:ext cx="2105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02</a:t>
            </a:r>
            <a:endParaRPr lang="en-US" sz="700" dirty="0"/>
          </a:p>
        </p:txBody>
      </p:sp>
      <p:sp>
        <p:nvSpPr>
          <p:cNvPr id="8" name="Text 2.7"/>
          <p:cNvSpPr txBox="1"/>
          <p:nvPr/>
        </p:nvSpPr>
        <p:spPr>
          <a:xfrm>
            <a:off x="3028874" y="2476438"/>
            <a:ext cx="915369" cy="268725"/>
          </a:xfrm>
          <a:prstGeom prst="rect">
            <a:avLst/>
          </a:prstGeom>
          <a:noFill/>
          <a:ln/>
        </p:spPr>
        <p:txBody>
          <a:bodyPr wrap="square" lIns="0" tIns="0" rIns="0" bIns="0" rtlCol="0" anchor="t"/>
          <a:lstStyle/>
          <a:p>
            <a:pPr algn="l" indent="0" marL="0">
              <a:lnSpc>
                <a:spcPts val="2120"/>
              </a:lnSpc>
              <a:buNone/>
            </a:pPr>
            <a:r>
              <a:rPr lang="en-US" sz="2300" spc="12" kern="0" dirty="0">
                <a:solidFill>
                  <a:srgbClr val="EEF5FF"/>
                </a:solidFill>
                <a:latin typeface="Impact" pitchFamily="34" charset="0"/>
                <a:ea typeface="Impact" pitchFamily="34" charset="-122"/>
                <a:cs typeface="Impact" pitchFamily="34" charset="-120"/>
              </a:rPr>
              <a:t>ROUND</a:t>
            </a:r>
            <a:endParaRPr lang="en-US" sz="2300" dirty="0"/>
          </a:p>
        </p:txBody>
      </p:sp>
      <p:sp>
        <p:nvSpPr>
          <p:cNvPr id="9" name="Text 2.8"/>
          <p:cNvSpPr txBox="1"/>
          <p:nvPr/>
        </p:nvSpPr>
        <p:spPr>
          <a:xfrm>
            <a:off x="3028874" y="2819330"/>
            <a:ext cx="1663658" cy="462844"/>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Host picks the next mini-game. Everyone loads the same arena.</a:t>
            </a:r>
            <a:endParaRPr lang="en-US" sz="900" dirty="0"/>
          </a:p>
        </p:txBody>
      </p:sp>
      <p:sp>
        <p:nvSpPr>
          <p:cNvPr id="10" name="Text 2.9"/>
          <p:cNvSpPr txBox="1"/>
          <p:nvPr/>
        </p:nvSpPr>
        <p:spPr>
          <a:xfrm>
            <a:off x="5295768" y="2311342"/>
            <a:ext cx="2105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03</a:t>
            </a:r>
            <a:endParaRPr lang="en-US" sz="700" dirty="0"/>
          </a:p>
        </p:txBody>
      </p:sp>
      <p:sp>
        <p:nvSpPr>
          <p:cNvPr id="11" name="Text 2.10"/>
          <p:cNvSpPr txBox="1"/>
          <p:nvPr/>
        </p:nvSpPr>
        <p:spPr>
          <a:xfrm>
            <a:off x="5295768" y="2476438"/>
            <a:ext cx="635724" cy="268725"/>
          </a:xfrm>
          <a:prstGeom prst="rect">
            <a:avLst/>
          </a:prstGeom>
          <a:noFill/>
          <a:ln/>
        </p:spPr>
        <p:txBody>
          <a:bodyPr wrap="square" lIns="0" tIns="0" rIns="0" bIns="0" rtlCol="0" anchor="t"/>
          <a:lstStyle/>
          <a:p>
            <a:pPr algn="l" indent="0" marL="0">
              <a:lnSpc>
                <a:spcPts val="2120"/>
              </a:lnSpc>
              <a:buNone/>
            </a:pPr>
            <a:r>
              <a:rPr lang="en-US" sz="2300" spc="12" kern="0" dirty="0">
                <a:solidFill>
                  <a:srgbClr val="EEF5FF"/>
                </a:solidFill>
                <a:latin typeface="Impact" pitchFamily="34" charset="0"/>
                <a:ea typeface="Impact" pitchFamily="34" charset="-122"/>
                <a:cs typeface="Impact" pitchFamily="34" charset="-120"/>
              </a:rPr>
              <a:t>PLAY</a:t>
            </a:r>
            <a:endParaRPr lang="en-US" sz="2300" dirty="0"/>
          </a:p>
        </p:txBody>
      </p:sp>
      <p:sp>
        <p:nvSpPr>
          <p:cNvPr id="12" name="Text 2.11"/>
          <p:cNvSpPr txBox="1"/>
          <p:nvPr/>
        </p:nvSpPr>
        <p:spPr>
          <a:xfrm>
            <a:off x="5295768" y="2819330"/>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Host runs the physics. Clients send input and draw the result.</a:t>
            </a:r>
            <a:endParaRPr lang="en-US" sz="900" dirty="0"/>
          </a:p>
        </p:txBody>
      </p:sp>
      <p:sp>
        <p:nvSpPr>
          <p:cNvPr id="13" name="Text 2.12"/>
          <p:cNvSpPr txBox="1"/>
          <p:nvPr/>
        </p:nvSpPr>
        <p:spPr>
          <a:xfrm>
            <a:off x="7562661" y="2311342"/>
            <a:ext cx="2105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04</a:t>
            </a:r>
            <a:endParaRPr lang="en-US" sz="700" dirty="0"/>
          </a:p>
        </p:txBody>
      </p:sp>
      <p:sp>
        <p:nvSpPr>
          <p:cNvPr id="14" name="Text 2.13"/>
          <p:cNvSpPr txBox="1"/>
          <p:nvPr/>
        </p:nvSpPr>
        <p:spPr>
          <a:xfrm>
            <a:off x="7562661" y="2476438"/>
            <a:ext cx="809464" cy="268725"/>
          </a:xfrm>
          <a:prstGeom prst="rect">
            <a:avLst/>
          </a:prstGeom>
          <a:noFill/>
          <a:ln/>
        </p:spPr>
        <p:txBody>
          <a:bodyPr wrap="square" lIns="0" tIns="0" rIns="0" bIns="0" rtlCol="0" anchor="t"/>
          <a:lstStyle/>
          <a:p>
            <a:pPr algn="l" indent="0" marL="0">
              <a:lnSpc>
                <a:spcPts val="2120"/>
              </a:lnSpc>
              <a:buNone/>
            </a:pPr>
            <a:r>
              <a:rPr lang="en-US" sz="2300" spc="12" kern="0" dirty="0">
                <a:solidFill>
                  <a:srgbClr val="EEF5FF"/>
                </a:solidFill>
                <a:latin typeface="Impact" pitchFamily="34" charset="0"/>
                <a:ea typeface="Impact" pitchFamily="34" charset="-122"/>
                <a:cs typeface="Impact" pitchFamily="34" charset="-120"/>
              </a:rPr>
              <a:t>PLACE</a:t>
            </a:r>
            <a:endParaRPr lang="en-US" sz="2300" dirty="0"/>
          </a:p>
        </p:txBody>
      </p:sp>
      <p:sp>
        <p:nvSpPr>
          <p:cNvPr id="15" name="Text 2.14"/>
          <p:cNvSpPr txBox="1"/>
          <p:nvPr/>
        </p:nvSpPr>
        <p:spPr>
          <a:xfrm>
            <a:off x="7562661" y="2819330"/>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Round ends. Placement becomes points.</a:t>
            </a:r>
            <a:endParaRPr lang="en-US" sz="900" dirty="0"/>
          </a:p>
        </p:txBody>
      </p:sp>
      <p:sp>
        <p:nvSpPr>
          <p:cNvPr id="16" name="Text 2.15"/>
          <p:cNvSpPr txBox="1"/>
          <p:nvPr/>
        </p:nvSpPr>
        <p:spPr>
          <a:xfrm>
            <a:off x="9829554" y="2311342"/>
            <a:ext cx="2105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05</a:t>
            </a:r>
            <a:endParaRPr lang="en-US" sz="700" dirty="0"/>
          </a:p>
        </p:txBody>
      </p:sp>
      <p:sp>
        <p:nvSpPr>
          <p:cNvPr id="17" name="Text 2.16"/>
          <p:cNvSpPr txBox="1"/>
          <p:nvPr/>
        </p:nvSpPr>
        <p:spPr>
          <a:xfrm>
            <a:off x="9829554" y="2476438"/>
            <a:ext cx="1451522" cy="268725"/>
          </a:xfrm>
          <a:prstGeom prst="rect">
            <a:avLst/>
          </a:prstGeom>
          <a:noFill/>
          <a:ln/>
        </p:spPr>
        <p:txBody>
          <a:bodyPr wrap="square" lIns="0" tIns="0" rIns="0" bIns="0" rtlCol="0" anchor="t"/>
          <a:lstStyle/>
          <a:p>
            <a:pPr algn="l" indent="0" marL="0">
              <a:lnSpc>
                <a:spcPts val="2120"/>
              </a:lnSpc>
              <a:buNone/>
            </a:pPr>
            <a:r>
              <a:rPr lang="en-US" sz="2300" spc="12" kern="0" dirty="0">
                <a:solidFill>
                  <a:srgbClr val="EEF5FF"/>
                </a:solidFill>
                <a:latin typeface="Impact" pitchFamily="34" charset="0"/>
                <a:ea typeface="Impact" pitchFamily="34" charset="-122"/>
                <a:cs typeface="Impact" pitchFamily="34" charset="-120"/>
              </a:rPr>
              <a:t>STANDINGS</a:t>
            </a:r>
            <a:endParaRPr lang="en-US" sz="2300" dirty="0"/>
          </a:p>
        </p:txBody>
      </p:sp>
      <p:sp>
        <p:nvSpPr>
          <p:cNvPr id="18" name="Text 2.17"/>
          <p:cNvSpPr txBox="1"/>
          <p:nvPr/>
        </p:nvSpPr>
        <p:spPr>
          <a:xfrm>
            <a:off x="9829554" y="2819330"/>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Scoreboard updates. After the last round: overall winner.</a:t>
            </a:r>
            <a:endParaRPr lang="en-US" sz="900" dirty="0"/>
          </a:p>
        </p:txBody>
      </p:sp>
      <p:sp>
        <p:nvSpPr>
          <p:cNvPr id="19" name="Text 2.18"/>
          <p:cNvSpPr txBox="1"/>
          <p:nvPr/>
        </p:nvSpPr>
        <p:spPr>
          <a:xfrm>
            <a:off x="5333867" y="3587660"/>
            <a:ext cx="1523962" cy="215895"/>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FF6A1A"/>
                </a:solidFill>
                <a:latin typeface="Courier New" pitchFamily="34" charset="0"/>
                <a:ea typeface="Courier New" pitchFamily="34" charset="-122"/>
                <a:cs typeface="Courier New" pitchFamily="34" charset="-120"/>
              </a:rPr>
              <a:t>NEXT MINI-GAME</a:t>
            </a:r>
            <a:endParaRPr lang="en-US" sz="700" dirty="0"/>
          </a:p>
        </p:txBody>
      </p:sp>
      <p:sp>
        <p:nvSpPr>
          <p:cNvPr id="20" name="Text 2.19"/>
          <p:cNvSpPr txBox="1"/>
          <p:nvPr/>
        </p:nvSpPr>
        <p:spPr>
          <a:xfrm>
            <a:off x="863578" y="4317892"/>
            <a:ext cx="2190126"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PLACEMENT POINTS · PROPOSED</a:t>
            </a:r>
            <a:endParaRPr lang="en-US" sz="750" dirty="0"/>
          </a:p>
        </p:txBody>
      </p:sp>
      <p:sp>
        <p:nvSpPr>
          <p:cNvPr id="21" name="Text 2.20"/>
          <p:cNvSpPr txBox="1"/>
          <p:nvPr/>
        </p:nvSpPr>
        <p:spPr>
          <a:xfrm>
            <a:off x="863578" y="4609985"/>
            <a:ext cx="433484"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FF6A1A"/>
                </a:solidFill>
                <a:latin typeface="Impact" pitchFamily="34" charset="0"/>
                <a:ea typeface="Impact" pitchFamily="34" charset="-122"/>
                <a:cs typeface="Impact" pitchFamily="34" charset="-120"/>
              </a:rPr>
              <a:t>1ST</a:t>
            </a:r>
            <a:endParaRPr lang="en-US" sz="2000" dirty="0"/>
          </a:p>
        </p:txBody>
      </p:sp>
      <p:sp>
        <p:nvSpPr>
          <p:cNvPr id="22" name="Text 2.21"/>
          <p:cNvSpPr txBox="1"/>
          <p:nvPr/>
        </p:nvSpPr>
        <p:spPr>
          <a:xfrm>
            <a:off x="4444889" y="4609985"/>
            <a:ext cx="493851" cy="239508"/>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4 </a:t>
            </a:r>
            <a:pPr algn="l" indent="0" marL="0">
              <a:lnSpc>
                <a:spcPts val="1840"/>
              </a:lnSpc>
              <a:buNone/>
            </a:pPr>
            <a:r>
              <a:rPr lang="en-US" sz="800" spc="128" kern="0" dirty="0">
                <a:solidFill>
                  <a:srgbClr val="8C9FC3"/>
                </a:solidFill>
                <a:latin typeface="Courier New" pitchFamily="34" charset="0"/>
                <a:ea typeface="Courier New" pitchFamily="34" charset="-122"/>
                <a:cs typeface="Courier New" pitchFamily="34" charset="-120"/>
              </a:rPr>
              <a:t>PTS</a:t>
            </a:r>
            <a:endParaRPr lang="en-US" sz="2000" dirty="0"/>
          </a:p>
        </p:txBody>
      </p:sp>
      <p:sp>
        <p:nvSpPr>
          <p:cNvPr id="23" name="Text 2.22"/>
          <p:cNvSpPr txBox="1"/>
          <p:nvPr/>
        </p:nvSpPr>
        <p:spPr>
          <a:xfrm>
            <a:off x="863578" y="5003675"/>
            <a:ext cx="497322"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2ND</a:t>
            </a:r>
            <a:endParaRPr lang="en-US" sz="2000" dirty="0"/>
          </a:p>
        </p:txBody>
      </p:sp>
      <p:sp>
        <p:nvSpPr>
          <p:cNvPr id="24" name="Text 2.23"/>
          <p:cNvSpPr txBox="1"/>
          <p:nvPr/>
        </p:nvSpPr>
        <p:spPr>
          <a:xfrm>
            <a:off x="4444889" y="5003675"/>
            <a:ext cx="502159" cy="239508"/>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3 </a:t>
            </a:r>
            <a:pPr algn="l" indent="0" marL="0">
              <a:lnSpc>
                <a:spcPts val="1840"/>
              </a:lnSpc>
              <a:buNone/>
            </a:pPr>
            <a:r>
              <a:rPr lang="en-US" sz="800" spc="128" kern="0" dirty="0">
                <a:solidFill>
                  <a:srgbClr val="8C9FC3"/>
                </a:solidFill>
                <a:latin typeface="Courier New" pitchFamily="34" charset="0"/>
                <a:ea typeface="Courier New" pitchFamily="34" charset="-122"/>
                <a:cs typeface="Courier New" pitchFamily="34" charset="-120"/>
              </a:rPr>
              <a:t>PTS</a:t>
            </a:r>
            <a:endParaRPr lang="en-US" sz="2000" dirty="0"/>
          </a:p>
        </p:txBody>
      </p:sp>
      <p:sp>
        <p:nvSpPr>
          <p:cNvPr id="25" name="Text 2.24"/>
          <p:cNvSpPr txBox="1"/>
          <p:nvPr/>
        </p:nvSpPr>
        <p:spPr>
          <a:xfrm>
            <a:off x="863578" y="5397365"/>
            <a:ext cx="504158"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3RD</a:t>
            </a:r>
            <a:endParaRPr lang="en-US" sz="2000" dirty="0"/>
          </a:p>
        </p:txBody>
      </p:sp>
      <p:sp>
        <p:nvSpPr>
          <p:cNvPr id="26" name="Text 2.25"/>
          <p:cNvSpPr txBox="1"/>
          <p:nvPr/>
        </p:nvSpPr>
        <p:spPr>
          <a:xfrm>
            <a:off x="4444889" y="5397365"/>
            <a:ext cx="494482" cy="239508"/>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2 </a:t>
            </a:r>
            <a:pPr algn="l" indent="0" marL="0">
              <a:lnSpc>
                <a:spcPts val="1840"/>
              </a:lnSpc>
              <a:buNone/>
            </a:pPr>
            <a:r>
              <a:rPr lang="en-US" sz="800" spc="128" kern="0" dirty="0">
                <a:solidFill>
                  <a:srgbClr val="8C9FC3"/>
                </a:solidFill>
                <a:latin typeface="Courier New" pitchFamily="34" charset="0"/>
                <a:ea typeface="Courier New" pitchFamily="34" charset="-122"/>
                <a:cs typeface="Courier New" pitchFamily="34" charset="-120"/>
              </a:rPr>
              <a:t>PTS</a:t>
            </a:r>
            <a:endParaRPr lang="en-US" sz="2000" dirty="0"/>
          </a:p>
        </p:txBody>
      </p:sp>
      <p:sp>
        <p:nvSpPr>
          <p:cNvPr id="27" name="Text 2.26"/>
          <p:cNvSpPr txBox="1"/>
          <p:nvPr/>
        </p:nvSpPr>
        <p:spPr>
          <a:xfrm>
            <a:off x="863578" y="5791055"/>
            <a:ext cx="475657"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4TH</a:t>
            </a:r>
            <a:endParaRPr lang="en-US" sz="2000" dirty="0"/>
          </a:p>
        </p:txBody>
      </p:sp>
      <p:sp>
        <p:nvSpPr>
          <p:cNvPr id="28" name="Text 2.27"/>
          <p:cNvSpPr txBox="1"/>
          <p:nvPr/>
        </p:nvSpPr>
        <p:spPr>
          <a:xfrm>
            <a:off x="4444889" y="5791055"/>
            <a:ext cx="461880" cy="239508"/>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1 </a:t>
            </a:r>
            <a:pPr algn="l" indent="0" marL="0">
              <a:lnSpc>
                <a:spcPts val="1840"/>
              </a:lnSpc>
              <a:buNone/>
            </a:pPr>
            <a:r>
              <a:rPr lang="en-US" sz="800" spc="128" kern="0" dirty="0">
                <a:solidFill>
                  <a:srgbClr val="8C9FC3"/>
                </a:solidFill>
                <a:latin typeface="Courier New" pitchFamily="34" charset="0"/>
                <a:ea typeface="Courier New" pitchFamily="34" charset="-122"/>
                <a:cs typeface="Courier New" pitchFamily="34" charset="-120"/>
              </a:rPr>
              <a:t>PTS</a:t>
            </a:r>
            <a:endParaRPr lang="en-US" sz="2000" dirty="0"/>
          </a:p>
        </p:txBody>
      </p:sp>
      <p:sp>
        <p:nvSpPr>
          <p:cNvPr id="29" name="Text 2.28"/>
          <p:cNvSpPr txBox="1"/>
          <p:nvPr/>
        </p:nvSpPr>
        <p:spPr>
          <a:xfrm>
            <a:off x="6324442" y="4317892"/>
            <a:ext cx="1166198"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2EC0FF"/>
                </a:solidFill>
                <a:latin typeface="Courier New" pitchFamily="34" charset="0"/>
                <a:ea typeface="Courier New" pitchFamily="34" charset="-122"/>
                <a:cs typeface="Courier New" pitchFamily="34" charset="-120"/>
              </a:rPr>
              <a:t>BETWEEN ROUNDS</a:t>
            </a:r>
            <a:endParaRPr lang="en-US" sz="750" dirty="0"/>
          </a:p>
        </p:txBody>
      </p:sp>
      <p:sp>
        <p:nvSpPr>
          <p:cNvPr id="30" name="Text 2.29"/>
          <p:cNvSpPr txBox="1"/>
          <p:nvPr/>
        </p:nvSpPr>
        <p:spPr>
          <a:xfrm>
            <a:off x="6324442" y="4635384"/>
            <a:ext cx="94565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CARRIES OVER</a:t>
            </a:r>
            <a:endParaRPr lang="en-US" sz="700" dirty="0"/>
          </a:p>
        </p:txBody>
      </p:sp>
      <p:sp>
        <p:nvSpPr>
          <p:cNvPr id="31" name="Text 2.30"/>
          <p:cNvSpPr txBox="1"/>
          <p:nvPr/>
        </p:nvSpPr>
        <p:spPr>
          <a:xfrm>
            <a:off x="7848404" y="4597285"/>
            <a:ext cx="3530512" cy="189352"/>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Points. Nothing else accumulates.</a:t>
            </a:r>
            <a:endParaRPr lang="en-US" sz="1050" dirty="0"/>
          </a:p>
        </p:txBody>
      </p:sp>
      <p:sp>
        <p:nvSpPr>
          <p:cNvPr id="32" name="Text 2.31"/>
          <p:cNvSpPr txBox="1"/>
          <p:nvPr/>
        </p:nvSpPr>
        <p:spPr>
          <a:xfrm>
            <a:off x="6324442" y="5079873"/>
            <a:ext cx="65160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CATCH-UP</a:t>
            </a:r>
            <a:endParaRPr lang="en-US" sz="700" dirty="0"/>
          </a:p>
        </p:txBody>
      </p:sp>
      <p:sp>
        <p:nvSpPr>
          <p:cNvPr id="33" name="Text 2.32"/>
          <p:cNvSpPr txBox="1"/>
          <p:nvPr/>
        </p:nvSpPr>
        <p:spPr>
          <a:xfrm>
            <a:off x="7848404" y="5041774"/>
            <a:ext cx="3530512" cy="378609"/>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The last round's winner earns slightly fewer points next round; last place earns slightly more.</a:t>
            </a:r>
            <a:endParaRPr lang="en-US" sz="1050" dirty="0"/>
          </a:p>
        </p:txBody>
      </p:sp>
      <p:sp>
        <p:nvSpPr>
          <p:cNvPr id="34" name="Text 2.33"/>
          <p:cNvSpPr txBox="1"/>
          <p:nvPr/>
        </p:nvSpPr>
        <p:spPr>
          <a:xfrm>
            <a:off x="6324442" y="5740256"/>
            <a:ext cx="50457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RESETS</a:t>
            </a:r>
            <a:endParaRPr lang="en-US" sz="700" dirty="0"/>
          </a:p>
        </p:txBody>
      </p:sp>
      <p:sp>
        <p:nvSpPr>
          <p:cNvPr id="35" name="Text 2.34"/>
          <p:cNvSpPr txBox="1"/>
          <p:nvPr/>
        </p:nvSpPr>
        <p:spPr>
          <a:xfrm>
            <a:off x="7848404" y="5702157"/>
            <a:ext cx="3530512" cy="189352"/>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Mass and position, so one bad round does not snowball.</a:t>
            </a:r>
            <a:endParaRPr lang="en-US" sz="1050" dirty="0"/>
          </a:p>
        </p:txBody>
      </p:sp>
      <p:sp>
        <p:nvSpPr>
          <p:cNvPr id="36" name="Text 2.35"/>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1</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37" name="Text 2.36"/>
          <p:cNvSpPr txBox="1"/>
          <p:nvPr/>
        </p:nvSpPr>
        <p:spPr>
          <a:xfrm>
            <a:off x="609585" y="444489"/>
            <a:ext cx="752883"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THE GAME</a:t>
            </a:r>
            <a:endParaRPr lang="en-US" sz="800" dirty="0"/>
          </a:p>
        </p:txBody>
      </p:sp>
      <p:sp>
        <p:nvSpPr>
          <p:cNvPr id="38" name="Text 2.37"/>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02</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3.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One value is your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health</a:t>
            </a:r>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 your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ammunition</a:t>
            </a:r>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 and your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weight</a:t>
            </a:r>
            <a:endParaRPr lang="en-US" sz="2800" dirty="0"/>
          </a:p>
        </p:txBody>
      </p:sp>
      <p:sp>
        <p:nvSpPr>
          <p:cNvPr id="3" name="Text 3.2"/>
          <p:cNvSpPr txBox="1"/>
          <p:nvPr/>
        </p:nvSpPr>
        <p:spPr>
          <a:xfrm>
            <a:off x="609585" y="1777956"/>
            <a:ext cx="952476" cy="292093"/>
          </a:xfrm>
          <a:prstGeom prst="rect">
            <a:avLst/>
          </a:prstGeom>
          <a:noFill/>
          <a:ln/>
        </p:spPr>
        <p:txBody>
          <a:bodyPr wrap="square" lIns="0" tIns="0" rIns="0" bIns="0" rtlCol="0" anchor="ctr"/>
          <a:lstStyle/>
          <a:p>
            <a:pPr algn="ctr" indent="0" marL="0">
              <a:lnSpc>
                <a:spcPts val="1300"/>
              </a:lnSpc>
              <a:buNone/>
            </a:pPr>
            <a:r>
              <a:rPr lang="en-US" sz="1300" spc="52" kern="0" dirty="0">
                <a:solidFill>
                  <a:srgbClr val="06101F"/>
                </a:solidFill>
                <a:latin typeface="Impact" pitchFamily="34" charset="0"/>
                <a:ea typeface="Impact" pitchFamily="34" charset="-122"/>
                <a:cs typeface="Impact" pitchFamily="34" charset="-120"/>
              </a:rPr>
              <a:t>1 · SHOOT</a:t>
            </a:r>
            <a:endParaRPr lang="en-US" sz="1300" dirty="0"/>
          </a:p>
        </p:txBody>
      </p:sp>
      <p:sp>
        <p:nvSpPr>
          <p:cNvPr id="4" name="Text 3.3"/>
          <p:cNvSpPr txBox="1"/>
          <p:nvPr/>
        </p:nvSpPr>
        <p:spPr>
          <a:xfrm>
            <a:off x="609585" y="3911502"/>
            <a:ext cx="3467013" cy="373252"/>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A cube spits out a piece of its own body. Every shot makes it smaller, hit or miss.</a:t>
            </a:r>
            <a:endParaRPr lang="en-US" sz="1050" dirty="0"/>
          </a:p>
        </p:txBody>
      </p:sp>
      <p:sp>
        <p:nvSpPr>
          <p:cNvPr id="5" name="Text 3.4"/>
          <p:cNvSpPr txBox="1"/>
          <p:nvPr/>
        </p:nvSpPr>
        <p:spPr>
          <a:xfrm>
            <a:off x="609585" y="4584585"/>
            <a:ext cx="94565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SHOOTER MASS</a:t>
            </a:r>
            <a:endParaRPr lang="en-US" sz="700" dirty="0"/>
          </a:p>
        </p:txBody>
      </p:sp>
      <p:sp>
        <p:nvSpPr>
          <p:cNvPr id="6" name="Text 3.5"/>
          <p:cNvSpPr txBox="1"/>
          <p:nvPr/>
        </p:nvSpPr>
        <p:spPr>
          <a:xfrm>
            <a:off x="609585" y="4965576"/>
            <a:ext cx="1639039"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lost this exchange ▸ faded</a:t>
            </a:r>
            <a:endParaRPr lang="en-US" sz="750" dirty="0"/>
          </a:p>
        </p:txBody>
      </p:sp>
      <p:sp>
        <p:nvSpPr>
          <p:cNvPr id="7" name="Text 3.6"/>
          <p:cNvSpPr txBox="1"/>
          <p:nvPr/>
        </p:nvSpPr>
        <p:spPr>
          <a:xfrm>
            <a:off x="4317892" y="1777956"/>
            <a:ext cx="952476" cy="292093"/>
          </a:xfrm>
          <a:prstGeom prst="rect">
            <a:avLst/>
          </a:prstGeom>
          <a:noFill/>
          <a:ln/>
        </p:spPr>
        <p:txBody>
          <a:bodyPr wrap="square" lIns="0" tIns="0" rIns="0" bIns="0" rtlCol="0" anchor="ctr"/>
          <a:lstStyle/>
          <a:p>
            <a:pPr algn="ctr" indent="0" marL="0">
              <a:lnSpc>
                <a:spcPts val="1300"/>
              </a:lnSpc>
              <a:buNone/>
            </a:pPr>
            <a:r>
              <a:rPr lang="en-US" sz="1300" spc="52" kern="0" dirty="0">
                <a:solidFill>
                  <a:srgbClr val="06101F"/>
                </a:solidFill>
                <a:latin typeface="Impact" pitchFamily="34" charset="0"/>
                <a:ea typeface="Impact" pitchFamily="34" charset="-122"/>
                <a:cs typeface="Impact" pitchFamily="34" charset="-120"/>
              </a:rPr>
              <a:t>2 · HIT</a:t>
            </a:r>
            <a:endParaRPr lang="en-US" sz="1300" dirty="0"/>
          </a:p>
        </p:txBody>
      </p:sp>
      <p:sp>
        <p:nvSpPr>
          <p:cNvPr id="8" name="Text 3.7"/>
          <p:cNvSpPr txBox="1"/>
          <p:nvPr/>
        </p:nvSpPr>
        <p:spPr>
          <a:xfrm>
            <a:off x="4317892" y="3911502"/>
            <a:ext cx="3467013" cy="373252"/>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The target loses mass on impact and is pushed back along the line of the shot.</a:t>
            </a:r>
            <a:endParaRPr lang="en-US" sz="1050" dirty="0"/>
          </a:p>
        </p:txBody>
      </p:sp>
      <p:sp>
        <p:nvSpPr>
          <p:cNvPr id="9" name="Text 3.8"/>
          <p:cNvSpPr txBox="1"/>
          <p:nvPr/>
        </p:nvSpPr>
        <p:spPr>
          <a:xfrm>
            <a:off x="4317892" y="4584585"/>
            <a:ext cx="87214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TARGET MASS</a:t>
            </a:r>
            <a:endParaRPr lang="en-US" sz="700" dirty="0"/>
          </a:p>
        </p:txBody>
      </p:sp>
      <p:sp>
        <p:nvSpPr>
          <p:cNvPr id="10" name="Text 3.9"/>
          <p:cNvSpPr txBox="1"/>
          <p:nvPr/>
        </p:nvSpPr>
        <p:spPr>
          <a:xfrm>
            <a:off x="4317892" y="4965576"/>
            <a:ext cx="1639039"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lost this exchange ▸ faded</a:t>
            </a:r>
            <a:endParaRPr lang="en-US" sz="750" dirty="0"/>
          </a:p>
        </p:txBody>
      </p:sp>
      <p:sp>
        <p:nvSpPr>
          <p:cNvPr id="11" name="Text 3.10"/>
          <p:cNvSpPr txBox="1"/>
          <p:nvPr/>
        </p:nvSpPr>
        <p:spPr>
          <a:xfrm>
            <a:off x="8026199" y="1777956"/>
            <a:ext cx="952476" cy="292093"/>
          </a:xfrm>
          <a:prstGeom prst="rect">
            <a:avLst/>
          </a:prstGeom>
          <a:noFill/>
          <a:ln/>
        </p:spPr>
        <p:txBody>
          <a:bodyPr wrap="square" lIns="0" tIns="0" rIns="0" bIns="0" rtlCol="0" anchor="ctr"/>
          <a:lstStyle/>
          <a:p>
            <a:pPr algn="ctr" indent="0" marL="0">
              <a:lnSpc>
                <a:spcPts val="1300"/>
              </a:lnSpc>
              <a:buNone/>
            </a:pPr>
            <a:r>
              <a:rPr lang="en-US" sz="1300" spc="52" kern="0" dirty="0">
                <a:solidFill>
                  <a:srgbClr val="06101F"/>
                </a:solidFill>
                <a:latin typeface="Impact" pitchFamily="34" charset="0"/>
                <a:ea typeface="Impact" pitchFamily="34" charset="-122"/>
                <a:cs typeface="Impact" pitchFamily="34" charset="-120"/>
              </a:rPr>
              <a:t>3 · FALL</a:t>
            </a:r>
            <a:endParaRPr lang="en-US" sz="1300" dirty="0"/>
          </a:p>
        </p:txBody>
      </p:sp>
      <p:sp>
        <p:nvSpPr>
          <p:cNvPr id="12" name="Text 3.11"/>
          <p:cNvSpPr txBox="1"/>
          <p:nvPr/>
        </p:nvSpPr>
        <p:spPr>
          <a:xfrm>
            <a:off x="8026199" y="3911502"/>
            <a:ext cx="3467013" cy="373252"/>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Less mass means the same hit pushes further. Off the edge is a knockout.</a:t>
            </a:r>
            <a:endParaRPr lang="en-US" sz="1050" dirty="0"/>
          </a:p>
        </p:txBody>
      </p:sp>
      <p:sp>
        <p:nvSpPr>
          <p:cNvPr id="13" name="Text 3.12"/>
          <p:cNvSpPr txBox="1"/>
          <p:nvPr/>
        </p:nvSpPr>
        <p:spPr>
          <a:xfrm>
            <a:off x="8026199" y="4584585"/>
            <a:ext cx="1460251"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KNOCKBACK, SAME HIT</a:t>
            </a:r>
            <a:endParaRPr lang="en-US" sz="700" dirty="0"/>
          </a:p>
        </p:txBody>
      </p:sp>
      <p:sp>
        <p:nvSpPr>
          <p:cNvPr id="14" name="Text 3.13"/>
          <p:cNvSpPr txBox="1"/>
          <p:nvPr/>
        </p:nvSpPr>
        <p:spPr>
          <a:xfrm>
            <a:off x="8026199" y="4965576"/>
            <a:ext cx="1214681"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grows as mass drops</a:t>
            </a:r>
            <a:endParaRPr lang="en-US" sz="750" dirty="0"/>
          </a:p>
        </p:txBody>
      </p:sp>
      <p:sp>
        <p:nvSpPr>
          <p:cNvPr id="15" name="Text 3.14"/>
          <p:cNvSpPr txBox="1"/>
          <p:nvPr/>
        </p:nvSpPr>
        <p:spPr>
          <a:xfrm>
            <a:off x="863578" y="5727557"/>
            <a:ext cx="9943851" cy="266693"/>
          </a:xfrm>
          <a:prstGeom prst="rect">
            <a:avLst/>
          </a:prstGeom>
          <a:noFill/>
          <a:ln/>
        </p:spPr>
        <p:txBody>
          <a:bodyPr wrap="square" lIns="0" tIns="0" rIns="0" bIns="0" rtlCol="0" anchor="t"/>
          <a:lstStyle/>
          <a:p>
            <a:pPr algn="l" indent="0" marL="0">
              <a:lnSpc>
                <a:spcPts val="2100"/>
              </a:lnSpc>
              <a:buNone/>
            </a:pPr>
            <a:r>
              <a:rPr lang="en-US" sz="1400" dirty="0">
                <a:solidFill>
                  <a:srgbClr val="EEF5FF"/>
                </a:solidFill>
                <a:latin typeface="Arial" pitchFamily="34" charset="0"/>
                <a:ea typeface="Arial" pitchFamily="34" charset="-122"/>
                <a:cs typeface="Arial" pitchFamily="34" charset="-120"/>
              </a:rPr>
              <a:t>Shooting, getting hit and getting launched all read from one number the player can see: </a:t>
            </a:r>
            <a:pPr algn="l" indent="0" marL="0">
              <a:lnSpc>
                <a:spcPts val="2100"/>
              </a:lnSpc>
              <a:buNone/>
            </a:pPr>
            <a:r>
              <a:rPr lang="en-US" sz="1400" b="1" dirty="0">
                <a:solidFill>
                  <a:srgbClr val="FF6A1A"/>
                </a:solidFill>
                <a:latin typeface="Arial" pitchFamily="34" charset="0"/>
                <a:ea typeface="Arial" pitchFamily="34" charset="-122"/>
                <a:cs typeface="Arial" pitchFamily="34" charset="-120"/>
              </a:rPr>
              <a:t>the cube's size.</a:t>
            </a:r>
            <a:endParaRPr lang="en-US" sz="1400" dirty="0"/>
          </a:p>
        </p:txBody>
      </p:sp>
      <p:sp>
        <p:nvSpPr>
          <p:cNvPr id="16" name="Text 3.15"/>
          <p:cNvSpPr txBox="1"/>
          <p:nvPr/>
        </p:nvSpPr>
        <p:spPr>
          <a:xfrm>
            <a:off x="609585" y="6589548"/>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Bars show direction only. Costs and knockback values are set in playtests.</a:t>
            </a:r>
            <a:endParaRPr lang="en-US" sz="750" dirty="0"/>
          </a:p>
        </p:txBody>
      </p:sp>
      <p:sp>
        <p:nvSpPr>
          <p:cNvPr id="17" name="Text 3.16"/>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8" name="Text 3.17"/>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19" name="Text 3.18"/>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03</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4.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Why both the shooter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and</a:t>
            </a:r>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 the target lose mass</a:t>
            </a:r>
            <a:endParaRPr lang="en-US" sz="2800" dirty="0"/>
          </a:p>
        </p:txBody>
      </p:sp>
      <p:sp>
        <p:nvSpPr>
          <p:cNvPr id="3" name="Text 4.2"/>
          <p:cNvSpPr txBox="1"/>
          <p:nvPr/>
        </p:nvSpPr>
        <p:spPr>
          <a:xfrm>
            <a:off x="838179" y="2006550"/>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VARIANT A</a:t>
            </a:r>
            <a:endParaRPr lang="en-US" sz="700" dirty="0"/>
          </a:p>
        </p:txBody>
      </p:sp>
      <p:sp>
        <p:nvSpPr>
          <p:cNvPr id="4" name="Text 4.3"/>
          <p:cNvSpPr txBox="1"/>
          <p:nvPr/>
        </p:nvSpPr>
        <p:spPr>
          <a:xfrm>
            <a:off x="838179" y="2184345"/>
            <a:ext cx="3149521" cy="204465"/>
          </a:xfrm>
          <a:prstGeom prst="rect">
            <a:avLst/>
          </a:prstGeom>
          <a:noFill/>
          <a:ln/>
        </p:spPr>
        <p:txBody>
          <a:bodyPr wrap="square" lIns="0" tIns="0" rIns="0" bIns="0" rtlCol="0" anchor="t"/>
          <a:lstStyle/>
          <a:p>
            <a:pPr algn="l" indent="0" marL="0">
              <a:lnSpc>
                <a:spcPts val="1610"/>
              </a:lnSpc>
              <a:buNone/>
            </a:pPr>
            <a:r>
              <a:rPr lang="en-US" sz="1400" b="1" dirty="0">
                <a:solidFill>
                  <a:srgbClr val="EEF5FF"/>
                </a:solidFill>
                <a:latin typeface="Arial" pitchFamily="34" charset="0"/>
                <a:ea typeface="Arial" pitchFamily="34" charset="-122"/>
                <a:cs typeface="Arial" pitchFamily="34" charset="-120"/>
              </a:rPr>
              <a:t>Only the shooter pays</a:t>
            </a:r>
            <a:endParaRPr lang="en-US" sz="1400" dirty="0"/>
          </a:p>
        </p:txBody>
      </p:sp>
      <p:sp>
        <p:nvSpPr>
          <p:cNvPr id="5" name="Text 4.4"/>
          <p:cNvSpPr txBox="1"/>
          <p:nvPr/>
        </p:nvSpPr>
        <p:spPr>
          <a:xfrm>
            <a:off x="1054074"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06101F"/>
                </a:solidFill>
                <a:latin typeface="Courier New" pitchFamily="34" charset="0"/>
                <a:ea typeface="Courier New" pitchFamily="34" charset="-122"/>
                <a:cs typeface="Courier New" pitchFamily="34" charset="-120"/>
              </a:rPr>
              <a:t>− MASS</a:t>
            </a:r>
            <a:endParaRPr lang="en-US" sz="900" dirty="0"/>
          </a:p>
        </p:txBody>
      </p:sp>
      <p:sp>
        <p:nvSpPr>
          <p:cNvPr id="6" name="Text 4.5"/>
          <p:cNvSpPr txBox="1"/>
          <p:nvPr/>
        </p:nvSpPr>
        <p:spPr>
          <a:xfrm>
            <a:off x="3149521"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8C9FC3"/>
                </a:solidFill>
                <a:latin typeface="Courier New" pitchFamily="34" charset="0"/>
                <a:ea typeface="Courier New" pitchFamily="34" charset="-122"/>
                <a:cs typeface="Courier New" pitchFamily="34" charset="-120"/>
              </a:rPr>
              <a:t>FREE</a:t>
            </a:r>
            <a:endParaRPr lang="en-US" sz="900" dirty="0"/>
          </a:p>
        </p:txBody>
      </p:sp>
      <p:sp>
        <p:nvSpPr>
          <p:cNvPr id="7" name="Text 4.6"/>
          <p:cNvSpPr txBox="1"/>
          <p:nvPr/>
        </p:nvSpPr>
        <p:spPr>
          <a:xfrm>
            <a:off x="838179" y="3835304"/>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BEST PLAY</a:t>
            </a:r>
            <a:endParaRPr lang="en-US" sz="700" dirty="0"/>
          </a:p>
        </p:txBody>
      </p:sp>
      <p:sp>
        <p:nvSpPr>
          <p:cNvPr id="8" name="Text 4.7"/>
          <p:cNvSpPr txBox="1"/>
          <p:nvPr/>
        </p:nvSpPr>
        <p:spPr>
          <a:xfrm>
            <a:off x="838179" y="4000400"/>
            <a:ext cx="3149521" cy="373252"/>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Shooting is pure loss. The best play is to never shoot and wait for the others to weaken each other.</a:t>
            </a:r>
            <a:endParaRPr lang="en-US" sz="1050" dirty="0"/>
          </a:p>
        </p:txBody>
      </p:sp>
      <p:sp>
        <p:nvSpPr>
          <p:cNvPr id="9" name="Text 4.8"/>
          <p:cNvSpPr txBox="1"/>
          <p:nvPr/>
        </p:nvSpPr>
        <p:spPr>
          <a:xfrm>
            <a:off x="838179" y="4876678"/>
            <a:ext cx="1460463" cy="266693"/>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8C9FC3"/>
                </a:solidFill>
                <a:latin typeface="Courier New" pitchFamily="34" charset="0"/>
                <a:ea typeface="Courier New" pitchFamily="34" charset="-122"/>
                <a:cs typeface="Courier New" pitchFamily="34" charset="-120"/>
              </a:rPr>
              <a:t>✕ REWARDS HIDING</a:t>
            </a:r>
            <a:endParaRPr lang="en-US" sz="700" dirty="0"/>
          </a:p>
        </p:txBody>
      </p:sp>
      <p:sp>
        <p:nvSpPr>
          <p:cNvPr id="10" name="Text 4.9"/>
          <p:cNvSpPr txBox="1"/>
          <p:nvPr/>
        </p:nvSpPr>
        <p:spPr>
          <a:xfrm>
            <a:off x="4546486" y="2006550"/>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VARIANT B</a:t>
            </a:r>
            <a:endParaRPr lang="en-US" sz="700" dirty="0"/>
          </a:p>
        </p:txBody>
      </p:sp>
      <p:sp>
        <p:nvSpPr>
          <p:cNvPr id="11" name="Text 4.10"/>
          <p:cNvSpPr txBox="1"/>
          <p:nvPr/>
        </p:nvSpPr>
        <p:spPr>
          <a:xfrm>
            <a:off x="4546486" y="2184345"/>
            <a:ext cx="3149521" cy="204465"/>
          </a:xfrm>
          <a:prstGeom prst="rect">
            <a:avLst/>
          </a:prstGeom>
          <a:noFill/>
          <a:ln/>
        </p:spPr>
        <p:txBody>
          <a:bodyPr wrap="square" lIns="0" tIns="0" rIns="0" bIns="0" rtlCol="0" anchor="t"/>
          <a:lstStyle/>
          <a:p>
            <a:pPr algn="l" indent="0" marL="0">
              <a:lnSpc>
                <a:spcPts val="1610"/>
              </a:lnSpc>
              <a:buNone/>
            </a:pPr>
            <a:r>
              <a:rPr lang="en-US" sz="1400" b="1" dirty="0">
                <a:solidFill>
                  <a:srgbClr val="EEF5FF"/>
                </a:solidFill>
                <a:latin typeface="Arial" pitchFamily="34" charset="0"/>
                <a:ea typeface="Arial" pitchFamily="34" charset="-122"/>
                <a:cs typeface="Arial" pitchFamily="34" charset="-120"/>
              </a:rPr>
              <a:t>Only the target pays</a:t>
            </a:r>
            <a:endParaRPr lang="en-US" sz="1400" dirty="0"/>
          </a:p>
        </p:txBody>
      </p:sp>
      <p:sp>
        <p:nvSpPr>
          <p:cNvPr id="12" name="Text 4.11"/>
          <p:cNvSpPr txBox="1"/>
          <p:nvPr/>
        </p:nvSpPr>
        <p:spPr>
          <a:xfrm>
            <a:off x="4762381"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8C9FC3"/>
                </a:solidFill>
                <a:latin typeface="Courier New" pitchFamily="34" charset="0"/>
                <a:ea typeface="Courier New" pitchFamily="34" charset="-122"/>
                <a:cs typeface="Courier New" pitchFamily="34" charset="-120"/>
              </a:rPr>
              <a:t>FREE</a:t>
            </a:r>
            <a:endParaRPr lang="en-US" sz="900" dirty="0"/>
          </a:p>
        </p:txBody>
      </p:sp>
      <p:sp>
        <p:nvSpPr>
          <p:cNvPr id="13" name="Text 4.12"/>
          <p:cNvSpPr txBox="1"/>
          <p:nvPr/>
        </p:nvSpPr>
        <p:spPr>
          <a:xfrm>
            <a:off x="6857829"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06101F"/>
                </a:solidFill>
                <a:latin typeface="Courier New" pitchFamily="34" charset="0"/>
                <a:ea typeface="Courier New" pitchFamily="34" charset="-122"/>
                <a:cs typeface="Courier New" pitchFamily="34" charset="-120"/>
              </a:rPr>
              <a:t>− MASS</a:t>
            </a:r>
            <a:endParaRPr lang="en-US" sz="900" dirty="0"/>
          </a:p>
        </p:txBody>
      </p:sp>
      <p:sp>
        <p:nvSpPr>
          <p:cNvPr id="14" name="Text 4.13"/>
          <p:cNvSpPr txBox="1"/>
          <p:nvPr/>
        </p:nvSpPr>
        <p:spPr>
          <a:xfrm>
            <a:off x="4546486" y="3835304"/>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BEST PLAY</a:t>
            </a:r>
            <a:endParaRPr lang="en-US" sz="700" dirty="0"/>
          </a:p>
        </p:txBody>
      </p:sp>
      <p:sp>
        <p:nvSpPr>
          <p:cNvPr id="15" name="Text 4.14"/>
          <p:cNvSpPr txBox="1"/>
          <p:nvPr/>
        </p:nvSpPr>
        <p:spPr>
          <a:xfrm>
            <a:off x="4546486" y="4000400"/>
            <a:ext cx="3149521" cy="373252"/>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Shooting is free. The best play is to shoot nonstop in every direction.</a:t>
            </a:r>
            <a:endParaRPr lang="en-US" sz="1050" dirty="0"/>
          </a:p>
        </p:txBody>
      </p:sp>
      <p:sp>
        <p:nvSpPr>
          <p:cNvPr id="16" name="Text 4.15"/>
          <p:cNvSpPr txBox="1"/>
          <p:nvPr/>
        </p:nvSpPr>
        <p:spPr>
          <a:xfrm>
            <a:off x="4546486" y="4876678"/>
            <a:ext cx="1460463" cy="266693"/>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8C9FC3"/>
                </a:solidFill>
                <a:latin typeface="Courier New" pitchFamily="34" charset="0"/>
                <a:ea typeface="Courier New" pitchFamily="34" charset="-122"/>
                <a:cs typeface="Courier New" pitchFamily="34" charset="-120"/>
              </a:rPr>
              <a:t>✕ REWARDS SPAM</a:t>
            </a:r>
            <a:endParaRPr lang="en-US" sz="700" dirty="0"/>
          </a:p>
        </p:txBody>
      </p:sp>
      <p:sp>
        <p:nvSpPr>
          <p:cNvPr id="17" name="Text 4.16"/>
          <p:cNvSpPr txBox="1"/>
          <p:nvPr/>
        </p:nvSpPr>
        <p:spPr>
          <a:xfrm>
            <a:off x="8254794" y="2006550"/>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VARIANT C</a:t>
            </a:r>
            <a:endParaRPr lang="en-US" sz="700" dirty="0"/>
          </a:p>
        </p:txBody>
      </p:sp>
      <p:sp>
        <p:nvSpPr>
          <p:cNvPr id="18" name="Text 4.17"/>
          <p:cNvSpPr txBox="1"/>
          <p:nvPr/>
        </p:nvSpPr>
        <p:spPr>
          <a:xfrm>
            <a:off x="8254794" y="2184345"/>
            <a:ext cx="3149521" cy="204465"/>
          </a:xfrm>
          <a:prstGeom prst="rect">
            <a:avLst/>
          </a:prstGeom>
          <a:noFill/>
          <a:ln/>
        </p:spPr>
        <p:txBody>
          <a:bodyPr wrap="square" lIns="0" tIns="0" rIns="0" bIns="0" rtlCol="0" anchor="t"/>
          <a:lstStyle/>
          <a:p>
            <a:pPr algn="l" indent="0" marL="0">
              <a:lnSpc>
                <a:spcPts val="1610"/>
              </a:lnSpc>
              <a:buNone/>
            </a:pPr>
            <a:r>
              <a:rPr lang="en-US" sz="1400" b="1" dirty="0">
                <a:solidFill>
                  <a:srgbClr val="EEF5FF"/>
                </a:solidFill>
                <a:latin typeface="Arial" pitchFamily="34" charset="0"/>
                <a:ea typeface="Arial" pitchFamily="34" charset="-122"/>
                <a:cs typeface="Arial" pitchFamily="34" charset="-120"/>
              </a:rPr>
              <a:t>Both pay: our rule</a:t>
            </a:r>
            <a:endParaRPr lang="en-US" sz="1400" dirty="0"/>
          </a:p>
        </p:txBody>
      </p:sp>
      <p:sp>
        <p:nvSpPr>
          <p:cNvPr id="19" name="Text 4.18"/>
          <p:cNvSpPr txBox="1"/>
          <p:nvPr/>
        </p:nvSpPr>
        <p:spPr>
          <a:xfrm>
            <a:off x="8470688"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06101F"/>
                </a:solidFill>
                <a:latin typeface="Courier New" pitchFamily="34" charset="0"/>
                <a:ea typeface="Courier New" pitchFamily="34" charset="-122"/>
                <a:cs typeface="Courier New" pitchFamily="34" charset="-120"/>
              </a:rPr>
              <a:t>− MASS</a:t>
            </a:r>
            <a:endParaRPr lang="en-US" sz="900" dirty="0"/>
          </a:p>
        </p:txBody>
      </p:sp>
      <p:sp>
        <p:nvSpPr>
          <p:cNvPr id="20" name="Text 4.19"/>
          <p:cNvSpPr txBox="1"/>
          <p:nvPr/>
        </p:nvSpPr>
        <p:spPr>
          <a:xfrm>
            <a:off x="10566136" y="3403515"/>
            <a:ext cx="571486" cy="215895"/>
          </a:xfrm>
          <a:prstGeom prst="rect">
            <a:avLst/>
          </a:prstGeom>
          <a:noFill/>
          <a:ln/>
        </p:spPr>
        <p:txBody>
          <a:bodyPr wrap="square" lIns="0" tIns="0" rIns="0" bIns="0" rtlCol="0" anchor="ctr"/>
          <a:lstStyle/>
          <a:p>
            <a:pPr algn="ctr" indent="0" marL="0">
              <a:lnSpc>
                <a:spcPts val="900"/>
              </a:lnSpc>
              <a:buNone/>
            </a:pPr>
            <a:r>
              <a:rPr lang="en-US" sz="900" b="1" spc="144" kern="0" dirty="0">
                <a:solidFill>
                  <a:srgbClr val="06101F"/>
                </a:solidFill>
                <a:latin typeface="Courier New" pitchFamily="34" charset="0"/>
                <a:ea typeface="Courier New" pitchFamily="34" charset="-122"/>
                <a:cs typeface="Courier New" pitchFamily="34" charset="-120"/>
              </a:rPr>
              <a:t>− MASS</a:t>
            </a:r>
            <a:endParaRPr lang="en-US" sz="900" dirty="0"/>
          </a:p>
        </p:txBody>
      </p:sp>
      <p:sp>
        <p:nvSpPr>
          <p:cNvPr id="21" name="Text 4.20"/>
          <p:cNvSpPr txBox="1"/>
          <p:nvPr/>
        </p:nvSpPr>
        <p:spPr>
          <a:xfrm>
            <a:off x="8254794" y="3835304"/>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BEST PLAY</a:t>
            </a:r>
            <a:endParaRPr lang="en-US" sz="700" dirty="0"/>
          </a:p>
        </p:txBody>
      </p:sp>
      <p:sp>
        <p:nvSpPr>
          <p:cNvPr id="22" name="Text 4.21"/>
          <p:cNvSpPr txBox="1"/>
          <p:nvPr/>
        </p:nvSpPr>
        <p:spPr>
          <a:xfrm>
            <a:off x="8254794" y="4000400"/>
            <a:ext cx="3149521" cy="559877"/>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Every shot is a trade. A hit should take more from the target than the shot cost you, and a miss costs only you.</a:t>
            </a:r>
            <a:endParaRPr lang="en-US" sz="1050" dirty="0"/>
          </a:p>
        </p:txBody>
      </p:sp>
      <p:sp>
        <p:nvSpPr>
          <p:cNvPr id="23" name="Text 4.22"/>
          <p:cNvSpPr txBox="1"/>
          <p:nvPr/>
        </p:nvSpPr>
        <p:spPr>
          <a:xfrm>
            <a:off x="8254794" y="4876678"/>
            <a:ext cx="2095448" cy="266693"/>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06101F"/>
                </a:solidFill>
                <a:latin typeface="Courier New" pitchFamily="34" charset="0"/>
                <a:ea typeface="Courier New" pitchFamily="34" charset="-122"/>
                <a:cs typeface="Courier New" pitchFamily="34" charset="-120"/>
              </a:rPr>
              <a:t>✓ REWARDS AIM AND TIMING</a:t>
            </a:r>
            <a:endParaRPr lang="en-US" sz="700" dirty="0"/>
          </a:p>
        </p:txBody>
      </p:sp>
      <p:sp>
        <p:nvSpPr>
          <p:cNvPr id="24" name="Text 4.23"/>
          <p:cNvSpPr txBox="1"/>
          <p:nvPr/>
        </p:nvSpPr>
        <p:spPr>
          <a:xfrm>
            <a:off x="609585" y="5511662"/>
            <a:ext cx="11010625" cy="497669"/>
          </a:xfrm>
          <a:prstGeom prst="rect">
            <a:avLst/>
          </a:prstGeom>
          <a:noFill/>
          <a:ln/>
        </p:spPr>
        <p:txBody>
          <a:bodyPr wrap="square" lIns="0" tIns="0" rIns="0" bIns="0" rtlCol="0" anchor="t"/>
          <a:lstStyle/>
          <a:p>
            <a:pPr algn="l" indent="0" marL="0">
              <a:lnSpc>
                <a:spcPts val="1960"/>
              </a:lnSpc>
              <a:buNone/>
            </a:pPr>
            <a:r>
              <a:rPr lang="en-US" sz="1400" dirty="0">
                <a:solidFill>
                  <a:srgbClr val="EEF5FF"/>
                </a:solidFill>
                <a:latin typeface="Arial" pitchFamily="34" charset="0"/>
                <a:ea typeface="Arial" pitchFamily="34" charset="-122"/>
                <a:cs typeface="Arial" pitchFamily="34" charset="-120"/>
              </a:rPr>
              <a:t>A shot only pays off when it lands, so </a:t>
            </a:r>
            <a:pPr algn="l" indent="0" marL="0">
              <a:lnSpc>
                <a:spcPts val="1960"/>
              </a:lnSpc>
              <a:buNone/>
            </a:pPr>
            <a:r>
              <a:rPr lang="en-US" sz="1400" b="1" dirty="0">
                <a:solidFill>
                  <a:srgbClr val="FF6A1A"/>
                </a:solidFill>
                <a:latin typeface="Arial" pitchFamily="34" charset="0"/>
                <a:ea typeface="Arial" pitchFamily="34" charset="-122"/>
                <a:cs typeface="Arial" pitchFamily="34" charset="-120"/>
              </a:rPr>
              <a:t>accuracy becomes the skill.</a:t>
            </a:r>
            <a:pPr algn="l" indent="0" marL="0">
              <a:lnSpc>
                <a:spcPts val="1960"/>
              </a:lnSpc>
              <a:buNone/>
            </a:pPr>
            <a:r>
              <a:rPr lang="en-US" sz="1400" dirty="0">
                <a:solidFill>
                  <a:srgbClr val="EEF5FF"/>
                </a:solidFill>
                <a:latin typeface="Arial" pitchFamily="34" charset="0"/>
                <a:ea typeface="Arial" pitchFamily="34" charset="-122"/>
                <a:cs typeface="Arial" pitchFamily="34" charset="-120"/>
              </a:rPr>
              <a:t> And never shooting scores nothing: points come from knockouts, not survival.</a:t>
            </a:r>
            <a:endParaRPr lang="en-US" sz="1400" dirty="0"/>
          </a:p>
        </p:txBody>
      </p:sp>
      <p:sp>
        <p:nvSpPr>
          <p:cNvPr id="25" name="Text 4.24"/>
          <p:cNvSpPr txBox="1"/>
          <p:nvPr/>
        </p:nvSpPr>
        <p:spPr>
          <a:xfrm>
            <a:off x="609585" y="6551449"/>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Exact costs are tuning values. We fix them in playtests, not on paper.</a:t>
            </a:r>
            <a:endParaRPr lang="en-US" sz="750" dirty="0"/>
          </a:p>
        </p:txBody>
      </p:sp>
      <p:sp>
        <p:nvSpPr>
          <p:cNvPr id="26" name="Text 4.25"/>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7" name="Text 4.26"/>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28" name="Text 4.27"/>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04</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1"/>
          <p:cNvSpPr txBox="1"/>
          <p:nvPr/>
        </p:nvSpPr>
        <p:spPr>
          <a:xfrm>
            <a:off x="7772206" y="1015975"/>
            <a:ext cx="1008654"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MINI-GAME 01</a:t>
            </a:r>
            <a:endParaRPr lang="en-US" sz="750" dirty="0"/>
          </a:p>
        </p:txBody>
      </p:sp>
      <p:sp>
        <p:nvSpPr>
          <p:cNvPr id="3" name="Text 5.2"/>
          <p:cNvSpPr txBox="1"/>
          <p:nvPr/>
        </p:nvSpPr>
        <p:spPr>
          <a:xfrm>
            <a:off x="7746806" y="1231869"/>
            <a:ext cx="3471613" cy="1378511"/>
          </a:xfrm>
          <a:prstGeom prst="rect">
            <a:avLst/>
          </a:prstGeom>
          <a:noFill/>
          <a:ln/>
        </p:spPr>
        <p:txBody>
          <a:bodyPr wrap="square" lIns="0" tIns="0" rIns="0" bIns="0" rtlCol="0" anchor="t"/>
          <a:lstStyle/>
          <a:p>
            <a:pPr algn="l" indent="0" marL="0">
              <a:lnSpc>
                <a:spcPts val="5430"/>
              </a:lnSpc>
              <a:buNone/>
            </a:pPr>
            <a:r>
              <a:rPr lang="en-US" sz="5900" spc="29" kern="0" dirty="0">
                <a:solidFill>
                  <a:srgbClr val="EEF5FF"/>
                </a:solidFill>
                <a:latin typeface="Impact" pitchFamily="34" charset="0"/>
                <a:ea typeface="Impact" pitchFamily="34" charset="-122"/>
                <a:cs typeface="Impact" pitchFamily="34" charset="-120"/>
              </a:rPr>
              <a:t>MASS</a:t>
            </a:r>
            <a:endParaRPr lang="en-US" sz="5900" dirty="0"/>
          </a:p>
          <a:p>
            <a:pPr algn="l" indent="0" marL="0">
              <a:lnSpc>
                <a:spcPts val="5430"/>
              </a:lnSpc>
              <a:buNone/>
            </a:pPr>
            <a:r>
              <a:rPr lang="en-US" sz="5900" spc="29" kern="0" dirty="0">
                <a:solidFill>
                  <a:srgbClr val="EEF5FF"/>
                </a:solidFill>
                <a:latin typeface="Impact" pitchFamily="34" charset="0"/>
                <a:ea typeface="Impact" pitchFamily="34" charset="-122"/>
                <a:cs typeface="Impact" pitchFamily="34" charset="-120"/>
              </a:rPr>
              <a:t>KNOCKOUT</a:t>
            </a:r>
            <a:endParaRPr lang="en-US" sz="5900" dirty="0"/>
          </a:p>
        </p:txBody>
      </p:sp>
      <p:sp>
        <p:nvSpPr>
          <p:cNvPr id="4" name="Text 5.3"/>
          <p:cNvSpPr txBox="1"/>
          <p:nvPr/>
        </p:nvSpPr>
        <p:spPr>
          <a:xfrm>
            <a:off x="7772206" y="2984425"/>
            <a:ext cx="35755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GOAL</a:t>
            </a:r>
            <a:endParaRPr lang="en-US" sz="700" dirty="0"/>
          </a:p>
        </p:txBody>
      </p:sp>
      <p:sp>
        <p:nvSpPr>
          <p:cNvPr id="5" name="Text 5.4"/>
          <p:cNvSpPr txBox="1"/>
          <p:nvPr/>
        </p:nvSpPr>
        <p:spPr>
          <a:xfrm>
            <a:off x="7772206" y="3149521"/>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Knock other cubes off the floating platform.</a:t>
            </a:r>
            <a:endParaRPr lang="en-US" sz="1050" dirty="0"/>
          </a:p>
        </p:txBody>
      </p:sp>
      <p:sp>
        <p:nvSpPr>
          <p:cNvPr id="6" name="Text 5.5"/>
          <p:cNvSpPr txBox="1"/>
          <p:nvPr/>
        </p:nvSpPr>
        <p:spPr>
          <a:xfrm>
            <a:off x="7772206" y="3644809"/>
            <a:ext cx="65160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CONTROLS</a:t>
            </a:r>
            <a:endParaRPr lang="en-US" sz="700" dirty="0"/>
          </a:p>
        </p:txBody>
      </p:sp>
      <p:sp>
        <p:nvSpPr>
          <p:cNvPr id="7" name="Text 5.6"/>
          <p:cNvSpPr txBox="1"/>
          <p:nvPr/>
        </p:nvSpPr>
        <p:spPr>
          <a:xfrm>
            <a:off x="7772206" y="3809905"/>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Move, aim, spit. A short cooldown between shots.</a:t>
            </a:r>
            <a:endParaRPr lang="en-US" sz="1050" dirty="0"/>
          </a:p>
        </p:txBody>
      </p:sp>
      <p:sp>
        <p:nvSpPr>
          <p:cNvPr id="8" name="Text 5.7"/>
          <p:cNvSpPr txBox="1"/>
          <p:nvPr/>
        </p:nvSpPr>
        <p:spPr>
          <a:xfrm>
            <a:off x="7772206" y="4305192"/>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SCORING</a:t>
            </a:r>
            <a:endParaRPr lang="en-US" sz="700" dirty="0"/>
          </a:p>
        </p:txBody>
      </p:sp>
      <p:sp>
        <p:nvSpPr>
          <p:cNvPr id="9" name="Text 5.8"/>
          <p:cNvSpPr txBox="1"/>
          <p:nvPr/>
        </p:nvSpPr>
        <p:spPr>
          <a:xfrm>
            <a:off x="7772206" y="4470288"/>
            <a:ext cx="3568611" cy="367894"/>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A knockout goes to the last cube that hit the one that fell. Most knockouts at the timer wins.</a:t>
            </a:r>
            <a:endParaRPr lang="en-US" sz="1050" dirty="0"/>
          </a:p>
        </p:txBody>
      </p:sp>
      <p:sp>
        <p:nvSpPr>
          <p:cNvPr id="10" name="Text 5.9"/>
          <p:cNvSpPr txBox="1"/>
          <p:nvPr/>
        </p:nvSpPr>
        <p:spPr>
          <a:xfrm>
            <a:off x="7772206" y="4965576"/>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RESPAWN</a:t>
            </a:r>
            <a:endParaRPr lang="en-US" sz="700" dirty="0"/>
          </a:p>
        </p:txBody>
      </p:sp>
      <p:sp>
        <p:nvSpPr>
          <p:cNvPr id="11" name="Text 5.10"/>
          <p:cNvSpPr txBox="1"/>
          <p:nvPr/>
        </p:nvSpPr>
        <p:spPr>
          <a:xfrm>
            <a:off x="7772206" y="5130672"/>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After a short delay, at full mass.</a:t>
            </a:r>
            <a:endParaRPr lang="en-US" sz="1050" dirty="0"/>
          </a:p>
        </p:txBody>
      </p:sp>
      <p:sp>
        <p:nvSpPr>
          <p:cNvPr id="12" name="Text 5.11"/>
          <p:cNvSpPr txBox="1"/>
          <p:nvPr/>
        </p:nvSpPr>
        <p:spPr>
          <a:xfrm>
            <a:off x="7772206" y="5625959"/>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ARENA</a:t>
            </a:r>
            <a:endParaRPr lang="en-US" sz="700" dirty="0"/>
          </a:p>
        </p:txBody>
      </p:sp>
      <p:sp>
        <p:nvSpPr>
          <p:cNvPr id="13" name="Text 5.12"/>
          <p:cNvSpPr txBox="1"/>
          <p:nvPr/>
        </p:nvSpPr>
        <p:spPr>
          <a:xfrm>
            <a:off x="7772206" y="5791055"/>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One flat square platform. Open edges, no walls.</a:t>
            </a:r>
            <a:endParaRPr lang="en-US" sz="1050" dirty="0"/>
          </a:p>
        </p:txBody>
      </p:sp>
      <p:sp>
        <p:nvSpPr>
          <p:cNvPr id="14" name="Text 5.13"/>
          <p:cNvSpPr txBox="1"/>
          <p:nvPr/>
        </p:nvSpPr>
        <p:spPr>
          <a:xfrm>
            <a:off x="609585" y="6346666"/>
            <a:ext cx="5752956" cy="257169"/>
          </a:xfrm>
          <a:prstGeom prst="rect">
            <a:avLst/>
          </a:prstGeom>
          <a:noFill/>
          <a:ln/>
        </p:spPr>
        <p:txBody>
          <a:bodyPr wrap="square" lIns="0" tIns="0" rIns="0" bIns="0" rtlCol="0" anchor="t"/>
          <a:lstStyle/>
          <a:p>
            <a:pPr algn="l" indent="0" marL="0">
              <a:lnSpc>
                <a:spcPts val="1010"/>
              </a:lnSpc>
              <a:buNone/>
            </a:pPr>
            <a:r>
              <a:rPr lang="en-US" sz="750" dirty="0">
                <a:solidFill>
                  <a:srgbClr val="EEF5FF"/>
                </a:solidFill>
                <a:latin typeface="Courier New" pitchFamily="34" charset="0"/>
                <a:ea typeface="Courier New" pitchFamily="34" charset="-122"/>
                <a:cs typeface="Courier New" pitchFamily="34" charset="-120"/>
              </a:rPr>
              <a:t>FIG 2 · Orange spits a piece of itself; Cyan is hit near the edge. Concept render, AI-generated. Not gameplay.</a:t>
            </a:r>
            <a:endParaRPr lang="en-US" sz="750" dirty="0"/>
          </a:p>
        </p:txBody>
      </p:sp>
      <p:sp>
        <p:nvSpPr>
          <p:cNvPr id="15" name="Text 5.14"/>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6" name="Text 5.15"/>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17" name="Text 5.16"/>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05</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6.1"/>
          <p:cNvSpPr txBox="1"/>
          <p:nvPr/>
        </p:nvSpPr>
        <p:spPr>
          <a:xfrm>
            <a:off x="888978" y="1015975"/>
            <a:ext cx="1008654"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2EC0FF"/>
                </a:solidFill>
                <a:latin typeface="Courier New" pitchFamily="34" charset="0"/>
                <a:ea typeface="Courier New" pitchFamily="34" charset="-122"/>
                <a:cs typeface="Courier New" pitchFamily="34" charset="-120"/>
              </a:rPr>
              <a:t>MINI-GAME 02</a:t>
            </a:r>
            <a:endParaRPr lang="en-US" sz="750" dirty="0"/>
          </a:p>
        </p:txBody>
      </p:sp>
      <p:sp>
        <p:nvSpPr>
          <p:cNvPr id="3" name="Text 6.2"/>
          <p:cNvSpPr txBox="1"/>
          <p:nvPr/>
        </p:nvSpPr>
        <p:spPr>
          <a:xfrm>
            <a:off x="863578" y="1231869"/>
            <a:ext cx="1680370" cy="1378511"/>
          </a:xfrm>
          <a:prstGeom prst="rect">
            <a:avLst/>
          </a:prstGeom>
          <a:noFill/>
          <a:ln/>
        </p:spPr>
        <p:txBody>
          <a:bodyPr wrap="square" lIns="0" tIns="0" rIns="0" bIns="0" rtlCol="0" anchor="t"/>
          <a:lstStyle/>
          <a:p>
            <a:pPr algn="l" indent="0" marL="0">
              <a:lnSpc>
                <a:spcPts val="5430"/>
              </a:lnSpc>
              <a:buNone/>
            </a:pPr>
            <a:r>
              <a:rPr lang="en-US" sz="5900" spc="29" kern="0" dirty="0">
                <a:solidFill>
                  <a:srgbClr val="EEF5FF"/>
                </a:solidFill>
                <a:latin typeface="Impact" pitchFamily="34" charset="0"/>
                <a:ea typeface="Impact" pitchFamily="34" charset="-122"/>
                <a:cs typeface="Impact" pitchFamily="34" charset="-120"/>
              </a:rPr>
              <a:t>ICE</a:t>
            </a:r>
            <a:endParaRPr lang="en-US" sz="5900" dirty="0"/>
          </a:p>
          <a:p>
            <a:pPr algn="l" indent="0" marL="0">
              <a:lnSpc>
                <a:spcPts val="5430"/>
              </a:lnSpc>
              <a:buNone/>
            </a:pPr>
            <a:r>
              <a:rPr lang="en-US" sz="5900" spc="29" kern="0" dirty="0">
                <a:solidFill>
                  <a:srgbClr val="EEF5FF"/>
                </a:solidFill>
                <a:latin typeface="Impact" pitchFamily="34" charset="0"/>
                <a:ea typeface="Impact" pitchFamily="34" charset="-122"/>
                <a:cs typeface="Impact" pitchFamily="34" charset="-120"/>
              </a:rPr>
              <a:t>RACE</a:t>
            </a:r>
            <a:endParaRPr lang="en-US" sz="5900" dirty="0"/>
          </a:p>
        </p:txBody>
      </p:sp>
      <p:sp>
        <p:nvSpPr>
          <p:cNvPr id="4" name="Text 6.3"/>
          <p:cNvSpPr txBox="1"/>
          <p:nvPr/>
        </p:nvSpPr>
        <p:spPr>
          <a:xfrm>
            <a:off x="888978" y="2984425"/>
            <a:ext cx="35755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GOAL</a:t>
            </a:r>
            <a:endParaRPr lang="en-US" sz="700" dirty="0"/>
          </a:p>
        </p:txBody>
      </p:sp>
      <p:sp>
        <p:nvSpPr>
          <p:cNvPr id="5" name="Text 6.4"/>
          <p:cNvSpPr txBox="1"/>
          <p:nvPr/>
        </p:nvSpPr>
        <p:spPr>
          <a:xfrm>
            <a:off x="888978" y="3149521"/>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Finish the laps first on a floating ice track.</a:t>
            </a:r>
            <a:endParaRPr lang="en-US" sz="1050" dirty="0"/>
          </a:p>
        </p:txBody>
      </p:sp>
      <p:sp>
        <p:nvSpPr>
          <p:cNvPr id="6" name="Text 6.5"/>
          <p:cNvSpPr txBox="1"/>
          <p:nvPr/>
        </p:nvSpPr>
        <p:spPr>
          <a:xfrm>
            <a:off x="888978" y="3644809"/>
            <a:ext cx="65160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CONTROLS</a:t>
            </a:r>
            <a:endParaRPr lang="en-US" sz="700" dirty="0"/>
          </a:p>
        </p:txBody>
      </p:sp>
      <p:sp>
        <p:nvSpPr>
          <p:cNvPr id="7" name="Text 6.6"/>
          <p:cNvSpPr txBox="1"/>
          <p:nvPr/>
        </p:nvSpPr>
        <p:spPr>
          <a:xfrm>
            <a:off x="888978" y="3809905"/>
            <a:ext cx="3568611" cy="367894"/>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Steering changes acceleration, not velocity. Braking restores grip.</a:t>
            </a:r>
            <a:endParaRPr lang="en-US" sz="1050" dirty="0"/>
          </a:p>
        </p:txBody>
      </p:sp>
      <p:sp>
        <p:nvSpPr>
          <p:cNvPr id="8" name="Text 6.7"/>
          <p:cNvSpPr txBox="1"/>
          <p:nvPr/>
        </p:nvSpPr>
        <p:spPr>
          <a:xfrm>
            <a:off x="888978" y="4305192"/>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SKILL</a:t>
            </a:r>
            <a:endParaRPr lang="en-US" sz="700" dirty="0"/>
          </a:p>
        </p:txBody>
      </p:sp>
      <p:sp>
        <p:nvSpPr>
          <p:cNvPr id="9" name="Text 6.8"/>
          <p:cNvSpPr txBox="1"/>
          <p:nvPr/>
        </p:nvSpPr>
        <p:spPr>
          <a:xfrm>
            <a:off x="888978" y="4470288"/>
            <a:ext cx="3568611" cy="367894"/>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Low sideways grip: carry speed through corners without sliding off.</a:t>
            </a:r>
            <a:endParaRPr lang="en-US" sz="1050" dirty="0"/>
          </a:p>
        </p:txBody>
      </p:sp>
      <p:sp>
        <p:nvSpPr>
          <p:cNvPr id="10" name="Text 6.9"/>
          <p:cNvSpPr txBox="1"/>
          <p:nvPr/>
        </p:nvSpPr>
        <p:spPr>
          <a:xfrm>
            <a:off x="888978" y="4965576"/>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FALLS</a:t>
            </a:r>
            <a:endParaRPr lang="en-US" sz="700" dirty="0"/>
          </a:p>
        </p:txBody>
      </p:sp>
      <p:sp>
        <p:nvSpPr>
          <p:cNvPr id="11" name="Text 6.10"/>
          <p:cNvSpPr txBox="1"/>
          <p:nvPr/>
        </p:nvSpPr>
        <p:spPr>
          <a:xfrm>
            <a:off x="888978" y="5130672"/>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Respawn at the last checkpoint. You lose time, not the race.</a:t>
            </a:r>
            <a:endParaRPr lang="en-US" sz="1050" dirty="0"/>
          </a:p>
        </p:txBody>
      </p:sp>
      <p:sp>
        <p:nvSpPr>
          <p:cNvPr id="12" name="Text 6.11"/>
          <p:cNvSpPr txBox="1"/>
          <p:nvPr/>
        </p:nvSpPr>
        <p:spPr>
          <a:xfrm>
            <a:off x="888978" y="5625959"/>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PLACEMENT</a:t>
            </a:r>
            <a:endParaRPr lang="en-US" sz="700" dirty="0"/>
          </a:p>
        </p:txBody>
      </p:sp>
      <p:sp>
        <p:nvSpPr>
          <p:cNvPr id="13" name="Text 6.12"/>
          <p:cNvSpPr txBox="1"/>
          <p:nvPr/>
        </p:nvSpPr>
        <p:spPr>
          <a:xfrm>
            <a:off x="888978" y="5791055"/>
            <a:ext cx="3568611" cy="184018"/>
          </a:xfrm>
          <a:prstGeom prst="rect">
            <a:avLst/>
          </a:prstGeom>
          <a:noFill/>
          <a:ln/>
        </p:spPr>
        <p:txBody>
          <a:bodyPr wrap="square" lIns="0" tIns="0" rIns="0" bIns="0" rtlCol="0" anchor="t"/>
          <a:lstStyle/>
          <a:p>
            <a:pPr algn="l" indent="0" marL="0">
              <a:lnSpc>
                <a:spcPts val="1450"/>
              </a:lnSpc>
              <a:buNone/>
            </a:pPr>
            <a:r>
              <a:rPr lang="en-US" sz="1050" dirty="0">
                <a:solidFill>
                  <a:srgbClr val="EEF5FF"/>
                </a:solidFill>
                <a:latin typeface="Arial" pitchFamily="34" charset="0"/>
                <a:ea typeface="Arial" pitchFamily="34" charset="-122"/>
                <a:cs typeface="Arial" pitchFamily="34" charset="-120"/>
              </a:rPr>
              <a:t>Finish order. Unfinished players ranked by track progress.</a:t>
            </a:r>
            <a:endParaRPr lang="en-US" sz="1050" dirty="0"/>
          </a:p>
        </p:txBody>
      </p:sp>
      <p:sp>
        <p:nvSpPr>
          <p:cNvPr id="14" name="Text 6.13"/>
          <p:cNvSpPr txBox="1"/>
          <p:nvPr/>
        </p:nvSpPr>
        <p:spPr>
          <a:xfrm>
            <a:off x="5867253" y="6346666"/>
            <a:ext cx="5714857" cy="257169"/>
          </a:xfrm>
          <a:prstGeom prst="rect">
            <a:avLst/>
          </a:prstGeom>
          <a:noFill/>
          <a:ln/>
        </p:spPr>
        <p:txBody>
          <a:bodyPr wrap="square" lIns="0" tIns="0" rIns="0" bIns="0" rtlCol="0" anchor="t"/>
          <a:lstStyle/>
          <a:p>
            <a:pPr algn="r" indent="0" marL="0">
              <a:lnSpc>
                <a:spcPts val="1010"/>
              </a:lnSpc>
              <a:buNone/>
            </a:pPr>
            <a:r>
              <a:rPr lang="en-US" sz="750" dirty="0">
                <a:solidFill>
                  <a:srgbClr val="EEF5FF"/>
                </a:solidFill>
                <a:latin typeface="Courier New" pitchFamily="34" charset="0"/>
                <a:ea typeface="Courier New" pitchFamily="34" charset="-122"/>
                <a:cs typeface="Courier New" pitchFamily="34" charset="-120"/>
              </a:rPr>
              <a:t>FIG 3 · Racing a floating ice track; the HUD is part of the render. Concept render, AI-generated. Not gameplay.</a:t>
            </a:r>
            <a:endParaRPr lang="en-US" sz="750" dirty="0"/>
          </a:p>
        </p:txBody>
      </p:sp>
      <p:sp>
        <p:nvSpPr>
          <p:cNvPr id="15" name="Text 6.14"/>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6" name="Text 6.15"/>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17" name="Text 6.16"/>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06</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7.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One shared core; each mini-game </a:t>
            </a:r>
            <a:pPr algn="l" indent="0" marL="0">
              <a:lnSpc>
                <a:spcPts val="3080"/>
              </a:lnSpc>
              <a:buNone/>
            </a:pPr>
            <a:r>
              <a:rPr lang="en-US" sz="2800" b="1" spc="-50" kern="0" dirty="0">
                <a:solidFill>
                  <a:srgbClr val="2EC0FF"/>
                </a:solidFill>
                <a:latin typeface="Arial" pitchFamily="34" charset="0"/>
                <a:ea typeface="Arial" pitchFamily="34" charset="-122"/>
                <a:cs typeface="Arial" pitchFamily="34" charset="-120"/>
              </a:rPr>
              <a:t>plugs into it</a:t>
            </a:r>
            <a:endParaRPr lang="en-US" sz="2800" dirty="0"/>
          </a:p>
        </p:txBody>
      </p:sp>
      <p:sp>
        <p:nvSpPr>
          <p:cNvPr id="3" name="Text 7.2"/>
          <p:cNvSpPr txBox="1"/>
          <p:nvPr/>
        </p:nvSpPr>
        <p:spPr>
          <a:xfrm>
            <a:off x="609585" y="1841454"/>
            <a:ext cx="798631"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MINI-GAMES</a:t>
            </a:r>
            <a:endParaRPr lang="en-US" sz="700" dirty="0"/>
          </a:p>
        </p:txBody>
      </p:sp>
      <p:sp>
        <p:nvSpPr>
          <p:cNvPr id="4" name="Text 7.3"/>
          <p:cNvSpPr txBox="1"/>
          <p:nvPr/>
        </p:nvSpPr>
        <p:spPr>
          <a:xfrm>
            <a:off x="787380" y="2133547"/>
            <a:ext cx="1456360" cy="204465"/>
          </a:xfrm>
          <a:prstGeom prst="rect">
            <a:avLst/>
          </a:prstGeom>
          <a:noFill/>
          <a:ln/>
        </p:spPr>
        <p:txBody>
          <a:bodyPr wrap="square" lIns="0" tIns="0" rIns="0" bIns="0" rtlCol="0" anchor="t"/>
          <a:lstStyle/>
          <a:p>
            <a:pPr algn="l" indent="0" marL="0">
              <a:lnSpc>
                <a:spcPts val="1610"/>
              </a:lnSpc>
              <a:buNone/>
            </a:pPr>
            <a:r>
              <a:rPr lang="en-US" sz="1400" b="1" dirty="0">
                <a:solidFill>
                  <a:srgbClr val="FF6A1A"/>
                </a:solidFill>
                <a:latin typeface="Arial" pitchFamily="34" charset="0"/>
                <a:ea typeface="Arial" pitchFamily="34" charset="-122"/>
                <a:cs typeface="Arial" pitchFamily="34" charset="-120"/>
              </a:rPr>
              <a:t>Mass Knockout</a:t>
            </a:r>
            <a:endParaRPr lang="en-US" sz="1400" dirty="0"/>
          </a:p>
        </p:txBody>
      </p:sp>
      <p:sp>
        <p:nvSpPr>
          <p:cNvPr id="5" name="Text 7.4"/>
          <p:cNvSpPr txBox="1"/>
          <p:nvPr/>
        </p:nvSpPr>
        <p:spPr>
          <a:xfrm>
            <a:off x="787380" y="2387540"/>
            <a:ext cx="1820561" cy="128584"/>
          </a:xfrm>
          <a:prstGeom prst="rect">
            <a:avLst/>
          </a:prstGeom>
          <a:noFill/>
          <a:ln/>
        </p:spPr>
        <p:txBody>
          <a:bodyPr wrap="square" lIns="0" tIns="0" rIns="0" bIns="0" rtlCol="0" anchor="t"/>
          <a:lstStyle/>
          <a:p>
            <a:pPr algn="l" indent="0" marL="0">
              <a:lnSpc>
                <a:spcPts val="1010"/>
              </a:lnSpc>
              <a:buNone/>
            </a:pPr>
            <a:r>
              <a:rPr lang="en-US" sz="750" dirty="0">
                <a:solidFill>
                  <a:srgbClr val="D3DEF2"/>
                </a:solidFill>
                <a:latin typeface="Courier New" pitchFamily="34" charset="0"/>
                <a:ea typeface="Courier New" pitchFamily="34" charset="-122"/>
                <a:cs typeface="Courier New" pitchFamily="34" charset="-120"/>
              </a:rPr>
              <a:t>mass state · spit · knockback</a:t>
            </a:r>
            <a:endParaRPr lang="en-US" sz="750" dirty="0"/>
          </a:p>
        </p:txBody>
      </p:sp>
      <p:sp>
        <p:nvSpPr>
          <p:cNvPr id="6" name="Text 7.5"/>
          <p:cNvSpPr txBox="1"/>
          <p:nvPr/>
        </p:nvSpPr>
        <p:spPr>
          <a:xfrm>
            <a:off x="3200320" y="2133547"/>
            <a:ext cx="828394" cy="204465"/>
          </a:xfrm>
          <a:prstGeom prst="rect">
            <a:avLst/>
          </a:prstGeom>
          <a:noFill/>
          <a:ln/>
        </p:spPr>
        <p:txBody>
          <a:bodyPr wrap="square" lIns="0" tIns="0" rIns="0" bIns="0" rtlCol="0" anchor="t"/>
          <a:lstStyle/>
          <a:p>
            <a:pPr algn="l" indent="0" marL="0">
              <a:lnSpc>
                <a:spcPts val="1610"/>
              </a:lnSpc>
              <a:buNone/>
            </a:pPr>
            <a:r>
              <a:rPr lang="en-US" sz="1400" b="1" dirty="0">
                <a:solidFill>
                  <a:srgbClr val="2EC0FF"/>
                </a:solidFill>
                <a:latin typeface="Arial" pitchFamily="34" charset="0"/>
                <a:ea typeface="Arial" pitchFamily="34" charset="-122"/>
                <a:cs typeface="Arial" pitchFamily="34" charset="-120"/>
              </a:rPr>
              <a:t>Ice Race</a:t>
            </a:r>
            <a:endParaRPr lang="en-US" sz="1400" dirty="0"/>
          </a:p>
        </p:txBody>
      </p:sp>
      <p:sp>
        <p:nvSpPr>
          <p:cNvPr id="7" name="Text 7.6"/>
          <p:cNvSpPr txBox="1"/>
          <p:nvPr/>
        </p:nvSpPr>
        <p:spPr>
          <a:xfrm>
            <a:off x="3200320" y="2387540"/>
            <a:ext cx="2062976" cy="128584"/>
          </a:xfrm>
          <a:prstGeom prst="rect">
            <a:avLst/>
          </a:prstGeom>
          <a:noFill/>
          <a:ln/>
        </p:spPr>
        <p:txBody>
          <a:bodyPr wrap="square" lIns="0" tIns="0" rIns="0" bIns="0" rtlCol="0" anchor="t"/>
          <a:lstStyle/>
          <a:p>
            <a:pPr algn="l" indent="0" marL="0">
              <a:lnSpc>
                <a:spcPts val="1010"/>
              </a:lnSpc>
              <a:buNone/>
            </a:pPr>
            <a:r>
              <a:rPr lang="en-US" sz="750" dirty="0">
                <a:solidFill>
                  <a:srgbClr val="D3DEF2"/>
                </a:solidFill>
                <a:latin typeface="Courier New" pitchFamily="34" charset="0"/>
                <a:ea typeface="Courier New" pitchFamily="34" charset="-122"/>
                <a:cs typeface="Courier New" pitchFamily="34" charset="-120"/>
              </a:rPr>
              <a:t>ice profile · track · checkpoints</a:t>
            </a:r>
            <a:endParaRPr lang="en-US" sz="750" dirty="0"/>
          </a:p>
        </p:txBody>
      </p:sp>
      <p:sp>
        <p:nvSpPr>
          <p:cNvPr id="8" name="Text 7.7"/>
          <p:cNvSpPr txBox="1"/>
          <p:nvPr/>
        </p:nvSpPr>
        <p:spPr>
          <a:xfrm>
            <a:off x="5613260" y="2133547"/>
            <a:ext cx="1466877" cy="204465"/>
          </a:xfrm>
          <a:prstGeom prst="rect">
            <a:avLst/>
          </a:prstGeom>
          <a:noFill/>
          <a:ln/>
        </p:spPr>
        <p:txBody>
          <a:bodyPr wrap="square" lIns="0" tIns="0" rIns="0" bIns="0" rtlCol="0" anchor="t"/>
          <a:lstStyle/>
          <a:p>
            <a:pPr algn="l" indent="0" marL="0">
              <a:lnSpc>
                <a:spcPts val="1610"/>
              </a:lnSpc>
              <a:buNone/>
            </a:pPr>
            <a:r>
              <a:rPr lang="en-US" sz="1400" b="1" dirty="0">
                <a:solidFill>
                  <a:srgbClr val="56698F"/>
                </a:solidFill>
                <a:latin typeface="Arial" pitchFamily="34" charset="0"/>
                <a:ea typeface="Arial" pitchFamily="34" charset="-122"/>
                <a:cs typeface="Arial" pitchFamily="34" charset="-120"/>
              </a:rPr>
              <a:t>Next mini-game</a:t>
            </a:r>
            <a:endParaRPr lang="en-US" sz="1400" dirty="0"/>
          </a:p>
        </p:txBody>
      </p:sp>
      <p:sp>
        <p:nvSpPr>
          <p:cNvPr id="9" name="Text 7.8"/>
          <p:cNvSpPr txBox="1"/>
          <p:nvPr/>
        </p:nvSpPr>
        <p:spPr>
          <a:xfrm>
            <a:off x="5613260" y="2387540"/>
            <a:ext cx="133583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new rules + one arena</a:t>
            </a:r>
            <a:endParaRPr lang="en-US" sz="750" dirty="0"/>
          </a:p>
        </p:txBody>
      </p:sp>
      <p:sp>
        <p:nvSpPr>
          <p:cNvPr id="10" name="Text 7.9"/>
          <p:cNvSpPr txBox="1"/>
          <p:nvPr/>
        </p:nvSpPr>
        <p:spPr>
          <a:xfrm>
            <a:off x="609585" y="2857429"/>
            <a:ext cx="138673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MINI-GAME CONTRACT</a:t>
            </a:r>
            <a:endParaRPr lang="en-US" sz="700" dirty="0"/>
          </a:p>
        </p:txBody>
      </p:sp>
      <p:sp>
        <p:nvSpPr>
          <p:cNvPr id="11" name="Text 7.10"/>
          <p:cNvSpPr txBox="1"/>
          <p:nvPr/>
        </p:nvSpPr>
        <p:spPr>
          <a:xfrm>
            <a:off x="609585" y="3035224"/>
            <a:ext cx="7111822" cy="406390"/>
          </a:xfrm>
          <a:prstGeom prst="rect">
            <a:avLst/>
          </a:prstGeom>
          <a:noFill/>
          <a:ln/>
        </p:spPr>
        <p:txBody>
          <a:bodyPr wrap="square" lIns="0" tIns="0" rIns="0" bIns="0" rtlCol="0" anchor="ctr"/>
          <a:lstStyle/>
          <a:p>
            <a:pPr algn="ctr" indent="0" marL="0">
              <a:lnSpc>
                <a:spcPts val="1150"/>
              </a:lnSpc>
              <a:buNone/>
            </a:pPr>
            <a:r>
              <a:rPr lang="en-US" sz="1150" b="1" dirty="0">
                <a:solidFill>
                  <a:srgbClr val="FFD23F"/>
                </a:solidFill>
                <a:latin typeface="Courier New" pitchFamily="34" charset="0"/>
                <a:ea typeface="Courier New" pitchFamily="34" charset="-122"/>
                <a:cs typeface="Courier New" pitchFamily="34" charset="-120"/>
              </a:rPr>
              <a:t>Setup(players) → Run() → Results() : placement</a:t>
            </a:r>
            <a:endParaRPr lang="en-US" sz="1150" dirty="0"/>
          </a:p>
        </p:txBody>
      </p:sp>
      <p:sp>
        <p:nvSpPr>
          <p:cNvPr id="12" name="Text 7.11"/>
          <p:cNvSpPr txBox="1"/>
          <p:nvPr/>
        </p:nvSpPr>
        <p:spPr>
          <a:xfrm>
            <a:off x="609585" y="3619410"/>
            <a:ext cx="116619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SHARED GAMEPLAY</a:t>
            </a:r>
            <a:endParaRPr lang="en-US" sz="700" dirty="0"/>
          </a:p>
        </p:txBody>
      </p:sp>
      <p:sp>
        <p:nvSpPr>
          <p:cNvPr id="13" name="Text 7.12"/>
          <p:cNvSpPr txBox="1"/>
          <p:nvPr/>
        </p:nvSpPr>
        <p:spPr>
          <a:xfrm>
            <a:off x="609585" y="3797205"/>
            <a:ext cx="1142971"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Character</a:t>
            </a:r>
            <a:endParaRPr lang="en-US" sz="1000" dirty="0"/>
          </a:p>
        </p:txBody>
      </p:sp>
      <p:sp>
        <p:nvSpPr>
          <p:cNvPr id="14" name="Text 7.13"/>
          <p:cNvSpPr txBox="1"/>
          <p:nvPr/>
        </p:nvSpPr>
        <p:spPr>
          <a:xfrm>
            <a:off x="1854154" y="3797205"/>
            <a:ext cx="1079473"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Camera</a:t>
            </a:r>
            <a:endParaRPr lang="en-US" sz="1000" dirty="0"/>
          </a:p>
        </p:txBody>
      </p:sp>
      <p:sp>
        <p:nvSpPr>
          <p:cNvPr id="15" name="Text 7.14"/>
          <p:cNvSpPr txBox="1"/>
          <p:nvPr/>
        </p:nvSpPr>
        <p:spPr>
          <a:xfrm>
            <a:off x="3035224" y="3797205"/>
            <a:ext cx="1904952"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Round state machine</a:t>
            </a:r>
            <a:endParaRPr lang="en-US" sz="1000" dirty="0"/>
          </a:p>
        </p:txBody>
      </p:sp>
      <p:sp>
        <p:nvSpPr>
          <p:cNvPr id="16" name="Text 7.15"/>
          <p:cNvSpPr txBox="1"/>
          <p:nvPr/>
        </p:nvSpPr>
        <p:spPr>
          <a:xfrm>
            <a:off x="5041774" y="3797205"/>
            <a:ext cx="1333467"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Scoreboard</a:t>
            </a:r>
            <a:endParaRPr lang="en-US" sz="1000" dirty="0"/>
          </a:p>
        </p:txBody>
      </p:sp>
      <p:sp>
        <p:nvSpPr>
          <p:cNvPr id="17" name="Text 7.16"/>
          <p:cNvSpPr txBox="1"/>
          <p:nvPr/>
        </p:nvSpPr>
        <p:spPr>
          <a:xfrm>
            <a:off x="6476838" y="3797205"/>
            <a:ext cx="1269968"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Lobby &amp; UI</a:t>
            </a:r>
            <a:endParaRPr lang="en-US" sz="1000" dirty="0"/>
          </a:p>
        </p:txBody>
      </p:sp>
      <p:sp>
        <p:nvSpPr>
          <p:cNvPr id="18" name="Text 7.17"/>
          <p:cNvSpPr txBox="1"/>
          <p:nvPr/>
        </p:nvSpPr>
        <p:spPr>
          <a:xfrm>
            <a:off x="609585" y="4381390"/>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NETWORK</a:t>
            </a:r>
            <a:endParaRPr lang="en-US" sz="700" dirty="0"/>
          </a:p>
        </p:txBody>
      </p:sp>
      <p:sp>
        <p:nvSpPr>
          <p:cNvPr id="19" name="Text 7.18"/>
          <p:cNvSpPr txBox="1"/>
          <p:nvPr/>
        </p:nvSpPr>
        <p:spPr>
          <a:xfrm>
            <a:off x="609585" y="4559186"/>
            <a:ext cx="7111822" cy="406390"/>
          </a:xfrm>
          <a:prstGeom prst="rect">
            <a:avLst/>
          </a:prstGeom>
          <a:noFill/>
          <a:ln/>
        </p:spPr>
        <p:txBody>
          <a:bodyPr wrap="square" lIns="0" tIns="0" rIns="0" bIns="0" rtlCol="0" anchor="ctr"/>
          <a:lstStyle/>
          <a:p>
            <a:pPr algn="ctr" indent="0" marL="0">
              <a:lnSpc>
                <a:spcPts val="1000"/>
              </a:lnSpc>
              <a:buNone/>
            </a:pPr>
            <a:r>
              <a:rPr lang="en-US" sz="1000" b="1" dirty="0">
                <a:solidFill>
                  <a:srgbClr val="EEF5FF"/>
                </a:solidFill>
                <a:latin typeface="Arial" pitchFamily="34" charset="0"/>
                <a:ea typeface="Arial" pitchFamily="34" charset="-122"/>
                <a:cs typeface="Arial" pitchFamily="34" charset="-120"/>
              </a:rPr>
              <a:t>Host-authoritative LAN · Unity Netcode for GameObjects (candidate)</a:t>
            </a:r>
            <a:endParaRPr lang="en-US" sz="1000" dirty="0"/>
          </a:p>
        </p:txBody>
      </p:sp>
      <p:sp>
        <p:nvSpPr>
          <p:cNvPr id="20" name="Text 7.19"/>
          <p:cNvSpPr txBox="1"/>
          <p:nvPr/>
        </p:nvSpPr>
        <p:spPr>
          <a:xfrm>
            <a:off x="609585" y="5143371"/>
            <a:ext cx="50457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ENGINE</a:t>
            </a:r>
            <a:endParaRPr lang="en-US" sz="700" dirty="0"/>
          </a:p>
        </p:txBody>
      </p:sp>
      <p:sp>
        <p:nvSpPr>
          <p:cNvPr id="21" name="Text 7.20"/>
          <p:cNvSpPr txBox="1"/>
          <p:nvPr/>
        </p:nvSpPr>
        <p:spPr>
          <a:xfrm>
            <a:off x="609585" y="5321167"/>
            <a:ext cx="7111822" cy="406390"/>
          </a:xfrm>
          <a:prstGeom prst="rect">
            <a:avLst/>
          </a:prstGeom>
          <a:noFill/>
          <a:ln/>
        </p:spPr>
        <p:txBody>
          <a:bodyPr wrap="square" lIns="0" tIns="0" rIns="0" bIns="0" rtlCol="0" anchor="ctr"/>
          <a:lstStyle/>
          <a:p>
            <a:pPr algn="ctr" indent="0" marL="0">
              <a:lnSpc>
                <a:spcPts val="1000"/>
              </a:lnSpc>
              <a:buNone/>
            </a:pPr>
            <a:r>
              <a:rPr lang="en-US" sz="1000" b="1" dirty="0">
                <a:solidFill>
                  <a:srgbClr val="8C9FC3"/>
                </a:solidFill>
                <a:latin typeface="Arial" pitchFamily="34" charset="0"/>
                <a:ea typeface="Arial" pitchFamily="34" charset="-122"/>
                <a:cs typeface="Arial" pitchFamily="34" charset="-120"/>
              </a:rPr>
              <a:t>Unity · built-in rigidbody physics</a:t>
            </a:r>
            <a:endParaRPr lang="en-US" sz="1000" dirty="0"/>
          </a:p>
        </p:txBody>
      </p:sp>
      <p:sp>
        <p:nvSpPr>
          <p:cNvPr id="22" name="Text 7.21"/>
          <p:cNvSpPr txBox="1"/>
          <p:nvPr/>
        </p:nvSpPr>
        <p:spPr>
          <a:xfrm>
            <a:off x="8457989" y="1879553"/>
            <a:ext cx="1166198"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WHY THIS SPLIT</a:t>
            </a:r>
            <a:endParaRPr lang="en-US" sz="750" dirty="0"/>
          </a:p>
        </p:txBody>
      </p:sp>
      <p:sp>
        <p:nvSpPr>
          <p:cNvPr id="23" name="Text 7.22"/>
          <p:cNvSpPr txBox="1"/>
          <p:nvPr/>
        </p:nvSpPr>
        <p:spPr>
          <a:xfrm>
            <a:off x="8457989" y="2222444"/>
            <a:ext cx="629204" cy="204465"/>
          </a:xfrm>
          <a:prstGeom prst="rect">
            <a:avLst/>
          </a:prstGeom>
          <a:noFill/>
          <a:ln/>
        </p:spPr>
        <p:txBody>
          <a:bodyPr wrap="square" lIns="0" tIns="0" rIns="0" bIns="0" rtlCol="0" anchor="t"/>
          <a:lstStyle/>
          <a:p>
            <a:pPr algn="l" indent="0" marL="0">
              <a:lnSpc>
                <a:spcPts val="1610"/>
              </a:lnSpc>
              <a:buNone/>
            </a:pPr>
            <a:r>
              <a:rPr lang="en-US" sz="1400" b="1" dirty="0">
                <a:solidFill>
                  <a:srgbClr val="FF6A1A"/>
                </a:solidFill>
                <a:latin typeface="Arial" pitchFamily="34" charset="0"/>
                <a:ea typeface="Arial" pitchFamily="34" charset="-122"/>
                <a:cs typeface="Arial" pitchFamily="34" charset="-120"/>
              </a:rPr>
              <a:t>Reuse</a:t>
            </a:r>
            <a:endParaRPr lang="en-US" sz="1400" dirty="0"/>
          </a:p>
        </p:txBody>
      </p:sp>
      <p:sp>
        <p:nvSpPr>
          <p:cNvPr id="24" name="Text 7.23"/>
          <p:cNvSpPr txBox="1"/>
          <p:nvPr/>
        </p:nvSpPr>
        <p:spPr>
          <a:xfrm>
            <a:off x="8457989" y="2476438"/>
            <a:ext cx="3149521" cy="567914"/>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A new mini-game is new rules plus one arena. Character, camera, network and scores already exist.</a:t>
            </a:r>
            <a:endParaRPr lang="en-US" sz="1050" dirty="0"/>
          </a:p>
        </p:txBody>
      </p:sp>
      <p:sp>
        <p:nvSpPr>
          <p:cNvPr id="25" name="Text 7.24"/>
          <p:cNvSpPr txBox="1"/>
          <p:nvPr/>
        </p:nvSpPr>
        <p:spPr>
          <a:xfrm>
            <a:off x="8457989" y="3555911"/>
            <a:ext cx="1676689" cy="204465"/>
          </a:xfrm>
          <a:prstGeom prst="rect">
            <a:avLst/>
          </a:prstGeom>
          <a:noFill/>
          <a:ln/>
        </p:spPr>
        <p:txBody>
          <a:bodyPr wrap="square" lIns="0" tIns="0" rIns="0" bIns="0" rtlCol="0" anchor="t"/>
          <a:lstStyle/>
          <a:p>
            <a:pPr algn="l" indent="0" marL="0">
              <a:lnSpc>
                <a:spcPts val="1610"/>
              </a:lnSpc>
              <a:buNone/>
            </a:pPr>
            <a:r>
              <a:rPr lang="en-US" sz="1400" b="1" dirty="0">
                <a:solidFill>
                  <a:srgbClr val="2EC0FF"/>
                </a:solidFill>
                <a:latin typeface="Arial" pitchFamily="34" charset="0"/>
                <a:ea typeface="Arial" pitchFamily="34" charset="-122"/>
                <a:cs typeface="Arial" pitchFamily="34" charset="-120"/>
              </a:rPr>
              <a:t>Per-game physics</a:t>
            </a:r>
            <a:endParaRPr lang="en-US" sz="1400" dirty="0"/>
          </a:p>
        </p:txBody>
      </p:sp>
      <p:sp>
        <p:nvSpPr>
          <p:cNvPr id="26" name="Text 7.25"/>
          <p:cNvSpPr txBox="1"/>
          <p:nvPr/>
        </p:nvSpPr>
        <p:spPr>
          <a:xfrm>
            <a:off x="8457989" y="3809905"/>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Each mini-game sets its own profile: low grip on ice, firm grip in Knockout.</a:t>
            </a:r>
            <a:endParaRPr lang="en-US" sz="1050" dirty="0"/>
          </a:p>
        </p:txBody>
      </p:sp>
      <p:sp>
        <p:nvSpPr>
          <p:cNvPr id="27" name="Text 7.26"/>
          <p:cNvSpPr txBox="1"/>
          <p:nvPr/>
        </p:nvSpPr>
        <p:spPr>
          <a:xfrm>
            <a:off x="8457989" y="4698883"/>
            <a:ext cx="911583" cy="204465"/>
          </a:xfrm>
          <a:prstGeom prst="rect">
            <a:avLst/>
          </a:prstGeom>
          <a:noFill/>
          <a:ln/>
        </p:spPr>
        <p:txBody>
          <a:bodyPr wrap="square" lIns="0" tIns="0" rIns="0" bIns="0" rtlCol="0" anchor="t"/>
          <a:lstStyle/>
          <a:p>
            <a:pPr algn="l" indent="0" marL="0">
              <a:lnSpc>
                <a:spcPts val="1610"/>
              </a:lnSpc>
              <a:buNone/>
            </a:pPr>
            <a:r>
              <a:rPr lang="en-US" sz="1400" b="1" dirty="0">
                <a:solidFill>
                  <a:srgbClr val="6CD63A"/>
                </a:solidFill>
                <a:latin typeface="Arial" pitchFamily="34" charset="0"/>
                <a:ea typeface="Arial" pitchFamily="34" charset="-122"/>
                <a:cs typeface="Arial" pitchFamily="34" charset="-120"/>
              </a:rPr>
              <a:t>One truth</a:t>
            </a:r>
            <a:endParaRPr lang="en-US" sz="1400" dirty="0"/>
          </a:p>
        </p:txBody>
      </p:sp>
      <p:sp>
        <p:nvSpPr>
          <p:cNvPr id="28" name="Text 7.27"/>
          <p:cNvSpPr txBox="1"/>
          <p:nvPr/>
        </p:nvSpPr>
        <p:spPr>
          <a:xfrm>
            <a:off x="8457989" y="4952876"/>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Everything that decides a result runs on the host, so every screen agrees.</a:t>
            </a:r>
            <a:endParaRPr lang="en-US" sz="1050" dirty="0"/>
          </a:p>
        </p:txBody>
      </p:sp>
      <p:sp>
        <p:nvSpPr>
          <p:cNvPr id="29" name="Text 7.28"/>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30" name="Text 7.29"/>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31" name="Text 7.30"/>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07</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8.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One shot over the LAN, </a:t>
            </a:r>
            <a:pPr algn="l" indent="0" marL="0">
              <a:lnSpc>
                <a:spcPts val="3080"/>
              </a:lnSpc>
              <a:buNone/>
            </a:pPr>
            <a:r>
              <a:rPr lang="en-US" sz="2800" b="1" spc="-50" kern="0" dirty="0">
                <a:solidFill>
                  <a:srgbClr val="2EC0FF"/>
                </a:solidFill>
                <a:latin typeface="Arial" pitchFamily="34" charset="0"/>
                <a:ea typeface="Arial" pitchFamily="34" charset="-122"/>
                <a:cs typeface="Arial" pitchFamily="34" charset="-120"/>
              </a:rPr>
              <a:t>step by step</a:t>
            </a:r>
            <a:endParaRPr lang="en-US" sz="2800" dirty="0"/>
          </a:p>
        </p:txBody>
      </p:sp>
      <p:sp>
        <p:nvSpPr>
          <p:cNvPr id="3" name="Text 8.2"/>
          <p:cNvSpPr txBox="1"/>
          <p:nvPr/>
        </p:nvSpPr>
        <p:spPr>
          <a:xfrm>
            <a:off x="1015975" y="1816055"/>
            <a:ext cx="2158946" cy="198623"/>
          </a:xfrm>
          <a:prstGeom prst="rect">
            <a:avLst/>
          </a:prstGeom>
          <a:noFill/>
          <a:ln/>
        </p:spPr>
        <p:txBody>
          <a:bodyPr wrap="square" lIns="0" tIns="0" rIns="0" bIns="0" rtlCol="0" anchor="t"/>
          <a:lstStyle/>
          <a:p>
            <a:pPr algn="ctr" indent="0" marL="0">
              <a:lnSpc>
                <a:spcPts val="1560"/>
              </a:lnSpc>
              <a:buNone/>
            </a:pPr>
            <a:r>
              <a:rPr lang="en-US" sz="1700" spc="9" kern="0" dirty="0">
                <a:solidFill>
                  <a:srgbClr val="FF6A1A"/>
                </a:solidFill>
                <a:latin typeface="Impact" pitchFamily="34" charset="0"/>
                <a:ea typeface="Impact" pitchFamily="34" charset="-122"/>
                <a:cs typeface="Impact" pitchFamily="34" charset="-120"/>
              </a:rPr>
              <a:t>CLIENT A</a:t>
            </a:r>
            <a:endParaRPr lang="en-US" sz="1700" dirty="0"/>
          </a:p>
        </p:txBody>
      </p:sp>
      <p:sp>
        <p:nvSpPr>
          <p:cNvPr id="4" name="Text 8.3"/>
          <p:cNvSpPr txBox="1"/>
          <p:nvPr/>
        </p:nvSpPr>
        <p:spPr>
          <a:xfrm>
            <a:off x="1015975" y="2070048"/>
            <a:ext cx="2158946" cy="128584"/>
          </a:xfrm>
          <a:prstGeom prst="rect">
            <a:avLst/>
          </a:prstGeom>
          <a:noFill/>
          <a:ln/>
        </p:spPr>
        <p:txBody>
          <a:bodyPr wrap="square" lIns="0" tIns="0" rIns="0" bIns="0" rtlCol="0" anchor="t"/>
          <a:lstStyle/>
          <a:p>
            <a:pPr algn="ctr"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shooter</a:t>
            </a:r>
            <a:endParaRPr lang="en-US" sz="750" dirty="0"/>
          </a:p>
        </p:txBody>
      </p:sp>
      <p:sp>
        <p:nvSpPr>
          <p:cNvPr id="5" name="Text 8.4"/>
          <p:cNvSpPr txBox="1"/>
          <p:nvPr/>
        </p:nvSpPr>
        <p:spPr>
          <a:xfrm>
            <a:off x="5016375" y="1816055"/>
            <a:ext cx="2158946" cy="198623"/>
          </a:xfrm>
          <a:prstGeom prst="rect">
            <a:avLst/>
          </a:prstGeom>
          <a:noFill/>
          <a:ln/>
        </p:spPr>
        <p:txBody>
          <a:bodyPr wrap="square" lIns="0" tIns="0" rIns="0" bIns="0" rtlCol="0" anchor="t"/>
          <a:lstStyle/>
          <a:p>
            <a:pPr algn="ctr" indent="0" marL="0">
              <a:lnSpc>
                <a:spcPts val="1560"/>
              </a:lnSpc>
              <a:buNone/>
            </a:pPr>
            <a:r>
              <a:rPr lang="en-US" sz="1700" spc="9" kern="0" dirty="0">
                <a:solidFill>
                  <a:srgbClr val="EEF5FF"/>
                </a:solidFill>
                <a:latin typeface="Impact" pitchFamily="34" charset="0"/>
                <a:ea typeface="Impact" pitchFamily="34" charset="-122"/>
                <a:cs typeface="Impact" pitchFamily="34" charset="-120"/>
              </a:rPr>
              <a:t>HOST</a:t>
            </a:r>
            <a:endParaRPr lang="en-US" sz="1700" dirty="0"/>
          </a:p>
        </p:txBody>
      </p:sp>
      <p:sp>
        <p:nvSpPr>
          <p:cNvPr id="6" name="Text 8.5"/>
          <p:cNvSpPr txBox="1"/>
          <p:nvPr/>
        </p:nvSpPr>
        <p:spPr>
          <a:xfrm>
            <a:off x="5016375" y="2070048"/>
            <a:ext cx="2158946" cy="128584"/>
          </a:xfrm>
          <a:prstGeom prst="rect">
            <a:avLst/>
          </a:prstGeom>
          <a:noFill/>
          <a:ln/>
        </p:spPr>
        <p:txBody>
          <a:bodyPr wrap="square" lIns="0" tIns="0" rIns="0" bIns="0" rtlCol="0" anchor="t"/>
          <a:lstStyle/>
          <a:p>
            <a:pPr algn="ctr"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authority: runs the physics</a:t>
            </a:r>
            <a:endParaRPr lang="en-US" sz="750" dirty="0"/>
          </a:p>
        </p:txBody>
      </p:sp>
      <p:sp>
        <p:nvSpPr>
          <p:cNvPr id="7" name="Text 8.6"/>
          <p:cNvSpPr txBox="1"/>
          <p:nvPr/>
        </p:nvSpPr>
        <p:spPr>
          <a:xfrm>
            <a:off x="9016775" y="1816055"/>
            <a:ext cx="2158946" cy="198623"/>
          </a:xfrm>
          <a:prstGeom prst="rect">
            <a:avLst/>
          </a:prstGeom>
          <a:noFill/>
          <a:ln/>
        </p:spPr>
        <p:txBody>
          <a:bodyPr wrap="square" lIns="0" tIns="0" rIns="0" bIns="0" rtlCol="0" anchor="t"/>
          <a:lstStyle/>
          <a:p>
            <a:pPr algn="ctr" indent="0" marL="0">
              <a:lnSpc>
                <a:spcPts val="1560"/>
              </a:lnSpc>
              <a:buNone/>
            </a:pPr>
            <a:r>
              <a:rPr lang="en-US" sz="1700" spc="9" kern="0" dirty="0">
                <a:solidFill>
                  <a:srgbClr val="2EC0FF"/>
                </a:solidFill>
                <a:latin typeface="Impact" pitchFamily="34" charset="0"/>
                <a:ea typeface="Impact" pitchFamily="34" charset="-122"/>
                <a:cs typeface="Impact" pitchFamily="34" charset="-120"/>
              </a:rPr>
              <a:t>CLIENT B</a:t>
            </a:r>
            <a:endParaRPr lang="en-US" sz="1700" dirty="0"/>
          </a:p>
        </p:txBody>
      </p:sp>
      <p:sp>
        <p:nvSpPr>
          <p:cNvPr id="8" name="Text 8.7"/>
          <p:cNvSpPr txBox="1"/>
          <p:nvPr/>
        </p:nvSpPr>
        <p:spPr>
          <a:xfrm>
            <a:off x="9016775" y="2070048"/>
            <a:ext cx="2158946" cy="128584"/>
          </a:xfrm>
          <a:prstGeom prst="rect">
            <a:avLst/>
          </a:prstGeom>
          <a:noFill/>
          <a:ln/>
        </p:spPr>
        <p:txBody>
          <a:bodyPr wrap="square" lIns="0" tIns="0" rIns="0" bIns="0" rtlCol="0" anchor="t"/>
          <a:lstStyle/>
          <a:p>
            <a:pPr algn="ctr"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target</a:t>
            </a:r>
            <a:endParaRPr lang="en-US" sz="750" dirty="0"/>
          </a:p>
        </p:txBody>
      </p:sp>
      <p:sp>
        <p:nvSpPr>
          <p:cNvPr id="9" name="Text 8.8"/>
          <p:cNvSpPr txBox="1"/>
          <p:nvPr/>
        </p:nvSpPr>
        <p:spPr>
          <a:xfrm>
            <a:off x="2362141" y="2489138"/>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1</a:t>
            </a:r>
            <a:endParaRPr lang="en-US" sz="1100" dirty="0"/>
          </a:p>
        </p:txBody>
      </p:sp>
      <p:sp>
        <p:nvSpPr>
          <p:cNvPr id="10" name="Text 8.9"/>
          <p:cNvSpPr txBox="1"/>
          <p:nvPr/>
        </p:nvSpPr>
        <p:spPr>
          <a:xfrm>
            <a:off x="2666933" y="2374841"/>
            <a:ext cx="1667960" cy="152396"/>
          </a:xfrm>
          <a:prstGeom prst="rect">
            <a:avLst/>
          </a:prstGeom>
          <a:noFill/>
          <a:ln/>
        </p:spPr>
        <p:txBody>
          <a:bodyPr wrap="square" lIns="0" tIns="0" rIns="0" bIns="0" rtlCol="0" anchor="t"/>
          <a:lstStyle/>
          <a:p>
            <a:pPr algn="l" indent="0" marL="0">
              <a:lnSpc>
                <a:spcPts val="1200"/>
              </a:lnSpc>
              <a:buNone/>
            </a:pPr>
            <a:r>
              <a:rPr lang="en-US" sz="1000" b="1" dirty="0">
                <a:solidFill>
                  <a:srgbClr val="EEF5FF"/>
                </a:solidFill>
                <a:latin typeface="Arial" pitchFamily="34" charset="0"/>
                <a:ea typeface="Arial" pitchFamily="34" charset="-122"/>
                <a:cs typeface="Arial" pitchFamily="34" charset="-120"/>
              </a:rPr>
              <a:t>Fire input + aim direction</a:t>
            </a:r>
            <a:endParaRPr lang="en-US" sz="1000" dirty="0"/>
          </a:p>
        </p:txBody>
      </p:sp>
      <p:sp>
        <p:nvSpPr>
          <p:cNvPr id="11" name="Text 8.10"/>
          <p:cNvSpPr txBox="1"/>
          <p:nvPr/>
        </p:nvSpPr>
        <p:spPr>
          <a:xfrm>
            <a:off x="6299043" y="2870128"/>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2</a:t>
            </a:r>
            <a:endParaRPr lang="en-US" sz="1100" dirty="0"/>
          </a:p>
        </p:txBody>
      </p:sp>
      <p:sp>
        <p:nvSpPr>
          <p:cNvPr id="12" name="Text 8.11"/>
          <p:cNvSpPr txBox="1"/>
          <p:nvPr/>
        </p:nvSpPr>
        <p:spPr>
          <a:xfrm>
            <a:off x="6603835" y="2901877"/>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EEF5FF"/>
                </a:solidFill>
                <a:latin typeface="Arial" pitchFamily="34" charset="0"/>
                <a:ea typeface="Arial" pitchFamily="34" charset="-122"/>
                <a:cs typeface="Arial" pitchFamily="34" charset="-120"/>
              </a:rPr>
              <a:t>Check cooldown; shrink A; spawn the glob</a:t>
            </a:r>
            <a:endParaRPr lang="en-US" sz="1000" dirty="0"/>
          </a:p>
        </p:txBody>
      </p:sp>
      <p:sp>
        <p:nvSpPr>
          <p:cNvPr id="13" name="Text 8.12"/>
          <p:cNvSpPr txBox="1"/>
          <p:nvPr/>
        </p:nvSpPr>
        <p:spPr>
          <a:xfrm>
            <a:off x="6299043" y="3378116"/>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3</a:t>
            </a:r>
            <a:endParaRPr lang="en-US" sz="1100" dirty="0"/>
          </a:p>
        </p:txBody>
      </p:sp>
      <p:sp>
        <p:nvSpPr>
          <p:cNvPr id="14" name="Text 8.13"/>
          <p:cNvSpPr txBox="1"/>
          <p:nvPr/>
        </p:nvSpPr>
        <p:spPr>
          <a:xfrm>
            <a:off x="6603835" y="3409865"/>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EEF5FF"/>
                </a:solidFill>
                <a:latin typeface="Arial" pitchFamily="34" charset="0"/>
                <a:ea typeface="Arial" pitchFamily="34" charset="-122"/>
                <a:cs typeface="Arial" pitchFamily="34" charset="-120"/>
              </a:rPr>
              <a:t>Physics step: the glob reaches B</a:t>
            </a:r>
            <a:endParaRPr lang="en-US" sz="1000" dirty="0"/>
          </a:p>
        </p:txBody>
      </p:sp>
      <p:sp>
        <p:nvSpPr>
          <p:cNvPr id="15" name="Text 8.14"/>
          <p:cNvSpPr txBox="1"/>
          <p:nvPr/>
        </p:nvSpPr>
        <p:spPr>
          <a:xfrm>
            <a:off x="6299043" y="3886103"/>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4</a:t>
            </a:r>
            <a:endParaRPr lang="en-US" sz="1100" dirty="0"/>
          </a:p>
        </p:txBody>
      </p:sp>
      <p:sp>
        <p:nvSpPr>
          <p:cNvPr id="16" name="Text 8.15"/>
          <p:cNvSpPr txBox="1"/>
          <p:nvPr/>
        </p:nvSpPr>
        <p:spPr>
          <a:xfrm>
            <a:off x="6603835" y="3917852"/>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EEF5FF"/>
                </a:solidFill>
                <a:latin typeface="Arial" pitchFamily="34" charset="0"/>
                <a:ea typeface="Arial" pitchFamily="34" charset="-122"/>
                <a:cs typeface="Arial" pitchFamily="34" charset="-120"/>
              </a:rPr>
              <a:t>B loses mass; push scaled by B’s new mass</a:t>
            </a:r>
            <a:endParaRPr lang="en-US" sz="1000" dirty="0"/>
          </a:p>
        </p:txBody>
      </p:sp>
      <p:sp>
        <p:nvSpPr>
          <p:cNvPr id="17" name="Text 8.16"/>
          <p:cNvSpPr txBox="1"/>
          <p:nvPr/>
        </p:nvSpPr>
        <p:spPr>
          <a:xfrm>
            <a:off x="5600560" y="4584585"/>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5</a:t>
            </a:r>
            <a:endParaRPr lang="en-US" sz="1100" dirty="0"/>
          </a:p>
        </p:txBody>
      </p:sp>
      <p:sp>
        <p:nvSpPr>
          <p:cNvPr id="18" name="Text 8.17"/>
          <p:cNvSpPr txBox="1"/>
          <p:nvPr/>
        </p:nvSpPr>
        <p:spPr>
          <a:xfrm>
            <a:off x="6362541" y="4584585"/>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5</a:t>
            </a:r>
            <a:endParaRPr lang="en-US" sz="1100" dirty="0"/>
          </a:p>
        </p:txBody>
      </p:sp>
      <p:sp>
        <p:nvSpPr>
          <p:cNvPr id="19" name="Text 8.18"/>
          <p:cNvSpPr txBox="1"/>
          <p:nvPr/>
        </p:nvSpPr>
        <p:spPr>
          <a:xfrm>
            <a:off x="2349441" y="4470288"/>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EEF5FF"/>
                </a:solidFill>
                <a:latin typeface="Arial" pitchFamily="34" charset="0"/>
                <a:ea typeface="Arial" pitchFamily="34" charset="-122"/>
                <a:cs typeface="Arial" pitchFamily="34" charset="-120"/>
              </a:rPr>
              <a:t>Snapshot: positions, sizes, scores</a:t>
            </a:r>
            <a:endParaRPr lang="en-US" sz="1000" dirty="0"/>
          </a:p>
        </p:txBody>
      </p:sp>
      <p:sp>
        <p:nvSpPr>
          <p:cNvPr id="20" name="Text 8.19"/>
          <p:cNvSpPr txBox="1"/>
          <p:nvPr/>
        </p:nvSpPr>
        <p:spPr>
          <a:xfrm>
            <a:off x="6730832" y="4470288"/>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EEF5FF"/>
                </a:solidFill>
                <a:latin typeface="Arial" pitchFamily="34" charset="0"/>
                <a:ea typeface="Arial" pitchFamily="34" charset="-122"/>
                <a:cs typeface="Arial" pitchFamily="34" charset="-120"/>
              </a:rPr>
              <a:t>Same snapshot to every client</a:t>
            </a:r>
            <a:endParaRPr lang="en-US" sz="1000" dirty="0"/>
          </a:p>
        </p:txBody>
      </p:sp>
      <p:sp>
        <p:nvSpPr>
          <p:cNvPr id="21" name="Text 8.20"/>
          <p:cNvSpPr txBox="1"/>
          <p:nvPr/>
        </p:nvSpPr>
        <p:spPr>
          <a:xfrm>
            <a:off x="1981150" y="5029074"/>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6</a:t>
            </a:r>
            <a:endParaRPr lang="en-US" sz="1100" dirty="0"/>
          </a:p>
        </p:txBody>
      </p:sp>
      <p:sp>
        <p:nvSpPr>
          <p:cNvPr id="22" name="Text 8.21"/>
          <p:cNvSpPr txBox="1"/>
          <p:nvPr/>
        </p:nvSpPr>
        <p:spPr>
          <a:xfrm>
            <a:off x="9981950" y="5029074"/>
            <a:ext cx="228594" cy="228594"/>
          </a:xfrm>
          <a:prstGeom prst="rect">
            <a:avLst/>
          </a:prstGeom>
          <a:noFill/>
          <a:ln/>
        </p:spPr>
        <p:txBody>
          <a:bodyPr wrap="square" lIns="0" tIns="0" rIns="0" bIns="0" rtlCol="0" anchor="ctr"/>
          <a:lstStyle/>
          <a:p>
            <a:pPr algn="ctr" indent="0" marL="0">
              <a:lnSpc>
                <a:spcPts val="1010"/>
              </a:lnSpc>
              <a:buNone/>
            </a:pPr>
            <a:r>
              <a:rPr lang="en-US" sz="1100" spc="6" kern="0" dirty="0">
                <a:solidFill>
                  <a:srgbClr val="06101F"/>
                </a:solidFill>
                <a:latin typeface="Impact" pitchFamily="34" charset="0"/>
                <a:ea typeface="Impact" pitchFamily="34" charset="-122"/>
                <a:cs typeface="Impact" pitchFamily="34" charset="-120"/>
              </a:rPr>
              <a:t>6</a:t>
            </a:r>
            <a:endParaRPr lang="en-US" sz="1100" dirty="0"/>
          </a:p>
        </p:txBody>
      </p:sp>
      <p:sp>
        <p:nvSpPr>
          <p:cNvPr id="23" name="Text 8.22"/>
          <p:cNvSpPr txBox="1"/>
          <p:nvPr/>
        </p:nvSpPr>
        <p:spPr>
          <a:xfrm>
            <a:off x="2311342" y="5060823"/>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D3DEF2"/>
                </a:solidFill>
                <a:latin typeface="Arial" pitchFamily="34" charset="0"/>
                <a:ea typeface="Arial" pitchFamily="34" charset="-122"/>
                <a:cs typeface="Arial" pitchFamily="34" charset="-120"/>
              </a:rPr>
              <a:t>Clients interpolate between snapshots and draw.</a:t>
            </a:r>
            <a:endParaRPr lang="en-US" sz="1000" dirty="0"/>
          </a:p>
        </p:txBody>
      </p:sp>
      <p:sp>
        <p:nvSpPr>
          <p:cNvPr id="24" name="Text 8.23"/>
          <p:cNvSpPr txBox="1"/>
          <p:nvPr/>
        </p:nvSpPr>
        <p:spPr>
          <a:xfrm>
            <a:off x="863578" y="5727557"/>
            <a:ext cx="10515337" cy="378609"/>
          </a:xfrm>
          <a:prstGeom prst="rect">
            <a:avLst/>
          </a:prstGeom>
          <a:noFill/>
          <a:ln/>
        </p:spPr>
        <p:txBody>
          <a:bodyPr wrap="square" lIns="0" tIns="0" rIns="0" bIns="0" rtlCol="0" anchor="t"/>
          <a:lstStyle/>
          <a:p>
            <a:pPr algn="l" indent="0" marL="0">
              <a:lnSpc>
                <a:spcPts val="1490"/>
              </a:lnSpc>
              <a:buNone/>
            </a:pPr>
            <a:r>
              <a:rPr lang="en-US" sz="1050" b="1" dirty="0">
                <a:solidFill>
                  <a:srgbClr val="EEF5FF"/>
                </a:solidFill>
                <a:latin typeface="Arial" pitchFamily="34" charset="0"/>
                <a:ea typeface="Arial" pitchFamily="34" charset="-122"/>
                <a:cs typeface="Arial" pitchFamily="34" charset="-120"/>
              </a:rPr>
              <a:t>Your own movement is predicted locally, so it feels instant.</a:t>
            </a:r>
            <a:pPr algn="l" indent="0" marL="0">
              <a:lnSpc>
                <a:spcPts val="1490"/>
              </a:lnSpc>
              <a:buNone/>
            </a:pPr>
            <a:r>
              <a:rPr lang="en-US" sz="1050" dirty="0">
                <a:solidFill>
                  <a:srgbClr val="D3DEF2"/>
                </a:solidFill>
                <a:latin typeface="Arial" pitchFamily="34" charset="0"/>
                <a:ea typeface="Arial" pitchFamily="34" charset="-122"/>
                <a:cs typeface="Arial" pitchFamily="34" charset="-120"/>
              </a:rPr>
              <a:t> Hits, mass changes and knockouts are decided only on the host. </a:t>
            </a:r>
            <a:pPr algn="l" indent="0" marL="0">
              <a:lnSpc>
                <a:spcPts val="1490"/>
              </a:lnSpc>
              <a:buNone/>
            </a:pPr>
            <a:r>
              <a:rPr lang="en-US" sz="1050" b="1" dirty="0">
                <a:solidFill>
                  <a:srgbClr val="FF6A1A"/>
                </a:solidFill>
                <a:latin typeface="Arial" pitchFamily="34" charset="0"/>
                <a:ea typeface="Arial" pitchFamily="34" charset="-122"/>
                <a:cs typeface="Arial" pitchFamily="34" charset="-120"/>
              </a:rPr>
              <a:t>Main risk:</a:t>
            </a:r>
            <a:pPr algn="l" indent="0" marL="0">
              <a:lnSpc>
                <a:spcPts val="1490"/>
              </a:lnSpc>
              <a:buNone/>
            </a:pPr>
            <a:r>
              <a:rPr lang="en-US" sz="1050" dirty="0">
                <a:solidFill>
                  <a:srgbClr val="D3DEF2"/>
                </a:solidFill>
                <a:latin typeface="Arial" pitchFamily="34" charset="0"/>
                <a:ea typeface="Arial" pitchFamily="34" charset="-122"/>
                <a:cs typeface="Arial" pitchFamily="34" charset="-120"/>
              </a:rPr>
              <a:t> keeping physics smooth on clients. LAN latency is low, and we tune the snapshot rate.</a:t>
            </a:r>
            <a:endParaRPr lang="en-US" sz="1050" dirty="0"/>
          </a:p>
        </p:txBody>
      </p:sp>
      <p:sp>
        <p:nvSpPr>
          <p:cNvPr id="25" name="Text 8.24"/>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2</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6" name="Text 8.25"/>
          <p:cNvSpPr txBox="1"/>
          <p:nvPr/>
        </p:nvSpPr>
        <p:spPr>
          <a:xfrm>
            <a:off x="609585" y="444489"/>
            <a:ext cx="135602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GAMEPLAY &amp; TECH</a:t>
            </a:r>
            <a:endParaRPr lang="en-US" sz="800" dirty="0"/>
          </a:p>
        </p:txBody>
      </p:sp>
      <p:sp>
        <p:nvSpPr>
          <p:cNvPr id="27" name="Text 8.26"/>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08</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9.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Social PC play is growing;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LAN party games are rare</a:t>
            </a:r>
            <a:endParaRPr lang="en-US" sz="2800" dirty="0"/>
          </a:p>
        </p:txBody>
      </p:sp>
      <p:sp>
        <p:nvSpPr>
          <p:cNvPr id="3" name="Text 9.2"/>
          <p:cNvSpPr txBox="1"/>
          <p:nvPr/>
        </p:nvSpPr>
        <p:spPr>
          <a:xfrm>
            <a:off x="812780" y="2031949"/>
            <a:ext cx="1928044" cy="560818"/>
          </a:xfrm>
          <a:prstGeom prst="rect">
            <a:avLst/>
          </a:prstGeom>
          <a:noFill/>
          <a:ln/>
        </p:spPr>
        <p:txBody>
          <a:bodyPr wrap="square" lIns="0" tIns="0" rIns="0" bIns="0" rtlCol="0" anchor="t"/>
          <a:lstStyle/>
          <a:p>
            <a:pPr algn="l" indent="0" marL="0">
              <a:lnSpc>
                <a:spcPts val="4420"/>
              </a:lnSpc>
              <a:buNone/>
            </a:pPr>
            <a:r>
              <a:rPr lang="en-US" sz="4800" spc="24" kern="0" dirty="0">
                <a:solidFill>
                  <a:srgbClr val="2EC0FF"/>
                </a:solidFill>
                <a:latin typeface="Impact" pitchFamily="34" charset="0"/>
                <a:ea typeface="Impact" pitchFamily="34" charset="-122"/>
                <a:cs typeface="Impact" pitchFamily="34" charset="-120"/>
              </a:rPr>
              <a:t>$43.6B</a:t>
            </a:r>
            <a:endParaRPr lang="en-US" sz="4800" dirty="0"/>
          </a:p>
        </p:txBody>
      </p:sp>
      <p:sp>
        <p:nvSpPr>
          <p:cNvPr id="4" name="Text 9.3"/>
          <p:cNvSpPr txBox="1"/>
          <p:nvPr/>
        </p:nvSpPr>
        <p:spPr>
          <a:xfrm>
            <a:off x="812780" y="2705032"/>
            <a:ext cx="2603435" cy="342891"/>
          </a:xfrm>
          <a:prstGeom prst="rect">
            <a:avLst/>
          </a:prstGeom>
          <a:noFill/>
          <a:ln/>
        </p:spPr>
        <p:txBody>
          <a:bodyPr wrap="square" lIns="0" tIns="0" rIns="0" bIns="0" rtlCol="0" anchor="t"/>
          <a:lstStyle/>
          <a:p>
            <a:pPr algn="l" indent="0" marL="0">
              <a:lnSpc>
                <a:spcPts val="1350"/>
              </a:lnSpc>
              <a:buNone/>
            </a:pPr>
            <a:r>
              <a:rPr lang="en-US" sz="1000" dirty="0">
                <a:solidFill>
                  <a:srgbClr val="D3DEF2"/>
                </a:solidFill>
                <a:latin typeface="Arial" pitchFamily="34" charset="0"/>
                <a:ea typeface="Arial" pitchFamily="34" charset="-122"/>
                <a:cs typeface="Arial" pitchFamily="34" charset="-120"/>
              </a:rPr>
              <a:t>PC games revenue in 2025, up 12% year on year.</a:t>
            </a:r>
            <a:endParaRPr lang="en-US" sz="1000" dirty="0"/>
          </a:p>
        </p:txBody>
      </p:sp>
      <p:sp>
        <p:nvSpPr>
          <p:cNvPr id="5" name="Text 9.4"/>
          <p:cNvSpPr txBox="1"/>
          <p:nvPr/>
        </p:nvSpPr>
        <p:spPr>
          <a:xfrm>
            <a:off x="812780" y="3162221"/>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Newzoo [1]</a:t>
            </a:r>
            <a:endParaRPr lang="en-US" sz="750" dirty="0"/>
          </a:p>
        </p:txBody>
      </p:sp>
      <p:sp>
        <p:nvSpPr>
          <p:cNvPr id="6" name="Text 9.5"/>
          <p:cNvSpPr txBox="1"/>
          <p:nvPr/>
        </p:nvSpPr>
        <p:spPr>
          <a:xfrm>
            <a:off x="3936902" y="2031949"/>
            <a:ext cx="1478340" cy="560818"/>
          </a:xfrm>
          <a:prstGeom prst="rect">
            <a:avLst/>
          </a:prstGeom>
          <a:noFill/>
          <a:ln/>
        </p:spPr>
        <p:txBody>
          <a:bodyPr wrap="square" lIns="0" tIns="0" rIns="0" bIns="0" rtlCol="0" anchor="t"/>
          <a:lstStyle/>
          <a:p>
            <a:pPr algn="l" indent="0" marL="0">
              <a:lnSpc>
                <a:spcPts val="4420"/>
              </a:lnSpc>
              <a:buNone/>
            </a:pPr>
            <a:r>
              <a:rPr lang="en-US" sz="4800" spc="24" kern="0" dirty="0">
                <a:solidFill>
                  <a:srgbClr val="6CD63A"/>
                </a:solidFill>
                <a:latin typeface="Impact" pitchFamily="34" charset="0"/>
                <a:ea typeface="Impact" pitchFamily="34" charset="-122"/>
                <a:cs typeface="Impact" pitchFamily="34" charset="-120"/>
              </a:rPr>
              <a:t>$4.1B</a:t>
            </a:r>
            <a:endParaRPr lang="en-US" sz="4800" dirty="0"/>
          </a:p>
        </p:txBody>
      </p:sp>
      <p:sp>
        <p:nvSpPr>
          <p:cNvPr id="7" name="Text 9.6"/>
          <p:cNvSpPr txBox="1"/>
          <p:nvPr/>
        </p:nvSpPr>
        <p:spPr>
          <a:xfrm>
            <a:off x="3936902" y="2705032"/>
            <a:ext cx="2603435" cy="342891"/>
          </a:xfrm>
          <a:prstGeom prst="rect">
            <a:avLst/>
          </a:prstGeom>
          <a:noFill/>
          <a:ln/>
        </p:spPr>
        <p:txBody>
          <a:bodyPr wrap="square" lIns="0" tIns="0" rIns="0" bIns="0" rtlCol="0" anchor="t"/>
          <a:lstStyle/>
          <a:p>
            <a:pPr algn="l" indent="0" marL="0">
              <a:lnSpc>
                <a:spcPts val="1350"/>
              </a:lnSpc>
              <a:buNone/>
            </a:pPr>
            <a:r>
              <a:rPr lang="en-US" sz="1000" dirty="0">
                <a:solidFill>
                  <a:srgbClr val="D3DEF2"/>
                </a:solidFill>
                <a:latin typeface="Arial" pitchFamily="34" charset="0"/>
                <a:ea typeface="Arial" pitchFamily="34" charset="-122"/>
                <a:cs typeface="Arial" pitchFamily="34" charset="-120"/>
              </a:rPr>
              <a:t>Steam revenue of games with co-op in H1 2025, an all-time high (estimate).</a:t>
            </a:r>
            <a:endParaRPr lang="en-US" sz="1000" dirty="0"/>
          </a:p>
        </p:txBody>
      </p:sp>
      <p:sp>
        <p:nvSpPr>
          <p:cNvPr id="8" name="Text 9.7"/>
          <p:cNvSpPr txBox="1"/>
          <p:nvPr/>
        </p:nvSpPr>
        <p:spPr>
          <a:xfrm>
            <a:off x="3936902" y="3162221"/>
            <a:ext cx="669378"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Alinea [2]</a:t>
            </a:r>
            <a:endParaRPr lang="en-US" sz="750" dirty="0"/>
          </a:p>
        </p:txBody>
      </p:sp>
      <p:sp>
        <p:nvSpPr>
          <p:cNvPr id="9" name="Text 9.8"/>
          <p:cNvSpPr txBox="1"/>
          <p:nvPr/>
        </p:nvSpPr>
        <p:spPr>
          <a:xfrm>
            <a:off x="812780" y="3746406"/>
            <a:ext cx="1120449" cy="560818"/>
          </a:xfrm>
          <a:prstGeom prst="rect">
            <a:avLst/>
          </a:prstGeom>
          <a:noFill/>
          <a:ln/>
        </p:spPr>
        <p:txBody>
          <a:bodyPr wrap="square" lIns="0" tIns="0" rIns="0" bIns="0" rtlCol="0" anchor="t"/>
          <a:lstStyle/>
          <a:p>
            <a:pPr algn="l" indent="0" marL="0">
              <a:lnSpc>
                <a:spcPts val="4420"/>
              </a:lnSpc>
              <a:buNone/>
            </a:pPr>
            <a:r>
              <a:rPr lang="en-US" sz="4800" spc="24" kern="0" dirty="0">
                <a:solidFill>
                  <a:srgbClr val="A56BFF"/>
                </a:solidFill>
                <a:latin typeface="Impact" pitchFamily="34" charset="0"/>
                <a:ea typeface="Impact" pitchFamily="34" charset="-122"/>
                <a:cs typeface="Impact" pitchFamily="34" charset="-120"/>
              </a:rPr>
              <a:t>70%</a:t>
            </a:r>
            <a:endParaRPr lang="en-US" sz="4800" dirty="0"/>
          </a:p>
        </p:txBody>
      </p:sp>
      <p:sp>
        <p:nvSpPr>
          <p:cNvPr id="10" name="Text 9.9"/>
          <p:cNvSpPr txBox="1"/>
          <p:nvPr/>
        </p:nvSpPr>
        <p:spPr>
          <a:xfrm>
            <a:off x="812780" y="4419490"/>
            <a:ext cx="2603435" cy="342891"/>
          </a:xfrm>
          <a:prstGeom prst="rect">
            <a:avLst/>
          </a:prstGeom>
          <a:noFill/>
          <a:ln/>
        </p:spPr>
        <p:txBody>
          <a:bodyPr wrap="square" lIns="0" tIns="0" rIns="0" bIns="0" rtlCol="0" anchor="t"/>
          <a:lstStyle/>
          <a:p>
            <a:pPr algn="l" indent="0" marL="0">
              <a:lnSpc>
                <a:spcPts val="1350"/>
              </a:lnSpc>
              <a:buNone/>
            </a:pPr>
            <a:r>
              <a:rPr lang="en-US" sz="1000" dirty="0">
                <a:solidFill>
                  <a:srgbClr val="D3DEF2"/>
                </a:solidFill>
                <a:latin typeface="Arial" pitchFamily="34" charset="0"/>
                <a:ea typeface="Arial" pitchFamily="34" charset="-122"/>
                <a:cs typeface="Arial" pitchFamily="34" charset="-120"/>
              </a:rPr>
              <a:t>of US players aged 8+ play with other people.</a:t>
            </a:r>
            <a:endParaRPr lang="en-US" sz="1000" dirty="0"/>
          </a:p>
        </p:txBody>
      </p:sp>
      <p:sp>
        <p:nvSpPr>
          <p:cNvPr id="11" name="Text 9.10"/>
          <p:cNvSpPr txBox="1"/>
          <p:nvPr/>
        </p:nvSpPr>
        <p:spPr>
          <a:xfrm>
            <a:off x="812780" y="4876678"/>
            <a:ext cx="790639"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ESA 2026 [3]</a:t>
            </a:r>
            <a:endParaRPr lang="en-US" sz="750" dirty="0"/>
          </a:p>
        </p:txBody>
      </p:sp>
      <p:sp>
        <p:nvSpPr>
          <p:cNvPr id="12" name="Text 9.11"/>
          <p:cNvSpPr txBox="1"/>
          <p:nvPr/>
        </p:nvSpPr>
        <p:spPr>
          <a:xfrm>
            <a:off x="3936902" y="3746406"/>
            <a:ext cx="1205636" cy="560818"/>
          </a:xfrm>
          <a:prstGeom prst="rect">
            <a:avLst/>
          </a:prstGeom>
          <a:noFill/>
          <a:ln/>
        </p:spPr>
        <p:txBody>
          <a:bodyPr wrap="square" lIns="0" tIns="0" rIns="0" bIns="0" rtlCol="0" anchor="t"/>
          <a:lstStyle/>
          <a:p>
            <a:pPr algn="l" indent="0" marL="0">
              <a:lnSpc>
                <a:spcPts val="4420"/>
              </a:lnSpc>
              <a:buNone/>
            </a:pPr>
            <a:r>
              <a:rPr lang="en-US" sz="4800" spc="24" kern="0" dirty="0">
                <a:solidFill>
                  <a:srgbClr val="FF6A1A"/>
                </a:solidFill>
                <a:latin typeface="Impact" pitchFamily="34" charset="0"/>
                <a:ea typeface="Impact" pitchFamily="34" charset="-122"/>
                <a:cs typeface="Impact" pitchFamily="34" charset="-120"/>
              </a:rPr>
              <a:t>≈8%</a:t>
            </a:r>
            <a:endParaRPr lang="en-US" sz="4800" dirty="0"/>
          </a:p>
        </p:txBody>
      </p:sp>
      <p:sp>
        <p:nvSpPr>
          <p:cNvPr id="13" name="Text 9.12"/>
          <p:cNvSpPr txBox="1"/>
          <p:nvPr/>
        </p:nvSpPr>
        <p:spPr>
          <a:xfrm>
            <a:off x="3936902" y="4419490"/>
            <a:ext cx="2603435" cy="342891"/>
          </a:xfrm>
          <a:prstGeom prst="rect">
            <a:avLst/>
          </a:prstGeom>
          <a:noFill/>
          <a:ln/>
        </p:spPr>
        <p:txBody>
          <a:bodyPr wrap="square" lIns="0" tIns="0" rIns="0" bIns="0" rtlCol="0" anchor="t"/>
          <a:lstStyle/>
          <a:p>
            <a:pPr algn="l" indent="0" marL="0">
              <a:lnSpc>
                <a:spcPts val="1350"/>
              </a:lnSpc>
              <a:buNone/>
            </a:pPr>
            <a:r>
              <a:rPr lang="en-US" sz="1000" dirty="0">
                <a:solidFill>
                  <a:srgbClr val="D3DEF2"/>
                </a:solidFill>
                <a:latin typeface="Arial" pitchFamily="34" charset="0"/>
                <a:ea typeface="Arial" pitchFamily="34" charset="-122"/>
                <a:cs typeface="Arial" pitchFamily="34" charset="-120"/>
              </a:rPr>
              <a:t>of ~3,490 Steam “Party Game” titles list LAN PvP.</a:t>
            </a:r>
            <a:endParaRPr lang="en-US" sz="1000" dirty="0"/>
          </a:p>
        </p:txBody>
      </p:sp>
      <p:sp>
        <p:nvSpPr>
          <p:cNvPr id="14" name="Text 9.13"/>
          <p:cNvSpPr txBox="1"/>
          <p:nvPr/>
        </p:nvSpPr>
        <p:spPr>
          <a:xfrm>
            <a:off x="3936902" y="4876678"/>
            <a:ext cx="1214681"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Steam, Oct 2026 [4]</a:t>
            </a:r>
            <a:endParaRPr lang="en-US" sz="750" dirty="0"/>
          </a:p>
        </p:txBody>
      </p:sp>
      <p:sp>
        <p:nvSpPr>
          <p:cNvPr id="15" name="Text 9.14"/>
          <p:cNvSpPr txBox="1"/>
          <p:nvPr/>
        </p:nvSpPr>
        <p:spPr>
          <a:xfrm>
            <a:off x="6984825" y="2044649"/>
            <a:ext cx="3529035"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STEAM “PARTY GAME” TITLES BY MULTIPLAYER TAG</a:t>
            </a:r>
            <a:endParaRPr lang="en-US" sz="750" dirty="0"/>
          </a:p>
        </p:txBody>
      </p:sp>
      <p:sp>
        <p:nvSpPr>
          <p:cNvPr id="16" name="Text 9.15"/>
          <p:cNvSpPr txBox="1"/>
          <p:nvPr/>
        </p:nvSpPr>
        <p:spPr>
          <a:xfrm>
            <a:off x="6984825" y="2539937"/>
            <a:ext cx="798631"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ONLINE PVP</a:t>
            </a:r>
            <a:endParaRPr lang="en-US" sz="700" dirty="0"/>
          </a:p>
        </p:txBody>
      </p:sp>
      <p:sp>
        <p:nvSpPr>
          <p:cNvPr id="17" name="Text 9.16"/>
          <p:cNvSpPr txBox="1"/>
          <p:nvPr/>
        </p:nvSpPr>
        <p:spPr>
          <a:xfrm>
            <a:off x="10566136" y="2679633"/>
            <a:ext cx="761981" cy="233674"/>
          </a:xfrm>
          <a:prstGeom prst="rect">
            <a:avLst/>
          </a:prstGeom>
          <a:noFill/>
          <a:ln/>
        </p:spPr>
        <p:txBody>
          <a:bodyPr wrap="square" lIns="0" tIns="0" rIns="0" bIns="0" rtlCol="0" anchor="t"/>
          <a:lstStyle/>
          <a:p>
            <a:pPr algn="r"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1,870</a:t>
            </a:r>
            <a:endParaRPr lang="en-US" sz="2000" dirty="0"/>
          </a:p>
        </p:txBody>
      </p:sp>
      <p:sp>
        <p:nvSpPr>
          <p:cNvPr id="18" name="Text 9.17"/>
          <p:cNvSpPr txBox="1"/>
          <p:nvPr/>
        </p:nvSpPr>
        <p:spPr>
          <a:xfrm>
            <a:off x="6984825" y="3301917"/>
            <a:ext cx="1901331"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SHARED / SPLIT-SCREEN PVP</a:t>
            </a:r>
            <a:endParaRPr lang="en-US" sz="700" dirty="0"/>
          </a:p>
        </p:txBody>
      </p:sp>
      <p:sp>
        <p:nvSpPr>
          <p:cNvPr id="19" name="Text 9.18"/>
          <p:cNvSpPr txBox="1"/>
          <p:nvPr/>
        </p:nvSpPr>
        <p:spPr>
          <a:xfrm>
            <a:off x="10566136" y="3441614"/>
            <a:ext cx="761981" cy="233674"/>
          </a:xfrm>
          <a:prstGeom prst="rect">
            <a:avLst/>
          </a:prstGeom>
          <a:noFill/>
          <a:ln/>
        </p:spPr>
        <p:txBody>
          <a:bodyPr wrap="square" lIns="0" tIns="0" rIns="0" bIns="0" rtlCol="0" anchor="t"/>
          <a:lstStyle/>
          <a:p>
            <a:pPr algn="r"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1,017</a:t>
            </a:r>
            <a:endParaRPr lang="en-US" sz="2000" dirty="0"/>
          </a:p>
        </p:txBody>
      </p:sp>
      <p:sp>
        <p:nvSpPr>
          <p:cNvPr id="20" name="Text 9.19"/>
          <p:cNvSpPr txBox="1"/>
          <p:nvPr/>
        </p:nvSpPr>
        <p:spPr>
          <a:xfrm>
            <a:off x="6984825" y="4063898"/>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LAN PVP</a:t>
            </a:r>
            <a:endParaRPr lang="en-US" sz="700" dirty="0"/>
          </a:p>
        </p:txBody>
      </p:sp>
      <p:sp>
        <p:nvSpPr>
          <p:cNvPr id="21" name="Text 9.20"/>
          <p:cNvSpPr txBox="1"/>
          <p:nvPr/>
        </p:nvSpPr>
        <p:spPr>
          <a:xfrm>
            <a:off x="10566136" y="4203595"/>
            <a:ext cx="761981" cy="233674"/>
          </a:xfrm>
          <a:prstGeom prst="rect">
            <a:avLst/>
          </a:prstGeom>
          <a:noFill/>
          <a:ln/>
        </p:spPr>
        <p:txBody>
          <a:bodyPr wrap="square" lIns="0" tIns="0" rIns="0" bIns="0" rtlCol="0" anchor="t"/>
          <a:lstStyle/>
          <a:p>
            <a:pPr algn="r" indent="0" marL="0">
              <a:lnSpc>
                <a:spcPts val="1840"/>
              </a:lnSpc>
              <a:buNone/>
            </a:pPr>
            <a:r>
              <a:rPr lang="en-US" sz="2000" spc="10" kern="0" dirty="0">
                <a:solidFill>
                  <a:srgbClr val="FF6A1A"/>
                </a:solidFill>
                <a:latin typeface="Impact" pitchFamily="34" charset="0"/>
                <a:ea typeface="Impact" pitchFamily="34" charset="-122"/>
                <a:cs typeface="Impact" pitchFamily="34" charset="-120"/>
              </a:rPr>
              <a:t>292</a:t>
            </a:r>
            <a:endParaRPr lang="en-US" sz="2000" dirty="0"/>
          </a:p>
        </p:txBody>
      </p:sp>
      <p:sp>
        <p:nvSpPr>
          <p:cNvPr id="22" name="Text 9.21"/>
          <p:cNvSpPr txBox="1"/>
          <p:nvPr/>
        </p:nvSpPr>
        <p:spPr>
          <a:xfrm>
            <a:off x="6984825" y="4825879"/>
            <a:ext cx="3456469"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Steam store search, Oct 2026 [4]. Tags are user-applied.</a:t>
            </a:r>
            <a:endParaRPr lang="en-US" sz="750" dirty="0"/>
          </a:p>
        </p:txBody>
      </p:sp>
      <p:sp>
        <p:nvSpPr>
          <p:cNvPr id="23" name="Text 9.22"/>
          <p:cNvSpPr txBox="1"/>
          <p:nvPr/>
        </p:nvSpPr>
        <p:spPr>
          <a:xfrm>
            <a:off x="863578" y="5587860"/>
            <a:ext cx="1638723"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RISK, STATED PLAINLY</a:t>
            </a:r>
            <a:endParaRPr lang="en-US" sz="750" dirty="0"/>
          </a:p>
        </p:txBody>
      </p:sp>
      <p:sp>
        <p:nvSpPr>
          <p:cNvPr id="24" name="Text 9.23"/>
          <p:cNvSpPr txBox="1"/>
          <p:nvPr/>
        </p:nvSpPr>
        <p:spPr>
          <a:xfrm>
            <a:off x="863578" y="5791055"/>
            <a:ext cx="10515337" cy="189352"/>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An estimated 65.9% of 2025 Steam releases earned under $1,000 [5], while 5,863 games passed $100K in 2025 (Valve) [6]. </a:t>
            </a:r>
            <a:pPr algn="l" indent="0" marL="0">
              <a:lnSpc>
                <a:spcPts val="1490"/>
              </a:lnSpc>
              <a:buNone/>
            </a:pPr>
            <a:r>
              <a:rPr lang="en-US" sz="1050" b="1" dirty="0">
                <a:solidFill>
                  <a:srgbClr val="EEF5FF"/>
                </a:solidFill>
                <a:latin typeface="Arial" pitchFamily="34" charset="0"/>
                <a:ea typeface="Arial" pitchFamily="34" charset="-122"/>
                <a:cs typeface="Arial" pitchFamily="34" charset="-120"/>
              </a:rPr>
              <a:t>LAN is our differentiator, not a demand driver.</a:t>
            </a:r>
            <a:endParaRPr lang="en-US" sz="1050" dirty="0"/>
          </a:p>
        </p:txBody>
      </p:sp>
      <p:sp>
        <p:nvSpPr>
          <p:cNvPr id="25" name="Text 9.24"/>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3</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6" name="Text 9.25"/>
          <p:cNvSpPr txBox="1"/>
          <p:nvPr/>
        </p:nvSpPr>
        <p:spPr>
          <a:xfrm>
            <a:off x="609585" y="444489"/>
            <a:ext cx="58051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MARKET</a:t>
            </a:r>
            <a:endParaRPr lang="en-US" sz="800" dirty="0"/>
          </a:p>
        </p:txBody>
      </p:sp>
      <p:sp>
        <p:nvSpPr>
          <p:cNvPr id="27" name="Text 9.26"/>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09</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0.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Five games we are measured against</a:t>
            </a:r>
            <a:endParaRPr lang="en-US" sz="2800" dirty="0"/>
          </a:p>
        </p:txBody>
      </p:sp>
      <p:sp>
        <p:nvSpPr>
          <p:cNvPr id="3" name="Text 10.2"/>
          <p:cNvSpPr txBox="1"/>
          <p:nvPr/>
        </p:nvSpPr>
        <p:spPr>
          <a:xfrm>
            <a:off x="673083" y="1777956"/>
            <a:ext cx="888978" cy="190495"/>
          </a:xfrm>
          <a:prstGeom prst="rect">
            <a:avLst/>
          </a:prstGeom>
          <a:noFill/>
          <a:ln/>
        </p:spPr>
        <p:txBody>
          <a:bodyPr wrap="square" lIns="0" tIns="0" rIns="0" bIns="0" rtlCol="0" anchor="ctr"/>
          <a:lstStyle/>
          <a:p>
            <a:pPr algn="ctr" indent="0" marL="0">
              <a:lnSpc>
                <a:spcPts val="600"/>
              </a:lnSpc>
              <a:buNone/>
            </a:pPr>
            <a:r>
              <a:rPr lang="en-US" sz="600" b="1" spc="96" kern="0" dirty="0">
                <a:solidFill>
                  <a:srgbClr val="06101F"/>
                </a:solidFill>
                <a:latin typeface="Courier New" pitchFamily="34" charset="0"/>
                <a:ea typeface="Courier New" pitchFamily="34" charset="-122"/>
                <a:cs typeface="Courier New" pitchFamily="34" charset="-120"/>
              </a:rPr>
              <a:t>AUDIENCE</a:t>
            </a:r>
            <a:endParaRPr lang="en-US" sz="600" dirty="0"/>
          </a:p>
        </p:txBody>
      </p:sp>
      <p:sp>
        <p:nvSpPr>
          <p:cNvPr id="4" name="Text 10.3"/>
          <p:cNvSpPr txBox="1"/>
          <p:nvPr/>
        </p:nvSpPr>
        <p:spPr>
          <a:xfrm>
            <a:off x="761981" y="2997125"/>
            <a:ext cx="1224251" cy="189860"/>
          </a:xfrm>
          <a:prstGeom prst="rect">
            <a:avLst/>
          </a:prstGeom>
          <a:noFill/>
          <a:ln/>
        </p:spPr>
        <p:txBody>
          <a:bodyPr wrap="square" lIns="0" tIns="0" rIns="0" bIns="0" rtlCol="0" anchor="t"/>
          <a:lstStyle/>
          <a:p>
            <a:pPr algn="l" indent="0" marL="0">
              <a:lnSpc>
                <a:spcPts val="1490"/>
              </a:lnSpc>
              <a:buNone/>
            </a:pPr>
            <a:r>
              <a:rPr lang="en-US" sz="1300" b="1" dirty="0">
                <a:solidFill>
                  <a:srgbClr val="EEF5FF"/>
                </a:solidFill>
                <a:latin typeface="Arial" pitchFamily="34" charset="0"/>
                <a:ea typeface="Arial" pitchFamily="34" charset="-122"/>
                <a:cs typeface="Arial" pitchFamily="34" charset="-120"/>
              </a:rPr>
              <a:t>Party Animals</a:t>
            </a:r>
            <a:endParaRPr lang="en-US" sz="1300" dirty="0"/>
          </a:p>
        </p:txBody>
      </p:sp>
      <p:sp>
        <p:nvSpPr>
          <p:cNvPr id="5" name="Text 10.4"/>
          <p:cNvSpPr txBox="1"/>
          <p:nvPr/>
        </p:nvSpPr>
        <p:spPr>
          <a:xfrm>
            <a:off x="761981" y="3225719"/>
            <a:ext cx="1251070" cy="120012"/>
          </a:xfrm>
          <a:prstGeom prst="rect">
            <a:avLst/>
          </a:prstGeom>
          <a:noFill/>
          <a:ln/>
        </p:spPr>
        <p:txBody>
          <a:bodyPr wrap="square" lIns="0" tIns="0" rIns="0" bIns="0" rtlCol="0" anchor="t"/>
          <a:lstStyle/>
          <a:p>
            <a:pPr algn="l" indent="0" marL="0">
              <a:lnSpc>
                <a:spcPts val="940"/>
              </a:lnSpc>
              <a:buNone/>
            </a:pPr>
            <a:r>
              <a:rPr lang="en-US" sz="700" dirty="0">
                <a:solidFill>
                  <a:srgbClr val="8C9FC3"/>
                </a:solidFill>
                <a:latin typeface="Courier New" pitchFamily="34" charset="0"/>
                <a:ea typeface="Courier New" pitchFamily="34" charset="-122"/>
                <a:cs typeface="Courier New" pitchFamily="34" charset="-120"/>
              </a:rPr>
              <a:t>Recreate Games · 2023</a:t>
            </a:r>
            <a:endParaRPr lang="en-US" sz="700" dirty="0"/>
          </a:p>
        </p:txBody>
      </p:sp>
      <p:sp>
        <p:nvSpPr>
          <p:cNvPr id="6" name="Text 10.5"/>
          <p:cNvSpPr txBox="1"/>
          <p:nvPr/>
        </p:nvSpPr>
        <p:spPr>
          <a:xfrm>
            <a:off x="761981" y="3530512"/>
            <a:ext cx="441582"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FF6A1A"/>
                </a:solidFill>
                <a:latin typeface="Courier New" pitchFamily="34" charset="0"/>
                <a:ea typeface="Courier New" pitchFamily="34" charset="-122"/>
                <a:cs typeface="Courier New" pitchFamily="34" charset="-120"/>
              </a:rPr>
              <a:t>VISUAL</a:t>
            </a:r>
            <a:endParaRPr lang="en-US" sz="600" dirty="0"/>
          </a:p>
        </p:txBody>
      </p:sp>
      <p:sp>
        <p:nvSpPr>
          <p:cNvPr id="7" name="Text 10.6"/>
          <p:cNvSpPr txBox="1"/>
          <p:nvPr/>
        </p:nvSpPr>
        <p:spPr>
          <a:xfrm>
            <a:off x="761981" y="3670208"/>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Plush 3D animals, toy-like arenas.</a:t>
            </a:r>
            <a:endParaRPr lang="en-US" sz="850" dirty="0"/>
          </a:p>
        </p:txBody>
      </p:sp>
      <p:sp>
        <p:nvSpPr>
          <p:cNvPr id="8" name="Text 10.7"/>
          <p:cNvSpPr txBox="1"/>
          <p:nvPr/>
        </p:nvSpPr>
        <p:spPr>
          <a:xfrm>
            <a:off x="761981" y="4216295"/>
            <a:ext cx="567575"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FF6A1A"/>
                </a:solidFill>
                <a:latin typeface="Courier New" pitchFamily="34" charset="0"/>
                <a:ea typeface="Courier New" pitchFamily="34" charset="-122"/>
                <a:cs typeface="Courier New" pitchFamily="34" charset="-120"/>
              </a:rPr>
              <a:t>MECHANIC</a:t>
            </a:r>
            <a:endParaRPr lang="en-US" sz="600" dirty="0"/>
          </a:p>
        </p:txBody>
      </p:sp>
      <p:sp>
        <p:nvSpPr>
          <p:cNvPr id="9" name="Text 10.8"/>
          <p:cNvSpPr txBox="1"/>
          <p:nvPr/>
        </p:nvSpPr>
        <p:spPr>
          <a:xfrm>
            <a:off x="761981" y="4355991"/>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Physics brawling: grab, punch, throw rivals out.</a:t>
            </a:r>
            <a:endParaRPr lang="en-US" sz="850" dirty="0"/>
          </a:p>
        </p:txBody>
      </p:sp>
      <p:sp>
        <p:nvSpPr>
          <p:cNvPr id="10" name="Text 10.9"/>
          <p:cNvSpPr txBox="1"/>
          <p:nvPr/>
        </p:nvSpPr>
        <p:spPr>
          <a:xfrm>
            <a:off x="761981" y="4902077"/>
            <a:ext cx="756669"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FF6A1A"/>
                </a:solidFill>
                <a:latin typeface="Courier New" pitchFamily="34" charset="0"/>
                <a:ea typeface="Courier New" pitchFamily="34" charset="-122"/>
                <a:cs typeface="Courier New" pitchFamily="34" charset="-120"/>
              </a:rPr>
              <a:t>MULTIPLAYER</a:t>
            </a:r>
            <a:endParaRPr lang="en-US" sz="600" dirty="0"/>
          </a:p>
        </p:txBody>
      </p:sp>
      <p:sp>
        <p:nvSpPr>
          <p:cNvPr id="11" name="Text 10.10"/>
          <p:cNvSpPr txBox="1"/>
          <p:nvPr/>
        </p:nvSpPr>
        <p:spPr>
          <a:xfrm>
            <a:off x="761981" y="5041774"/>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Online and same-screen. No LAN listed.</a:t>
            </a:r>
            <a:endParaRPr lang="en-US" sz="850" dirty="0"/>
          </a:p>
        </p:txBody>
      </p:sp>
      <p:sp>
        <p:nvSpPr>
          <p:cNvPr id="12" name="Text 10.11"/>
          <p:cNvSpPr txBox="1"/>
          <p:nvPr/>
        </p:nvSpPr>
        <p:spPr>
          <a:xfrm>
            <a:off x="761981" y="5587860"/>
            <a:ext cx="693673"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FF6A1A"/>
                </a:solidFill>
                <a:latin typeface="Courier New" pitchFamily="34" charset="0"/>
                <a:ea typeface="Courier New" pitchFamily="34" charset="-122"/>
                <a:cs typeface="Courier New" pitchFamily="34" charset="-120"/>
              </a:rPr>
              <a:t>FINANCIALS</a:t>
            </a:r>
            <a:endParaRPr lang="en-US" sz="600" dirty="0"/>
          </a:p>
        </p:txBody>
      </p:sp>
      <p:sp>
        <p:nvSpPr>
          <p:cNvPr id="13" name="Text 10.12"/>
          <p:cNvSpPr txBox="1"/>
          <p:nvPr/>
        </p:nvSpPr>
        <p:spPr>
          <a:xfrm>
            <a:off x="761981" y="5727557"/>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Launch peak 104,174 players. Owner est. 2.5M–6.0M.</a:t>
            </a:r>
            <a:endParaRPr lang="en-US" sz="850" dirty="0"/>
          </a:p>
        </p:txBody>
      </p:sp>
      <p:sp>
        <p:nvSpPr>
          <p:cNvPr id="14" name="Text 10.13"/>
          <p:cNvSpPr txBox="1"/>
          <p:nvPr/>
        </p:nvSpPr>
        <p:spPr>
          <a:xfrm>
            <a:off x="2895528" y="1777956"/>
            <a:ext cx="888978" cy="190495"/>
          </a:xfrm>
          <a:prstGeom prst="rect">
            <a:avLst/>
          </a:prstGeom>
          <a:noFill/>
          <a:ln/>
        </p:spPr>
        <p:txBody>
          <a:bodyPr wrap="square" lIns="0" tIns="0" rIns="0" bIns="0" rtlCol="0" anchor="ctr"/>
          <a:lstStyle/>
          <a:p>
            <a:pPr algn="ctr" indent="0" marL="0">
              <a:lnSpc>
                <a:spcPts val="600"/>
              </a:lnSpc>
              <a:buNone/>
            </a:pPr>
            <a:r>
              <a:rPr lang="en-US" sz="600" b="1" spc="96" kern="0" dirty="0">
                <a:solidFill>
                  <a:srgbClr val="06101F"/>
                </a:solidFill>
                <a:latin typeface="Courier New" pitchFamily="34" charset="0"/>
                <a:ea typeface="Courier New" pitchFamily="34" charset="-122"/>
                <a:cs typeface="Courier New" pitchFamily="34" charset="-120"/>
              </a:rPr>
              <a:t>PHYSICS</a:t>
            </a:r>
            <a:endParaRPr lang="en-US" sz="600" dirty="0"/>
          </a:p>
        </p:txBody>
      </p:sp>
      <p:sp>
        <p:nvSpPr>
          <p:cNvPr id="15" name="Text 10.14"/>
          <p:cNvSpPr txBox="1"/>
          <p:nvPr/>
        </p:nvSpPr>
        <p:spPr>
          <a:xfrm>
            <a:off x="2984425" y="2997125"/>
            <a:ext cx="1133385" cy="189860"/>
          </a:xfrm>
          <a:prstGeom prst="rect">
            <a:avLst/>
          </a:prstGeom>
          <a:noFill/>
          <a:ln/>
        </p:spPr>
        <p:txBody>
          <a:bodyPr wrap="square" lIns="0" tIns="0" rIns="0" bIns="0" rtlCol="0" anchor="t"/>
          <a:lstStyle/>
          <a:p>
            <a:pPr algn="l" indent="0" marL="0">
              <a:lnSpc>
                <a:spcPts val="1490"/>
              </a:lnSpc>
              <a:buNone/>
            </a:pPr>
            <a:r>
              <a:rPr lang="en-US" sz="1300" b="1" dirty="0">
                <a:solidFill>
                  <a:srgbClr val="EEF5FF"/>
                </a:solidFill>
                <a:latin typeface="Arial" pitchFamily="34" charset="0"/>
                <a:ea typeface="Arial" pitchFamily="34" charset="-122"/>
                <a:cs typeface="Arial" pitchFamily="34" charset="-120"/>
              </a:rPr>
              <a:t>Gang Beasts</a:t>
            </a:r>
            <a:endParaRPr lang="en-US" sz="1300" dirty="0"/>
          </a:p>
        </p:txBody>
      </p:sp>
      <p:sp>
        <p:nvSpPr>
          <p:cNvPr id="16" name="Text 10.15"/>
          <p:cNvSpPr txBox="1"/>
          <p:nvPr/>
        </p:nvSpPr>
        <p:spPr>
          <a:xfrm>
            <a:off x="2984425" y="3225719"/>
            <a:ext cx="911794" cy="120012"/>
          </a:xfrm>
          <a:prstGeom prst="rect">
            <a:avLst/>
          </a:prstGeom>
          <a:noFill/>
          <a:ln/>
        </p:spPr>
        <p:txBody>
          <a:bodyPr wrap="square" lIns="0" tIns="0" rIns="0" bIns="0" rtlCol="0" anchor="t"/>
          <a:lstStyle/>
          <a:p>
            <a:pPr algn="l" indent="0" marL="0">
              <a:lnSpc>
                <a:spcPts val="940"/>
              </a:lnSpc>
              <a:buNone/>
            </a:pPr>
            <a:r>
              <a:rPr lang="en-US" sz="700" dirty="0">
                <a:solidFill>
                  <a:srgbClr val="8C9FC3"/>
                </a:solidFill>
                <a:latin typeface="Courier New" pitchFamily="34" charset="0"/>
                <a:ea typeface="Courier New" pitchFamily="34" charset="-122"/>
                <a:cs typeface="Courier New" pitchFamily="34" charset="-120"/>
              </a:rPr>
              <a:t>Boneloaf · 2017</a:t>
            </a:r>
            <a:endParaRPr lang="en-US" sz="700" dirty="0"/>
          </a:p>
        </p:txBody>
      </p:sp>
      <p:sp>
        <p:nvSpPr>
          <p:cNvPr id="17" name="Text 10.16"/>
          <p:cNvSpPr txBox="1"/>
          <p:nvPr/>
        </p:nvSpPr>
        <p:spPr>
          <a:xfrm>
            <a:off x="2984425" y="3530512"/>
            <a:ext cx="441582"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2EC0FF"/>
                </a:solidFill>
                <a:latin typeface="Courier New" pitchFamily="34" charset="0"/>
                <a:ea typeface="Courier New" pitchFamily="34" charset="-122"/>
                <a:cs typeface="Courier New" pitchFamily="34" charset="-120"/>
              </a:rPr>
              <a:t>VISUAL</a:t>
            </a:r>
            <a:endParaRPr lang="en-US" sz="600" dirty="0"/>
          </a:p>
        </p:txBody>
      </p:sp>
      <p:sp>
        <p:nvSpPr>
          <p:cNvPr id="18" name="Text 10.17"/>
          <p:cNvSpPr txBox="1"/>
          <p:nvPr/>
        </p:nvSpPr>
        <p:spPr>
          <a:xfrm>
            <a:off x="2984425" y="3670208"/>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Soft, gelatinous 3D people.</a:t>
            </a:r>
            <a:endParaRPr lang="en-US" sz="850" dirty="0"/>
          </a:p>
        </p:txBody>
      </p:sp>
      <p:sp>
        <p:nvSpPr>
          <p:cNvPr id="19" name="Text 10.18"/>
          <p:cNvSpPr txBox="1"/>
          <p:nvPr/>
        </p:nvSpPr>
        <p:spPr>
          <a:xfrm>
            <a:off x="2984425" y="4216295"/>
            <a:ext cx="567575"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2EC0FF"/>
                </a:solidFill>
                <a:latin typeface="Courier New" pitchFamily="34" charset="0"/>
                <a:ea typeface="Courier New" pitchFamily="34" charset="-122"/>
                <a:cs typeface="Courier New" pitchFamily="34" charset="-120"/>
              </a:rPr>
              <a:t>MECHANIC</a:t>
            </a:r>
            <a:endParaRPr lang="en-US" sz="600" dirty="0"/>
          </a:p>
        </p:txBody>
      </p:sp>
      <p:sp>
        <p:nvSpPr>
          <p:cNvPr id="20" name="Text 10.19"/>
          <p:cNvSpPr txBox="1"/>
          <p:nvPr/>
        </p:nvSpPr>
        <p:spPr>
          <a:xfrm>
            <a:off x="2984425" y="4355991"/>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Ragdoll brawling into stage hazards.</a:t>
            </a:r>
            <a:endParaRPr lang="en-US" sz="850" dirty="0"/>
          </a:p>
        </p:txBody>
      </p:sp>
      <p:sp>
        <p:nvSpPr>
          <p:cNvPr id="21" name="Text 10.20"/>
          <p:cNvSpPr txBox="1"/>
          <p:nvPr/>
        </p:nvSpPr>
        <p:spPr>
          <a:xfrm>
            <a:off x="2984425" y="4902077"/>
            <a:ext cx="756669"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2EC0FF"/>
                </a:solidFill>
                <a:latin typeface="Courier New" pitchFamily="34" charset="0"/>
                <a:ea typeface="Courier New" pitchFamily="34" charset="-122"/>
                <a:cs typeface="Courier New" pitchFamily="34" charset="-120"/>
              </a:rPr>
              <a:t>MULTIPLAYER</a:t>
            </a:r>
            <a:endParaRPr lang="en-US" sz="600" dirty="0"/>
          </a:p>
        </p:txBody>
      </p:sp>
      <p:sp>
        <p:nvSpPr>
          <p:cNvPr id="22" name="Text 10.21"/>
          <p:cNvSpPr txBox="1"/>
          <p:nvPr/>
        </p:nvSpPr>
        <p:spPr>
          <a:xfrm>
            <a:off x="2984425" y="5041774"/>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Same-screen and online. No LAN listed.</a:t>
            </a:r>
            <a:endParaRPr lang="en-US" sz="850" dirty="0"/>
          </a:p>
        </p:txBody>
      </p:sp>
      <p:sp>
        <p:nvSpPr>
          <p:cNvPr id="23" name="Text 10.22"/>
          <p:cNvSpPr txBox="1"/>
          <p:nvPr/>
        </p:nvSpPr>
        <p:spPr>
          <a:xfrm>
            <a:off x="2984425" y="5587860"/>
            <a:ext cx="693673"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2EC0FF"/>
                </a:solidFill>
                <a:latin typeface="Courier New" pitchFamily="34" charset="0"/>
                <a:ea typeface="Courier New" pitchFamily="34" charset="-122"/>
                <a:cs typeface="Courier New" pitchFamily="34" charset="-120"/>
              </a:rPr>
              <a:t>FINANCIALS</a:t>
            </a:r>
            <a:endParaRPr lang="en-US" sz="600" dirty="0"/>
          </a:p>
        </p:txBody>
      </p:sp>
      <p:sp>
        <p:nvSpPr>
          <p:cNvPr id="24" name="Text 10.23"/>
          <p:cNvSpPr txBox="1"/>
          <p:nvPr/>
        </p:nvSpPr>
        <p:spPr>
          <a:xfrm>
            <a:off x="2984425" y="5727557"/>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85% positive. Owner est. 4.6M–5.8M.</a:t>
            </a:r>
            <a:endParaRPr lang="en-US" sz="850" dirty="0"/>
          </a:p>
        </p:txBody>
      </p:sp>
      <p:sp>
        <p:nvSpPr>
          <p:cNvPr id="25" name="Text 10.24"/>
          <p:cNvSpPr txBox="1"/>
          <p:nvPr/>
        </p:nvSpPr>
        <p:spPr>
          <a:xfrm>
            <a:off x="5117972" y="1777956"/>
            <a:ext cx="888978" cy="190495"/>
          </a:xfrm>
          <a:prstGeom prst="rect">
            <a:avLst/>
          </a:prstGeom>
          <a:noFill/>
          <a:ln/>
        </p:spPr>
        <p:txBody>
          <a:bodyPr wrap="square" lIns="0" tIns="0" rIns="0" bIns="0" rtlCol="0" anchor="ctr"/>
          <a:lstStyle/>
          <a:p>
            <a:pPr algn="ctr" indent="0" marL="0">
              <a:lnSpc>
                <a:spcPts val="600"/>
              </a:lnSpc>
              <a:buNone/>
            </a:pPr>
            <a:r>
              <a:rPr lang="en-US" sz="600" b="1" spc="96" kern="0" dirty="0">
                <a:solidFill>
                  <a:srgbClr val="06101F"/>
                </a:solidFill>
                <a:latin typeface="Courier New" pitchFamily="34" charset="0"/>
                <a:ea typeface="Courier New" pitchFamily="34" charset="-122"/>
                <a:cs typeface="Courier New" pitchFamily="34" charset="-120"/>
              </a:rPr>
              <a:t>FORMAT</a:t>
            </a:r>
            <a:endParaRPr lang="en-US" sz="600" dirty="0"/>
          </a:p>
        </p:txBody>
      </p:sp>
      <p:sp>
        <p:nvSpPr>
          <p:cNvPr id="26" name="Text 10.25"/>
          <p:cNvSpPr txBox="1"/>
          <p:nvPr/>
        </p:nvSpPr>
        <p:spPr>
          <a:xfrm>
            <a:off x="5206870" y="2997125"/>
            <a:ext cx="851321" cy="189860"/>
          </a:xfrm>
          <a:prstGeom prst="rect">
            <a:avLst/>
          </a:prstGeom>
          <a:noFill/>
          <a:ln/>
        </p:spPr>
        <p:txBody>
          <a:bodyPr wrap="square" lIns="0" tIns="0" rIns="0" bIns="0" rtlCol="0" anchor="t"/>
          <a:lstStyle/>
          <a:p>
            <a:pPr algn="l" indent="0" marL="0">
              <a:lnSpc>
                <a:spcPts val="1490"/>
              </a:lnSpc>
              <a:buNone/>
            </a:pPr>
            <a:r>
              <a:rPr lang="en-US" sz="1300" b="1" dirty="0">
                <a:solidFill>
                  <a:srgbClr val="EEF5FF"/>
                </a:solidFill>
                <a:latin typeface="Arial" pitchFamily="34" charset="0"/>
                <a:ea typeface="Arial" pitchFamily="34" charset="-122"/>
                <a:cs typeface="Arial" pitchFamily="34" charset="-120"/>
              </a:rPr>
              <a:t>Fall Guys</a:t>
            </a:r>
            <a:endParaRPr lang="en-US" sz="1300" dirty="0"/>
          </a:p>
        </p:txBody>
      </p:sp>
      <p:sp>
        <p:nvSpPr>
          <p:cNvPr id="27" name="Text 10.26"/>
          <p:cNvSpPr txBox="1"/>
          <p:nvPr/>
        </p:nvSpPr>
        <p:spPr>
          <a:xfrm>
            <a:off x="5206870" y="3225719"/>
            <a:ext cx="1420708" cy="120012"/>
          </a:xfrm>
          <a:prstGeom prst="rect">
            <a:avLst/>
          </a:prstGeom>
          <a:noFill/>
          <a:ln/>
        </p:spPr>
        <p:txBody>
          <a:bodyPr wrap="square" lIns="0" tIns="0" rIns="0" bIns="0" rtlCol="0" anchor="t"/>
          <a:lstStyle/>
          <a:p>
            <a:pPr algn="l" indent="0" marL="0">
              <a:lnSpc>
                <a:spcPts val="940"/>
              </a:lnSpc>
              <a:buNone/>
            </a:pPr>
            <a:r>
              <a:rPr lang="en-US" sz="700" dirty="0">
                <a:solidFill>
                  <a:srgbClr val="8C9FC3"/>
                </a:solidFill>
                <a:latin typeface="Courier New" pitchFamily="34" charset="0"/>
                <a:ea typeface="Courier New" pitchFamily="34" charset="-122"/>
                <a:cs typeface="Courier New" pitchFamily="34" charset="-120"/>
              </a:rPr>
              <a:t>Mediatonic / Epic · 2020</a:t>
            </a:r>
            <a:endParaRPr lang="en-US" sz="700" dirty="0"/>
          </a:p>
        </p:txBody>
      </p:sp>
      <p:sp>
        <p:nvSpPr>
          <p:cNvPr id="28" name="Text 10.27"/>
          <p:cNvSpPr txBox="1"/>
          <p:nvPr/>
        </p:nvSpPr>
        <p:spPr>
          <a:xfrm>
            <a:off x="5206870" y="3530512"/>
            <a:ext cx="441582"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VISUAL</a:t>
            </a:r>
            <a:endParaRPr lang="en-US" sz="600" dirty="0"/>
          </a:p>
        </p:txBody>
      </p:sp>
      <p:sp>
        <p:nvSpPr>
          <p:cNvPr id="29" name="Text 10.28"/>
          <p:cNvSpPr txBox="1"/>
          <p:nvPr/>
        </p:nvSpPr>
        <p:spPr>
          <a:xfrm>
            <a:off x="5206870" y="3670208"/>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Candy-coloured beans, obstacle courses.</a:t>
            </a:r>
            <a:endParaRPr lang="en-US" sz="850" dirty="0"/>
          </a:p>
        </p:txBody>
      </p:sp>
      <p:sp>
        <p:nvSpPr>
          <p:cNvPr id="30" name="Text 10.29"/>
          <p:cNvSpPr txBox="1"/>
          <p:nvPr/>
        </p:nvSpPr>
        <p:spPr>
          <a:xfrm>
            <a:off x="5206870" y="4216295"/>
            <a:ext cx="567575"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MECHANIC</a:t>
            </a:r>
            <a:endParaRPr lang="en-US" sz="600" dirty="0"/>
          </a:p>
        </p:txBody>
      </p:sp>
      <p:sp>
        <p:nvSpPr>
          <p:cNvPr id="31" name="Text 10.30"/>
          <p:cNvSpPr txBox="1"/>
          <p:nvPr/>
        </p:nvSpPr>
        <p:spPr>
          <a:xfrm>
            <a:off x="5206870" y="4355991"/>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Short race and survival rounds in a playlist.</a:t>
            </a:r>
            <a:endParaRPr lang="en-US" sz="850" dirty="0"/>
          </a:p>
        </p:txBody>
      </p:sp>
      <p:sp>
        <p:nvSpPr>
          <p:cNvPr id="32" name="Text 10.31"/>
          <p:cNvSpPr txBox="1"/>
          <p:nvPr/>
        </p:nvSpPr>
        <p:spPr>
          <a:xfrm>
            <a:off x="5206870" y="4902077"/>
            <a:ext cx="756669"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MULTIPLAYER</a:t>
            </a:r>
            <a:endParaRPr lang="en-US" sz="600" dirty="0"/>
          </a:p>
        </p:txBody>
      </p:sp>
      <p:sp>
        <p:nvSpPr>
          <p:cNvPr id="33" name="Text 10.32"/>
          <p:cNvSpPr txBox="1"/>
          <p:nvPr/>
        </p:nvSpPr>
        <p:spPr>
          <a:xfrm>
            <a:off x="5206870" y="5041774"/>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Online, cross-platform only.</a:t>
            </a:r>
            <a:endParaRPr lang="en-US" sz="850" dirty="0"/>
          </a:p>
        </p:txBody>
      </p:sp>
      <p:sp>
        <p:nvSpPr>
          <p:cNvPr id="34" name="Text 10.33"/>
          <p:cNvSpPr txBox="1"/>
          <p:nvPr/>
        </p:nvSpPr>
        <p:spPr>
          <a:xfrm>
            <a:off x="5206870" y="5587860"/>
            <a:ext cx="693673"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FINANCIALS</a:t>
            </a:r>
            <a:endParaRPr lang="en-US" sz="600" dirty="0"/>
          </a:p>
        </p:txBody>
      </p:sp>
      <p:sp>
        <p:nvSpPr>
          <p:cNvPr id="35" name="Text 10.34"/>
          <p:cNvSpPr txBox="1"/>
          <p:nvPr/>
        </p:nvSpPr>
        <p:spPr>
          <a:xfrm>
            <a:off x="5206870" y="5727557"/>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Free-to-play. Legacy Steam peak 172,213. Metacritic 80.</a:t>
            </a:r>
            <a:endParaRPr lang="en-US" sz="850" dirty="0"/>
          </a:p>
        </p:txBody>
      </p:sp>
      <p:sp>
        <p:nvSpPr>
          <p:cNvPr id="36" name="Text 10.35"/>
          <p:cNvSpPr txBox="1"/>
          <p:nvPr/>
        </p:nvSpPr>
        <p:spPr>
          <a:xfrm>
            <a:off x="7340416" y="1777956"/>
            <a:ext cx="888978" cy="190495"/>
          </a:xfrm>
          <a:prstGeom prst="rect">
            <a:avLst/>
          </a:prstGeom>
          <a:noFill/>
          <a:ln/>
        </p:spPr>
        <p:txBody>
          <a:bodyPr wrap="square" lIns="0" tIns="0" rIns="0" bIns="0" rtlCol="0" anchor="ctr"/>
          <a:lstStyle/>
          <a:p>
            <a:pPr algn="ctr" indent="0" marL="0">
              <a:lnSpc>
                <a:spcPts val="600"/>
              </a:lnSpc>
              <a:buNone/>
            </a:pPr>
            <a:r>
              <a:rPr lang="en-US" sz="600" b="1" spc="96" kern="0" dirty="0">
                <a:solidFill>
                  <a:srgbClr val="06101F"/>
                </a:solidFill>
                <a:latin typeface="Courier New" pitchFamily="34" charset="0"/>
                <a:ea typeface="Courier New" pitchFamily="34" charset="-122"/>
                <a:cs typeface="Courier New" pitchFamily="34" charset="-120"/>
              </a:rPr>
              <a:t>FORMAT</a:t>
            </a:r>
            <a:endParaRPr lang="en-US" sz="600" dirty="0"/>
          </a:p>
        </p:txBody>
      </p:sp>
      <p:sp>
        <p:nvSpPr>
          <p:cNvPr id="37" name="Text 10.36"/>
          <p:cNvSpPr txBox="1"/>
          <p:nvPr/>
        </p:nvSpPr>
        <p:spPr>
          <a:xfrm>
            <a:off x="7429314" y="2997125"/>
            <a:ext cx="1230667" cy="189860"/>
          </a:xfrm>
          <a:prstGeom prst="rect">
            <a:avLst/>
          </a:prstGeom>
          <a:noFill/>
          <a:ln/>
        </p:spPr>
        <p:txBody>
          <a:bodyPr wrap="square" lIns="0" tIns="0" rIns="0" bIns="0" rtlCol="0" anchor="t"/>
          <a:lstStyle/>
          <a:p>
            <a:pPr algn="l" indent="0" marL="0">
              <a:lnSpc>
                <a:spcPts val="1490"/>
              </a:lnSpc>
              <a:buNone/>
            </a:pPr>
            <a:r>
              <a:rPr lang="en-US" sz="1300" b="1" dirty="0">
                <a:solidFill>
                  <a:srgbClr val="EEF5FF"/>
                </a:solidFill>
                <a:latin typeface="Arial" pitchFamily="34" charset="0"/>
                <a:ea typeface="Arial" pitchFamily="34" charset="-122"/>
                <a:cs typeface="Arial" pitchFamily="34" charset="-120"/>
              </a:rPr>
              <a:t>Pummel Party</a:t>
            </a:r>
            <a:endParaRPr lang="en-US" sz="1300" dirty="0"/>
          </a:p>
        </p:txBody>
      </p:sp>
      <p:sp>
        <p:nvSpPr>
          <p:cNvPr id="38" name="Text 10.37"/>
          <p:cNvSpPr txBox="1"/>
          <p:nvPr/>
        </p:nvSpPr>
        <p:spPr>
          <a:xfrm>
            <a:off x="7429314" y="3225719"/>
            <a:ext cx="1194488" cy="120012"/>
          </a:xfrm>
          <a:prstGeom prst="rect">
            <a:avLst/>
          </a:prstGeom>
          <a:noFill/>
          <a:ln/>
        </p:spPr>
        <p:txBody>
          <a:bodyPr wrap="square" lIns="0" tIns="0" rIns="0" bIns="0" rtlCol="0" anchor="t"/>
          <a:lstStyle/>
          <a:p>
            <a:pPr algn="l" indent="0" marL="0">
              <a:lnSpc>
                <a:spcPts val="940"/>
              </a:lnSpc>
              <a:buNone/>
            </a:pPr>
            <a:r>
              <a:rPr lang="en-US" sz="700" dirty="0">
                <a:solidFill>
                  <a:srgbClr val="8C9FC3"/>
                </a:solidFill>
                <a:latin typeface="Courier New" pitchFamily="34" charset="0"/>
                <a:ea typeface="Courier New" pitchFamily="34" charset="-122"/>
                <a:cs typeface="Courier New" pitchFamily="34" charset="-120"/>
              </a:rPr>
              <a:t>Rebuilt Games · 2018</a:t>
            </a:r>
            <a:endParaRPr lang="en-US" sz="700" dirty="0"/>
          </a:p>
        </p:txBody>
      </p:sp>
      <p:sp>
        <p:nvSpPr>
          <p:cNvPr id="39" name="Text 10.38"/>
          <p:cNvSpPr txBox="1"/>
          <p:nvPr/>
        </p:nvSpPr>
        <p:spPr>
          <a:xfrm>
            <a:off x="7429314" y="3530512"/>
            <a:ext cx="441582"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VISUAL</a:t>
            </a:r>
            <a:endParaRPr lang="en-US" sz="600" dirty="0"/>
          </a:p>
        </p:txBody>
      </p:sp>
      <p:sp>
        <p:nvSpPr>
          <p:cNvPr id="40" name="Text 10.39"/>
          <p:cNvSpPr txBox="1"/>
          <p:nvPr/>
        </p:nvSpPr>
        <p:spPr>
          <a:xfrm>
            <a:off x="7429314" y="3670208"/>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Colourful low-poly 3D, slapstick items.</a:t>
            </a:r>
            <a:endParaRPr lang="en-US" sz="850" dirty="0"/>
          </a:p>
        </p:txBody>
      </p:sp>
      <p:sp>
        <p:nvSpPr>
          <p:cNvPr id="41" name="Text 10.40"/>
          <p:cNvSpPr txBox="1"/>
          <p:nvPr/>
        </p:nvSpPr>
        <p:spPr>
          <a:xfrm>
            <a:off x="7429314" y="4216295"/>
            <a:ext cx="567575"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MECHANIC</a:t>
            </a:r>
            <a:endParaRPr lang="en-US" sz="600" dirty="0"/>
          </a:p>
        </p:txBody>
      </p:sp>
      <p:sp>
        <p:nvSpPr>
          <p:cNvPr id="42" name="Text 10.41"/>
          <p:cNvSpPr txBox="1"/>
          <p:nvPr/>
        </p:nvSpPr>
        <p:spPr>
          <a:xfrm>
            <a:off x="7429314" y="4355991"/>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Board game with short competitive mini-games.</a:t>
            </a:r>
            <a:endParaRPr lang="en-US" sz="850" dirty="0"/>
          </a:p>
        </p:txBody>
      </p:sp>
      <p:sp>
        <p:nvSpPr>
          <p:cNvPr id="43" name="Text 10.42"/>
          <p:cNvSpPr txBox="1"/>
          <p:nvPr/>
        </p:nvSpPr>
        <p:spPr>
          <a:xfrm>
            <a:off x="7429314" y="4902077"/>
            <a:ext cx="756669"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MULTIPLAYER</a:t>
            </a:r>
            <a:endParaRPr lang="en-US" sz="600" dirty="0"/>
          </a:p>
        </p:txBody>
      </p:sp>
      <p:sp>
        <p:nvSpPr>
          <p:cNvPr id="44" name="Text 10.43"/>
          <p:cNvSpPr txBox="1"/>
          <p:nvPr/>
        </p:nvSpPr>
        <p:spPr>
          <a:xfrm>
            <a:off x="7429314" y="5041774"/>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4–8 online and local. No LAN listed.</a:t>
            </a:r>
            <a:endParaRPr lang="en-US" sz="850" dirty="0"/>
          </a:p>
        </p:txBody>
      </p:sp>
      <p:sp>
        <p:nvSpPr>
          <p:cNvPr id="45" name="Text 10.44"/>
          <p:cNvSpPr txBox="1"/>
          <p:nvPr/>
        </p:nvSpPr>
        <p:spPr>
          <a:xfrm>
            <a:off x="7429314" y="5587860"/>
            <a:ext cx="693673"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6CD63A"/>
                </a:solidFill>
                <a:latin typeface="Courier New" pitchFamily="34" charset="0"/>
                <a:ea typeface="Courier New" pitchFamily="34" charset="-122"/>
                <a:cs typeface="Courier New" pitchFamily="34" charset="-120"/>
              </a:rPr>
              <a:t>FINANCIALS</a:t>
            </a:r>
            <a:endParaRPr lang="en-US" sz="600" dirty="0"/>
          </a:p>
        </p:txBody>
      </p:sp>
      <p:sp>
        <p:nvSpPr>
          <p:cNvPr id="46" name="Text 10.45"/>
          <p:cNvSpPr txBox="1"/>
          <p:nvPr/>
        </p:nvSpPr>
        <p:spPr>
          <a:xfrm>
            <a:off x="7429314" y="5727557"/>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$14.99. Peak 20,957. Owner est. 1.5M–7.6M.</a:t>
            </a:r>
            <a:endParaRPr lang="en-US" sz="850" dirty="0"/>
          </a:p>
        </p:txBody>
      </p:sp>
      <p:sp>
        <p:nvSpPr>
          <p:cNvPr id="47" name="Text 10.46"/>
          <p:cNvSpPr txBox="1"/>
          <p:nvPr/>
        </p:nvSpPr>
        <p:spPr>
          <a:xfrm>
            <a:off x="9562861" y="1777956"/>
            <a:ext cx="888978" cy="190495"/>
          </a:xfrm>
          <a:prstGeom prst="rect">
            <a:avLst/>
          </a:prstGeom>
          <a:noFill/>
          <a:ln/>
        </p:spPr>
        <p:txBody>
          <a:bodyPr wrap="square" lIns="0" tIns="0" rIns="0" bIns="0" rtlCol="0" anchor="ctr"/>
          <a:lstStyle/>
          <a:p>
            <a:pPr algn="ctr" indent="0" marL="0">
              <a:lnSpc>
                <a:spcPts val="600"/>
              </a:lnSpc>
              <a:buNone/>
            </a:pPr>
            <a:r>
              <a:rPr lang="en-US" sz="600" b="1" spc="96" kern="0" dirty="0">
                <a:solidFill>
                  <a:srgbClr val="06101F"/>
                </a:solidFill>
                <a:latin typeface="Courier New" pitchFamily="34" charset="0"/>
                <a:ea typeface="Courier New" pitchFamily="34" charset="-122"/>
                <a:cs typeface="Courier New" pitchFamily="34" charset="-120"/>
              </a:rPr>
              <a:t>MECHANIC</a:t>
            </a:r>
            <a:endParaRPr lang="en-US" sz="600" dirty="0"/>
          </a:p>
        </p:txBody>
      </p:sp>
      <p:sp>
        <p:nvSpPr>
          <p:cNvPr id="48" name="Text 10.47"/>
          <p:cNvSpPr txBox="1"/>
          <p:nvPr/>
        </p:nvSpPr>
        <p:spPr>
          <a:xfrm>
            <a:off x="9651759" y="2997125"/>
            <a:ext cx="861102" cy="189860"/>
          </a:xfrm>
          <a:prstGeom prst="rect">
            <a:avLst/>
          </a:prstGeom>
          <a:noFill/>
          <a:ln/>
        </p:spPr>
        <p:txBody>
          <a:bodyPr wrap="square" lIns="0" tIns="0" rIns="0" bIns="0" rtlCol="0" anchor="t"/>
          <a:lstStyle/>
          <a:p>
            <a:pPr algn="l" indent="0" marL="0">
              <a:lnSpc>
                <a:spcPts val="1490"/>
              </a:lnSpc>
              <a:buNone/>
            </a:pPr>
            <a:r>
              <a:rPr lang="en-US" sz="1300" b="1" dirty="0">
                <a:solidFill>
                  <a:srgbClr val="EEF5FF"/>
                </a:solidFill>
                <a:latin typeface="Arial" pitchFamily="34" charset="0"/>
                <a:ea typeface="Arial" pitchFamily="34" charset="-122"/>
                <a:cs typeface="Arial" pitchFamily="34" charset="-120"/>
              </a:rPr>
              <a:t>Squarena</a:t>
            </a:r>
            <a:endParaRPr lang="en-US" sz="1300" dirty="0"/>
          </a:p>
        </p:txBody>
      </p:sp>
      <p:sp>
        <p:nvSpPr>
          <p:cNvPr id="49" name="Text 10.48"/>
          <p:cNvSpPr txBox="1"/>
          <p:nvPr/>
        </p:nvSpPr>
        <p:spPr>
          <a:xfrm>
            <a:off x="9651759" y="3225719"/>
            <a:ext cx="1024850" cy="120012"/>
          </a:xfrm>
          <a:prstGeom prst="rect">
            <a:avLst/>
          </a:prstGeom>
          <a:noFill/>
          <a:ln/>
        </p:spPr>
        <p:txBody>
          <a:bodyPr wrap="square" lIns="0" tIns="0" rIns="0" bIns="0" rtlCol="0" anchor="t"/>
          <a:lstStyle/>
          <a:p>
            <a:pPr algn="l" indent="0" marL="0">
              <a:lnSpc>
                <a:spcPts val="940"/>
              </a:lnSpc>
              <a:buNone/>
            </a:pPr>
            <a:r>
              <a:rPr lang="en-US" sz="700" dirty="0">
                <a:solidFill>
                  <a:srgbClr val="8C9FC3"/>
                </a:solidFill>
                <a:latin typeface="Courier New" pitchFamily="34" charset="0"/>
                <a:ea typeface="Courier New" pitchFamily="34" charset="-122"/>
                <a:cs typeface="Courier New" pitchFamily="34" charset="-120"/>
              </a:rPr>
              <a:t>Codeaclysm · 2022</a:t>
            </a:r>
            <a:endParaRPr lang="en-US" sz="700" dirty="0"/>
          </a:p>
        </p:txBody>
      </p:sp>
      <p:sp>
        <p:nvSpPr>
          <p:cNvPr id="50" name="Text 10.49"/>
          <p:cNvSpPr txBox="1"/>
          <p:nvPr/>
        </p:nvSpPr>
        <p:spPr>
          <a:xfrm>
            <a:off x="9651759" y="3530512"/>
            <a:ext cx="441582"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A56BFF"/>
                </a:solidFill>
                <a:latin typeface="Courier New" pitchFamily="34" charset="0"/>
                <a:ea typeface="Courier New" pitchFamily="34" charset="-122"/>
                <a:cs typeface="Courier New" pitchFamily="34" charset="-120"/>
              </a:rPr>
              <a:t>VISUAL</a:t>
            </a:r>
            <a:endParaRPr lang="en-US" sz="600" dirty="0"/>
          </a:p>
        </p:txBody>
      </p:sp>
      <p:sp>
        <p:nvSpPr>
          <p:cNvPr id="51" name="Text 10.50"/>
          <p:cNvSpPr txBox="1"/>
          <p:nvPr/>
        </p:nvSpPr>
        <p:spPr>
          <a:xfrm>
            <a:off x="9651759" y="3670208"/>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Minimal flat 2D squares.</a:t>
            </a:r>
            <a:endParaRPr lang="en-US" sz="850" dirty="0"/>
          </a:p>
        </p:txBody>
      </p:sp>
      <p:sp>
        <p:nvSpPr>
          <p:cNvPr id="52" name="Text 10.51"/>
          <p:cNvSpPr txBox="1"/>
          <p:nvPr/>
        </p:nvSpPr>
        <p:spPr>
          <a:xfrm>
            <a:off x="9651759" y="4216295"/>
            <a:ext cx="567575"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A56BFF"/>
                </a:solidFill>
                <a:latin typeface="Courier New" pitchFamily="34" charset="0"/>
                <a:ea typeface="Courier New" pitchFamily="34" charset="-122"/>
                <a:cs typeface="Courier New" pitchFamily="34" charset="-120"/>
              </a:rPr>
              <a:t>MECHANIC</a:t>
            </a:r>
            <a:endParaRPr lang="en-US" sz="600" dirty="0"/>
          </a:p>
        </p:txBody>
      </p:sp>
      <p:sp>
        <p:nvSpPr>
          <p:cNvPr id="53" name="Text 10.52"/>
          <p:cNvSpPr txBox="1"/>
          <p:nvPr/>
        </p:nvSpPr>
        <p:spPr>
          <a:xfrm>
            <a:off x="9651759" y="4355991"/>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Arena shooter: low health shrinks you; small bodies feel more recoil.</a:t>
            </a:r>
            <a:endParaRPr lang="en-US" sz="850" dirty="0"/>
          </a:p>
        </p:txBody>
      </p:sp>
      <p:sp>
        <p:nvSpPr>
          <p:cNvPr id="54" name="Text 10.53"/>
          <p:cNvSpPr txBox="1"/>
          <p:nvPr/>
        </p:nvSpPr>
        <p:spPr>
          <a:xfrm>
            <a:off x="9651759" y="4902077"/>
            <a:ext cx="756669"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A56BFF"/>
                </a:solidFill>
                <a:latin typeface="Courier New" pitchFamily="34" charset="0"/>
                <a:ea typeface="Courier New" pitchFamily="34" charset="-122"/>
                <a:cs typeface="Courier New" pitchFamily="34" charset="-120"/>
              </a:rPr>
              <a:t>MULTIPLAYER</a:t>
            </a:r>
            <a:endParaRPr lang="en-US" sz="600" dirty="0"/>
          </a:p>
        </p:txBody>
      </p:sp>
      <p:sp>
        <p:nvSpPr>
          <p:cNvPr id="55" name="Text 10.54"/>
          <p:cNvSpPr txBox="1"/>
          <p:nvPr/>
        </p:nvSpPr>
        <p:spPr>
          <a:xfrm>
            <a:off x="9651759" y="5041774"/>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Up to 6 local. No LAN listed.</a:t>
            </a:r>
            <a:endParaRPr lang="en-US" sz="850" dirty="0"/>
          </a:p>
        </p:txBody>
      </p:sp>
      <p:sp>
        <p:nvSpPr>
          <p:cNvPr id="56" name="Text 10.55"/>
          <p:cNvSpPr txBox="1"/>
          <p:nvPr/>
        </p:nvSpPr>
        <p:spPr>
          <a:xfrm>
            <a:off x="9651759" y="5587860"/>
            <a:ext cx="693673" cy="91438"/>
          </a:xfrm>
          <a:prstGeom prst="rect">
            <a:avLst/>
          </a:prstGeom>
          <a:noFill/>
          <a:ln/>
        </p:spPr>
        <p:txBody>
          <a:bodyPr wrap="square" lIns="0" tIns="0" rIns="0" bIns="0" rtlCol="0" anchor="t"/>
          <a:lstStyle/>
          <a:p>
            <a:pPr algn="l" indent="0" marL="0">
              <a:lnSpc>
                <a:spcPts val="720"/>
              </a:lnSpc>
              <a:buNone/>
            </a:pPr>
            <a:r>
              <a:rPr lang="en-US" sz="600" b="1" spc="108" kern="0" dirty="0">
                <a:solidFill>
                  <a:srgbClr val="A56BFF"/>
                </a:solidFill>
                <a:latin typeface="Courier New" pitchFamily="34" charset="0"/>
                <a:ea typeface="Courier New" pitchFamily="34" charset="-122"/>
                <a:cs typeface="Courier New" pitchFamily="34" charset="-120"/>
              </a:rPr>
              <a:t>FINANCIALS</a:t>
            </a:r>
            <a:endParaRPr lang="en-US" sz="600" dirty="0"/>
          </a:p>
        </p:txBody>
      </p:sp>
      <p:sp>
        <p:nvSpPr>
          <p:cNvPr id="57" name="Text 10.56"/>
          <p:cNvSpPr txBox="1"/>
          <p:nvPr/>
        </p:nvSpPr>
        <p:spPr>
          <a:xfrm>
            <a:off x="9651759" y="5727557"/>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D3DEF2"/>
                </a:solidFill>
                <a:latin typeface="Arial" pitchFamily="34" charset="0"/>
                <a:ea typeface="Arial" pitchFamily="34" charset="-122"/>
                <a:cs typeface="Arial" pitchFamily="34" charset="-120"/>
              </a:rPr>
              <a:t>$4.99. Sales not disclosed.</a:t>
            </a:r>
            <a:endParaRPr lang="en-US" sz="850" dirty="0"/>
          </a:p>
        </p:txBody>
      </p:sp>
      <p:sp>
        <p:nvSpPr>
          <p:cNvPr id="58" name="Text 10.57"/>
          <p:cNvSpPr txBox="1"/>
          <p:nvPr/>
        </p:nvSpPr>
        <p:spPr>
          <a:xfrm>
            <a:off x="609585" y="6551449"/>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Screenshots: official Steam media, © publishers. “Owner est.” = third-party estimates via SteamDB, not sales. 2026-10-17 [7].</a:t>
            </a:r>
            <a:endParaRPr lang="en-US" sz="750" dirty="0"/>
          </a:p>
        </p:txBody>
      </p:sp>
      <p:sp>
        <p:nvSpPr>
          <p:cNvPr id="59" name="Text 10.58"/>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3</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60" name="Text 10.59"/>
          <p:cNvSpPr txBox="1"/>
          <p:nvPr/>
        </p:nvSpPr>
        <p:spPr>
          <a:xfrm>
            <a:off x="609585" y="444489"/>
            <a:ext cx="58051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MARKET</a:t>
            </a:r>
            <a:endParaRPr lang="en-US" sz="800" dirty="0"/>
          </a:p>
        </p:txBody>
      </p:sp>
      <p:sp>
        <p:nvSpPr>
          <p:cNvPr id="61" name="Text 10.60"/>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10</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Where we sit among them</a:t>
            </a:r>
            <a:endParaRPr lang="en-US" sz="2800" dirty="0"/>
          </a:p>
        </p:txBody>
      </p:sp>
      <p:sp>
        <p:nvSpPr>
          <p:cNvPr id="3" name="Text 11.2"/>
          <p:cNvSpPr txBox="1"/>
          <p:nvPr/>
        </p:nvSpPr>
        <p:spPr>
          <a:xfrm>
            <a:off x="4444889"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8C9FC3"/>
                </a:solidFill>
                <a:latin typeface="Courier New" pitchFamily="34" charset="0"/>
                <a:ea typeface="Courier New" pitchFamily="34" charset="-122"/>
                <a:cs typeface="Courier New" pitchFamily="34" charset="-120"/>
              </a:rPr>
              <a:t>PARTY ANIMALS</a:t>
            </a:r>
            <a:endParaRPr lang="en-US" sz="650" dirty="0"/>
          </a:p>
        </p:txBody>
      </p:sp>
      <p:sp>
        <p:nvSpPr>
          <p:cNvPr id="4" name="Text 11.3"/>
          <p:cNvSpPr txBox="1"/>
          <p:nvPr/>
        </p:nvSpPr>
        <p:spPr>
          <a:xfrm>
            <a:off x="5632309"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8C9FC3"/>
                </a:solidFill>
                <a:latin typeface="Courier New" pitchFamily="34" charset="0"/>
                <a:ea typeface="Courier New" pitchFamily="34" charset="-122"/>
                <a:cs typeface="Courier New" pitchFamily="34" charset="-120"/>
              </a:rPr>
              <a:t>GANG BEASTS</a:t>
            </a:r>
            <a:endParaRPr lang="en-US" sz="650" dirty="0"/>
          </a:p>
        </p:txBody>
      </p:sp>
      <p:sp>
        <p:nvSpPr>
          <p:cNvPr id="5" name="Text 11.4"/>
          <p:cNvSpPr txBox="1"/>
          <p:nvPr/>
        </p:nvSpPr>
        <p:spPr>
          <a:xfrm>
            <a:off x="6819730"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8C9FC3"/>
                </a:solidFill>
                <a:latin typeface="Courier New" pitchFamily="34" charset="0"/>
                <a:ea typeface="Courier New" pitchFamily="34" charset="-122"/>
                <a:cs typeface="Courier New" pitchFamily="34" charset="-120"/>
              </a:rPr>
              <a:t>FALL GUYS</a:t>
            </a:r>
            <a:endParaRPr lang="en-US" sz="650" dirty="0"/>
          </a:p>
        </p:txBody>
      </p:sp>
      <p:sp>
        <p:nvSpPr>
          <p:cNvPr id="6" name="Text 11.5"/>
          <p:cNvSpPr txBox="1"/>
          <p:nvPr/>
        </p:nvSpPr>
        <p:spPr>
          <a:xfrm>
            <a:off x="8007150"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8C9FC3"/>
                </a:solidFill>
                <a:latin typeface="Courier New" pitchFamily="34" charset="0"/>
                <a:ea typeface="Courier New" pitchFamily="34" charset="-122"/>
                <a:cs typeface="Courier New" pitchFamily="34" charset="-120"/>
              </a:rPr>
              <a:t>PUMMEL PARTY</a:t>
            </a:r>
            <a:endParaRPr lang="en-US" sz="650" dirty="0"/>
          </a:p>
        </p:txBody>
      </p:sp>
      <p:sp>
        <p:nvSpPr>
          <p:cNvPr id="7" name="Text 11.6"/>
          <p:cNvSpPr txBox="1"/>
          <p:nvPr/>
        </p:nvSpPr>
        <p:spPr>
          <a:xfrm>
            <a:off x="9194570"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8C9FC3"/>
                </a:solidFill>
                <a:latin typeface="Courier New" pitchFamily="34" charset="0"/>
                <a:ea typeface="Courier New" pitchFamily="34" charset="-122"/>
                <a:cs typeface="Courier New" pitchFamily="34" charset="-120"/>
              </a:rPr>
              <a:t>SQUARENA</a:t>
            </a:r>
            <a:endParaRPr lang="en-US" sz="650" dirty="0"/>
          </a:p>
        </p:txBody>
      </p:sp>
      <p:sp>
        <p:nvSpPr>
          <p:cNvPr id="8" name="Text 11.7"/>
          <p:cNvSpPr txBox="1"/>
          <p:nvPr/>
        </p:nvSpPr>
        <p:spPr>
          <a:xfrm>
            <a:off x="10381990" y="1854154"/>
            <a:ext cx="1187420" cy="99058"/>
          </a:xfrm>
          <a:prstGeom prst="rect">
            <a:avLst/>
          </a:prstGeom>
          <a:noFill/>
          <a:ln/>
        </p:spPr>
        <p:txBody>
          <a:bodyPr wrap="square" lIns="0" tIns="0" rIns="0" bIns="0" rtlCol="0" anchor="t"/>
          <a:lstStyle/>
          <a:p>
            <a:pPr algn="ctr" indent="0" marL="0">
              <a:lnSpc>
                <a:spcPts val="780"/>
              </a:lnSpc>
              <a:buNone/>
            </a:pPr>
            <a:r>
              <a:rPr lang="en-US" sz="650" b="1" spc="117" kern="0" dirty="0">
                <a:solidFill>
                  <a:srgbClr val="FF6A1A"/>
                </a:solidFill>
                <a:latin typeface="Courier New" pitchFamily="34" charset="0"/>
                <a:ea typeface="Courier New" pitchFamily="34" charset="-122"/>
                <a:cs typeface="Courier New" pitchFamily="34" charset="-120"/>
              </a:rPr>
              <a:t>ICE RUMBLE</a:t>
            </a:r>
            <a:endParaRPr lang="en-US" sz="650" dirty="0"/>
          </a:p>
        </p:txBody>
      </p:sp>
      <p:sp>
        <p:nvSpPr>
          <p:cNvPr id="9" name="Text 11.8"/>
          <p:cNvSpPr txBox="1"/>
          <p:nvPr/>
        </p:nvSpPr>
        <p:spPr>
          <a:xfrm>
            <a:off x="609585" y="2324042"/>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D3DEF2"/>
                </a:solidFill>
                <a:latin typeface="Arial" pitchFamily="34" charset="0"/>
                <a:ea typeface="Arial" pitchFamily="34" charset="-122"/>
                <a:cs typeface="Arial" pitchFamily="34" charset="-120"/>
              </a:rPr>
              <a:t>3D characters</a:t>
            </a:r>
            <a:endParaRPr lang="en-US" sz="1150" dirty="0"/>
          </a:p>
        </p:txBody>
      </p:sp>
      <p:sp>
        <p:nvSpPr>
          <p:cNvPr id="10" name="Text 11.9"/>
          <p:cNvSpPr txBox="1"/>
          <p:nvPr/>
        </p:nvSpPr>
        <p:spPr>
          <a:xfrm>
            <a:off x="609585" y="2844729"/>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D3DEF2"/>
                </a:solidFill>
                <a:latin typeface="Arial" pitchFamily="34" charset="0"/>
                <a:ea typeface="Arial" pitchFamily="34" charset="-122"/>
                <a:cs typeface="Arial" pitchFamily="34" charset="-120"/>
              </a:rPr>
              <a:t>Ranged attacks</a:t>
            </a:r>
            <a:endParaRPr lang="en-US" sz="1150" dirty="0"/>
          </a:p>
        </p:txBody>
      </p:sp>
      <p:sp>
        <p:nvSpPr>
          <p:cNvPr id="11" name="Text 11.10"/>
          <p:cNvSpPr txBox="1"/>
          <p:nvPr/>
        </p:nvSpPr>
        <p:spPr>
          <a:xfrm>
            <a:off x="609585" y="3365416"/>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D3DEF2"/>
                </a:solidFill>
                <a:latin typeface="Arial" pitchFamily="34" charset="0"/>
                <a:ea typeface="Arial" pitchFamily="34" charset="-122"/>
                <a:cs typeface="Arial" pitchFamily="34" charset="-120"/>
              </a:rPr>
              <a:t>Damage changes your body size</a:t>
            </a:r>
            <a:endParaRPr lang="en-US" sz="1150" dirty="0"/>
          </a:p>
        </p:txBody>
      </p:sp>
      <p:sp>
        <p:nvSpPr>
          <p:cNvPr id="12" name="Text 11.11"/>
          <p:cNvSpPr txBox="1"/>
          <p:nvPr/>
        </p:nvSpPr>
        <p:spPr>
          <a:xfrm>
            <a:off x="609585" y="3886103"/>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Less mass, further knockback</a:t>
            </a:r>
            <a:endParaRPr lang="en-US" sz="1150" dirty="0"/>
          </a:p>
        </p:txBody>
      </p:sp>
      <p:sp>
        <p:nvSpPr>
          <p:cNvPr id="13" name="Text 11.12"/>
          <p:cNvSpPr txBox="1"/>
          <p:nvPr/>
        </p:nvSpPr>
        <p:spPr>
          <a:xfrm>
            <a:off x="609585" y="4406790"/>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D3DEF2"/>
                </a:solidFill>
                <a:latin typeface="Arial" pitchFamily="34" charset="0"/>
                <a:ea typeface="Arial" pitchFamily="34" charset="-122"/>
                <a:cs typeface="Arial" pitchFamily="34" charset="-120"/>
              </a:rPr>
              <a:t>Several mini-games, one result</a:t>
            </a:r>
            <a:endParaRPr lang="en-US" sz="1150" dirty="0"/>
          </a:p>
        </p:txBody>
      </p:sp>
      <p:sp>
        <p:nvSpPr>
          <p:cNvPr id="14" name="Text 11.13"/>
          <p:cNvSpPr txBox="1"/>
          <p:nvPr/>
        </p:nvSpPr>
        <p:spPr>
          <a:xfrm>
            <a:off x="609585" y="4927477"/>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EEF5FF"/>
                </a:solidFill>
                <a:latin typeface="Arial" pitchFamily="34" charset="0"/>
                <a:ea typeface="Arial" pitchFamily="34" charset="-122"/>
                <a:cs typeface="Arial" pitchFamily="34" charset="-120"/>
              </a:rPr>
              <a:t>Official LAN play</a:t>
            </a:r>
            <a:endParaRPr lang="en-US" sz="1150" dirty="0"/>
          </a:p>
        </p:txBody>
      </p:sp>
      <p:sp>
        <p:nvSpPr>
          <p:cNvPr id="15" name="Text 11.14"/>
          <p:cNvSpPr txBox="1"/>
          <p:nvPr/>
        </p:nvSpPr>
        <p:spPr>
          <a:xfrm>
            <a:off x="609585" y="5448164"/>
            <a:ext cx="3721007" cy="175256"/>
          </a:xfrm>
          <a:prstGeom prst="rect">
            <a:avLst/>
          </a:prstGeom>
          <a:noFill/>
          <a:ln/>
        </p:spPr>
        <p:txBody>
          <a:bodyPr wrap="square" lIns="0" tIns="0" rIns="0" bIns="0" rtlCol="0" anchor="t"/>
          <a:lstStyle/>
          <a:p>
            <a:pPr algn="l" indent="0" marL="0">
              <a:lnSpc>
                <a:spcPts val="1380"/>
              </a:lnSpc>
              <a:buNone/>
            </a:pPr>
            <a:r>
              <a:rPr lang="en-US" sz="1150" b="1" dirty="0">
                <a:solidFill>
                  <a:srgbClr val="D3DEF2"/>
                </a:solidFill>
                <a:latin typeface="Arial" pitchFamily="34" charset="0"/>
                <a:ea typeface="Arial" pitchFamily="34" charset="-122"/>
                <a:cs typeface="Arial" pitchFamily="34" charset="-120"/>
              </a:rPr>
              <a:t>Plays with no internet</a:t>
            </a:r>
            <a:endParaRPr lang="en-US" sz="1150" dirty="0"/>
          </a:p>
        </p:txBody>
      </p:sp>
      <p:sp>
        <p:nvSpPr>
          <p:cNvPr id="16" name="Text 11.15"/>
          <p:cNvSpPr txBox="1"/>
          <p:nvPr/>
        </p:nvSpPr>
        <p:spPr>
          <a:xfrm>
            <a:off x="825479" y="6006950"/>
            <a:ext cx="245336"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Yes</a:t>
            </a:r>
            <a:endParaRPr lang="en-US" sz="750" dirty="0"/>
          </a:p>
        </p:txBody>
      </p:sp>
      <p:sp>
        <p:nvSpPr>
          <p:cNvPr id="17" name="Text 11.16"/>
          <p:cNvSpPr txBox="1"/>
          <p:nvPr/>
        </p:nvSpPr>
        <p:spPr>
          <a:xfrm>
            <a:off x="1714457" y="6006950"/>
            <a:ext cx="42706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Partly</a:t>
            </a:r>
            <a:endParaRPr lang="en-US" sz="750" dirty="0"/>
          </a:p>
        </p:txBody>
      </p:sp>
      <p:sp>
        <p:nvSpPr>
          <p:cNvPr id="18" name="Text 11.17"/>
          <p:cNvSpPr txBox="1"/>
          <p:nvPr/>
        </p:nvSpPr>
        <p:spPr>
          <a:xfrm>
            <a:off x="2666933" y="6006950"/>
            <a:ext cx="184759"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No</a:t>
            </a:r>
            <a:endParaRPr lang="en-US" sz="750" dirty="0"/>
          </a:p>
        </p:txBody>
      </p:sp>
      <p:sp>
        <p:nvSpPr>
          <p:cNvPr id="19" name="Text 11.18"/>
          <p:cNvSpPr txBox="1"/>
          <p:nvPr/>
        </p:nvSpPr>
        <p:spPr>
          <a:xfrm>
            <a:off x="3428914" y="6006950"/>
            <a:ext cx="1275258"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Planned (Ice Rumble)</a:t>
            </a:r>
            <a:endParaRPr lang="en-US" sz="750" dirty="0"/>
          </a:p>
        </p:txBody>
      </p:sp>
      <p:sp>
        <p:nvSpPr>
          <p:cNvPr id="20" name="Text 11.19"/>
          <p:cNvSpPr txBox="1"/>
          <p:nvPr/>
        </p:nvSpPr>
        <p:spPr>
          <a:xfrm>
            <a:off x="609585" y="6346666"/>
            <a:ext cx="11010625" cy="257169"/>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“Official LAN: No” = not advertised in the game's Steam features. “Partly”: Party Animals and Pummel Party have some weapons or items; Fall Guys' playlist eliminates rather than scores. Party Animals needs internet even on one screen [8]. Ice Rumble column = planned design.</a:t>
            </a:r>
            <a:endParaRPr lang="en-US" sz="750" dirty="0"/>
          </a:p>
        </p:txBody>
      </p:sp>
      <p:sp>
        <p:nvSpPr>
          <p:cNvPr id="21" name="Text 11.20"/>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3</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2" name="Text 11.21"/>
          <p:cNvSpPr txBox="1"/>
          <p:nvPr/>
        </p:nvSpPr>
        <p:spPr>
          <a:xfrm>
            <a:off x="609585" y="444489"/>
            <a:ext cx="58051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MARKET</a:t>
            </a:r>
            <a:endParaRPr lang="en-US" sz="800" dirty="0"/>
          </a:p>
        </p:txBody>
      </p:sp>
      <p:sp>
        <p:nvSpPr>
          <p:cNvPr id="23" name="Text 11.22"/>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11</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2.1"/>
          <p:cNvSpPr txBox="1"/>
          <p:nvPr/>
        </p:nvSpPr>
        <p:spPr>
          <a:xfrm>
            <a:off x="609585" y="952476"/>
            <a:ext cx="1008654"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THE NEW LINK</a:t>
            </a:r>
            <a:endParaRPr lang="en-US" sz="750" dirty="0"/>
          </a:p>
        </p:txBody>
      </p:sp>
      <p:sp>
        <p:nvSpPr>
          <p:cNvPr id="3" name="Text 12.2"/>
          <p:cNvSpPr txBox="1"/>
          <p:nvPr/>
        </p:nvSpPr>
        <p:spPr>
          <a:xfrm>
            <a:off x="609585" y="1244569"/>
            <a:ext cx="4990975" cy="1340908"/>
          </a:xfrm>
          <a:prstGeom prst="rect">
            <a:avLst/>
          </a:prstGeom>
          <a:noFill/>
          <a:ln/>
        </p:spPr>
        <p:txBody>
          <a:bodyPr wrap="square" lIns="0" tIns="0" rIns="0" bIns="0" rtlCol="0" anchor="t"/>
          <a:lstStyle/>
          <a:p>
            <a:pPr algn="l" indent="0" marL="0">
              <a:lnSpc>
                <a:spcPts val="3520"/>
              </a:lnSpc>
              <a:buNone/>
            </a:pPr>
            <a:r>
              <a:rPr lang="en-US" sz="3200" b="1" spc="-64" kern="0" dirty="0">
                <a:solidFill>
                  <a:srgbClr val="EEF5FF"/>
                </a:solidFill>
                <a:latin typeface="Arial" pitchFamily="34" charset="0"/>
                <a:ea typeface="Arial" pitchFamily="34" charset="-122"/>
                <a:cs typeface="Arial" pitchFamily="34" charset="-120"/>
              </a:rPr>
              <a:t>No shipped game we found ties </a:t>
            </a:r>
            <a:pPr algn="l" indent="0" marL="0">
              <a:lnSpc>
                <a:spcPts val="3520"/>
              </a:lnSpc>
              <a:buNone/>
            </a:pPr>
            <a:r>
              <a:rPr lang="en-US" sz="3200" b="1" spc="-64" kern="0" dirty="0">
                <a:solidFill>
                  <a:srgbClr val="FF6A1A"/>
                </a:solidFill>
                <a:latin typeface="Arial" pitchFamily="34" charset="0"/>
                <a:ea typeface="Arial" pitchFamily="34" charset="-122"/>
                <a:cs typeface="Arial" pitchFamily="34" charset="-120"/>
              </a:rPr>
              <a:t>knockback to the mass you have lost.</a:t>
            </a:r>
            <a:endParaRPr lang="en-US" sz="3200" dirty="0"/>
          </a:p>
        </p:txBody>
      </p:sp>
      <p:sp>
        <p:nvSpPr>
          <p:cNvPr id="4" name="Text 12.3"/>
          <p:cNvSpPr txBox="1"/>
          <p:nvPr/>
        </p:nvSpPr>
        <p:spPr>
          <a:xfrm>
            <a:off x="609585" y="3174921"/>
            <a:ext cx="4736982" cy="676258"/>
          </a:xfrm>
          <a:prstGeom prst="rect">
            <a:avLst/>
          </a:prstGeom>
          <a:noFill/>
          <a:ln/>
        </p:spPr>
        <p:txBody>
          <a:bodyPr wrap="square" lIns="0" tIns="0" rIns="0" bIns="0" rtlCol="0" anchor="t"/>
          <a:lstStyle/>
          <a:p>
            <a:pPr algn="l" indent="0" marL="0">
              <a:lnSpc>
                <a:spcPts val="1780"/>
              </a:lnSpc>
              <a:buNone/>
            </a:pPr>
            <a:r>
              <a:rPr lang="en-US" sz="1250" dirty="0">
                <a:solidFill>
                  <a:srgbClr val="D3DEF2"/>
                </a:solidFill>
                <a:latin typeface="Arial" pitchFamily="34" charset="0"/>
                <a:ea typeface="Arial" pitchFamily="34" charset="-122"/>
                <a:cs typeface="Arial" pitchFamily="34" charset="-120"/>
              </a:rPr>
              <a:t>Mass Knockout puts four links on one physical value the player can see. Links 01 to 03 have relatives in other games. </a:t>
            </a:r>
            <a:pPr algn="l" indent="0" marL="0">
              <a:lnSpc>
                <a:spcPts val="1780"/>
              </a:lnSpc>
              <a:buNone/>
            </a:pPr>
            <a:r>
              <a:rPr lang="en-US" sz="1250" b="1" dirty="0">
                <a:solidFill>
                  <a:srgbClr val="EEF5FF"/>
                </a:solidFill>
                <a:latin typeface="Arial" pitchFamily="34" charset="0"/>
                <a:ea typeface="Arial" pitchFamily="34" charset="-122"/>
                <a:cs typeface="Arial" pitchFamily="34" charset="-120"/>
              </a:rPr>
              <a:t>Link 04 we did not find.</a:t>
            </a:r>
            <a:endParaRPr lang="en-US" sz="1250" dirty="0"/>
          </a:p>
        </p:txBody>
      </p:sp>
      <p:sp>
        <p:nvSpPr>
          <p:cNvPr id="5" name="Text 12.4"/>
          <p:cNvSpPr txBox="1"/>
          <p:nvPr/>
        </p:nvSpPr>
        <p:spPr>
          <a:xfrm>
            <a:off x="609585" y="5905352"/>
            <a:ext cx="4990975"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Prior-art search of shipped games, Oct 2026 [9–12]. Evidence on the next slide.</a:t>
            </a:r>
            <a:endParaRPr lang="en-US" sz="750" dirty="0"/>
          </a:p>
        </p:txBody>
      </p:sp>
      <p:sp>
        <p:nvSpPr>
          <p:cNvPr id="6" name="Text 12.5"/>
          <p:cNvSpPr txBox="1"/>
          <p:nvPr/>
        </p:nvSpPr>
        <p:spPr>
          <a:xfrm>
            <a:off x="8000800" y="3848004"/>
            <a:ext cx="1396965" cy="373879"/>
          </a:xfrm>
          <a:prstGeom prst="rect">
            <a:avLst/>
          </a:prstGeom>
          <a:noFill/>
          <a:ln/>
        </p:spPr>
        <p:txBody>
          <a:bodyPr wrap="square" lIns="0" tIns="0" rIns="0" bIns="0" rtlCol="0" anchor="t"/>
          <a:lstStyle/>
          <a:p>
            <a:pPr algn="ctr" indent="0" marL="0">
              <a:lnSpc>
                <a:spcPts val="2940"/>
              </a:lnSpc>
              <a:buNone/>
            </a:pPr>
            <a:r>
              <a:rPr lang="en-US" sz="3200" spc="16" kern="0" dirty="0">
                <a:solidFill>
                  <a:srgbClr val="EEF5FF"/>
                </a:solidFill>
                <a:latin typeface="Impact" pitchFamily="34" charset="0"/>
                <a:ea typeface="Impact" pitchFamily="34" charset="-122"/>
                <a:cs typeface="Impact" pitchFamily="34" charset="-120"/>
              </a:rPr>
              <a:t>MASS</a:t>
            </a:r>
            <a:endParaRPr lang="en-US" sz="3200" dirty="0"/>
          </a:p>
        </p:txBody>
      </p:sp>
      <p:sp>
        <p:nvSpPr>
          <p:cNvPr id="7" name="Text 12.6"/>
          <p:cNvSpPr txBox="1"/>
          <p:nvPr/>
        </p:nvSpPr>
        <p:spPr>
          <a:xfrm>
            <a:off x="8000800" y="4292493"/>
            <a:ext cx="1396965"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ONE VALUE</a:t>
            </a:r>
            <a:endParaRPr lang="en-US" sz="700" dirty="0"/>
          </a:p>
        </p:txBody>
      </p:sp>
      <p:sp>
        <p:nvSpPr>
          <p:cNvPr id="8" name="Text 12.7"/>
          <p:cNvSpPr txBox="1"/>
          <p:nvPr/>
        </p:nvSpPr>
        <p:spPr>
          <a:xfrm>
            <a:off x="7886503" y="1841454"/>
            <a:ext cx="1049460"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01 SPEND</a:t>
            </a:r>
            <a:endParaRPr lang="en-US" sz="2000" dirty="0"/>
          </a:p>
        </p:txBody>
      </p:sp>
      <p:sp>
        <p:nvSpPr>
          <p:cNvPr id="9" name="Text 12.8"/>
          <p:cNvSpPr txBox="1"/>
          <p:nvPr/>
        </p:nvSpPr>
        <p:spPr>
          <a:xfrm>
            <a:off x="7886503" y="2146246"/>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Shooting spits out part of your own body.</a:t>
            </a:r>
            <a:endParaRPr lang="en-US" sz="900" dirty="0"/>
          </a:p>
        </p:txBody>
      </p:sp>
      <p:sp>
        <p:nvSpPr>
          <p:cNvPr id="10" name="Text 12.9"/>
          <p:cNvSpPr txBox="1"/>
          <p:nvPr/>
        </p:nvSpPr>
        <p:spPr>
          <a:xfrm>
            <a:off x="9791455" y="3746406"/>
            <a:ext cx="1055139"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02 DRAIN</a:t>
            </a:r>
            <a:endParaRPr lang="en-US" sz="2000" dirty="0"/>
          </a:p>
        </p:txBody>
      </p:sp>
      <p:sp>
        <p:nvSpPr>
          <p:cNvPr id="11" name="Text 12.10"/>
          <p:cNvSpPr txBox="1"/>
          <p:nvPr/>
        </p:nvSpPr>
        <p:spPr>
          <a:xfrm>
            <a:off x="9791455" y="4051199"/>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Every hit you take removes body mass.</a:t>
            </a:r>
            <a:endParaRPr lang="en-US" sz="900" dirty="0"/>
          </a:p>
        </p:txBody>
      </p:sp>
      <p:sp>
        <p:nvSpPr>
          <p:cNvPr id="12" name="Text 12.11"/>
          <p:cNvSpPr txBox="1"/>
          <p:nvPr/>
        </p:nvSpPr>
        <p:spPr>
          <a:xfrm>
            <a:off x="7886503" y="5651359"/>
            <a:ext cx="1502109"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EEF5FF"/>
                </a:solidFill>
                <a:latin typeface="Impact" pitchFamily="34" charset="0"/>
                <a:ea typeface="Impact" pitchFamily="34" charset="-122"/>
                <a:cs typeface="Impact" pitchFamily="34" charset="-120"/>
              </a:rPr>
              <a:t>03 ONE VALUE</a:t>
            </a:r>
            <a:endParaRPr lang="en-US" sz="2000" dirty="0"/>
          </a:p>
        </p:txBody>
      </p:sp>
      <p:sp>
        <p:nvSpPr>
          <p:cNvPr id="13" name="Text 12.12"/>
          <p:cNvSpPr txBox="1"/>
          <p:nvPr/>
        </p:nvSpPr>
        <p:spPr>
          <a:xfrm>
            <a:off x="7886503" y="5956151"/>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That mass is your size, ammunition and health.</a:t>
            </a:r>
            <a:endParaRPr lang="en-US" sz="900" dirty="0"/>
          </a:p>
        </p:txBody>
      </p:sp>
      <p:sp>
        <p:nvSpPr>
          <p:cNvPr id="14" name="Text 12.13"/>
          <p:cNvSpPr txBox="1"/>
          <p:nvPr/>
        </p:nvSpPr>
        <p:spPr>
          <a:xfrm>
            <a:off x="5981550" y="3746406"/>
            <a:ext cx="1239396" cy="233674"/>
          </a:xfrm>
          <a:prstGeom prst="rect">
            <a:avLst/>
          </a:prstGeom>
          <a:noFill/>
          <a:ln/>
        </p:spPr>
        <p:txBody>
          <a:bodyPr wrap="square" lIns="0" tIns="0" rIns="0" bIns="0" rtlCol="0" anchor="t"/>
          <a:lstStyle/>
          <a:p>
            <a:pPr algn="l" indent="0" marL="0">
              <a:lnSpc>
                <a:spcPts val="1840"/>
              </a:lnSpc>
              <a:buNone/>
            </a:pPr>
            <a:r>
              <a:rPr lang="en-US" sz="2000" spc="10" kern="0" dirty="0">
                <a:solidFill>
                  <a:srgbClr val="FF6A1A"/>
                </a:solidFill>
                <a:latin typeface="Impact" pitchFamily="34" charset="0"/>
                <a:ea typeface="Impact" pitchFamily="34" charset="-122"/>
                <a:cs typeface="Impact" pitchFamily="34" charset="-120"/>
              </a:rPr>
              <a:t>04 LAUNCH</a:t>
            </a:r>
            <a:endParaRPr lang="en-US" sz="2000" dirty="0"/>
          </a:p>
        </p:txBody>
      </p:sp>
      <p:sp>
        <p:nvSpPr>
          <p:cNvPr id="15" name="Text 12.14"/>
          <p:cNvSpPr txBox="1"/>
          <p:nvPr/>
        </p:nvSpPr>
        <p:spPr>
          <a:xfrm>
            <a:off x="5981550" y="4051199"/>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D3DEF2"/>
                </a:solidFill>
                <a:latin typeface="Arial" pitchFamily="34" charset="0"/>
                <a:ea typeface="Arial" pitchFamily="34" charset="-122"/>
                <a:cs typeface="Arial" pitchFamily="34" charset="-120"/>
              </a:rPr>
              <a:t>Less mass: the same incoming hit sends you further.</a:t>
            </a:r>
            <a:endParaRPr lang="en-US" sz="900" dirty="0"/>
          </a:p>
        </p:txBody>
      </p:sp>
      <p:sp>
        <p:nvSpPr>
          <p:cNvPr id="16" name="Text 12.15"/>
          <p:cNvSpPr txBox="1"/>
          <p:nvPr/>
        </p:nvSpPr>
        <p:spPr>
          <a:xfrm>
            <a:off x="5841854" y="4597285"/>
            <a:ext cx="1841454" cy="2285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06101F"/>
                </a:solidFill>
                <a:latin typeface="Courier New" pitchFamily="34" charset="0"/>
                <a:ea typeface="Courier New" pitchFamily="34" charset="-122"/>
                <a:cs typeface="Courier New" pitchFamily="34" charset="-120"/>
              </a:rPr>
              <a:t>NOT FOUND ELSEWHERE</a:t>
            </a:r>
            <a:endParaRPr lang="en-US" sz="700" dirty="0"/>
          </a:p>
        </p:txBody>
      </p:sp>
      <p:sp>
        <p:nvSpPr>
          <p:cNvPr id="17" name="Text 12.16"/>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4</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8" name="Text 12.17"/>
          <p:cNvSpPr txBox="1"/>
          <p:nvPr/>
        </p:nvSpPr>
        <p:spPr>
          <a:xfrm>
            <a:off x="609585" y="444489"/>
            <a:ext cx="92515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INNOVATION</a:t>
            </a:r>
            <a:endParaRPr lang="en-US" sz="800" dirty="0"/>
          </a:p>
        </p:txBody>
      </p:sp>
      <p:sp>
        <p:nvSpPr>
          <p:cNvPr id="19" name="Text 12.18"/>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12</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3.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Closest prior art for each link, and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what we did not find</a:t>
            </a:r>
            <a:endParaRPr lang="en-US" sz="2800" dirty="0"/>
          </a:p>
        </p:txBody>
      </p:sp>
      <p:sp>
        <p:nvSpPr>
          <p:cNvPr id="3" name="Text 13.2"/>
          <p:cNvSpPr txBox="1"/>
          <p:nvPr/>
        </p:nvSpPr>
        <p:spPr>
          <a:xfrm>
            <a:off x="863578" y="1790655"/>
            <a:ext cx="35755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LINK</a:t>
            </a:r>
            <a:endParaRPr lang="en-US" sz="700" dirty="0"/>
          </a:p>
        </p:txBody>
      </p:sp>
      <p:sp>
        <p:nvSpPr>
          <p:cNvPr id="4" name="Text 13.3"/>
          <p:cNvSpPr txBox="1"/>
          <p:nvPr/>
        </p:nvSpPr>
        <p:spPr>
          <a:xfrm>
            <a:off x="3936902" y="1790655"/>
            <a:ext cx="131322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CLOSEST PRIOR ART</a:t>
            </a:r>
            <a:endParaRPr lang="en-US" sz="700" dirty="0"/>
          </a:p>
        </p:txBody>
      </p:sp>
      <p:sp>
        <p:nvSpPr>
          <p:cNvPr id="5" name="Text 13.4"/>
          <p:cNvSpPr txBox="1"/>
          <p:nvPr/>
        </p:nvSpPr>
        <p:spPr>
          <a:xfrm>
            <a:off x="9905752" y="1790655"/>
            <a:ext cx="50457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STATUS</a:t>
            </a:r>
            <a:endParaRPr lang="en-US" sz="700" dirty="0"/>
          </a:p>
        </p:txBody>
      </p:sp>
      <p:sp>
        <p:nvSpPr>
          <p:cNvPr id="6" name="Text 13.5"/>
          <p:cNvSpPr txBox="1"/>
          <p:nvPr/>
        </p:nvSpPr>
        <p:spPr>
          <a:xfrm>
            <a:off x="863578" y="2197045"/>
            <a:ext cx="338095" cy="257042"/>
          </a:xfrm>
          <a:prstGeom prst="rect">
            <a:avLst/>
          </a:prstGeom>
          <a:noFill/>
          <a:ln/>
        </p:spPr>
        <p:txBody>
          <a:bodyPr wrap="square" lIns="0" tIns="0" rIns="0" bIns="0" rtlCol="0" anchor="t"/>
          <a:lstStyle/>
          <a:p>
            <a:pPr algn="l" indent="0" marL="0">
              <a:lnSpc>
                <a:spcPts val="2020"/>
              </a:lnSpc>
              <a:buNone/>
            </a:pPr>
            <a:r>
              <a:rPr lang="en-US" sz="2200" spc="11" kern="0" dirty="0">
                <a:solidFill>
                  <a:srgbClr val="8C9FC3"/>
                </a:solidFill>
                <a:latin typeface="Impact" pitchFamily="34" charset="0"/>
                <a:ea typeface="Impact" pitchFamily="34" charset="-122"/>
                <a:cs typeface="Impact" pitchFamily="34" charset="-120"/>
              </a:rPr>
              <a:t>01</a:t>
            </a:r>
            <a:endParaRPr lang="en-US" sz="2200" dirty="0"/>
          </a:p>
        </p:txBody>
      </p:sp>
      <p:sp>
        <p:nvSpPr>
          <p:cNvPr id="7" name="Text 13.6"/>
          <p:cNvSpPr txBox="1"/>
          <p:nvPr/>
        </p:nvSpPr>
        <p:spPr>
          <a:xfrm>
            <a:off x="1460463" y="2235144"/>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EEF5FF"/>
                </a:solidFill>
                <a:latin typeface="Arial" pitchFamily="34" charset="0"/>
                <a:ea typeface="Arial" pitchFamily="34" charset="-122"/>
                <a:cs typeface="Arial" pitchFamily="34" charset="-120"/>
              </a:rPr>
              <a:t>Spend your body</a:t>
            </a:r>
            <a:endParaRPr lang="en-US" sz="1150" dirty="0"/>
          </a:p>
        </p:txBody>
      </p:sp>
      <p:sp>
        <p:nvSpPr>
          <p:cNvPr id="8" name="Text 13.7"/>
          <p:cNvSpPr txBox="1"/>
          <p:nvPr/>
        </p:nvSpPr>
        <p:spPr>
          <a:xfrm>
            <a:off x="3936902" y="2158946"/>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D3DEF2"/>
                </a:solidFill>
                <a:latin typeface="Arial" pitchFamily="34" charset="0"/>
                <a:ea typeface="Arial" pitchFamily="34" charset="-122"/>
                <a:cs typeface="Arial" pitchFamily="34" charset="-120"/>
              </a:rPr>
              <a:t>Osmos ejects its own matter to move, not to attack. Agar.io ejects mass.</a:t>
            </a:r>
            <a:endParaRPr lang="en-US" sz="1000" dirty="0"/>
          </a:p>
        </p:txBody>
      </p:sp>
      <p:sp>
        <p:nvSpPr>
          <p:cNvPr id="9" name="Text 13.8"/>
          <p:cNvSpPr txBox="1"/>
          <p:nvPr/>
        </p:nvSpPr>
        <p:spPr>
          <a:xfrm>
            <a:off x="9905752" y="2222444"/>
            <a:ext cx="1422364" cy="2412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8C9FC3"/>
                </a:solidFill>
                <a:latin typeface="Courier New" pitchFamily="34" charset="0"/>
                <a:ea typeface="Courier New" pitchFamily="34" charset="-122"/>
                <a:cs typeface="Courier New" pitchFamily="34" charset="-120"/>
              </a:rPr>
              <a:t>DIFFERENT USE</a:t>
            </a:r>
            <a:endParaRPr lang="en-US" sz="700" dirty="0"/>
          </a:p>
        </p:txBody>
      </p:sp>
      <p:sp>
        <p:nvSpPr>
          <p:cNvPr id="10" name="Text 13.9"/>
          <p:cNvSpPr txBox="1"/>
          <p:nvPr/>
        </p:nvSpPr>
        <p:spPr>
          <a:xfrm>
            <a:off x="863578" y="2971726"/>
            <a:ext cx="373958" cy="257042"/>
          </a:xfrm>
          <a:prstGeom prst="rect">
            <a:avLst/>
          </a:prstGeom>
          <a:noFill/>
          <a:ln/>
        </p:spPr>
        <p:txBody>
          <a:bodyPr wrap="square" lIns="0" tIns="0" rIns="0" bIns="0" rtlCol="0" anchor="t"/>
          <a:lstStyle/>
          <a:p>
            <a:pPr algn="l" indent="0" marL="0">
              <a:lnSpc>
                <a:spcPts val="2020"/>
              </a:lnSpc>
              <a:buNone/>
            </a:pPr>
            <a:r>
              <a:rPr lang="en-US" sz="2200" spc="11" kern="0" dirty="0">
                <a:solidFill>
                  <a:srgbClr val="8C9FC3"/>
                </a:solidFill>
                <a:latin typeface="Impact" pitchFamily="34" charset="0"/>
                <a:ea typeface="Impact" pitchFamily="34" charset="-122"/>
                <a:cs typeface="Impact" pitchFamily="34" charset="-120"/>
              </a:rPr>
              <a:t>02</a:t>
            </a:r>
            <a:endParaRPr lang="en-US" sz="2200" dirty="0"/>
          </a:p>
        </p:txBody>
      </p:sp>
      <p:sp>
        <p:nvSpPr>
          <p:cNvPr id="11" name="Text 13.10"/>
          <p:cNvSpPr txBox="1"/>
          <p:nvPr/>
        </p:nvSpPr>
        <p:spPr>
          <a:xfrm>
            <a:off x="1460463" y="3009825"/>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EEF5FF"/>
                </a:solidFill>
                <a:latin typeface="Arial" pitchFamily="34" charset="0"/>
                <a:ea typeface="Arial" pitchFamily="34" charset="-122"/>
                <a:cs typeface="Arial" pitchFamily="34" charset="-120"/>
              </a:rPr>
              <a:t>Hits shrink you</a:t>
            </a:r>
            <a:endParaRPr lang="en-US" sz="1150" dirty="0"/>
          </a:p>
        </p:txBody>
      </p:sp>
      <p:sp>
        <p:nvSpPr>
          <p:cNvPr id="12" name="Text 13.11"/>
          <p:cNvSpPr txBox="1"/>
          <p:nvPr/>
        </p:nvSpPr>
        <p:spPr>
          <a:xfrm>
            <a:off x="3936902" y="2933627"/>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D3DEF2"/>
                </a:solidFill>
                <a:latin typeface="Arial" pitchFamily="34" charset="0"/>
                <a:ea typeface="Arial" pitchFamily="34" charset="-122"/>
                <a:cs typeface="Arial" pitchFamily="34" charset="-120"/>
              </a:rPr>
              <a:t>Squarena (2D): lower health, smaller body. Morphies Law: hits move mass between robots.</a:t>
            </a:r>
            <a:endParaRPr lang="en-US" sz="1000" dirty="0"/>
          </a:p>
        </p:txBody>
      </p:sp>
      <p:sp>
        <p:nvSpPr>
          <p:cNvPr id="13" name="Text 13.12"/>
          <p:cNvSpPr txBox="1"/>
          <p:nvPr/>
        </p:nvSpPr>
        <p:spPr>
          <a:xfrm>
            <a:off x="9905752" y="2997125"/>
            <a:ext cx="1422364" cy="2412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2EC0FF"/>
                </a:solidFill>
                <a:latin typeface="Courier New" pitchFamily="34" charset="0"/>
                <a:ea typeface="Courier New" pitchFamily="34" charset="-122"/>
                <a:cs typeface="Courier New" pitchFamily="34" charset="-120"/>
              </a:rPr>
              <a:t>PRECEDENT</a:t>
            </a:r>
            <a:endParaRPr lang="en-US" sz="700" dirty="0"/>
          </a:p>
        </p:txBody>
      </p:sp>
      <p:sp>
        <p:nvSpPr>
          <p:cNvPr id="14" name="Text 13.13"/>
          <p:cNvSpPr txBox="1"/>
          <p:nvPr/>
        </p:nvSpPr>
        <p:spPr>
          <a:xfrm>
            <a:off x="863578" y="3746406"/>
            <a:ext cx="382372" cy="257042"/>
          </a:xfrm>
          <a:prstGeom prst="rect">
            <a:avLst/>
          </a:prstGeom>
          <a:noFill/>
          <a:ln/>
        </p:spPr>
        <p:txBody>
          <a:bodyPr wrap="square" lIns="0" tIns="0" rIns="0" bIns="0" rtlCol="0" anchor="t"/>
          <a:lstStyle/>
          <a:p>
            <a:pPr algn="l" indent="0" marL="0">
              <a:lnSpc>
                <a:spcPts val="2020"/>
              </a:lnSpc>
              <a:buNone/>
            </a:pPr>
            <a:r>
              <a:rPr lang="en-US" sz="2200" spc="11" kern="0" dirty="0">
                <a:solidFill>
                  <a:srgbClr val="8C9FC3"/>
                </a:solidFill>
                <a:latin typeface="Impact" pitchFamily="34" charset="0"/>
                <a:ea typeface="Impact" pitchFamily="34" charset="-122"/>
                <a:cs typeface="Impact" pitchFamily="34" charset="-120"/>
              </a:rPr>
              <a:t>03</a:t>
            </a:r>
            <a:endParaRPr lang="en-US" sz="2200" dirty="0"/>
          </a:p>
        </p:txBody>
      </p:sp>
      <p:sp>
        <p:nvSpPr>
          <p:cNvPr id="15" name="Text 13.14"/>
          <p:cNvSpPr txBox="1"/>
          <p:nvPr/>
        </p:nvSpPr>
        <p:spPr>
          <a:xfrm>
            <a:off x="1460463" y="3784505"/>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EEF5FF"/>
                </a:solidFill>
                <a:latin typeface="Arial" pitchFamily="34" charset="0"/>
                <a:ea typeface="Arial" pitchFamily="34" charset="-122"/>
                <a:cs typeface="Arial" pitchFamily="34" charset="-120"/>
              </a:rPr>
              <a:t>Attack costs health</a:t>
            </a:r>
            <a:endParaRPr lang="en-US" sz="1150" dirty="0"/>
          </a:p>
        </p:txBody>
      </p:sp>
      <p:sp>
        <p:nvSpPr>
          <p:cNvPr id="16" name="Text 13.15"/>
          <p:cNvSpPr txBox="1"/>
          <p:nvPr/>
        </p:nvSpPr>
        <p:spPr>
          <a:xfrm>
            <a:off x="3936902" y="3708307"/>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D3DEF2"/>
                </a:solidFill>
                <a:latin typeface="Arial" pitchFamily="34" charset="0"/>
                <a:ea typeface="Arial" pitchFamily="34" charset="-122"/>
                <a:cs typeface="Arial" pitchFamily="34" charset="-120"/>
              </a:rPr>
              <a:t>Crisol: Theater of Idols: your blood is your ammunition. Not physical mass.</a:t>
            </a:r>
            <a:endParaRPr lang="en-US" sz="1000" dirty="0"/>
          </a:p>
        </p:txBody>
      </p:sp>
      <p:sp>
        <p:nvSpPr>
          <p:cNvPr id="17" name="Text 13.16"/>
          <p:cNvSpPr txBox="1"/>
          <p:nvPr/>
        </p:nvSpPr>
        <p:spPr>
          <a:xfrm>
            <a:off x="9905752" y="3771806"/>
            <a:ext cx="1422364" cy="2412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2EC0FF"/>
                </a:solidFill>
                <a:latin typeface="Courier New" pitchFamily="34" charset="0"/>
                <a:ea typeface="Courier New" pitchFamily="34" charset="-122"/>
                <a:cs typeface="Courier New" pitchFamily="34" charset="-120"/>
              </a:rPr>
              <a:t>PRECEDENT</a:t>
            </a:r>
            <a:endParaRPr lang="en-US" sz="700" dirty="0"/>
          </a:p>
        </p:txBody>
      </p:sp>
      <p:sp>
        <p:nvSpPr>
          <p:cNvPr id="18" name="Text 13.17"/>
          <p:cNvSpPr txBox="1"/>
          <p:nvPr/>
        </p:nvSpPr>
        <p:spPr>
          <a:xfrm>
            <a:off x="863578" y="4521087"/>
            <a:ext cx="373222" cy="257042"/>
          </a:xfrm>
          <a:prstGeom prst="rect">
            <a:avLst/>
          </a:prstGeom>
          <a:noFill/>
          <a:ln/>
        </p:spPr>
        <p:txBody>
          <a:bodyPr wrap="square" lIns="0" tIns="0" rIns="0" bIns="0" rtlCol="0" anchor="t"/>
          <a:lstStyle/>
          <a:p>
            <a:pPr algn="l" indent="0" marL="0">
              <a:lnSpc>
                <a:spcPts val="2020"/>
              </a:lnSpc>
              <a:buNone/>
            </a:pPr>
            <a:r>
              <a:rPr lang="en-US" sz="2200" spc="11" kern="0" dirty="0">
                <a:solidFill>
                  <a:srgbClr val="FF6A1A"/>
                </a:solidFill>
                <a:latin typeface="Impact" pitchFamily="34" charset="0"/>
                <a:ea typeface="Impact" pitchFamily="34" charset="-122"/>
                <a:cs typeface="Impact" pitchFamily="34" charset="-120"/>
              </a:rPr>
              <a:t>04</a:t>
            </a:r>
            <a:endParaRPr lang="en-US" sz="2200" dirty="0"/>
          </a:p>
        </p:txBody>
      </p:sp>
      <p:sp>
        <p:nvSpPr>
          <p:cNvPr id="19" name="Text 13.18"/>
          <p:cNvSpPr txBox="1"/>
          <p:nvPr/>
        </p:nvSpPr>
        <p:spPr>
          <a:xfrm>
            <a:off x="1460463" y="4559186"/>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EEF5FF"/>
                </a:solidFill>
                <a:latin typeface="Arial" pitchFamily="34" charset="0"/>
                <a:ea typeface="Arial" pitchFamily="34" charset="-122"/>
                <a:cs typeface="Arial" pitchFamily="34" charset="-120"/>
              </a:rPr>
              <a:t>Lighter, launched further</a:t>
            </a:r>
            <a:endParaRPr lang="en-US" sz="1150" dirty="0"/>
          </a:p>
        </p:txBody>
      </p:sp>
      <p:sp>
        <p:nvSpPr>
          <p:cNvPr id="20" name="Text 13.19"/>
          <p:cNvSpPr txBox="1"/>
          <p:nvPr/>
        </p:nvSpPr>
        <p:spPr>
          <a:xfrm>
            <a:off x="3936902" y="4482988"/>
            <a:ext cx="5625959" cy="355591"/>
          </a:xfrm>
          <a:prstGeom prst="rect">
            <a:avLst/>
          </a:prstGeom>
          <a:noFill/>
          <a:ln/>
        </p:spPr>
        <p:txBody>
          <a:bodyPr wrap="square" lIns="0" tIns="0" rIns="0" bIns="0" rtlCol="0" anchor="t"/>
          <a:lstStyle/>
          <a:p>
            <a:pPr algn="l" indent="0" marL="0">
              <a:lnSpc>
                <a:spcPts val="1400"/>
              </a:lnSpc>
              <a:buNone/>
            </a:pPr>
            <a:r>
              <a:rPr lang="en-US" sz="1000" dirty="0">
                <a:solidFill>
                  <a:srgbClr val="D3DEF2"/>
                </a:solidFill>
                <a:latin typeface="Arial" pitchFamily="34" charset="0"/>
                <a:ea typeface="Arial" pitchFamily="34" charset="-122"/>
                <a:cs typeface="Arial" pitchFamily="34" charset="-120"/>
              </a:rPr>
              <a:t>Smash Bros. raises knockback with a damage % counter, not mass. In Squarena, smaller bodies feel more of their own recoil.</a:t>
            </a:r>
            <a:endParaRPr lang="en-US" sz="1000" dirty="0"/>
          </a:p>
        </p:txBody>
      </p:sp>
      <p:sp>
        <p:nvSpPr>
          <p:cNvPr id="21" name="Text 13.20"/>
          <p:cNvSpPr txBox="1"/>
          <p:nvPr/>
        </p:nvSpPr>
        <p:spPr>
          <a:xfrm>
            <a:off x="9905752" y="4546486"/>
            <a:ext cx="1422364" cy="2412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06101F"/>
                </a:solidFill>
                <a:latin typeface="Courier New" pitchFamily="34" charset="0"/>
                <a:ea typeface="Courier New" pitchFamily="34" charset="-122"/>
                <a:cs typeface="Courier New" pitchFamily="34" charset="-120"/>
              </a:rPr>
              <a:t>NOT FOUND</a:t>
            </a:r>
            <a:endParaRPr lang="en-US" sz="700" dirty="0"/>
          </a:p>
        </p:txBody>
      </p:sp>
      <p:sp>
        <p:nvSpPr>
          <p:cNvPr id="22" name="Text 13.21"/>
          <p:cNvSpPr txBox="1"/>
          <p:nvPr/>
        </p:nvSpPr>
        <p:spPr>
          <a:xfrm>
            <a:off x="863578" y="5295768"/>
            <a:ext cx="797369" cy="257042"/>
          </a:xfrm>
          <a:prstGeom prst="rect">
            <a:avLst/>
          </a:prstGeom>
          <a:noFill/>
          <a:ln/>
        </p:spPr>
        <p:txBody>
          <a:bodyPr wrap="square" lIns="0" tIns="0" rIns="0" bIns="0" rtlCol="0" anchor="t"/>
          <a:lstStyle/>
          <a:p>
            <a:pPr algn="l" indent="0" marL="0">
              <a:lnSpc>
                <a:spcPts val="2020"/>
              </a:lnSpc>
              <a:buNone/>
            </a:pPr>
            <a:r>
              <a:rPr lang="en-US" sz="2200" spc="11" kern="0" dirty="0">
                <a:solidFill>
                  <a:srgbClr val="FF6A1A"/>
                </a:solidFill>
                <a:latin typeface="Impact" pitchFamily="34" charset="0"/>
                <a:ea typeface="Impact" pitchFamily="34" charset="-122"/>
                <a:cs typeface="Impact" pitchFamily="34" charset="-120"/>
              </a:rPr>
              <a:t>01–04</a:t>
            </a:r>
            <a:endParaRPr lang="en-US" sz="2200" dirty="0"/>
          </a:p>
        </p:txBody>
      </p:sp>
      <p:sp>
        <p:nvSpPr>
          <p:cNvPr id="23" name="Text 13.22"/>
          <p:cNvSpPr txBox="1"/>
          <p:nvPr/>
        </p:nvSpPr>
        <p:spPr>
          <a:xfrm>
            <a:off x="2006550" y="5244969"/>
            <a:ext cx="1816055" cy="365116"/>
          </a:xfrm>
          <a:prstGeom prst="rect">
            <a:avLst/>
          </a:prstGeom>
          <a:noFill/>
          <a:ln/>
        </p:spPr>
        <p:txBody>
          <a:bodyPr wrap="square" lIns="0" tIns="0" rIns="0" bIns="0" rtlCol="0" anchor="t"/>
          <a:lstStyle/>
          <a:p>
            <a:pPr algn="l" indent="0" marL="0">
              <a:lnSpc>
                <a:spcPts val="1440"/>
              </a:lnSpc>
              <a:buNone/>
            </a:pPr>
            <a:r>
              <a:rPr lang="en-US" sz="1150" b="1" dirty="0">
                <a:solidFill>
                  <a:srgbClr val="EEF5FF"/>
                </a:solidFill>
                <a:latin typeface="Arial" pitchFamily="34" charset="0"/>
                <a:ea typeface="Arial" pitchFamily="34" charset="-122"/>
                <a:cs typeface="Arial" pitchFamily="34" charset="-120"/>
              </a:rPr>
              <a:t>All four in one 3D party game</a:t>
            </a:r>
            <a:endParaRPr lang="en-US" sz="1150" dirty="0"/>
          </a:p>
        </p:txBody>
      </p:sp>
      <p:sp>
        <p:nvSpPr>
          <p:cNvPr id="24" name="Text 13.23"/>
          <p:cNvSpPr txBox="1"/>
          <p:nvPr/>
        </p:nvSpPr>
        <p:spPr>
          <a:xfrm>
            <a:off x="3936902" y="5257669"/>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56698F"/>
                </a:solidFill>
                <a:latin typeface="Arial" pitchFamily="34" charset="0"/>
                <a:ea typeface="Arial" pitchFamily="34" charset="-122"/>
                <a:cs typeface="Arial" pitchFamily="34" charset="-120"/>
              </a:rPr>
              <a:t>No shipped game found.</a:t>
            </a:r>
            <a:endParaRPr lang="en-US" sz="1000" dirty="0"/>
          </a:p>
        </p:txBody>
      </p:sp>
      <p:sp>
        <p:nvSpPr>
          <p:cNvPr id="25" name="Text 13.24"/>
          <p:cNvSpPr txBox="1"/>
          <p:nvPr/>
        </p:nvSpPr>
        <p:spPr>
          <a:xfrm>
            <a:off x="9905752" y="5321167"/>
            <a:ext cx="1422364" cy="241294"/>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06101F"/>
                </a:solidFill>
                <a:latin typeface="Courier New" pitchFamily="34" charset="0"/>
                <a:ea typeface="Courier New" pitchFamily="34" charset="-122"/>
                <a:cs typeface="Courier New" pitchFamily="34" charset="-120"/>
              </a:rPr>
              <a:t>NOT FOUND</a:t>
            </a:r>
            <a:endParaRPr lang="en-US" sz="700" dirty="0"/>
          </a:p>
        </p:txBody>
      </p:sp>
      <p:sp>
        <p:nvSpPr>
          <p:cNvPr id="26" name="Text 13.25"/>
          <p:cNvSpPr txBox="1"/>
          <p:nvPr/>
        </p:nvSpPr>
        <p:spPr>
          <a:xfrm>
            <a:off x="609585" y="6475251"/>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Prior-art search of shipped games, Oct 2026 [9–12]. “Not found” means not found after searching.</a:t>
            </a:r>
            <a:endParaRPr lang="en-US" sz="750" dirty="0"/>
          </a:p>
        </p:txBody>
      </p:sp>
      <p:sp>
        <p:nvSpPr>
          <p:cNvPr id="27" name="Text 13.26"/>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4</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8" name="Text 13.27"/>
          <p:cNvSpPr txBox="1"/>
          <p:nvPr/>
        </p:nvSpPr>
        <p:spPr>
          <a:xfrm>
            <a:off x="609585" y="444489"/>
            <a:ext cx="92515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INNOVATION</a:t>
            </a:r>
            <a:endParaRPr lang="en-US" sz="800" dirty="0"/>
          </a:p>
        </p:txBody>
      </p:sp>
      <p:sp>
        <p:nvSpPr>
          <p:cNvPr id="29" name="Text 13.28"/>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13</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4.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Same rules, different builds: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weight is also ammunition</a:t>
            </a:r>
            <a:endParaRPr lang="en-US" sz="2800" dirty="0"/>
          </a:p>
        </p:txBody>
      </p:sp>
      <p:sp>
        <p:nvSpPr>
          <p:cNvPr id="3" name="Text 14.2"/>
          <p:cNvSpPr txBox="1"/>
          <p:nvPr/>
        </p:nvSpPr>
        <p:spPr>
          <a:xfrm>
            <a:off x="609585" y="5181470"/>
            <a:ext cx="5752956"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FIG 4 · Heavy, balanced and light builds of the same character. Concept render, AI-generated.</a:t>
            </a:r>
            <a:endParaRPr lang="en-US" sz="750" dirty="0"/>
          </a:p>
        </p:txBody>
      </p:sp>
      <p:sp>
        <p:nvSpPr>
          <p:cNvPr id="4" name="Text 14.3"/>
          <p:cNvSpPr txBox="1"/>
          <p:nvPr/>
        </p:nvSpPr>
        <p:spPr>
          <a:xfrm>
            <a:off x="609585" y="5587860"/>
            <a:ext cx="5752956" cy="378609"/>
          </a:xfrm>
          <a:prstGeom prst="rect">
            <a:avLst/>
          </a:prstGeom>
          <a:noFill/>
          <a:ln/>
        </p:spPr>
        <p:txBody>
          <a:bodyPr wrap="square" lIns="0" tIns="0" rIns="0" bIns="0" rtlCol="0" anchor="t"/>
          <a:lstStyle/>
          <a:p>
            <a:pPr algn="l" indent="0" marL="0">
              <a:lnSpc>
                <a:spcPts val="1490"/>
              </a:lnSpc>
              <a:buNone/>
            </a:pPr>
            <a:r>
              <a:rPr lang="en-US" sz="1050" dirty="0">
                <a:solidFill>
                  <a:srgbClr val="D3DEF2"/>
                </a:solidFill>
                <a:latin typeface="Arial" pitchFamily="34" charset="0"/>
                <a:ea typeface="Arial" pitchFamily="34" charset="-122"/>
                <a:cs typeface="Arial" pitchFamily="34" charset="-120"/>
              </a:rPr>
              <a:t>Weight classes are standard in the genre (e.g. Mario Kart). The twist: here weight is also your ammunition, so a build changes how you play, not only how you look.</a:t>
            </a:r>
            <a:endParaRPr lang="en-US" sz="1050" dirty="0"/>
          </a:p>
        </p:txBody>
      </p:sp>
      <p:sp>
        <p:nvSpPr>
          <p:cNvPr id="5" name="Text 14.4"/>
          <p:cNvSpPr txBox="1"/>
          <p:nvPr/>
        </p:nvSpPr>
        <p:spPr>
          <a:xfrm>
            <a:off x="7010225" y="2006550"/>
            <a:ext cx="872250"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A56BFF"/>
                </a:solidFill>
                <a:latin typeface="Impact" pitchFamily="34" charset="0"/>
                <a:ea typeface="Impact" pitchFamily="34" charset="-122"/>
                <a:cs typeface="Impact" pitchFamily="34" charset="-120"/>
              </a:rPr>
              <a:t>HEAVY</a:t>
            </a:r>
            <a:endParaRPr lang="en-US" sz="2400" dirty="0"/>
          </a:p>
        </p:txBody>
      </p:sp>
      <p:sp>
        <p:nvSpPr>
          <p:cNvPr id="6" name="Text 14.5"/>
          <p:cNvSpPr txBox="1"/>
          <p:nvPr/>
        </p:nvSpPr>
        <p:spPr>
          <a:xfrm>
            <a:off x="7010225" y="2374841"/>
            <a:ext cx="2387540" cy="332970"/>
          </a:xfrm>
          <a:prstGeom prst="rect">
            <a:avLst/>
          </a:prstGeom>
          <a:noFill/>
          <a:ln/>
        </p:spPr>
        <p:txBody>
          <a:bodyPr wrap="square" lIns="0" tIns="0" rIns="0" bIns="0" rtlCol="0" anchor="t"/>
          <a:lstStyle/>
          <a:p>
            <a:pPr algn="l" indent="0" marL="0">
              <a:lnSpc>
                <a:spcPts val="1310"/>
              </a:lnSpc>
              <a:buNone/>
            </a:pPr>
            <a:r>
              <a:rPr lang="en-US" sz="950" dirty="0">
                <a:solidFill>
                  <a:srgbClr val="D3DEF2"/>
                </a:solidFill>
                <a:latin typeface="Arial" pitchFamily="34" charset="0"/>
                <a:ea typeface="Arial" pitchFamily="34" charset="-122"/>
                <a:cs typeface="Arial" pitchFamily="34" charset="-120"/>
              </a:rPr>
              <a:t>More starting mass: more shots to spend, harder to push. Moves slower.</a:t>
            </a:r>
            <a:endParaRPr lang="en-US" sz="950" dirty="0"/>
          </a:p>
        </p:txBody>
      </p:sp>
      <p:sp>
        <p:nvSpPr>
          <p:cNvPr id="7" name="Text 14.6"/>
          <p:cNvSpPr txBox="1"/>
          <p:nvPr/>
        </p:nvSpPr>
        <p:spPr>
          <a:xfrm>
            <a:off x="9626359" y="2120847"/>
            <a:ext cx="87214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MASS · AMMO</a:t>
            </a:r>
            <a:endParaRPr lang="en-US" sz="700" dirty="0"/>
          </a:p>
        </p:txBody>
      </p:sp>
      <p:sp>
        <p:nvSpPr>
          <p:cNvPr id="8" name="Text 14.7"/>
          <p:cNvSpPr txBox="1"/>
          <p:nvPr/>
        </p:nvSpPr>
        <p:spPr>
          <a:xfrm>
            <a:off x="9626359" y="2552636"/>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SPEED</a:t>
            </a:r>
            <a:endParaRPr lang="en-US" sz="700" dirty="0"/>
          </a:p>
        </p:txBody>
      </p:sp>
      <p:sp>
        <p:nvSpPr>
          <p:cNvPr id="9" name="Text 14.8"/>
          <p:cNvSpPr txBox="1"/>
          <p:nvPr/>
        </p:nvSpPr>
        <p:spPr>
          <a:xfrm>
            <a:off x="7010225" y="3314617"/>
            <a:ext cx="1380638"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FF6A1A"/>
                </a:solidFill>
                <a:latin typeface="Impact" pitchFamily="34" charset="0"/>
                <a:ea typeface="Impact" pitchFamily="34" charset="-122"/>
                <a:cs typeface="Impact" pitchFamily="34" charset="-120"/>
              </a:rPr>
              <a:t>BALANCED</a:t>
            </a:r>
            <a:endParaRPr lang="en-US" sz="2400" dirty="0"/>
          </a:p>
        </p:txBody>
      </p:sp>
      <p:sp>
        <p:nvSpPr>
          <p:cNvPr id="10" name="Text 14.9"/>
          <p:cNvSpPr txBox="1"/>
          <p:nvPr/>
        </p:nvSpPr>
        <p:spPr>
          <a:xfrm>
            <a:off x="7010225" y="3682908"/>
            <a:ext cx="2387540" cy="332970"/>
          </a:xfrm>
          <a:prstGeom prst="rect">
            <a:avLst/>
          </a:prstGeom>
          <a:noFill/>
          <a:ln/>
        </p:spPr>
        <p:txBody>
          <a:bodyPr wrap="square" lIns="0" tIns="0" rIns="0" bIns="0" rtlCol="0" anchor="t"/>
          <a:lstStyle/>
          <a:p>
            <a:pPr algn="l" indent="0" marL="0">
              <a:lnSpc>
                <a:spcPts val="1310"/>
              </a:lnSpc>
              <a:buNone/>
            </a:pPr>
            <a:r>
              <a:rPr lang="en-US" sz="950" dirty="0">
                <a:solidFill>
                  <a:srgbClr val="D3DEF2"/>
                </a:solidFill>
                <a:latin typeface="Arial" pitchFamily="34" charset="0"/>
                <a:ea typeface="Arial" pitchFamily="34" charset="-122"/>
                <a:cs typeface="Arial" pitchFamily="34" charset="-120"/>
              </a:rPr>
              <a:t>The reference build every other one is tuned against.</a:t>
            </a:r>
            <a:endParaRPr lang="en-US" sz="950" dirty="0"/>
          </a:p>
        </p:txBody>
      </p:sp>
      <p:sp>
        <p:nvSpPr>
          <p:cNvPr id="11" name="Text 14.10"/>
          <p:cNvSpPr txBox="1"/>
          <p:nvPr/>
        </p:nvSpPr>
        <p:spPr>
          <a:xfrm>
            <a:off x="9626359" y="3428914"/>
            <a:ext cx="87214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MASS · AMMO</a:t>
            </a:r>
            <a:endParaRPr lang="en-US" sz="700" dirty="0"/>
          </a:p>
        </p:txBody>
      </p:sp>
      <p:sp>
        <p:nvSpPr>
          <p:cNvPr id="12" name="Text 14.11"/>
          <p:cNvSpPr txBox="1"/>
          <p:nvPr/>
        </p:nvSpPr>
        <p:spPr>
          <a:xfrm>
            <a:off x="9626359" y="3860703"/>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SPEED</a:t>
            </a:r>
            <a:endParaRPr lang="en-US" sz="700" dirty="0"/>
          </a:p>
        </p:txBody>
      </p:sp>
      <p:sp>
        <p:nvSpPr>
          <p:cNvPr id="13" name="Text 14.12"/>
          <p:cNvSpPr txBox="1"/>
          <p:nvPr/>
        </p:nvSpPr>
        <p:spPr>
          <a:xfrm>
            <a:off x="7010225" y="4622684"/>
            <a:ext cx="794004"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6CD63A"/>
                </a:solidFill>
                <a:latin typeface="Impact" pitchFamily="34" charset="0"/>
                <a:ea typeface="Impact" pitchFamily="34" charset="-122"/>
                <a:cs typeface="Impact" pitchFamily="34" charset="-120"/>
              </a:rPr>
              <a:t>LIGHT</a:t>
            </a:r>
            <a:endParaRPr lang="en-US" sz="2400" dirty="0"/>
          </a:p>
        </p:txBody>
      </p:sp>
      <p:sp>
        <p:nvSpPr>
          <p:cNvPr id="14" name="Text 14.13"/>
          <p:cNvSpPr txBox="1"/>
          <p:nvPr/>
        </p:nvSpPr>
        <p:spPr>
          <a:xfrm>
            <a:off x="7010225" y="4990975"/>
            <a:ext cx="2387540" cy="332970"/>
          </a:xfrm>
          <a:prstGeom prst="rect">
            <a:avLst/>
          </a:prstGeom>
          <a:noFill/>
          <a:ln/>
        </p:spPr>
        <p:txBody>
          <a:bodyPr wrap="square" lIns="0" tIns="0" rIns="0" bIns="0" rtlCol="0" anchor="t"/>
          <a:lstStyle/>
          <a:p>
            <a:pPr algn="l" indent="0" marL="0">
              <a:lnSpc>
                <a:spcPts val="1310"/>
              </a:lnSpc>
              <a:buNone/>
            </a:pPr>
            <a:r>
              <a:rPr lang="en-US" sz="950" dirty="0">
                <a:solidFill>
                  <a:srgbClr val="D3DEF2"/>
                </a:solidFill>
                <a:latin typeface="Arial" pitchFamily="34" charset="0"/>
                <a:ea typeface="Arial" pitchFamily="34" charset="-122"/>
                <a:cs typeface="Arial" pitchFamily="34" charset="-120"/>
              </a:rPr>
              <a:t>Less starting mass: fewer shots, flies further when hit. Moves faster.</a:t>
            </a:r>
            <a:endParaRPr lang="en-US" sz="950" dirty="0"/>
          </a:p>
        </p:txBody>
      </p:sp>
      <p:sp>
        <p:nvSpPr>
          <p:cNvPr id="15" name="Text 14.14"/>
          <p:cNvSpPr txBox="1"/>
          <p:nvPr/>
        </p:nvSpPr>
        <p:spPr>
          <a:xfrm>
            <a:off x="9626359" y="4736982"/>
            <a:ext cx="87214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MASS · AMMO</a:t>
            </a:r>
            <a:endParaRPr lang="en-US" sz="700" dirty="0"/>
          </a:p>
        </p:txBody>
      </p:sp>
      <p:sp>
        <p:nvSpPr>
          <p:cNvPr id="16" name="Text 14.15"/>
          <p:cNvSpPr txBox="1"/>
          <p:nvPr/>
        </p:nvSpPr>
        <p:spPr>
          <a:xfrm>
            <a:off x="9626359" y="5168771"/>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SPEED</a:t>
            </a:r>
            <a:endParaRPr lang="en-US" sz="700" dirty="0"/>
          </a:p>
        </p:txBody>
      </p:sp>
      <p:sp>
        <p:nvSpPr>
          <p:cNvPr id="17" name="Text 14.16"/>
          <p:cNvSpPr txBox="1"/>
          <p:nvPr/>
        </p:nvSpPr>
        <p:spPr>
          <a:xfrm>
            <a:off x="6832429" y="5905352"/>
            <a:ext cx="4787780"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Framework for after the MVP. Pips are relative; stats are not designed yet.</a:t>
            </a:r>
            <a:endParaRPr lang="en-US" sz="750" dirty="0"/>
          </a:p>
        </p:txBody>
      </p:sp>
      <p:sp>
        <p:nvSpPr>
          <p:cNvPr id="18" name="Text 14.17"/>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4</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9" name="Text 14.18"/>
          <p:cNvSpPr txBox="1"/>
          <p:nvPr/>
        </p:nvSpPr>
        <p:spPr>
          <a:xfrm>
            <a:off x="609585" y="444489"/>
            <a:ext cx="925150"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INNOVATION</a:t>
            </a:r>
            <a:endParaRPr lang="en-US" sz="800" dirty="0"/>
          </a:p>
        </p:txBody>
      </p:sp>
      <p:sp>
        <p:nvSpPr>
          <p:cNvPr id="20" name="Text 14.19"/>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14</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5.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Prototype: the mass rule simulated </a:t>
            </a:r>
            <a:pPr algn="l" indent="0" marL="0">
              <a:lnSpc>
                <a:spcPts val="3080"/>
              </a:lnSpc>
              <a:buNone/>
            </a:pPr>
            <a:r>
              <a:rPr lang="en-US" sz="2800" b="1" spc="-50" kern="0" dirty="0">
                <a:solidFill>
                  <a:srgbClr val="6CD63A"/>
                </a:solidFill>
                <a:latin typeface="Arial" pitchFamily="34" charset="0"/>
                <a:ea typeface="Arial" pitchFamily="34" charset="-122"/>
                <a:cs typeface="Arial" pitchFamily="34" charset="-120"/>
              </a:rPr>
              <a:t>before any Unity code</a:t>
            </a:r>
            <a:endParaRPr lang="en-US" sz="2800" dirty="0"/>
          </a:p>
        </p:txBody>
      </p:sp>
      <p:sp>
        <p:nvSpPr>
          <p:cNvPr id="3" name="Text 15.2"/>
          <p:cNvSpPr txBox="1"/>
          <p:nvPr/>
        </p:nvSpPr>
        <p:spPr>
          <a:xfrm>
            <a:off x="609585" y="1777956"/>
            <a:ext cx="609585" cy="215895"/>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6CD63A"/>
                </a:solidFill>
                <a:latin typeface="Courier New" pitchFamily="34" charset="0"/>
                <a:ea typeface="Courier New" pitchFamily="34" charset="-122"/>
                <a:cs typeface="Courier New" pitchFamily="34" charset="-120"/>
              </a:rPr>
              <a:t>T0</a:t>
            </a:r>
            <a:endParaRPr lang="en-US" sz="700" dirty="0"/>
          </a:p>
        </p:txBody>
      </p:sp>
      <p:sp>
        <p:nvSpPr>
          <p:cNvPr id="4" name="Text 15.3"/>
          <p:cNvSpPr txBox="1"/>
          <p:nvPr/>
        </p:nvSpPr>
        <p:spPr>
          <a:xfrm>
            <a:off x="3390815" y="1777956"/>
            <a:ext cx="609585" cy="215895"/>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6CD63A"/>
                </a:solidFill>
                <a:latin typeface="Courier New" pitchFamily="34" charset="0"/>
                <a:ea typeface="Courier New" pitchFamily="34" charset="-122"/>
                <a:cs typeface="Courier New" pitchFamily="34" charset="-120"/>
              </a:rPr>
              <a:t>T1</a:t>
            </a:r>
            <a:endParaRPr lang="en-US" sz="700" dirty="0"/>
          </a:p>
        </p:txBody>
      </p:sp>
      <p:sp>
        <p:nvSpPr>
          <p:cNvPr id="5" name="Text 15.4"/>
          <p:cNvSpPr txBox="1"/>
          <p:nvPr/>
        </p:nvSpPr>
        <p:spPr>
          <a:xfrm>
            <a:off x="6172046" y="1777956"/>
            <a:ext cx="609585" cy="215895"/>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6CD63A"/>
                </a:solidFill>
                <a:latin typeface="Courier New" pitchFamily="34" charset="0"/>
                <a:ea typeface="Courier New" pitchFamily="34" charset="-122"/>
                <a:cs typeface="Courier New" pitchFamily="34" charset="-120"/>
              </a:rPr>
              <a:t>T2</a:t>
            </a:r>
            <a:endParaRPr lang="en-US" sz="700" dirty="0"/>
          </a:p>
        </p:txBody>
      </p:sp>
      <p:sp>
        <p:nvSpPr>
          <p:cNvPr id="6" name="Text 15.5"/>
          <p:cNvSpPr txBox="1"/>
          <p:nvPr/>
        </p:nvSpPr>
        <p:spPr>
          <a:xfrm>
            <a:off x="8953276" y="1777956"/>
            <a:ext cx="609585" cy="215895"/>
          </a:xfrm>
          <a:prstGeom prst="rect">
            <a:avLst/>
          </a:prstGeom>
          <a:noFill/>
          <a:ln/>
        </p:spPr>
        <p:txBody>
          <a:bodyPr wrap="square" lIns="0" tIns="0" rIns="0" bIns="0" rtlCol="0" anchor="ctr"/>
          <a:lstStyle/>
          <a:p>
            <a:pPr algn="ctr" indent="0" marL="0">
              <a:lnSpc>
                <a:spcPts val="700"/>
              </a:lnSpc>
              <a:buNone/>
            </a:pPr>
            <a:r>
              <a:rPr lang="en-US" sz="700" b="1" spc="112" kern="0" dirty="0">
                <a:solidFill>
                  <a:srgbClr val="6CD63A"/>
                </a:solidFill>
                <a:latin typeface="Courier New" pitchFamily="34" charset="0"/>
                <a:ea typeface="Courier New" pitchFamily="34" charset="-122"/>
                <a:cs typeface="Courier New" pitchFamily="34" charset="-120"/>
              </a:rPr>
              <a:t>T3</a:t>
            </a:r>
            <a:endParaRPr lang="en-US" sz="700" dirty="0"/>
          </a:p>
        </p:txBody>
      </p:sp>
      <p:sp>
        <p:nvSpPr>
          <p:cNvPr id="7" name="Text 15.6"/>
          <p:cNvSpPr txBox="1"/>
          <p:nvPr/>
        </p:nvSpPr>
        <p:spPr>
          <a:xfrm>
            <a:off x="609585" y="3695608"/>
            <a:ext cx="2628834"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BEFORE</a:t>
            </a:r>
            <a:endParaRPr lang="en-US" sz="700" dirty="0"/>
          </a:p>
        </p:txBody>
      </p:sp>
      <p:sp>
        <p:nvSpPr>
          <p:cNvPr id="8" name="Text 15.7"/>
          <p:cNvSpPr txBox="1"/>
          <p:nvPr/>
        </p:nvSpPr>
        <p:spPr>
          <a:xfrm>
            <a:off x="3390815" y="3695608"/>
            <a:ext cx="2628834"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6CD63A"/>
                </a:solidFill>
                <a:latin typeface="Courier New" pitchFamily="34" charset="0"/>
                <a:ea typeface="Courier New" pitchFamily="34" charset="-122"/>
                <a:cs typeface="Courier New" pitchFamily="34" charset="-120"/>
              </a:rPr>
              <a:t>SHOT 1</a:t>
            </a:r>
            <a:endParaRPr lang="en-US" sz="700" dirty="0"/>
          </a:p>
        </p:txBody>
      </p:sp>
      <p:sp>
        <p:nvSpPr>
          <p:cNvPr id="9" name="Text 15.8"/>
          <p:cNvSpPr txBox="1"/>
          <p:nvPr/>
        </p:nvSpPr>
        <p:spPr>
          <a:xfrm>
            <a:off x="6172046" y="3695608"/>
            <a:ext cx="2628834"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6CD63A"/>
                </a:solidFill>
                <a:latin typeface="Courier New" pitchFamily="34" charset="0"/>
                <a:ea typeface="Courier New" pitchFamily="34" charset="-122"/>
                <a:cs typeface="Courier New" pitchFamily="34" charset="-120"/>
              </a:rPr>
              <a:t>SHOT 2</a:t>
            </a:r>
            <a:endParaRPr lang="en-US" sz="700" dirty="0"/>
          </a:p>
        </p:txBody>
      </p:sp>
      <p:sp>
        <p:nvSpPr>
          <p:cNvPr id="10" name="Text 15.9"/>
          <p:cNvSpPr txBox="1"/>
          <p:nvPr/>
        </p:nvSpPr>
        <p:spPr>
          <a:xfrm>
            <a:off x="8953276" y="3695608"/>
            <a:ext cx="2628834"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6CD63A"/>
                </a:solidFill>
                <a:latin typeface="Courier New" pitchFamily="34" charset="0"/>
                <a:ea typeface="Courier New" pitchFamily="34" charset="-122"/>
                <a:cs typeface="Courier New" pitchFamily="34" charset="-120"/>
              </a:rPr>
              <a:t>SHOT 3</a:t>
            </a:r>
            <a:endParaRPr lang="en-US" sz="700" dirty="0"/>
          </a:p>
        </p:txBody>
      </p:sp>
      <p:sp>
        <p:nvSpPr>
          <p:cNvPr id="11" name="Text 15.10"/>
          <p:cNvSpPr txBox="1"/>
          <p:nvPr/>
        </p:nvSpPr>
        <p:spPr>
          <a:xfrm>
            <a:off x="838179" y="4419490"/>
            <a:ext cx="851111"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6CD63A"/>
                </a:solidFill>
                <a:latin typeface="Courier New" pitchFamily="34" charset="0"/>
                <a:ea typeface="Courier New" pitchFamily="34" charset="-122"/>
                <a:cs typeface="Courier New" pitchFamily="34" charset="-120"/>
              </a:rPr>
              <a:t>WHAT IT IS</a:t>
            </a:r>
            <a:endParaRPr lang="en-US" sz="750" dirty="0"/>
          </a:p>
        </p:txBody>
      </p:sp>
      <p:sp>
        <p:nvSpPr>
          <p:cNvPr id="12" name="Text 15.11"/>
          <p:cNvSpPr txBox="1"/>
          <p:nvPr/>
        </p:nvSpPr>
        <p:spPr>
          <a:xfrm>
            <a:off x="838179" y="4673483"/>
            <a:ext cx="3136822" cy="607501"/>
          </a:xfrm>
          <a:prstGeom prst="rect">
            <a:avLst/>
          </a:prstGeom>
          <a:noFill/>
          <a:ln/>
        </p:spPr>
        <p:txBody>
          <a:bodyPr wrap="square" lIns="0" tIns="0" rIns="0" bIns="0" rtlCol="0" anchor="t"/>
          <a:lstStyle/>
          <a:p>
            <a:pPr algn="l" indent="0" marL="0">
              <a:lnSpc>
                <a:spcPts val="1590"/>
              </a:lnSpc>
              <a:buNone/>
            </a:pPr>
            <a:r>
              <a:rPr lang="en-US" sz="1100" dirty="0">
                <a:solidFill>
                  <a:srgbClr val="EEF5FF"/>
                </a:solidFill>
                <a:latin typeface="Arial" pitchFamily="34" charset="0"/>
                <a:ea typeface="Arial" pitchFamily="34" charset="-122"/>
                <a:cs typeface="Arial" pitchFamily="34" charset="-120"/>
              </a:rPr>
              <a:t>A deterministic physics simulation of the Mass Knockout rule, written in Three.js and rendered frame by frame.</a:t>
            </a:r>
            <a:endParaRPr lang="en-US" sz="1100" dirty="0"/>
          </a:p>
        </p:txBody>
      </p:sp>
      <p:sp>
        <p:nvSpPr>
          <p:cNvPr id="13" name="Text 15.12"/>
          <p:cNvSpPr txBox="1"/>
          <p:nvPr/>
        </p:nvSpPr>
        <p:spPr>
          <a:xfrm>
            <a:off x="4546486" y="4419490"/>
            <a:ext cx="1244970"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WHAT IT CHECKED</a:t>
            </a:r>
            <a:endParaRPr lang="en-US" sz="750" dirty="0"/>
          </a:p>
        </p:txBody>
      </p:sp>
      <p:sp>
        <p:nvSpPr>
          <p:cNvPr id="14" name="Text 15.13"/>
          <p:cNvSpPr txBox="1"/>
          <p:nvPr/>
        </p:nvSpPr>
        <p:spPr>
          <a:xfrm>
            <a:off x="4546486" y="4673483"/>
            <a:ext cx="3136822" cy="607501"/>
          </a:xfrm>
          <a:prstGeom prst="rect">
            <a:avLst/>
          </a:prstGeom>
          <a:noFill/>
          <a:ln/>
        </p:spPr>
        <p:txBody>
          <a:bodyPr wrap="square" lIns="0" tIns="0" rIns="0" bIns="0" rtlCol="0" anchor="t"/>
          <a:lstStyle/>
          <a:p>
            <a:pPr algn="l" indent="0" marL="0">
              <a:lnSpc>
                <a:spcPts val="1590"/>
              </a:lnSpc>
              <a:buNone/>
            </a:pPr>
            <a:r>
              <a:rPr lang="en-US" sz="1100" dirty="0">
                <a:solidFill>
                  <a:srgbClr val="EEF5FF"/>
                </a:solidFill>
                <a:latin typeface="Arial" pitchFamily="34" charset="0"/>
                <a:ea typeface="Arial" pitchFamily="34" charset="-122"/>
                <a:cs typeface="Arial" pitchFamily="34" charset="-120"/>
              </a:rPr>
              <a:t>Over three shots the target shrinks and is pushed further each time. The escalating knockback reads clearly on screen.</a:t>
            </a:r>
            <a:endParaRPr lang="en-US" sz="1100" dirty="0"/>
          </a:p>
        </p:txBody>
      </p:sp>
      <p:sp>
        <p:nvSpPr>
          <p:cNvPr id="15" name="Text 15.14"/>
          <p:cNvSpPr txBox="1"/>
          <p:nvPr/>
        </p:nvSpPr>
        <p:spPr>
          <a:xfrm>
            <a:off x="8254794" y="4419490"/>
            <a:ext cx="1166198"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2EC0FF"/>
                </a:solidFill>
                <a:latin typeface="Courier New" pitchFamily="34" charset="0"/>
                <a:ea typeface="Courier New" pitchFamily="34" charset="-122"/>
                <a:cs typeface="Courier New" pitchFamily="34" charset="-120"/>
              </a:rPr>
              <a:t>WHAT IT IS NOT</a:t>
            </a:r>
            <a:endParaRPr lang="en-US" sz="750" dirty="0"/>
          </a:p>
        </p:txBody>
      </p:sp>
      <p:sp>
        <p:nvSpPr>
          <p:cNvPr id="16" name="Text 15.15"/>
          <p:cNvSpPr txBox="1"/>
          <p:nvPr/>
        </p:nvSpPr>
        <p:spPr>
          <a:xfrm>
            <a:off x="8254794" y="4673483"/>
            <a:ext cx="3136822" cy="405001"/>
          </a:xfrm>
          <a:prstGeom prst="rect">
            <a:avLst/>
          </a:prstGeom>
          <a:noFill/>
          <a:ln/>
        </p:spPr>
        <p:txBody>
          <a:bodyPr wrap="square" lIns="0" tIns="0" rIns="0" bIns="0" rtlCol="0" anchor="t"/>
          <a:lstStyle/>
          <a:p>
            <a:pPr algn="l" indent="0" marL="0">
              <a:lnSpc>
                <a:spcPts val="1590"/>
              </a:lnSpc>
              <a:buNone/>
            </a:pPr>
            <a:r>
              <a:rPr lang="en-US" sz="1100" dirty="0">
                <a:solidFill>
                  <a:srgbClr val="EEF5FF"/>
                </a:solidFill>
                <a:latin typeface="Arial" pitchFamily="34" charset="0"/>
                <a:ea typeface="Arial" pitchFamily="34" charset="-122"/>
                <a:cs typeface="Arial" pitchFamily="34" charset="-120"/>
              </a:rPr>
              <a:t>Not Unity, not networked, and not tuned. It tests whether the rule reads, not the final numbers.</a:t>
            </a:r>
            <a:endParaRPr lang="en-US" sz="1100" dirty="0"/>
          </a:p>
        </p:txBody>
      </p:sp>
      <p:sp>
        <p:nvSpPr>
          <p:cNvPr id="17" name="Text 15.16"/>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5</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8" name="Text 15.17"/>
          <p:cNvSpPr txBox="1"/>
          <p:nvPr/>
        </p:nvSpPr>
        <p:spPr>
          <a:xfrm>
            <a:off x="609585" y="444489"/>
            <a:ext cx="170066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DRAFTS &amp; PROTOTYPES</a:t>
            </a:r>
            <a:endParaRPr lang="en-US" sz="800" dirty="0"/>
          </a:p>
        </p:txBody>
      </p:sp>
      <p:sp>
        <p:nvSpPr>
          <p:cNvPr id="19" name="Text 15.18"/>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15</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6.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Four art directions for the same cube</a:t>
            </a:r>
            <a:endParaRPr lang="en-US" sz="2800" dirty="0"/>
          </a:p>
        </p:txBody>
      </p:sp>
      <p:sp>
        <p:nvSpPr>
          <p:cNvPr id="3" name="Text 16.2"/>
          <p:cNvSpPr txBox="1"/>
          <p:nvPr/>
        </p:nvSpPr>
        <p:spPr>
          <a:xfrm>
            <a:off x="609585" y="3759106"/>
            <a:ext cx="167090" cy="175256"/>
          </a:xfrm>
          <a:prstGeom prst="rect">
            <a:avLst/>
          </a:prstGeom>
          <a:noFill/>
          <a:ln/>
        </p:spPr>
        <p:txBody>
          <a:bodyPr wrap="square" lIns="0" tIns="0" rIns="0" bIns="0" rtlCol="0" anchor="t"/>
          <a:lstStyle/>
          <a:p>
            <a:pPr algn="l" indent="0" marL="0">
              <a:lnSpc>
                <a:spcPts val="1380"/>
              </a:lnSpc>
              <a:buNone/>
            </a:pPr>
            <a:r>
              <a:rPr lang="en-US" sz="1500" spc="7" kern="0" dirty="0">
                <a:solidFill>
                  <a:srgbClr val="FF6A1A"/>
                </a:solidFill>
                <a:latin typeface="Impact" pitchFamily="34" charset="0"/>
                <a:ea typeface="Impact" pitchFamily="34" charset="-122"/>
                <a:cs typeface="Impact" pitchFamily="34" charset="-120"/>
              </a:rPr>
              <a:t>A</a:t>
            </a:r>
            <a:endParaRPr lang="en-US" sz="1500" dirty="0"/>
          </a:p>
        </p:txBody>
      </p:sp>
      <p:sp>
        <p:nvSpPr>
          <p:cNvPr id="4" name="Text 16.3"/>
          <p:cNvSpPr txBox="1"/>
          <p:nvPr/>
        </p:nvSpPr>
        <p:spPr>
          <a:xfrm>
            <a:off x="812780" y="3797205"/>
            <a:ext cx="72511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VINYL TOY</a:t>
            </a:r>
            <a:endParaRPr lang="en-US" sz="700" dirty="0"/>
          </a:p>
        </p:txBody>
      </p:sp>
      <p:sp>
        <p:nvSpPr>
          <p:cNvPr id="5" name="Text 16.4"/>
          <p:cNvSpPr txBox="1"/>
          <p:nvPr/>
        </p:nvSpPr>
        <p:spPr>
          <a:xfrm>
            <a:off x="4749681" y="3759106"/>
            <a:ext cx="176030" cy="175256"/>
          </a:xfrm>
          <a:prstGeom prst="rect">
            <a:avLst/>
          </a:prstGeom>
          <a:noFill/>
          <a:ln/>
        </p:spPr>
        <p:txBody>
          <a:bodyPr wrap="square" lIns="0" tIns="0" rIns="0" bIns="0" rtlCol="0" anchor="t"/>
          <a:lstStyle/>
          <a:p>
            <a:pPr algn="l" indent="0" marL="0">
              <a:lnSpc>
                <a:spcPts val="1380"/>
              </a:lnSpc>
              <a:buNone/>
            </a:pPr>
            <a:r>
              <a:rPr lang="en-US" sz="1500" spc="7" kern="0" dirty="0">
                <a:solidFill>
                  <a:srgbClr val="FF6A1A"/>
                </a:solidFill>
                <a:latin typeface="Impact" pitchFamily="34" charset="0"/>
                <a:ea typeface="Impact" pitchFamily="34" charset="-122"/>
                <a:cs typeface="Impact" pitchFamily="34" charset="-120"/>
              </a:rPr>
              <a:t>B</a:t>
            </a:r>
            <a:endParaRPr lang="en-US" sz="1500" dirty="0"/>
          </a:p>
        </p:txBody>
      </p:sp>
      <p:sp>
        <p:nvSpPr>
          <p:cNvPr id="6" name="Text 16.5"/>
          <p:cNvSpPr txBox="1"/>
          <p:nvPr/>
        </p:nvSpPr>
        <p:spPr>
          <a:xfrm>
            <a:off x="4952876" y="3797205"/>
            <a:ext cx="116619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BUILDING BLOCKS</a:t>
            </a:r>
            <a:endParaRPr lang="en-US" sz="700" dirty="0"/>
          </a:p>
        </p:txBody>
      </p:sp>
      <p:sp>
        <p:nvSpPr>
          <p:cNvPr id="7" name="Text 16.6"/>
          <p:cNvSpPr txBox="1"/>
          <p:nvPr/>
        </p:nvSpPr>
        <p:spPr>
          <a:xfrm>
            <a:off x="609585" y="6057749"/>
            <a:ext cx="176345" cy="175256"/>
          </a:xfrm>
          <a:prstGeom prst="rect">
            <a:avLst/>
          </a:prstGeom>
          <a:noFill/>
          <a:ln/>
        </p:spPr>
        <p:txBody>
          <a:bodyPr wrap="square" lIns="0" tIns="0" rIns="0" bIns="0" rtlCol="0" anchor="t"/>
          <a:lstStyle/>
          <a:p>
            <a:pPr algn="l" indent="0" marL="0">
              <a:lnSpc>
                <a:spcPts val="1380"/>
              </a:lnSpc>
              <a:buNone/>
            </a:pPr>
            <a:r>
              <a:rPr lang="en-US" sz="1500" spc="7" kern="0" dirty="0">
                <a:solidFill>
                  <a:srgbClr val="FF6A1A"/>
                </a:solidFill>
                <a:latin typeface="Impact" pitchFamily="34" charset="0"/>
                <a:ea typeface="Impact" pitchFamily="34" charset="-122"/>
                <a:cs typeface="Impact" pitchFamily="34" charset="-120"/>
              </a:rPr>
              <a:t>C</a:t>
            </a:r>
            <a:endParaRPr lang="en-US" sz="1500" dirty="0"/>
          </a:p>
        </p:txBody>
      </p:sp>
      <p:sp>
        <p:nvSpPr>
          <p:cNvPr id="8" name="Text 16.7"/>
          <p:cNvSpPr txBox="1"/>
          <p:nvPr/>
        </p:nvSpPr>
        <p:spPr>
          <a:xfrm>
            <a:off x="812780" y="6095848"/>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TIN TOY</a:t>
            </a:r>
            <a:endParaRPr lang="en-US" sz="700" dirty="0"/>
          </a:p>
        </p:txBody>
      </p:sp>
      <p:sp>
        <p:nvSpPr>
          <p:cNvPr id="9" name="Text 16.8"/>
          <p:cNvSpPr txBox="1"/>
          <p:nvPr/>
        </p:nvSpPr>
        <p:spPr>
          <a:xfrm>
            <a:off x="4749681" y="6057749"/>
            <a:ext cx="176135" cy="175256"/>
          </a:xfrm>
          <a:prstGeom prst="rect">
            <a:avLst/>
          </a:prstGeom>
          <a:noFill/>
          <a:ln/>
        </p:spPr>
        <p:txBody>
          <a:bodyPr wrap="square" lIns="0" tIns="0" rIns="0" bIns="0" rtlCol="0" anchor="t"/>
          <a:lstStyle/>
          <a:p>
            <a:pPr algn="l" indent="0" marL="0">
              <a:lnSpc>
                <a:spcPts val="1380"/>
              </a:lnSpc>
              <a:buNone/>
            </a:pPr>
            <a:r>
              <a:rPr lang="en-US" sz="1500" spc="7" kern="0" dirty="0">
                <a:solidFill>
                  <a:srgbClr val="FF6A1A"/>
                </a:solidFill>
                <a:latin typeface="Impact" pitchFamily="34" charset="0"/>
                <a:ea typeface="Impact" pitchFamily="34" charset="-122"/>
                <a:cs typeface="Impact" pitchFamily="34" charset="-120"/>
              </a:rPr>
              <a:t>D</a:t>
            </a:r>
            <a:endParaRPr lang="en-US" sz="1500" dirty="0"/>
          </a:p>
        </p:txBody>
      </p:sp>
      <p:sp>
        <p:nvSpPr>
          <p:cNvPr id="10" name="Text 16.9"/>
          <p:cNvSpPr txBox="1"/>
          <p:nvPr/>
        </p:nvSpPr>
        <p:spPr>
          <a:xfrm>
            <a:off x="4952876" y="6095848"/>
            <a:ext cx="43106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JELLY</a:t>
            </a:r>
            <a:endParaRPr lang="en-US" sz="700" dirty="0"/>
          </a:p>
        </p:txBody>
      </p:sp>
      <p:sp>
        <p:nvSpPr>
          <p:cNvPr id="11" name="Text 16.10"/>
          <p:cNvSpPr txBox="1"/>
          <p:nvPr/>
        </p:nvSpPr>
        <p:spPr>
          <a:xfrm>
            <a:off x="8991375" y="1981150"/>
            <a:ext cx="614901"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PURPOSE</a:t>
            </a:r>
            <a:endParaRPr lang="en-US" sz="750" dirty="0"/>
          </a:p>
        </p:txBody>
      </p:sp>
      <p:sp>
        <p:nvSpPr>
          <p:cNvPr id="12" name="Text 16.11"/>
          <p:cNvSpPr txBox="1"/>
          <p:nvPr/>
        </p:nvSpPr>
        <p:spPr>
          <a:xfrm>
            <a:off x="8991375" y="2197045"/>
            <a:ext cx="2451039" cy="540828"/>
          </a:xfrm>
          <a:prstGeom prst="rect">
            <a:avLst/>
          </a:prstGeom>
          <a:noFill/>
          <a:ln/>
        </p:spPr>
        <p:txBody>
          <a:bodyPr wrap="square" lIns="0" tIns="0" rIns="0" bIns="0" rtlCol="0" anchor="t"/>
          <a:lstStyle/>
          <a:p>
            <a:pPr algn="l" indent="0" marL="0">
              <a:lnSpc>
                <a:spcPts val="1420"/>
              </a:lnSpc>
              <a:buNone/>
            </a:pPr>
            <a:r>
              <a:rPr lang="en-US" sz="1000" dirty="0">
                <a:solidFill>
                  <a:srgbClr val="D3DEF2"/>
                </a:solidFill>
                <a:latin typeface="Arial" pitchFamily="34" charset="0"/>
                <a:ea typeface="Arial" pitchFamily="34" charset="-122"/>
                <a:cs typeface="Arial" pitchFamily="34" charset="-120"/>
              </a:rPr>
              <a:t>Four looks for the same character, generated to choose a direction before modelling.</a:t>
            </a:r>
            <a:endParaRPr lang="en-US" sz="1000" dirty="0"/>
          </a:p>
        </p:txBody>
      </p:sp>
      <p:sp>
        <p:nvSpPr>
          <p:cNvPr id="13" name="Text 16.12"/>
          <p:cNvSpPr txBox="1"/>
          <p:nvPr/>
        </p:nvSpPr>
        <p:spPr>
          <a:xfrm>
            <a:off x="8991375" y="3174921"/>
            <a:ext cx="1402513"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USED IN THIS DECK</a:t>
            </a:r>
            <a:endParaRPr lang="en-US" sz="750" dirty="0"/>
          </a:p>
        </p:txBody>
      </p:sp>
      <p:sp>
        <p:nvSpPr>
          <p:cNvPr id="14" name="Text 16.13"/>
          <p:cNvSpPr txBox="1"/>
          <p:nvPr/>
        </p:nvSpPr>
        <p:spPr>
          <a:xfrm>
            <a:off x="8991375" y="3390815"/>
            <a:ext cx="2451039" cy="360552"/>
          </a:xfrm>
          <a:prstGeom prst="rect">
            <a:avLst/>
          </a:prstGeom>
          <a:noFill/>
          <a:ln/>
        </p:spPr>
        <p:txBody>
          <a:bodyPr wrap="square" lIns="0" tIns="0" rIns="0" bIns="0" rtlCol="0" anchor="t"/>
          <a:lstStyle/>
          <a:p>
            <a:pPr algn="l" indent="0" marL="0">
              <a:lnSpc>
                <a:spcPts val="1420"/>
              </a:lnSpc>
              <a:buNone/>
            </a:pPr>
            <a:r>
              <a:rPr lang="en-US" sz="1000" dirty="0">
                <a:solidFill>
                  <a:srgbClr val="D3DEF2"/>
                </a:solidFill>
                <a:latin typeface="Arial" pitchFamily="34" charset="0"/>
                <a:ea typeface="Arial" pitchFamily="34" charset="-122"/>
                <a:cs typeface="Arial" pitchFamily="34" charset="-120"/>
              </a:rPr>
              <a:t>The concept renders follow the glossy-toy direction.</a:t>
            </a:r>
            <a:endParaRPr lang="en-US" sz="1000" dirty="0"/>
          </a:p>
        </p:txBody>
      </p:sp>
      <p:sp>
        <p:nvSpPr>
          <p:cNvPr id="15" name="Text 16.14"/>
          <p:cNvSpPr txBox="1"/>
          <p:nvPr/>
        </p:nvSpPr>
        <p:spPr>
          <a:xfrm>
            <a:off x="8991375" y="4190895"/>
            <a:ext cx="1166198"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PLAYER COLOURS</a:t>
            </a:r>
            <a:endParaRPr lang="en-US" sz="750" dirty="0"/>
          </a:p>
        </p:txBody>
      </p:sp>
      <p:sp>
        <p:nvSpPr>
          <p:cNvPr id="16" name="Text 16.15"/>
          <p:cNvSpPr txBox="1"/>
          <p:nvPr/>
        </p:nvSpPr>
        <p:spPr>
          <a:xfrm>
            <a:off x="8991375" y="5029074"/>
            <a:ext cx="546086" cy="111440"/>
          </a:xfrm>
          <a:prstGeom prst="rect">
            <a:avLst/>
          </a:prstGeom>
          <a:noFill/>
          <a:ln/>
        </p:spPr>
        <p:txBody>
          <a:bodyPr wrap="square" lIns="0" tIns="0" rIns="0" bIns="0" rtlCol="0" anchor="t"/>
          <a:lstStyle/>
          <a:p>
            <a:pPr algn="l" indent="0" marL="0">
              <a:lnSpc>
                <a:spcPts val="880"/>
              </a:lnSpc>
              <a:buNone/>
            </a:pPr>
            <a:r>
              <a:rPr lang="en-US" sz="650" dirty="0">
                <a:solidFill>
                  <a:srgbClr val="8C9FC3"/>
                </a:solidFill>
                <a:latin typeface="Courier New" pitchFamily="34" charset="0"/>
                <a:ea typeface="Courier New" pitchFamily="34" charset="-122"/>
                <a:cs typeface="Courier New" pitchFamily="34" charset="-120"/>
              </a:rPr>
              <a:t>Orange</a:t>
            </a:r>
            <a:endParaRPr lang="en-US" sz="650" dirty="0"/>
          </a:p>
        </p:txBody>
      </p:sp>
      <p:sp>
        <p:nvSpPr>
          <p:cNvPr id="17" name="Text 16.16"/>
          <p:cNvSpPr txBox="1"/>
          <p:nvPr/>
        </p:nvSpPr>
        <p:spPr>
          <a:xfrm>
            <a:off x="8991375" y="5156071"/>
            <a:ext cx="546086" cy="102867"/>
          </a:xfrm>
          <a:prstGeom prst="rect">
            <a:avLst/>
          </a:prstGeom>
          <a:noFill/>
          <a:ln/>
        </p:spPr>
        <p:txBody>
          <a:bodyPr wrap="square" lIns="0" tIns="0" rIns="0" bIns="0" rtlCol="0" anchor="t"/>
          <a:lstStyle/>
          <a:p>
            <a:pPr algn="l" indent="0" marL="0">
              <a:lnSpc>
                <a:spcPts val="810"/>
              </a:lnSpc>
              <a:buNone/>
            </a:pPr>
            <a:r>
              <a:rPr lang="en-US" sz="600" dirty="0">
                <a:solidFill>
                  <a:srgbClr val="56698F"/>
                </a:solidFill>
                <a:latin typeface="Courier New" pitchFamily="34" charset="0"/>
                <a:ea typeface="Courier New" pitchFamily="34" charset="-122"/>
                <a:cs typeface="Courier New" pitchFamily="34" charset="-120"/>
              </a:rPr>
              <a:t>#FF6A1A</a:t>
            </a:r>
            <a:endParaRPr lang="en-US" sz="600" dirty="0"/>
          </a:p>
        </p:txBody>
      </p:sp>
      <p:sp>
        <p:nvSpPr>
          <p:cNvPr id="18" name="Text 16.17"/>
          <p:cNvSpPr txBox="1"/>
          <p:nvPr/>
        </p:nvSpPr>
        <p:spPr>
          <a:xfrm>
            <a:off x="9600960" y="5029074"/>
            <a:ext cx="546086" cy="111440"/>
          </a:xfrm>
          <a:prstGeom prst="rect">
            <a:avLst/>
          </a:prstGeom>
          <a:noFill/>
          <a:ln/>
        </p:spPr>
        <p:txBody>
          <a:bodyPr wrap="square" lIns="0" tIns="0" rIns="0" bIns="0" rtlCol="0" anchor="t"/>
          <a:lstStyle/>
          <a:p>
            <a:pPr algn="l" indent="0" marL="0">
              <a:lnSpc>
                <a:spcPts val="880"/>
              </a:lnSpc>
              <a:buNone/>
            </a:pPr>
            <a:r>
              <a:rPr lang="en-US" sz="650" dirty="0">
                <a:solidFill>
                  <a:srgbClr val="8C9FC3"/>
                </a:solidFill>
                <a:latin typeface="Courier New" pitchFamily="34" charset="0"/>
                <a:ea typeface="Courier New" pitchFamily="34" charset="-122"/>
                <a:cs typeface="Courier New" pitchFamily="34" charset="-120"/>
              </a:rPr>
              <a:t>Cyan</a:t>
            </a:r>
            <a:endParaRPr lang="en-US" sz="650" dirty="0"/>
          </a:p>
        </p:txBody>
      </p:sp>
      <p:sp>
        <p:nvSpPr>
          <p:cNvPr id="19" name="Text 16.18"/>
          <p:cNvSpPr txBox="1"/>
          <p:nvPr/>
        </p:nvSpPr>
        <p:spPr>
          <a:xfrm>
            <a:off x="9600960" y="5156071"/>
            <a:ext cx="546086" cy="102867"/>
          </a:xfrm>
          <a:prstGeom prst="rect">
            <a:avLst/>
          </a:prstGeom>
          <a:noFill/>
          <a:ln/>
        </p:spPr>
        <p:txBody>
          <a:bodyPr wrap="square" lIns="0" tIns="0" rIns="0" bIns="0" rtlCol="0" anchor="t"/>
          <a:lstStyle/>
          <a:p>
            <a:pPr algn="l" indent="0" marL="0">
              <a:lnSpc>
                <a:spcPts val="810"/>
              </a:lnSpc>
              <a:buNone/>
            </a:pPr>
            <a:r>
              <a:rPr lang="en-US" sz="600" dirty="0">
                <a:solidFill>
                  <a:srgbClr val="56698F"/>
                </a:solidFill>
                <a:latin typeface="Courier New" pitchFamily="34" charset="0"/>
                <a:ea typeface="Courier New" pitchFamily="34" charset="-122"/>
                <a:cs typeface="Courier New" pitchFamily="34" charset="-120"/>
              </a:rPr>
              <a:t>#2EC0FF</a:t>
            </a:r>
            <a:endParaRPr lang="en-US" sz="600" dirty="0"/>
          </a:p>
        </p:txBody>
      </p:sp>
      <p:sp>
        <p:nvSpPr>
          <p:cNvPr id="20" name="Text 16.19"/>
          <p:cNvSpPr txBox="1"/>
          <p:nvPr/>
        </p:nvSpPr>
        <p:spPr>
          <a:xfrm>
            <a:off x="10210545" y="5029074"/>
            <a:ext cx="546086" cy="111440"/>
          </a:xfrm>
          <a:prstGeom prst="rect">
            <a:avLst/>
          </a:prstGeom>
          <a:noFill/>
          <a:ln/>
        </p:spPr>
        <p:txBody>
          <a:bodyPr wrap="square" lIns="0" tIns="0" rIns="0" bIns="0" rtlCol="0" anchor="t"/>
          <a:lstStyle/>
          <a:p>
            <a:pPr algn="l" indent="0" marL="0">
              <a:lnSpc>
                <a:spcPts val="880"/>
              </a:lnSpc>
              <a:buNone/>
            </a:pPr>
            <a:r>
              <a:rPr lang="en-US" sz="650" dirty="0">
                <a:solidFill>
                  <a:srgbClr val="8C9FC3"/>
                </a:solidFill>
                <a:latin typeface="Courier New" pitchFamily="34" charset="0"/>
                <a:ea typeface="Courier New" pitchFamily="34" charset="-122"/>
                <a:cs typeface="Courier New" pitchFamily="34" charset="-120"/>
              </a:rPr>
              <a:t>Lime</a:t>
            </a:r>
            <a:endParaRPr lang="en-US" sz="650" dirty="0"/>
          </a:p>
        </p:txBody>
      </p:sp>
      <p:sp>
        <p:nvSpPr>
          <p:cNvPr id="21" name="Text 16.20"/>
          <p:cNvSpPr txBox="1"/>
          <p:nvPr/>
        </p:nvSpPr>
        <p:spPr>
          <a:xfrm>
            <a:off x="10210545" y="5156071"/>
            <a:ext cx="546086" cy="102867"/>
          </a:xfrm>
          <a:prstGeom prst="rect">
            <a:avLst/>
          </a:prstGeom>
          <a:noFill/>
          <a:ln/>
        </p:spPr>
        <p:txBody>
          <a:bodyPr wrap="square" lIns="0" tIns="0" rIns="0" bIns="0" rtlCol="0" anchor="t"/>
          <a:lstStyle/>
          <a:p>
            <a:pPr algn="l" indent="0" marL="0">
              <a:lnSpc>
                <a:spcPts val="810"/>
              </a:lnSpc>
              <a:buNone/>
            </a:pPr>
            <a:r>
              <a:rPr lang="en-US" sz="600" dirty="0">
                <a:solidFill>
                  <a:srgbClr val="56698F"/>
                </a:solidFill>
                <a:latin typeface="Courier New" pitchFamily="34" charset="0"/>
                <a:ea typeface="Courier New" pitchFamily="34" charset="-122"/>
                <a:cs typeface="Courier New" pitchFamily="34" charset="-120"/>
              </a:rPr>
              <a:t>#6CD63A</a:t>
            </a:r>
            <a:endParaRPr lang="en-US" sz="600" dirty="0"/>
          </a:p>
        </p:txBody>
      </p:sp>
      <p:sp>
        <p:nvSpPr>
          <p:cNvPr id="22" name="Text 16.21"/>
          <p:cNvSpPr txBox="1"/>
          <p:nvPr/>
        </p:nvSpPr>
        <p:spPr>
          <a:xfrm>
            <a:off x="10820129" y="5029074"/>
            <a:ext cx="546086" cy="111440"/>
          </a:xfrm>
          <a:prstGeom prst="rect">
            <a:avLst/>
          </a:prstGeom>
          <a:noFill/>
          <a:ln/>
        </p:spPr>
        <p:txBody>
          <a:bodyPr wrap="square" lIns="0" tIns="0" rIns="0" bIns="0" rtlCol="0" anchor="t"/>
          <a:lstStyle/>
          <a:p>
            <a:pPr algn="l" indent="0" marL="0">
              <a:lnSpc>
                <a:spcPts val="880"/>
              </a:lnSpc>
              <a:buNone/>
            </a:pPr>
            <a:r>
              <a:rPr lang="en-US" sz="650" dirty="0">
                <a:solidFill>
                  <a:srgbClr val="8C9FC3"/>
                </a:solidFill>
                <a:latin typeface="Courier New" pitchFamily="34" charset="0"/>
                <a:ea typeface="Courier New" pitchFamily="34" charset="-122"/>
                <a:cs typeface="Courier New" pitchFamily="34" charset="-120"/>
              </a:rPr>
              <a:t>Purple</a:t>
            </a:r>
            <a:endParaRPr lang="en-US" sz="650" dirty="0"/>
          </a:p>
        </p:txBody>
      </p:sp>
      <p:sp>
        <p:nvSpPr>
          <p:cNvPr id="23" name="Text 16.22"/>
          <p:cNvSpPr txBox="1"/>
          <p:nvPr/>
        </p:nvSpPr>
        <p:spPr>
          <a:xfrm>
            <a:off x="10820129" y="5156071"/>
            <a:ext cx="546086" cy="102867"/>
          </a:xfrm>
          <a:prstGeom prst="rect">
            <a:avLst/>
          </a:prstGeom>
          <a:noFill/>
          <a:ln/>
        </p:spPr>
        <p:txBody>
          <a:bodyPr wrap="square" lIns="0" tIns="0" rIns="0" bIns="0" rtlCol="0" anchor="t"/>
          <a:lstStyle/>
          <a:p>
            <a:pPr algn="l" indent="0" marL="0">
              <a:lnSpc>
                <a:spcPts val="810"/>
              </a:lnSpc>
              <a:buNone/>
            </a:pPr>
            <a:r>
              <a:rPr lang="en-US" sz="600" dirty="0">
                <a:solidFill>
                  <a:srgbClr val="56698F"/>
                </a:solidFill>
                <a:latin typeface="Courier New" pitchFamily="34" charset="0"/>
                <a:ea typeface="Courier New" pitchFamily="34" charset="-122"/>
                <a:cs typeface="Courier New" pitchFamily="34" charset="-120"/>
              </a:rPr>
              <a:t>#A56BFF</a:t>
            </a:r>
            <a:endParaRPr lang="en-US" sz="600" dirty="0"/>
          </a:p>
        </p:txBody>
      </p:sp>
      <p:sp>
        <p:nvSpPr>
          <p:cNvPr id="24" name="Text 16.23"/>
          <p:cNvSpPr txBox="1"/>
          <p:nvPr/>
        </p:nvSpPr>
        <p:spPr>
          <a:xfrm>
            <a:off x="8991375" y="5714857"/>
            <a:ext cx="2451039" cy="128584"/>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All AI-generated drafts. None is gameplay.</a:t>
            </a:r>
            <a:endParaRPr lang="en-US" sz="750" dirty="0"/>
          </a:p>
        </p:txBody>
      </p:sp>
      <p:sp>
        <p:nvSpPr>
          <p:cNvPr id="25" name="Text 16.24"/>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5</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26" name="Text 16.25"/>
          <p:cNvSpPr txBox="1"/>
          <p:nvPr/>
        </p:nvSpPr>
        <p:spPr>
          <a:xfrm>
            <a:off x="609585" y="444489"/>
            <a:ext cx="170066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DRAFTS &amp; PROTOTYPES</a:t>
            </a:r>
            <a:endParaRPr lang="en-US" sz="800" dirty="0"/>
          </a:p>
        </p:txBody>
      </p:sp>
      <p:sp>
        <p:nvSpPr>
          <p:cNvPr id="27" name="Text 16.26"/>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16</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7.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Logo drafts</a:t>
            </a:r>
            <a:endParaRPr lang="en-US" sz="2800" dirty="0"/>
          </a:p>
        </p:txBody>
      </p:sp>
      <p:sp>
        <p:nvSpPr>
          <p:cNvPr id="3" name="Text 17.2"/>
          <p:cNvSpPr txBox="1"/>
          <p:nvPr/>
        </p:nvSpPr>
        <p:spPr>
          <a:xfrm>
            <a:off x="609585" y="5143371"/>
            <a:ext cx="1481285"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DRAFT A · WORDMARK</a:t>
            </a:r>
            <a:endParaRPr lang="en-US" sz="750" dirty="0"/>
          </a:p>
        </p:txBody>
      </p:sp>
      <p:sp>
        <p:nvSpPr>
          <p:cNvPr id="4" name="Text 17.3"/>
          <p:cNvSpPr txBox="1"/>
          <p:nvPr/>
        </p:nvSpPr>
        <p:spPr>
          <a:xfrm>
            <a:off x="609585" y="5359266"/>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Title screen, deck cover, video end card.</a:t>
            </a:r>
            <a:endParaRPr lang="en-US" sz="1050" dirty="0"/>
          </a:p>
        </p:txBody>
      </p:sp>
      <p:sp>
        <p:nvSpPr>
          <p:cNvPr id="5" name="Text 17.4"/>
          <p:cNvSpPr txBox="1"/>
          <p:nvPr/>
        </p:nvSpPr>
        <p:spPr>
          <a:xfrm>
            <a:off x="4317892" y="5143371"/>
            <a:ext cx="1402513"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DRAFT B · STACKED</a:t>
            </a:r>
            <a:endParaRPr lang="en-US" sz="750" dirty="0"/>
          </a:p>
        </p:txBody>
      </p:sp>
      <p:sp>
        <p:nvSpPr>
          <p:cNvPr id="6" name="Text 17.5"/>
          <p:cNvSpPr txBox="1"/>
          <p:nvPr/>
        </p:nvSpPr>
        <p:spPr>
          <a:xfrm>
            <a:off x="4317892" y="5359266"/>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Square formats: store capsule, lobby screen.</a:t>
            </a:r>
            <a:endParaRPr lang="en-US" sz="1050" dirty="0"/>
          </a:p>
        </p:txBody>
      </p:sp>
      <p:sp>
        <p:nvSpPr>
          <p:cNvPr id="7" name="Text 17.6"/>
          <p:cNvSpPr txBox="1"/>
          <p:nvPr/>
        </p:nvSpPr>
        <p:spPr>
          <a:xfrm>
            <a:off x="8026199" y="5143371"/>
            <a:ext cx="1166198"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EEF5FF"/>
                </a:solidFill>
                <a:latin typeface="Courier New" pitchFamily="34" charset="0"/>
                <a:ea typeface="Courier New" pitchFamily="34" charset="-122"/>
                <a:cs typeface="Courier New" pitchFamily="34" charset="-120"/>
              </a:rPr>
              <a:t>DRAFT C · ICON</a:t>
            </a:r>
            <a:endParaRPr lang="en-US" sz="750" dirty="0"/>
          </a:p>
        </p:txBody>
      </p:sp>
      <p:sp>
        <p:nvSpPr>
          <p:cNvPr id="8" name="Text 17.7"/>
          <p:cNvSpPr txBox="1"/>
          <p:nvPr/>
        </p:nvSpPr>
        <p:spPr>
          <a:xfrm>
            <a:off x="8026199" y="5359266"/>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D3DEF2"/>
                </a:solidFill>
                <a:latin typeface="Arial" pitchFamily="34" charset="0"/>
                <a:ea typeface="Arial" pitchFamily="34" charset="-122"/>
                <a:cs typeface="Arial" pitchFamily="34" charset="-120"/>
              </a:rPr>
              <a:t>Taskbar, build icon, favicon.</a:t>
            </a:r>
            <a:endParaRPr lang="en-US" sz="1050" dirty="0"/>
          </a:p>
        </p:txBody>
      </p:sp>
      <p:sp>
        <p:nvSpPr>
          <p:cNvPr id="9" name="Text 17.8"/>
          <p:cNvSpPr txBox="1"/>
          <p:nvPr/>
        </p:nvSpPr>
        <p:spPr>
          <a:xfrm>
            <a:off x="609585" y="6475251"/>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Drafts made for this proposal. The name is a working title; the logo is not final.</a:t>
            </a:r>
            <a:endParaRPr lang="en-US" sz="750" dirty="0"/>
          </a:p>
        </p:txBody>
      </p:sp>
      <p:sp>
        <p:nvSpPr>
          <p:cNvPr id="10" name="Text 17.9"/>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5</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1" name="Text 17.10"/>
          <p:cNvSpPr txBox="1"/>
          <p:nvPr/>
        </p:nvSpPr>
        <p:spPr>
          <a:xfrm>
            <a:off x="609585" y="444489"/>
            <a:ext cx="170066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DRAFTS &amp; PROTOTYPES</a:t>
            </a:r>
            <a:endParaRPr lang="en-US" sz="800" dirty="0"/>
          </a:p>
        </p:txBody>
      </p:sp>
      <p:sp>
        <p:nvSpPr>
          <p:cNvPr id="12" name="Text 17.11"/>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17</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8.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Level drafts, top-down: </a:t>
            </a:r>
            <a:pPr algn="l" indent="0" marL="0">
              <a:lnSpc>
                <a:spcPts val="3080"/>
              </a:lnSpc>
              <a:buNone/>
            </a:pPr>
            <a:r>
              <a:rPr lang="en-US" sz="2800" b="1" spc="-50" kern="0" dirty="0">
                <a:solidFill>
                  <a:srgbClr val="FF6A1A"/>
                </a:solidFill>
                <a:latin typeface="Arial" pitchFamily="34" charset="0"/>
                <a:ea typeface="Arial" pitchFamily="34" charset="-122"/>
                <a:cs typeface="Arial" pitchFamily="34" charset="-120"/>
              </a:rPr>
              <a:t>arena</a:t>
            </a:r>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 and </a:t>
            </a:r>
            <a:pPr algn="l" indent="0" marL="0">
              <a:lnSpc>
                <a:spcPts val="3080"/>
              </a:lnSpc>
              <a:buNone/>
            </a:pPr>
            <a:r>
              <a:rPr lang="en-US" sz="2800" b="1" spc="-50" kern="0" dirty="0">
                <a:solidFill>
                  <a:srgbClr val="2EC0FF"/>
                </a:solidFill>
                <a:latin typeface="Arial" pitchFamily="34" charset="0"/>
                <a:ea typeface="Arial" pitchFamily="34" charset="-122"/>
                <a:cs typeface="Arial" pitchFamily="34" charset="-120"/>
              </a:rPr>
              <a:t>track</a:t>
            </a:r>
            <a:endParaRPr lang="en-US" sz="2800" dirty="0"/>
          </a:p>
        </p:txBody>
      </p:sp>
      <p:sp>
        <p:nvSpPr>
          <p:cNvPr id="3" name="Text 18.2"/>
          <p:cNvSpPr txBox="1"/>
          <p:nvPr/>
        </p:nvSpPr>
        <p:spPr>
          <a:xfrm>
            <a:off x="863578" y="1981150"/>
            <a:ext cx="2190126"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FF6A1A"/>
                </a:solidFill>
                <a:latin typeface="Courier New" pitchFamily="34" charset="0"/>
                <a:ea typeface="Courier New" pitchFamily="34" charset="-122"/>
                <a:cs typeface="Courier New" pitchFamily="34" charset="-120"/>
              </a:rPr>
              <a:t>MASS KNOCKOUT · ARENA DRAFT</a:t>
            </a:r>
            <a:endParaRPr lang="en-US" sz="750" dirty="0"/>
          </a:p>
        </p:txBody>
      </p:sp>
      <p:sp>
        <p:nvSpPr>
          <p:cNvPr id="4" name="Text 18.3"/>
          <p:cNvSpPr txBox="1"/>
          <p:nvPr/>
        </p:nvSpPr>
        <p:spPr>
          <a:xfrm>
            <a:off x="1498563" y="5587860"/>
            <a:ext cx="2793930" cy="106677"/>
          </a:xfrm>
          <a:prstGeom prst="rect">
            <a:avLst/>
          </a:prstGeom>
          <a:noFill/>
          <a:ln/>
        </p:spPr>
        <p:txBody>
          <a:bodyPr wrap="square" lIns="0" tIns="0" rIns="0" bIns="0" rtlCol="0" anchor="t"/>
          <a:lstStyle/>
          <a:p>
            <a:pPr algn="ctr"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OPEN EDGE = KNOCKOUT LINE</a:t>
            </a:r>
            <a:endParaRPr lang="en-US" sz="700" dirty="0"/>
          </a:p>
        </p:txBody>
      </p:sp>
      <p:sp>
        <p:nvSpPr>
          <p:cNvPr id="5" name="Text 18.4"/>
          <p:cNvSpPr txBox="1"/>
          <p:nvPr/>
        </p:nvSpPr>
        <p:spPr>
          <a:xfrm>
            <a:off x="4521087" y="2666933"/>
            <a:ext cx="1308067" cy="257169"/>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Fall zone. No walls, no cover.</a:t>
            </a:r>
            <a:endParaRPr lang="en-US" sz="750" dirty="0"/>
          </a:p>
        </p:txBody>
      </p:sp>
      <p:sp>
        <p:nvSpPr>
          <p:cNvPr id="6" name="Text 18.5"/>
          <p:cNvSpPr txBox="1"/>
          <p:nvPr/>
        </p:nvSpPr>
        <p:spPr>
          <a:xfrm>
            <a:off x="4521087" y="4825879"/>
            <a:ext cx="1308067" cy="257169"/>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Spawn near corners (draft).</a:t>
            </a:r>
            <a:endParaRPr lang="en-US" sz="750" dirty="0"/>
          </a:p>
        </p:txBody>
      </p:sp>
      <p:sp>
        <p:nvSpPr>
          <p:cNvPr id="7" name="Text 18.6"/>
          <p:cNvSpPr txBox="1"/>
          <p:nvPr/>
        </p:nvSpPr>
        <p:spPr>
          <a:xfrm>
            <a:off x="4521087" y="3809905"/>
            <a:ext cx="1308067" cy="257169"/>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One flat square platform.</a:t>
            </a:r>
            <a:endParaRPr lang="en-US" sz="750" dirty="0"/>
          </a:p>
        </p:txBody>
      </p:sp>
      <p:sp>
        <p:nvSpPr>
          <p:cNvPr id="8" name="Text 18.7"/>
          <p:cNvSpPr txBox="1"/>
          <p:nvPr/>
        </p:nvSpPr>
        <p:spPr>
          <a:xfrm>
            <a:off x="6476838" y="1981150"/>
            <a:ext cx="1796267"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2EC0FF"/>
                </a:solidFill>
                <a:latin typeface="Courier New" pitchFamily="34" charset="0"/>
                <a:ea typeface="Courier New" pitchFamily="34" charset="-122"/>
                <a:cs typeface="Courier New" pitchFamily="34" charset="-120"/>
              </a:rPr>
              <a:t>ICE RACE · TRACK DRAFT</a:t>
            </a:r>
            <a:endParaRPr lang="en-US" sz="750" dirty="0"/>
          </a:p>
        </p:txBody>
      </p:sp>
      <p:sp>
        <p:nvSpPr>
          <p:cNvPr id="9" name="Text 18.8"/>
          <p:cNvSpPr txBox="1"/>
          <p:nvPr/>
        </p:nvSpPr>
        <p:spPr>
          <a:xfrm>
            <a:off x="7429314" y="4267093"/>
            <a:ext cx="1092685"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EEF5FF"/>
                </a:solidFill>
                <a:latin typeface="Courier New" pitchFamily="34" charset="0"/>
                <a:ea typeface="Courier New" pitchFamily="34" charset="-122"/>
                <a:cs typeface="Courier New" pitchFamily="34" charset="-120"/>
              </a:rPr>
              <a:t>START / FINISH</a:t>
            </a:r>
            <a:endParaRPr lang="en-US" sz="700" dirty="0"/>
          </a:p>
        </p:txBody>
      </p:sp>
      <p:sp>
        <p:nvSpPr>
          <p:cNvPr id="10" name="Text 18.9"/>
          <p:cNvSpPr txBox="1"/>
          <p:nvPr/>
        </p:nvSpPr>
        <p:spPr>
          <a:xfrm>
            <a:off x="8369091" y="2146246"/>
            <a:ext cx="28403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CP1</a:t>
            </a:r>
            <a:endParaRPr lang="en-US" sz="700" dirty="0"/>
          </a:p>
        </p:txBody>
      </p:sp>
      <p:sp>
        <p:nvSpPr>
          <p:cNvPr id="11" name="Text 18.10"/>
          <p:cNvSpPr txBox="1"/>
          <p:nvPr/>
        </p:nvSpPr>
        <p:spPr>
          <a:xfrm>
            <a:off x="8635784" y="3428914"/>
            <a:ext cx="28403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CP2</a:t>
            </a:r>
            <a:endParaRPr lang="en-US" sz="700" dirty="0"/>
          </a:p>
        </p:txBody>
      </p:sp>
      <p:sp>
        <p:nvSpPr>
          <p:cNvPr id="12" name="Text 18.11"/>
          <p:cNvSpPr txBox="1"/>
          <p:nvPr/>
        </p:nvSpPr>
        <p:spPr>
          <a:xfrm>
            <a:off x="10947126" y="5003675"/>
            <a:ext cx="284038"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2EC0FF"/>
                </a:solidFill>
                <a:latin typeface="Courier New" pitchFamily="34" charset="0"/>
                <a:ea typeface="Courier New" pitchFamily="34" charset="-122"/>
                <a:cs typeface="Courier New" pitchFamily="34" charset="-120"/>
              </a:rPr>
              <a:t>CP3</a:t>
            </a:r>
            <a:endParaRPr lang="en-US" sz="700" dirty="0"/>
          </a:p>
        </p:txBody>
      </p:sp>
      <p:sp>
        <p:nvSpPr>
          <p:cNvPr id="13" name="Text 18.12"/>
          <p:cNvSpPr txBox="1"/>
          <p:nvPr/>
        </p:nvSpPr>
        <p:spPr>
          <a:xfrm>
            <a:off x="9778756" y="2666933"/>
            <a:ext cx="1625559" cy="257169"/>
          </a:xfrm>
          <a:prstGeom prst="rect">
            <a:avLst/>
          </a:prstGeom>
          <a:noFill/>
          <a:ln/>
        </p:spPr>
        <p:txBody>
          <a:bodyPr wrap="square" lIns="0" tIns="0" rIns="0" bIns="0" rtlCol="0" anchor="t"/>
          <a:lstStyle/>
          <a:p>
            <a:pPr algn="l" indent="0" marL="0">
              <a:lnSpc>
                <a:spcPts val="1010"/>
              </a:lnSpc>
              <a:buNone/>
            </a:pPr>
            <a:r>
              <a:rPr lang="en-US" sz="750" b="1" dirty="0">
                <a:solidFill>
                  <a:srgbClr val="FFD23F"/>
                </a:solidFill>
                <a:latin typeface="Courier New" pitchFamily="34" charset="0"/>
                <a:ea typeface="Courier New" pitchFamily="34" charset="-122"/>
                <a:cs typeface="Courier New" pitchFamily="34" charset="-120"/>
              </a:rPr>
              <a:t>◌</a:t>
            </a:r>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 Low-grip corner: set up early or slide off.</a:t>
            </a:r>
            <a:endParaRPr lang="en-US" sz="750" dirty="0"/>
          </a:p>
        </p:txBody>
      </p:sp>
      <p:sp>
        <p:nvSpPr>
          <p:cNvPr id="14" name="Text 18.13"/>
          <p:cNvSpPr txBox="1"/>
          <p:nvPr/>
        </p:nvSpPr>
        <p:spPr>
          <a:xfrm>
            <a:off x="9778756" y="3555911"/>
            <a:ext cx="1625559" cy="257169"/>
          </a:xfrm>
          <a:prstGeom prst="rect">
            <a:avLst/>
          </a:prstGeom>
          <a:noFill/>
          <a:ln/>
        </p:spPr>
        <p:txBody>
          <a:bodyPr wrap="square" lIns="0" tIns="0" rIns="0" bIns="0" rtlCol="0" anchor="t"/>
          <a:lstStyle/>
          <a:p>
            <a:pPr algn="l" indent="0" marL="0">
              <a:lnSpc>
                <a:spcPts val="1010"/>
              </a:lnSpc>
              <a:buNone/>
            </a:pPr>
            <a:r>
              <a:rPr lang="en-US" sz="750" dirty="0">
                <a:solidFill>
                  <a:srgbClr val="8C9FC3"/>
                </a:solidFill>
                <a:latin typeface="Courier New" pitchFamily="34" charset="0"/>
                <a:ea typeface="Courier New" pitchFamily="34" charset="-122"/>
                <a:cs typeface="Courier New" pitchFamily="34" charset="-120"/>
              </a:rPr>
              <a:t>Open edges. A fall respawns you at the last checkpoint.</a:t>
            </a:r>
            <a:endParaRPr lang="en-US" sz="750" dirty="0"/>
          </a:p>
        </p:txBody>
      </p:sp>
      <p:sp>
        <p:nvSpPr>
          <p:cNvPr id="15" name="Text 18.14"/>
          <p:cNvSpPr txBox="1"/>
          <p:nvPr/>
        </p:nvSpPr>
        <p:spPr>
          <a:xfrm>
            <a:off x="609585" y="6475251"/>
            <a:ext cx="10159746"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Draft layouts for scope and blockout. Dimensions, spawn points and checkpoint count are not set.</a:t>
            </a:r>
            <a:endParaRPr lang="en-US" sz="750" dirty="0"/>
          </a:p>
        </p:txBody>
      </p:sp>
      <p:sp>
        <p:nvSpPr>
          <p:cNvPr id="16" name="Text 18.15"/>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5</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17" name="Text 18.16"/>
          <p:cNvSpPr txBox="1"/>
          <p:nvPr/>
        </p:nvSpPr>
        <p:spPr>
          <a:xfrm>
            <a:off x="609585" y="444489"/>
            <a:ext cx="1700668"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DRAFTS &amp; PROTOTYPES</a:t>
            </a:r>
            <a:endParaRPr lang="en-US" sz="800" dirty="0"/>
          </a:p>
        </p:txBody>
      </p:sp>
      <p:sp>
        <p:nvSpPr>
          <p:cNvPr id="18" name="Text 18.17"/>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18</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9.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Build order: shared core first, then each mini-game</a:t>
            </a:r>
            <a:endParaRPr lang="en-US" sz="2800" dirty="0"/>
          </a:p>
        </p:txBody>
      </p:sp>
      <p:sp>
        <p:nvSpPr>
          <p:cNvPr id="3" name="Text 19.2"/>
          <p:cNvSpPr txBox="1"/>
          <p:nvPr/>
        </p:nvSpPr>
        <p:spPr>
          <a:xfrm>
            <a:off x="800080" y="4940176"/>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RISK 01</a:t>
            </a:r>
            <a:endParaRPr lang="en-US" sz="700" dirty="0"/>
          </a:p>
        </p:txBody>
      </p:sp>
      <p:sp>
        <p:nvSpPr>
          <p:cNvPr id="4" name="Text 19.3"/>
          <p:cNvSpPr txBox="1"/>
          <p:nvPr/>
        </p:nvSpPr>
        <p:spPr>
          <a:xfrm>
            <a:off x="800080" y="5092573"/>
            <a:ext cx="2466090" cy="245358"/>
          </a:xfrm>
          <a:prstGeom prst="rect">
            <a:avLst/>
          </a:prstGeom>
          <a:noFill/>
          <a:ln/>
        </p:spPr>
        <p:txBody>
          <a:bodyPr wrap="square" lIns="0" tIns="0" rIns="0" bIns="0" rtlCol="0" anchor="t"/>
          <a:lstStyle/>
          <a:p>
            <a:pPr algn="l" indent="0" marL="0">
              <a:lnSpc>
                <a:spcPts val="1930"/>
              </a:lnSpc>
              <a:buNone/>
            </a:pPr>
            <a:r>
              <a:rPr lang="en-US" sz="2100" spc="10" kern="0" dirty="0">
                <a:solidFill>
                  <a:srgbClr val="2EC0FF"/>
                </a:solidFill>
                <a:latin typeface="Impact" pitchFamily="34" charset="0"/>
                <a:ea typeface="Impact" pitchFamily="34" charset="-122"/>
                <a:cs typeface="Impact" pitchFamily="34" charset="-120"/>
              </a:rPr>
              <a:t>NETWORKED PHYSICS</a:t>
            </a:r>
            <a:endParaRPr lang="en-US" sz="2100" dirty="0"/>
          </a:p>
        </p:txBody>
      </p:sp>
      <p:sp>
        <p:nvSpPr>
          <p:cNvPr id="5" name="Text 19.4"/>
          <p:cNvSpPr txBox="1"/>
          <p:nvPr/>
        </p:nvSpPr>
        <p:spPr>
          <a:xfrm>
            <a:off x="800080" y="5448164"/>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EEF5FF"/>
                </a:solidFill>
                <a:latin typeface="Arial" pitchFamily="34" charset="0"/>
                <a:ea typeface="Arial" pitchFamily="34" charset="-122"/>
                <a:cs typeface="Arial" pitchFamily="34" charset="-120"/>
              </a:rPr>
              <a:t>Clients disagree on a knockback.</a:t>
            </a:r>
            <a:endParaRPr lang="en-US" sz="1000" dirty="0"/>
          </a:p>
        </p:txBody>
      </p:sp>
      <p:sp>
        <p:nvSpPr>
          <p:cNvPr id="6" name="Text 19.5"/>
          <p:cNvSpPr txBox="1"/>
          <p:nvPr/>
        </p:nvSpPr>
        <p:spPr>
          <a:xfrm>
            <a:off x="800080" y="5664058"/>
            <a:ext cx="3213020"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Host simulates; clients only render and interpolate.</a:t>
            </a:r>
            <a:endParaRPr lang="en-US" sz="950" dirty="0"/>
          </a:p>
        </p:txBody>
      </p:sp>
      <p:sp>
        <p:nvSpPr>
          <p:cNvPr id="7" name="Text 19.6"/>
          <p:cNvSpPr txBox="1"/>
          <p:nvPr/>
        </p:nvSpPr>
        <p:spPr>
          <a:xfrm>
            <a:off x="4508387" y="4940176"/>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RISK 02</a:t>
            </a:r>
            <a:endParaRPr lang="en-US" sz="700" dirty="0"/>
          </a:p>
        </p:txBody>
      </p:sp>
      <p:sp>
        <p:nvSpPr>
          <p:cNvPr id="8" name="Text 19.7"/>
          <p:cNvSpPr txBox="1"/>
          <p:nvPr/>
        </p:nvSpPr>
        <p:spPr>
          <a:xfrm>
            <a:off x="4508387" y="5092573"/>
            <a:ext cx="1058294" cy="245358"/>
          </a:xfrm>
          <a:prstGeom prst="rect">
            <a:avLst/>
          </a:prstGeom>
          <a:noFill/>
          <a:ln/>
        </p:spPr>
        <p:txBody>
          <a:bodyPr wrap="square" lIns="0" tIns="0" rIns="0" bIns="0" rtlCol="0" anchor="t"/>
          <a:lstStyle/>
          <a:p>
            <a:pPr algn="l" indent="0" marL="0">
              <a:lnSpc>
                <a:spcPts val="1930"/>
              </a:lnSpc>
              <a:buNone/>
            </a:pPr>
            <a:r>
              <a:rPr lang="en-US" sz="2100" spc="10" kern="0" dirty="0">
                <a:solidFill>
                  <a:srgbClr val="FF6A1A"/>
                </a:solidFill>
                <a:latin typeface="Impact" pitchFamily="34" charset="0"/>
                <a:ea typeface="Impact" pitchFamily="34" charset="-122"/>
                <a:cs typeface="Impact" pitchFamily="34" charset="-120"/>
              </a:rPr>
              <a:t>BALANCE</a:t>
            </a:r>
            <a:endParaRPr lang="en-US" sz="2100" dirty="0"/>
          </a:p>
        </p:txBody>
      </p:sp>
      <p:sp>
        <p:nvSpPr>
          <p:cNvPr id="9" name="Text 19.8"/>
          <p:cNvSpPr txBox="1"/>
          <p:nvPr/>
        </p:nvSpPr>
        <p:spPr>
          <a:xfrm>
            <a:off x="4508387" y="5448164"/>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EEF5FF"/>
                </a:solidFill>
                <a:latin typeface="Arial" pitchFamily="34" charset="0"/>
                <a:ea typeface="Arial" pitchFamily="34" charset="-122"/>
                <a:cs typeface="Arial" pitchFamily="34" charset="-120"/>
              </a:rPr>
              <a:t>Stalling, or a leader snowballing.</a:t>
            </a:r>
            <a:endParaRPr lang="en-US" sz="1000" dirty="0"/>
          </a:p>
        </p:txBody>
      </p:sp>
      <p:sp>
        <p:nvSpPr>
          <p:cNvPr id="10" name="Text 19.9"/>
          <p:cNvSpPr txBox="1"/>
          <p:nvPr/>
        </p:nvSpPr>
        <p:spPr>
          <a:xfrm>
            <a:off x="4508387" y="5664058"/>
            <a:ext cx="3213020" cy="337732"/>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Score knockouts; full-mass respawn; timer; catch-up scoring.</a:t>
            </a:r>
            <a:endParaRPr lang="en-US" sz="950" dirty="0"/>
          </a:p>
        </p:txBody>
      </p:sp>
      <p:sp>
        <p:nvSpPr>
          <p:cNvPr id="11" name="Text 19.10"/>
          <p:cNvSpPr txBox="1"/>
          <p:nvPr/>
        </p:nvSpPr>
        <p:spPr>
          <a:xfrm>
            <a:off x="8216695" y="4940176"/>
            <a:ext cx="578092"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8C9FC3"/>
                </a:solidFill>
                <a:latin typeface="Courier New" pitchFamily="34" charset="0"/>
                <a:ea typeface="Courier New" pitchFamily="34" charset="-122"/>
                <a:cs typeface="Courier New" pitchFamily="34" charset="-120"/>
              </a:rPr>
              <a:t>RISK 03</a:t>
            </a:r>
            <a:endParaRPr lang="en-US" sz="700" dirty="0"/>
          </a:p>
        </p:txBody>
      </p:sp>
      <p:sp>
        <p:nvSpPr>
          <p:cNvPr id="12" name="Text 19.11"/>
          <p:cNvSpPr txBox="1"/>
          <p:nvPr/>
        </p:nvSpPr>
        <p:spPr>
          <a:xfrm>
            <a:off x="8216695" y="5092573"/>
            <a:ext cx="787168" cy="245358"/>
          </a:xfrm>
          <a:prstGeom prst="rect">
            <a:avLst/>
          </a:prstGeom>
          <a:noFill/>
          <a:ln/>
        </p:spPr>
        <p:txBody>
          <a:bodyPr wrap="square" lIns="0" tIns="0" rIns="0" bIns="0" rtlCol="0" anchor="t"/>
          <a:lstStyle/>
          <a:p>
            <a:pPr algn="l" indent="0" marL="0">
              <a:lnSpc>
                <a:spcPts val="1930"/>
              </a:lnSpc>
              <a:buNone/>
            </a:pPr>
            <a:r>
              <a:rPr lang="en-US" sz="2100" spc="10" kern="0" dirty="0">
                <a:solidFill>
                  <a:srgbClr val="A56BFF"/>
                </a:solidFill>
                <a:latin typeface="Impact" pitchFamily="34" charset="0"/>
                <a:ea typeface="Impact" pitchFamily="34" charset="-122"/>
                <a:cs typeface="Impact" pitchFamily="34" charset="-120"/>
              </a:rPr>
              <a:t>SCOPE</a:t>
            </a:r>
            <a:endParaRPr lang="en-US" sz="2100" dirty="0"/>
          </a:p>
        </p:txBody>
      </p:sp>
      <p:sp>
        <p:nvSpPr>
          <p:cNvPr id="13" name="Text 19.12"/>
          <p:cNvSpPr txBox="1"/>
          <p:nvPr/>
        </p:nvSpPr>
        <p:spPr>
          <a:xfrm>
            <a:off x="8216695" y="5448164"/>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EEF5FF"/>
                </a:solidFill>
                <a:latin typeface="Arial" pitchFamily="34" charset="0"/>
                <a:ea typeface="Arial" pitchFamily="34" charset="-122"/>
                <a:cs typeface="Arial" pitchFamily="34" charset="-120"/>
              </a:rPr>
              <a:t>Too many mini-games for one term.</a:t>
            </a:r>
            <a:endParaRPr lang="en-US" sz="1000" dirty="0"/>
          </a:p>
        </p:txBody>
      </p:sp>
      <p:sp>
        <p:nvSpPr>
          <p:cNvPr id="14" name="Text 19.13"/>
          <p:cNvSpPr txBox="1"/>
          <p:nvPr/>
        </p:nvSpPr>
        <p:spPr>
          <a:xfrm>
            <a:off x="8216695" y="5664058"/>
            <a:ext cx="3213020"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Exactly two in the MVP. More only once both are fun.</a:t>
            </a:r>
            <a:endParaRPr lang="en-US" sz="950" dirty="0"/>
          </a:p>
        </p:txBody>
      </p:sp>
      <p:sp>
        <p:nvSpPr>
          <p:cNvPr id="15" name="Text 19.14"/>
          <p:cNvSpPr txBox="1"/>
          <p:nvPr/>
        </p:nvSpPr>
        <p:spPr>
          <a:xfrm>
            <a:off x="5549761" y="1676358"/>
            <a:ext cx="317061" cy="198623"/>
          </a:xfrm>
          <a:prstGeom prst="rect">
            <a:avLst/>
          </a:prstGeom>
          <a:noFill/>
          <a:ln/>
        </p:spPr>
        <p:txBody>
          <a:bodyPr wrap="square" lIns="0" tIns="0" rIns="0" bIns="0" rtlCol="0" anchor="t"/>
          <a:lstStyle/>
          <a:p>
            <a:pPr algn="l" indent="0" marL="0">
              <a:lnSpc>
                <a:spcPts val="1560"/>
              </a:lnSpc>
              <a:buNone/>
            </a:pPr>
            <a:r>
              <a:rPr lang="en-US" sz="1700" spc="9" kern="0" dirty="0">
                <a:solidFill>
                  <a:srgbClr val="EEF5FF"/>
                </a:solidFill>
                <a:latin typeface="Impact" pitchFamily="34" charset="0"/>
                <a:ea typeface="Impact" pitchFamily="34" charset="-122"/>
                <a:cs typeface="Impact" pitchFamily="34" charset="-120"/>
              </a:rPr>
              <a:t>M1</a:t>
            </a:r>
            <a:endParaRPr lang="en-US" sz="1700" dirty="0"/>
          </a:p>
        </p:txBody>
      </p:sp>
      <p:sp>
        <p:nvSpPr>
          <p:cNvPr id="16" name="Text 19.15"/>
          <p:cNvSpPr txBox="1"/>
          <p:nvPr/>
        </p:nvSpPr>
        <p:spPr>
          <a:xfrm>
            <a:off x="5867253" y="1739857"/>
            <a:ext cx="548223"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date TBD</a:t>
            </a:r>
            <a:endParaRPr lang="en-US" sz="750" dirty="0"/>
          </a:p>
        </p:txBody>
      </p:sp>
      <p:sp>
        <p:nvSpPr>
          <p:cNvPr id="17" name="Text 19.16"/>
          <p:cNvSpPr txBox="1"/>
          <p:nvPr/>
        </p:nvSpPr>
        <p:spPr>
          <a:xfrm>
            <a:off x="7010225" y="1676358"/>
            <a:ext cx="344721" cy="198623"/>
          </a:xfrm>
          <a:prstGeom prst="rect">
            <a:avLst/>
          </a:prstGeom>
          <a:noFill/>
          <a:ln/>
        </p:spPr>
        <p:txBody>
          <a:bodyPr wrap="square" lIns="0" tIns="0" rIns="0" bIns="0" rtlCol="0" anchor="t"/>
          <a:lstStyle/>
          <a:p>
            <a:pPr algn="l" indent="0" marL="0">
              <a:lnSpc>
                <a:spcPts val="1560"/>
              </a:lnSpc>
              <a:buNone/>
            </a:pPr>
            <a:r>
              <a:rPr lang="en-US" sz="1700" spc="9" kern="0" dirty="0">
                <a:solidFill>
                  <a:srgbClr val="EEF5FF"/>
                </a:solidFill>
                <a:latin typeface="Impact" pitchFamily="34" charset="0"/>
                <a:ea typeface="Impact" pitchFamily="34" charset="-122"/>
                <a:cs typeface="Impact" pitchFamily="34" charset="-120"/>
              </a:rPr>
              <a:t>M2</a:t>
            </a:r>
            <a:endParaRPr lang="en-US" sz="1700" dirty="0"/>
          </a:p>
        </p:txBody>
      </p:sp>
      <p:sp>
        <p:nvSpPr>
          <p:cNvPr id="18" name="Text 19.17"/>
          <p:cNvSpPr txBox="1"/>
          <p:nvPr/>
        </p:nvSpPr>
        <p:spPr>
          <a:xfrm>
            <a:off x="7327717" y="1739857"/>
            <a:ext cx="548223"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date TBD</a:t>
            </a:r>
            <a:endParaRPr lang="en-US" sz="750" dirty="0"/>
          </a:p>
        </p:txBody>
      </p:sp>
      <p:sp>
        <p:nvSpPr>
          <p:cNvPr id="19" name="Text 19.18"/>
          <p:cNvSpPr txBox="1"/>
          <p:nvPr/>
        </p:nvSpPr>
        <p:spPr>
          <a:xfrm>
            <a:off x="8470688" y="1676358"/>
            <a:ext cx="351241" cy="198623"/>
          </a:xfrm>
          <a:prstGeom prst="rect">
            <a:avLst/>
          </a:prstGeom>
          <a:noFill/>
          <a:ln/>
        </p:spPr>
        <p:txBody>
          <a:bodyPr wrap="square" lIns="0" tIns="0" rIns="0" bIns="0" rtlCol="0" anchor="t"/>
          <a:lstStyle/>
          <a:p>
            <a:pPr algn="l" indent="0" marL="0">
              <a:lnSpc>
                <a:spcPts val="1560"/>
              </a:lnSpc>
              <a:buNone/>
            </a:pPr>
            <a:r>
              <a:rPr lang="en-US" sz="1700" spc="9" kern="0" dirty="0">
                <a:solidFill>
                  <a:srgbClr val="EEF5FF"/>
                </a:solidFill>
                <a:latin typeface="Impact" pitchFamily="34" charset="0"/>
                <a:ea typeface="Impact" pitchFamily="34" charset="-122"/>
                <a:cs typeface="Impact" pitchFamily="34" charset="-120"/>
              </a:rPr>
              <a:t>M3</a:t>
            </a:r>
            <a:endParaRPr lang="en-US" sz="1700" dirty="0"/>
          </a:p>
        </p:txBody>
      </p:sp>
      <p:sp>
        <p:nvSpPr>
          <p:cNvPr id="20" name="Text 19.19"/>
          <p:cNvSpPr txBox="1"/>
          <p:nvPr/>
        </p:nvSpPr>
        <p:spPr>
          <a:xfrm>
            <a:off x="8788180" y="1739857"/>
            <a:ext cx="548223"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date TBD</a:t>
            </a:r>
            <a:endParaRPr lang="en-US" sz="750" dirty="0"/>
          </a:p>
        </p:txBody>
      </p:sp>
      <p:sp>
        <p:nvSpPr>
          <p:cNvPr id="21" name="Text 19.20"/>
          <p:cNvSpPr txBox="1"/>
          <p:nvPr/>
        </p:nvSpPr>
        <p:spPr>
          <a:xfrm>
            <a:off x="9931152" y="1676358"/>
            <a:ext cx="344195" cy="198623"/>
          </a:xfrm>
          <a:prstGeom prst="rect">
            <a:avLst/>
          </a:prstGeom>
          <a:noFill/>
          <a:ln/>
        </p:spPr>
        <p:txBody>
          <a:bodyPr wrap="square" lIns="0" tIns="0" rIns="0" bIns="0" rtlCol="0" anchor="t"/>
          <a:lstStyle/>
          <a:p>
            <a:pPr algn="l" indent="0" marL="0">
              <a:lnSpc>
                <a:spcPts val="1560"/>
              </a:lnSpc>
              <a:buNone/>
            </a:pPr>
            <a:r>
              <a:rPr lang="en-US" sz="1700" spc="9" kern="0" dirty="0">
                <a:solidFill>
                  <a:srgbClr val="EEF5FF"/>
                </a:solidFill>
                <a:latin typeface="Impact" pitchFamily="34" charset="0"/>
                <a:ea typeface="Impact" pitchFamily="34" charset="-122"/>
                <a:cs typeface="Impact" pitchFamily="34" charset="-120"/>
              </a:rPr>
              <a:t>M4</a:t>
            </a:r>
            <a:endParaRPr lang="en-US" sz="1700" dirty="0"/>
          </a:p>
        </p:txBody>
      </p:sp>
      <p:sp>
        <p:nvSpPr>
          <p:cNvPr id="22" name="Text 19.21"/>
          <p:cNvSpPr txBox="1"/>
          <p:nvPr/>
        </p:nvSpPr>
        <p:spPr>
          <a:xfrm>
            <a:off x="10248644" y="1739857"/>
            <a:ext cx="548223" cy="128584"/>
          </a:xfrm>
          <a:prstGeom prst="rect">
            <a:avLst/>
          </a:prstGeom>
          <a:noFill/>
          <a:ln/>
        </p:spPr>
        <p:txBody>
          <a:bodyPr wrap="square" lIns="0" tIns="0" rIns="0" bIns="0" rtlCol="0" anchor="t"/>
          <a:lstStyle/>
          <a:p>
            <a:pPr algn="l" indent="0" marL="0">
              <a:lnSpc>
                <a:spcPts val="1010"/>
              </a:lnSpc>
              <a:buNone/>
            </a:pPr>
            <a:r>
              <a:rPr lang="en-US" sz="750" dirty="0">
                <a:solidFill>
                  <a:srgbClr val="56698F"/>
                </a:solidFill>
                <a:latin typeface="Courier New" pitchFamily="34" charset="0"/>
                <a:ea typeface="Courier New" pitchFamily="34" charset="-122"/>
                <a:cs typeface="Courier New" pitchFamily="34" charset="-120"/>
              </a:rPr>
              <a:t>date TBD</a:t>
            </a:r>
            <a:endParaRPr lang="en-US" sz="750" dirty="0"/>
          </a:p>
        </p:txBody>
      </p:sp>
      <p:sp>
        <p:nvSpPr>
          <p:cNvPr id="23" name="Text 19.22"/>
          <p:cNvSpPr txBox="1"/>
          <p:nvPr/>
        </p:nvSpPr>
        <p:spPr>
          <a:xfrm>
            <a:off x="863578" y="2235144"/>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Core</a:t>
            </a:r>
            <a:endParaRPr lang="en-US" sz="1050" dirty="0"/>
          </a:p>
        </p:txBody>
      </p:sp>
      <p:sp>
        <p:nvSpPr>
          <p:cNvPr id="24" name="Text 19.23"/>
          <p:cNvSpPr txBox="1"/>
          <p:nvPr/>
        </p:nvSpPr>
        <p:spPr>
          <a:xfrm>
            <a:off x="2285943" y="2247844"/>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Character, camera, movement, fall detection</a:t>
            </a:r>
            <a:endParaRPr lang="en-US" sz="900" dirty="0"/>
          </a:p>
        </p:txBody>
      </p:sp>
      <p:sp>
        <p:nvSpPr>
          <p:cNvPr id="25" name="Text 19.24"/>
          <p:cNvSpPr txBox="1"/>
          <p:nvPr/>
        </p:nvSpPr>
        <p:spPr>
          <a:xfrm>
            <a:off x="863578" y="2578036"/>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LAN</a:t>
            </a:r>
            <a:endParaRPr lang="en-US" sz="1050" dirty="0"/>
          </a:p>
        </p:txBody>
      </p:sp>
      <p:sp>
        <p:nvSpPr>
          <p:cNvPr id="26" name="Text 19.25"/>
          <p:cNvSpPr txBox="1"/>
          <p:nvPr/>
        </p:nvSpPr>
        <p:spPr>
          <a:xfrm>
            <a:off x="2285943" y="2590735"/>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Host / join, host authority, sync</a:t>
            </a:r>
            <a:endParaRPr lang="en-US" sz="900" dirty="0"/>
          </a:p>
        </p:txBody>
      </p:sp>
      <p:sp>
        <p:nvSpPr>
          <p:cNvPr id="27" name="Text 19.26"/>
          <p:cNvSpPr txBox="1"/>
          <p:nvPr/>
        </p:nvSpPr>
        <p:spPr>
          <a:xfrm>
            <a:off x="863578" y="2920927"/>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Ice Race</a:t>
            </a:r>
            <a:endParaRPr lang="en-US" sz="1050" dirty="0"/>
          </a:p>
        </p:txBody>
      </p:sp>
      <p:sp>
        <p:nvSpPr>
          <p:cNvPr id="28" name="Text 19.27"/>
          <p:cNvSpPr txBox="1"/>
          <p:nvPr/>
        </p:nvSpPr>
        <p:spPr>
          <a:xfrm>
            <a:off x="2285943" y="2933627"/>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Ice movement, track, checkpoints, finish</a:t>
            </a:r>
            <a:endParaRPr lang="en-US" sz="900" dirty="0"/>
          </a:p>
        </p:txBody>
      </p:sp>
      <p:sp>
        <p:nvSpPr>
          <p:cNvPr id="29" name="Text 19.28"/>
          <p:cNvSpPr txBox="1"/>
          <p:nvPr/>
        </p:nvSpPr>
        <p:spPr>
          <a:xfrm>
            <a:off x="863578" y="3263818"/>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Mass Knockout</a:t>
            </a:r>
            <a:endParaRPr lang="en-US" sz="1050" dirty="0"/>
          </a:p>
        </p:txBody>
      </p:sp>
      <p:sp>
        <p:nvSpPr>
          <p:cNvPr id="30" name="Text 19.29"/>
          <p:cNvSpPr txBox="1"/>
          <p:nvPr/>
        </p:nvSpPr>
        <p:spPr>
          <a:xfrm>
            <a:off x="2285943" y="3276518"/>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Mass state, spit, hits, knockback, respawn</a:t>
            </a:r>
            <a:endParaRPr lang="en-US" sz="900" dirty="0"/>
          </a:p>
        </p:txBody>
      </p:sp>
      <p:sp>
        <p:nvSpPr>
          <p:cNvPr id="31" name="Text 19.30"/>
          <p:cNvSpPr txBox="1"/>
          <p:nvPr/>
        </p:nvSpPr>
        <p:spPr>
          <a:xfrm>
            <a:off x="863578" y="3606710"/>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Session</a:t>
            </a:r>
            <a:endParaRPr lang="en-US" sz="1050" dirty="0"/>
          </a:p>
        </p:txBody>
      </p:sp>
      <p:sp>
        <p:nvSpPr>
          <p:cNvPr id="32" name="Text 19.31"/>
          <p:cNvSpPr txBox="1"/>
          <p:nvPr/>
        </p:nvSpPr>
        <p:spPr>
          <a:xfrm>
            <a:off x="2285943" y="3619410"/>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Lobby, rotation, scoreboard, catch-up scoring</a:t>
            </a:r>
            <a:endParaRPr lang="en-US" sz="900" dirty="0"/>
          </a:p>
        </p:txBody>
      </p:sp>
      <p:sp>
        <p:nvSpPr>
          <p:cNvPr id="33" name="Text 19.32"/>
          <p:cNvSpPr txBox="1"/>
          <p:nvPr/>
        </p:nvSpPr>
        <p:spPr>
          <a:xfrm>
            <a:off x="863578" y="3949601"/>
            <a:ext cx="1435064" cy="160016"/>
          </a:xfrm>
          <a:prstGeom prst="rect">
            <a:avLst/>
          </a:prstGeom>
          <a:noFill/>
          <a:ln/>
        </p:spPr>
        <p:txBody>
          <a:bodyPr wrap="square" lIns="0" tIns="0" rIns="0" bIns="0" rtlCol="0" anchor="t"/>
          <a:lstStyle/>
          <a:p>
            <a:pPr algn="l" indent="0" marL="0">
              <a:lnSpc>
                <a:spcPts val="1260"/>
              </a:lnSpc>
              <a:buNone/>
            </a:pPr>
            <a:r>
              <a:rPr lang="en-US" sz="1050" b="1" dirty="0">
                <a:solidFill>
                  <a:srgbClr val="EEF5FF"/>
                </a:solidFill>
                <a:latin typeface="Arial" pitchFamily="34" charset="0"/>
                <a:ea typeface="Arial" pitchFamily="34" charset="-122"/>
                <a:cs typeface="Arial" pitchFamily="34" charset="-120"/>
              </a:rPr>
              <a:t>Tune &amp; polish</a:t>
            </a:r>
            <a:endParaRPr lang="en-US" sz="1050" dirty="0"/>
          </a:p>
        </p:txBody>
      </p:sp>
      <p:sp>
        <p:nvSpPr>
          <p:cNvPr id="34" name="Text 19.33"/>
          <p:cNvSpPr txBox="1"/>
          <p:nvPr/>
        </p:nvSpPr>
        <p:spPr>
          <a:xfrm>
            <a:off x="2285943" y="3962301"/>
            <a:ext cx="3086023" cy="148586"/>
          </a:xfrm>
          <a:prstGeom prst="rect">
            <a:avLst/>
          </a:prstGeom>
          <a:noFill/>
          <a:ln/>
        </p:spPr>
        <p:txBody>
          <a:bodyPr wrap="square" lIns="0" tIns="0" rIns="0" bIns="0" rtlCol="0" anchor="t"/>
          <a:lstStyle/>
          <a:p>
            <a:pPr algn="l" indent="0" marL="0">
              <a:lnSpc>
                <a:spcPts val="1170"/>
              </a:lnSpc>
              <a:buNone/>
            </a:pPr>
            <a:r>
              <a:rPr lang="en-US" sz="900" dirty="0">
                <a:solidFill>
                  <a:srgbClr val="D3DEF2"/>
                </a:solidFill>
                <a:latin typeface="Arial" pitchFamily="34" charset="0"/>
                <a:ea typeface="Arial" pitchFamily="34" charset="-122"/>
                <a:cs typeface="Arial" pitchFamily="34" charset="-120"/>
              </a:rPr>
              <a:t>Playtests; trails, hit flash, UI</a:t>
            </a:r>
            <a:endParaRPr lang="en-US" sz="900" dirty="0"/>
          </a:p>
        </p:txBody>
      </p:sp>
      <p:sp>
        <p:nvSpPr>
          <p:cNvPr id="35" name="Text 19.34"/>
          <p:cNvSpPr txBox="1"/>
          <p:nvPr/>
        </p:nvSpPr>
        <p:spPr>
          <a:xfrm>
            <a:off x="863578" y="4330592"/>
            <a:ext cx="2856899" cy="106677"/>
          </a:xfrm>
          <a:prstGeom prst="rect">
            <a:avLst/>
          </a:prstGeom>
          <a:noFill/>
          <a:ln/>
        </p:spPr>
        <p:txBody>
          <a:bodyPr wrap="square" lIns="0" tIns="0" rIns="0" bIns="0" rtlCol="0" anchor="t"/>
          <a:lstStyle/>
          <a:p>
            <a:pPr algn="l" indent="0" marL="0">
              <a:lnSpc>
                <a:spcPts val="840"/>
              </a:lnSpc>
              <a:buNone/>
            </a:pPr>
            <a:r>
              <a:rPr lang="en-US" sz="700" b="1" spc="126" kern="0" dirty="0">
                <a:solidFill>
                  <a:srgbClr val="FF6A1A"/>
                </a:solidFill>
                <a:latin typeface="Courier New" pitchFamily="34" charset="0"/>
                <a:ea typeface="Courier New" pitchFamily="34" charset="-122"/>
                <a:cs typeface="Courier New" pitchFamily="34" charset="-120"/>
              </a:rPr>
              <a:t>ORDER IS FIXED · DATES AND OWNERS: TBD</a:t>
            </a:r>
            <a:endParaRPr lang="en-US" sz="700" dirty="0"/>
          </a:p>
        </p:txBody>
      </p:sp>
      <p:sp>
        <p:nvSpPr>
          <p:cNvPr id="36" name="Text 19.35"/>
          <p:cNvSpPr txBox="1"/>
          <p:nvPr/>
        </p:nvSpPr>
        <p:spPr>
          <a:xfrm>
            <a:off x="609585" y="292093"/>
            <a:ext cx="1011494"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ROUND </a:t>
            </a:r>
            <a:pPr algn="l" indent="0" marL="0">
              <a:lnSpc>
                <a:spcPts val="800"/>
              </a:lnSpc>
              <a:buNone/>
            </a:pPr>
            <a:r>
              <a:rPr lang="en-US" sz="800" b="1" spc="160" kern="0" dirty="0">
                <a:solidFill>
                  <a:srgbClr val="FF6A1A"/>
                </a:solidFill>
                <a:latin typeface="Courier New" pitchFamily="34" charset="0"/>
                <a:ea typeface="Courier New" pitchFamily="34" charset="-122"/>
                <a:cs typeface="Courier New" pitchFamily="34" charset="-120"/>
              </a:rPr>
              <a:t>6</a:t>
            </a:r>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 / 6</a:t>
            </a:r>
            <a:endParaRPr lang="en-US" sz="800" dirty="0"/>
          </a:p>
        </p:txBody>
      </p:sp>
      <p:sp>
        <p:nvSpPr>
          <p:cNvPr id="37" name="Text 19.36"/>
          <p:cNvSpPr txBox="1"/>
          <p:nvPr/>
        </p:nvSpPr>
        <p:spPr>
          <a:xfrm>
            <a:off x="609585" y="444489"/>
            <a:ext cx="1442162"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EEF5FF"/>
                </a:solidFill>
                <a:latin typeface="Courier New" pitchFamily="34" charset="0"/>
                <a:ea typeface="Courier New" pitchFamily="34" charset="-122"/>
                <a:cs typeface="Courier New" pitchFamily="34" charset="-120"/>
              </a:rPr>
              <a:t>DEVELOPMENT PLAN</a:t>
            </a:r>
            <a:endParaRPr lang="en-US" sz="800" dirty="0"/>
          </a:p>
        </p:txBody>
      </p:sp>
      <p:sp>
        <p:nvSpPr>
          <p:cNvPr id="38" name="Text 19.37"/>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19</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0.1"/>
          <p:cNvSpPr txBox="1"/>
          <p:nvPr/>
        </p:nvSpPr>
        <p:spPr>
          <a:xfrm>
            <a:off x="609585" y="406390"/>
            <a:ext cx="1244970" cy="114297"/>
          </a:xfrm>
          <a:prstGeom prst="rect">
            <a:avLst/>
          </a:prstGeom>
          <a:noFill/>
          <a:ln/>
        </p:spPr>
        <p:txBody>
          <a:bodyPr wrap="square" lIns="0" tIns="0" rIns="0" bIns="0" rtlCol="0" anchor="t"/>
          <a:lstStyle/>
          <a:p>
            <a:pPr algn="l" indent="0" marL="0">
              <a:lnSpc>
                <a:spcPts val="900"/>
              </a:lnSpc>
              <a:buNone/>
            </a:pPr>
            <a:r>
              <a:rPr lang="en-US" sz="750" b="1" spc="135" kern="0" dirty="0">
                <a:solidFill>
                  <a:srgbClr val="8C9FC3"/>
                </a:solidFill>
                <a:latin typeface="Courier New" pitchFamily="34" charset="0"/>
                <a:ea typeface="Courier New" pitchFamily="34" charset="-122"/>
                <a:cs typeface="Courier New" pitchFamily="34" charset="-120"/>
              </a:rPr>
              <a:t>FINAL STANDINGS</a:t>
            </a:r>
            <a:endParaRPr lang="en-US" sz="750" dirty="0"/>
          </a:p>
        </p:txBody>
      </p:sp>
      <p:sp>
        <p:nvSpPr>
          <p:cNvPr id="3" name="Text 20.2"/>
          <p:cNvSpPr txBox="1"/>
          <p:nvPr/>
        </p:nvSpPr>
        <p:spPr>
          <a:xfrm>
            <a:off x="584185" y="825479"/>
            <a:ext cx="4742163" cy="876278"/>
          </a:xfrm>
          <a:prstGeom prst="rect">
            <a:avLst/>
          </a:prstGeom>
          <a:noFill/>
          <a:ln/>
        </p:spPr>
        <p:txBody>
          <a:bodyPr wrap="square" lIns="0" tIns="0" rIns="0" bIns="0" rtlCol="0" anchor="t"/>
          <a:lstStyle/>
          <a:p>
            <a:pPr algn="l" indent="0" marL="0">
              <a:lnSpc>
                <a:spcPts val="6900"/>
              </a:lnSpc>
              <a:buNone/>
            </a:pPr>
            <a:r>
              <a:rPr lang="en-US" sz="7500" spc="38" kern="0" dirty="0">
                <a:solidFill>
                  <a:srgbClr val="2EC0FF"/>
                </a:solidFill>
                <a:latin typeface="Impact" pitchFamily="34" charset="0"/>
                <a:ea typeface="Impact" pitchFamily="34" charset="-122"/>
                <a:cs typeface="Impact" pitchFamily="34" charset="-120"/>
              </a:rPr>
              <a:t>ICE </a:t>
            </a:r>
            <a:pPr algn="l" indent="0" marL="0">
              <a:lnSpc>
                <a:spcPts val="6900"/>
              </a:lnSpc>
              <a:buNone/>
            </a:pPr>
            <a:r>
              <a:rPr lang="en-US" sz="7500" spc="38" kern="0" dirty="0">
                <a:solidFill>
                  <a:srgbClr val="EEF5FF"/>
                </a:solidFill>
                <a:latin typeface="Impact" pitchFamily="34" charset="0"/>
                <a:ea typeface="Impact" pitchFamily="34" charset="-122"/>
                <a:cs typeface="Impact" pitchFamily="34" charset="-120"/>
              </a:rPr>
              <a:t>RUMBLE</a:t>
            </a:r>
            <a:endParaRPr lang="en-US" sz="7500" dirty="0"/>
          </a:p>
        </p:txBody>
      </p:sp>
      <p:sp>
        <p:nvSpPr>
          <p:cNvPr id="4" name="Text 20.3"/>
          <p:cNvSpPr txBox="1"/>
          <p:nvPr/>
        </p:nvSpPr>
        <p:spPr>
          <a:xfrm>
            <a:off x="800080" y="2324042"/>
            <a:ext cx="507418"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FF6A1A"/>
                </a:solidFill>
                <a:latin typeface="Impact" pitchFamily="34" charset="0"/>
                <a:ea typeface="Impact" pitchFamily="34" charset="-122"/>
                <a:cs typeface="Impact" pitchFamily="34" charset="-120"/>
              </a:rPr>
              <a:t>1ST</a:t>
            </a:r>
            <a:endParaRPr lang="en-US" sz="2400" dirty="0"/>
          </a:p>
        </p:txBody>
      </p:sp>
      <p:sp>
        <p:nvSpPr>
          <p:cNvPr id="5" name="Text 20.4"/>
          <p:cNvSpPr txBox="1"/>
          <p:nvPr/>
        </p:nvSpPr>
        <p:spPr>
          <a:xfrm>
            <a:off x="1523962" y="2285943"/>
            <a:ext cx="4419490" cy="380990"/>
          </a:xfrm>
          <a:prstGeom prst="rect">
            <a:avLst/>
          </a:prstGeom>
          <a:noFill/>
          <a:ln/>
        </p:spPr>
        <p:txBody>
          <a:bodyPr wrap="square" lIns="0" tIns="0" rIns="0" bIns="0" rtlCol="0" anchor="ctr"/>
          <a:lstStyle/>
          <a:p>
            <a:pPr algn="l" indent="0" marL="0">
              <a:lnSpc>
                <a:spcPts val="1690"/>
              </a:lnSpc>
              <a:buNone/>
            </a:pPr>
            <a:r>
              <a:rPr lang="en-US" sz="1250" dirty="0">
                <a:solidFill>
                  <a:srgbClr val="EEF5FF"/>
                </a:solidFill>
                <a:latin typeface="Arial" pitchFamily="34" charset="0"/>
                <a:ea typeface="Arial" pitchFamily="34" charset="-122"/>
                <a:cs typeface="Arial" pitchFamily="34" charset="-120"/>
              </a:rPr>
              <a:t>2–4 players, one LAN, no internet.</a:t>
            </a:r>
            <a:endParaRPr lang="en-US" sz="1250" dirty="0"/>
          </a:p>
        </p:txBody>
      </p:sp>
      <p:sp>
        <p:nvSpPr>
          <p:cNvPr id="6" name="Text 20.5"/>
          <p:cNvSpPr txBox="1"/>
          <p:nvPr/>
        </p:nvSpPr>
        <p:spPr>
          <a:xfrm>
            <a:off x="800080" y="3086023"/>
            <a:ext cx="584086"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2EC0FF"/>
                </a:solidFill>
                <a:latin typeface="Impact" pitchFamily="34" charset="0"/>
                <a:ea typeface="Impact" pitchFamily="34" charset="-122"/>
                <a:cs typeface="Impact" pitchFamily="34" charset="-120"/>
              </a:rPr>
              <a:t>2ND</a:t>
            </a:r>
            <a:endParaRPr lang="en-US" sz="2400" dirty="0"/>
          </a:p>
        </p:txBody>
      </p:sp>
      <p:sp>
        <p:nvSpPr>
          <p:cNvPr id="7" name="Text 20.6"/>
          <p:cNvSpPr txBox="1"/>
          <p:nvPr/>
        </p:nvSpPr>
        <p:spPr>
          <a:xfrm>
            <a:off x="1523962" y="3047924"/>
            <a:ext cx="4419490" cy="380990"/>
          </a:xfrm>
          <a:prstGeom prst="rect">
            <a:avLst/>
          </a:prstGeom>
          <a:noFill/>
          <a:ln/>
        </p:spPr>
        <p:txBody>
          <a:bodyPr wrap="square" lIns="0" tIns="0" rIns="0" bIns="0" rtlCol="0" anchor="ctr"/>
          <a:lstStyle/>
          <a:p>
            <a:pPr algn="l" indent="0" marL="0">
              <a:lnSpc>
                <a:spcPts val="1690"/>
              </a:lnSpc>
              <a:buNone/>
            </a:pPr>
            <a:r>
              <a:rPr lang="en-US" sz="1250" dirty="0">
                <a:solidFill>
                  <a:srgbClr val="EEF5FF"/>
                </a:solidFill>
                <a:latin typeface="Arial" pitchFamily="34" charset="0"/>
                <a:ea typeface="Arial" pitchFamily="34" charset="-122"/>
                <a:cs typeface="Arial" pitchFamily="34" charset="-120"/>
              </a:rPr>
              <a:t>Two mini-games on one shared Unity core.</a:t>
            </a:r>
            <a:endParaRPr lang="en-US" sz="1250" dirty="0"/>
          </a:p>
        </p:txBody>
      </p:sp>
      <p:sp>
        <p:nvSpPr>
          <p:cNvPr id="8" name="Text 20.7"/>
          <p:cNvSpPr txBox="1"/>
          <p:nvPr/>
        </p:nvSpPr>
        <p:spPr>
          <a:xfrm>
            <a:off x="800080" y="3848004"/>
            <a:ext cx="592289" cy="280409"/>
          </a:xfrm>
          <a:prstGeom prst="rect">
            <a:avLst/>
          </a:prstGeom>
          <a:noFill/>
          <a:ln/>
        </p:spPr>
        <p:txBody>
          <a:bodyPr wrap="square" lIns="0" tIns="0" rIns="0" bIns="0" rtlCol="0" anchor="t"/>
          <a:lstStyle/>
          <a:p>
            <a:pPr algn="l" indent="0" marL="0">
              <a:lnSpc>
                <a:spcPts val="2210"/>
              </a:lnSpc>
              <a:buNone/>
            </a:pPr>
            <a:r>
              <a:rPr lang="en-US" sz="2400" spc="12" kern="0" dirty="0">
                <a:solidFill>
                  <a:srgbClr val="6CD63A"/>
                </a:solidFill>
                <a:latin typeface="Impact" pitchFamily="34" charset="0"/>
                <a:ea typeface="Impact" pitchFamily="34" charset="-122"/>
                <a:cs typeface="Impact" pitchFamily="34" charset="-120"/>
              </a:rPr>
              <a:t>3RD</a:t>
            </a:r>
            <a:endParaRPr lang="en-US" sz="2400" dirty="0"/>
          </a:p>
        </p:txBody>
      </p:sp>
      <p:sp>
        <p:nvSpPr>
          <p:cNvPr id="9" name="Text 20.8"/>
          <p:cNvSpPr txBox="1"/>
          <p:nvPr/>
        </p:nvSpPr>
        <p:spPr>
          <a:xfrm>
            <a:off x="1523962" y="3809905"/>
            <a:ext cx="4419490" cy="380990"/>
          </a:xfrm>
          <a:prstGeom prst="rect">
            <a:avLst/>
          </a:prstGeom>
          <a:noFill/>
          <a:ln/>
        </p:spPr>
        <p:txBody>
          <a:bodyPr wrap="square" lIns="0" tIns="0" rIns="0" bIns="0" rtlCol="0" anchor="ctr"/>
          <a:lstStyle/>
          <a:p>
            <a:pPr algn="l" indent="0" marL="0">
              <a:lnSpc>
                <a:spcPts val="1690"/>
              </a:lnSpc>
              <a:buNone/>
            </a:pPr>
            <a:r>
              <a:rPr lang="en-US" sz="1250" dirty="0">
                <a:solidFill>
                  <a:srgbClr val="EEF5FF"/>
                </a:solidFill>
                <a:latin typeface="Arial" pitchFamily="34" charset="0"/>
                <a:ea typeface="Arial" pitchFamily="34" charset="-122"/>
                <a:cs typeface="Arial" pitchFamily="34" charset="-120"/>
              </a:rPr>
              <a:t>Every shot costs the shooter mass, so aim matters more than volume.</a:t>
            </a:r>
            <a:endParaRPr lang="en-US" sz="1250" dirty="0"/>
          </a:p>
        </p:txBody>
      </p:sp>
      <p:sp>
        <p:nvSpPr>
          <p:cNvPr id="10" name="Text 20.9"/>
          <p:cNvSpPr txBox="1"/>
          <p:nvPr/>
        </p:nvSpPr>
        <p:spPr>
          <a:xfrm>
            <a:off x="596885" y="4825879"/>
            <a:ext cx="4065504" cy="701022"/>
          </a:xfrm>
          <a:prstGeom prst="rect">
            <a:avLst/>
          </a:prstGeom>
          <a:noFill/>
          <a:ln/>
        </p:spPr>
        <p:txBody>
          <a:bodyPr wrap="square" lIns="0" tIns="0" rIns="0" bIns="0" rtlCol="0" anchor="t"/>
          <a:lstStyle/>
          <a:p>
            <a:pPr algn="l" indent="0" marL="0">
              <a:lnSpc>
                <a:spcPts val="5520"/>
              </a:lnSpc>
              <a:buNone/>
            </a:pPr>
            <a:r>
              <a:rPr lang="en-US" sz="6000" spc="30" kern="0" dirty="0">
                <a:solidFill>
                  <a:srgbClr val="FF6A1A"/>
                </a:solidFill>
                <a:latin typeface="Impact" pitchFamily="34" charset="0"/>
                <a:ea typeface="Impact" pitchFamily="34" charset="-122"/>
                <a:cs typeface="Impact" pitchFamily="34" charset="-120"/>
              </a:rPr>
              <a:t>QUESTIONS?</a:t>
            </a:r>
            <a:endParaRPr lang="en-US" sz="6000" dirty="0"/>
          </a:p>
        </p:txBody>
      </p:sp>
      <p:sp>
        <p:nvSpPr>
          <p:cNvPr id="11" name="Text 20.10"/>
          <p:cNvSpPr txBox="1"/>
          <p:nvPr/>
        </p:nvSpPr>
        <p:spPr>
          <a:xfrm>
            <a:off x="609585" y="5968851"/>
            <a:ext cx="7022924" cy="177796"/>
          </a:xfrm>
          <a:prstGeom prst="rect">
            <a:avLst/>
          </a:prstGeom>
          <a:noFill/>
          <a:ln/>
        </p:spPr>
        <p:txBody>
          <a:bodyPr wrap="square" lIns="0" tIns="0" rIns="0" bIns="0" rtlCol="0" anchor="t"/>
          <a:lstStyle/>
          <a:p>
            <a:pPr algn="l" indent="0" marL="0">
              <a:lnSpc>
                <a:spcPts val="1400"/>
              </a:lnSpc>
              <a:buNone/>
            </a:pPr>
            <a:r>
              <a:rPr lang="en-US" sz="1000" dirty="0">
                <a:solidFill>
                  <a:srgbClr val="8C9FC3"/>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
        <p:nvSpPr>
          <p:cNvPr id="12" name="Text 20.11"/>
          <p:cNvSpPr txBox="1"/>
          <p:nvPr/>
        </p:nvSpPr>
        <p:spPr>
          <a:xfrm>
            <a:off x="8913254" y="406390"/>
            <a:ext cx="2668856" cy="128584"/>
          </a:xfrm>
          <a:prstGeom prst="rect">
            <a:avLst/>
          </a:prstGeom>
          <a:noFill/>
          <a:ln/>
        </p:spPr>
        <p:txBody>
          <a:bodyPr wrap="square" lIns="0" tIns="0" rIns="0" bIns="0" rtlCol="0" anchor="t"/>
          <a:lstStyle/>
          <a:p>
            <a:pPr algn="r" indent="0" marL="0">
              <a:lnSpc>
                <a:spcPts val="1010"/>
              </a:lnSpc>
              <a:buNone/>
            </a:pPr>
            <a:r>
              <a:rPr lang="en-US" sz="750" dirty="0">
                <a:solidFill>
                  <a:srgbClr val="EEF5FF"/>
                </a:solidFill>
                <a:latin typeface="Courier New" pitchFamily="34" charset="0"/>
                <a:ea typeface="Courier New" pitchFamily="34" charset="-122"/>
                <a:cs typeface="Courier New" pitchFamily="34" charset="-120"/>
              </a:rPr>
              <a:t>Concept render, AI-generated. Not gameplay.</a:t>
            </a:r>
            <a:endParaRPr lang="en-US" sz="7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1.1"/>
          <p:cNvSpPr txBox="1"/>
          <p:nvPr/>
        </p:nvSpPr>
        <p:spPr>
          <a:xfrm>
            <a:off x="609585" y="787380"/>
            <a:ext cx="11102062" cy="391150"/>
          </a:xfrm>
          <a:prstGeom prst="rect">
            <a:avLst/>
          </a:prstGeom>
          <a:noFill/>
          <a:ln/>
        </p:spPr>
        <p:txBody>
          <a:bodyPr wrap="square" lIns="0" tIns="0" rIns="0" bIns="0" rtlCol="0" anchor="t"/>
          <a:lstStyle/>
          <a:p>
            <a:pPr algn="l" indent="0" marL="0">
              <a:lnSpc>
                <a:spcPts val="3080"/>
              </a:lnSpc>
              <a:buNone/>
            </a:pPr>
            <a:r>
              <a:rPr lang="en-US" sz="2800" b="1" spc="-50" kern="0" dirty="0">
                <a:solidFill>
                  <a:srgbClr val="EEF5FF"/>
                </a:solidFill>
                <a:latin typeface="Arial" pitchFamily="34" charset="0"/>
                <a:ea typeface="Arial" pitchFamily="34" charset="-122"/>
                <a:cs typeface="Arial" pitchFamily="34" charset="-120"/>
              </a:rPr>
              <a:t>Sources</a:t>
            </a:r>
            <a:endParaRPr lang="en-US" sz="2800" dirty="0"/>
          </a:p>
        </p:txBody>
      </p:sp>
      <p:sp>
        <p:nvSpPr>
          <p:cNvPr id="3" name="Text 21.2"/>
          <p:cNvSpPr txBox="1"/>
          <p:nvPr/>
        </p:nvSpPr>
        <p:spPr>
          <a:xfrm>
            <a:off x="609585" y="1650959"/>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[1] Newzoo final 2025 figures, via GameDev Reports, 2026-06-26. gamedevreports.substack.com/p/newzoo-gaming-market-surpassed-200</a:t>
            </a:r>
            <a:endParaRPr lang="en-US" sz="950" dirty="0"/>
          </a:p>
        </p:txBody>
      </p:sp>
      <p:sp>
        <p:nvSpPr>
          <p:cNvPr id="4" name="Text 21.3"/>
          <p:cNvSpPr txBox="1"/>
          <p:nvPr/>
        </p:nvSpPr>
        <p:spPr>
          <a:xfrm>
            <a:off x="609585" y="2044649"/>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50" dirty="0"/>
          </a:p>
        </p:txBody>
      </p:sp>
      <p:sp>
        <p:nvSpPr>
          <p:cNvPr id="5" name="Text 21.4"/>
          <p:cNvSpPr txBox="1"/>
          <p:nvPr/>
        </p:nvSpPr>
        <p:spPr>
          <a:xfrm>
            <a:off x="609585" y="2438339"/>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6" name="Text 21.5"/>
          <p:cNvSpPr txBox="1"/>
          <p:nvPr/>
        </p:nvSpPr>
        <p:spPr>
          <a:xfrm>
            <a:off x="609585" y="2832029"/>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[4] Steam store search, tag “Party Game” × LAN PvP / Online PvP / Shared-Split-screen PvP, 2026-10-17. Tags are user-applied.</a:t>
            </a:r>
            <a:endParaRPr lang="en-US" sz="950" dirty="0"/>
          </a:p>
        </p:txBody>
      </p:sp>
      <p:sp>
        <p:nvSpPr>
          <p:cNvPr id="7" name="Text 21.6"/>
          <p:cNvSpPr txBox="1"/>
          <p:nvPr/>
        </p:nvSpPr>
        <p:spPr>
          <a:xfrm>
            <a:off x="609585" y="3225719"/>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[5] Game Developers, 2025 Steam revenue distribution (Gamalytic estimates), 2026-08-21. game-developers.org/2025-steam-game-revenue-distribution</a:t>
            </a:r>
            <a:endParaRPr lang="en-US" sz="950" dirty="0"/>
          </a:p>
        </p:txBody>
      </p:sp>
      <p:sp>
        <p:nvSpPr>
          <p:cNvPr id="8" name="Text 21.7"/>
          <p:cNvSpPr txBox="1"/>
          <p:nvPr/>
        </p:nvSpPr>
        <p:spPr>
          <a:xfrm>
            <a:off x="609585" y="3619410"/>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[6] PC Gamer, Valve at GDC 2026: 5,863 games over $100K on Steam in 2025. pcgamer.com</a:t>
            </a:r>
            <a:endParaRPr lang="en-US" sz="950" dirty="0"/>
          </a:p>
        </p:txBody>
      </p:sp>
      <p:sp>
        <p:nvSpPr>
          <p:cNvPr id="9" name="Text 21.8"/>
          <p:cNvSpPr txBox="1"/>
          <p:nvPr/>
        </p:nvSpPr>
        <p:spPr>
          <a:xfrm>
            <a:off x="609585" y="4013100"/>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[7] Steam store pages and SteamDB charts, apps 1260320, 285900, 1097150, 880940, 1858400: prices, peaks, reviews, owner estimates. 2026-10-17.</a:t>
            </a:r>
            <a:endParaRPr lang="en-US" sz="950" dirty="0"/>
          </a:p>
        </p:txBody>
      </p:sp>
      <p:sp>
        <p:nvSpPr>
          <p:cNvPr id="10" name="Text 21.9"/>
          <p:cNvSpPr txBox="1"/>
          <p:nvPr/>
        </p:nvSpPr>
        <p:spPr>
          <a:xfrm>
            <a:off x="609585" y="4406790"/>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[8] GameRevolution / Prima Games: Party Animals requires an internet connection, including split-screen.</a:t>
            </a:r>
            <a:endParaRPr lang="en-US" sz="950" dirty="0"/>
          </a:p>
        </p:txBody>
      </p:sp>
      <p:sp>
        <p:nvSpPr>
          <p:cNvPr id="11" name="Text 21.10"/>
          <p:cNvSpPr txBox="1"/>
          <p:nvPr/>
        </p:nvSpPr>
        <p:spPr>
          <a:xfrm>
            <a:off x="609585" y="4800480"/>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[9] Osmos official site, osmos-game.com. [10] Squarena on Steam (app 1858400); codeaclysmgames.com/squarena-details.</a:t>
            </a:r>
            <a:endParaRPr lang="en-US" sz="950" dirty="0"/>
          </a:p>
        </p:txBody>
      </p:sp>
      <p:sp>
        <p:nvSpPr>
          <p:cNvPr id="12" name="Text 21.11"/>
          <p:cNvSpPr txBox="1"/>
          <p:nvPr/>
        </p:nvSpPr>
        <p:spPr>
          <a:xfrm>
            <a:off x="609585" y="5194170"/>
            <a:ext cx="11010625" cy="168906"/>
          </a:xfrm>
          <a:prstGeom prst="rect">
            <a:avLst/>
          </a:prstGeom>
          <a:noFill/>
          <a:ln/>
        </p:spPr>
        <p:txBody>
          <a:bodyPr wrap="square" lIns="0" tIns="0" rIns="0" bIns="0" rtlCol="0" anchor="t"/>
          <a:lstStyle/>
          <a:p>
            <a:pPr algn="l" indent="0" marL="0">
              <a:lnSpc>
                <a:spcPts val="1330"/>
              </a:lnSpc>
              <a:buNone/>
            </a:pPr>
            <a:r>
              <a:rPr lang="en-US" sz="950" dirty="0">
                <a:solidFill>
                  <a:srgbClr val="D3DEF2"/>
                </a:solidFill>
                <a:latin typeface="Arial" pitchFamily="34" charset="0"/>
                <a:ea typeface="Arial" pitchFamily="34" charset="-122"/>
                <a:cs typeface="Arial" pitchFamily="34" charset="-120"/>
              </a:rPr>
              <a:t>[11] Morphies Law official site, morphieslaw.com/game. [12] Crisol: Theater of Idols, Blumhouse Games and Steam (app 1790930).</a:t>
            </a:r>
            <a:endParaRPr lang="en-US" sz="950" dirty="0"/>
          </a:p>
        </p:txBody>
      </p:sp>
      <p:sp>
        <p:nvSpPr>
          <p:cNvPr id="13" name="Text 21.12"/>
          <p:cNvSpPr txBox="1"/>
          <p:nvPr/>
        </p:nvSpPr>
        <p:spPr>
          <a:xfrm>
            <a:off x="609585" y="5587860"/>
            <a:ext cx="11010625" cy="337732"/>
          </a:xfrm>
          <a:prstGeom prst="rect">
            <a:avLst/>
          </a:prstGeom>
          <a:noFill/>
          <a:ln/>
        </p:spPr>
        <p:txBody>
          <a:bodyPr wrap="square" lIns="0" tIns="0" rIns="0" bIns="0" rtlCol="0" anchor="t"/>
          <a:lstStyle/>
          <a:p>
            <a:pPr algn="l" indent="0" marL="0">
              <a:lnSpc>
                <a:spcPts val="1330"/>
              </a:lnSpc>
              <a:buNone/>
            </a:pPr>
            <a:r>
              <a:rPr lang="en-US" sz="950" dirty="0">
                <a:solidFill>
                  <a:srgbClr val="8C9FC3"/>
                </a:solidFill>
                <a:latin typeface="Arial" pitchFamily="34" charset="0"/>
                <a:ea typeface="Arial" pitchFamily="34" charset="-122"/>
                <a:cs typeface="Arial" pitchFamily="34" charset="-120"/>
              </a:rPr>
              <a:t>Images: all game visuals are AI concept renders (GPT Image via Higgsfield; MiniMax H3) from our own reference art, except competitor screenshots (official Steam media). Logo and level drafts made for this proposal.</a:t>
            </a:r>
            <a:endParaRPr lang="en-US" sz="950" dirty="0"/>
          </a:p>
        </p:txBody>
      </p:sp>
      <p:sp>
        <p:nvSpPr>
          <p:cNvPr id="14" name="Text 21.13"/>
          <p:cNvSpPr txBox="1"/>
          <p:nvPr/>
        </p:nvSpPr>
        <p:spPr>
          <a:xfrm>
            <a:off x="609585" y="292093"/>
            <a:ext cx="752883" cy="101597"/>
          </a:xfrm>
          <a:prstGeom prst="rect">
            <a:avLst/>
          </a:prstGeom>
          <a:noFill/>
          <a:ln/>
        </p:spPr>
        <p:txBody>
          <a:bodyPr wrap="square" lIns="0" tIns="0" rIns="0" bIns="0" rtlCol="0" anchor="t"/>
          <a:lstStyle/>
          <a:p>
            <a:pPr algn="l" indent="0" marL="0">
              <a:lnSpc>
                <a:spcPts val="800"/>
              </a:lnSpc>
              <a:buNone/>
            </a:pPr>
            <a:r>
              <a:rPr lang="en-US" sz="800" b="1" spc="160" kern="0" dirty="0">
                <a:solidFill>
                  <a:srgbClr val="8C9FC3"/>
                </a:solidFill>
                <a:latin typeface="Courier New" pitchFamily="34" charset="0"/>
                <a:ea typeface="Courier New" pitchFamily="34" charset="-122"/>
                <a:cs typeface="Courier New" pitchFamily="34" charset="-120"/>
              </a:rPr>
              <a:t>APPENDIX</a:t>
            </a:r>
            <a:endParaRPr lang="en-US" sz="800" dirty="0"/>
          </a:p>
        </p:txBody>
      </p:sp>
      <p:sp>
        <p:nvSpPr>
          <p:cNvPr id="15" name="Text 21.14"/>
          <p:cNvSpPr txBox="1"/>
          <p:nvPr/>
        </p:nvSpPr>
        <p:spPr>
          <a:xfrm>
            <a:off x="10916965" y="330192"/>
            <a:ext cx="768553" cy="139697"/>
          </a:xfrm>
          <a:prstGeom prst="rect">
            <a:avLst/>
          </a:prstGeom>
          <a:noFill/>
          <a:ln/>
        </p:spPr>
        <p:txBody>
          <a:bodyPr wrap="square" lIns="0" tIns="0" rIns="0" bIns="0" rtlCol="0" anchor="t"/>
          <a:lstStyle/>
          <a:p>
            <a:pPr algn="l" indent="0" marL="0">
              <a:lnSpc>
                <a:spcPts val="1100"/>
              </a:lnSpc>
              <a:buNone/>
            </a:pPr>
            <a:r>
              <a:rPr lang="en-US" sz="1100" b="1" spc="88" kern="0" dirty="0">
                <a:solidFill>
                  <a:srgbClr val="EEF5FF"/>
                </a:solidFill>
                <a:latin typeface="Courier New" pitchFamily="34" charset="0"/>
                <a:ea typeface="Courier New" pitchFamily="34" charset="-122"/>
                <a:cs typeface="Courier New" pitchFamily="34" charset="-120"/>
              </a:rPr>
              <a:t>21</a:t>
            </a:r>
            <a:pPr algn="l" indent="0" marL="0">
              <a:lnSpc>
                <a:spcPts val="1100"/>
              </a:lnSpc>
              <a:buNone/>
            </a:pPr>
            <a:r>
              <a:rPr lang="en-US" sz="1100" b="1" spc="88" kern="0" dirty="0">
                <a:solidFill>
                  <a:srgbClr val="56698F"/>
                </a:solidFill>
                <a:latin typeface="Courier New" pitchFamily="34" charset="0"/>
                <a:ea typeface="Courier New" pitchFamily="34" charset="-122"/>
                <a:cs typeface="Courier New" pitchFamily="34" charset="-120"/>
              </a:rPr>
              <a:t> / 21</a:t>
            </a:r>
            <a:endParaRPr lang="en-US" sz="11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2026-10-17T09:14:21Z</dcterms:created>
  <dcterms:modified xsi:type="dcterms:W3CDTF">2026-10-17T09:14:21Z</dcterms:modified>
</cp:coreProperties>
</file>