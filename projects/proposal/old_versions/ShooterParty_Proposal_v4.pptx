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6f5f029-7b0c-06a2-1deb-aba9854c7069}">
          <p14:sldIdLst>
            <p14:sldId id="256"/>
            <p14:sldId id="257"/>
            <p14:sldId id="258"/>
          </p14:sldIdLst>
        </p14:section>
        <p14:section name="Mechanics" id="{99498f17-949a-57cc-e7fb-47d587413807}">
          <p14:sldIdLst>
            <p14:sldId id="259"/>
            <p14:sldId id="260"/>
            <p14:sldId id="261"/>
            <p14:sldId id="262"/>
            <p14:sldId id="263"/>
            <p14:sldId id="264"/>
            <p14:sldId id="265"/>
          </p14:sldIdLst>
        </p14:section>
        <p14:section name="Innovation" id="{4b794918-1a0f-6d99-2052-e22d57fff9cb}">
          <p14:sldIdLst>
            <p14:sldId id="266"/>
            <p14:sldId id="267"/>
          </p14:sldIdLst>
        </p14:section>
        <p14:section name="Market" id="{cad60fcd-682c-fe35-3394-49f2a598ba62}">
          <p14:sldIdLst>
            <p14:sldId id="268"/>
            <p14:sldId id="269"/>
            <p14:sldId id="270"/>
          </p14:sldIdLst>
        </p14:section>
        <p14:section name="Plan" id="{05648b8d-cd8f-1b8c-5aa4-5ab984336fbe}">
          <p14:sldIdLst>
            <p14:sldId id="271"/>
            <p14:sldId id="272"/>
            <p14:sldId id="273"/>
          </p14:sldIdLst>
        </p14:section>
        <p14:section name="Appendix" id="{8e30e834-b96f-c17d-04ca-c47a79e9c8fe}">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Rumble is a working title. It is a party game for two to four players on one local network: short physics mini-games, with points carried on one scoreboard. All game images in this deck are AI concept renders made from our own reference art; none of them is gameplay.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Who: two to four friends, each on a PC, in the same room, one PC hosts. What: a session is a run of short mini-games; your place in each round gives points; the scoreboard decides the night. Scope: two mini-games for the course, both built on the same shared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loop. The host owns the lobby and the round order. Only points carry over between rounds; mass and position reset, so a bad round never makes the next one harder. We also plan catch-up scoring: whoever won the last round earns slightly fewer points in the next one, and whoever came last earns slightly more, so trailing players stay in contention until the final. Placement points 4, 3, 2, 1 and the size of the adjustment are proposals we will tune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resource does three jobs. Shooting spends it, getting hit loses it, and the less you have, the further you fly. We present the rule, not the numbers: the exact costs are tuning values we will set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rule charges both sides. If only the shooter paid, hiding would win. If only the target paid, spamming would win. Charging both makes each shot a trade that only pays off when it lands, so aim and timing become the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objection: shooting costs mass, so why not just wait? A waiting cube does stay heavy and hard to push. But points come from knockouts, not survival, so waiting scores nothing. Respawning at full mass stops snowballing, and a short timer removes the stall. If playtests still show stalling, we have two fallbacks: shrink the arena, or let cubes re-absorb spent globs.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Knockout. One flat platform with open edges. Spitting costs you mass; hits cost the target mass and push it; lighter cubes fly further. The last cube to hit someone gets the knockout. Rounds are timed and ranked by knockouts. Respawns are at full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Race. No shooting here; the skill is momentum. Input sets acceleration, sideways grip is low, so you have to set up corners early. Falling sends you back to the last checkpoint. Finish order gives placement, and anyone unfinished at the timeout is ranked by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mini-games sit on top of a shared core. Each one implements the same small contract: set up with the players, run, report placement. Below that sit the character, camera, round state machine, scoreboard and lobby, then the LAN layer, where the host is authoritative. Unity Netcode for GameObjects is our candidate library, not a final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throw end to end. The client only sends intent. The host checks the cooldown, takes mass from the shooter, simulates the glob, applies the hit and knockback, and sends one snapshot to everyone. Clients interpolate. Own movement is predicted locally for feel; anything that decides a result lives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framework, not a finished design. Characters can differ in starting mass and speed. Weight classes are common in the genre; what is different here is that mass is also ammunition, so a heavy build has more shots and a light build fewer. We would tune this after the two MVP mini-games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rule is that losing mass makes the next incoming hit launch you further. We searched for this and did not find it in any shipped game. The other links have relatives, and we name them: Osmos and Agar.io spend body mass, but to move; Squarena shrinks you as you lose health, in 2D; Morphies Law moves mass between robots; Crisol spends your blood as ammunition. Smash Bros. raises knockback with a percentage counter, not with mass. Mass Knockout puts all four links on one physical value that the player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potential. PC is a 43.6 billion dollar market that grew 12 percent in 2025; games with co-op made an estimated 4.1 billion on Steam in the first half of 2025; most players play with others. Only about 8 percent of Steam party games list LAN. Revenue is very uneven: most releases earn little, but thousands pass 100 thousand dollars. LAN is how we stand out, not why people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comparables, each chosen for one reason. Party Animals and Gang Beasts share our audience and physics comedy. Fall Guys and Pummel Party share our session format of short rounds. Squarena is the closest mechanic: it shrinks you as you lose health, in 2D. Owner numbers are third-party estimates and we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Each competitor covers part of this table. Squarena is the only one where damage changes your size, and none ties knockback to lost mass. None advertises official LAN. The Ice Rumble column is our plan, not shipped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Drafts and prototypes. Left: a real prototype, a deterministic physics simulation of the Mass Knockout rule, which showed the escalating knockback reads clearly. Right: four art-direction drafts for the same character. The concept renders in this deck follow the glossy-toy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order. The shared core comes first, then the LAN layer, then the two mini-games, with Mass Knockout as the riskier one, then the session loop and tuning. Milestone dates and owners are still to be decided. Three main risks, each with its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 LAN party game, two mini-games on one shared core, and one rule that makes every shot a trade.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research notes with all sources are in the research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1"/>
          <p:cNvSpPr txBox="1"/>
          <p:nvPr/>
        </p:nvSpPr>
        <p:spPr>
          <a:xfrm>
            <a:off x="609585" y="355591"/>
            <a:ext cx="402343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C9D2E3"/>
                </a:solidFill>
                <a:latin typeface="Courier New" pitchFamily="34" charset="0"/>
                <a:ea typeface="Courier New" pitchFamily="34" charset="-122"/>
                <a:cs typeface="Courier New" pitchFamily="34" charset="-120"/>
              </a:rPr>
              <a:t>CMP406 GAMETECH · FALL 2026 · GAME PROPOSAL</a:t>
            </a:r>
            <a:endParaRPr lang="en-US" sz="900" dirty="0"/>
          </a:p>
        </p:txBody>
      </p:sp>
      <p:sp>
        <p:nvSpPr>
          <p:cNvPr id="3" name="Text 1.2"/>
          <p:cNvSpPr txBox="1"/>
          <p:nvPr/>
        </p:nvSpPr>
        <p:spPr>
          <a:xfrm>
            <a:off x="609585" y="1587460"/>
            <a:ext cx="5752956" cy="1066773"/>
          </a:xfrm>
          <a:prstGeom prst="rect">
            <a:avLst/>
          </a:prstGeom>
          <a:noFill/>
          <a:ln/>
        </p:spPr>
        <p:txBody>
          <a:bodyPr wrap="square" lIns="0" tIns="0" rIns="0" bIns="0" rtlCol="0" anchor="t"/>
          <a:lstStyle/>
          <a:p>
            <a:pPr algn="l" indent="0" marL="0">
              <a:lnSpc>
                <a:spcPts val="8400"/>
              </a:lnSpc>
              <a:buNone/>
            </a:pPr>
            <a:r>
              <a:rPr lang="en-US" sz="8400" spc="-252" kern="0" dirty="0">
                <a:solidFill>
                  <a:srgbClr val="FFFFFF"/>
                </a:solidFill>
                <a:latin typeface="Georgia" pitchFamily="34" charset="0"/>
                <a:ea typeface="Georgia" pitchFamily="34" charset="-122"/>
                <a:cs typeface="Georgia" pitchFamily="34" charset="-120"/>
              </a:rPr>
              <a:t>Ice Rumble</a:t>
            </a:r>
            <a:endParaRPr lang="en-US" sz="8400" dirty="0"/>
          </a:p>
        </p:txBody>
      </p:sp>
      <p:sp>
        <p:nvSpPr>
          <p:cNvPr id="4" name="Text 1.3"/>
          <p:cNvSpPr txBox="1"/>
          <p:nvPr/>
        </p:nvSpPr>
        <p:spPr>
          <a:xfrm>
            <a:off x="647684" y="2844729"/>
            <a:ext cx="11941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WORKING TITLE</a:t>
            </a:r>
            <a:endParaRPr lang="en-US" sz="850" dirty="0"/>
          </a:p>
        </p:txBody>
      </p:sp>
      <p:sp>
        <p:nvSpPr>
          <p:cNvPr id="5" name="Text 1.4"/>
          <p:cNvSpPr txBox="1"/>
          <p:nvPr/>
        </p:nvSpPr>
        <p:spPr>
          <a:xfrm>
            <a:off x="609585" y="3238419"/>
            <a:ext cx="4863978" cy="569898"/>
          </a:xfrm>
          <a:prstGeom prst="rect">
            <a:avLst/>
          </a:prstGeom>
          <a:noFill/>
          <a:ln/>
        </p:spPr>
        <p:txBody>
          <a:bodyPr wrap="square" lIns="0" tIns="0" rIns="0" bIns="0" rtlCol="0" anchor="t"/>
          <a:lstStyle/>
          <a:p>
            <a:pPr algn="l" indent="0" marL="0">
              <a:lnSpc>
                <a:spcPts val="2240"/>
              </a:lnSpc>
              <a:buNone/>
            </a:pPr>
            <a:r>
              <a:rPr lang="en-US" sz="1700" dirty="0">
                <a:solidFill>
                  <a:srgbClr val="FFFFFF"/>
                </a:solidFill>
                <a:latin typeface="Arial" pitchFamily="34" charset="0"/>
                <a:ea typeface="Arial" pitchFamily="34" charset="-122"/>
                <a:cs typeface="Arial" pitchFamily="34" charset="-120"/>
              </a:rPr>
              <a:t>A LAN party game for 2–4 players: short physics mini-games, one shared scoreboard.</a:t>
            </a:r>
            <a:endParaRPr lang="en-US" sz="1700" dirty="0"/>
          </a:p>
        </p:txBody>
      </p:sp>
      <p:sp>
        <p:nvSpPr>
          <p:cNvPr id="6" name="Text 1.5"/>
          <p:cNvSpPr txBox="1"/>
          <p:nvPr/>
        </p:nvSpPr>
        <p:spPr>
          <a:xfrm>
            <a:off x="609585" y="4190895"/>
            <a:ext cx="1587460" cy="330192"/>
          </a:xfrm>
          <a:prstGeom prst="rect">
            <a:avLst/>
          </a:prstGeom>
          <a:noFill/>
          <a:ln/>
        </p:spPr>
        <p:txBody>
          <a:bodyPr wrap="square" lIns="0" tIns="0" rIns="0" bIns="0" rtlCol="0" anchor="ctr"/>
          <a:lstStyle/>
          <a:p>
            <a:pPr algn="ctr" indent="0" marL="0">
              <a:lnSpc>
                <a:spcPts val="800"/>
              </a:lnSpc>
              <a:buNone/>
            </a:pPr>
            <a:r>
              <a:rPr lang="en-US" sz="800" b="1" spc="112" kern="0" dirty="0">
                <a:solidFill>
                  <a:srgbClr val="FFFFFF"/>
                </a:solidFill>
                <a:latin typeface="Courier New" pitchFamily="34" charset="0"/>
                <a:ea typeface="Courier New" pitchFamily="34" charset="-122"/>
                <a:cs typeface="Courier New" pitchFamily="34" charset="-120"/>
              </a:rPr>
              <a:t>MASS KNOCKOUT</a:t>
            </a:r>
            <a:endParaRPr lang="en-US" sz="800" dirty="0"/>
          </a:p>
        </p:txBody>
      </p:sp>
      <p:sp>
        <p:nvSpPr>
          <p:cNvPr id="7" name="Text 1.6"/>
          <p:cNvSpPr txBox="1"/>
          <p:nvPr/>
        </p:nvSpPr>
        <p:spPr>
          <a:xfrm>
            <a:off x="2298643" y="4190895"/>
            <a:ext cx="1206470" cy="330192"/>
          </a:xfrm>
          <a:prstGeom prst="rect">
            <a:avLst/>
          </a:prstGeom>
          <a:noFill/>
          <a:ln/>
        </p:spPr>
        <p:txBody>
          <a:bodyPr wrap="square" lIns="0" tIns="0" rIns="0" bIns="0" rtlCol="0" anchor="ctr"/>
          <a:lstStyle/>
          <a:p>
            <a:pPr algn="ctr" indent="0" marL="0">
              <a:lnSpc>
                <a:spcPts val="800"/>
              </a:lnSpc>
              <a:buNone/>
            </a:pPr>
            <a:r>
              <a:rPr lang="en-US" sz="800" b="1" spc="112" kern="0" dirty="0">
                <a:solidFill>
                  <a:srgbClr val="FFFFFF"/>
                </a:solidFill>
                <a:latin typeface="Courier New" pitchFamily="34" charset="0"/>
                <a:ea typeface="Courier New" pitchFamily="34" charset="-122"/>
                <a:cs typeface="Courier New" pitchFamily="34" charset="-120"/>
              </a:rPr>
              <a:t>ICE RACE</a:t>
            </a:r>
            <a:endParaRPr lang="en-US" sz="800" dirty="0"/>
          </a:p>
        </p:txBody>
      </p:sp>
      <p:sp>
        <p:nvSpPr>
          <p:cNvPr id="8" name="Text 1.7"/>
          <p:cNvSpPr txBox="1"/>
          <p:nvPr/>
        </p:nvSpPr>
        <p:spPr>
          <a:xfrm>
            <a:off x="609585" y="5371966"/>
            <a:ext cx="1037891" cy="160016"/>
          </a:xfrm>
          <a:prstGeom prst="rect">
            <a:avLst/>
          </a:prstGeom>
          <a:noFill/>
          <a:ln/>
        </p:spPr>
        <p:txBody>
          <a:bodyPr wrap="square" lIns="0" tIns="0" rIns="0" bIns="0" rtlCol="0" anchor="t"/>
          <a:lstStyle/>
          <a:p>
            <a:pPr algn="l" indent="0" marL="0">
              <a:lnSpc>
                <a:spcPts val="1260"/>
              </a:lnSpc>
              <a:buNone/>
            </a:pPr>
            <a:r>
              <a:rPr lang="en-US" sz="1050" b="1" dirty="0">
                <a:solidFill>
                  <a:srgbClr val="FFFFFF"/>
                </a:solidFill>
                <a:latin typeface="Arial" pitchFamily="34" charset="0"/>
                <a:ea typeface="Arial" pitchFamily="34" charset="-122"/>
                <a:cs typeface="Arial" pitchFamily="34" charset="-120"/>
              </a:rPr>
              <a:t>Ezel Bayraktar</a:t>
            </a:r>
            <a:endParaRPr lang="en-US" sz="1050" dirty="0"/>
          </a:p>
        </p:txBody>
      </p:sp>
      <p:sp>
        <p:nvSpPr>
          <p:cNvPr id="9" name="Text 1.8"/>
          <p:cNvSpPr txBox="1"/>
          <p:nvPr/>
        </p:nvSpPr>
        <p:spPr>
          <a:xfrm>
            <a:off x="609585" y="5562461"/>
            <a:ext cx="68957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AEB8CC"/>
                </a:solidFill>
                <a:latin typeface="Courier New" pitchFamily="34" charset="0"/>
                <a:ea typeface="Courier New" pitchFamily="34" charset="-122"/>
                <a:cs typeface="Courier New" pitchFamily="34" charset="-120"/>
              </a:rPr>
              <a:t>2220356197</a:t>
            </a:r>
            <a:endParaRPr lang="en-US" sz="750" dirty="0"/>
          </a:p>
        </p:txBody>
      </p:sp>
      <p:sp>
        <p:nvSpPr>
          <p:cNvPr id="10" name="Text 1.9"/>
          <p:cNvSpPr txBox="1"/>
          <p:nvPr/>
        </p:nvSpPr>
        <p:spPr>
          <a:xfrm>
            <a:off x="3111422" y="5371966"/>
            <a:ext cx="1406615" cy="160016"/>
          </a:xfrm>
          <a:prstGeom prst="rect">
            <a:avLst/>
          </a:prstGeom>
          <a:noFill/>
          <a:ln/>
        </p:spPr>
        <p:txBody>
          <a:bodyPr wrap="square" lIns="0" tIns="0" rIns="0" bIns="0" rtlCol="0" anchor="t"/>
          <a:lstStyle/>
          <a:p>
            <a:pPr algn="l" indent="0" marL="0">
              <a:lnSpc>
                <a:spcPts val="1260"/>
              </a:lnSpc>
              <a:buNone/>
            </a:pPr>
            <a:r>
              <a:rPr lang="en-US" sz="1050" b="1" dirty="0">
                <a:solidFill>
                  <a:srgbClr val="FFFFFF"/>
                </a:solidFill>
                <a:latin typeface="Arial" pitchFamily="34" charset="0"/>
                <a:ea typeface="Arial" pitchFamily="34" charset="-122"/>
                <a:cs typeface="Arial" pitchFamily="34" charset="-120"/>
              </a:rPr>
              <a:t>Abdurrahim Özağaç</a:t>
            </a:r>
            <a:endParaRPr lang="en-US" sz="1050" dirty="0"/>
          </a:p>
        </p:txBody>
      </p:sp>
      <p:sp>
        <p:nvSpPr>
          <p:cNvPr id="11" name="Text 1.10"/>
          <p:cNvSpPr txBox="1"/>
          <p:nvPr/>
        </p:nvSpPr>
        <p:spPr>
          <a:xfrm>
            <a:off x="3111422" y="5562461"/>
            <a:ext cx="68957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AEB8CC"/>
                </a:solidFill>
                <a:latin typeface="Courier New" pitchFamily="34" charset="0"/>
                <a:ea typeface="Courier New" pitchFamily="34" charset="-122"/>
                <a:cs typeface="Courier New" pitchFamily="34" charset="-120"/>
              </a:rPr>
              <a:t>2220356033</a:t>
            </a:r>
            <a:endParaRPr lang="en-US" sz="750" dirty="0"/>
          </a:p>
        </p:txBody>
      </p:sp>
      <p:sp>
        <p:nvSpPr>
          <p:cNvPr id="12" name="Text 1.11"/>
          <p:cNvSpPr txBox="1"/>
          <p:nvPr/>
        </p:nvSpPr>
        <p:spPr>
          <a:xfrm>
            <a:off x="609585" y="5841854"/>
            <a:ext cx="1458989" cy="160016"/>
          </a:xfrm>
          <a:prstGeom prst="rect">
            <a:avLst/>
          </a:prstGeom>
          <a:noFill/>
          <a:ln/>
        </p:spPr>
        <p:txBody>
          <a:bodyPr wrap="square" lIns="0" tIns="0" rIns="0" bIns="0" rtlCol="0" anchor="t"/>
          <a:lstStyle/>
          <a:p>
            <a:pPr algn="l" indent="0" marL="0">
              <a:lnSpc>
                <a:spcPts val="1260"/>
              </a:lnSpc>
              <a:buNone/>
            </a:pPr>
            <a:r>
              <a:rPr lang="en-US" sz="1050" b="1" dirty="0">
                <a:solidFill>
                  <a:srgbClr val="FFFFFF"/>
                </a:solidFill>
                <a:latin typeface="Arial" pitchFamily="34" charset="0"/>
                <a:ea typeface="Arial" pitchFamily="34" charset="-122"/>
                <a:cs typeface="Arial" pitchFamily="34" charset="-120"/>
              </a:rPr>
              <a:t>Kürşat Hürkan Aydın</a:t>
            </a:r>
            <a:endParaRPr lang="en-US" sz="1050" dirty="0"/>
          </a:p>
        </p:txBody>
      </p:sp>
      <p:sp>
        <p:nvSpPr>
          <p:cNvPr id="13" name="Text 1.12"/>
          <p:cNvSpPr txBox="1"/>
          <p:nvPr/>
        </p:nvSpPr>
        <p:spPr>
          <a:xfrm>
            <a:off x="609585" y="6032349"/>
            <a:ext cx="68957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AEB8CC"/>
                </a:solidFill>
                <a:latin typeface="Courier New" pitchFamily="34" charset="0"/>
                <a:ea typeface="Courier New" pitchFamily="34" charset="-122"/>
                <a:cs typeface="Courier New" pitchFamily="34" charset="-120"/>
              </a:rPr>
              <a:t>2230356008</a:t>
            </a:r>
            <a:endParaRPr lang="en-US" sz="750" dirty="0"/>
          </a:p>
        </p:txBody>
      </p:sp>
      <p:sp>
        <p:nvSpPr>
          <p:cNvPr id="14" name="Text 1.13"/>
          <p:cNvSpPr txBox="1"/>
          <p:nvPr/>
        </p:nvSpPr>
        <p:spPr>
          <a:xfrm>
            <a:off x="3111422" y="5841854"/>
            <a:ext cx="1068811" cy="160016"/>
          </a:xfrm>
          <a:prstGeom prst="rect">
            <a:avLst/>
          </a:prstGeom>
          <a:noFill/>
          <a:ln/>
        </p:spPr>
        <p:txBody>
          <a:bodyPr wrap="square" lIns="0" tIns="0" rIns="0" bIns="0" rtlCol="0" anchor="t"/>
          <a:lstStyle/>
          <a:p>
            <a:pPr algn="l" indent="0" marL="0">
              <a:lnSpc>
                <a:spcPts val="1260"/>
              </a:lnSpc>
              <a:buNone/>
            </a:pPr>
            <a:r>
              <a:rPr lang="en-US" sz="1050" b="1" dirty="0">
                <a:solidFill>
                  <a:srgbClr val="FFFFFF"/>
                </a:solidFill>
                <a:latin typeface="Arial" pitchFamily="34" charset="0"/>
                <a:ea typeface="Arial" pitchFamily="34" charset="-122"/>
                <a:cs typeface="Arial" pitchFamily="34" charset="-120"/>
              </a:rPr>
              <a:t>Ardıl Bilal Ülkü</a:t>
            </a:r>
            <a:endParaRPr lang="en-US" sz="1050" dirty="0"/>
          </a:p>
        </p:txBody>
      </p:sp>
      <p:sp>
        <p:nvSpPr>
          <p:cNvPr id="15" name="Text 1.14"/>
          <p:cNvSpPr txBox="1"/>
          <p:nvPr/>
        </p:nvSpPr>
        <p:spPr>
          <a:xfrm>
            <a:off x="3111422" y="6032349"/>
            <a:ext cx="68957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AEB8CC"/>
                </a:solidFill>
                <a:latin typeface="Courier New" pitchFamily="34" charset="0"/>
                <a:ea typeface="Courier New" pitchFamily="34" charset="-122"/>
                <a:cs typeface="Courier New" pitchFamily="34" charset="-120"/>
              </a:rPr>
              <a:t>2230356051</a:t>
            </a:r>
            <a:endParaRPr lang="en-US" sz="750" dirty="0"/>
          </a:p>
        </p:txBody>
      </p:sp>
      <p:sp>
        <p:nvSpPr>
          <p:cNvPr id="16" name="Text 1.15"/>
          <p:cNvSpPr txBox="1"/>
          <p:nvPr/>
        </p:nvSpPr>
        <p:spPr>
          <a:xfrm>
            <a:off x="9042372" y="6470488"/>
            <a:ext cx="275562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DDE4F0"/>
                </a:solidFill>
                <a:latin typeface="Courier New" pitchFamily="34" charset="0"/>
                <a:ea typeface="Courier New" pitchFamily="34" charset="-122"/>
                <a:cs typeface="Courier New" pitchFamily="34" charset="-120"/>
              </a:rPr>
              <a:t>Concept render, AI-generated. Not gameplay.</a:t>
            </a:r>
            <a:endParaRPr lang="en-US" sz="7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2.1"/>
          <p:cNvSpPr txBox="1"/>
          <p:nvPr/>
        </p:nvSpPr>
        <p:spPr>
          <a:xfrm>
            <a:off x="609585" y="355591"/>
            <a:ext cx="1260745"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FF5A1F"/>
                </a:solidFill>
                <a:latin typeface="Courier New" pitchFamily="34" charset="0"/>
                <a:ea typeface="Courier New" pitchFamily="34" charset="-122"/>
                <a:cs typeface="Courier New" pitchFamily="34" charset="-120"/>
              </a:rPr>
              <a:t>01 — THE GAME</a:t>
            </a:r>
            <a:endParaRPr lang="en-US" sz="900" dirty="0"/>
          </a:p>
        </p:txBody>
      </p:sp>
      <p:sp>
        <p:nvSpPr>
          <p:cNvPr id="3" name="Text 2.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2.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A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LAN party game</a:t>
            </a:r>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 made of short physics mini-games</a:t>
            </a:r>
            <a:endParaRPr lang="en-US" sz="3400" dirty="0"/>
          </a:p>
        </p:txBody>
      </p:sp>
      <p:sp>
        <p:nvSpPr>
          <p:cNvPr id="5" name="Text 2.4"/>
          <p:cNvSpPr txBox="1"/>
          <p:nvPr/>
        </p:nvSpPr>
        <p:spPr>
          <a:xfrm>
            <a:off x="6349841" y="5956151"/>
            <a:ext cx="5270368"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FIG. 1 — End of a round: placement decides points. Concept render, AI-generated.</a:t>
            </a:r>
            <a:endParaRPr lang="en-US" sz="750" dirty="0"/>
          </a:p>
        </p:txBody>
      </p:sp>
      <p:sp>
        <p:nvSpPr>
          <p:cNvPr id="6" name="Text 2.5"/>
          <p:cNvSpPr txBox="1"/>
          <p:nvPr/>
        </p:nvSpPr>
        <p:spPr>
          <a:xfrm>
            <a:off x="1206470" y="1968451"/>
            <a:ext cx="6723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PLAYERS</a:t>
            </a:r>
            <a:endParaRPr lang="en-US" sz="850" dirty="0"/>
          </a:p>
        </p:txBody>
      </p:sp>
      <p:sp>
        <p:nvSpPr>
          <p:cNvPr id="7" name="Text 2.6"/>
          <p:cNvSpPr txBox="1"/>
          <p:nvPr/>
        </p:nvSpPr>
        <p:spPr>
          <a:xfrm>
            <a:off x="1206470" y="2146246"/>
            <a:ext cx="4736982" cy="414724"/>
          </a:xfrm>
          <a:prstGeom prst="rect">
            <a:avLst/>
          </a:prstGeom>
          <a:noFill/>
          <a:ln/>
        </p:spPr>
        <p:txBody>
          <a:bodyPr wrap="square" lIns="0" tIns="0" rIns="0" bIns="0" rtlCol="0" anchor="t"/>
          <a:lstStyle/>
          <a:p>
            <a:pPr algn="l" indent="0" marL="0">
              <a:lnSpc>
                <a:spcPts val="1630"/>
              </a:lnSpc>
              <a:buNone/>
            </a:pPr>
            <a:r>
              <a:rPr lang="en-US" sz="1150" dirty="0">
                <a:solidFill>
                  <a:srgbClr val="14161B"/>
                </a:solidFill>
                <a:latin typeface="Arial" pitchFamily="34" charset="0"/>
                <a:ea typeface="Arial" pitchFamily="34" charset="-122"/>
                <a:cs typeface="Arial" pitchFamily="34" charset="-120"/>
              </a:rPr>
              <a:t>2–4 people in one room, each on their own PC. One PC hosts; the others join over the local network. No internet, no accounts.</a:t>
            </a:r>
            <a:endParaRPr lang="en-US" sz="1150" dirty="0"/>
          </a:p>
        </p:txBody>
      </p:sp>
      <p:sp>
        <p:nvSpPr>
          <p:cNvPr id="8" name="Text 2.7"/>
          <p:cNvSpPr txBox="1"/>
          <p:nvPr/>
        </p:nvSpPr>
        <p:spPr>
          <a:xfrm>
            <a:off x="1206470" y="3187620"/>
            <a:ext cx="6723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EA5E6"/>
                </a:solidFill>
                <a:latin typeface="Courier New" pitchFamily="34" charset="0"/>
                <a:ea typeface="Courier New" pitchFamily="34" charset="-122"/>
                <a:cs typeface="Courier New" pitchFamily="34" charset="-120"/>
              </a:rPr>
              <a:t>SESSION</a:t>
            </a:r>
            <a:endParaRPr lang="en-US" sz="850" dirty="0"/>
          </a:p>
        </p:txBody>
      </p:sp>
      <p:sp>
        <p:nvSpPr>
          <p:cNvPr id="9" name="Text 2.8"/>
          <p:cNvSpPr txBox="1"/>
          <p:nvPr/>
        </p:nvSpPr>
        <p:spPr>
          <a:xfrm>
            <a:off x="1206470" y="3365416"/>
            <a:ext cx="4736982" cy="414724"/>
          </a:xfrm>
          <a:prstGeom prst="rect">
            <a:avLst/>
          </a:prstGeom>
          <a:noFill/>
          <a:ln/>
        </p:spPr>
        <p:txBody>
          <a:bodyPr wrap="square" lIns="0" tIns="0" rIns="0" bIns="0" rtlCol="0" anchor="t"/>
          <a:lstStyle/>
          <a:p>
            <a:pPr algn="l" indent="0" marL="0">
              <a:lnSpc>
                <a:spcPts val="1630"/>
              </a:lnSpc>
              <a:buNone/>
            </a:pPr>
            <a:r>
              <a:rPr lang="en-US" sz="1150" dirty="0">
                <a:solidFill>
                  <a:srgbClr val="14161B"/>
                </a:solidFill>
                <a:latin typeface="Arial" pitchFamily="34" charset="0"/>
                <a:ea typeface="Arial" pitchFamily="34" charset="-122"/>
                <a:cs typeface="Arial" pitchFamily="34" charset="-120"/>
              </a:rPr>
              <a:t>A playlist of short mini-games. Placement in each round earns points; one scoreboard runs across the whole session.</a:t>
            </a:r>
            <a:endParaRPr lang="en-US" sz="1150" dirty="0"/>
          </a:p>
        </p:txBody>
      </p:sp>
      <p:sp>
        <p:nvSpPr>
          <p:cNvPr id="10" name="Text 2.9"/>
          <p:cNvSpPr txBox="1"/>
          <p:nvPr/>
        </p:nvSpPr>
        <p:spPr>
          <a:xfrm>
            <a:off x="1206470" y="4406790"/>
            <a:ext cx="93324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38B03A"/>
                </a:solidFill>
                <a:latin typeface="Courier New" pitchFamily="34" charset="0"/>
                <a:ea typeface="Courier New" pitchFamily="34" charset="-122"/>
                <a:cs typeface="Courier New" pitchFamily="34" charset="-120"/>
              </a:rPr>
              <a:t>CHARACTERS</a:t>
            </a:r>
            <a:endParaRPr lang="en-US" sz="850" dirty="0"/>
          </a:p>
        </p:txBody>
      </p:sp>
      <p:sp>
        <p:nvSpPr>
          <p:cNvPr id="11" name="Text 2.10"/>
          <p:cNvSpPr txBox="1"/>
          <p:nvPr/>
        </p:nvSpPr>
        <p:spPr>
          <a:xfrm>
            <a:off x="1206470" y="4584585"/>
            <a:ext cx="4736982" cy="414724"/>
          </a:xfrm>
          <a:prstGeom prst="rect">
            <a:avLst/>
          </a:prstGeom>
          <a:noFill/>
          <a:ln/>
        </p:spPr>
        <p:txBody>
          <a:bodyPr wrap="square" lIns="0" tIns="0" rIns="0" bIns="0" rtlCol="0" anchor="t"/>
          <a:lstStyle/>
          <a:p>
            <a:pPr algn="l" indent="0" marL="0">
              <a:lnSpc>
                <a:spcPts val="1630"/>
              </a:lnSpc>
              <a:buNone/>
            </a:pPr>
            <a:r>
              <a:rPr lang="en-US" sz="1150" dirty="0">
                <a:solidFill>
                  <a:srgbClr val="14161B"/>
                </a:solidFill>
                <a:latin typeface="Arial" pitchFamily="34" charset="0"/>
                <a:ea typeface="Arial" pitchFamily="34" charset="-122"/>
                <a:cs typeface="Arial" pitchFamily="34" charset="-120"/>
              </a:rPr>
              <a:t>Everyone plays the same cube character, in one of four colours, with the same controls in every mini-game.</a:t>
            </a:r>
            <a:endParaRPr lang="en-US" sz="1150" dirty="0"/>
          </a:p>
        </p:txBody>
      </p:sp>
      <p:sp>
        <p:nvSpPr>
          <p:cNvPr id="12" name="Text 2.11"/>
          <p:cNvSpPr txBox="1"/>
          <p:nvPr/>
        </p:nvSpPr>
        <p:spPr>
          <a:xfrm>
            <a:off x="1206470" y="5600560"/>
            <a:ext cx="8462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7E48DE"/>
                </a:solidFill>
                <a:latin typeface="Courier New" pitchFamily="34" charset="0"/>
                <a:ea typeface="Courier New" pitchFamily="34" charset="-122"/>
                <a:cs typeface="Courier New" pitchFamily="34" charset="-120"/>
              </a:rPr>
              <a:t>MVP SCOPE</a:t>
            </a:r>
            <a:endParaRPr lang="en-US" sz="850" dirty="0"/>
          </a:p>
        </p:txBody>
      </p:sp>
      <p:sp>
        <p:nvSpPr>
          <p:cNvPr id="13" name="Text 2.12"/>
          <p:cNvSpPr txBox="1"/>
          <p:nvPr/>
        </p:nvSpPr>
        <p:spPr>
          <a:xfrm>
            <a:off x="1206470" y="5778356"/>
            <a:ext cx="4736982" cy="414724"/>
          </a:xfrm>
          <a:prstGeom prst="rect">
            <a:avLst/>
          </a:prstGeom>
          <a:noFill/>
          <a:ln/>
        </p:spPr>
        <p:txBody>
          <a:bodyPr wrap="square" lIns="0" tIns="0" rIns="0" bIns="0" rtlCol="0" anchor="t"/>
          <a:lstStyle/>
          <a:p>
            <a:pPr algn="l" indent="0" marL="0">
              <a:lnSpc>
                <a:spcPts val="1630"/>
              </a:lnSpc>
              <a:buNone/>
            </a:pPr>
            <a:r>
              <a:rPr lang="en-US" sz="1150" dirty="0">
                <a:solidFill>
                  <a:srgbClr val="14161B"/>
                </a:solidFill>
                <a:latin typeface="Arial" pitchFamily="34" charset="0"/>
                <a:ea typeface="Arial" pitchFamily="34" charset="-122"/>
                <a:cs typeface="Arial" pitchFamily="34" charset="-120"/>
              </a:rPr>
              <a:t>Two mini-games, Mass Knockout and Ice Race, on one shared Unity core.</a:t>
            </a:r>
            <a:endParaRPr lang="en-US" sz="1150" dirty="0"/>
          </a:p>
        </p:txBody>
      </p:sp>
      <p:sp>
        <p:nvSpPr>
          <p:cNvPr id="14" name="Text 2.13"/>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02</a:t>
            </a:r>
            <a:endParaRPr lang="en-US" sz="7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3.1"/>
          <p:cNvSpPr txBox="1"/>
          <p:nvPr/>
        </p:nvSpPr>
        <p:spPr>
          <a:xfrm>
            <a:off x="609585" y="355591"/>
            <a:ext cx="1629048"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FF5A1F"/>
                </a:solidFill>
                <a:latin typeface="Courier New" pitchFamily="34" charset="0"/>
                <a:ea typeface="Courier New" pitchFamily="34" charset="-122"/>
                <a:cs typeface="Courier New" pitchFamily="34" charset="-120"/>
              </a:rPr>
              <a:t>02 — SESSION FLOW</a:t>
            </a:r>
            <a:endParaRPr lang="en-US" sz="900" dirty="0"/>
          </a:p>
        </p:txBody>
      </p:sp>
      <p:sp>
        <p:nvSpPr>
          <p:cNvPr id="3" name="Text 3.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3.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How a session runs: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lobby, rounds, standings</a:t>
            </a:r>
            <a:endParaRPr lang="en-US" sz="3400" dirty="0"/>
          </a:p>
        </p:txBody>
      </p:sp>
      <p:sp>
        <p:nvSpPr>
          <p:cNvPr id="5" name="Text 3.4"/>
          <p:cNvSpPr txBox="1"/>
          <p:nvPr/>
        </p:nvSpPr>
        <p:spPr>
          <a:xfrm>
            <a:off x="800080" y="2768531"/>
            <a:ext cx="599546" cy="197163"/>
          </a:xfrm>
          <a:prstGeom prst="rect">
            <a:avLst/>
          </a:prstGeom>
          <a:noFill/>
          <a:ln/>
        </p:spPr>
        <p:txBody>
          <a:bodyPr wrap="square" lIns="0" tIns="0" rIns="0" bIns="0" rtlCol="0" anchor="t"/>
          <a:lstStyle/>
          <a:p>
            <a:pPr algn="l" indent="0" marL="0">
              <a:lnSpc>
                <a:spcPts val="1550"/>
              </a:lnSpc>
              <a:buNone/>
            </a:pPr>
            <a:r>
              <a:rPr lang="en-US" sz="1350" b="1" spc="-14" kern="0" dirty="0">
                <a:solidFill>
                  <a:srgbClr val="14161B"/>
                </a:solidFill>
                <a:latin typeface="Arial" pitchFamily="34" charset="0"/>
                <a:ea typeface="Arial" pitchFamily="34" charset="-122"/>
                <a:cs typeface="Arial" pitchFamily="34" charset="-120"/>
              </a:rPr>
              <a:t>Lobby</a:t>
            </a:r>
            <a:endParaRPr lang="en-US" sz="1350" dirty="0"/>
          </a:p>
        </p:txBody>
      </p:sp>
      <p:sp>
        <p:nvSpPr>
          <p:cNvPr id="6" name="Text 3.5"/>
          <p:cNvSpPr txBox="1"/>
          <p:nvPr/>
        </p:nvSpPr>
        <p:spPr>
          <a:xfrm>
            <a:off x="800080" y="3035224"/>
            <a:ext cx="1701757" cy="355591"/>
          </a:xfrm>
          <a:prstGeom prst="rect">
            <a:avLst/>
          </a:prstGeom>
          <a:noFill/>
          <a:ln/>
        </p:spPr>
        <p:txBody>
          <a:bodyPr wrap="square" lIns="0" tIns="0" rIns="0" bIns="0" rtlCol="0" anchor="t"/>
          <a:lstStyle/>
          <a:p>
            <a:pPr algn="l" indent="0" marL="0">
              <a:lnSpc>
                <a:spcPts val="1400"/>
              </a:lnSpc>
              <a:buNone/>
            </a:pPr>
            <a:r>
              <a:rPr lang="en-US" sz="1000" dirty="0">
                <a:solidFill>
                  <a:srgbClr val="646973"/>
                </a:solidFill>
                <a:latin typeface="Arial" pitchFamily="34" charset="0"/>
                <a:ea typeface="Arial" pitchFamily="34" charset="-122"/>
                <a:cs typeface="Arial" pitchFamily="34" charset="-120"/>
              </a:rPr>
              <a:t>Host starts a session. Others join with the host’s local IP.</a:t>
            </a:r>
            <a:endParaRPr lang="en-US" sz="1000" dirty="0"/>
          </a:p>
        </p:txBody>
      </p:sp>
      <p:sp>
        <p:nvSpPr>
          <p:cNvPr id="7" name="Text 3.6"/>
          <p:cNvSpPr txBox="1"/>
          <p:nvPr/>
        </p:nvSpPr>
        <p:spPr>
          <a:xfrm>
            <a:off x="3022524" y="2768531"/>
            <a:ext cx="629730" cy="197163"/>
          </a:xfrm>
          <a:prstGeom prst="rect">
            <a:avLst/>
          </a:prstGeom>
          <a:noFill/>
          <a:ln/>
        </p:spPr>
        <p:txBody>
          <a:bodyPr wrap="square" lIns="0" tIns="0" rIns="0" bIns="0" rtlCol="0" anchor="t"/>
          <a:lstStyle/>
          <a:p>
            <a:pPr algn="l" indent="0" marL="0">
              <a:lnSpc>
                <a:spcPts val="1550"/>
              </a:lnSpc>
              <a:buNone/>
            </a:pPr>
            <a:r>
              <a:rPr lang="en-US" sz="1350" b="1" spc="-14" kern="0" dirty="0">
                <a:solidFill>
                  <a:srgbClr val="14161B"/>
                </a:solidFill>
                <a:latin typeface="Arial" pitchFamily="34" charset="0"/>
                <a:ea typeface="Arial" pitchFamily="34" charset="-122"/>
                <a:cs typeface="Arial" pitchFamily="34" charset="-120"/>
              </a:rPr>
              <a:t>Round</a:t>
            </a:r>
            <a:endParaRPr lang="en-US" sz="1350" dirty="0"/>
          </a:p>
        </p:txBody>
      </p:sp>
      <p:sp>
        <p:nvSpPr>
          <p:cNvPr id="8" name="Text 3.7"/>
          <p:cNvSpPr txBox="1"/>
          <p:nvPr/>
        </p:nvSpPr>
        <p:spPr>
          <a:xfrm>
            <a:off x="3022524" y="3035224"/>
            <a:ext cx="1701757" cy="533387"/>
          </a:xfrm>
          <a:prstGeom prst="rect">
            <a:avLst/>
          </a:prstGeom>
          <a:noFill/>
          <a:ln/>
        </p:spPr>
        <p:txBody>
          <a:bodyPr wrap="square" lIns="0" tIns="0" rIns="0" bIns="0" rtlCol="0" anchor="t"/>
          <a:lstStyle/>
          <a:p>
            <a:pPr algn="l" indent="0" marL="0">
              <a:lnSpc>
                <a:spcPts val="1400"/>
              </a:lnSpc>
              <a:buNone/>
            </a:pPr>
            <a:r>
              <a:rPr lang="en-US" sz="1000" dirty="0">
                <a:solidFill>
                  <a:srgbClr val="646973"/>
                </a:solidFill>
                <a:latin typeface="Arial" pitchFamily="34" charset="0"/>
                <a:ea typeface="Arial" pitchFamily="34" charset="-122"/>
                <a:cs typeface="Arial" pitchFamily="34" charset="-120"/>
              </a:rPr>
              <a:t>Host picks the next mini-game. Everyone loads the same arena.</a:t>
            </a:r>
            <a:endParaRPr lang="en-US" sz="1000" dirty="0"/>
          </a:p>
        </p:txBody>
      </p:sp>
      <p:sp>
        <p:nvSpPr>
          <p:cNvPr id="9" name="Text 3.8"/>
          <p:cNvSpPr txBox="1"/>
          <p:nvPr/>
        </p:nvSpPr>
        <p:spPr>
          <a:xfrm>
            <a:off x="5257669" y="2768531"/>
            <a:ext cx="430118" cy="197163"/>
          </a:xfrm>
          <a:prstGeom prst="rect">
            <a:avLst/>
          </a:prstGeom>
          <a:noFill/>
          <a:ln/>
        </p:spPr>
        <p:txBody>
          <a:bodyPr wrap="square" lIns="0" tIns="0" rIns="0" bIns="0" rtlCol="0" anchor="t"/>
          <a:lstStyle/>
          <a:p>
            <a:pPr algn="l" indent="0" marL="0">
              <a:lnSpc>
                <a:spcPts val="1550"/>
              </a:lnSpc>
              <a:buNone/>
            </a:pPr>
            <a:r>
              <a:rPr lang="en-US" sz="1350" b="1" spc="-14" kern="0" dirty="0">
                <a:solidFill>
                  <a:srgbClr val="FFFFFF"/>
                </a:solidFill>
                <a:latin typeface="Arial" pitchFamily="34" charset="0"/>
                <a:ea typeface="Arial" pitchFamily="34" charset="-122"/>
                <a:cs typeface="Arial" pitchFamily="34" charset="-120"/>
              </a:rPr>
              <a:t>Play</a:t>
            </a:r>
            <a:endParaRPr lang="en-US" sz="1350" dirty="0"/>
          </a:p>
        </p:txBody>
      </p:sp>
      <p:sp>
        <p:nvSpPr>
          <p:cNvPr id="10" name="Text 3.9"/>
          <p:cNvSpPr txBox="1"/>
          <p:nvPr/>
        </p:nvSpPr>
        <p:spPr>
          <a:xfrm>
            <a:off x="5257669" y="3035224"/>
            <a:ext cx="1752556" cy="533387"/>
          </a:xfrm>
          <a:prstGeom prst="rect">
            <a:avLst/>
          </a:prstGeom>
          <a:noFill/>
          <a:ln/>
        </p:spPr>
        <p:txBody>
          <a:bodyPr wrap="square" lIns="0" tIns="0" rIns="0" bIns="0" rtlCol="0" anchor="t"/>
          <a:lstStyle/>
          <a:p>
            <a:pPr algn="l" indent="0" marL="0">
              <a:lnSpc>
                <a:spcPts val="1400"/>
              </a:lnSpc>
              <a:buNone/>
            </a:pPr>
            <a:r>
              <a:rPr lang="en-US" sz="1000" dirty="0">
                <a:solidFill>
                  <a:srgbClr val="C3CAD8"/>
                </a:solidFill>
                <a:latin typeface="Arial" pitchFamily="34" charset="0"/>
                <a:ea typeface="Arial" pitchFamily="34" charset="-122"/>
                <a:cs typeface="Arial" pitchFamily="34" charset="-120"/>
              </a:rPr>
              <a:t>Host runs the physics. Clients send input and render the result.</a:t>
            </a:r>
            <a:endParaRPr lang="en-US" sz="1000" dirty="0"/>
          </a:p>
        </p:txBody>
      </p:sp>
      <p:sp>
        <p:nvSpPr>
          <p:cNvPr id="11" name="Text 3.10"/>
          <p:cNvSpPr txBox="1"/>
          <p:nvPr/>
        </p:nvSpPr>
        <p:spPr>
          <a:xfrm>
            <a:off x="7530912" y="2768531"/>
            <a:ext cx="529398" cy="197163"/>
          </a:xfrm>
          <a:prstGeom prst="rect">
            <a:avLst/>
          </a:prstGeom>
          <a:noFill/>
          <a:ln/>
        </p:spPr>
        <p:txBody>
          <a:bodyPr wrap="square" lIns="0" tIns="0" rIns="0" bIns="0" rtlCol="0" anchor="t"/>
          <a:lstStyle/>
          <a:p>
            <a:pPr algn="l" indent="0" marL="0">
              <a:lnSpc>
                <a:spcPts val="1550"/>
              </a:lnSpc>
              <a:buNone/>
            </a:pPr>
            <a:r>
              <a:rPr lang="en-US" sz="1350" b="1" spc="-14" kern="0" dirty="0">
                <a:solidFill>
                  <a:srgbClr val="14161B"/>
                </a:solidFill>
                <a:latin typeface="Arial" pitchFamily="34" charset="0"/>
                <a:ea typeface="Arial" pitchFamily="34" charset="-122"/>
                <a:cs typeface="Arial" pitchFamily="34" charset="-120"/>
              </a:rPr>
              <a:t>Place</a:t>
            </a:r>
            <a:endParaRPr lang="en-US" sz="1350" dirty="0"/>
          </a:p>
        </p:txBody>
      </p:sp>
      <p:sp>
        <p:nvSpPr>
          <p:cNvPr id="12" name="Text 3.11"/>
          <p:cNvSpPr txBox="1"/>
          <p:nvPr/>
        </p:nvSpPr>
        <p:spPr>
          <a:xfrm>
            <a:off x="7530912" y="3035224"/>
            <a:ext cx="1701757" cy="355591"/>
          </a:xfrm>
          <a:prstGeom prst="rect">
            <a:avLst/>
          </a:prstGeom>
          <a:noFill/>
          <a:ln/>
        </p:spPr>
        <p:txBody>
          <a:bodyPr wrap="square" lIns="0" tIns="0" rIns="0" bIns="0" rtlCol="0" anchor="t"/>
          <a:lstStyle/>
          <a:p>
            <a:pPr algn="l" indent="0" marL="0">
              <a:lnSpc>
                <a:spcPts val="1400"/>
              </a:lnSpc>
              <a:buNone/>
            </a:pPr>
            <a:r>
              <a:rPr lang="en-US" sz="1000" dirty="0">
                <a:solidFill>
                  <a:srgbClr val="646973"/>
                </a:solidFill>
                <a:latin typeface="Arial" pitchFamily="34" charset="0"/>
                <a:ea typeface="Arial" pitchFamily="34" charset="-122"/>
                <a:cs typeface="Arial" pitchFamily="34" charset="-120"/>
              </a:rPr>
              <a:t>Placement becomes points: 4 / 3 / 2 / 1 (proposed).</a:t>
            </a:r>
            <a:endParaRPr lang="en-US" sz="1000" dirty="0"/>
          </a:p>
        </p:txBody>
      </p:sp>
      <p:sp>
        <p:nvSpPr>
          <p:cNvPr id="13" name="Text 3.12"/>
          <p:cNvSpPr txBox="1"/>
          <p:nvPr/>
        </p:nvSpPr>
        <p:spPr>
          <a:xfrm>
            <a:off x="9753356" y="2768531"/>
            <a:ext cx="925571" cy="197163"/>
          </a:xfrm>
          <a:prstGeom prst="rect">
            <a:avLst/>
          </a:prstGeom>
          <a:noFill/>
          <a:ln/>
        </p:spPr>
        <p:txBody>
          <a:bodyPr wrap="square" lIns="0" tIns="0" rIns="0" bIns="0" rtlCol="0" anchor="t"/>
          <a:lstStyle/>
          <a:p>
            <a:pPr algn="l" indent="0" marL="0">
              <a:lnSpc>
                <a:spcPts val="1550"/>
              </a:lnSpc>
              <a:buNone/>
            </a:pPr>
            <a:r>
              <a:rPr lang="en-US" sz="1350" b="1" spc="-14" kern="0" dirty="0">
                <a:solidFill>
                  <a:srgbClr val="14161B"/>
                </a:solidFill>
                <a:latin typeface="Arial" pitchFamily="34" charset="0"/>
                <a:ea typeface="Arial" pitchFamily="34" charset="-122"/>
                <a:cs typeface="Arial" pitchFamily="34" charset="-120"/>
              </a:rPr>
              <a:t>Standings</a:t>
            </a:r>
            <a:endParaRPr lang="en-US" sz="1350" dirty="0"/>
          </a:p>
        </p:txBody>
      </p:sp>
      <p:sp>
        <p:nvSpPr>
          <p:cNvPr id="14" name="Text 3.13"/>
          <p:cNvSpPr txBox="1"/>
          <p:nvPr/>
        </p:nvSpPr>
        <p:spPr>
          <a:xfrm>
            <a:off x="9753356" y="3035224"/>
            <a:ext cx="1701757" cy="355591"/>
          </a:xfrm>
          <a:prstGeom prst="rect">
            <a:avLst/>
          </a:prstGeom>
          <a:noFill/>
          <a:ln/>
        </p:spPr>
        <p:txBody>
          <a:bodyPr wrap="square" lIns="0" tIns="0" rIns="0" bIns="0" rtlCol="0" anchor="t"/>
          <a:lstStyle/>
          <a:p>
            <a:pPr algn="l" indent="0" marL="0">
              <a:lnSpc>
                <a:spcPts val="1400"/>
              </a:lnSpc>
              <a:buNone/>
            </a:pPr>
            <a:r>
              <a:rPr lang="en-US" sz="1000" dirty="0">
                <a:solidFill>
                  <a:srgbClr val="646973"/>
                </a:solidFill>
                <a:latin typeface="Arial" pitchFamily="34" charset="0"/>
                <a:ea typeface="Arial" pitchFamily="34" charset="-122"/>
                <a:cs typeface="Arial" pitchFamily="34" charset="-120"/>
              </a:rPr>
              <a:t>Scoreboard updates. After the last round: overall winner.</a:t>
            </a:r>
            <a:endParaRPr lang="en-US" sz="1000" dirty="0"/>
          </a:p>
        </p:txBody>
      </p:sp>
      <p:sp>
        <p:nvSpPr>
          <p:cNvPr id="15" name="Text 3.14"/>
          <p:cNvSpPr txBox="1"/>
          <p:nvPr/>
        </p:nvSpPr>
        <p:spPr>
          <a:xfrm>
            <a:off x="6413340" y="4241694"/>
            <a:ext cx="1714457" cy="279393"/>
          </a:xfrm>
          <a:prstGeom prst="rect">
            <a:avLst/>
          </a:prstGeom>
          <a:noFill/>
          <a:ln/>
        </p:spPr>
        <p:txBody>
          <a:bodyPr wrap="square" lIns="0" tIns="0" rIns="0" bIns="0" rtlCol="0" anchor="ctr"/>
          <a:lstStyle/>
          <a:p>
            <a:pPr algn="ctr" indent="0" marL="0">
              <a:lnSpc>
                <a:spcPts val="800"/>
              </a:lnSpc>
              <a:buNone/>
            </a:pPr>
            <a:r>
              <a:rPr lang="en-US" sz="800" b="1" spc="112" kern="0" dirty="0">
                <a:solidFill>
                  <a:srgbClr val="FFFFFF"/>
                </a:solidFill>
                <a:latin typeface="Courier New" pitchFamily="34" charset="0"/>
                <a:ea typeface="Courier New" pitchFamily="34" charset="-122"/>
                <a:cs typeface="Courier New" pitchFamily="34" charset="-120"/>
              </a:rPr>
              <a:t>NEXT MINI-GAME</a:t>
            </a:r>
            <a:endParaRPr lang="en-US" sz="800" dirty="0"/>
          </a:p>
        </p:txBody>
      </p:sp>
      <p:sp>
        <p:nvSpPr>
          <p:cNvPr id="16" name="Text 3.15"/>
          <p:cNvSpPr txBox="1"/>
          <p:nvPr/>
        </p:nvSpPr>
        <p:spPr>
          <a:xfrm>
            <a:off x="609585" y="4902077"/>
            <a:ext cx="128114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4161B"/>
                </a:solidFill>
                <a:latin typeface="Courier New" pitchFamily="34" charset="0"/>
                <a:ea typeface="Courier New" pitchFamily="34" charset="-122"/>
                <a:cs typeface="Courier New" pitchFamily="34" charset="-120"/>
              </a:rPr>
              <a:t>BETWEEN ROUNDS</a:t>
            </a:r>
            <a:endParaRPr lang="en-US" sz="850" dirty="0"/>
          </a:p>
        </p:txBody>
      </p:sp>
      <p:sp>
        <p:nvSpPr>
          <p:cNvPr id="17" name="Text 3.16"/>
          <p:cNvSpPr txBox="1"/>
          <p:nvPr/>
        </p:nvSpPr>
        <p:spPr>
          <a:xfrm>
            <a:off x="825479" y="5308467"/>
            <a:ext cx="527295" cy="167953"/>
          </a:xfrm>
          <a:prstGeom prst="rect">
            <a:avLst/>
          </a:prstGeom>
          <a:noFill/>
          <a:ln/>
        </p:spPr>
        <p:txBody>
          <a:bodyPr wrap="square" lIns="0" tIns="0" rIns="0" bIns="0" rtlCol="0" anchor="t"/>
          <a:lstStyle/>
          <a:p>
            <a:pPr algn="l" indent="0" marL="0">
              <a:lnSpc>
                <a:spcPts val="1320"/>
              </a:lnSpc>
              <a:buNone/>
            </a:pPr>
            <a:r>
              <a:rPr lang="en-US" sz="1150" b="1" spc="-12" kern="0" dirty="0">
                <a:solidFill>
                  <a:srgbClr val="14161B"/>
                </a:solidFill>
                <a:latin typeface="Arial" pitchFamily="34" charset="0"/>
                <a:ea typeface="Arial" pitchFamily="34" charset="-122"/>
                <a:cs typeface="Arial" pitchFamily="34" charset="-120"/>
              </a:rPr>
              <a:t>Points</a:t>
            </a:r>
            <a:endParaRPr lang="en-US" sz="1150" dirty="0"/>
          </a:p>
        </p:txBody>
      </p:sp>
      <p:sp>
        <p:nvSpPr>
          <p:cNvPr id="18" name="Text 3.17"/>
          <p:cNvSpPr txBox="1"/>
          <p:nvPr/>
        </p:nvSpPr>
        <p:spPr>
          <a:xfrm>
            <a:off x="825479" y="5537062"/>
            <a:ext cx="3086023" cy="168906"/>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The only thing that accumulates across the session.</a:t>
            </a:r>
            <a:endParaRPr lang="en-US" sz="950" dirty="0"/>
          </a:p>
        </p:txBody>
      </p:sp>
      <p:sp>
        <p:nvSpPr>
          <p:cNvPr id="19" name="Text 3.18"/>
          <p:cNvSpPr txBox="1"/>
          <p:nvPr/>
        </p:nvSpPr>
        <p:spPr>
          <a:xfrm>
            <a:off x="4444889" y="5308467"/>
            <a:ext cx="1311752" cy="167953"/>
          </a:xfrm>
          <a:prstGeom prst="rect">
            <a:avLst/>
          </a:prstGeom>
          <a:noFill/>
          <a:ln/>
        </p:spPr>
        <p:txBody>
          <a:bodyPr wrap="square" lIns="0" tIns="0" rIns="0" bIns="0" rtlCol="0" anchor="t"/>
          <a:lstStyle/>
          <a:p>
            <a:pPr algn="l" indent="0" marL="0">
              <a:lnSpc>
                <a:spcPts val="1320"/>
              </a:lnSpc>
              <a:buNone/>
            </a:pPr>
            <a:r>
              <a:rPr lang="en-US" sz="1150" b="1" spc="-12" kern="0" dirty="0">
                <a:solidFill>
                  <a:srgbClr val="C2410C"/>
                </a:solidFill>
                <a:latin typeface="Arial" pitchFamily="34" charset="0"/>
                <a:ea typeface="Arial" pitchFamily="34" charset="-122"/>
                <a:cs typeface="Arial" pitchFamily="34" charset="-120"/>
              </a:rPr>
              <a:t>Catch-up scoring</a:t>
            </a:r>
            <a:endParaRPr lang="en-US" sz="1150" dirty="0"/>
          </a:p>
        </p:txBody>
      </p:sp>
      <p:sp>
        <p:nvSpPr>
          <p:cNvPr id="20" name="Text 3.19"/>
          <p:cNvSpPr txBox="1"/>
          <p:nvPr/>
        </p:nvSpPr>
        <p:spPr>
          <a:xfrm>
            <a:off x="4444889" y="5537062"/>
            <a:ext cx="3594010" cy="506598"/>
          </a:xfrm>
          <a:prstGeom prst="rect">
            <a:avLst/>
          </a:prstGeom>
          <a:noFill/>
          <a:ln/>
        </p:spPr>
        <p:txBody>
          <a:bodyPr wrap="square" lIns="0" tIns="0" rIns="0" bIns="0" rtlCol="0" anchor="t"/>
          <a:lstStyle/>
          <a:p>
            <a:pPr algn="l" indent="0" marL="0">
              <a:lnSpc>
                <a:spcPts val="1330"/>
              </a:lnSpc>
              <a:buNone/>
            </a:pPr>
            <a:r>
              <a:rPr lang="en-US" sz="950" dirty="0">
                <a:solidFill>
                  <a:srgbClr val="5B3B2E"/>
                </a:solidFill>
                <a:latin typeface="Arial" pitchFamily="34" charset="0"/>
                <a:ea typeface="Arial" pitchFamily="34" charset="-122"/>
                <a:cs typeface="Arial" pitchFamily="34" charset="-120"/>
              </a:rPr>
              <a:t>Last round’s winner earns slightly fewer points next round; last place earns slightly more. Nobody drops out of the race before the final.</a:t>
            </a:r>
            <a:endParaRPr lang="en-US" sz="950" dirty="0"/>
          </a:p>
        </p:txBody>
      </p:sp>
      <p:sp>
        <p:nvSpPr>
          <p:cNvPr id="21" name="Text 3.20"/>
          <p:cNvSpPr txBox="1"/>
          <p:nvPr/>
        </p:nvSpPr>
        <p:spPr>
          <a:xfrm>
            <a:off x="8572286" y="5308467"/>
            <a:ext cx="1285986" cy="167953"/>
          </a:xfrm>
          <a:prstGeom prst="rect">
            <a:avLst/>
          </a:prstGeom>
          <a:noFill/>
          <a:ln/>
        </p:spPr>
        <p:txBody>
          <a:bodyPr wrap="square" lIns="0" tIns="0" rIns="0" bIns="0" rtlCol="0" anchor="t"/>
          <a:lstStyle/>
          <a:p>
            <a:pPr algn="l" indent="0" marL="0">
              <a:lnSpc>
                <a:spcPts val="1320"/>
              </a:lnSpc>
              <a:buNone/>
            </a:pPr>
            <a:r>
              <a:rPr lang="en-US" sz="1150" b="1" spc="-12" kern="0" dirty="0">
                <a:solidFill>
                  <a:srgbClr val="14161B"/>
                </a:solidFill>
                <a:latin typeface="Arial" pitchFamily="34" charset="0"/>
                <a:ea typeface="Arial" pitchFamily="34" charset="-122"/>
                <a:cs typeface="Arial" pitchFamily="34" charset="-120"/>
              </a:rPr>
              <a:t>Nothing physical</a:t>
            </a:r>
            <a:endParaRPr lang="en-US" sz="1150" dirty="0"/>
          </a:p>
        </p:txBody>
      </p:sp>
      <p:sp>
        <p:nvSpPr>
          <p:cNvPr id="22" name="Text 3.21"/>
          <p:cNvSpPr txBox="1"/>
          <p:nvPr/>
        </p:nvSpPr>
        <p:spPr>
          <a:xfrm>
            <a:off x="8572286" y="5537062"/>
            <a:ext cx="2895528" cy="337732"/>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Mass and position reset every round, so one bad round does not snowball.</a:t>
            </a:r>
            <a:endParaRPr lang="en-US" sz="950" dirty="0"/>
          </a:p>
        </p:txBody>
      </p:sp>
      <p:sp>
        <p:nvSpPr>
          <p:cNvPr id="23" name="Text 3.22"/>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03</a:t>
            </a:r>
            <a:endParaRPr lang="en-US" sz="7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4.1"/>
          <p:cNvSpPr txBox="1"/>
          <p:nvPr/>
        </p:nvSpPr>
        <p:spPr>
          <a:xfrm>
            <a:off x="609585" y="355591"/>
            <a:ext cx="172117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1EA5E6"/>
                </a:solidFill>
                <a:latin typeface="Courier New" pitchFamily="34" charset="0"/>
                <a:ea typeface="Courier New" pitchFamily="34" charset="-122"/>
                <a:cs typeface="Courier New" pitchFamily="34" charset="-120"/>
              </a:rPr>
              <a:t>03 — CORE MECHANIC</a:t>
            </a:r>
            <a:endParaRPr lang="en-US" sz="900" dirty="0"/>
          </a:p>
        </p:txBody>
      </p:sp>
      <p:sp>
        <p:nvSpPr>
          <p:cNvPr id="3" name="Text 4.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4.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Mass is your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health</a:t>
            </a:r>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 your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ammo</a:t>
            </a:r>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 and your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weight</a:t>
            </a:r>
            <a:endParaRPr lang="en-US" sz="3400" dirty="0"/>
          </a:p>
        </p:txBody>
      </p:sp>
      <p:sp>
        <p:nvSpPr>
          <p:cNvPr id="5" name="Text 4.4"/>
          <p:cNvSpPr txBox="1"/>
          <p:nvPr/>
        </p:nvSpPr>
        <p:spPr>
          <a:xfrm>
            <a:off x="749281" y="2082748"/>
            <a:ext cx="406390" cy="190495"/>
          </a:xfrm>
          <a:prstGeom prst="rect">
            <a:avLst/>
          </a:prstGeom>
          <a:noFill/>
          <a:ln/>
        </p:spPr>
        <p:txBody>
          <a:bodyPr wrap="square" lIns="0" tIns="0" rIns="0" bIns="0" rtlCol="0" anchor="t"/>
          <a:lstStyle/>
          <a:p>
            <a:pPr algn="ctr" indent="0" marL="0">
              <a:lnSpc>
                <a:spcPts val="1500"/>
              </a:lnSpc>
              <a:buNone/>
            </a:pPr>
            <a:r>
              <a:rPr lang="en-US" sz="1500" i="1" dirty="0">
                <a:solidFill>
                  <a:srgbClr val="FF5A1F"/>
                </a:solidFill>
                <a:latin typeface="Georgia" pitchFamily="34" charset="0"/>
                <a:ea typeface="Georgia" pitchFamily="34" charset="-122"/>
                <a:cs typeface="Georgia" pitchFamily="34" charset="-120"/>
              </a:rPr>
              <a:t>1</a:t>
            </a:r>
            <a:endParaRPr lang="en-US" sz="1500" dirty="0"/>
          </a:p>
        </p:txBody>
      </p:sp>
      <p:sp>
        <p:nvSpPr>
          <p:cNvPr id="6" name="Text 4.5"/>
          <p:cNvSpPr txBox="1"/>
          <p:nvPr/>
        </p:nvSpPr>
        <p:spPr>
          <a:xfrm>
            <a:off x="4482988" y="2082748"/>
            <a:ext cx="406390" cy="190495"/>
          </a:xfrm>
          <a:prstGeom prst="rect">
            <a:avLst/>
          </a:prstGeom>
          <a:noFill/>
          <a:ln/>
        </p:spPr>
        <p:txBody>
          <a:bodyPr wrap="square" lIns="0" tIns="0" rIns="0" bIns="0" rtlCol="0" anchor="t"/>
          <a:lstStyle/>
          <a:p>
            <a:pPr algn="ctr" indent="0" marL="0">
              <a:lnSpc>
                <a:spcPts val="1500"/>
              </a:lnSpc>
              <a:buNone/>
            </a:pPr>
            <a:r>
              <a:rPr lang="en-US" sz="1500" i="1" dirty="0">
                <a:solidFill>
                  <a:srgbClr val="1EA5E6"/>
                </a:solidFill>
                <a:latin typeface="Georgia" pitchFamily="34" charset="0"/>
                <a:ea typeface="Georgia" pitchFamily="34" charset="-122"/>
                <a:cs typeface="Georgia" pitchFamily="34" charset="-120"/>
              </a:rPr>
              <a:t>2</a:t>
            </a:r>
            <a:endParaRPr lang="en-US" sz="1500" dirty="0"/>
          </a:p>
        </p:txBody>
      </p:sp>
      <p:sp>
        <p:nvSpPr>
          <p:cNvPr id="7" name="Text 4.6"/>
          <p:cNvSpPr txBox="1"/>
          <p:nvPr/>
        </p:nvSpPr>
        <p:spPr>
          <a:xfrm>
            <a:off x="8216695" y="2082748"/>
            <a:ext cx="406390" cy="190495"/>
          </a:xfrm>
          <a:prstGeom prst="rect">
            <a:avLst/>
          </a:prstGeom>
          <a:noFill/>
          <a:ln/>
        </p:spPr>
        <p:txBody>
          <a:bodyPr wrap="square" lIns="0" tIns="0" rIns="0" bIns="0" rtlCol="0" anchor="t"/>
          <a:lstStyle/>
          <a:p>
            <a:pPr algn="ctr" indent="0" marL="0">
              <a:lnSpc>
                <a:spcPts val="1500"/>
              </a:lnSpc>
              <a:buNone/>
            </a:pPr>
            <a:r>
              <a:rPr lang="en-US" sz="1500" i="1" dirty="0">
                <a:solidFill>
                  <a:srgbClr val="7E48DE"/>
                </a:solidFill>
                <a:latin typeface="Georgia" pitchFamily="34" charset="0"/>
                <a:ea typeface="Georgia" pitchFamily="34" charset="-122"/>
                <a:cs typeface="Georgia" pitchFamily="34" charset="-120"/>
              </a:rPr>
              <a:t>3</a:t>
            </a:r>
            <a:endParaRPr lang="en-US" sz="1500" dirty="0"/>
          </a:p>
        </p:txBody>
      </p:sp>
      <p:sp>
        <p:nvSpPr>
          <p:cNvPr id="8" name="Text 4.7"/>
          <p:cNvSpPr txBox="1"/>
          <p:nvPr/>
        </p:nvSpPr>
        <p:spPr>
          <a:xfrm>
            <a:off x="609585" y="4711582"/>
            <a:ext cx="817246" cy="279393"/>
          </a:xfrm>
          <a:prstGeom prst="rect">
            <a:avLst/>
          </a:prstGeom>
          <a:noFill/>
          <a:ln/>
        </p:spPr>
        <p:txBody>
          <a:bodyPr wrap="square" lIns="0" tIns="0" rIns="0" bIns="0" rtlCol="0" anchor="t"/>
          <a:lstStyle/>
          <a:p>
            <a:pPr algn="l" indent="0" marL="0">
              <a:lnSpc>
                <a:spcPts val="2200"/>
              </a:lnSpc>
              <a:buNone/>
            </a:pPr>
            <a:r>
              <a:rPr lang="en-US" sz="2200" i="1" dirty="0">
                <a:solidFill>
                  <a:srgbClr val="FF5A1F"/>
                </a:solidFill>
                <a:latin typeface="Georgia" pitchFamily="34" charset="0"/>
                <a:ea typeface="Georgia" pitchFamily="34" charset="-122"/>
                <a:cs typeface="Georgia" pitchFamily="34" charset="-120"/>
              </a:rPr>
              <a:t>Shoot</a:t>
            </a:r>
            <a:endParaRPr lang="en-US" sz="2200" dirty="0"/>
          </a:p>
        </p:txBody>
      </p:sp>
      <p:sp>
        <p:nvSpPr>
          <p:cNvPr id="9" name="Text 4.8"/>
          <p:cNvSpPr txBox="1"/>
          <p:nvPr/>
        </p:nvSpPr>
        <p:spPr>
          <a:xfrm>
            <a:off x="609585" y="5117972"/>
            <a:ext cx="3467013" cy="414724"/>
          </a:xfrm>
          <a:prstGeom prst="rect">
            <a:avLst/>
          </a:prstGeom>
          <a:noFill/>
          <a:ln/>
        </p:spPr>
        <p:txBody>
          <a:bodyPr wrap="square" lIns="0" tIns="0" rIns="0" bIns="0" rtlCol="0" anchor="t"/>
          <a:lstStyle/>
          <a:p>
            <a:pPr algn="l" indent="0" marL="0">
              <a:lnSpc>
                <a:spcPts val="1630"/>
              </a:lnSpc>
              <a:buNone/>
            </a:pPr>
            <a:r>
              <a:rPr lang="en-US" sz="1150" dirty="0">
                <a:solidFill>
                  <a:srgbClr val="14161B"/>
                </a:solidFill>
                <a:latin typeface="Arial" pitchFamily="34" charset="0"/>
                <a:ea typeface="Arial" pitchFamily="34" charset="-122"/>
                <a:cs typeface="Arial" pitchFamily="34" charset="-120"/>
              </a:rPr>
              <a:t>A cube spits out a piece of its own body. Every shot makes it smaller, hit or miss.</a:t>
            </a:r>
            <a:endParaRPr lang="en-US" sz="1150" dirty="0"/>
          </a:p>
        </p:txBody>
      </p:sp>
      <p:sp>
        <p:nvSpPr>
          <p:cNvPr id="10" name="Text 4.9"/>
          <p:cNvSpPr txBox="1"/>
          <p:nvPr/>
        </p:nvSpPr>
        <p:spPr>
          <a:xfrm>
            <a:off x="4343291" y="4711582"/>
            <a:ext cx="495744" cy="279393"/>
          </a:xfrm>
          <a:prstGeom prst="rect">
            <a:avLst/>
          </a:prstGeom>
          <a:noFill/>
          <a:ln/>
        </p:spPr>
        <p:txBody>
          <a:bodyPr wrap="square" lIns="0" tIns="0" rIns="0" bIns="0" rtlCol="0" anchor="t"/>
          <a:lstStyle/>
          <a:p>
            <a:pPr algn="l" indent="0" marL="0">
              <a:lnSpc>
                <a:spcPts val="2200"/>
              </a:lnSpc>
              <a:buNone/>
            </a:pPr>
            <a:r>
              <a:rPr lang="en-US" sz="2200" i="1" dirty="0">
                <a:solidFill>
                  <a:srgbClr val="1EA5E6"/>
                </a:solidFill>
                <a:latin typeface="Georgia" pitchFamily="34" charset="0"/>
                <a:ea typeface="Georgia" pitchFamily="34" charset="-122"/>
                <a:cs typeface="Georgia" pitchFamily="34" charset="-120"/>
              </a:rPr>
              <a:t>Hit</a:t>
            </a:r>
            <a:endParaRPr lang="en-US" sz="2200" dirty="0"/>
          </a:p>
        </p:txBody>
      </p:sp>
      <p:sp>
        <p:nvSpPr>
          <p:cNvPr id="11" name="Text 4.10"/>
          <p:cNvSpPr txBox="1"/>
          <p:nvPr/>
        </p:nvSpPr>
        <p:spPr>
          <a:xfrm>
            <a:off x="4343291" y="5117972"/>
            <a:ext cx="3467013" cy="414724"/>
          </a:xfrm>
          <a:prstGeom prst="rect">
            <a:avLst/>
          </a:prstGeom>
          <a:noFill/>
          <a:ln/>
        </p:spPr>
        <p:txBody>
          <a:bodyPr wrap="square" lIns="0" tIns="0" rIns="0" bIns="0" rtlCol="0" anchor="t"/>
          <a:lstStyle/>
          <a:p>
            <a:pPr algn="l" indent="0" marL="0">
              <a:lnSpc>
                <a:spcPts val="1630"/>
              </a:lnSpc>
              <a:buNone/>
            </a:pPr>
            <a:r>
              <a:rPr lang="en-US" sz="1150" dirty="0">
                <a:solidFill>
                  <a:srgbClr val="14161B"/>
                </a:solidFill>
                <a:latin typeface="Arial" pitchFamily="34" charset="0"/>
                <a:ea typeface="Arial" pitchFamily="34" charset="-122"/>
                <a:cs typeface="Arial" pitchFamily="34" charset="-120"/>
              </a:rPr>
              <a:t>The target loses mass on impact and is pushed back along the line of the shot.</a:t>
            </a:r>
            <a:endParaRPr lang="en-US" sz="1150" dirty="0"/>
          </a:p>
        </p:txBody>
      </p:sp>
      <p:sp>
        <p:nvSpPr>
          <p:cNvPr id="12" name="Text 4.11"/>
          <p:cNvSpPr txBox="1"/>
          <p:nvPr/>
        </p:nvSpPr>
        <p:spPr>
          <a:xfrm>
            <a:off x="8076998" y="4711582"/>
            <a:ext cx="579459" cy="279393"/>
          </a:xfrm>
          <a:prstGeom prst="rect">
            <a:avLst/>
          </a:prstGeom>
          <a:noFill/>
          <a:ln/>
        </p:spPr>
        <p:txBody>
          <a:bodyPr wrap="square" lIns="0" tIns="0" rIns="0" bIns="0" rtlCol="0" anchor="t"/>
          <a:lstStyle/>
          <a:p>
            <a:pPr algn="l" indent="0" marL="0">
              <a:lnSpc>
                <a:spcPts val="2200"/>
              </a:lnSpc>
              <a:buNone/>
            </a:pPr>
            <a:r>
              <a:rPr lang="en-US" sz="2200" i="1" dirty="0">
                <a:solidFill>
                  <a:srgbClr val="7E48DE"/>
                </a:solidFill>
                <a:latin typeface="Georgia" pitchFamily="34" charset="0"/>
                <a:ea typeface="Georgia" pitchFamily="34" charset="-122"/>
                <a:cs typeface="Georgia" pitchFamily="34" charset="-120"/>
              </a:rPr>
              <a:t>Fall</a:t>
            </a:r>
            <a:endParaRPr lang="en-US" sz="2200" dirty="0"/>
          </a:p>
        </p:txBody>
      </p:sp>
      <p:sp>
        <p:nvSpPr>
          <p:cNvPr id="13" name="Text 4.12"/>
          <p:cNvSpPr txBox="1"/>
          <p:nvPr/>
        </p:nvSpPr>
        <p:spPr>
          <a:xfrm>
            <a:off x="8076998" y="5117972"/>
            <a:ext cx="3467013" cy="414724"/>
          </a:xfrm>
          <a:prstGeom prst="rect">
            <a:avLst/>
          </a:prstGeom>
          <a:noFill/>
          <a:ln/>
        </p:spPr>
        <p:txBody>
          <a:bodyPr wrap="square" lIns="0" tIns="0" rIns="0" bIns="0" rtlCol="0" anchor="t"/>
          <a:lstStyle/>
          <a:p>
            <a:pPr algn="l" indent="0" marL="0">
              <a:lnSpc>
                <a:spcPts val="1630"/>
              </a:lnSpc>
              <a:buNone/>
            </a:pPr>
            <a:r>
              <a:rPr lang="en-US" sz="1150" dirty="0">
                <a:solidFill>
                  <a:srgbClr val="14161B"/>
                </a:solidFill>
                <a:latin typeface="Arial" pitchFamily="34" charset="0"/>
                <a:ea typeface="Arial" pitchFamily="34" charset="-122"/>
                <a:cs typeface="Arial" pitchFamily="34" charset="-120"/>
              </a:rPr>
              <a:t>Less mass means the same hit pushes further. Off the edge is a knockout.</a:t>
            </a:r>
            <a:endParaRPr lang="en-US" sz="1150" dirty="0"/>
          </a:p>
        </p:txBody>
      </p:sp>
      <p:sp>
        <p:nvSpPr>
          <p:cNvPr id="14" name="Text 4.13"/>
          <p:cNvSpPr txBox="1"/>
          <p:nvPr/>
        </p:nvSpPr>
        <p:spPr>
          <a:xfrm>
            <a:off x="609585" y="6045049"/>
            <a:ext cx="6324224"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FIG. 2 — Three moments of one exchange in Mass Knockout. Concept render, AI-generated. Not gameplay.</a:t>
            </a:r>
            <a:endParaRPr lang="en-US" sz="750" dirty="0"/>
          </a:p>
        </p:txBody>
      </p:sp>
      <p:sp>
        <p:nvSpPr>
          <p:cNvPr id="15" name="Text 4.14"/>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04</a:t>
            </a:r>
            <a:endParaRPr lang="en-US" sz="7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1"/>
          <p:cNvSpPr txBox="1"/>
          <p:nvPr/>
        </p:nvSpPr>
        <p:spPr>
          <a:xfrm>
            <a:off x="609585" y="355591"/>
            <a:ext cx="199745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1EA5E6"/>
                </a:solidFill>
                <a:latin typeface="Courier New" pitchFamily="34" charset="0"/>
                <a:ea typeface="Courier New" pitchFamily="34" charset="-122"/>
                <a:cs typeface="Courier New" pitchFamily="34" charset="-120"/>
              </a:rPr>
              <a:t>04 — DESIGN REASONING</a:t>
            </a:r>
            <a:endParaRPr lang="en-US" sz="900" dirty="0"/>
          </a:p>
        </p:txBody>
      </p:sp>
      <p:sp>
        <p:nvSpPr>
          <p:cNvPr id="3" name="Text 5.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5.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Why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both</a:t>
            </a:r>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 the shooter and the target lose mass</a:t>
            </a:r>
            <a:endParaRPr lang="en-US" sz="3400" dirty="0"/>
          </a:p>
        </p:txBody>
      </p:sp>
      <p:sp>
        <p:nvSpPr>
          <p:cNvPr id="5" name="Text 5.4"/>
          <p:cNvSpPr txBox="1"/>
          <p:nvPr/>
        </p:nvSpPr>
        <p:spPr>
          <a:xfrm>
            <a:off x="888978" y="2184345"/>
            <a:ext cx="21508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646973"/>
                </a:solidFill>
                <a:latin typeface="Courier New" pitchFamily="34" charset="0"/>
                <a:ea typeface="Courier New" pitchFamily="34" charset="-122"/>
                <a:cs typeface="Courier New" pitchFamily="34" charset="-120"/>
              </a:rPr>
              <a:t>IF ONLY THE SHOOTER PAID</a:t>
            </a:r>
            <a:endParaRPr lang="en-US" sz="850" dirty="0"/>
          </a:p>
        </p:txBody>
      </p:sp>
      <p:sp>
        <p:nvSpPr>
          <p:cNvPr id="6" name="Text 5.5"/>
          <p:cNvSpPr txBox="1"/>
          <p:nvPr/>
        </p:nvSpPr>
        <p:spPr>
          <a:xfrm>
            <a:off x="888978" y="2514537"/>
            <a:ext cx="3022524" cy="539737"/>
          </a:xfrm>
          <a:prstGeom prst="rect">
            <a:avLst/>
          </a:prstGeom>
          <a:noFill/>
          <a:ln/>
        </p:spPr>
        <p:txBody>
          <a:bodyPr wrap="square" lIns="0" tIns="0" rIns="0" bIns="0" rtlCol="0" anchor="t"/>
          <a:lstStyle/>
          <a:p>
            <a:pPr algn="l" indent="0" marL="0">
              <a:lnSpc>
                <a:spcPts val="2130"/>
              </a:lnSpc>
              <a:buNone/>
            </a:pPr>
            <a:r>
              <a:rPr lang="en-US" sz="1700" dirty="0">
                <a:solidFill>
                  <a:srgbClr val="14161B"/>
                </a:solidFill>
                <a:latin typeface="Georgia" pitchFamily="34" charset="0"/>
                <a:ea typeface="Georgia" pitchFamily="34" charset="-122"/>
                <a:cs typeface="Georgia" pitchFamily="34" charset="-120"/>
              </a:rPr>
              <a:t>Shooting is pure loss. The best play is to never shoot.</a:t>
            </a:r>
            <a:endParaRPr lang="en-US" sz="1700" dirty="0"/>
          </a:p>
        </p:txBody>
      </p:sp>
      <p:sp>
        <p:nvSpPr>
          <p:cNvPr id="7" name="Text 5.6"/>
          <p:cNvSpPr txBox="1"/>
          <p:nvPr/>
        </p:nvSpPr>
        <p:spPr>
          <a:xfrm>
            <a:off x="888978" y="3682908"/>
            <a:ext cx="3022524" cy="168906"/>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Players wait for others to weaken each other.</a:t>
            </a:r>
            <a:endParaRPr lang="en-US" sz="950" dirty="0"/>
          </a:p>
        </p:txBody>
      </p:sp>
      <p:sp>
        <p:nvSpPr>
          <p:cNvPr id="8" name="Text 5.7"/>
          <p:cNvSpPr txBox="1"/>
          <p:nvPr/>
        </p:nvSpPr>
        <p:spPr>
          <a:xfrm>
            <a:off x="888978" y="4190895"/>
            <a:ext cx="1587460" cy="279393"/>
          </a:xfrm>
          <a:prstGeom prst="rect">
            <a:avLst/>
          </a:prstGeom>
          <a:noFill/>
          <a:ln/>
        </p:spPr>
        <p:txBody>
          <a:bodyPr wrap="square" lIns="0" tIns="0" rIns="0" bIns="0" rtlCol="0" anchor="ctr"/>
          <a:lstStyle/>
          <a:p>
            <a:pPr algn="ctr" indent="0" marL="0">
              <a:lnSpc>
                <a:spcPts val="800"/>
              </a:lnSpc>
              <a:buNone/>
            </a:pPr>
            <a:r>
              <a:rPr lang="en-US" sz="800" b="1" spc="112" kern="0" dirty="0">
                <a:solidFill>
                  <a:srgbClr val="6B6F78"/>
                </a:solidFill>
                <a:latin typeface="Courier New" pitchFamily="34" charset="0"/>
                <a:ea typeface="Courier New" pitchFamily="34" charset="-122"/>
                <a:cs typeface="Courier New" pitchFamily="34" charset="-120"/>
              </a:rPr>
              <a:t>✕ REWARDS HIDING</a:t>
            </a:r>
            <a:endParaRPr lang="en-US" sz="800" dirty="0"/>
          </a:p>
        </p:txBody>
      </p:sp>
      <p:sp>
        <p:nvSpPr>
          <p:cNvPr id="9" name="Text 5.8"/>
          <p:cNvSpPr txBox="1"/>
          <p:nvPr/>
        </p:nvSpPr>
        <p:spPr>
          <a:xfrm>
            <a:off x="4622684" y="2184345"/>
            <a:ext cx="20639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646973"/>
                </a:solidFill>
                <a:latin typeface="Courier New" pitchFamily="34" charset="0"/>
                <a:ea typeface="Courier New" pitchFamily="34" charset="-122"/>
                <a:cs typeface="Courier New" pitchFamily="34" charset="-120"/>
              </a:rPr>
              <a:t>IF ONLY THE TARGET PAID</a:t>
            </a:r>
            <a:endParaRPr lang="en-US" sz="850" dirty="0"/>
          </a:p>
        </p:txBody>
      </p:sp>
      <p:sp>
        <p:nvSpPr>
          <p:cNvPr id="10" name="Text 5.9"/>
          <p:cNvSpPr txBox="1"/>
          <p:nvPr/>
        </p:nvSpPr>
        <p:spPr>
          <a:xfrm>
            <a:off x="4622684" y="2514537"/>
            <a:ext cx="3022524" cy="539737"/>
          </a:xfrm>
          <a:prstGeom prst="rect">
            <a:avLst/>
          </a:prstGeom>
          <a:noFill/>
          <a:ln/>
        </p:spPr>
        <p:txBody>
          <a:bodyPr wrap="square" lIns="0" tIns="0" rIns="0" bIns="0" rtlCol="0" anchor="t"/>
          <a:lstStyle/>
          <a:p>
            <a:pPr algn="l" indent="0" marL="0">
              <a:lnSpc>
                <a:spcPts val="2130"/>
              </a:lnSpc>
              <a:buNone/>
            </a:pPr>
            <a:r>
              <a:rPr lang="en-US" sz="1700" dirty="0">
                <a:solidFill>
                  <a:srgbClr val="14161B"/>
                </a:solidFill>
                <a:latin typeface="Georgia" pitchFamily="34" charset="0"/>
                <a:ea typeface="Georgia" pitchFamily="34" charset="-122"/>
                <a:cs typeface="Georgia" pitchFamily="34" charset="-120"/>
              </a:rPr>
              <a:t>Shooting is free. The best play is to shoot nonstop.</a:t>
            </a:r>
            <a:endParaRPr lang="en-US" sz="1700" dirty="0"/>
          </a:p>
        </p:txBody>
      </p:sp>
      <p:sp>
        <p:nvSpPr>
          <p:cNvPr id="11" name="Text 5.10"/>
          <p:cNvSpPr txBox="1"/>
          <p:nvPr/>
        </p:nvSpPr>
        <p:spPr>
          <a:xfrm>
            <a:off x="4622684" y="3682908"/>
            <a:ext cx="3022524" cy="168906"/>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Aim stops mattering; volume wins.</a:t>
            </a:r>
            <a:endParaRPr lang="en-US" sz="950" dirty="0"/>
          </a:p>
        </p:txBody>
      </p:sp>
      <p:sp>
        <p:nvSpPr>
          <p:cNvPr id="12" name="Text 5.11"/>
          <p:cNvSpPr txBox="1"/>
          <p:nvPr/>
        </p:nvSpPr>
        <p:spPr>
          <a:xfrm>
            <a:off x="4622684" y="4190895"/>
            <a:ext cx="1587460" cy="279393"/>
          </a:xfrm>
          <a:prstGeom prst="rect">
            <a:avLst/>
          </a:prstGeom>
          <a:noFill/>
          <a:ln/>
        </p:spPr>
        <p:txBody>
          <a:bodyPr wrap="square" lIns="0" tIns="0" rIns="0" bIns="0" rtlCol="0" anchor="ctr"/>
          <a:lstStyle/>
          <a:p>
            <a:pPr algn="ctr" indent="0" marL="0">
              <a:lnSpc>
                <a:spcPts val="800"/>
              </a:lnSpc>
              <a:buNone/>
            </a:pPr>
            <a:r>
              <a:rPr lang="en-US" sz="800" b="1" spc="112" kern="0" dirty="0">
                <a:solidFill>
                  <a:srgbClr val="6B6F78"/>
                </a:solidFill>
                <a:latin typeface="Courier New" pitchFamily="34" charset="0"/>
                <a:ea typeface="Courier New" pitchFamily="34" charset="-122"/>
                <a:cs typeface="Courier New" pitchFamily="34" charset="-120"/>
              </a:rPr>
              <a:t>✕ REWARDS SPAM</a:t>
            </a:r>
            <a:endParaRPr lang="en-US" sz="800" dirty="0"/>
          </a:p>
        </p:txBody>
      </p:sp>
      <p:sp>
        <p:nvSpPr>
          <p:cNvPr id="13" name="Text 5.12"/>
          <p:cNvSpPr txBox="1"/>
          <p:nvPr/>
        </p:nvSpPr>
        <p:spPr>
          <a:xfrm>
            <a:off x="8356391" y="2146246"/>
            <a:ext cx="17160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BOTH PAY — OUR RULE</a:t>
            </a:r>
            <a:endParaRPr lang="en-US" sz="850" dirty="0"/>
          </a:p>
        </p:txBody>
      </p:sp>
      <p:sp>
        <p:nvSpPr>
          <p:cNvPr id="14" name="Text 5.13"/>
          <p:cNvSpPr txBox="1"/>
          <p:nvPr/>
        </p:nvSpPr>
        <p:spPr>
          <a:xfrm>
            <a:off x="8356391" y="2476438"/>
            <a:ext cx="3022524" cy="539737"/>
          </a:xfrm>
          <a:prstGeom prst="rect">
            <a:avLst/>
          </a:prstGeom>
          <a:noFill/>
          <a:ln/>
        </p:spPr>
        <p:txBody>
          <a:bodyPr wrap="square" lIns="0" tIns="0" rIns="0" bIns="0" rtlCol="0" anchor="t"/>
          <a:lstStyle/>
          <a:p>
            <a:pPr algn="l" indent="0" marL="0">
              <a:lnSpc>
                <a:spcPts val="2130"/>
              </a:lnSpc>
              <a:buNone/>
            </a:pPr>
            <a:r>
              <a:rPr lang="en-US" sz="1700" dirty="0">
                <a:solidFill>
                  <a:srgbClr val="FFFFFF"/>
                </a:solidFill>
                <a:latin typeface="Georgia" pitchFamily="34" charset="0"/>
                <a:ea typeface="Georgia" pitchFamily="34" charset="-122"/>
                <a:cs typeface="Georgia" pitchFamily="34" charset="-120"/>
              </a:rPr>
              <a:t>Every shot is a trade. A miss costs only you.</a:t>
            </a:r>
            <a:endParaRPr lang="en-US" sz="1700" dirty="0"/>
          </a:p>
        </p:txBody>
      </p:sp>
      <p:sp>
        <p:nvSpPr>
          <p:cNvPr id="15" name="Text 5.14"/>
          <p:cNvSpPr txBox="1"/>
          <p:nvPr/>
        </p:nvSpPr>
        <p:spPr>
          <a:xfrm>
            <a:off x="8356391" y="3555911"/>
            <a:ext cx="3022524" cy="337732"/>
          </a:xfrm>
          <a:prstGeom prst="rect">
            <a:avLst/>
          </a:prstGeom>
          <a:noFill/>
          <a:ln/>
        </p:spPr>
        <p:txBody>
          <a:bodyPr wrap="square" lIns="0" tIns="0" rIns="0" bIns="0" rtlCol="0" anchor="t"/>
          <a:lstStyle/>
          <a:p>
            <a:pPr algn="l" indent="0" marL="0">
              <a:lnSpc>
                <a:spcPts val="1330"/>
              </a:lnSpc>
              <a:buNone/>
            </a:pPr>
            <a:r>
              <a:rPr lang="en-US" sz="950" dirty="0">
                <a:solidFill>
                  <a:srgbClr val="C3CAD8"/>
                </a:solidFill>
                <a:latin typeface="Arial" pitchFamily="34" charset="0"/>
                <a:ea typeface="Arial" pitchFamily="34" charset="-122"/>
                <a:cs typeface="Arial" pitchFamily="34" charset="-120"/>
              </a:rPr>
              <a:t>A hit should take more from the target than the shot cost the shooter.</a:t>
            </a:r>
            <a:endParaRPr lang="en-US" sz="950" dirty="0"/>
          </a:p>
        </p:txBody>
      </p:sp>
      <p:sp>
        <p:nvSpPr>
          <p:cNvPr id="16" name="Text 5.15"/>
          <p:cNvSpPr txBox="1"/>
          <p:nvPr/>
        </p:nvSpPr>
        <p:spPr>
          <a:xfrm>
            <a:off x="8356391" y="4216295"/>
            <a:ext cx="2095448" cy="279393"/>
          </a:xfrm>
          <a:prstGeom prst="rect">
            <a:avLst/>
          </a:prstGeom>
          <a:noFill/>
          <a:ln/>
        </p:spPr>
        <p:txBody>
          <a:bodyPr wrap="square" lIns="0" tIns="0" rIns="0" bIns="0" rtlCol="0" anchor="ctr"/>
          <a:lstStyle/>
          <a:p>
            <a:pPr algn="ctr" indent="0" marL="0">
              <a:lnSpc>
                <a:spcPts val="800"/>
              </a:lnSpc>
              <a:buNone/>
            </a:pPr>
            <a:r>
              <a:rPr lang="en-US" sz="800" b="1" spc="112" kern="0" dirty="0">
                <a:solidFill>
                  <a:srgbClr val="FFFFFF"/>
                </a:solidFill>
                <a:latin typeface="Courier New" pitchFamily="34" charset="0"/>
                <a:ea typeface="Courier New" pitchFamily="34" charset="-122"/>
                <a:cs typeface="Courier New" pitchFamily="34" charset="-120"/>
              </a:rPr>
              <a:t>✓ REWARDS AIM AND TIMING</a:t>
            </a:r>
            <a:endParaRPr lang="en-US" sz="800" dirty="0"/>
          </a:p>
        </p:txBody>
      </p:sp>
      <p:sp>
        <p:nvSpPr>
          <p:cNvPr id="17" name="Text 5.16"/>
          <p:cNvSpPr txBox="1"/>
          <p:nvPr/>
        </p:nvSpPr>
        <p:spPr>
          <a:xfrm>
            <a:off x="609585" y="5079873"/>
            <a:ext cx="9562861" cy="304792"/>
          </a:xfrm>
          <a:prstGeom prst="rect">
            <a:avLst/>
          </a:prstGeom>
          <a:noFill/>
          <a:ln/>
        </p:spPr>
        <p:txBody>
          <a:bodyPr wrap="square" lIns="0" tIns="0" rIns="0" bIns="0" rtlCol="0" anchor="t"/>
          <a:lstStyle/>
          <a:p>
            <a:pPr algn="l" indent="0" marL="0">
              <a:lnSpc>
                <a:spcPts val="2400"/>
              </a:lnSpc>
              <a:buNone/>
            </a:pPr>
            <a:r>
              <a:rPr lang="en-US" sz="2000" dirty="0">
                <a:solidFill>
                  <a:srgbClr val="14161B"/>
                </a:solidFill>
                <a:latin typeface="Georgia" pitchFamily="34" charset="0"/>
                <a:ea typeface="Georgia" pitchFamily="34" charset="-122"/>
                <a:cs typeface="Georgia" pitchFamily="34" charset="-120"/>
              </a:rPr>
              <a:t>Spending mass only pays off when the shot lands, so </a:t>
            </a:r>
            <a:pPr algn="l" indent="0" marL="0">
              <a:lnSpc>
                <a:spcPts val="2400"/>
              </a:lnSpc>
              <a:buNone/>
            </a:pPr>
            <a:r>
              <a:rPr lang="en-US" sz="2000" i="1" dirty="0">
                <a:solidFill>
                  <a:srgbClr val="FF5A1F"/>
                </a:solidFill>
                <a:latin typeface="Georgia" pitchFamily="34" charset="0"/>
                <a:ea typeface="Georgia" pitchFamily="34" charset="-122"/>
                <a:cs typeface="Georgia" pitchFamily="34" charset="-120"/>
              </a:rPr>
              <a:t>accuracy becomes the skill.</a:t>
            </a:r>
            <a:endParaRPr lang="en-US" sz="2000" dirty="0"/>
          </a:p>
        </p:txBody>
      </p:sp>
      <p:sp>
        <p:nvSpPr>
          <p:cNvPr id="18" name="Text 5.17"/>
          <p:cNvSpPr txBox="1"/>
          <p:nvPr/>
        </p:nvSpPr>
        <p:spPr>
          <a:xfrm>
            <a:off x="609585" y="5803755"/>
            <a:ext cx="4446006"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Exact costs are tuning values. We fix them in playtests, not on paper.</a:t>
            </a:r>
            <a:endParaRPr lang="en-US" sz="750" dirty="0"/>
          </a:p>
        </p:txBody>
      </p:sp>
      <p:sp>
        <p:nvSpPr>
          <p:cNvPr id="19" name="Text 5.18"/>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05</a:t>
            </a:r>
            <a:endParaRPr lang="en-US" sz="7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6.1"/>
          <p:cNvSpPr txBox="1"/>
          <p:nvPr/>
        </p:nvSpPr>
        <p:spPr>
          <a:xfrm>
            <a:off x="609585" y="355591"/>
            <a:ext cx="199745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1EA5E6"/>
                </a:solidFill>
                <a:latin typeface="Courier New" pitchFamily="34" charset="0"/>
                <a:ea typeface="Courier New" pitchFamily="34" charset="-122"/>
                <a:cs typeface="Courier New" pitchFamily="34" charset="-120"/>
              </a:rPr>
              <a:t>04 — DESIGN REASONING</a:t>
            </a:r>
            <a:endParaRPr lang="en-US" sz="900" dirty="0"/>
          </a:p>
        </p:txBody>
      </p:sp>
      <p:sp>
        <p:nvSpPr>
          <p:cNvPr id="3" name="Text 6.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6.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Can a player win by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never shooting?</a:t>
            </a:r>
            <a:endParaRPr lang="en-US" sz="3400" dirty="0"/>
          </a:p>
        </p:txBody>
      </p:sp>
      <p:sp>
        <p:nvSpPr>
          <p:cNvPr id="5" name="Text 6.4"/>
          <p:cNvSpPr txBox="1"/>
          <p:nvPr/>
        </p:nvSpPr>
        <p:spPr>
          <a:xfrm>
            <a:off x="850879" y="2095448"/>
            <a:ext cx="7592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THE RISK</a:t>
            </a:r>
            <a:endParaRPr lang="en-US" sz="850" dirty="0"/>
          </a:p>
        </p:txBody>
      </p:sp>
      <p:sp>
        <p:nvSpPr>
          <p:cNvPr id="6" name="Text 6.5"/>
          <p:cNvSpPr txBox="1"/>
          <p:nvPr/>
        </p:nvSpPr>
        <p:spPr>
          <a:xfrm>
            <a:off x="850879" y="2298643"/>
            <a:ext cx="5054474" cy="396667"/>
          </a:xfrm>
          <a:prstGeom prst="rect">
            <a:avLst/>
          </a:prstGeom>
          <a:noFill/>
          <a:ln/>
        </p:spPr>
        <p:txBody>
          <a:bodyPr wrap="square" lIns="0" tIns="0" rIns="0" bIns="0" rtlCol="0" anchor="t"/>
          <a:lstStyle/>
          <a:p>
            <a:pPr algn="l" indent="0" marL="0">
              <a:lnSpc>
                <a:spcPts val="1560"/>
              </a:lnSpc>
              <a:buNone/>
            </a:pPr>
            <a:r>
              <a:rPr lang="en-US" sz="1100" dirty="0">
                <a:solidFill>
                  <a:srgbClr val="4A3329"/>
                </a:solidFill>
                <a:latin typeface="Arial" pitchFamily="34" charset="0"/>
                <a:ea typeface="Arial" pitchFamily="34" charset="-122"/>
                <a:cs typeface="Arial" pitchFamily="34" charset="-120"/>
              </a:rPr>
              <a:t>A cube that never shoots keeps its mass, so it stays heavy and hard to push. If the last cube standing won, waiting could be the best strategy.</a:t>
            </a:r>
            <a:endParaRPr lang="en-US" sz="1100" dirty="0"/>
          </a:p>
        </p:txBody>
      </p:sp>
      <p:sp>
        <p:nvSpPr>
          <p:cNvPr id="7" name="Text 6.6"/>
          <p:cNvSpPr txBox="1"/>
          <p:nvPr/>
        </p:nvSpPr>
        <p:spPr>
          <a:xfrm>
            <a:off x="609585" y="3251119"/>
            <a:ext cx="3629472"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EA5E6"/>
                </a:solidFill>
                <a:latin typeface="Courier New" pitchFamily="34" charset="0"/>
                <a:ea typeface="Courier New" pitchFamily="34" charset="-122"/>
                <a:cs typeface="Courier New" pitchFamily="34" charset="-120"/>
              </a:rPr>
              <a:t>OUR ANSWER: SCORE KNOCKOUTS, NOT SURVIVAL</a:t>
            </a:r>
            <a:endParaRPr lang="en-US" sz="850" dirty="0"/>
          </a:p>
        </p:txBody>
      </p:sp>
      <p:sp>
        <p:nvSpPr>
          <p:cNvPr id="8" name="Text 6.7"/>
          <p:cNvSpPr txBox="1"/>
          <p:nvPr/>
        </p:nvSpPr>
        <p:spPr>
          <a:xfrm>
            <a:off x="1092173" y="3568611"/>
            <a:ext cx="4990975" cy="396667"/>
          </a:xfrm>
          <a:prstGeom prst="rect">
            <a:avLst/>
          </a:prstGeom>
          <a:noFill/>
          <a:ln/>
        </p:spPr>
        <p:txBody>
          <a:bodyPr wrap="square" lIns="0" tIns="0" rIns="0" bIns="0" rtlCol="0" anchor="t"/>
          <a:lstStyle/>
          <a:p>
            <a:pPr algn="l" indent="0" marL="0">
              <a:lnSpc>
                <a:spcPts val="1560"/>
              </a:lnSpc>
              <a:buNone/>
            </a:pPr>
            <a:r>
              <a:rPr lang="en-US" sz="1100" b="1" dirty="0">
                <a:solidFill>
                  <a:srgbClr val="14161B"/>
                </a:solidFill>
                <a:latin typeface="Arial" pitchFamily="34" charset="0"/>
                <a:ea typeface="Arial" pitchFamily="34" charset="-122"/>
                <a:cs typeface="Arial" pitchFamily="34" charset="-120"/>
              </a:rPr>
              <a:t>Points come from knockouts.</a:t>
            </a:r>
            <a:pPr algn="l" indent="0" marL="0">
              <a:lnSpc>
                <a:spcPts val="1560"/>
              </a:lnSpc>
              <a:buNone/>
            </a:pPr>
            <a:r>
              <a:rPr lang="en-US" sz="1100" dirty="0">
                <a:solidFill>
                  <a:srgbClr val="14161B"/>
                </a:solidFill>
                <a:latin typeface="Arial" pitchFamily="34" charset="0"/>
                <a:ea typeface="Arial" pitchFamily="34" charset="-122"/>
                <a:cs typeface="Arial" pitchFamily="34" charset="-120"/>
              </a:rPr>
              <a:t> </a:t>
            </a:r>
            <a:pPr algn="l" indent="0" marL="0">
              <a:lnSpc>
                <a:spcPts val="1560"/>
              </a:lnSpc>
              <a:buNone/>
            </a:pPr>
            <a:r>
              <a:rPr lang="en-US" sz="1100" dirty="0">
                <a:solidFill>
                  <a:srgbClr val="646973"/>
                </a:solidFill>
                <a:latin typeface="Arial" pitchFamily="34" charset="0"/>
                <a:ea typeface="Arial" pitchFamily="34" charset="-122"/>
                <a:cs typeface="Arial" pitchFamily="34" charset="-120"/>
              </a:rPr>
              <a:t>A cube that never shoots scores nothing, however heavy it is.</a:t>
            </a:r>
            <a:endParaRPr lang="en-US" sz="1100" dirty="0"/>
          </a:p>
        </p:txBody>
      </p:sp>
      <p:sp>
        <p:nvSpPr>
          <p:cNvPr id="9" name="Text 6.8"/>
          <p:cNvSpPr txBox="1"/>
          <p:nvPr/>
        </p:nvSpPr>
        <p:spPr>
          <a:xfrm>
            <a:off x="1092173" y="4203595"/>
            <a:ext cx="4990975" cy="396667"/>
          </a:xfrm>
          <a:prstGeom prst="rect">
            <a:avLst/>
          </a:prstGeom>
          <a:noFill/>
          <a:ln/>
        </p:spPr>
        <p:txBody>
          <a:bodyPr wrap="square" lIns="0" tIns="0" rIns="0" bIns="0" rtlCol="0" anchor="t"/>
          <a:lstStyle/>
          <a:p>
            <a:pPr algn="l" indent="0" marL="0">
              <a:lnSpc>
                <a:spcPts val="1560"/>
              </a:lnSpc>
              <a:buNone/>
            </a:pPr>
            <a:r>
              <a:rPr lang="en-US" sz="1100" b="1" dirty="0">
                <a:solidFill>
                  <a:srgbClr val="14161B"/>
                </a:solidFill>
                <a:latin typeface="Arial" pitchFamily="34" charset="0"/>
                <a:ea typeface="Arial" pitchFamily="34" charset="-122"/>
                <a:cs typeface="Arial" pitchFamily="34" charset="-120"/>
              </a:rPr>
              <a:t>Respawn at full mass.</a:t>
            </a:r>
            <a:pPr algn="l" indent="0" marL="0">
              <a:lnSpc>
                <a:spcPts val="1560"/>
              </a:lnSpc>
              <a:buNone/>
            </a:pPr>
            <a:r>
              <a:rPr lang="en-US" sz="1100" dirty="0">
                <a:solidFill>
                  <a:srgbClr val="14161B"/>
                </a:solidFill>
                <a:latin typeface="Arial" pitchFamily="34" charset="0"/>
                <a:ea typeface="Arial" pitchFamily="34" charset="-122"/>
                <a:cs typeface="Arial" pitchFamily="34" charset="-120"/>
              </a:rPr>
              <a:t> </a:t>
            </a:r>
            <a:pPr algn="l" indent="0" marL="0">
              <a:lnSpc>
                <a:spcPts val="1560"/>
              </a:lnSpc>
              <a:buNone/>
            </a:pPr>
            <a:r>
              <a:rPr lang="en-US" sz="1100" dirty="0">
                <a:solidFill>
                  <a:srgbClr val="646973"/>
                </a:solidFill>
                <a:latin typeface="Arial" pitchFamily="34" charset="0"/>
                <a:ea typeface="Arial" pitchFamily="34" charset="-122"/>
                <a:cs typeface="Arial" pitchFamily="34" charset="-120"/>
              </a:rPr>
              <a:t>A knocked-out cube returns after a short delay, so falling behind does not snowball.</a:t>
            </a:r>
            <a:endParaRPr lang="en-US" sz="1100" dirty="0"/>
          </a:p>
        </p:txBody>
      </p:sp>
      <p:sp>
        <p:nvSpPr>
          <p:cNvPr id="10" name="Text 6.9"/>
          <p:cNvSpPr txBox="1"/>
          <p:nvPr/>
        </p:nvSpPr>
        <p:spPr>
          <a:xfrm>
            <a:off x="1092173" y="4838579"/>
            <a:ext cx="4990975" cy="198369"/>
          </a:xfrm>
          <a:prstGeom prst="rect">
            <a:avLst/>
          </a:prstGeom>
          <a:noFill/>
          <a:ln/>
        </p:spPr>
        <p:txBody>
          <a:bodyPr wrap="square" lIns="0" tIns="0" rIns="0" bIns="0" rtlCol="0" anchor="t"/>
          <a:lstStyle/>
          <a:p>
            <a:pPr algn="l" indent="0" marL="0">
              <a:lnSpc>
                <a:spcPts val="1560"/>
              </a:lnSpc>
              <a:buNone/>
            </a:pPr>
            <a:r>
              <a:rPr lang="en-US" sz="1100" b="1" dirty="0">
                <a:solidFill>
                  <a:srgbClr val="14161B"/>
                </a:solidFill>
                <a:latin typeface="Arial" pitchFamily="34" charset="0"/>
                <a:ea typeface="Arial" pitchFamily="34" charset="-122"/>
                <a:cs typeface="Arial" pitchFamily="34" charset="-120"/>
              </a:rPr>
              <a:t>Short round timer.</a:t>
            </a:r>
            <a:pPr algn="l" indent="0" marL="0">
              <a:lnSpc>
                <a:spcPts val="1560"/>
              </a:lnSpc>
              <a:buNone/>
            </a:pPr>
            <a:r>
              <a:rPr lang="en-US" sz="1100" dirty="0">
                <a:solidFill>
                  <a:srgbClr val="14161B"/>
                </a:solidFill>
                <a:latin typeface="Arial" pitchFamily="34" charset="0"/>
                <a:ea typeface="Arial" pitchFamily="34" charset="-122"/>
                <a:cs typeface="Arial" pitchFamily="34" charset="-120"/>
              </a:rPr>
              <a:t> </a:t>
            </a:r>
            <a:pPr algn="l" indent="0" marL="0">
              <a:lnSpc>
                <a:spcPts val="1560"/>
              </a:lnSpc>
              <a:buNone/>
            </a:pPr>
            <a:r>
              <a:rPr lang="en-US" sz="1100" dirty="0">
                <a:solidFill>
                  <a:srgbClr val="646973"/>
                </a:solidFill>
                <a:latin typeface="Arial" pitchFamily="34" charset="0"/>
                <a:ea typeface="Arial" pitchFamily="34" charset="-122"/>
                <a:cs typeface="Arial" pitchFamily="34" charset="-120"/>
              </a:rPr>
              <a:t>Waiting out the clock earns no points.</a:t>
            </a:r>
            <a:endParaRPr lang="en-US" sz="1100" dirty="0"/>
          </a:p>
        </p:txBody>
      </p:sp>
      <p:sp>
        <p:nvSpPr>
          <p:cNvPr id="11" name="Text 6.10"/>
          <p:cNvSpPr txBox="1"/>
          <p:nvPr/>
        </p:nvSpPr>
        <p:spPr>
          <a:xfrm>
            <a:off x="609585" y="5562461"/>
            <a:ext cx="5498963" cy="266693"/>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Fallback if playtests still show stalling: a shrinking arena, or letting cubes re-absorb spent globs.</a:t>
            </a:r>
            <a:endParaRPr lang="en-US" sz="750" dirty="0"/>
          </a:p>
        </p:txBody>
      </p:sp>
      <p:sp>
        <p:nvSpPr>
          <p:cNvPr id="12" name="Text 6.11"/>
          <p:cNvSpPr txBox="1"/>
          <p:nvPr/>
        </p:nvSpPr>
        <p:spPr>
          <a:xfrm>
            <a:off x="6692733" y="2146246"/>
            <a:ext cx="3107622"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4161B"/>
                </a:solidFill>
                <a:latin typeface="Courier New" pitchFamily="34" charset="0"/>
                <a:ea typeface="Courier New" pitchFamily="34" charset="-122"/>
                <a:cs typeface="Courier New" pitchFamily="34" charset="-120"/>
              </a:rPr>
              <a:t>SAME HIT, LESS MASS, MORE KNOCKBACK</a:t>
            </a:r>
            <a:endParaRPr lang="en-US" sz="850" dirty="0"/>
          </a:p>
        </p:txBody>
      </p:sp>
      <p:sp>
        <p:nvSpPr>
          <p:cNvPr id="13" name="Text 6.12"/>
          <p:cNvSpPr txBox="1"/>
          <p:nvPr/>
        </p:nvSpPr>
        <p:spPr>
          <a:xfrm>
            <a:off x="7302317" y="3873403"/>
            <a:ext cx="1943051" cy="325628"/>
          </a:xfrm>
          <a:prstGeom prst="rect">
            <a:avLst/>
          </a:prstGeom>
          <a:noFill/>
          <a:ln/>
        </p:spPr>
        <p:txBody>
          <a:bodyPr wrap="square" lIns="0" tIns="0" rIns="0" bIns="0" rtlCol="0" anchor="t"/>
          <a:lstStyle/>
          <a:p>
            <a:pPr algn="l" indent="0" marL="0">
              <a:lnSpc>
                <a:spcPts val="1280"/>
              </a:lnSpc>
              <a:buNone/>
            </a:pPr>
            <a:r>
              <a:rPr lang="en-US" sz="950" b="1" dirty="0">
                <a:solidFill>
                  <a:srgbClr val="14161B"/>
                </a:solidFill>
                <a:latin typeface="Arial" pitchFamily="34" charset="0"/>
                <a:ea typeface="Arial" pitchFamily="34" charset="-122"/>
                <a:cs typeface="Arial" pitchFamily="34" charset="-120"/>
              </a:rPr>
              <a:t>Heavy:</a:t>
            </a:r>
            <a:pPr algn="l" indent="0" marL="0">
              <a:lnSpc>
                <a:spcPts val="1280"/>
              </a:lnSpc>
              <a:buNone/>
            </a:pPr>
            <a:r>
              <a:rPr lang="en-US" sz="950" dirty="0">
                <a:solidFill>
                  <a:srgbClr val="646973"/>
                </a:solidFill>
                <a:latin typeface="Arial" pitchFamily="34" charset="0"/>
                <a:ea typeface="Arial" pitchFamily="34" charset="-122"/>
                <a:cs typeface="Arial" pitchFamily="34" charset="-120"/>
              </a:rPr>
              <a:t> hard to push — but a cube that waits scores nothing.</a:t>
            </a:r>
            <a:endParaRPr lang="en-US" sz="950" dirty="0"/>
          </a:p>
        </p:txBody>
      </p:sp>
      <p:sp>
        <p:nvSpPr>
          <p:cNvPr id="14" name="Text 6.13"/>
          <p:cNvSpPr txBox="1"/>
          <p:nvPr/>
        </p:nvSpPr>
        <p:spPr>
          <a:xfrm>
            <a:off x="9143771" y="2666933"/>
            <a:ext cx="1650959" cy="325628"/>
          </a:xfrm>
          <a:prstGeom prst="rect">
            <a:avLst/>
          </a:prstGeom>
          <a:noFill/>
          <a:ln/>
        </p:spPr>
        <p:txBody>
          <a:bodyPr wrap="square" lIns="0" tIns="0" rIns="0" bIns="0" rtlCol="0" anchor="t"/>
          <a:lstStyle/>
          <a:p>
            <a:pPr algn="r" indent="0" marL="0">
              <a:lnSpc>
                <a:spcPts val="1280"/>
              </a:lnSpc>
              <a:buNone/>
            </a:pPr>
            <a:r>
              <a:rPr lang="en-US" sz="950" b="1" dirty="0">
                <a:solidFill>
                  <a:srgbClr val="14161B"/>
                </a:solidFill>
                <a:latin typeface="Arial" pitchFamily="34" charset="0"/>
                <a:ea typeface="Arial" pitchFamily="34" charset="-122"/>
                <a:cs typeface="Arial" pitchFamily="34" charset="-120"/>
              </a:rPr>
              <a:t>Light:</a:t>
            </a:r>
            <a:pPr algn="r" indent="0" marL="0">
              <a:lnSpc>
                <a:spcPts val="1280"/>
              </a:lnSpc>
              <a:buNone/>
            </a:pPr>
            <a:r>
              <a:rPr lang="en-US" sz="950" dirty="0">
                <a:solidFill>
                  <a:srgbClr val="646973"/>
                </a:solidFill>
                <a:latin typeface="Arial" pitchFamily="34" charset="0"/>
                <a:ea typeface="Arial" pitchFamily="34" charset="-122"/>
                <a:cs typeface="Arial" pitchFamily="34" charset="-120"/>
              </a:rPr>
              <a:t> the same hit launches it off the edge.</a:t>
            </a:r>
            <a:endParaRPr lang="en-US" sz="950" dirty="0"/>
          </a:p>
        </p:txBody>
      </p:sp>
      <p:sp>
        <p:nvSpPr>
          <p:cNvPr id="15" name="Text 6.14"/>
          <p:cNvSpPr txBox="1"/>
          <p:nvPr/>
        </p:nvSpPr>
        <p:spPr>
          <a:xfrm>
            <a:off x="6692733" y="4978276"/>
            <a:ext cx="626995"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FULL MASS</a:t>
            </a:r>
            <a:endParaRPr lang="en-US" sz="750" dirty="0"/>
          </a:p>
        </p:txBody>
      </p:sp>
      <p:sp>
        <p:nvSpPr>
          <p:cNvPr id="16" name="Text 6.15"/>
          <p:cNvSpPr txBox="1"/>
          <p:nvPr/>
        </p:nvSpPr>
        <p:spPr>
          <a:xfrm>
            <a:off x="10667733" y="4978276"/>
            <a:ext cx="634984" cy="133347"/>
          </a:xfrm>
          <a:prstGeom prst="rect">
            <a:avLst/>
          </a:prstGeom>
          <a:noFill/>
          <a:ln/>
        </p:spPr>
        <p:txBody>
          <a:bodyPr wrap="square" lIns="0" tIns="0" rIns="0" bIns="0" rtlCol="0" anchor="t"/>
          <a:lstStyle/>
          <a:p>
            <a:pPr algn="r"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MINIMUM</a:t>
            </a:r>
            <a:endParaRPr lang="en-US" sz="750" dirty="0"/>
          </a:p>
        </p:txBody>
      </p:sp>
      <p:sp>
        <p:nvSpPr>
          <p:cNvPr id="17" name="Text 6.16"/>
          <p:cNvSpPr txBox="1"/>
          <p:nvPr/>
        </p:nvSpPr>
        <p:spPr>
          <a:xfrm>
            <a:off x="6692733" y="5346566"/>
            <a:ext cx="4609985"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Shape only — values come from tuning. Mass decreases from left to right.</a:t>
            </a:r>
            <a:endParaRPr lang="en-US" sz="750" dirty="0"/>
          </a:p>
        </p:txBody>
      </p:sp>
      <p:sp>
        <p:nvSpPr>
          <p:cNvPr id="18" name="Text 6.17"/>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06</a:t>
            </a:r>
            <a:endParaRPr lang="en-US" sz="7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7.1"/>
          <p:cNvSpPr txBox="1"/>
          <p:nvPr/>
        </p:nvSpPr>
        <p:spPr>
          <a:xfrm>
            <a:off x="609585" y="355591"/>
            <a:ext cx="1537025"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FF5A1F"/>
                </a:solidFill>
                <a:latin typeface="Courier New" pitchFamily="34" charset="0"/>
                <a:ea typeface="Courier New" pitchFamily="34" charset="-122"/>
                <a:cs typeface="Courier New" pitchFamily="34" charset="-120"/>
              </a:rPr>
              <a:t>05 — MINI-GAME 1</a:t>
            </a:r>
            <a:endParaRPr lang="en-US" sz="900" dirty="0"/>
          </a:p>
        </p:txBody>
      </p:sp>
      <p:sp>
        <p:nvSpPr>
          <p:cNvPr id="3" name="Text 7.2"/>
          <p:cNvSpPr txBox="1"/>
          <p:nvPr/>
        </p:nvSpPr>
        <p:spPr>
          <a:xfrm>
            <a:off x="609585" y="787380"/>
            <a:ext cx="1495062" cy="609585"/>
          </a:xfrm>
          <a:prstGeom prst="rect">
            <a:avLst/>
          </a:prstGeom>
          <a:noFill/>
          <a:ln/>
        </p:spPr>
        <p:txBody>
          <a:bodyPr wrap="square" lIns="0" tIns="0" rIns="0" bIns="0" rtlCol="0" anchor="t"/>
          <a:lstStyle/>
          <a:p>
            <a:pPr algn="l" indent="0" marL="0">
              <a:lnSpc>
                <a:spcPts val="4800"/>
              </a:lnSpc>
              <a:buNone/>
            </a:pPr>
            <a:r>
              <a:rPr lang="en-US" sz="4800" spc="-96" kern="0" dirty="0">
                <a:solidFill>
                  <a:srgbClr val="FFFFFF"/>
                </a:solidFill>
                <a:latin typeface="Georgia" pitchFamily="34" charset="0"/>
                <a:ea typeface="Georgia" pitchFamily="34" charset="-122"/>
                <a:cs typeface="Georgia" pitchFamily="34" charset="-120"/>
              </a:rPr>
              <a:t>Mass</a:t>
            </a:r>
            <a:endParaRPr lang="en-US" sz="4800" dirty="0"/>
          </a:p>
        </p:txBody>
      </p:sp>
      <p:sp>
        <p:nvSpPr>
          <p:cNvPr id="4" name="Text 7.3"/>
          <p:cNvSpPr txBox="1"/>
          <p:nvPr/>
        </p:nvSpPr>
        <p:spPr>
          <a:xfrm>
            <a:off x="609585" y="1396965"/>
            <a:ext cx="2714184" cy="609585"/>
          </a:xfrm>
          <a:prstGeom prst="rect">
            <a:avLst/>
          </a:prstGeom>
          <a:noFill/>
          <a:ln/>
        </p:spPr>
        <p:txBody>
          <a:bodyPr wrap="square" lIns="0" tIns="0" rIns="0" bIns="0" rtlCol="0" anchor="t"/>
          <a:lstStyle/>
          <a:p>
            <a:pPr algn="l" indent="0" marL="0">
              <a:lnSpc>
                <a:spcPts val="4800"/>
              </a:lnSpc>
              <a:buNone/>
            </a:pPr>
            <a:r>
              <a:rPr lang="en-US" sz="4800" i="1" spc="-96" kern="0" dirty="0">
                <a:solidFill>
                  <a:srgbClr val="FF5A1F"/>
                </a:solidFill>
                <a:latin typeface="Georgia" pitchFamily="34" charset="0"/>
                <a:ea typeface="Georgia" pitchFamily="34" charset="-122"/>
                <a:cs typeface="Georgia" pitchFamily="34" charset="-120"/>
              </a:rPr>
              <a:t>Knockout</a:t>
            </a:r>
            <a:endParaRPr lang="en-US" sz="4800" dirty="0"/>
          </a:p>
        </p:txBody>
      </p:sp>
      <p:sp>
        <p:nvSpPr>
          <p:cNvPr id="5" name="Text 7.4"/>
          <p:cNvSpPr txBox="1"/>
          <p:nvPr/>
        </p:nvSpPr>
        <p:spPr>
          <a:xfrm>
            <a:off x="609585" y="2412940"/>
            <a:ext cx="4113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GOAL</a:t>
            </a:r>
            <a:endParaRPr lang="en-US" sz="850" dirty="0"/>
          </a:p>
        </p:txBody>
      </p:sp>
      <p:sp>
        <p:nvSpPr>
          <p:cNvPr id="6" name="Text 7.5"/>
          <p:cNvSpPr txBox="1"/>
          <p:nvPr/>
        </p:nvSpPr>
        <p:spPr>
          <a:xfrm>
            <a:off x="609585" y="2590735"/>
            <a:ext cx="3975001" cy="207386"/>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Knock other cubes off the floating platform.</a:t>
            </a:r>
            <a:endParaRPr lang="en-US" sz="1150" dirty="0"/>
          </a:p>
        </p:txBody>
      </p:sp>
      <p:sp>
        <p:nvSpPr>
          <p:cNvPr id="7" name="Text 7.6"/>
          <p:cNvSpPr txBox="1"/>
          <p:nvPr/>
        </p:nvSpPr>
        <p:spPr>
          <a:xfrm>
            <a:off x="609585" y="3086023"/>
            <a:ext cx="7592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CONTROLS</a:t>
            </a:r>
            <a:endParaRPr lang="en-US" sz="850" dirty="0"/>
          </a:p>
        </p:txBody>
      </p:sp>
      <p:sp>
        <p:nvSpPr>
          <p:cNvPr id="8" name="Text 7.7"/>
          <p:cNvSpPr txBox="1"/>
          <p:nvPr/>
        </p:nvSpPr>
        <p:spPr>
          <a:xfrm>
            <a:off x="609585" y="3263818"/>
            <a:ext cx="3975001" cy="207386"/>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Move, aim, spit. A short cooldown between shots.</a:t>
            </a:r>
            <a:endParaRPr lang="en-US" sz="1150" dirty="0"/>
          </a:p>
        </p:txBody>
      </p:sp>
      <p:sp>
        <p:nvSpPr>
          <p:cNvPr id="9" name="Text 7.8"/>
          <p:cNvSpPr txBox="1"/>
          <p:nvPr/>
        </p:nvSpPr>
        <p:spPr>
          <a:xfrm>
            <a:off x="609585" y="3759106"/>
            <a:ext cx="6723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SCORING</a:t>
            </a:r>
            <a:endParaRPr lang="en-US" sz="850" dirty="0"/>
          </a:p>
        </p:txBody>
      </p:sp>
      <p:sp>
        <p:nvSpPr>
          <p:cNvPr id="10" name="Text 7.9"/>
          <p:cNvSpPr txBox="1"/>
          <p:nvPr/>
        </p:nvSpPr>
        <p:spPr>
          <a:xfrm>
            <a:off x="609585" y="3936902"/>
            <a:ext cx="3975001" cy="414724"/>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The knockout goes to the last cube that hit the one that fell. Most knockouts at the timer wins.</a:t>
            </a:r>
            <a:endParaRPr lang="en-US" sz="1150" dirty="0"/>
          </a:p>
        </p:txBody>
      </p:sp>
      <p:sp>
        <p:nvSpPr>
          <p:cNvPr id="11" name="Text 7.10"/>
          <p:cNvSpPr txBox="1"/>
          <p:nvPr/>
        </p:nvSpPr>
        <p:spPr>
          <a:xfrm>
            <a:off x="609585" y="4648084"/>
            <a:ext cx="6723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RESPAWN</a:t>
            </a:r>
            <a:endParaRPr lang="en-US" sz="850" dirty="0"/>
          </a:p>
        </p:txBody>
      </p:sp>
      <p:sp>
        <p:nvSpPr>
          <p:cNvPr id="12" name="Text 7.11"/>
          <p:cNvSpPr txBox="1"/>
          <p:nvPr/>
        </p:nvSpPr>
        <p:spPr>
          <a:xfrm>
            <a:off x="609585" y="4825879"/>
            <a:ext cx="3975001" cy="207386"/>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After a short delay, at full mass.</a:t>
            </a:r>
            <a:endParaRPr lang="en-US" sz="1150" dirty="0"/>
          </a:p>
        </p:txBody>
      </p:sp>
      <p:sp>
        <p:nvSpPr>
          <p:cNvPr id="13" name="Text 7.12"/>
          <p:cNvSpPr txBox="1"/>
          <p:nvPr/>
        </p:nvSpPr>
        <p:spPr>
          <a:xfrm>
            <a:off x="609585" y="5321167"/>
            <a:ext cx="4983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ARENA</a:t>
            </a:r>
            <a:endParaRPr lang="en-US" sz="850" dirty="0"/>
          </a:p>
        </p:txBody>
      </p:sp>
      <p:sp>
        <p:nvSpPr>
          <p:cNvPr id="14" name="Text 7.13"/>
          <p:cNvSpPr txBox="1"/>
          <p:nvPr/>
        </p:nvSpPr>
        <p:spPr>
          <a:xfrm>
            <a:off x="609585" y="5498963"/>
            <a:ext cx="3975001" cy="207386"/>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One flat square platform. Open edges, no walls.</a:t>
            </a:r>
            <a:endParaRPr lang="en-US" sz="1150" dirty="0"/>
          </a:p>
        </p:txBody>
      </p:sp>
      <p:sp>
        <p:nvSpPr>
          <p:cNvPr id="15" name="Text 7.14"/>
          <p:cNvSpPr txBox="1"/>
          <p:nvPr/>
        </p:nvSpPr>
        <p:spPr>
          <a:xfrm>
            <a:off x="5852966" y="6470488"/>
            <a:ext cx="613639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DDE4F0"/>
                </a:solidFill>
                <a:latin typeface="Courier New" pitchFamily="34" charset="0"/>
                <a:ea typeface="Courier New" pitchFamily="34" charset="-122"/>
                <a:cs typeface="Courier New" pitchFamily="34" charset="-120"/>
              </a:rPr>
              <a:t>FIG. 3 — Orange spits a piece of itself; Cyan is hit near the edge. Concept render, AI-generated.</a:t>
            </a:r>
            <a:endParaRPr lang="en-US" sz="7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8.1"/>
          <p:cNvSpPr txBox="1"/>
          <p:nvPr/>
        </p:nvSpPr>
        <p:spPr>
          <a:xfrm>
            <a:off x="609585" y="355591"/>
            <a:ext cx="1537025"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1EA5E6"/>
                </a:solidFill>
                <a:latin typeface="Courier New" pitchFamily="34" charset="0"/>
                <a:ea typeface="Courier New" pitchFamily="34" charset="-122"/>
                <a:cs typeface="Courier New" pitchFamily="34" charset="-120"/>
              </a:rPr>
              <a:t>06 — MINI-GAME 2</a:t>
            </a:r>
            <a:endParaRPr lang="en-US" sz="900" dirty="0"/>
          </a:p>
        </p:txBody>
      </p:sp>
      <p:sp>
        <p:nvSpPr>
          <p:cNvPr id="3" name="Text 8.2"/>
          <p:cNvSpPr txBox="1"/>
          <p:nvPr/>
        </p:nvSpPr>
        <p:spPr>
          <a:xfrm>
            <a:off x="609585" y="787380"/>
            <a:ext cx="882346" cy="609585"/>
          </a:xfrm>
          <a:prstGeom prst="rect">
            <a:avLst/>
          </a:prstGeom>
          <a:noFill/>
          <a:ln/>
        </p:spPr>
        <p:txBody>
          <a:bodyPr wrap="square" lIns="0" tIns="0" rIns="0" bIns="0" rtlCol="0" anchor="t"/>
          <a:lstStyle/>
          <a:p>
            <a:pPr algn="l" indent="0" marL="0">
              <a:lnSpc>
                <a:spcPts val="4800"/>
              </a:lnSpc>
              <a:buNone/>
            </a:pPr>
            <a:r>
              <a:rPr lang="en-US" sz="4800" spc="-96" kern="0" dirty="0">
                <a:solidFill>
                  <a:srgbClr val="FFFFFF"/>
                </a:solidFill>
                <a:latin typeface="Georgia" pitchFamily="34" charset="0"/>
                <a:ea typeface="Georgia" pitchFamily="34" charset="-122"/>
                <a:cs typeface="Georgia" pitchFamily="34" charset="-120"/>
              </a:rPr>
              <a:t>Ice</a:t>
            </a:r>
            <a:endParaRPr lang="en-US" sz="4800" dirty="0"/>
          </a:p>
        </p:txBody>
      </p:sp>
      <p:sp>
        <p:nvSpPr>
          <p:cNvPr id="4" name="Text 8.3"/>
          <p:cNvSpPr txBox="1"/>
          <p:nvPr/>
        </p:nvSpPr>
        <p:spPr>
          <a:xfrm>
            <a:off x="609585" y="1396965"/>
            <a:ext cx="1433223" cy="609585"/>
          </a:xfrm>
          <a:prstGeom prst="rect">
            <a:avLst/>
          </a:prstGeom>
          <a:noFill/>
          <a:ln/>
        </p:spPr>
        <p:txBody>
          <a:bodyPr wrap="square" lIns="0" tIns="0" rIns="0" bIns="0" rtlCol="0" anchor="t"/>
          <a:lstStyle/>
          <a:p>
            <a:pPr algn="l" indent="0" marL="0">
              <a:lnSpc>
                <a:spcPts val="4800"/>
              </a:lnSpc>
              <a:buNone/>
            </a:pPr>
            <a:r>
              <a:rPr lang="en-US" sz="4800" i="1" spc="-96" kern="0" dirty="0">
                <a:solidFill>
                  <a:srgbClr val="1EA5E6"/>
                </a:solidFill>
                <a:latin typeface="Georgia" pitchFamily="34" charset="0"/>
                <a:ea typeface="Georgia" pitchFamily="34" charset="-122"/>
                <a:cs typeface="Georgia" pitchFamily="34" charset="-120"/>
              </a:rPr>
              <a:t>Race</a:t>
            </a:r>
            <a:endParaRPr lang="en-US" sz="4800" dirty="0"/>
          </a:p>
        </p:txBody>
      </p:sp>
      <p:sp>
        <p:nvSpPr>
          <p:cNvPr id="5" name="Text 8.4"/>
          <p:cNvSpPr txBox="1"/>
          <p:nvPr/>
        </p:nvSpPr>
        <p:spPr>
          <a:xfrm>
            <a:off x="609585" y="2412940"/>
            <a:ext cx="4113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EA5E6"/>
                </a:solidFill>
                <a:latin typeface="Courier New" pitchFamily="34" charset="0"/>
                <a:ea typeface="Courier New" pitchFamily="34" charset="-122"/>
                <a:cs typeface="Courier New" pitchFamily="34" charset="-120"/>
              </a:rPr>
              <a:t>GOAL</a:t>
            </a:r>
            <a:endParaRPr lang="en-US" sz="850" dirty="0"/>
          </a:p>
        </p:txBody>
      </p:sp>
      <p:sp>
        <p:nvSpPr>
          <p:cNvPr id="6" name="Text 8.5"/>
          <p:cNvSpPr txBox="1"/>
          <p:nvPr/>
        </p:nvSpPr>
        <p:spPr>
          <a:xfrm>
            <a:off x="609585" y="2590735"/>
            <a:ext cx="3975001" cy="207386"/>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Finish the laps first on a floating ice track.</a:t>
            </a:r>
            <a:endParaRPr lang="en-US" sz="1150" dirty="0"/>
          </a:p>
        </p:txBody>
      </p:sp>
      <p:sp>
        <p:nvSpPr>
          <p:cNvPr id="7" name="Text 8.6"/>
          <p:cNvSpPr txBox="1"/>
          <p:nvPr/>
        </p:nvSpPr>
        <p:spPr>
          <a:xfrm>
            <a:off x="609585" y="3086023"/>
            <a:ext cx="7592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EA5E6"/>
                </a:solidFill>
                <a:latin typeface="Courier New" pitchFamily="34" charset="0"/>
                <a:ea typeface="Courier New" pitchFamily="34" charset="-122"/>
                <a:cs typeface="Courier New" pitchFamily="34" charset="-120"/>
              </a:rPr>
              <a:t>CONTROLS</a:t>
            </a:r>
            <a:endParaRPr lang="en-US" sz="850" dirty="0"/>
          </a:p>
        </p:txBody>
      </p:sp>
      <p:sp>
        <p:nvSpPr>
          <p:cNvPr id="8" name="Text 8.7"/>
          <p:cNvSpPr txBox="1"/>
          <p:nvPr/>
        </p:nvSpPr>
        <p:spPr>
          <a:xfrm>
            <a:off x="609585" y="3263818"/>
            <a:ext cx="3975001" cy="414724"/>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Steering changes acceleration, not velocity. Braking restores grip.</a:t>
            </a:r>
            <a:endParaRPr lang="en-US" sz="1150" dirty="0"/>
          </a:p>
        </p:txBody>
      </p:sp>
      <p:sp>
        <p:nvSpPr>
          <p:cNvPr id="9" name="Text 8.8"/>
          <p:cNvSpPr txBox="1"/>
          <p:nvPr/>
        </p:nvSpPr>
        <p:spPr>
          <a:xfrm>
            <a:off x="609585" y="3975001"/>
            <a:ext cx="4983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EA5E6"/>
                </a:solidFill>
                <a:latin typeface="Courier New" pitchFamily="34" charset="0"/>
                <a:ea typeface="Courier New" pitchFamily="34" charset="-122"/>
                <a:cs typeface="Courier New" pitchFamily="34" charset="-120"/>
              </a:rPr>
              <a:t>SKILL</a:t>
            </a:r>
            <a:endParaRPr lang="en-US" sz="850" dirty="0"/>
          </a:p>
        </p:txBody>
      </p:sp>
      <p:sp>
        <p:nvSpPr>
          <p:cNvPr id="10" name="Text 8.9"/>
          <p:cNvSpPr txBox="1"/>
          <p:nvPr/>
        </p:nvSpPr>
        <p:spPr>
          <a:xfrm>
            <a:off x="609585" y="4152796"/>
            <a:ext cx="3975001" cy="414724"/>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Low sideways grip: carry speed through corners without sliding off.</a:t>
            </a:r>
            <a:endParaRPr lang="en-US" sz="1150" dirty="0"/>
          </a:p>
        </p:txBody>
      </p:sp>
      <p:sp>
        <p:nvSpPr>
          <p:cNvPr id="11" name="Text 8.10"/>
          <p:cNvSpPr txBox="1"/>
          <p:nvPr/>
        </p:nvSpPr>
        <p:spPr>
          <a:xfrm>
            <a:off x="609585" y="4863978"/>
            <a:ext cx="4983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EA5E6"/>
                </a:solidFill>
                <a:latin typeface="Courier New" pitchFamily="34" charset="0"/>
                <a:ea typeface="Courier New" pitchFamily="34" charset="-122"/>
                <a:cs typeface="Courier New" pitchFamily="34" charset="-120"/>
              </a:rPr>
              <a:t>FALLS</a:t>
            </a:r>
            <a:endParaRPr lang="en-US" sz="850" dirty="0"/>
          </a:p>
        </p:txBody>
      </p:sp>
      <p:sp>
        <p:nvSpPr>
          <p:cNvPr id="12" name="Text 8.11"/>
          <p:cNvSpPr txBox="1"/>
          <p:nvPr/>
        </p:nvSpPr>
        <p:spPr>
          <a:xfrm>
            <a:off x="609585" y="5041774"/>
            <a:ext cx="3975001" cy="207386"/>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Respawn at the last checkpoint. You lose time, not the race.</a:t>
            </a:r>
            <a:endParaRPr lang="en-US" sz="1150" dirty="0"/>
          </a:p>
        </p:txBody>
      </p:sp>
      <p:sp>
        <p:nvSpPr>
          <p:cNvPr id="13" name="Text 8.12"/>
          <p:cNvSpPr txBox="1"/>
          <p:nvPr/>
        </p:nvSpPr>
        <p:spPr>
          <a:xfrm>
            <a:off x="609585" y="5537062"/>
            <a:ext cx="8462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EA5E6"/>
                </a:solidFill>
                <a:latin typeface="Courier New" pitchFamily="34" charset="0"/>
                <a:ea typeface="Courier New" pitchFamily="34" charset="-122"/>
                <a:cs typeface="Courier New" pitchFamily="34" charset="-120"/>
              </a:rPr>
              <a:t>PLACEMENT</a:t>
            </a:r>
            <a:endParaRPr lang="en-US" sz="850" dirty="0"/>
          </a:p>
        </p:txBody>
      </p:sp>
      <p:sp>
        <p:nvSpPr>
          <p:cNvPr id="14" name="Text 8.13"/>
          <p:cNvSpPr txBox="1"/>
          <p:nvPr/>
        </p:nvSpPr>
        <p:spPr>
          <a:xfrm>
            <a:off x="609585" y="5714857"/>
            <a:ext cx="3975001" cy="207386"/>
          </a:xfrm>
          <a:prstGeom prst="rect">
            <a:avLst/>
          </a:prstGeom>
          <a:noFill/>
          <a:ln/>
        </p:spPr>
        <p:txBody>
          <a:bodyPr wrap="square" lIns="0" tIns="0" rIns="0" bIns="0" rtlCol="0" anchor="t"/>
          <a:lstStyle/>
          <a:p>
            <a:pPr algn="l" indent="0" marL="0">
              <a:lnSpc>
                <a:spcPts val="1630"/>
              </a:lnSpc>
              <a:buNone/>
            </a:pPr>
            <a:r>
              <a:rPr lang="en-US" sz="1150" dirty="0">
                <a:solidFill>
                  <a:srgbClr val="E3E8F2"/>
                </a:solidFill>
                <a:latin typeface="Arial" pitchFamily="34" charset="0"/>
                <a:ea typeface="Arial" pitchFamily="34" charset="-122"/>
                <a:cs typeface="Arial" pitchFamily="34" charset="-120"/>
              </a:rPr>
              <a:t>Finish order; unfinished players ranked by progress.</a:t>
            </a:r>
            <a:endParaRPr lang="en-US" sz="1150" dirty="0"/>
          </a:p>
        </p:txBody>
      </p:sp>
      <p:sp>
        <p:nvSpPr>
          <p:cNvPr id="15" name="Text 8.14"/>
          <p:cNvSpPr txBox="1"/>
          <p:nvPr/>
        </p:nvSpPr>
        <p:spPr>
          <a:xfrm>
            <a:off x="7624870" y="6470488"/>
            <a:ext cx="4258174"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DDE4F0"/>
                </a:solidFill>
                <a:latin typeface="Courier New" pitchFamily="34" charset="0"/>
                <a:ea typeface="Courier New" pitchFamily="34" charset="-122"/>
                <a:cs typeface="Courier New" pitchFamily="34" charset="-120"/>
              </a:rPr>
              <a:t>FIG. 4 — Racing a floating ice track. Concept render, AI-generated.</a:t>
            </a:r>
            <a:endParaRPr lang="en-US" sz="7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9.1"/>
          <p:cNvSpPr txBox="1"/>
          <p:nvPr/>
        </p:nvSpPr>
        <p:spPr>
          <a:xfrm>
            <a:off x="609585" y="355591"/>
            <a:ext cx="273416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1EA5E6"/>
                </a:solidFill>
                <a:latin typeface="Courier New" pitchFamily="34" charset="0"/>
                <a:ea typeface="Courier New" pitchFamily="34" charset="-122"/>
                <a:cs typeface="Courier New" pitchFamily="34" charset="-120"/>
              </a:rPr>
              <a:t>07 — TECHNICAL IMPLEMENTATION</a:t>
            </a:r>
            <a:endParaRPr lang="en-US" sz="900" dirty="0"/>
          </a:p>
        </p:txBody>
      </p:sp>
      <p:sp>
        <p:nvSpPr>
          <p:cNvPr id="3" name="Text 9.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9.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One shared core;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each mini-game plugs into it</a:t>
            </a:r>
            <a:endParaRPr lang="en-US" sz="3400" dirty="0"/>
          </a:p>
        </p:txBody>
      </p:sp>
      <p:sp>
        <p:nvSpPr>
          <p:cNvPr id="5" name="Text 9.4"/>
          <p:cNvSpPr txBox="1"/>
          <p:nvPr/>
        </p:nvSpPr>
        <p:spPr>
          <a:xfrm>
            <a:off x="609585" y="1841454"/>
            <a:ext cx="93324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646973"/>
                </a:solidFill>
                <a:latin typeface="Courier New" pitchFamily="34" charset="0"/>
                <a:ea typeface="Courier New" pitchFamily="34" charset="-122"/>
                <a:cs typeface="Courier New" pitchFamily="34" charset="-120"/>
              </a:rPr>
              <a:t>MINI-GAMES</a:t>
            </a:r>
            <a:endParaRPr lang="en-US" sz="850" dirty="0"/>
          </a:p>
        </p:txBody>
      </p:sp>
      <p:sp>
        <p:nvSpPr>
          <p:cNvPr id="6" name="Text 9.5"/>
          <p:cNvSpPr txBox="1"/>
          <p:nvPr/>
        </p:nvSpPr>
        <p:spPr>
          <a:xfrm>
            <a:off x="825479" y="2158946"/>
            <a:ext cx="1382952" cy="197163"/>
          </a:xfrm>
          <a:prstGeom prst="rect">
            <a:avLst/>
          </a:prstGeom>
          <a:noFill/>
          <a:ln/>
        </p:spPr>
        <p:txBody>
          <a:bodyPr wrap="square" lIns="0" tIns="0" rIns="0" bIns="0" rtlCol="0" anchor="t"/>
          <a:lstStyle/>
          <a:p>
            <a:pPr algn="l" indent="0" marL="0">
              <a:lnSpc>
                <a:spcPts val="1550"/>
              </a:lnSpc>
              <a:buNone/>
            </a:pPr>
            <a:r>
              <a:rPr lang="en-US" sz="1350" b="1" spc="-14" kern="0" dirty="0">
                <a:solidFill>
                  <a:srgbClr val="FFFFFF"/>
                </a:solidFill>
                <a:latin typeface="Arial" pitchFamily="34" charset="0"/>
                <a:ea typeface="Arial" pitchFamily="34" charset="-122"/>
                <a:cs typeface="Arial" pitchFamily="34" charset="-120"/>
              </a:rPr>
              <a:t>Mass Knockout</a:t>
            </a:r>
            <a:endParaRPr lang="en-US" sz="1350" dirty="0"/>
          </a:p>
        </p:txBody>
      </p:sp>
      <p:sp>
        <p:nvSpPr>
          <p:cNvPr id="7" name="Text 9.6"/>
          <p:cNvSpPr txBox="1"/>
          <p:nvPr/>
        </p:nvSpPr>
        <p:spPr>
          <a:xfrm>
            <a:off x="825479" y="2412940"/>
            <a:ext cx="2535502" cy="148586"/>
          </a:xfrm>
          <a:prstGeom prst="rect">
            <a:avLst/>
          </a:prstGeom>
          <a:noFill/>
          <a:ln/>
        </p:spPr>
        <p:txBody>
          <a:bodyPr wrap="square" lIns="0" tIns="0" rIns="0" bIns="0" rtlCol="0" anchor="t"/>
          <a:lstStyle/>
          <a:p>
            <a:pPr algn="l" indent="0" marL="0">
              <a:lnSpc>
                <a:spcPts val="1170"/>
              </a:lnSpc>
              <a:buNone/>
            </a:pPr>
            <a:r>
              <a:rPr lang="en-US" sz="900" dirty="0">
                <a:solidFill>
                  <a:srgbClr val="FFE3D7"/>
                </a:solidFill>
                <a:latin typeface="Courier New" pitchFamily="34" charset="0"/>
                <a:ea typeface="Courier New" pitchFamily="34" charset="-122"/>
                <a:cs typeface="Courier New" pitchFamily="34" charset="-120"/>
              </a:rPr>
              <a:t>mass · spit projectile · knockback</a:t>
            </a:r>
            <a:endParaRPr lang="en-US" sz="900" dirty="0"/>
          </a:p>
        </p:txBody>
      </p:sp>
      <p:sp>
        <p:nvSpPr>
          <p:cNvPr id="8" name="Text 9.7"/>
          <p:cNvSpPr txBox="1"/>
          <p:nvPr/>
        </p:nvSpPr>
        <p:spPr>
          <a:xfrm>
            <a:off x="4660783" y="2158946"/>
            <a:ext cx="786642" cy="197163"/>
          </a:xfrm>
          <a:prstGeom prst="rect">
            <a:avLst/>
          </a:prstGeom>
          <a:noFill/>
          <a:ln/>
        </p:spPr>
        <p:txBody>
          <a:bodyPr wrap="square" lIns="0" tIns="0" rIns="0" bIns="0" rtlCol="0" anchor="t"/>
          <a:lstStyle/>
          <a:p>
            <a:pPr algn="l" indent="0" marL="0">
              <a:lnSpc>
                <a:spcPts val="1550"/>
              </a:lnSpc>
              <a:buNone/>
            </a:pPr>
            <a:r>
              <a:rPr lang="en-US" sz="1350" b="1" spc="-14" kern="0" dirty="0">
                <a:solidFill>
                  <a:srgbClr val="FFFFFF"/>
                </a:solidFill>
                <a:latin typeface="Arial" pitchFamily="34" charset="0"/>
                <a:ea typeface="Arial" pitchFamily="34" charset="-122"/>
                <a:cs typeface="Arial" pitchFamily="34" charset="-120"/>
              </a:rPr>
              <a:t>Ice Race</a:t>
            </a:r>
            <a:endParaRPr lang="en-US" sz="1350" dirty="0"/>
          </a:p>
        </p:txBody>
      </p:sp>
      <p:sp>
        <p:nvSpPr>
          <p:cNvPr id="9" name="Text 9.8"/>
          <p:cNvSpPr txBox="1"/>
          <p:nvPr/>
        </p:nvSpPr>
        <p:spPr>
          <a:xfrm>
            <a:off x="4660783" y="2412940"/>
            <a:ext cx="2535502" cy="148586"/>
          </a:xfrm>
          <a:prstGeom prst="rect">
            <a:avLst/>
          </a:prstGeom>
          <a:noFill/>
          <a:ln/>
        </p:spPr>
        <p:txBody>
          <a:bodyPr wrap="square" lIns="0" tIns="0" rIns="0" bIns="0" rtlCol="0" anchor="t"/>
          <a:lstStyle/>
          <a:p>
            <a:pPr algn="l" indent="0" marL="0">
              <a:lnSpc>
                <a:spcPts val="1170"/>
              </a:lnSpc>
              <a:buNone/>
            </a:pPr>
            <a:r>
              <a:rPr lang="en-US" sz="900" dirty="0">
                <a:solidFill>
                  <a:srgbClr val="DDF2FC"/>
                </a:solidFill>
                <a:latin typeface="Courier New" pitchFamily="34" charset="0"/>
                <a:ea typeface="Courier New" pitchFamily="34" charset="-122"/>
                <a:cs typeface="Courier New" pitchFamily="34" charset="-120"/>
              </a:rPr>
              <a:t>ice movement · track · checkpoints</a:t>
            </a:r>
            <a:endParaRPr lang="en-US" sz="900" dirty="0"/>
          </a:p>
        </p:txBody>
      </p:sp>
      <p:sp>
        <p:nvSpPr>
          <p:cNvPr id="10" name="Text 9.9"/>
          <p:cNvSpPr txBox="1"/>
          <p:nvPr/>
        </p:nvSpPr>
        <p:spPr>
          <a:xfrm>
            <a:off x="609585" y="2959026"/>
            <a:ext cx="162904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646973"/>
                </a:solidFill>
                <a:latin typeface="Courier New" pitchFamily="34" charset="0"/>
                <a:ea typeface="Courier New" pitchFamily="34" charset="-122"/>
                <a:cs typeface="Courier New" pitchFamily="34" charset="-120"/>
              </a:rPr>
              <a:t>MINI-GAME CONTRACT</a:t>
            </a:r>
            <a:endParaRPr lang="en-US" sz="850" dirty="0"/>
          </a:p>
        </p:txBody>
      </p:sp>
      <p:sp>
        <p:nvSpPr>
          <p:cNvPr id="11" name="Text 9.10"/>
          <p:cNvSpPr txBox="1"/>
          <p:nvPr/>
        </p:nvSpPr>
        <p:spPr>
          <a:xfrm>
            <a:off x="609585" y="3276518"/>
            <a:ext cx="7518212" cy="167636"/>
          </a:xfrm>
          <a:prstGeom prst="rect">
            <a:avLst/>
          </a:prstGeom>
          <a:noFill/>
          <a:ln/>
        </p:spPr>
        <p:txBody>
          <a:bodyPr wrap="square" lIns="0" tIns="0" rIns="0" bIns="0" rtlCol="0" anchor="t"/>
          <a:lstStyle/>
          <a:p>
            <a:pPr algn="ctr" indent="0" marL="0">
              <a:lnSpc>
                <a:spcPts val="1320"/>
              </a:lnSpc>
              <a:buNone/>
            </a:pPr>
            <a:r>
              <a:rPr lang="en-US" sz="1100" b="1" dirty="0">
                <a:solidFill>
                  <a:srgbClr val="14161B"/>
                </a:solidFill>
                <a:latin typeface="Courier New" pitchFamily="34" charset="0"/>
                <a:ea typeface="Courier New" pitchFamily="34" charset="-122"/>
                <a:cs typeface="Courier New" pitchFamily="34" charset="-120"/>
              </a:rPr>
              <a:t>Setup(players) → Run() → Results(): placement</a:t>
            </a:r>
            <a:endParaRPr lang="en-US" sz="1100" dirty="0"/>
          </a:p>
        </p:txBody>
      </p:sp>
      <p:sp>
        <p:nvSpPr>
          <p:cNvPr id="12" name="Text 9.11"/>
          <p:cNvSpPr txBox="1"/>
          <p:nvPr/>
        </p:nvSpPr>
        <p:spPr>
          <a:xfrm>
            <a:off x="609585" y="3771806"/>
            <a:ext cx="13681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646973"/>
                </a:solidFill>
                <a:latin typeface="Courier New" pitchFamily="34" charset="0"/>
                <a:ea typeface="Courier New" pitchFamily="34" charset="-122"/>
                <a:cs typeface="Courier New" pitchFamily="34" charset="-120"/>
              </a:rPr>
              <a:t>SHARED GAMEPLAY</a:t>
            </a:r>
            <a:endParaRPr lang="en-US" sz="850" dirty="0"/>
          </a:p>
        </p:txBody>
      </p:sp>
      <p:sp>
        <p:nvSpPr>
          <p:cNvPr id="13" name="Text 9.12"/>
          <p:cNvSpPr txBox="1"/>
          <p:nvPr/>
        </p:nvSpPr>
        <p:spPr>
          <a:xfrm>
            <a:off x="609585" y="4133747"/>
            <a:ext cx="1422364" cy="160016"/>
          </a:xfrm>
          <a:prstGeom prst="rect">
            <a:avLst/>
          </a:prstGeom>
          <a:noFill/>
          <a:ln/>
        </p:spPr>
        <p:txBody>
          <a:bodyPr wrap="square" lIns="0" tIns="0" rIns="0" bIns="0" rtlCol="0" anchor="t"/>
          <a:lstStyle/>
          <a:p>
            <a:pPr algn="ctr" indent="0" marL="0">
              <a:lnSpc>
                <a:spcPts val="1260"/>
              </a:lnSpc>
              <a:buNone/>
            </a:pPr>
            <a:r>
              <a:rPr lang="en-US" sz="1050" b="1" dirty="0">
                <a:solidFill>
                  <a:srgbClr val="14161B"/>
                </a:solidFill>
                <a:latin typeface="Arial" pitchFamily="34" charset="0"/>
                <a:ea typeface="Arial" pitchFamily="34" charset="-122"/>
                <a:cs typeface="Arial" pitchFamily="34" charset="-120"/>
              </a:rPr>
              <a:t>Character</a:t>
            </a:r>
            <a:endParaRPr lang="en-US" sz="1050" dirty="0"/>
          </a:p>
        </p:txBody>
      </p:sp>
      <p:sp>
        <p:nvSpPr>
          <p:cNvPr id="14" name="Text 9.13"/>
          <p:cNvSpPr txBox="1"/>
          <p:nvPr/>
        </p:nvSpPr>
        <p:spPr>
          <a:xfrm>
            <a:off x="2133547" y="4133747"/>
            <a:ext cx="1422364" cy="160016"/>
          </a:xfrm>
          <a:prstGeom prst="rect">
            <a:avLst/>
          </a:prstGeom>
          <a:noFill/>
          <a:ln/>
        </p:spPr>
        <p:txBody>
          <a:bodyPr wrap="square" lIns="0" tIns="0" rIns="0" bIns="0" rtlCol="0" anchor="t"/>
          <a:lstStyle/>
          <a:p>
            <a:pPr algn="ctr" indent="0" marL="0">
              <a:lnSpc>
                <a:spcPts val="1260"/>
              </a:lnSpc>
              <a:buNone/>
            </a:pPr>
            <a:r>
              <a:rPr lang="en-US" sz="1050" b="1" dirty="0">
                <a:solidFill>
                  <a:srgbClr val="14161B"/>
                </a:solidFill>
                <a:latin typeface="Arial" pitchFamily="34" charset="0"/>
                <a:ea typeface="Arial" pitchFamily="34" charset="-122"/>
                <a:cs typeface="Arial" pitchFamily="34" charset="-120"/>
              </a:rPr>
              <a:t>Camera</a:t>
            </a:r>
            <a:endParaRPr lang="en-US" sz="1050" dirty="0"/>
          </a:p>
        </p:txBody>
      </p:sp>
      <p:sp>
        <p:nvSpPr>
          <p:cNvPr id="15" name="Text 9.14"/>
          <p:cNvSpPr txBox="1"/>
          <p:nvPr/>
        </p:nvSpPr>
        <p:spPr>
          <a:xfrm>
            <a:off x="3657509" y="4133747"/>
            <a:ext cx="1422364" cy="160016"/>
          </a:xfrm>
          <a:prstGeom prst="rect">
            <a:avLst/>
          </a:prstGeom>
          <a:noFill/>
          <a:ln/>
        </p:spPr>
        <p:txBody>
          <a:bodyPr wrap="square" lIns="0" tIns="0" rIns="0" bIns="0" rtlCol="0" anchor="t"/>
          <a:lstStyle/>
          <a:p>
            <a:pPr algn="ctr" indent="0" marL="0">
              <a:lnSpc>
                <a:spcPts val="1260"/>
              </a:lnSpc>
              <a:buNone/>
            </a:pPr>
            <a:r>
              <a:rPr lang="en-US" sz="1050" b="1" dirty="0">
                <a:solidFill>
                  <a:srgbClr val="14161B"/>
                </a:solidFill>
                <a:latin typeface="Arial" pitchFamily="34" charset="0"/>
                <a:ea typeface="Arial" pitchFamily="34" charset="-122"/>
                <a:cs typeface="Arial" pitchFamily="34" charset="-120"/>
              </a:rPr>
              <a:t>Round state</a:t>
            </a:r>
            <a:endParaRPr lang="en-US" sz="1050" dirty="0"/>
          </a:p>
        </p:txBody>
      </p:sp>
      <p:sp>
        <p:nvSpPr>
          <p:cNvPr id="16" name="Text 9.15"/>
          <p:cNvSpPr txBox="1"/>
          <p:nvPr/>
        </p:nvSpPr>
        <p:spPr>
          <a:xfrm>
            <a:off x="5181470" y="4133747"/>
            <a:ext cx="1422364" cy="160016"/>
          </a:xfrm>
          <a:prstGeom prst="rect">
            <a:avLst/>
          </a:prstGeom>
          <a:noFill/>
          <a:ln/>
        </p:spPr>
        <p:txBody>
          <a:bodyPr wrap="square" lIns="0" tIns="0" rIns="0" bIns="0" rtlCol="0" anchor="t"/>
          <a:lstStyle/>
          <a:p>
            <a:pPr algn="ctr" indent="0" marL="0">
              <a:lnSpc>
                <a:spcPts val="1260"/>
              </a:lnSpc>
              <a:buNone/>
            </a:pPr>
            <a:r>
              <a:rPr lang="en-US" sz="1050" b="1" dirty="0">
                <a:solidFill>
                  <a:srgbClr val="14161B"/>
                </a:solidFill>
                <a:latin typeface="Arial" pitchFamily="34" charset="0"/>
                <a:ea typeface="Arial" pitchFamily="34" charset="-122"/>
                <a:cs typeface="Arial" pitchFamily="34" charset="-120"/>
              </a:rPr>
              <a:t>Scoreboard</a:t>
            </a:r>
            <a:endParaRPr lang="en-US" sz="1050" dirty="0"/>
          </a:p>
        </p:txBody>
      </p:sp>
      <p:sp>
        <p:nvSpPr>
          <p:cNvPr id="17" name="Text 9.16"/>
          <p:cNvSpPr txBox="1"/>
          <p:nvPr/>
        </p:nvSpPr>
        <p:spPr>
          <a:xfrm>
            <a:off x="6705432" y="4133747"/>
            <a:ext cx="1422364" cy="160016"/>
          </a:xfrm>
          <a:prstGeom prst="rect">
            <a:avLst/>
          </a:prstGeom>
          <a:noFill/>
          <a:ln/>
        </p:spPr>
        <p:txBody>
          <a:bodyPr wrap="square" lIns="0" tIns="0" rIns="0" bIns="0" rtlCol="0" anchor="t"/>
          <a:lstStyle/>
          <a:p>
            <a:pPr algn="ctr" indent="0" marL="0">
              <a:lnSpc>
                <a:spcPts val="1260"/>
              </a:lnSpc>
              <a:buNone/>
            </a:pPr>
            <a:r>
              <a:rPr lang="en-US" sz="1050" b="1" dirty="0">
                <a:solidFill>
                  <a:srgbClr val="14161B"/>
                </a:solidFill>
                <a:latin typeface="Arial" pitchFamily="34" charset="0"/>
                <a:ea typeface="Arial" pitchFamily="34" charset="-122"/>
                <a:cs typeface="Arial" pitchFamily="34" charset="-120"/>
              </a:rPr>
              <a:t>Lobby &amp; UI</a:t>
            </a:r>
            <a:endParaRPr lang="en-US" sz="1050" dirty="0"/>
          </a:p>
        </p:txBody>
      </p:sp>
      <p:sp>
        <p:nvSpPr>
          <p:cNvPr id="18" name="Text 9.17"/>
          <p:cNvSpPr txBox="1"/>
          <p:nvPr/>
        </p:nvSpPr>
        <p:spPr>
          <a:xfrm>
            <a:off x="609585" y="4673483"/>
            <a:ext cx="6723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646973"/>
                </a:solidFill>
                <a:latin typeface="Courier New" pitchFamily="34" charset="0"/>
                <a:ea typeface="Courier New" pitchFamily="34" charset="-122"/>
                <a:cs typeface="Courier New" pitchFamily="34" charset="-120"/>
              </a:rPr>
              <a:t>NETWORK</a:t>
            </a:r>
            <a:endParaRPr lang="en-US" sz="850" dirty="0"/>
          </a:p>
        </p:txBody>
      </p:sp>
      <p:sp>
        <p:nvSpPr>
          <p:cNvPr id="19" name="Text 9.18"/>
          <p:cNvSpPr txBox="1"/>
          <p:nvPr/>
        </p:nvSpPr>
        <p:spPr>
          <a:xfrm>
            <a:off x="609585" y="4990975"/>
            <a:ext cx="7518212" cy="160016"/>
          </a:xfrm>
          <a:prstGeom prst="rect">
            <a:avLst/>
          </a:prstGeom>
          <a:noFill/>
          <a:ln/>
        </p:spPr>
        <p:txBody>
          <a:bodyPr wrap="square" lIns="0" tIns="0" rIns="0" bIns="0" rtlCol="0" anchor="t"/>
          <a:lstStyle/>
          <a:p>
            <a:pPr algn="ctr" indent="0" marL="0">
              <a:lnSpc>
                <a:spcPts val="1260"/>
              </a:lnSpc>
              <a:buNone/>
            </a:pPr>
            <a:r>
              <a:rPr lang="en-US" sz="1050" b="1" dirty="0">
                <a:solidFill>
                  <a:srgbClr val="FFFFFF"/>
                </a:solidFill>
                <a:latin typeface="Arial" pitchFamily="34" charset="0"/>
                <a:ea typeface="Arial" pitchFamily="34" charset="-122"/>
                <a:cs typeface="Arial" pitchFamily="34" charset="-120"/>
              </a:rPr>
              <a:t>Host-authoritative LAN · Unity Netcode for GameObjects (candidate)</a:t>
            </a:r>
            <a:endParaRPr lang="en-US" sz="1050" dirty="0"/>
          </a:p>
        </p:txBody>
      </p:sp>
      <p:sp>
        <p:nvSpPr>
          <p:cNvPr id="20" name="Text 9.19"/>
          <p:cNvSpPr txBox="1"/>
          <p:nvPr/>
        </p:nvSpPr>
        <p:spPr>
          <a:xfrm>
            <a:off x="609585" y="5486263"/>
            <a:ext cx="58534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646973"/>
                </a:solidFill>
                <a:latin typeface="Courier New" pitchFamily="34" charset="0"/>
                <a:ea typeface="Courier New" pitchFamily="34" charset="-122"/>
                <a:cs typeface="Courier New" pitchFamily="34" charset="-120"/>
              </a:rPr>
              <a:t>ENGINE</a:t>
            </a:r>
            <a:endParaRPr lang="en-US" sz="850" dirty="0"/>
          </a:p>
        </p:txBody>
      </p:sp>
      <p:sp>
        <p:nvSpPr>
          <p:cNvPr id="21" name="Text 9.20"/>
          <p:cNvSpPr txBox="1"/>
          <p:nvPr/>
        </p:nvSpPr>
        <p:spPr>
          <a:xfrm>
            <a:off x="609585" y="5778356"/>
            <a:ext cx="7518212" cy="160016"/>
          </a:xfrm>
          <a:prstGeom prst="rect">
            <a:avLst/>
          </a:prstGeom>
          <a:noFill/>
          <a:ln/>
        </p:spPr>
        <p:txBody>
          <a:bodyPr wrap="square" lIns="0" tIns="0" rIns="0" bIns="0" rtlCol="0" anchor="t"/>
          <a:lstStyle/>
          <a:p>
            <a:pPr algn="ctr" indent="0" marL="0">
              <a:lnSpc>
                <a:spcPts val="1260"/>
              </a:lnSpc>
              <a:buNone/>
            </a:pPr>
            <a:r>
              <a:rPr lang="en-US" sz="1050" b="1" dirty="0">
                <a:solidFill>
                  <a:srgbClr val="14161B"/>
                </a:solidFill>
                <a:latin typeface="Arial" pitchFamily="34" charset="0"/>
                <a:ea typeface="Arial" pitchFamily="34" charset="-122"/>
                <a:cs typeface="Arial" pitchFamily="34" charset="-120"/>
              </a:rPr>
              <a:t>Unity · built-in rigidbody physics</a:t>
            </a:r>
            <a:endParaRPr lang="en-US" sz="1050" dirty="0"/>
          </a:p>
        </p:txBody>
      </p:sp>
      <p:sp>
        <p:nvSpPr>
          <p:cNvPr id="22" name="Text 9.21"/>
          <p:cNvSpPr txBox="1"/>
          <p:nvPr/>
        </p:nvSpPr>
        <p:spPr>
          <a:xfrm>
            <a:off x="9270768" y="2044649"/>
            <a:ext cx="540336" cy="175256"/>
          </a:xfrm>
          <a:prstGeom prst="rect">
            <a:avLst/>
          </a:prstGeom>
          <a:noFill/>
          <a:ln/>
        </p:spPr>
        <p:txBody>
          <a:bodyPr wrap="square" lIns="0" tIns="0" rIns="0" bIns="0" rtlCol="0" anchor="t"/>
          <a:lstStyle/>
          <a:p>
            <a:pPr algn="l" indent="0" marL="0">
              <a:lnSpc>
                <a:spcPts val="1380"/>
              </a:lnSpc>
              <a:buNone/>
            </a:pPr>
            <a:r>
              <a:rPr lang="en-US" sz="1200" b="1" spc="-12" kern="0" dirty="0">
                <a:solidFill>
                  <a:srgbClr val="14161B"/>
                </a:solidFill>
                <a:latin typeface="Arial" pitchFamily="34" charset="0"/>
                <a:ea typeface="Arial" pitchFamily="34" charset="-122"/>
                <a:cs typeface="Arial" pitchFamily="34" charset="-120"/>
              </a:rPr>
              <a:t>Reuse</a:t>
            </a:r>
            <a:endParaRPr lang="en-US" sz="1200" dirty="0"/>
          </a:p>
        </p:txBody>
      </p:sp>
      <p:sp>
        <p:nvSpPr>
          <p:cNvPr id="23" name="Text 9.22"/>
          <p:cNvSpPr txBox="1"/>
          <p:nvPr/>
        </p:nvSpPr>
        <p:spPr>
          <a:xfrm>
            <a:off x="9270768" y="2273243"/>
            <a:ext cx="2349441" cy="506598"/>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A new mini-game is new rules plus one arena. Character, camera, network and scores already exist.</a:t>
            </a:r>
            <a:endParaRPr lang="en-US" sz="950" dirty="0"/>
          </a:p>
        </p:txBody>
      </p:sp>
      <p:sp>
        <p:nvSpPr>
          <p:cNvPr id="24" name="Text 9.23"/>
          <p:cNvSpPr txBox="1"/>
          <p:nvPr/>
        </p:nvSpPr>
        <p:spPr>
          <a:xfrm>
            <a:off x="9270768" y="3428914"/>
            <a:ext cx="1420392" cy="175256"/>
          </a:xfrm>
          <a:prstGeom prst="rect">
            <a:avLst/>
          </a:prstGeom>
          <a:noFill/>
          <a:ln/>
        </p:spPr>
        <p:txBody>
          <a:bodyPr wrap="square" lIns="0" tIns="0" rIns="0" bIns="0" rtlCol="0" anchor="t"/>
          <a:lstStyle/>
          <a:p>
            <a:pPr algn="l" indent="0" marL="0">
              <a:lnSpc>
                <a:spcPts val="1380"/>
              </a:lnSpc>
              <a:buNone/>
            </a:pPr>
            <a:r>
              <a:rPr lang="en-US" sz="1200" b="1" spc="-12" kern="0" dirty="0">
                <a:solidFill>
                  <a:srgbClr val="14161B"/>
                </a:solidFill>
                <a:latin typeface="Arial" pitchFamily="34" charset="0"/>
                <a:ea typeface="Arial" pitchFamily="34" charset="-122"/>
                <a:cs typeface="Arial" pitchFamily="34" charset="-120"/>
              </a:rPr>
              <a:t>Per-game physics</a:t>
            </a:r>
            <a:endParaRPr lang="en-US" sz="1200" dirty="0"/>
          </a:p>
        </p:txBody>
      </p:sp>
      <p:sp>
        <p:nvSpPr>
          <p:cNvPr id="25" name="Text 9.24"/>
          <p:cNvSpPr txBox="1"/>
          <p:nvPr/>
        </p:nvSpPr>
        <p:spPr>
          <a:xfrm>
            <a:off x="9270768" y="3657509"/>
            <a:ext cx="2349441" cy="337732"/>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Each mini-game sets its own profile: low grip on ice, firm grip in Knockout.</a:t>
            </a:r>
            <a:endParaRPr lang="en-US" sz="950" dirty="0"/>
          </a:p>
        </p:txBody>
      </p:sp>
      <p:sp>
        <p:nvSpPr>
          <p:cNvPr id="26" name="Text 9.25"/>
          <p:cNvSpPr txBox="1"/>
          <p:nvPr/>
        </p:nvSpPr>
        <p:spPr>
          <a:xfrm>
            <a:off x="9270768" y="4724282"/>
            <a:ext cx="775915" cy="175256"/>
          </a:xfrm>
          <a:prstGeom prst="rect">
            <a:avLst/>
          </a:prstGeom>
          <a:noFill/>
          <a:ln/>
        </p:spPr>
        <p:txBody>
          <a:bodyPr wrap="square" lIns="0" tIns="0" rIns="0" bIns="0" rtlCol="0" anchor="t"/>
          <a:lstStyle/>
          <a:p>
            <a:pPr algn="l" indent="0" marL="0">
              <a:lnSpc>
                <a:spcPts val="1380"/>
              </a:lnSpc>
              <a:buNone/>
            </a:pPr>
            <a:r>
              <a:rPr lang="en-US" sz="1200" b="1" spc="-12" kern="0" dirty="0">
                <a:solidFill>
                  <a:srgbClr val="14161B"/>
                </a:solidFill>
                <a:latin typeface="Arial" pitchFamily="34" charset="0"/>
                <a:ea typeface="Arial" pitchFamily="34" charset="-122"/>
                <a:cs typeface="Arial" pitchFamily="34" charset="-120"/>
              </a:rPr>
              <a:t>One truth</a:t>
            </a:r>
            <a:endParaRPr lang="en-US" sz="1200" dirty="0"/>
          </a:p>
        </p:txBody>
      </p:sp>
      <p:sp>
        <p:nvSpPr>
          <p:cNvPr id="27" name="Text 9.26"/>
          <p:cNvSpPr txBox="1"/>
          <p:nvPr/>
        </p:nvSpPr>
        <p:spPr>
          <a:xfrm>
            <a:off x="9270768" y="4952876"/>
            <a:ext cx="2349441" cy="337732"/>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Everything that decides a result runs on the host, so every screen agrees.</a:t>
            </a:r>
            <a:endParaRPr lang="en-US" sz="950" dirty="0"/>
          </a:p>
        </p:txBody>
      </p:sp>
      <p:sp>
        <p:nvSpPr>
          <p:cNvPr id="28" name="Text 9.27"/>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09</a:t>
            </a:r>
            <a:endParaRPr lang="en-US" sz="7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0.1"/>
          <p:cNvSpPr txBox="1"/>
          <p:nvPr/>
        </p:nvSpPr>
        <p:spPr>
          <a:xfrm>
            <a:off x="609585" y="355591"/>
            <a:ext cx="273416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1EA5E6"/>
                </a:solidFill>
                <a:latin typeface="Courier New" pitchFamily="34" charset="0"/>
                <a:ea typeface="Courier New" pitchFamily="34" charset="-122"/>
                <a:cs typeface="Courier New" pitchFamily="34" charset="-120"/>
              </a:rPr>
              <a:t>07 — TECHNICAL IMPLEMENTATION</a:t>
            </a:r>
            <a:endParaRPr lang="en-US" sz="900" dirty="0"/>
          </a:p>
        </p:txBody>
      </p:sp>
      <p:sp>
        <p:nvSpPr>
          <p:cNvPr id="3" name="Text 10.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10.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One throw over the LAN,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step by step</a:t>
            </a:r>
            <a:endParaRPr lang="en-US" sz="3400" dirty="0"/>
          </a:p>
        </p:txBody>
      </p:sp>
      <p:sp>
        <p:nvSpPr>
          <p:cNvPr id="5" name="Text 10.4"/>
          <p:cNvSpPr txBox="1"/>
          <p:nvPr/>
        </p:nvSpPr>
        <p:spPr>
          <a:xfrm>
            <a:off x="952476" y="1968451"/>
            <a:ext cx="2158946" cy="167636"/>
          </a:xfrm>
          <a:prstGeom prst="rect">
            <a:avLst/>
          </a:prstGeom>
          <a:noFill/>
          <a:ln/>
        </p:spPr>
        <p:txBody>
          <a:bodyPr wrap="square" lIns="0" tIns="0" rIns="0" bIns="0" rtlCol="0" anchor="t"/>
          <a:lstStyle/>
          <a:p>
            <a:pPr algn="ctr" indent="0" marL="0">
              <a:lnSpc>
                <a:spcPts val="1320"/>
              </a:lnSpc>
              <a:buNone/>
            </a:pPr>
            <a:r>
              <a:rPr lang="en-US" sz="1100" b="1" spc="110" kern="0" dirty="0">
                <a:solidFill>
                  <a:srgbClr val="FFFFFF"/>
                </a:solidFill>
                <a:latin typeface="Courier New" pitchFamily="34" charset="0"/>
                <a:ea typeface="Courier New" pitchFamily="34" charset="-122"/>
                <a:cs typeface="Courier New" pitchFamily="34" charset="-120"/>
              </a:rPr>
              <a:t>CLIENT A</a:t>
            </a:r>
            <a:endParaRPr lang="en-US" sz="1100" dirty="0"/>
          </a:p>
        </p:txBody>
      </p:sp>
      <p:sp>
        <p:nvSpPr>
          <p:cNvPr id="6" name="Text 10.5"/>
          <p:cNvSpPr txBox="1"/>
          <p:nvPr/>
        </p:nvSpPr>
        <p:spPr>
          <a:xfrm>
            <a:off x="952476" y="2184345"/>
            <a:ext cx="2158946" cy="137157"/>
          </a:xfrm>
          <a:prstGeom prst="rect">
            <a:avLst/>
          </a:prstGeom>
          <a:noFill/>
          <a:ln/>
        </p:spPr>
        <p:txBody>
          <a:bodyPr wrap="square" lIns="0" tIns="0" rIns="0" bIns="0" rtlCol="0" anchor="t"/>
          <a:lstStyle/>
          <a:p>
            <a:pPr algn="ctr" indent="0" marL="0">
              <a:lnSpc>
                <a:spcPts val="1080"/>
              </a:lnSpc>
              <a:buNone/>
            </a:pPr>
            <a:r>
              <a:rPr lang="en-US" sz="900" dirty="0">
                <a:solidFill>
                  <a:srgbClr val="FFE3D7"/>
                </a:solidFill>
                <a:latin typeface="Arial" pitchFamily="34" charset="0"/>
                <a:ea typeface="Arial" pitchFamily="34" charset="-122"/>
                <a:cs typeface="Arial" pitchFamily="34" charset="-120"/>
              </a:rPr>
              <a:t>shooter</a:t>
            </a:r>
            <a:endParaRPr lang="en-US" sz="900" dirty="0"/>
          </a:p>
        </p:txBody>
      </p:sp>
      <p:sp>
        <p:nvSpPr>
          <p:cNvPr id="7" name="Text 10.6"/>
          <p:cNvSpPr txBox="1"/>
          <p:nvPr/>
        </p:nvSpPr>
        <p:spPr>
          <a:xfrm>
            <a:off x="5016375" y="1968451"/>
            <a:ext cx="2158946" cy="167636"/>
          </a:xfrm>
          <a:prstGeom prst="rect">
            <a:avLst/>
          </a:prstGeom>
          <a:noFill/>
          <a:ln/>
        </p:spPr>
        <p:txBody>
          <a:bodyPr wrap="square" lIns="0" tIns="0" rIns="0" bIns="0" rtlCol="0" anchor="t"/>
          <a:lstStyle/>
          <a:p>
            <a:pPr algn="ctr" indent="0" marL="0">
              <a:lnSpc>
                <a:spcPts val="1320"/>
              </a:lnSpc>
              <a:buNone/>
            </a:pPr>
            <a:r>
              <a:rPr lang="en-US" sz="1100" b="1" spc="110" kern="0" dirty="0">
                <a:solidFill>
                  <a:srgbClr val="FFFFFF"/>
                </a:solidFill>
                <a:latin typeface="Courier New" pitchFamily="34" charset="0"/>
                <a:ea typeface="Courier New" pitchFamily="34" charset="-122"/>
                <a:cs typeface="Courier New" pitchFamily="34" charset="-120"/>
              </a:rPr>
              <a:t>HOST</a:t>
            </a:r>
            <a:endParaRPr lang="en-US" sz="1100" dirty="0"/>
          </a:p>
        </p:txBody>
      </p:sp>
      <p:sp>
        <p:nvSpPr>
          <p:cNvPr id="8" name="Text 10.7"/>
          <p:cNvSpPr txBox="1"/>
          <p:nvPr/>
        </p:nvSpPr>
        <p:spPr>
          <a:xfrm>
            <a:off x="5016375" y="2184345"/>
            <a:ext cx="2158946" cy="137157"/>
          </a:xfrm>
          <a:prstGeom prst="rect">
            <a:avLst/>
          </a:prstGeom>
          <a:noFill/>
          <a:ln/>
        </p:spPr>
        <p:txBody>
          <a:bodyPr wrap="square" lIns="0" tIns="0" rIns="0" bIns="0" rtlCol="0" anchor="t"/>
          <a:lstStyle/>
          <a:p>
            <a:pPr algn="ctr" indent="0" marL="0">
              <a:lnSpc>
                <a:spcPts val="1080"/>
              </a:lnSpc>
              <a:buNone/>
            </a:pPr>
            <a:r>
              <a:rPr lang="en-US" sz="900" dirty="0">
                <a:solidFill>
                  <a:srgbClr val="C3CAD8"/>
                </a:solidFill>
                <a:latin typeface="Arial" pitchFamily="34" charset="0"/>
                <a:ea typeface="Arial" pitchFamily="34" charset="-122"/>
                <a:cs typeface="Arial" pitchFamily="34" charset="-120"/>
              </a:rPr>
              <a:t>authority: runs the physics</a:t>
            </a:r>
            <a:endParaRPr lang="en-US" sz="900" dirty="0"/>
          </a:p>
        </p:txBody>
      </p:sp>
      <p:sp>
        <p:nvSpPr>
          <p:cNvPr id="9" name="Text 10.8"/>
          <p:cNvSpPr txBox="1"/>
          <p:nvPr/>
        </p:nvSpPr>
        <p:spPr>
          <a:xfrm>
            <a:off x="9080273" y="1968451"/>
            <a:ext cx="2158946" cy="167636"/>
          </a:xfrm>
          <a:prstGeom prst="rect">
            <a:avLst/>
          </a:prstGeom>
          <a:noFill/>
          <a:ln/>
        </p:spPr>
        <p:txBody>
          <a:bodyPr wrap="square" lIns="0" tIns="0" rIns="0" bIns="0" rtlCol="0" anchor="t"/>
          <a:lstStyle/>
          <a:p>
            <a:pPr algn="ctr" indent="0" marL="0">
              <a:lnSpc>
                <a:spcPts val="1320"/>
              </a:lnSpc>
              <a:buNone/>
            </a:pPr>
            <a:r>
              <a:rPr lang="en-US" sz="1100" b="1" spc="110" kern="0" dirty="0">
                <a:solidFill>
                  <a:srgbClr val="FFFFFF"/>
                </a:solidFill>
                <a:latin typeface="Courier New" pitchFamily="34" charset="0"/>
                <a:ea typeface="Courier New" pitchFamily="34" charset="-122"/>
                <a:cs typeface="Courier New" pitchFamily="34" charset="-120"/>
              </a:rPr>
              <a:t>CLIENT B</a:t>
            </a:r>
            <a:endParaRPr lang="en-US" sz="1100" dirty="0"/>
          </a:p>
        </p:txBody>
      </p:sp>
      <p:sp>
        <p:nvSpPr>
          <p:cNvPr id="10" name="Text 10.9"/>
          <p:cNvSpPr txBox="1"/>
          <p:nvPr/>
        </p:nvSpPr>
        <p:spPr>
          <a:xfrm>
            <a:off x="9080273" y="2184345"/>
            <a:ext cx="2158946" cy="137157"/>
          </a:xfrm>
          <a:prstGeom prst="rect">
            <a:avLst/>
          </a:prstGeom>
          <a:noFill/>
          <a:ln/>
        </p:spPr>
        <p:txBody>
          <a:bodyPr wrap="square" lIns="0" tIns="0" rIns="0" bIns="0" rtlCol="0" anchor="t"/>
          <a:lstStyle/>
          <a:p>
            <a:pPr algn="ctr" indent="0" marL="0">
              <a:lnSpc>
                <a:spcPts val="1080"/>
              </a:lnSpc>
              <a:buNone/>
            </a:pPr>
            <a:r>
              <a:rPr lang="en-US" sz="900" dirty="0">
                <a:solidFill>
                  <a:srgbClr val="DDF2FC"/>
                </a:solidFill>
                <a:latin typeface="Arial" pitchFamily="34" charset="0"/>
                <a:ea typeface="Arial" pitchFamily="34" charset="-122"/>
                <a:cs typeface="Arial" pitchFamily="34" charset="-120"/>
              </a:rPr>
              <a:t>target</a:t>
            </a:r>
            <a:endParaRPr lang="en-US" sz="900" dirty="0"/>
          </a:p>
        </p:txBody>
      </p:sp>
      <p:sp>
        <p:nvSpPr>
          <p:cNvPr id="11" name="Text 10.10"/>
          <p:cNvSpPr txBox="1"/>
          <p:nvPr/>
        </p:nvSpPr>
        <p:spPr>
          <a:xfrm>
            <a:off x="2412940" y="2539937"/>
            <a:ext cx="241294" cy="241294"/>
          </a:xfrm>
          <a:prstGeom prst="rect">
            <a:avLst/>
          </a:prstGeom>
          <a:noFill/>
          <a:ln/>
        </p:spPr>
        <p:txBody>
          <a:bodyPr wrap="square" lIns="0" tIns="0" rIns="0" bIns="0" rtlCol="0" anchor="ctr"/>
          <a:lstStyle/>
          <a:p>
            <a:pPr algn="ctr" indent="0" marL="0">
              <a:lnSpc>
                <a:spcPts val="90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2" name="Text 10.11"/>
          <p:cNvSpPr txBox="1"/>
          <p:nvPr/>
        </p:nvSpPr>
        <p:spPr>
          <a:xfrm>
            <a:off x="2730432" y="2578036"/>
            <a:ext cx="1615165" cy="160016"/>
          </a:xfrm>
          <a:prstGeom prst="rect">
            <a:avLst/>
          </a:prstGeom>
          <a:noFill/>
          <a:ln/>
        </p:spPr>
        <p:txBody>
          <a:bodyPr wrap="square" lIns="0" tIns="0" rIns="0" bIns="0" rtlCol="0" anchor="t"/>
          <a:lstStyle/>
          <a:p>
            <a:pPr algn="l" indent="0" marL="0">
              <a:lnSpc>
                <a:spcPts val="1260"/>
              </a:lnSpc>
              <a:buNone/>
            </a:pPr>
            <a:r>
              <a:rPr lang="en-US" sz="1050" dirty="0">
                <a:solidFill>
                  <a:srgbClr val="14161B"/>
                </a:solidFill>
                <a:latin typeface="Arial" pitchFamily="34" charset="0"/>
                <a:ea typeface="Arial" pitchFamily="34" charset="-122"/>
                <a:cs typeface="Arial" pitchFamily="34" charset="-120"/>
              </a:rPr>
              <a:t>Fire input + aim direction</a:t>
            </a:r>
            <a:endParaRPr lang="en-US" sz="1050" dirty="0"/>
          </a:p>
        </p:txBody>
      </p:sp>
      <p:sp>
        <p:nvSpPr>
          <p:cNvPr id="13" name="Text 10.12"/>
          <p:cNvSpPr txBox="1"/>
          <p:nvPr/>
        </p:nvSpPr>
        <p:spPr>
          <a:xfrm>
            <a:off x="6299043" y="3136822"/>
            <a:ext cx="241294" cy="241294"/>
          </a:xfrm>
          <a:prstGeom prst="rect">
            <a:avLst/>
          </a:prstGeom>
          <a:noFill/>
          <a:ln/>
        </p:spPr>
        <p:txBody>
          <a:bodyPr wrap="square" lIns="0" tIns="0" rIns="0" bIns="0" rtlCol="0" anchor="ctr"/>
          <a:lstStyle/>
          <a:p>
            <a:pPr algn="ctr" indent="0" marL="0">
              <a:lnSpc>
                <a:spcPts val="90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4" name="Text 10.13"/>
          <p:cNvSpPr txBox="1"/>
          <p:nvPr/>
        </p:nvSpPr>
        <p:spPr>
          <a:xfrm>
            <a:off x="6629234" y="3174921"/>
            <a:ext cx="2711450" cy="160016"/>
          </a:xfrm>
          <a:prstGeom prst="rect">
            <a:avLst/>
          </a:prstGeom>
          <a:noFill/>
          <a:ln/>
        </p:spPr>
        <p:txBody>
          <a:bodyPr wrap="square" lIns="0" tIns="0" rIns="0" bIns="0" rtlCol="0" anchor="t"/>
          <a:lstStyle/>
          <a:p>
            <a:pPr algn="l" indent="0" marL="0">
              <a:lnSpc>
                <a:spcPts val="1260"/>
              </a:lnSpc>
              <a:buNone/>
            </a:pPr>
            <a:r>
              <a:rPr lang="en-US" sz="1050" dirty="0">
                <a:solidFill>
                  <a:srgbClr val="14161B"/>
                </a:solidFill>
                <a:latin typeface="Arial" pitchFamily="34" charset="0"/>
                <a:ea typeface="Arial" pitchFamily="34" charset="-122"/>
                <a:cs typeface="Arial" pitchFamily="34" charset="-120"/>
              </a:rPr>
              <a:t>Check cooldown; shrink A; spawn the glob</a:t>
            </a:r>
            <a:endParaRPr lang="en-US" sz="1050" dirty="0"/>
          </a:p>
        </p:txBody>
      </p:sp>
      <p:sp>
        <p:nvSpPr>
          <p:cNvPr id="15" name="Text 10.14"/>
          <p:cNvSpPr txBox="1"/>
          <p:nvPr/>
        </p:nvSpPr>
        <p:spPr>
          <a:xfrm>
            <a:off x="6299043" y="3555911"/>
            <a:ext cx="241294" cy="241294"/>
          </a:xfrm>
          <a:prstGeom prst="rect">
            <a:avLst/>
          </a:prstGeom>
          <a:noFill/>
          <a:ln/>
        </p:spPr>
        <p:txBody>
          <a:bodyPr wrap="square" lIns="0" tIns="0" rIns="0" bIns="0" rtlCol="0" anchor="ctr"/>
          <a:lstStyle/>
          <a:p>
            <a:pPr algn="ctr" indent="0" marL="0">
              <a:lnSpc>
                <a:spcPts val="90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6" name="Text 10.15"/>
          <p:cNvSpPr txBox="1"/>
          <p:nvPr/>
        </p:nvSpPr>
        <p:spPr>
          <a:xfrm>
            <a:off x="6629234" y="3594010"/>
            <a:ext cx="2114194" cy="160016"/>
          </a:xfrm>
          <a:prstGeom prst="rect">
            <a:avLst/>
          </a:prstGeom>
          <a:noFill/>
          <a:ln/>
        </p:spPr>
        <p:txBody>
          <a:bodyPr wrap="square" lIns="0" tIns="0" rIns="0" bIns="0" rtlCol="0" anchor="t"/>
          <a:lstStyle/>
          <a:p>
            <a:pPr algn="l" indent="0" marL="0">
              <a:lnSpc>
                <a:spcPts val="1260"/>
              </a:lnSpc>
              <a:buNone/>
            </a:pPr>
            <a:r>
              <a:rPr lang="en-US" sz="1050" dirty="0">
                <a:solidFill>
                  <a:srgbClr val="14161B"/>
                </a:solidFill>
                <a:latin typeface="Arial" pitchFamily="34" charset="0"/>
                <a:ea typeface="Arial" pitchFamily="34" charset="-122"/>
                <a:cs typeface="Arial" pitchFamily="34" charset="-120"/>
              </a:rPr>
              <a:t>Physics step: the glob reaches B</a:t>
            </a:r>
            <a:endParaRPr lang="en-US" sz="1050" dirty="0"/>
          </a:p>
        </p:txBody>
      </p:sp>
      <p:sp>
        <p:nvSpPr>
          <p:cNvPr id="17" name="Text 10.16"/>
          <p:cNvSpPr txBox="1"/>
          <p:nvPr/>
        </p:nvSpPr>
        <p:spPr>
          <a:xfrm>
            <a:off x="6299043" y="3975001"/>
            <a:ext cx="241294" cy="241294"/>
          </a:xfrm>
          <a:prstGeom prst="rect">
            <a:avLst/>
          </a:prstGeom>
          <a:noFill/>
          <a:ln/>
        </p:spPr>
        <p:txBody>
          <a:bodyPr wrap="square" lIns="0" tIns="0" rIns="0" bIns="0" rtlCol="0" anchor="ctr"/>
          <a:lstStyle/>
          <a:p>
            <a:pPr algn="ctr" indent="0" marL="0">
              <a:lnSpc>
                <a:spcPts val="90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8" name="Text 10.17"/>
          <p:cNvSpPr txBox="1"/>
          <p:nvPr/>
        </p:nvSpPr>
        <p:spPr>
          <a:xfrm>
            <a:off x="6629234" y="4013100"/>
            <a:ext cx="2834077" cy="160016"/>
          </a:xfrm>
          <a:prstGeom prst="rect">
            <a:avLst/>
          </a:prstGeom>
          <a:noFill/>
          <a:ln/>
        </p:spPr>
        <p:txBody>
          <a:bodyPr wrap="square" lIns="0" tIns="0" rIns="0" bIns="0" rtlCol="0" anchor="t"/>
          <a:lstStyle/>
          <a:p>
            <a:pPr algn="l" indent="0" marL="0">
              <a:lnSpc>
                <a:spcPts val="1260"/>
              </a:lnSpc>
              <a:buNone/>
            </a:pPr>
            <a:r>
              <a:rPr lang="en-US" sz="1050" dirty="0">
                <a:solidFill>
                  <a:srgbClr val="14161B"/>
                </a:solidFill>
                <a:latin typeface="Arial" pitchFamily="34" charset="0"/>
                <a:ea typeface="Arial" pitchFamily="34" charset="-122"/>
                <a:cs typeface="Arial" pitchFamily="34" charset="-120"/>
              </a:rPr>
              <a:t>B loses mass; push scaled by B’s new mass</a:t>
            </a:r>
            <a:endParaRPr lang="en-US" sz="1050" dirty="0"/>
          </a:p>
        </p:txBody>
      </p:sp>
      <p:sp>
        <p:nvSpPr>
          <p:cNvPr id="19" name="Text 10.18"/>
          <p:cNvSpPr txBox="1"/>
          <p:nvPr/>
        </p:nvSpPr>
        <p:spPr>
          <a:xfrm>
            <a:off x="2285943" y="4381390"/>
            <a:ext cx="241294" cy="241294"/>
          </a:xfrm>
          <a:prstGeom prst="rect">
            <a:avLst/>
          </a:prstGeom>
          <a:noFill/>
          <a:ln/>
        </p:spPr>
        <p:txBody>
          <a:bodyPr wrap="square" lIns="0" tIns="0" rIns="0" bIns="0" rtlCol="0" anchor="ctr"/>
          <a:lstStyle/>
          <a:p>
            <a:pPr algn="ctr" indent="0" marL="0">
              <a:lnSpc>
                <a:spcPts val="900"/>
              </a:lnSpc>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0" name="Text 10.19"/>
          <p:cNvSpPr txBox="1"/>
          <p:nvPr/>
        </p:nvSpPr>
        <p:spPr>
          <a:xfrm>
            <a:off x="2603435" y="4419490"/>
            <a:ext cx="3103941" cy="160016"/>
          </a:xfrm>
          <a:prstGeom prst="rect">
            <a:avLst/>
          </a:prstGeom>
          <a:noFill/>
          <a:ln/>
        </p:spPr>
        <p:txBody>
          <a:bodyPr wrap="square" lIns="0" tIns="0" rIns="0" bIns="0" rtlCol="0" anchor="t"/>
          <a:lstStyle/>
          <a:p>
            <a:pPr algn="l" indent="0" marL="0">
              <a:lnSpc>
                <a:spcPts val="1260"/>
              </a:lnSpc>
              <a:buNone/>
            </a:pPr>
            <a:r>
              <a:rPr lang="en-US" sz="1050" dirty="0">
                <a:solidFill>
                  <a:srgbClr val="14161B"/>
                </a:solidFill>
                <a:latin typeface="Arial" pitchFamily="34" charset="0"/>
                <a:ea typeface="Arial" pitchFamily="34" charset="-122"/>
                <a:cs typeface="Arial" pitchFamily="34" charset="-120"/>
              </a:rPr>
              <a:t>Snapshot to every client: positions, sizes, scores</a:t>
            </a:r>
            <a:endParaRPr lang="en-US" sz="1050" dirty="0"/>
          </a:p>
        </p:txBody>
      </p:sp>
      <p:sp>
        <p:nvSpPr>
          <p:cNvPr id="21" name="Text 10.20"/>
          <p:cNvSpPr txBox="1"/>
          <p:nvPr/>
        </p:nvSpPr>
        <p:spPr>
          <a:xfrm>
            <a:off x="6299043" y="4927477"/>
            <a:ext cx="241294" cy="241294"/>
          </a:xfrm>
          <a:prstGeom prst="rect">
            <a:avLst/>
          </a:prstGeom>
          <a:noFill/>
          <a:ln/>
        </p:spPr>
        <p:txBody>
          <a:bodyPr wrap="square" lIns="0" tIns="0" rIns="0" bIns="0" rtlCol="0" anchor="ctr"/>
          <a:lstStyle/>
          <a:p>
            <a:pPr algn="ctr" indent="0" marL="0">
              <a:lnSpc>
                <a:spcPts val="900"/>
              </a:lnSpc>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22" name="Text 10.21"/>
          <p:cNvSpPr txBox="1"/>
          <p:nvPr/>
        </p:nvSpPr>
        <p:spPr>
          <a:xfrm>
            <a:off x="6629234" y="4965576"/>
            <a:ext cx="3104467" cy="160016"/>
          </a:xfrm>
          <a:prstGeom prst="rect">
            <a:avLst/>
          </a:prstGeom>
          <a:noFill/>
          <a:ln/>
        </p:spPr>
        <p:txBody>
          <a:bodyPr wrap="square" lIns="0" tIns="0" rIns="0" bIns="0" rtlCol="0" anchor="t"/>
          <a:lstStyle/>
          <a:p>
            <a:pPr algn="l" indent="0" marL="0">
              <a:lnSpc>
                <a:spcPts val="1260"/>
              </a:lnSpc>
              <a:buNone/>
            </a:pPr>
            <a:r>
              <a:rPr lang="en-US" sz="1050" dirty="0">
                <a:solidFill>
                  <a:srgbClr val="14161B"/>
                </a:solidFill>
                <a:latin typeface="Arial" pitchFamily="34" charset="0"/>
                <a:ea typeface="Arial" pitchFamily="34" charset="-122"/>
                <a:cs typeface="Arial" pitchFamily="34" charset="-120"/>
              </a:rPr>
              <a:t>Clients interpolate between snapshots and draw.</a:t>
            </a:r>
            <a:endParaRPr lang="en-US" sz="1050" dirty="0"/>
          </a:p>
        </p:txBody>
      </p:sp>
      <p:sp>
        <p:nvSpPr>
          <p:cNvPr id="23" name="Text 10.22"/>
          <p:cNvSpPr txBox="1"/>
          <p:nvPr/>
        </p:nvSpPr>
        <p:spPr>
          <a:xfrm>
            <a:off x="825479" y="5613260"/>
            <a:ext cx="10578836" cy="355591"/>
          </a:xfrm>
          <a:prstGeom prst="rect">
            <a:avLst/>
          </a:prstGeom>
          <a:noFill/>
          <a:ln/>
        </p:spPr>
        <p:txBody>
          <a:bodyPr wrap="square" lIns="0" tIns="0" rIns="0" bIns="0" rtlCol="0" anchor="t"/>
          <a:lstStyle/>
          <a:p>
            <a:pPr algn="l" indent="0" marL="0">
              <a:lnSpc>
                <a:spcPts val="1400"/>
              </a:lnSpc>
              <a:buNone/>
            </a:pPr>
            <a:r>
              <a:rPr lang="en-US" sz="1000" b="1" dirty="0">
                <a:solidFill>
                  <a:srgbClr val="14161B"/>
                </a:solidFill>
                <a:latin typeface="Arial" pitchFamily="34" charset="0"/>
                <a:ea typeface="Arial" pitchFamily="34" charset="-122"/>
                <a:cs typeface="Arial" pitchFamily="34" charset="-120"/>
              </a:rPr>
              <a:t>Your own movement is predicted locally so it feels instant.</a:t>
            </a:r>
            <a:pPr algn="l" indent="0" marL="0">
              <a:lnSpc>
                <a:spcPts val="1400"/>
              </a:lnSpc>
              <a:buNone/>
            </a:pPr>
            <a:r>
              <a:rPr lang="en-US" sz="1000" dirty="0">
                <a:solidFill>
                  <a:srgbClr val="33405A"/>
                </a:solidFill>
                <a:latin typeface="Arial" pitchFamily="34" charset="0"/>
                <a:ea typeface="Arial" pitchFamily="34" charset="-122"/>
                <a:cs typeface="Arial" pitchFamily="34" charset="-120"/>
              </a:rPr>
              <a:t> Hits, mass changes and knockouts are decided only on the host. Main risk: smooth physics on clients; LAN latency is low, and we tune the snapshot rate.</a:t>
            </a:r>
            <a:endParaRPr lang="en-US" sz="1000" dirty="0"/>
          </a:p>
        </p:txBody>
      </p:sp>
      <p:sp>
        <p:nvSpPr>
          <p:cNvPr id="24" name="Text 10.23"/>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10</a:t>
            </a:r>
            <a:endParaRPr lang="en-US" sz="7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1.1"/>
          <p:cNvSpPr txBox="1"/>
          <p:nvPr/>
        </p:nvSpPr>
        <p:spPr>
          <a:xfrm>
            <a:off x="609585" y="355591"/>
            <a:ext cx="144489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7E48DE"/>
                </a:solidFill>
                <a:latin typeface="Courier New" pitchFamily="34" charset="0"/>
                <a:ea typeface="Courier New" pitchFamily="34" charset="-122"/>
                <a:cs typeface="Courier New" pitchFamily="34" charset="-120"/>
              </a:rPr>
              <a:t>08 — INNOVATION</a:t>
            </a:r>
            <a:endParaRPr lang="en-US" sz="900" dirty="0"/>
          </a:p>
        </p:txBody>
      </p:sp>
      <p:sp>
        <p:nvSpPr>
          <p:cNvPr id="3" name="Text 11.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11.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Same rules, </a:t>
            </a:r>
            <a:pPr algn="l" indent="0" marL="0">
              <a:lnSpc>
                <a:spcPts val="3600"/>
              </a:lnSpc>
              <a:buNone/>
            </a:pPr>
            <a:r>
              <a:rPr lang="en-US" sz="3400" i="1" spc="-41" kern="0" dirty="0">
                <a:solidFill>
                  <a:srgbClr val="7E48DE"/>
                </a:solidFill>
                <a:latin typeface="Georgia" pitchFamily="34" charset="0"/>
                <a:ea typeface="Georgia" pitchFamily="34" charset="-122"/>
                <a:cs typeface="Georgia" pitchFamily="34" charset="-120"/>
              </a:rPr>
              <a:t>different builds</a:t>
            </a:r>
            <a:endParaRPr lang="en-US" sz="3400" dirty="0"/>
          </a:p>
        </p:txBody>
      </p:sp>
      <p:sp>
        <p:nvSpPr>
          <p:cNvPr id="5" name="Text 11.4"/>
          <p:cNvSpPr txBox="1"/>
          <p:nvPr/>
        </p:nvSpPr>
        <p:spPr>
          <a:xfrm>
            <a:off x="609585" y="5575161"/>
            <a:ext cx="5948559"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FIG. 5 — Heavy, balanced and light builds of the same character. Concept render, AI-generated.</a:t>
            </a:r>
            <a:endParaRPr lang="en-US" sz="750" dirty="0"/>
          </a:p>
        </p:txBody>
      </p:sp>
      <p:sp>
        <p:nvSpPr>
          <p:cNvPr id="6" name="Text 11.5"/>
          <p:cNvSpPr txBox="1"/>
          <p:nvPr/>
        </p:nvSpPr>
        <p:spPr>
          <a:xfrm>
            <a:off x="6730832" y="1841454"/>
            <a:ext cx="4889378" cy="495288"/>
          </a:xfrm>
          <a:prstGeom prst="rect">
            <a:avLst/>
          </a:prstGeom>
          <a:noFill/>
          <a:ln/>
        </p:spPr>
        <p:txBody>
          <a:bodyPr wrap="square" lIns="0" tIns="0" rIns="0" bIns="0" rtlCol="0" anchor="t"/>
          <a:lstStyle/>
          <a:p>
            <a:pPr algn="l" indent="0" marL="0">
              <a:lnSpc>
                <a:spcPts val="1950"/>
              </a:lnSpc>
              <a:buNone/>
            </a:pPr>
            <a:r>
              <a:rPr lang="en-US" sz="1500" dirty="0">
                <a:solidFill>
                  <a:srgbClr val="14161B"/>
                </a:solidFill>
                <a:latin typeface="Georgia" pitchFamily="34" charset="0"/>
                <a:ea typeface="Georgia" pitchFamily="34" charset="-122"/>
                <a:cs typeface="Georgia" pitchFamily="34" charset="-120"/>
              </a:rPr>
              <a:t>Because mass is also ammunition, a build changes </a:t>
            </a:r>
            <a:pPr algn="l" indent="0" marL="0">
              <a:lnSpc>
                <a:spcPts val="1950"/>
              </a:lnSpc>
              <a:buNone/>
            </a:pPr>
            <a:r>
              <a:rPr lang="en-US" sz="1500" i="1" dirty="0">
                <a:solidFill>
                  <a:srgbClr val="7E48DE"/>
                </a:solidFill>
                <a:latin typeface="Georgia" pitchFamily="34" charset="0"/>
                <a:ea typeface="Georgia" pitchFamily="34" charset="-122"/>
                <a:cs typeface="Georgia" pitchFamily="34" charset="-120"/>
              </a:rPr>
              <a:t>how you play</a:t>
            </a:r>
            <a:pPr algn="l" indent="0" marL="0">
              <a:lnSpc>
                <a:spcPts val="1950"/>
              </a:lnSpc>
              <a:buNone/>
            </a:pPr>
            <a:r>
              <a:rPr lang="en-US" sz="1500" dirty="0">
                <a:solidFill>
                  <a:srgbClr val="14161B"/>
                </a:solidFill>
                <a:latin typeface="Georgia" pitchFamily="34" charset="0"/>
                <a:ea typeface="Georgia" pitchFamily="34" charset="-122"/>
                <a:cs typeface="Georgia" pitchFamily="34" charset="-120"/>
              </a:rPr>
              <a:t>, not only how you look.</a:t>
            </a:r>
            <a:endParaRPr lang="en-US" sz="1500" dirty="0"/>
          </a:p>
        </p:txBody>
      </p:sp>
      <p:sp>
        <p:nvSpPr>
          <p:cNvPr id="7" name="Text 11.6"/>
          <p:cNvSpPr txBox="1"/>
          <p:nvPr/>
        </p:nvSpPr>
        <p:spPr>
          <a:xfrm>
            <a:off x="6730832" y="2984425"/>
            <a:ext cx="4983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7E48DE"/>
                </a:solidFill>
                <a:latin typeface="Courier New" pitchFamily="34" charset="0"/>
                <a:ea typeface="Courier New" pitchFamily="34" charset="-122"/>
                <a:cs typeface="Courier New" pitchFamily="34" charset="-120"/>
              </a:rPr>
              <a:t>HEAVY</a:t>
            </a:r>
            <a:endParaRPr lang="en-US" sz="850" dirty="0"/>
          </a:p>
        </p:txBody>
      </p:sp>
      <p:sp>
        <p:nvSpPr>
          <p:cNvPr id="8" name="Text 11.7"/>
          <p:cNvSpPr txBox="1"/>
          <p:nvPr/>
        </p:nvSpPr>
        <p:spPr>
          <a:xfrm>
            <a:off x="6730832" y="3162221"/>
            <a:ext cx="2832029" cy="337732"/>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More starting mass: more shots, harder to push. Slower.</a:t>
            </a:r>
            <a:endParaRPr lang="en-US" sz="950" dirty="0"/>
          </a:p>
        </p:txBody>
      </p:sp>
      <p:sp>
        <p:nvSpPr>
          <p:cNvPr id="9" name="Text 11.8"/>
          <p:cNvSpPr txBox="1"/>
          <p:nvPr/>
        </p:nvSpPr>
        <p:spPr>
          <a:xfrm>
            <a:off x="9778756" y="3035224"/>
            <a:ext cx="314012"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MASS</a:t>
            </a:r>
            <a:endParaRPr lang="en-US" sz="750" dirty="0"/>
          </a:p>
        </p:txBody>
      </p:sp>
      <p:sp>
        <p:nvSpPr>
          <p:cNvPr id="10" name="Text 11.9"/>
          <p:cNvSpPr txBox="1"/>
          <p:nvPr/>
        </p:nvSpPr>
        <p:spPr>
          <a:xfrm>
            <a:off x="9778756" y="3238419"/>
            <a:ext cx="376587"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SPEED</a:t>
            </a:r>
            <a:endParaRPr lang="en-US" sz="750" dirty="0"/>
          </a:p>
        </p:txBody>
      </p:sp>
      <p:sp>
        <p:nvSpPr>
          <p:cNvPr id="11" name="Text 11.10"/>
          <p:cNvSpPr txBox="1"/>
          <p:nvPr/>
        </p:nvSpPr>
        <p:spPr>
          <a:xfrm>
            <a:off x="6730832" y="3848004"/>
            <a:ext cx="7592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BALANCED</a:t>
            </a:r>
            <a:endParaRPr lang="en-US" sz="850" dirty="0"/>
          </a:p>
        </p:txBody>
      </p:sp>
      <p:sp>
        <p:nvSpPr>
          <p:cNvPr id="12" name="Text 11.11"/>
          <p:cNvSpPr txBox="1"/>
          <p:nvPr/>
        </p:nvSpPr>
        <p:spPr>
          <a:xfrm>
            <a:off x="6730832" y="4025799"/>
            <a:ext cx="2832029" cy="337732"/>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The reference build every other one is tuned against.</a:t>
            </a:r>
            <a:endParaRPr lang="en-US" sz="950" dirty="0"/>
          </a:p>
        </p:txBody>
      </p:sp>
      <p:sp>
        <p:nvSpPr>
          <p:cNvPr id="13" name="Text 11.12"/>
          <p:cNvSpPr txBox="1"/>
          <p:nvPr/>
        </p:nvSpPr>
        <p:spPr>
          <a:xfrm>
            <a:off x="9778756" y="3898803"/>
            <a:ext cx="314012"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MASS</a:t>
            </a:r>
            <a:endParaRPr lang="en-US" sz="750" dirty="0"/>
          </a:p>
        </p:txBody>
      </p:sp>
      <p:sp>
        <p:nvSpPr>
          <p:cNvPr id="14" name="Text 11.13"/>
          <p:cNvSpPr txBox="1"/>
          <p:nvPr/>
        </p:nvSpPr>
        <p:spPr>
          <a:xfrm>
            <a:off x="9778756" y="4101997"/>
            <a:ext cx="376587"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SPEED</a:t>
            </a:r>
            <a:endParaRPr lang="en-US" sz="750" dirty="0"/>
          </a:p>
        </p:txBody>
      </p:sp>
      <p:sp>
        <p:nvSpPr>
          <p:cNvPr id="15" name="Text 11.14"/>
          <p:cNvSpPr txBox="1"/>
          <p:nvPr/>
        </p:nvSpPr>
        <p:spPr>
          <a:xfrm>
            <a:off x="6730832" y="4711582"/>
            <a:ext cx="4983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38B03A"/>
                </a:solidFill>
                <a:latin typeface="Courier New" pitchFamily="34" charset="0"/>
                <a:ea typeface="Courier New" pitchFamily="34" charset="-122"/>
                <a:cs typeface="Courier New" pitchFamily="34" charset="-120"/>
              </a:rPr>
              <a:t>LIGHT</a:t>
            </a:r>
            <a:endParaRPr lang="en-US" sz="850" dirty="0"/>
          </a:p>
        </p:txBody>
      </p:sp>
      <p:sp>
        <p:nvSpPr>
          <p:cNvPr id="16" name="Text 11.15"/>
          <p:cNvSpPr txBox="1"/>
          <p:nvPr/>
        </p:nvSpPr>
        <p:spPr>
          <a:xfrm>
            <a:off x="6730832" y="4889378"/>
            <a:ext cx="2832029" cy="337732"/>
          </a:xfrm>
          <a:prstGeom prst="rect">
            <a:avLst/>
          </a:prstGeom>
          <a:noFill/>
          <a:ln/>
        </p:spPr>
        <p:txBody>
          <a:bodyPr wrap="square" lIns="0" tIns="0" rIns="0" bIns="0" rtlCol="0" anchor="t"/>
          <a:lstStyle/>
          <a:p>
            <a:pPr algn="l" indent="0" marL="0">
              <a:lnSpc>
                <a:spcPts val="1330"/>
              </a:lnSpc>
              <a:buNone/>
            </a:pPr>
            <a:r>
              <a:rPr lang="en-US" sz="950" dirty="0">
                <a:solidFill>
                  <a:srgbClr val="646973"/>
                </a:solidFill>
                <a:latin typeface="Arial" pitchFamily="34" charset="0"/>
                <a:ea typeface="Arial" pitchFamily="34" charset="-122"/>
                <a:cs typeface="Arial" pitchFamily="34" charset="-120"/>
              </a:rPr>
              <a:t>Less starting mass: fewer shots, flies further when hit. Faster.</a:t>
            </a:r>
            <a:endParaRPr lang="en-US" sz="950" dirty="0"/>
          </a:p>
        </p:txBody>
      </p:sp>
      <p:sp>
        <p:nvSpPr>
          <p:cNvPr id="17" name="Text 11.16"/>
          <p:cNvSpPr txBox="1"/>
          <p:nvPr/>
        </p:nvSpPr>
        <p:spPr>
          <a:xfrm>
            <a:off x="9778756" y="4762381"/>
            <a:ext cx="314012"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MASS</a:t>
            </a:r>
            <a:endParaRPr lang="en-US" sz="750" dirty="0"/>
          </a:p>
        </p:txBody>
      </p:sp>
      <p:sp>
        <p:nvSpPr>
          <p:cNvPr id="18" name="Text 11.17"/>
          <p:cNvSpPr txBox="1"/>
          <p:nvPr/>
        </p:nvSpPr>
        <p:spPr>
          <a:xfrm>
            <a:off x="9778756" y="4965576"/>
            <a:ext cx="376587"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SPEED</a:t>
            </a:r>
            <a:endParaRPr lang="en-US" sz="750" dirty="0"/>
          </a:p>
        </p:txBody>
      </p:sp>
      <p:sp>
        <p:nvSpPr>
          <p:cNvPr id="19" name="Text 11.18"/>
          <p:cNvSpPr txBox="1"/>
          <p:nvPr/>
        </p:nvSpPr>
        <p:spPr>
          <a:xfrm>
            <a:off x="6730832" y="5460863"/>
            <a:ext cx="4889378" cy="331382"/>
          </a:xfrm>
          <a:prstGeom prst="rect">
            <a:avLst/>
          </a:prstGeom>
          <a:noFill/>
          <a:ln/>
        </p:spPr>
        <p:txBody>
          <a:bodyPr wrap="square" lIns="0" tIns="0" rIns="0" bIns="0" rtlCol="0" anchor="t"/>
          <a:lstStyle/>
          <a:p>
            <a:pPr algn="l" indent="0" marL="0">
              <a:lnSpc>
                <a:spcPts val="1310"/>
              </a:lnSpc>
              <a:buNone/>
            </a:pPr>
            <a:r>
              <a:rPr lang="en-US" sz="900" i="1" dirty="0">
                <a:solidFill>
                  <a:srgbClr val="646973"/>
                </a:solidFill>
                <a:latin typeface="Georgia" pitchFamily="34" charset="0"/>
                <a:ea typeface="Georgia" pitchFamily="34" charset="-122"/>
                <a:cs typeface="Georgia" pitchFamily="34" charset="-120"/>
              </a:rPr>
              <a:t>Weight classes are standard in the genre (e.g. Mario Kart). The twist is that weight is also ammunition. Bars are illustrative; stats are designed after the MVP.</a:t>
            </a:r>
            <a:endParaRPr lang="en-US" sz="900" dirty="0"/>
          </a:p>
        </p:txBody>
      </p:sp>
      <p:sp>
        <p:nvSpPr>
          <p:cNvPr id="20" name="Text 11.19"/>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11</a:t>
            </a:r>
            <a:endParaRPr lang="en-US" sz="7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2.1"/>
          <p:cNvSpPr txBox="1"/>
          <p:nvPr/>
        </p:nvSpPr>
        <p:spPr>
          <a:xfrm>
            <a:off x="609585" y="355591"/>
            <a:ext cx="144489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B794FF"/>
                </a:solidFill>
                <a:latin typeface="Courier New" pitchFamily="34" charset="0"/>
                <a:ea typeface="Courier New" pitchFamily="34" charset="-122"/>
                <a:cs typeface="Courier New" pitchFamily="34" charset="-120"/>
              </a:rPr>
              <a:t>08 — INNOVATION</a:t>
            </a:r>
            <a:endParaRPr lang="en-US" sz="900" dirty="0"/>
          </a:p>
        </p:txBody>
      </p:sp>
      <p:sp>
        <p:nvSpPr>
          <p:cNvPr id="3" name="Text 12.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AEB8CC"/>
                </a:solidFill>
                <a:latin typeface="Courier New" pitchFamily="34" charset="0"/>
                <a:ea typeface="Courier New" pitchFamily="34" charset="-122"/>
                <a:cs typeface="Courier New" pitchFamily="34" charset="-120"/>
              </a:rPr>
              <a:t>ICE RUMBLE / PROPOSAL</a:t>
            </a:r>
            <a:endParaRPr lang="en-US" sz="800" dirty="0"/>
          </a:p>
        </p:txBody>
      </p:sp>
      <p:sp>
        <p:nvSpPr>
          <p:cNvPr id="4" name="Text 12.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FFFFFF"/>
                </a:solidFill>
                <a:latin typeface="Georgia" pitchFamily="34" charset="0"/>
                <a:ea typeface="Georgia" pitchFamily="34" charset="-122"/>
                <a:cs typeface="Georgia" pitchFamily="34" charset="-120"/>
              </a:rPr>
              <a:t>No game we found ties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knockback to lost mass</a:t>
            </a:r>
            <a:endParaRPr lang="en-US" sz="3400" dirty="0"/>
          </a:p>
        </p:txBody>
      </p:sp>
      <p:sp>
        <p:nvSpPr>
          <p:cNvPr id="5" name="Text 12.4"/>
          <p:cNvSpPr txBox="1"/>
          <p:nvPr/>
        </p:nvSpPr>
        <p:spPr>
          <a:xfrm>
            <a:off x="1168371" y="1968451"/>
            <a:ext cx="7592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01 SPEND</a:t>
            </a:r>
            <a:endParaRPr lang="en-US" sz="850" dirty="0"/>
          </a:p>
        </p:txBody>
      </p:sp>
      <p:sp>
        <p:nvSpPr>
          <p:cNvPr id="6" name="Text 12.5"/>
          <p:cNvSpPr txBox="1"/>
          <p:nvPr/>
        </p:nvSpPr>
        <p:spPr>
          <a:xfrm>
            <a:off x="1168371" y="2158946"/>
            <a:ext cx="2614589" cy="173351"/>
          </a:xfrm>
          <a:prstGeom prst="rect">
            <a:avLst/>
          </a:prstGeom>
          <a:noFill/>
          <a:ln/>
        </p:spPr>
        <p:txBody>
          <a:bodyPr wrap="square" lIns="0" tIns="0" rIns="0" bIns="0" rtlCol="0" anchor="t"/>
          <a:lstStyle/>
          <a:p>
            <a:pPr algn="l" indent="0" marL="0">
              <a:lnSpc>
                <a:spcPts val="1370"/>
              </a:lnSpc>
              <a:buNone/>
            </a:pPr>
            <a:r>
              <a:rPr lang="en-US" sz="1050" dirty="0">
                <a:solidFill>
                  <a:srgbClr val="E3E8F2"/>
                </a:solidFill>
                <a:latin typeface="Arial" pitchFamily="34" charset="0"/>
                <a:ea typeface="Arial" pitchFamily="34" charset="-122"/>
                <a:cs typeface="Arial" pitchFamily="34" charset="-120"/>
              </a:rPr>
              <a:t>Shooting spits out part of your own body.</a:t>
            </a:r>
            <a:endParaRPr lang="en-US" sz="1050" dirty="0"/>
          </a:p>
        </p:txBody>
      </p:sp>
      <p:sp>
        <p:nvSpPr>
          <p:cNvPr id="7" name="Text 12.6"/>
          <p:cNvSpPr txBox="1"/>
          <p:nvPr/>
        </p:nvSpPr>
        <p:spPr>
          <a:xfrm>
            <a:off x="1168371" y="2857429"/>
            <a:ext cx="7592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02 DRAIN</a:t>
            </a:r>
            <a:endParaRPr lang="en-US" sz="850" dirty="0"/>
          </a:p>
        </p:txBody>
      </p:sp>
      <p:sp>
        <p:nvSpPr>
          <p:cNvPr id="8" name="Text 12.7"/>
          <p:cNvSpPr txBox="1"/>
          <p:nvPr/>
        </p:nvSpPr>
        <p:spPr>
          <a:xfrm>
            <a:off x="1168371" y="3047924"/>
            <a:ext cx="2530348" cy="173351"/>
          </a:xfrm>
          <a:prstGeom prst="rect">
            <a:avLst/>
          </a:prstGeom>
          <a:noFill/>
          <a:ln/>
        </p:spPr>
        <p:txBody>
          <a:bodyPr wrap="square" lIns="0" tIns="0" rIns="0" bIns="0" rtlCol="0" anchor="t"/>
          <a:lstStyle/>
          <a:p>
            <a:pPr algn="l" indent="0" marL="0">
              <a:lnSpc>
                <a:spcPts val="1370"/>
              </a:lnSpc>
              <a:buNone/>
            </a:pPr>
            <a:r>
              <a:rPr lang="en-US" sz="1050" dirty="0">
                <a:solidFill>
                  <a:srgbClr val="E3E8F2"/>
                </a:solidFill>
                <a:latin typeface="Arial" pitchFamily="34" charset="0"/>
                <a:ea typeface="Arial" pitchFamily="34" charset="-122"/>
                <a:cs typeface="Arial" pitchFamily="34" charset="-120"/>
              </a:rPr>
              <a:t>Every hit you take removes body mass.</a:t>
            </a:r>
            <a:endParaRPr lang="en-US" sz="1050" dirty="0"/>
          </a:p>
        </p:txBody>
      </p:sp>
      <p:sp>
        <p:nvSpPr>
          <p:cNvPr id="9" name="Text 12.8"/>
          <p:cNvSpPr txBox="1"/>
          <p:nvPr/>
        </p:nvSpPr>
        <p:spPr>
          <a:xfrm>
            <a:off x="1168371" y="3746406"/>
            <a:ext cx="11071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03 ONE VALUE</a:t>
            </a:r>
            <a:endParaRPr lang="en-US" sz="850" dirty="0"/>
          </a:p>
        </p:txBody>
      </p:sp>
      <p:sp>
        <p:nvSpPr>
          <p:cNvPr id="10" name="Text 12.9"/>
          <p:cNvSpPr txBox="1"/>
          <p:nvPr/>
        </p:nvSpPr>
        <p:spPr>
          <a:xfrm>
            <a:off x="1168371" y="3936902"/>
            <a:ext cx="2679583" cy="173351"/>
          </a:xfrm>
          <a:prstGeom prst="rect">
            <a:avLst/>
          </a:prstGeom>
          <a:noFill/>
          <a:ln/>
        </p:spPr>
        <p:txBody>
          <a:bodyPr wrap="square" lIns="0" tIns="0" rIns="0" bIns="0" rtlCol="0" anchor="t"/>
          <a:lstStyle/>
          <a:p>
            <a:pPr algn="l" indent="0" marL="0">
              <a:lnSpc>
                <a:spcPts val="1370"/>
              </a:lnSpc>
              <a:buNone/>
            </a:pPr>
            <a:r>
              <a:rPr lang="en-US" sz="1050" dirty="0">
                <a:solidFill>
                  <a:srgbClr val="E3E8F2"/>
                </a:solidFill>
                <a:latin typeface="Arial" pitchFamily="34" charset="0"/>
                <a:ea typeface="Arial" pitchFamily="34" charset="-122"/>
                <a:cs typeface="Arial" pitchFamily="34" charset="-120"/>
              </a:rPr>
              <a:t>That mass is your size, ammo and health.</a:t>
            </a:r>
            <a:endParaRPr lang="en-US" sz="1050" dirty="0"/>
          </a:p>
        </p:txBody>
      </p:sp>
      <p:sp>
        <p:nvSpPr>
          <p:cNvPr id="11" name="Text 12.10"/>
          <p:cNvSpPr txBox="1"/>
          <p:nvPr/>
        </p:nvSpPr>
        <p:spPr>
          <a:xfrm>
            <a:off x="1168371" y="4635384"/>
            <a:ext cx="2759722"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FFFF"/>
                </a:solidFill>
                <a:latin typeface="Courier New" pitchFamily="34" charset="0"/>
                <a:ea typeface="Courier New" pitchFamily="34" charset="-122"/>
                <a:cs typeface="Courier New" pitchFamily="34" charset="-120"/>
              </a:rPr>
              <a:t>04 LAUNCH — NOT FOUND ELSEWHERE</a:t>
            </a:r>
            <a:endParaRPr lang="en-US" sz="850" dirty="0"/>
          </a:p>
        </p:txBody>
      </p:sp>
      <p:sp>
        <p:nvSpPr>
          <p:cNvPr id="12" name="Text 12.11"/>
          <p:cNvSpPr txBox="1"/>
          <p:nvPr/>
        </p:nvSpPr>
        <p:spPr>
          <a:xfrm>
            <a:off x="1168371" y="4825879"/>
            <a:ext cx="2962173" cy="173351"/>
          </a:xfrm>
          <a:prstGeom prst="rect">
            <a:avLst/>
          </a:prstGeom>
          <a:noFill/>
          <a:ln/>
        </p:spPr>
        <p:txBody>
          <a:bodyPr wrap="square" lIns="0" tIns="0" rIns="0" bIns="0" rtlCol="0" anchor="t"/>
          <a:lstStyle/>
          <a:p>
            <a:pPr algn="l" indent="0" marL="0">
              <a:lnSpc>
                <a:spcPts val="1370"/>
              </a:lnSpc>
              <a:buNone/>
            </a:pPr>
            <a:r>
              <a:rPr lang="en-US" sz="1050" b="1" dirty="0">
                <a:solidFill>
                  <a:srgbClr val="FFFFFF"/>
                </a:solidFill>
                <a:latin typeface="Arial" pitchFamily="34" charset="0"/>
                <a:ea typeface="Arial" pitchFamily="34" charset="-122"/>
                <a:cs typeface="Arial" pitchFamily="34" charset="-120"/>
              </a:rPr>
              <a:t>Less mass: the same hit sends you further.</a:t>
            </a:r>
            <a:endParaRPr lang="en-US" sz="1050" dirty="0"/>
          </a:p>
        </p:txBody>
      </p:sp>
      <p:sp>
        <p:nvSpPr>
          <p:cNvPr id="13" name="Text 12.12"/>
          <p:cNvSpPr txBox="1"/>
          <p:nvPr/>
        </p:nvSpPr>
        <p:spPr>
          <a:xfrm>
            <a:off x="5079873" y="1879553"/>
            <a:ext cx="4113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AEB8CC"/>
                </a:solidFill>
                <a:latin typeface="Courier New" pitchFamily="34" charset="0"/>
                <a:ea typeface="Courier New" pitchFamily="34" charset="-122"/>
                <a:cs typeface="Courier New" pitchFamily="34" charset="-120"/>
              </a:rPr>
              <a:t>LINK</a:t>
            </a:r>
            <a:endParaRPr lang="en-US" sz="850" dirty="0"/>
          </a:p>
        </p:txBody>
      </p:sp>
      <p:sp>
        <p:nvSpPr>
          <p:cNvPr id="14" name="Text 12.13"/>
          <p:cNvSpPr txBox="1"/>
          <p:nvPr/>
        </p:nvSpPr>
        <p:spPr>
          <a:xfrm>
            <a:off x="7048324" y="1879553"/>
            <a:ext cx="15420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AEB8CC"/>
                </a:solidFill>
                <a:latin typeface="Courier New" pitchFamily="34" charset="0"/>
                <a:ea typeface="Courier New" pitchFamily="34" charset="-122"/>
                <a:cs typeface="Courier New" pitchFamily="34" charset="-120"/>
              </a:rPr>
              <a:t>CLOSEST PRIOR ART</a:t>
            </a:r>
            <a:endParaRPr lang="en-US" sz="850" dirty="0"/>
          </a:p>
        </p:txBody>
      </p:sp>
      <p:sp>
        <p:nvSpPr>
          <p:cNvPr id="15" name="Text 12.14"/>
          <p:cNvSpPr txBox="1"/>
          <p:nvPr/>
        </p:nvSpPr>
        <p:spPr>
          <a:xfrm>
            <a:off x="10413740" y="1879553"/>
            <a:ext cx="58534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AEB8CC"/>
                </a:solidFill>
                <a:latin typeface="Courier New" pitchFamily="34" charset="0"/>
                <a:ea typeface="Courier New" pitchFamily="34" charset="-122"/>
                <a:cs typeface="Courier New" pitchFamily="34" charset="-120"/>
              </a:rPr>
              <a:t>STATUS</a:t>
            </a:r>
            <a:endParaRPr lang="en-US" sz="850" dirty="0"/>
          </a:p>
        </p:txBody>
      </p:sp>
      <p:sp>
        <p:nvSpPr>
          <p:cNvPr id="16" name="Text 12.15"/>
          <p:cNvSpPr txBox="1"/>
          <p:nvPr/>
        </p:nvSpPr>
        <p:spPr>
          <a:xfrm>
            <a:off x="5079873" y="2235144"/>
            <a:ext cx="1816055" cy="165096"/>
          </a:xfrm>
          <a:prstGeom prst="rect">
            <a:avLst/>
          </a:prstGeom>
          <a:noFill/>
          <a:ln/>
        </p:spPr>
        <p:txBody>
          <a:bodyPr wrap="square" lIns="0" tIns="0" rIns="0" bIns="0" rtlCol="0" anchor="t"/>
          <a:lstStyle/>
          <a:p>
            <a:pPr algn="l" indent="0" marL="0">
              <a:lnSpc>
                <a:spcPts val="1300"/>
              </a:lnSpc>
              <a:buNone/>
            </a:pPr>
            <a:r>
              <a:rPr lang="en-US" sz="1000" b="1" dirty="0">
                <a:solidFill>
                  <a:srgbClr val="FFFFFF"/>
                </a:solidFill>
                <a:latin typeface="Arial" pitchFamily="34" charset="0"/>
                <a:ea typeface="Arial" pitchFamily="34" charset="-122"/>
                <a:cs typeface="Arial" pitchFamily="34" charset="-120"/>
              </a:rPr>
              <a:t>01 Spend your body</a:t>
            </a:r>
            <a:endParaRPr lang="en-US" sz="1000" dirty="0"/>
          </a:p>
        </p:txBody>
      </p:sp>
      <p:sp>
        <p:nvSpPr>
          <p:cNvPr id="17" name="Text 12.16"/>
          <p:cNvSpPr txBox="1"/>
          <p:nvPr/>
        </p:nvSpPr>
        <p:spPr>
          <a:xfrm>
            <a:off x="7048324" y="2235144"/>
            <a:ext cx="3213020" cy="319873"/>
          </a:xfrm>
          <a:prstGeom prst="rect">
            <a:avLst/>
          </a:prstGeom>
          <a:noFill/>
          <a:ln/>
        </p:spPr>
        <p:txBody>
          <a:bodyPr wrap="square" lIns="0" tIns="0" rIns="0" bIns="0" rtlCol="0" anchor="t"/>
          <a:lstStyle/>
          <a:p>
            <a:pPr algn="l" indent="0" marL="0">
              <a:lnSpc>
                <a:spcPts val="1260"/>
              </a:lnSpc>
              <a:buNone/>
            </a:pPr>
            <a:r>
              <a:rPr lang="en-US" sz="900" dirty="0">
                <a:solidFill>
                  <a:srgbClr val="AEB8CC"/>
                </a:solidFill>
                <a:latin typeface="Arial" pitchFamily="34" charset="0"/>
                <a:ea typeface="Arial" pitchFamily="34" charset="-122"/>
                <a:cs typeface="Arial" pitchFamily="34" charset="-120"/>
              </a:rPr>
              <a:t>Osmos ejects its own matter to move, not to attack. Agar.io ejects mass.</a:t>
            </a:r>
            <a:endParaRPr lang="en-US" sz="900" dirty="0"/>
          </a:p>
        </p:txBody>
      </p:sp>
      <p:sp>
        <p:nvSpPr>
          <p:cNvPr id="18" name="Text 12.17"/>
          <p:cNvSpPr txBox="1"/>
          <p:nvPr/>
        </p:nvSpPr>
        <p:spPr>
          <a:xfrm>
            <a:off x="10413740" y="2260543"/>
            <a:ext cx="11941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AEB8CC"/>
                </a:solidFill>
                <a:latin typeface="Courier New" pitchFamily="34" charset="0"/>
                <a:ea typeface="Courier New" pitchFamily="34" charset="-122"/>
                <a:cs typeface="Courier New" pitchFamily="34" charset="-120"/>
              </a:rPr>
              <a:t>DIFFERENT USE</a:t>
            </a:r>
            <a:endParaRPr lang="en-US" sz="850" dirty="0"/>
          </a:p>
        </p:txBody>
      </p:sp>
      <p:sp>
        <p:nvSpPr>
          <p:cNvPr id="19" name="Text 12.18"/>
          <p:cNvSpPr txBox="1"/>
          <p:nvPr/>
        </p:nvSpPr>
        <p:spPr>
          <a:xfrm>
            <a:off x="5079873" y="2933627"/>
            <a:ext cx="1816055" cy="165096"/>
          </a:xfrm>
          <a:prstGeom prst="rect">
            <a:avLst/>
          </a:prstGeom>
          <a:noFill/>
          <a:ln/>
        </p:spPr>
        <p:txBody>
          <a:bodyPr wrap="square" lIns="0" tIns="0" rIns="0" bIns="0" rtlCol="0" anchor="t"/>
          <a:lstStyle/>
          <a:p>
            <a:pPr algn="l" indent="0" marL="0">
              <a:lnSpc>
                <a:spcPts val="1300"/>
              </a:lnSpc>
              <a:buNone/>
            </a:pPr>
            <a:r>
              <a:rPr lang="en-US" sz="1000" b="1" dirty="0">
                <a:solidFill>
                  <a:srgbClr val="FFFFFF"/>
                </a:solidFill>
                <a:latin typeface="Arial" pitchFamily="34" charset="0"/>
                <a:ea typeface="Arial" pitchFamily="34" charset="-122"/>
                <a:cs typeface="Arial" pitchFamily="34" charset="-120"/>
              </a:rPr>
              <a:t>02 Hits shrink you</a:t>
            </a:r>
            <a:endParaRPr lang="en-US" sz="1000" dirty="0"/>
          </a:p>
        </p:txBody>
      </p:sp>
      <p:sp>
        <p:nvSpPr>
          <p:cNvPr id="20" name="Text 12.19"/>
          <p:cNvSpPr txBox="1"/>
          <p:nvPr/>
        </p:nvSpPr>
        <p:spPr>
          <a:xfrm>
            <a:off x="7048324" y="2933627"/>
            <a:ext cx="3213020" cy="319873"/>
          </a:xfrm>
          <a:prstGeom prst="rect">
            <a:avLst/>
          </a:prstGeom>
          <a:noFill/>
          <a:ln/>
        </p:spPr>
        <p:txBody>
          <a:bodyPr wrap="square" lIns="0" tIns="0" rIns="0" bIns="0" rtlCol="0" anchor="t"/>
          <a:lstStyle/>
          <a:p>
            <a:pPr algn="l" indent="0" marL="0">
              <a:lnSpc>
                <a:spcPts val="1260"/>
              </a:lnSpc>
              <a:buNone/>
            </a:pPr>
            <a:r>
              <a:rPr lang="en-US" sz="900" dirty="0">
                <a:solidFill>
                  <a:srgbClr val="AEB8CC"/>
                </a:solidFill>
                <a:latin typeface="Arial" pitchFamily="34" charset="0"/>
                <a:ea typeface="Arial" pitchFamily="34" charset="-122"/>
                <a:cs typeface="Arial" pitchFamily="34" charset="-120"/>
              </a:rPr>
              <a:t>Squarena (2D): lower health, smaller body. Morphies Law: hits move mass between robots.</a:t>
            </a:r>
            <a:endParaRPr lang="en-US" sz="900" dirty="0"/>
          </a:p>
        </p:txBody>
      </p:sp>
      <p:sp>
        <p:nvSpPr>
          <p:cNvPr id="21" name="Text 12.20"/>
          <p:cNvSpPr txBox="1"/>
          <p:nvPr/>
        </p:nvSpPr>
        <p:spPr>
          <a:xfrm>
            <a:off x="10413740" y="2959026"/>
            <a:ext cx="8462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AEB8CC"/>
                </a:solidFill>
                <a:latin typeface="Courier New" pitchFamily="34" charset="0"/>
                <a:ea typeface="Courier New" pitchFamily="34" charset="-122"/>
                <a:cs typeface="Courier New" pitchFamily="34" charset="-120"/>
              </a:rPr>
              <a:t>PRECEDENT</a:t>
            </a:r>
            <a:endParaRPr lang="en-US" sz="850" dirty="0"/>
          </a:p>
        </p:txBody>
      </p:sp>
      <p:sp>
        <p:nvSpPr>
          <p:cNvPr id="22" name="Text 12.21"/>
          <p:cNvSpPr txBox="1"/>
          <p:nvPr/>
        </p:nvSpPr>
        <p:spPr>
          <a:xfrm>
            <a:off x="5079873" y="3632109"/>
            <a:ext cx="1816055" cy="165096"/>
          </a:xfrm>
          <a:prstGeom prst="rect">
            <a:avLst/>
          </a:prstGeom>
          <a:noFill/>
          <a:ln/>
        </p:spPr>
        <p:txBody>
          <a:bodyPr wrap="square" lIns="0" tIns="0" rIns="0" bIns="0" rtlCol="0" anchor="t"/>
          <a:lstStyle/>
          <a:p>
            <a:pPr algn="l" indent="0" marL="0">
              <a:lnSpc>
                <a:spcPts val="1300"/>
              </a:lnSpc>
              <a:buNone/>
            </a:pPr>
            <a:r>
              <a:rPr lang="en-US" sz="1000" b="1" dirty="0">
                <a:solidFill>
                  <a:srgbClr val="FFFFFF"/>
                </a:solidFill>
                <a:latin typeface="Arial" pitchFamily="34" charset="0"/>
                <a:ea typeface="Arial" pitchFamily="34" charset="-122"/>
                <a:cs typeface="Arial" pitchFamily="34" charset="-120"/>
              </a:rPr>
              <a:t>03 Attack costs health</a:t>
            </a:r>
            <a:endParaRPr lang="en-US" sz="1000" dirty="0"/>
          </a:p>
        </p:txBody>
      </p:sp>
      <p:sp>
        <p:nvSpPr>
          <p:cNvPr id="23" name="Text 12.22"/>
          <p:cNvSpPr txBox="1"/>
          <p:nvPr/>
        </p:nvSpPr>
        <p:spPr>
          <a:xfrm>
            <a:off x="7048324" y="3632109"/>
            <a:ext cx="3213020" cy="319873"/>
          </a:xfrm>
          <a:prstGeom prst="rect">
            <a:avLst/>
          </a:prstGeom>
          <a:noFill/>
          <a:ln/>
        </p:spPr>
        <p:txBody>
          <a:bodyPr wrap="square" lIns="0" tIns="0" rIns="0" bIns="0" rtlCol="0" anchor="t"/>
          <a:lstStyle/>
          <a:p>
            <a:pPr algn="l" indent="0" marL="0">
              <a:lnSpc>
                <a:spcPts val="1260"/>
              </a:lnSpc>
              <a:buNone/>
            </a:pPr>
            <a:r>
              <a:rPr lang="en-US" sz="900" dirty="0">
                <a:solidFill>
                  <a:srgbClr val="AEB8CC"/>
                </a:solidFill>
                <a:latin typeface="Arial" pitchFamily="34" charset="0"/>
                <a:ea typeface="Arial" pitchFamily="34" charset="-122"/>
                <a:cs typeface="Arial" pitchFamily="34" charset="-120"/>
              </a:rPr>
              <a:t>Crisol: Theater of Idols spends your blood as ammo. Not physical mass.</a:t>
            </a:r>
            <a:endParaRPr lang="en-US" sz="900" dirty="0"/>
          </a:p>
        </p:txBody>
      </p:sp>
      <p:sp>
        <p:nvSpPr>
          <p:cNvPr id="24" name="Text 12.23"/>
          <p:cNvSpPr txBox="1"/>
          <p:nvPr/>
        </p:nvSpPr>
        <p:spPr>
          <a:xfrm>
            <a:off x="10413740" y="3657509"/>
            <a:ext cx="8462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AEB8CC"/>
                </a:solidFill>
                <a:latin typeface="Courier New" pitchFamily="34" charset="0"/>
                <a:ea typeface="Courier New" pitchFamily="34" charset="-122"/>
                <a:cs typeface="Courier New" pitchFamily="34" charset="-120"/>
              </a:rPr>
              <a:t>PRECEDENT</a:t>
            </a:r>
            <a:endParaRPr lang="en-US" sz="850" dirty="0"/>
          </a:p>
        </p:txBody>
      </p:sp>
      <p:sp>
        <p:nvSpPr>
          <p:cNvPr id="25" name="Text 12.24"/>
          <p:cNvSpPr txBox="1"/>
          <p:nvPr/>
        </p:nvSpPr>
        <p:spPr>
          <a:xfrm>
            <a:off x="5079873" y="4330592"/>
            <a:ext cx="1816055" cy="165096"/>
          </a:xfrm>
          <a:prstGeom prst="rect">
            <a:avLst/>
          </a:prstGeom>
          <a:noFill/>
          <a:ln/>
        </p:spPr>
        <p:txBody>
          <a:bodyPr wrap="square" lIns="0" tIns="0" rIns="0" bIns="0" rtlCol="0" anchor="t"/>
          <a:lstStyle/>
          <a:p>
            <a:pPr algn="l" indent="0" marL="0">
              <a:lnSpc>
                <a:spcPts val="1300"/>
              </a:lnSpc>
              <a:buNone/>
            </a:pPr>
            <a:r>
              <a:rPr lang="en-US" sz="1000" b="1" dirty="0">
                <a:solidFill>
                  <a:srgbClr val="FF5A1F"/>
                </a:solidFill>
                <a:latin typeface="Arial" pitchFamily="34" charset="0"/>
                <a:ea typeface="Arial" pitchFamily="34" charset="-122"/>
                <a:cs typeface="Arial" pitchFamily="34" charset="-120"/>
              </a:rPr>
              <a:t>04 Lighter, launched further</a:t>
            </a:r>
            <a:endParaRPr lang="en-US" sz="1000" dirty="0"/>
          </a:p>
        </p:txBody>
      </p:sp>
      <p:sp>
        <p:nvSpPr>
          <p:cNvPr id="26" name="Text 12.25"/>
          <p:cNvSpPr txBox="1"/>
          <p:nvPr/>
        </p:nvSpPr>
        <p:spPr>
          <a:xfrm>
            <a:off x="7048324" y="4330592"/>
            <a:ext cx="3213020" cy="319873"/>
          </a:xfrm>
          <a:prstGeom prst="rect">
            <a:avLst/>
          </a:prstGeom>
          <a:noFill/>
          <a:ln/>
        </p:spPr>
        <p:txBody>
          <a:bodyPr wrap="square" lIns="0" tIns="0" rIns="0" bIns="0" rtlCol="0" anchor="t"/>
          <a:lstStyle/>
          <a:p>
            <a:pPr algn="l" indent="0" marL="0">
              <a:lnSpc>
                <a:spcPts val="1260"/>
              </a:lnSpc>
              <a:buNone/>
            </a:pPr>
            <a:r>
              <a:rPr lang="en-US" sz="900" dirty="0">
                <a:solidFill>
                  <a:srgbClr val="AEB8CC"/>
                </a:solidFill>
                <a:latin typeface="Arial" pitchFamily="34" charset="0"/>
                <a:ea typeface="Arial" pitchFamily="34" charset="-122"/>
                <a:cs typeface="Arial" pitchFamily="34" charset="-120"/>
              </a:rPr>
              <a:t>Not found. Smash Bros. raises knockback with a damage % counter; Squarena’s small bodies feel more of their own recoil.</a:t>
            </a:r>
            <a:endParaRPr lang="en-US" sz="900" dirty="0"/>
          </a:p>
        </p:txBody>
      </p:sp>
      <p:sp>
        <p:nvSpPr>
          <p:cNvPr id="27" name="Text 12.26"/>
          <p:cNvSpPr txBox="1"/>
          <p:nvPr/>
        </p:nvSpPr>
        <p:spPr>
          <a:xfrm>
            <a:off x="10413740" y="4355991"/>
            <a:ext cx="8462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NOT FOUND</a:t>
            </a:r>
            <a:endParaRPr lang="en-US" sz="850" dirty="0"/>
          </a:p>
        </p:txBody>
      </p:sp>
      <p:sp>
        <p:nvSpPr>
          <p:cNvPr id="28" name="Text 12.27"/>
          <p:cNvSpPr txBox="1"/>
          <p:nvPr/>
        </p:nvSpPr>
        <p:spPr>
          <a:xfrm>
            <a:off x="5079873" y="5194170"/>
            <a:ext cx="1816055" cy="165096"/>
          </a:xfrm>
          <a:prstGeom prst="rect">
            <a:avLst/>
          </a:prstGeom>
          <a:noFill/>
          <a:ln/>
        </p:spPr>
        <p:txBody>
          <a:bodyPr wrap="square" lIns="0" tIns="0" rIns="0" bIns="0" rtlCol="0" anchor="t"/>
          <a:lstStyle/>
          <a:p>
            <a:pPr algn="l" indent="0" marL="0">
              <a:lnSpc>
                <a:spcPts val="1300"/>
              </a:lnSpc>
              <a:buNone/>
            </a:pPr>
            <a:r>
              <a:rPr lang="en-US" sz="1000" b="1" dirty="0">
                <a:solidFill>
                  <a:srgbClr val="FF5A1F"/>
                </a:solidFill>
                <a:latin typeface="Arial" pitchFamily="34" charset="0"/>
                <a:ea typeface="Arial" pitchFamily="34" charset="-122"/>
                <a:cs typeface="Arial" pitchFamily="34" charset="-120"/>
              </a:rPr>
              <a:t>01–04 together, in 3D</a:t>
            </a:r>
            <a:endParaRPr lang="en-US" sz="1000" dirty="0"/>
          </a:p>
        </p:txBody>
      </p:sp>
      <p:sp>
        <p:nvSpPr>
          <p:cNvPr id="29" name="Text 12.28"/>
          <p:cNvSpPr txBox="1"/>
          <p:nvPr/>
        </p:nvSpPr>
        <p:spPr>
          <a:xfrm>
            <a:off x="7048324" y="5194170"/>
            <a:ext cx="3213020" cy="160016"/>
          </a:xfrm>
          <a:prstGeom prst="rect">
            <a:avLst/>
          </a:prstGeom>
          <a:noFill/>
          <a:ln/>
        </p:spPr>
        <p:txBody>
          <a:bodyPr wrap="square" lIns="0" tIns="0" rIns="0" bIns="0" rtlCol="0" anchor="t"/>
          <a:lstStyle/>
          <a:p>
            <a:pPr algn="l" indent="0" marL="0">
              <a:lnSpc>
                <a:spcPts val="1260"/>
              </a:lnSpc>
              <a:buNone/>
            </a:pPr>
            <a:r>
              <a:rPr lang="en-US" sz="900" dirty="0">
                <a:solidFill>
                  <a:srgbClr val="AEB8CC"/>
                </a:solidFill>
                <a:latin typeface="Arial" pitchFamily="34" charset="0"/>
                <a:ea typeface="Arial" pitchFamily="34" charset="-122"/>
                <a:cs typeface="Arial" pitchFamily="34" charset="-120"/>
              </a:rPr>
              <a:t>Not found in any party game we searched.</a:t>
            </a:r>
            <a:endParaRPr lang="en-US" sz="900" dirty="0"/>
          </a:p>
        </p:txBody>
      </p:sp>
      <p:sp>
        <p:nvSpPr>
          <p:cNvPr id="30" name="Text 12.29"/>
          <p:cNvSpPr txBox="1"/>
          <p:nvPr/>
        </p:nvSpPr>
        <p:spPr>
          <a:xfrm>
            <a:off x="10413740" y="5219570"/>
            <a:ext cx="8462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NOT FOUND</a:t>
            </a:r>
            <a:endParaRPr lang="en-US" sz="850" dirty="0"/>
          </a:p>
        </p:txBody>
      </p:sp>
      <p:sp>
        <p:nvSpPr>
          <p:cNvPr id="31" name="Text 12.30"/>
          <p:cNvSpPr txBox="1"/>
          <p:nvPr/>
        </p:nvSpPr>
        <p:spPr>
          <a:xfrm>
            <a:off x="5079873" y="5841854"/>
            <a:ext cx="6540336"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AEB8CC"/>
                </a:solidFill>
                <a:latin typeface="Courier New" pitchFamily="34" charset="0"/>
                <a:ea typeface="Courier New" pitchFamily="34" charset="-122"/>
                <a:cs typeface="Courier New" pitchFamily="34" charset="-120"/>
              </a:rPr>
              <a:t>Prior-art search of shipped games, Oct 2026 [9–12]. “Not found” = not found after searching.</a:t>
            </a:r>
            <a:endParaRPr lang="en-US" sz="750" dirty="0"/>
          </a:p>
        </p:txBody>
      </p:sp>
      <p:sp>
        <p:nvSpPr>
          <p:cNvPr id="32" name="Text 12.31"/>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AEB8CC"/>
                </a:solidFill>
                <a:latin typeface="Courier New" pitchFamily="34" charset="0"/>
                <a:ea typeface="Courier New" pitchFamily="34" charset="-122"/>
                <a:cs typeface="Courier New" pitchFamily="34" charset="-120"/>
              </a:rPr>
              <a:t>12</a:t>
            </a:r>
            <a:endParaRPr lang="en-US" sz="7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3.1"/>
          <p:cNvSpPr txBox="1"/>
          <p:nvPr/>
        </p:nvSpPr>
        <p:spPr>
          <a:xfrm>
            <a:off x="609585" y="355591"/>
            <a:ext cx="1076489"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38B03A"/>
                </a:solidFill>
                <a:latin typeface="Courier New" pitchFamily="34" charset="0"/>
                <a:ea typeface="Courier New" pitchFamily="34" charset="-122"/>
                <a:cs typeface="Courier New" pitchFamily="34" charset="-120"/>
              </a:rPr>
              <a:t>09 — MARKET</a:t>
            </a:r>
            <a:endParaRPr lang="en-US" sz="900" dirty="0"/>
          </a:p>
        </p:txBody>
      </p:sp>
      <p:sp>
        <p:nvSpPr>
          <p:cNvPr id="3" name="Text 13.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13.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Social PC play is growing; </a:t>
            </a:r>
            <a:pPr algn="l" indent="0" marL="0">
              <a:lnSpc>
                <a:spcPts val="3600"/>
              </a:lnSpc>
              <a:buNone/>
            </a:pPr>
            <a:r>
              <a:rPr lang="en-US" sz="3400" i="1" spc="-41" kern="0" dirty="0">
                <a:solidFill>
                  <a:srgbClr val="38B03A"/>
                </a:solidFill>
                <a:latin typeface="Georgia" pitchFamily="34" charset="0"/>
                <a:ea typeface="Georgia" pitchFamily="34" charset="-122"/>
                <a:cs typeface="Georgia" pitchFamily="34" charset="-120"/>
              </a:rPr>
              <a:t>LAN party games are rare</a:t>
            </a:r>
            <a:endParaRPr lang="en-US" sz="3400" dirty="0"/>
          </a:p>
        </p:txBody>
      </p:sp>
      <p:sp>
        <p:nvSpPr>
          <p:cNvPr id="5" name="Text 13.4"/>
          <p:cNvSpPr txBox="1"/>
          <p:nvPr/>
        </p:nvSpPr>
        <p:spPr>
          <a:xfrm>
            <a:off x="609585" y="2044649"/>
            <a:ext cx="1980629" cy="584185"/>
          </a:xfrm>
          <a:prstGeom prst="rect">
            <a:avLst/>
          </a:prstGeom>
          <a:noFill/>
          <a:ln/>
        </p:spPr>
        <p:txBody>
          <a:bodyPr wrap="square" lIns="0" tIns="0" rIns="0" bIns="0" rtlCol="0" anchor="t"/>
          <a:lstStyle/>
          <a:p>
            <a:pPr algn="l" indent="0" marL="0">
              <a:lnSpc>
                <a:spcPts val="4600"/>
              </a:lnSpc>
              <a:buNone/>
            </a:pPr>
            <a:r>
              <a:rPr lang="en-US" sz="4600" spc="-92" kern="0" dirty="0">
                <a:solidFill>
                  <a:srgbClr val="14161B"/>
                </a:solidFill>
                <a:latin typeface="Georgia" pitchFamily="34" charset="0"/>
                <a:ea typeface="Georgia" pitchFamily="34" charset="-122"/>
                <a:cs typeface="Georgia" pitchFamily="34" charset="-120"/>
              </a:rPr>
              <a:t>$43.6B</a:t>
            </a:r>
            <a:endParaRPr lang="en-US" sz="4600" dirty="0"/>
          </a:p>
        </p:txBody>
      </p:sp>
      <p:sp>
        <p:nvSpPr>
          <p:cNvPr id="6" name="Text 13.5"/>
          <p:cNvSpPr txBox="1"/>
          <p:nvPr/>
        </p:nvSpPr>
        <p:spPr>
          <a:xfrm>
            <a:off x="609585" y="2717732"/>
            <a:ext cx="2578036" cy="355591"/>
          </a:xfrm>
          <a:prstGeom prst="rect">
            <a:avLst/>
          </a:prstGeom>
          <a:noFill/>
          <a:ln/>
        </p:spPr>
        <p:txBody>
          <a:bodyPr wrap="square" lIns="0" tIns="0" rIns="0" bIns="0" rtlCol="0" anchor="t"/>
          <a:lstStyle/>
          <a:p>
            <a:pPr algn="l" indent="0" marL="0">
              <a:lnSpc>
                <a:spcPts val="1400"/>
              </a:lnSpc>
              <a:buNone/>
            </a:pPr>
            <a:r>
              <a:rPr lang="en-US" sz="1000" dirty="0">
                <a:solidFill>
                  <a:srgbClr val="14161B"/>
                </a:solidFill>
                <a:latin typeface="Arial" pitchFamily="34" charset="0"/>
                <a:ea typeface="Arial" pitchFamily="34" charset="-122"/>
                <a:cs typeface="Arial" pitchFamily="34" charset="-120"/>
              </a:rPr>
              <a:t>PC games revenue in 2025, up 12% year on year.</a:t>
            </a:r>
            <a:endParaRPr lang="en-US" sz="1000" dirty="0"/>
          </a:p>
        </p:txBody>
      </p:sp>
      <p:sp>
        <p:nvSpPr>
          <p:cNvPr id="7" name="Text 13.6"/>
          <p:cNvSpPr txBox="1"/>
          <p:nvPr/>
        </p:nvSpPr>
        <p:spPr>
          <a:xfrm>
            <a:off x="609585" y="3136822"/>
            <a:ext cx="68957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NEWZOO [1]</a:t>
            </a:r>
            <a:endParaRPr lang="en-US" sz="750" dirty="0"/>
          </a:p>
        </p:txBody>
      </p:sp>
      <p:sp>
        <p:nvSpPr>
          <p:cNvPr id="8" name="Text 13.7"/>
          <p:cNvSpPr txBox="1"/>
          <p:nvPr/>
        </p:nvSpPr>
        <p:spPr>
          <a:xfrm>
            <a:off x="3530512" y="2044649"/>
            <a:ext cx="1566998" cy="584185"/>
          </a:xfrm>
          <a:prstGeom prst="rect">
            <a:avLst/>
          </a:prstGeom>
          <a:noFill/>
          <a:ln/>
        </p:spPr>
        <p:txBody>
          <a:bodyPr wrap="square" lIns="0" tIns="0" rIns="0" bIns="0" rtlCol="0" anchor="t"/>
          <a:lstStyle/>
          <a:p>
            <a:pPr algn="l" indent="0" marL="0">
              <a:lnSpc>
                <a:spcPts val="4600"/>
              </a:lnSpc>
              <a:buNone/>
            </a:pPr>
            <a:r>
              <a:rPr lang="en-US" sz="4600" spc="-92" kern="0" dirty="0">
                <a:solidFill>
                  <a:srgbClr val="1EA5E6"/>
                </a:solidFill>
                <a:latin typeface="Georgia" pitchFamily="34" charset="0"/>
                <a:ea typeface="Georgia" pitchFamily="34" charset="-122"/>
                <a:cs typeface="Georgia" pitchFamily="34" charset="-120"/>
              </a:rPr>
              <a:t>$4.1B</a:t>
            </a:r>
            <a:endParaRPr lang="en-US" sz="4600" dirty="0"/>
          </a:p>
        </p:txBody>
      </p:sp>
      <p:sp>
        <p:nvSpPr>
          <p:cNvPr id="9" name="Text 13.8"/>
          <p:cNvSpPr txBox="1"/>
          <p:nvPr/>
        </p:nvSpPr>
        <p:spPr>
          <a:xfrm>
            <a:off x="3530512" y="2717732"/>
            <a:ext cx="2578036" cy="355591"/>
          </a:xfrm>
          <a:prstGeom prst="rect">
            <a:avLst/>
          </a:prstGeom>
          <a:noFill/>
          <a:ln/>
        </p:spPr>
        <p:txBody>
          <a:bodyPr wrap="square" lIns="0" tIns="0" rIns="0" bIns="0" rtlCol="0" anchor="t"/>
          <a:lstStyle/>
          <a:p>
            <a:pPr algn="l" indent="0" marL="0">
              <a:lnSpc>
                <a:spcPts val="1400"/>
              </a:lnSpc>
              <a:buNone/>
            </a:pPr>
            <a:r>
              <a:rPr lang="en-US" sz="1000" dirty="0">
                <a:solidFill>
                  <a:srgbClr val="14161B"/>
                </a:solidFill>
                <a:latin typeface="Arial" pitchFamily="34" charset="0"/>
                <a:ea typeface="Arial" pitchFamily="34" charset="-122"/>
                <a:cs typeface="Arial" pitchFamily="34" charset="-120"/>
              </a:rPr>
              <a:t>Steam revenue of games with co-op, H1 2025: an all-time high (estimate).</a:t>
            </a:r>
            <a:endParaRPr lang="en-US" sz="1000" dirty="0"/>
          </a:p>
        </p:txBody>
      </p:sp>
      <p:sp>
        <p:nvSpPr>
          <p:cNvPr id="10" name="Text 13.9"/>
          <p:cNvSpPr txBox="1"/>
          <p:nvPr/>
        </p:nvSpPr>
        <p:spPr>
          <a:xfrm>
            <a:off x="3530512" y="3136822"/>
            <a:ext cx="68957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ALINEA [2]</a:t>
            </a:r>
            <a:endParaRPr lang="en-US" sz="750" dirty="0"/>
          </a:p>
        </p:txBody>
      </p:sp>
      <p:sp>
        <p:nvSpPr>
          <p:cNvPr id="11" name="Text 13.10"/>
          <p:cNvSpPr txBox="1"/>
          <p:nvPr/>
        </p:nvSpPr>
        <p:spPr>
          <a:xfrm>
            <a:off x="609585" y="3822604"/>
            <a:ext cx="1223726" cy="584185"/>
          </a:xfrm>
          <a:prstGeom prst="rect">
            <a:avLst/>
          </a:prstGeom>
          <a:noFill/>
          <a:ln/>
        </p:spPr>
        <p:txBody>
          <a:bodyPr wrap="square" lIns="0" tIns="0" rIns="0" bIns="0" rtlCol="0" anchor="t"/>
          <a:lstStyle/>
          <a:p>
            <a:pPr algn="l" indent="0" marL="0">
              <a:lnSpc>
                <a:spcPts val="4600"/>
              </a:lnSpc>
              <a:buNone/>
            </a:pPr>
            <a:r>
              <a:rPr lang="en-US" sz="4600" spc="-92" kern="0" dirty="0">
                <a:solidFill>
                  <a:srgbClr val="7E48DE"/>
                </a:solidFill>
                <a:latin typeface="Georgia" pitchFamily="34" charset="0"/>
                <a:ea typeface="Georgia" pitchFamily="34" charset="-122"/>
                <a:cs typeface="Georgia" pitchFamily="34" charset="-120"/>
              </a:rPr>
              <a:t>70%</a:t>
            </a:r>
            <a:endParaRPr lang="en-US" sz="4600" dirty="0"/>
          </a:p>
        </p:txBody>
      </p:sp>
      <p:sp>
        <p:nvSpPr>
          <p:cNvPr id="12" name="Text 13.11"/>
          <p:cNvSpPr txBox="1"/>
          <p:nvPr/>
        </p:nvSpPr>
        <p:spPr>
          <a:xfrm>
            <a:off x="609585" y="4495688"/>
            <a:ext cx="2578036" cy="355591"/>
          </a:xfrm>
          <a:prstGeom prst="rect">
            <a:avLst/>
          </a:prstGeom>
          <a:noFill/>
          <a:ln/>
        </p:spPr>
        <p:txBody>
          <a:bodyPr wrap="square" lIns="0" tIns="0" rIns="0" bIns="0" rtlCol="0" anchor="t"/>
          <a:lstStyle/>
          <a:p>
            <a:pPr algn="l" indent="0" marL="0">
              <a:lnSpc>
                <a:spcPts val="1400"/>
              </a:lnSpc>
              <a:buNone/>
            </a:pPr>
            <a:r>
              <a:rPr lang="en-US" sz="1000" dirty="0">
                <a:solidFill>
                  <a:srgbClr val="14161B"/>
                </a:solidFill>
                <a:latin typeface="Arial" pitchFamily="34" charset="0"/>
                <a:ea typeface="Arial" pitchFamily="34" charset="-122"/>
                <a:cs typeface="Arial" pitchFamily="34" charset="-120"/>
              </a:rPr>
              <a:t>of US players aged 8+ play with other people.</a:t>
            </a:r>
            <a:endParaRPr lang="en-US" sz="1000" dirty="0"/>
          </a:p>
        </p:txBody>
      </p:sp>
      <p:sp>
        <p:nvSpPr>
          <p:cNvPr id="13" name="Text 13.12"/>
          <p:cNvSpPr txBox="1"/>
          <p:nvPr/>
        </p:nvSpPr>
        <p:spPr>
          <a:xfrm>
            <a:off x="609585" y="4914777"/>
            <a:ext cx="814828"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ESA 2026 [3]</a:t>
            </a:r>
            <a:endParaRPr lang="en-US" sz="750" dirty="0"/>
          </a:p>
        </p:txBody>
      </p:sp>
      <p:sp>
        <p:nvSpPr>
          <p:cNvPr id="14" name="Text 13.13"/>
          <p:cNvSpPr txBox="1"/>
          <p:nvPr/>
        </p:nvSpPr>
        <p:spPr>
          <a:xfrm>
            <a:off x="3530512" y="3822604"/>
            <a:ext cx="1299973" cy="584185"/>
          </a:xfrm>
          <a:prstGeom prst="rect">
            <a:avLst/>
          </a:prstGeom>
          <a:noFill/>
          <a:ln/>
        </p:spPr>
        <p:txBody>
          <a:bodyPr wrap="square" lIns="0" tIns="0" rIns="0" bIns="0" rtlCol="0" anchor="t"/>
          <a:lstStyle/>
          <a:p>
            <a:pPr algn="l" indent="0" marL="0">
              <a:lnSpc>
                <a:spcPts val="4600"/>
              </a:lnSpc>
              <a:buNone/>
            </a:pPr>
            <a:r>
              <a:rPr lang="en-US" sz="4600" spc="-92" kern="0" dirty="0">
                <a:solidFill>
                  <a:srgbClr val="FF5A1F"/>
                </a:solidFill>
                <a:latin typeface="Georgia" pitchFamily="34" charset="0"/>
                <a:ea typeface="Georgia" pitchFamily="34" charset="-122"/>
                <a:cs typeface="Georgia" pitchFamily="34" charset="-120"/>
              </a:rPr>
              <a:t>≈8%</a:t>
            </a:r>
            <a:endParaRPr lang="en-US" sz="4600" dirty="0"/>
          </a:p>
        </p:txBody>
      </p:sp>
      <p:sp>
        <p:nvSpPr>
          <p:cNvPr id="15" name="Text 13.14"/>
          <p:cNvSpPr txBox="1"/>
          <p:nvPr/>
        </p:nvSpPr>
        <p:spPr>
          <a:xfrm>
            <a:off x="3530512" y="4495688"/>
            <a:ext cx="2578036" cy="355591"/>
          </a:xfrm>
          <a:prstGeom prst="rect">
            <a:avLst/>
          </a:prstGeom>
          <a:noFill/>
          <a:ln/>
        </p:spPr>
        <p:txBody>
          <a:bodyPr wrap="square" lIns="0" tIns="0" rIns="0" bIns="0" rtlCol="0" anchor="t"/>
          <a:lstStyle/>
          <a:p>
            <a:pPr algn="l" indent="0" marL="0">
              <a:lnSpc>
                <a:spcPts val="1400"/>
              </a:lnSpc>
              <a:buNone/>
            </a:pPr>
            <a:r>
              <a:rPr lang="en-US" sz="1000" dirty="0">
                <a:solidFill>
                  <a:srgbClr val="14161B"/>
                </a:solidFill>
                <a:latin typeface="Arial" pitchFamily="34" charset="0"/>
                <a:ea typeface="Arial" pitchFamily="34" charset="-122"/>
                <a:cs typeface="Arial" pitchFamily="34" charset="-120"/>
              </a:rPr>
              <a:t>of ~3,490 Steam “Party Game” titles list LAN PvP.</a:t>
            </a:r>
            <a:endParaRPr lang="en-US" sz="1000" dirty="0"/>
          </a:p>
        </p:txBody>
      </p:sp>
      <p:sp>
        <p:nvSpPr>
          <p:cNvPr id="16" name="Text 13.15"/>
          <p:cNvSpPr txBox="1"/>
          <p:nvPr/>
        </p:nvSpPr>
        <p:spPr>
          <a:xfrm>
            <a:off x="3530512" y="4914777"/>
            <a:ext cx="1253068"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STEAM, OCT 2026 [4]</a:t>
            </a:r>
            <a:endParaRPr lang="en-US" sz="750" dirty="0"/>
          </a:p>
        </p:txBody>
      </p:sp>
      <p:sp>
        <p:nvSpPr>
          <p:cNvPr id="17" name="Text 13.16"/>
          <p:cNvSpPr txBox="1"/>
          <p:nvPr/>
        </p:nvSpPr>
        <p:spPr>
          <a:xfrm>
            <a:off x="6883228" y="2070048"/>
            <a:ext cx="3890397"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4161B"/>
                </a:solidFill>
                <a:latin typeface="Courier New" pitchFamily="34" charset="0"/>
                <a:ea typeface="Courier New" pitchFamily="34" charset="-122"/>
                <a:cs typeface="Courier New" pitchFamily="34" charset="-120"/>
              </a:rPr>
              <a:t>STEAM “PARTY GAME” TITLES BY MULTIPLAYER TAG</a:t>
            </a:r>
            <a:endParaRPr lang="en-US" sz="850" dirty="0"/>
          </a:p>
        </p:txBody>
      </p:sp>
      <p:sp>
        <p:nvSpPr>
          <p:cNvPr id="18" name="Text 13.17"/>
          <p:cNvSpPr txBox="1"/>
          <p:nvPr/>
        </p:nvSpPr>
        <p:spPr>
          <a:xfrm>
            <a:off x="6883228" y="2539937"/>
            <a:ext cx="737002" cy="152396"/>
          </a:xfrm>
          <a:prstGeom prst="rect">
            <a:avLst/>
          </a:prstGeom>
          <a:noFill/>
          <a:ln/>
        </p:spPr>
        <p:txBody>
          <a:bodyPr wrap="square" lIns="0" tIns="0" rIns="0" bIns="0" rtlCol="0" anchor="t"/>
          <a:lstStyle/>
          <a:p>
            <a:pPr algn="l" indent="0" marL="0">
              <a:lnSpc>
                <a:spcPts val="1200"/>
              </a:lnSpc>
              <a:buNone/>
            </a:pPr>
            <a:r>
              <a:rPr lang="en-US" sz="1000" dirty="0">
                <a:solidFill>
                  <a:srgbClr val="646973"/>
                </a:solidFill>
                <a:latin typeface="Arial" pitchFamily="34" charset="0"/>
                <a:ea typeface="Arial" pitchFamily="34" charset="-122"/>
                <a:cs typeface="Arial" pitchFamily="34" charset="-120"/>
              </a:rPr>
              <a:t>Online PvP</a:t>
            </a:r>
            <a:endParaRPr lang="en-US" sz="1000" dirty="0"/>
          </a:p>
        </p:txBody>
      </p:sp>
      <p:sp>
        <p:nvSpPr>
          <p:cNvPr id="19" name="Text 13.18"/>
          <p:cNvSpPr txBox="1"/>
          <p:nvPr/>
        </p:nvSpPr>
        <p:spPr>
          <a:xfrm>
            <a:off x="6883228" y="2793930"/>
            <a:ext cx="4190895" cy="181605"/>
          </a:xfrm>
          <a:prstGeom prst="rect">
            <a:avLst/>
          </a:prstGeom>
          <a:noFill/>
          <a:ln/>
        </p:spPr>
        <p:txBody>
          <a:bodyPr wrap="square" lIns="0" tIns="0" rIns="0" bIns="0" rtlCol="0" anchor="t"/>
          <a:lstStyle/>
          <a:p>
            <a:pPr algn="r" indent="0" marL="0">
              <a:lnSpc>
                <a:spcPts val="1430"/>
              </a:lnSpc>
              <a:buNone/>
            </a:pPr>
            <a:r>
              <a:rPr lang="en-US" sz="1100" b="1" dirty="0">
                <a:solidFill>
                  <a:srgbClr val="14161B"/>
                </a:solidFill>
                <a:latin typeface="Arial" pitchFamily="34" charset="0"/>
                <a:ea typeface="Arial" pitchFamily="34" charset="-122"/>
                <a:cs typeface="Arial" pitchFamily="34" charset="-120"/>
              </a:rPr>
              <a:t>1,870</a:t>
            </a:r>
            <a:endParaRPr lang="en-US" sz="1100" dirty="0"/>
          </a:p>
        </p:txBody>
      </p:sp>
      <p:sp>
        <p:nvSpPr>
          <p:cNvPr id="20" name="Text 13.19"/>
          <p:cNvSpPr txBox="1"/>
          <p:nvPr/>
        </p:nvSpPr>
        <p:spPr>
          <a:xfrm>
            <a:off x="6883228" y="3301917"/>
            <a:ext cx="1058610" cy="152396"/>
          </a:xfrm>
          <a:prstGeom prst="rect">
            <a:avLst/>
          </a:prstGeom>
          <a:noFill/>
          <a:ln/>
        </p:spPr>
        <p:txBody>
          <a:bodyPr wrap="square" lIns="0" tIns="0" rIns="0" bIns="0" rtlCol="0" anchor="t"/>
          <a:lstStyle/>
          <a:p>
            <a:pPr algn="l" indent="0" marL="0">
              <a:lnSpc>
                <a:spcPts val="1200"/>
              </a:lnSpc>
              <a:buNone/>
            </a:pPr>
            <a:r>
              <a:rPr lang="en-US" sz="1000" dirty="0">
                <a:solidFill>
                  <a:srgbClr val="646973"/>
                </a:solidFill>
                <a:latin typeface="Arial" pitchFamily="34" charset="0"/>
                <a:ea typeface="Arial" pitchFamily="34" charset="-122"/>
                <a:cs typeface="Arial" pitchFamily="34" charset="-120"/>
              </a:rPr>
              <a:t>Split-screen PvP</a:t>
            </a:r>
            <a:endParaRPr lang="en-US" sz="1000" dirty="0"/>
          </a:p>
        </p:txBody>
      </p:sp>
      <p:sp>
        <p:nvSpPr>
          <p:cNvPr id="21" name="Text 13.20"/>
          <p:cNvSpPr txBox="1"/>
          <p:nvPr/>
        </p:nvSpPr>
        <p:spPr>
          <a:xfrm>
            <a:off x="6883228" y="3555911"/>
            <a:ext cx="2222444" cy="181605"/>
          </a:xfrm>
          <a:prstGeom prst="rect">
            <a:avLst/>
          </a:prstGeom>
          <a:noFill/>
          <a:ln/>
        </p:spPr>
        <p:txBody>
          <a:bodyPr wrap="square" lIns="0" tIns="0" rIns="0" bIns="0" rtlCol="0" anchor="t"/>
          <a:lstStyle/>
          <a:p>
            <a:pPr algn="r" indent="0" marL="0">
              <a:lnSpc>
                <a:spcPts val="1430"/>
              </a:lnSpc>
              <a:buNone/>
            </a:pPr>
            <a:r>
              <a:rPr lang="en-US" sz="1100" b="1" dirty="0">
                <a:solidFill>
                  <a:srgbClr val="14161B"/>
                </a:solidFill>
                <a:latin typeface="Arial" pitchFamily="34" charset="0"/>
                <a:ea typeface="Arial" pitchFamily="34" charset="-122"/>
                <a:cs typeface="Arial" pitchFamily="34" charset="-120"/>
              </a:rPr>
              <a:t>1,017</a:t>
            </a:r>
            <a:endParaRPr lang="en-US" sz="1100" dirty="0"/>
          </a:p>
        </p:txBody>
      </p:sp>
      <p:sp>
        <p:nvSpPr>
          <p:cNvPr id="22" name="Text 13.21"/>
          <p:cNvSpPr txBox="1"/>
          <p:nvPr/>
        </p:nvSpPr>
        <p:spPr>
          <a:xfrm>
            <a:off x="6883228" y="4063898"/>
            <a:ext cx="632043" cy="152396"/>
          </a:xfrm>
          <a:prstGeom prst="rect">
            <a:avLst/>
          </a:prstGeom>
          <a:noFill/>
          <a:ln/>
        </p:spPr>
        <p:txBody>
          <a:bodyPr wrap="square" lIns="0" tIns="0" rIns="0" bIns="0" rtlCol="0" anchor="t"/>
          <a:lstStyle/>
          <a:p>
            <a:pPr algn="l" indent="0" marL="0">
              <a:lnSpc>
                <a:spcPts val="1200"/>
              </a:lnSpc>
              <a:buNone/>
            </a:pPr>
            <a:r>
              <a:rPr lang="en-US" sz="1000" b="1" dirty="0">
                <a:solidFill>
                  <a:srgbClr val="FF5A1F"/>
                </a:solidFill>
                <a:latin typeface="Arial" pitchFamily="34" charset="0"/>
                <a:ea typeface="Arial" pitchFamily="34" charset="-122"/>
                <a:cs typeface="Arial" pitchFamily="34" charset="-120"/>
              </a:rPr>
              <a:t>LAN PvP</a:t>
            </a:r>
            <a:endParaRPr lang="en-US" sz="1000" dirty="0"/>
          </a:p>
        </p:txBody>
      </p:sp>
      <p:sp>
        <p:nvSpPr>
          <p:cNvPr id="23" name="Text 13.22"/>
          <p:cNvSpPr txBox="1"/>
          <p:nvPr/>
        </p:nvSpPr>
        <p:spPr>
          <a:xfrm>
            <a:off x="7657909" y="4317892"/>
            <a:ext cx="310646" cy="181605"/>
          </a:xfrm>
          <a:prstGeom prst="rect">
            <a:avLst/>
          </a:prstGeom>
          <a:noFill/>
          <a:ln/>
        </p:spPr>
        <p:txBody>
          <a:bodyPr wrap="square" lIns="0" tIns="0" rIns="0" bIns="0" rtlCol="0" anchor="t"/>
          <a:lstStyle/>
          <a:p>
            <a:pPr algn="l" indent="0" marL="0">
              <a:lnSpc>
                <a:spcPts val="1430"/>
              </a:lnSpc>
              <a:buNone/>
            </a:pPr>
            <a:r>
              <a:rPr lang="en-US" sz="1100" b="1" dirty="0">
                <a:solidFill>
                  <a:srgbClr val="FF5A1F"/>
                </a:solidFill>
                <a:latin typeface="Arial" pitchFamily="34" charset="0"/>
                <a:ea typeface="Arial" pitchFamily="34" charset="-122"/>
                <a:cs typeface="Arial" pitchFamily="34" charset="-120"/>
              </a:rPr>
              <a:t>292</a:t>
            </a:r>
            <a:endParaRPr lang="en-US" sz="1100" dirty="0"/>
          </a:p>
        </p:txBody>
      </p:sp>
      <p:sp>
        <p:nvSpPr>
          <p:cNvPr id="24" name="Text 13.23"/>
          <p:cNvSpPr txBox="1"/>
          <p:nvPr/>
        </p:nvSpPr>
        <p:spPr>
          <a:xfrm>
            <a:off x="6883228" y="4775081"/>
            <a:ext cx="4482988"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Tags are user-applied; counts include unreleased titles.</a:t>
            </a:r>
            <a:endParaRPr lang="en-US" sz="750" dirty="0"/>
          </a:p>
        </p:txBody>
      </p:sp>
      <p:sp>
        <p:nvSpPr>
          <p:cNvPr id="25" name="Text 13.24"/>
          <p:cNvSpPr txBox="1"/>
          <p:nvPr/>
        </p:nvSpPr>
        <p:spPr>
          <a:xfrm>
            <a:off x="6603835" y="5371966"/>
            <a:ext cx="5016375" cy="524755"/>
          </a:xfrm>
          <a:prstGeom prst="rect">
            <a:avLst/>
          </a:prstGeom>
          <a:noFill/>
          <a:ln/>
        </p:spPr>
        <p:txBody>
          <a:bodyPr wrap="square" lIns="0" tIns="0" rIns="0" bIns="0" rtlCol="0" anchor="t"/>
          <a:lstStyle/>
          <a:p>
            <a:pPr algn="l" indent="0" marL="0">
              <a:lnSpc>
                <a:spcPts val="1380"/>
              </a:lnSpc>
              <a:buNone/>
            </a:pPr>
            <a:r>
              <a:rPr lang="en-US" sz="950" b="1" dirty="0">
                <a:solidFill>
                  <a:srgbClr val="14161B"/>
                </a:solidFill>
                <a:latin typeface="Arial" pitchFamily="34" charset="0"/>
                <a:ea typeface="Arial" pitchFamily="34" charset="-122"/>
                <a:cs typeface="Arial" pitchFamily="34" charset="-120"/>
              </a:rPr>
              <a:t>Risk, stated plainly:</a:t>
            </a:r>
            <a:pPr algn="l" indent="0" marL="0">
              <a:lnSpc>
                <a:spcPts val="1380"/>
              </a:lnSpc>
              <a:buNone/>
            </a:pPr>
            <a:r>
              <a:rPr lang="en-US" sz="950" dirty="0">
                <a:solidFill>
                  <a:srgbClr val="646973"/>
                </a:solidFill>
                <a:latin typeface="Arial" pitchFamily="34" charset="0"/>
                <a:ea typeface="Arial" pitchFamily="34" charset="-122"/>
                <a:cs typeface="Arial" pitchFamily="34" charset="-120"/>
              </a:rPr>
              <a:t> an estimated 65.9% of 2025 Steam releases earned under $1,000 [5], while 5,863 games passed $100K in 2025 (Valve) [6]. LAN is our differentiator, not a demand driver.</a:t>
            </a:r>
            <a:endParaRPr lang="en-US" sz="950" dirty="0"/>
          </a:p>
        </p:txBody>
      </p:sp>
      <p:sp>
        <p:nvSpPr>
          <p:cNvPr id="26" name="Text 13.25"/>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13</a:t>
            </a:r>
            <a:endParaRPr lang="en-US" sz="7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4.1"/>
          <p:cNvSpPr txBox="1"/>
          <p:nvPr/>
        </p:nvSpPr>
        <p:spPr>
          <a:xfrm>
            <a:off x="609585" y="355591"/>
            <a:ext cx="1076489"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38B03A"/>
                </a:solidFill>
                <a:latin typeface="Courier New" pitchFamily="34" charset="0"/>
                <a:ea typeface="Courier New" pitchFamily="34" charset="-122"/>
                <a:cs typeface="Courier New" pitchFamily="34" charset="-120"/>
              </a:rPr>
              <a:t>09 — MARKET</a:t>
            </a:r>
            <a:endParaRPr lang="en-US" sz="900" dirty="0"/>
          </a:p>
        </p:txBody>
      </p:sp>
      <p:sp>
        <p:nvSpPr>
          <p:cNvPr id="3" name="Text 14.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14.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Five games </a:t>
            </a:r>
            <a:pPr algn="l" indent="0" marL="0">
              <a:lnSpc>
                <a:spcPts val="3600"/>
              </a:lnSpc>
              <a:buNone/>
            </a:pPr>
            <a:r>
              <a:rPr lang="en-US" sz="3400" i="1" spc="-41" kern="0" dirty="0">
                <a:solidFill>
                  <a:srgbClr val="38B03A"/>
                </a:solidFill>
                <a:latin typeface="Georgia" pitchFamily="34" charset="0"/>
                <a:ea typeface="Georgia" pitchFamily="34" charset="-122"/>
                <a:cs typeface="Georgia" pitchFamily="34" charset="-120"/>
              </a:rPr>
              <a:t>we are measured against</a:t>
            </a:r>
            <a:endParaRPr lang="en-US" sz="3400" dirty="0"/>
          </a:p>
        </p:txBody>
      </p:sp>
      <p:sp>
        <p:nvSpPr>
          <p:cNvPr id="5" name="Text 14.4"/>
          <p:cNvSpPr txBox="1"/>
          <p:nvPr/>
        </p:nvSpPr>
        <p:spPr>
          <a:xfrm>
            <a:off x="761981" y="1930352"/>
            <a:ext cx="825479" cy="190495"/>
          </a:xfrm>
          <a:prstGeom prst="rect">
            <a:avLst/>
          </a:prstGeom>
          <a:noFill/>
          <a:ln/>
        </p:spPr>
        <p:txBody>
          <a:bodyPr wrap="square" lIns="0" tIns="0" rIns="0" bIns="0" rtlCol="0" anchor="ctr"/>
          <a:lstStyle/>
          <a:p>
            <a:pPr algn="ctr" indent="0" marL="0">
              <a:lnSpc>
                <a:spcPts val="600"/>
              </a:lnSpc>
              <a:buNone/>
            </a:pPr>
            <a:r>
              <a:rPr lang="en-US" sz="600" b="1" spc="84" kern="0" dirty="0">
                <a:solidFill>
                  <a:srgbClr val="FFFFFF"/>
                </a:solidFill>
                <a:latin typeface="Courier New" pitchFamily="34" charset="0"/>
                <a:ea typeface="Courier New" pitchFamily="34" charset="-122"/>
                <a:cs typeface="Courier New" pitchFamily="34" charset="-120"/>
              </a:rPr>
              <a:t>AUDIENCE</a:t>
            </a:r>
            <a:endParaRPr lang="en-US" sz="600" dirty="0"/>
          </a:p>
        </p:txBody>
      </p:sp>
      <p:sp>
        <p:nvSpPr>
          <p:cNvPr id="6" name="Text 14.5"/>
          <p:cNvSpPr txBox="1"/>
          <p:nvPr/>
        </p:nvSpPr>
        <p:spPr>
          <a:xfrm>
            <a:off x="761981" y="3136822"/>
            <a:ext cx="1157679" cy="182558"/>
          </a:xfrm>
          <a:prstGeom prst="rect">
            <a:avLst/>
          </a:prstGeom>
          <a:noFill/>
          <a:ln/>
        </p:spPr>
        <p:txBody>
          <a:bodyPr wrap="square" lIns="0" tIns="0" rIns="0" bIns="0" rtlCol="0" anchor="t"/>
          <a:lstStyle/>
          <a:p>
            <a:pPr algn="l" indent="0" marL="0">
              <a:lnSpc>
                <a:spcPts val="1440"/>
              </a:lnSpc>
              <a:buNone/>
            </a:pPr>
            <a:r>
              <a:rPr lang="en-US" sz="1250" b="1" spc="-13" kern="0" dirty="0">
                <a:solidFill>
                  <a:srgbClr val="14161B"/>
                </a:solidFill>
                <a:latin typeface="Arial" pitchFamily="34" charset="0"/>
                <a:ea typeface="Arial" pitchFamily="34" charset="-122"/>
                <a:cs typeface="Arial" pitchFamily="34" charset="-120"/>
              </a:rPr>
              <a:t>Party Animals</a:t>
            </a:r>
            <a:endParaRPr lang="en-US" sz="1250" dirty="0"/>
          </a:p>
        </p:txBody>
      </p:sp>
      <p:sp>
        <p:nvSpPr>
          <p:cNvPr id="7" name="Text 14.6"/>
          <p:cNvSpPr txBox="1"/>
          <p:nvPr/>
        </p:nvSpPr>
        <p:spPr>
          <a:xfrm>
            <a:off x="761981" y="3365416"/>
            <a:ext cx="1378324"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Recreate Games · 2023</a:t>
            </a:r>
            <a:endParaRPr lang="en-US" sz="750" dirty="0"/>
          </a:p>
        </p:txBody>
      </p:sp>
      <p:sp>
        <p:nvSpPr>
          <p:cNvPr id="8" name="Text 14.7"/>
          <p:cNvSpPr txBox="1"/>
          <p:nvPr/>
        </p:nvSpPr>
        <p:spPr>
          <a:xfrm>
            <a:off x="761981" y="3492413"/>
            <a:ext cx="112781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1450C8"/>
                </a:solidFill>
                <a:latin typeface="Courier New" pitchFamily="34" charset="0"/>
                <a:ea typeface="Courier New" pitchFamily="34" charset="-122"/>
                <a:cs typeface="Courier New" pitchFamily="34" charset="-120"/>
              </a:rPr>
              <a:t>steam app 1260320</a:t>
            </a:r>
            <a:endParaRPr lang="en-US" sz="750" dirty="0"/>
          </a:p>
        </p:txBody>
      </p:sp>
      <p:sp>
        <p:nvSpPr>
          <p:cNvPr id="9" name="Text 14.8"/>
          <p:cNvSpPr txBox="1"/>
          <p:nvPr/>
        </p:nvSpPr>
        <p:spPr>
          <a:xfrm>
            <a:off x="761981" y="3771806"/>
            <a:ext cx="43190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FF5A1F"/>
                </a:solidFill>
                <a:latin typeface="Courier New" pitchFamily="34" charset="0"/>
                <a:ea typeface="Courier New" pitchFamily="34" charset="-122"/>
                <a:cs typeface="Courier New" pitchFamily="34" charset="-120"/>
              </a:rPr>
              <a:t>VISUAL</a:t>
            </a:r>
            <a:endParaRPr lang="en-US" sz="600" dirty="0"/>
          </a:p>
        </p:txBody>
      </p:sp>
      <p:sp>
        <p:nvSpPr>
          <p:cNvPr id="10" name="Text 14.9"/>
          <p:cNvSpPr txBox="1"/>
          <p:nvPr/>
        </p:nvSpPr>
        <p:spPr>
          <a:xfrm>
            <a:off x="761981" y="3911502"/>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Plush 3D animals, toy-like arenas.</a:t>
            </a:r>
            <a:endParaRPr lang="en-US" sz="850" dirty="0"/>
          </a:p>
        </p:txBody>
      </p:sp>
      <p:sp>
        <p:nvSpPr>
          <p:cNvPr id="11" name="Text 14.10"/>
          <p:cNvSpPr txBox="1"/>
          <p:nvPr/>
        </p:nvSpPr>
        <p:spPr>
          <a:xfrm>
            <a:off x="761981" y="4343291"/>
            <a:ext cx="554744"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FF5A1F"/>
                </a:solidFill>
                <a:latin typeface="Courier New" pitchFamily="34" charset="0"/>
                <a:ea typeface="Courier New" pitchFamily="34" charset="-122"/>
                <a:cs typeface="Courier New" pitchFamily="34" charset="-120"/>
              </a:rPr>
              <a:t>MECHANIC</a:t>
            </a:r>
            <a:endParaRPr lang="en-US" sz="600" dirty="0"/>
          </a:p>
        </p:txBody>
      </p:sp>
      <p:sp>
        <p:nvSpPr>
          <p:cNvPr id="12" name="Text 14.11"/>
          <p:cNvSpPr txBox="1"/>
          <p:nvPr/>
        </p:nvSpPr>
        <p:spPr>
          <a:xfrm>
            <a:off x="761981" y="4482988"/>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Physics brawling: grab, punch, throw rivals out.</a:t>
            </a:r>
            <a:endParaRPr lang="en-US" sz="850" dirty="0"/>
          </a:p>
        </p:txBody>
      </p:sp>
      <p:sp>
        <p:nvSpPr>
          <p:cNvPr id="13" name="Text 14.12"/>
          <p:cNvSpPr txBox="1"/>
          <p:nvPr/>
        </p:nvSpPr>
        <p:spPr>
          <a:xfrm>
            <a:off x="761981" y="4914777"/>
            <a:ext cx="738895"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FF5A1F"/>
                </a:solidFill>
                <a:latin typeface="Courier New" pitchFamily="34" charset="0"/>
                <a:ea typeface="Courier New" pitchFamily="34" charset="-122"/>
                <a:cs typeface="Courier New" pitchFamily="34" charset="-120"/>
              </a:rPr>
              <a:t>MULTIPLAYER</a:t>
            </a:r>
            <a:endParaRPr lang="en-US" sz="600" dirty="0"/>
          </a:p>
        </p:txBody>
      </p:sp>
      <p:sp>
        <p:nvSpPr>
          <p:cNvPr id="14" name="Text 14.13"/>
          <p:cNvSpPr txBox="1"/>
          <p:nvPr/>
        </p:nvSpPr>
        <p:spPr>
          <a:xfrm>
            <a:off x="761981" y="5054474"/>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Online and same-screen. No LAN listed.</a:t>
            </a:r>
            <a:endParaRPr lang="en-US" sz="850" dirty="0"/>
          </a:p>
        </p:txBody>
      </p:sp>
      <p:sp>
        <p:nvSpPr>
          <p:cNvPr id="15" name="Text 14.14"/>
          <p:cNvSpPr txBox="1"/>
          <p:nvPr/>
        </p:nvSpPr>
        <p:spPr>
          <a:xfrm>
            <a:off x="761981" y="5486263"/>
            <a:ext cx="67747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FF5A1F"/>
                </a:solidFill>
                <a:latin typeface="Courier New" pitchFamily="34" charset="0"/>
                <a:ea typeface="Courier New" pitchFamily="34" charset="-122"/>
                <a:cs typeface="Courier New" pitchFamily="34" charset="-120"/>
              </a:rPr>
              <a:t>FINANCIALS</a:t>
            </a:r>
            <a:endParaRPr lang="en-US" sz="600" dirty="0"/>
          </a:p>
        </p:txBody>
      </p:sp>
      <p:sp>
        <p:nvSpPr>
          <p:cNvPr id="16" name="Text 14.15"/>
          <p:cNvSpPr txBox="1"/>
          <p:nvPr/>
        </p:nvSpPr>
        <p:spPr>
          <a:xfrm>
            <a:off x="761981" y="5625959"/>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Launch peak 104,174. Owner est. 2.5M–6.0M.</a:t>
            </a:r>
            <a:endParaRPr lang="en-US" sz="850" dirty="0"/>
          </a:p>
        </p:txBody>
      </p:sp>
      <p:sp>
        <p:nvSpPr>
          <p:cNvPr id="17" name="Text 14.16"/>
          <p:cNvSpPr txBox="1"/>
          <p:nvPr/>
        </p:nvSpPr>
        <p:spPr>
          <a:xfrm>
            <a:off x="2984425" y="1930352"/>
            <a:ext cx="825479" cy="190495"/>
          </a:xfrm>
          <a:prstGeom prst="rect">
            <a:avLst/>
          </a:prstGeom>
          <a:noFill/>
          <a:ln/>
        </p:spPr>
        <p:txBody>
          <a:bodyPr wrap="square" lIns="0" tIns="0" rIns="0" bIns="0" rtlCol="0" anchor="ctr"/>
          <a:lstStyle/>
          <a:p>
            <a:pPr algn="ctr" indent="0" marL="0">
              <a:lnSpc>
                <a:spcPts val="600"/>
              </a:lnSpc>
              <a:buNone/>
            </a:pPr>
            <a:r>
              <a:rPr lang="en-US" sz="600" b="1" spc="84" kern="0" dirty="0">
                <a:solidFill>
                  <a:srgbClr val="FFFFFF"/>
                </a:solidFill>
                <a:latin typeface="Courier New" pitchFamily="34" charset="0"/>
                <a:ea typeface="Courier New" pitchFamily="34" charset="-122"/>
                <a:cs typeface="Courier New" pitchFamily="34" charset="-120"/>
              </a:rPr>
              <a:t>PHYSICS</a:t>
            </a:r>
            <a:endParaRPr lang="en-US" sz="600" dirty="0"/>
          </a:p>
        </p:txBody>
      </p:sp>
      <p:sp>
        <p:nvSpPr>
          <p:cNvPr id="18" name="Text 14.17"/>
          <p:cNvSpPr txBox="1"/>
          <p:nvPr/>
        </p:nvSpPr>
        <p:spPr>
          <a:xfrm>
            <a:off x="2984425" y="3136822"/>
            <a:ext cx="1073754" cy="182558"/>
          </a:xfrm>
          <a:prstGeom prst="rect">
            <a:avLst/>
          </a:prstGeom>
          <a:noFill/>
          <a:ln/>
        </p:spPr>
        <p:txBody>
          <a:bodyPr wrap="square" lIns="0" tIns="0" rIns="0" bIns="0" rtlCol="0" anchor="t"/>
          <a:lstStyle/>
          <a:p>
            <a:pPr algn="l" indent="0" marL="0">
              <a:lnSpc>
                <a:spcPts val="1440"/>
              </a:lnSpc>
              <a:buNone/>
            </a:pPr>
            <a:r>
              <a:rPr lang="en-US" sz="1250" b="1" spc="-13" kern="0" dirty="0">
                <a:solidFill>
                  <a:srgbClr val="14161B"/>
                </a:solidFill>
                <a:latin typeface="Arial" pitchFamily="34" charset="0"/>
                <a:ea typeface="Arial" pitchFamily="34" charset="-122"/>
                <a:cs typeface="Arial" pitchFamily="34" charset="-120"/>
              </a:rPr>
              <a:t>Gang Beasts</a:t>
            </a:r>
            <a:endParaRPr lang="en-US" sz="1250" dirty="0"/>
          </a:p>
        </p:txBody>
      </p:sp>
      <p:sp>
        <p:nvSpPr>
          <p:cNvPr id="19" name="Text 14.18"/>
          <p:cNvSpPr txBox="1"/>
          <p:nvPr/>
        </p:nvSpPr>
        <p:spPr>
          <a:xfrm>
            <a:off x="2984425" y="3365416"/>
            <a:ext cx="1002660"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Boneloaf · 2017</a:t>
            </a:r>
            <a:endParaRPr lang="en-US" sz="750" dirty="0"/>
          </a:p>
        </p:txBody>
      </p:sp>
      <p:sp>
        <p:nvSpPr>
          <p:cNvPr id="20" name="Text 14.19"/>
          <p:cNvSpPr txBox="1"/>
          <p:nvPr/>
        </p:nvSpPr>
        <p:spPr>
          <a:xfrm>
            <a:off x="2984425" y="3492413"/>
            <a:ext cx="1065235"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1450C8"/>
                </a:solidFill>
                <a:latin typeface="Courier New" pitchFamily="34" charset="0"/>
                <a:ea typeface="Courier New" pitchFamily="34" charset="-122"/>
                <a:cs typeface="Courier New" pitchFamily="34" charset="-120"/>
              </a:rPr>
              <a:t>steam app 285900</a:t>
            </a:r>
            <a:endParaRPr lang="en-US" sz="750" dirty="0"/>
          </a:p>
        </p:txBody>
      </p:sp>
      <p:sp>
        <p:nvSpPr>
          <p:cNvPr id="21" name="Text 14.20"/>
          <p:cNvSpPr txBox="1"/>
          <p:nvPr/>
        </p:nvSpPr>
        <p:spPr>
          <a:xfrm>
            <a:off x="2984425" y="3771806"/>
            <a:ext cx="43190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1EA5E6"/>
                </a:solidFill>
                <a:latin typeface="Courier New" pitchFamily="34" charset="0"/>
                <a:ea typeface="Courier New" pitchFamily="34" charset="-122"/>
                <a:cs typeface="Courier New" pitchFamily="34" charset="-120"/>
              </a:rPr>
              <a:t>VISUAL</a:t>
            </a:r>
            <a:endParaRPr lang="en-US" sz="600" dirty="0"/>
          </a:p>
        </p:txBody>
      </p:sp>
      <p:sp>
        <p:nvSpPr>
          <p:cNvPr id="22" name="Text 14.21"/>
          <p:cNvSpPr txBox="1"/>
          <p:nvPr/>
        </p:nvSpPr>
        <p:spPr>
          <a:xfrm>
            <a:off x="2984425" y="3911502"/>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Soft, gelatinous 3D people.</a:t>
            </a:r>
            <a:endParaRPr lang="en-US" sz="850" dirty="0"/>
          </a:p>
        </p:txBody>
      </p:sp>
      <p:sp>
        <p:nvSpPr>
          <p:cNvPr id="23" name="Text 14.22"/>
          <p:cNvSpPr txBox="1"/>
          <p:nvPr/>
        </p:nvSpPr>
        <p:spPr>
          <a:xfrm>
            <a:off x="2984425" y="4343291"/>
            <a:ext cx="554744"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1EA5E6"/>
                </a:solidFill>
                <a:latin typeface="Courier New" pitchFamily="34" charset="0"/>
                <a:ea typeface="Courier New" pitchFamily="34" charset="-122"/>
                <a:cs typeface="Courier New" pitchFamily="34" charset="-120"/>
              </a:rPr>
              <a:t>MECHANIC</a:t>
            </a:r>
            <a:endParaRPr lang="en-US" sz="600" dirty="0"/>
          </a:p>
        </p:txBody>
      </p:sp>
      <p:sp>
        <p:nvSpPr>
          <p:cNvPr id="24" name="Text 14.23"/>
          <p:cNvSpPr txBox="1"/>
          <p:nvPr/>
        </p:nvSpPr>
        <p:spPr>
          <a:xfrm>
            <a:off x="2984425" y="4482988"/>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Ragdoll brawling into stage hazards.</a:t>
            </a:r>
            <a:endParaRPr lang="en-US" sz="850" dirty="0"/>
          </a:p>
        </p:txBody>
      </p:sp>
      <p:sp>
        <p:nvSpPr>
          <p:cNvPr id="25" name="Text 14.24"/>
          <p:cNvSpPr txBox="1"/>
          <p:nvPr/>
        </p:nvSpPr>
        <p:spPr>
          <a:xfrm>
            <a:off x="2984425" y="4914777"/>
            <a:ext cx="738895"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1EA5E6"/>
                </a:solidFill>
                <a:latin typeface="Courier New" pitchFamily="34" charset="0"/>
                <a:ea typeface="Courier New" pitchFamily="34" charset="-122"/>
                <a:cs typeface="Courier New" pitchFamily="34" charset="-120"/>
              </a:rPr>
              <a:t>MULTIPLAYER</a:t>
            </a:r>
            <a:endParaRPr lang="en-US" sz="600" dirty="0"/>
          </a:p>
        </p:txBody>
      </p:sp>
      <p:sp>
        <p:nvSpPr>
          <p:cNvPr id="26" name="Text 14.25"/>
          <p:cNvSpPr txBox="1"/>
          <p:nvPr/>
        </p:nvSpPr>
        <p:spPr>
          <a:xfrm>
            <a:off x="2984425" y="5054474"/>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Same-screen and online. No LAN listed.</a:t>
            </a:r>
            <a:endParaRPr lang="en-US" sz="850" dirty="0"/>
          </a:p>
        </p:txBody>
      </p:sp>
      <p:sp>
        <p:nvSpPr>
          <p:cNvPr id="27" name="Text 14.26"/>
          <p:cNvSpPr txBox="1"/>
          <p:nvPr/>
        </p:nvSpPr>
        <p:spPr>
          <a:xfrm>
            <a:off x="2984425" y="5486263"/>
            <a:ext cx="67747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1EA5E6"/>
                </a:solidFill>
                <a:latin typeface="Courier New" pitchFamily="34" charset="0"/>
                <a:ea typeface="Courier New" pitchFamily="34" charset="-122"/>
                <a:cs typeface="Courier New" pitchFamily="34" charset="-120"/>
              </a:rPr>
              <a:t>FINANCIALS</a:t>
            </a:r>
            <a:endParaRPr lang="en-US" sz="600" dirty="0"/>
          </a:p>
        </p:txBody>
      </p:sp>
      <p:sp>
        <p:nvSpPr>
          <p:cNvPr id="28" name="Text 14.27"/>
          <p:cNvSpPr txBox="1"/>
          <p:nvPr/>
        </p:nvSpPr>
        <p:spPr>
          <a:xfrm>
            <a:off x="2984425" y="5625959"/>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85% positive. Owner est. 4.6M–5.8M.</a:t>
            </a:r>
            <a:endParaRPr lang="en-US" sz="850" dirty="0"/>
          </a:p>
        </p:txBody>
      </p:sp>
      <p:sp>
        <p:nvSpPr>
          <p:cNvPr id="29" name="Text 14.28"/>
          <p:cNvSpPr txBox="1"/>
          <p:nvPr/>
        </p:nvSpPr>
        <p:spPr>
          <a:xfrm>
            <a:off x="5206870" y="1930352"/>
            <a:ext cx="825479" cy="190495"/>
          </a:xfrm>
          <a:prstGeom prst="rect">
            <a:avLst/>
          </a:prstGeom>
          <a:noFill/>
          <a:ln/>
        </p:spPr>
        <p:txBody>
          <a:bodyPr wrap="square" lIns="0" tIns="0" rIns="0" bIns="0" rtlCol="0" anchor="ctr"/>
          <a:lstStyle/>
          <a:p>
            <a:pPr algn="ctr" indent="0" marL="0">
              <a:lnSpc>
                <a:spcPts val="600"/>
              </a:lnSpc>
              <a:buNone/>
            </a:pPr>
            <a:r>
              <a:rPr lang="en-US" sz="600" b="1" spc="84" kern="0" dirty="0">
                <a:solidFill>
                  <a:srgbClr val="FFFFFF"/>
                </a:solidFill>
                <a:latin typeface="Courier New" pitchFamily="34" charset="0"/>
                <a:ea typeface="Courier New" pitchFamily="34" charset="-122"/>
                <a:cs typeface="Courier New" pitchFamily="34" charset="-120"/>
              </a:rPr>
              <a:t>FORMAT</a:t>
            </a:r>
            <a:endParaRPr lang="en-US" sz="600" dirty="0"/>
          </a:p>
        </p:txBody>
      </p:sp>
      <p:sp>
        <p:nvSpPr>
          <p:cNvPr id="30" name="Text 14.29"/>
          <p:cNvSpPr txBox="1"/>
          <p:nvPr/>
        </p:nvSpPr>
        <p:spPr>
          <a:xfrm>
            <a:off x="5206870" y="3136822"/>
            <a:ext cx="805888" cy="182558"/>
          </a:xfrm>
          <a:prstGeom prst="rect">
            <a:avLst/>
          </a:prstGeom>
          <a:noFill/>
          <a:ln/>
        </p:spPr>
        <p:txBody>
          <a:bodyPr wrap="square" lIns="0" tIns="0" rIns="0" bIns="0" rtlCol="0" anchor="t"/>
          <a:lstStyle/>
          <a:p>
            <a:pPr algn="l" indent="0" marL="0">
              <a:lnSpc>
                <a:spcPts val="1440"/>
              </a:lnSpc>
              <a:buNone/>
            </a:pPr>
            <a:r>
              <a:rPr lang="en-US" sz="1250" b="1" spc="-13" kern="0" dirty="0">
                <a:solidFill>
                  <a:srgbClr val="14161B"/>
                </a:solidFill>
                <a:latin typeface="Arial" pitchFamily="34" charset="0"/>
                <a:ea typeface="Arial" pitchFamily="34" charset="-122"/>
                <a:cs typeface="Arial" pitchFamily="34" charset="-120"/>
              </a:rPr>
              <a:t>Fall Guys</a:t>
            </a:r>
            <a:endParaRPr lang="en-US" sz="1250" dirty="0"/>
          </a:p>
        </p:txBody>
      </p:sp>
      <p:sp>
        <p:nvSpPr>
          <p:cNvPr id="31" name="Text 14.30"/>
          <p:cNvSpPr txBox="1"/>
          <p:nvPr/>
        </p:nvSpPr>
        <p:spPr>
          <a:xfrm>
            <a:off x="5206870" y="3365416"/>
            <a:ext cx="1566157"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Mediatonic / Epic · 2020</a:t>
            </a:r>
            <a:endParaRPr lang="en-US" sz="750" dirty="0"/>
          </a:p>
        </p:txBody>
      </p:sp>
      <p:sp>
        <p:nvSpPr>
          <p:cNvPr id="32" name="Text 14.31"/>
          <p:cNvSpPr txBox="1"/>
          <p:nvPr/>
        </p:nvSpPr>
        <p:spPr>
          <a:xfrm>
            <a:off x="5206870" y="3492413"/>
            <a:ext cx="112781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1450C8"/>
                </a:solidFill>
                <a:latin typeface="Courier New" pitchFamily="34" charset="0"/>
                <a:ea typeface="Courier New" pitchFamily="34" charset="-122"/>
                <a:cs typeface="Courier New" pitchFamily="34" charset="-120"/>
              </a:rPr>
              <a:t>steam app 1097150</a:t>
            </a:r>
            <a:endParaRPr lang="en-US" sz="750" dirty="0"/>
          </a:p>
        </p:txBody>
      </p:sp>
      <p:sp>
        <p:nvSpPr>
          <p:cNvPr id="33" name="Text 14.32"/>
          <p:cNvSpPr txBox="1"/>
          <p:nvPr/>
        </p:nvSpPr>
        <p:spPr>
          <a:xfrm>
            <a:off x="5206870" y="3771806"/>
            <a:ext cx="43190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38B03A"/>
                </a:solidFill>
                <a:latin typeface="Courier New" pitchFamily="34" charset="0"/>
                <a:ea typeface="Courier New" pitchFamily="34" charset="-122"/>
                <a:cs typeface="Courier New" pitchFamily="34" charset="-120"/>
              </a:rPr>
              <a:t>VISUAL</a:t>
            </a:r>
            <a:endParaRPr lang="en-US" sz="600" dirty="0"/>
          </a:p>
        </p:txBody>
      </p:sp>
      <p:sp>
        <p:nvSpPr>
          <p:cNvPr id="34" name="Text 14.33"/>
          <p:cNvSpPr txBox="1"/>
          <p:nvPr/>
        </p:nvSpPr>
        <p:spPr>
          <a:xfrm>
            <a:off x="5206870" y="3911502"/>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Candy-coloured beans, obstacle courses.</a:t>
            </a:r>
            <a:endParaRPr lang="en-US" sz="850" dirty="0"/>
          </a:p>
        </p:txBody>
      </p:sp>
      <p:sp>
        <p:nvSpPr>
          <p:cNvPr id="35" name="Text 14.34"/>
          <p:cNvSpPr txBox="1"/>
          <p:nvPr/>
        </p:nvSpPr>
        <p:spPr>
          <a:xfrm>
            <a:off x="5206870" y="4343291"/>
            <a:ext cx="554744"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38B03A"/>
                </a:solidFill>
                <a:latin typeface="Courier New" pitchFamily="34" charset="0"/>
                <a:ea typeface="Courier New" pitchFamily="34" charset="-122"/>
                <a:cs typeface="Courier New" pitchFamily="34" charset="-120"/>
              </a:rPr>
              <a:t>MECHANIC</a:t>
            </a:r>
            <a:endParaRPr lang="en-US" sz="600" dirty="0"/>
          </a:p>
        </p:txBody>
      </p:sp>
      <p:sp>
        <p:nvSpPr>
          <p:cNvPr id="36" name="Text 14.35"/>
          <p:cNvSpPr txBox="1"/>
          <p:nvPr/>
        </p:nvSpPr>
        <p:spPr>
          <a:xfrm>
            <a:off x="5206870" y="4482988"/>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Short race and survival rounds in a playlist.</a:t>
            </a:r>
            <a:endParaRPr lang="en-US" sz="850" dirty="0"/>
          </a:p>
        </p:txBody>
      </p:sp>
      <p:sp>
        <p:nvSpPr>
          <p:cNvPr id="37" name="Text 14.36"/>
          <p:cNvSpPr txBox="1"/>
          <p:nvPr/>
        </p:nvSpPr>
        <p:spPr>
          <a:xfrm>
            <a:off x="5206870" y="4914777"/>
            <a:ext cx="738895"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38B03A"/>
                </a:solidFill>
                <a:latin typeface="Courier New" pitchFamily="34" charset="0"/>
                <a:ea typeface="Courier New" pitchFamily="34" charset="-122"/>
                <a:cs typeface="Courier New" pitchFamily="34" charset="-120"/>
              </a:rPr>
              <a:t>MULTIPLAYER</a:t>
            </a:r>
            <a:endParaRPr lang="en-US" sz="600" dirty="0"/>
          </a:p>
        </p:txBody>
      </p:sp>
      <p:sp>
        <p:nvSpPr>
          <p:cNvPr id="38" name="Text 14.37"/>
          <p:cNvSpPr txBox="1"/>
          <p:nvPr/>
        </p:nvSpPr>
        <p:spPr>
          <a:xfrm>
            <a:off x="5206870" y="5054474"/>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Online, cross-platform only.</a:t>
            </a:r>
            <a:endParaRPr lang="en-US" sz="850" dirty="0"/>
          </a:p>
        </p:txBody>
      </p:sp>
      <p:sp>
        <p:nvSpPr>
          <p:cNvPr id="39" name="Text 14.38"/>
          <p:cNvSpPr txBox="1"/>
          <p:nvPr/>
        </p:nvSpPr>
        <p:spPr>
          <a:xfrm>
            <a:off x="5206870" y="5486263"/>
            <a:ext cx="67747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38B03A"/>
                </a:solidFill>
                <a:latin typeface="Courier New" pitchFamily="34" charset="0"/>
                <a:ea typeface="Courier New" pitchFamily="34" charset="-122"/>
                <a:cs typeface="Courier New" pitchFamily="34" charset="-120"/>
              </a:rPr>
              <a:t>FINANCIALS</a:t>
            </a:r>
            <a:endParaRPr lang="en-US" sz="600" dirty="0"/>
          </a:p>
        </p:txBody>
      </p:sp>
      <p:sp>
        <p:nvSpPr>
          <p:cNvPr id="40" name="Text 14.39"/>
          <p:cNvSpPr txBox="1"/>
          <p:nvPr/>
        </p:nvSpPr>
        <p:spPr>
          <a:xfrm>
            <a:off x="5206870" y="5625959"/>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Free-to-play. Legacy Steam peak 172,213.</a:t>
            </a:r>
            <a:endParaRPr lang="en-US" sz="850" dirty="0"/>
          </a:p>
        </p:txBody>
      </p:sp>
      <p:sp>
        <p:nvSpPr>
          <p:cNvPr id="41" name="Text 14.40"/>
          <p:cNvSpPr txBox="1"/>
          <p:nvPr/>
        </p:nvSpPr>
        <p:spPr>
          <a:xfrm>
            <a:off x="7429314" y="1930352"/>
            <a:ext cx="825479" cy="190495"/>
          </a:xfrm>
          <a:prstGeom prst="rect">
            <a:avLst/>
          </a:prstGeom>
          <a:noFill/>
          <a:ln/>
        </p:spPr>
        <p:txBody>
          <a:bodyPr wrap="square" lIns="0" tIns="0" rIns="0" bIns="0" rtlCol="0" anchor="ctr"/>
          <a:lstStyle/>
          <a:p>
            <a:pPr algn="ctr" indent="0" marL="0">
              <a:lnSpc>
                <a:spcPts val="600"/>
              </a:lnSpc>
              <a:buNone/>
            </a:pPr>
            <a:r>
              <a:rPr lang="en-US" sz="600" b="1" spc="84" kern="0" dirty="0">
                <a:solidFill>
                  <a:srgbClr val="FFFFFF"/>
                </a:solidFill>
                <a:latin typeface="Courier New" pitchFamily="34" charset="0"/>
                <a:ea typeface="Courier New" pitchFamily="34" charset="-122"/>
                <a:cs typeface="Courier New" pitchFamily="34" charset="-120"/>
              </a:rPr>
              <a:t>FORMAT</a:t>
            </a:r>
            <a:endParaRPr lang="en-US" sz="600" dirty="0"/>
          </a:p>
        </p:txBody>
      </p:sp>
      <p:sp>
        <p:nvSpPr>
          <p:cNvPr id="42" name="Text 14.41"/>
          <p:cNvSpPr txBox="1"/>
          <p:nvPr/>
        </p:nvSpPr>
        <p:spPr>
          <a:xfrm>
            <a:off x="7429314" y="3136822"/>
            <a:ext cx="1165672" cy="182558"/>
          </a:xfrm>
          <a:prstGeom prst="rect">
            <a:avLst/>
          </a:prstGeom>
          <a:noFill/>
          <a:ln/>
        </p:spPr>
        <p:txBody>
          <a:bodyPr wrap="square" lIns="0" tIns="0" rIns="0" bIns="0" rtlCol="0" anchor="t"/>
          <a:lstStyle/>
          <a:p>
            <a:pPr algn="l" indent="0" marL="0">
              <a:lnSpc>
                <a:spcPts val="1440"/>
              </a:lnSpc>
              <a:buNone/>
            </a:pPr>
            <a:r>
              <a:rPr lang="en-US" sz="1250" b="1" spc="-13" kern="0" dirty="0">
                <a:solidFill>
                  <a:srgbClr val="14161B"/>
                </a:solidFill>
                <a:latin typeface="Arial" pitchFamily="34" charset="0"/>
                <a:ea typeface="Arial" pitchFamily="34" charset="-122"/>
                <a:cs typeface="Arial" pitchFamily="34" charset="-120"/>
              </a:rPr>
              <a:t>Pummel Party</a:t>
            </a:r>
            <a:endParaRPr lang="en-US" sz="1250" dirty="0"/>
          </a:p>
        </p:txBody>
      </p:sp>
      <p:sp>
        <p:nvSpPr>
          <p:cNvPr id="43" name="Text 14.42"/>
          <p:cNvSpPr txBox="1"/>
          <p:nvPr/>
        </p:nvSpPr>
        <p:spPr>
          <a:xfrm>
            <a:off x="7429314" y="3365416"/>
            <a:ext cx="1315643"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Rebuilt Games · 2018</a:t>
            </a:r>
            <a:endParaRPr lang="en-US" sz="750" dirty="0"/>
          </a:p>
        </p:txBody>
      </p:sp>
      <p:sp>
        <p:nvSpPr>
          <p:cNvPr id="44" name="Text 14.43"/>
          <p:cNvSpPr txBox="1"/>
          <p:nvPr/>
        </p:nvSpPr>
        <p:spPr>
          <a:xfrm>
            <a:off x="7429314" y="3492413"/>
            <a:ext cx="1065235"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1450C8"/>
                </a:solidFill>
                <a:latin typeface="Courier New" pitchFamily="34" charset="0"/>
                <a:ea typeface="Courier New" pitchFamily="34" charset="-122"/>
                <a:cs typeface="Courier New" pitchFamily="34" charset="-120"/>
              </a:rPr>
              <a:t>steam app 880940</a:t>
            </a:r>
            <a:endParaRPr lang="en-US" sz="750" dirty="0"/>
          </a:p>
        </p:txBody>
      </p:sp>
      <p:sp>
        <p:nvSpPr>
          <p:cNvPr id="45" name="Text 14.44"/>
          <p:cNvSpPr txBox="1"/>
          <p:nvPr/>
        </p:nvSpPr>
        <p:spPr>
          <a:xfrm>
            <a:off x="7429314" y="3771806"/>
            <a:ext cx="43190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38B03A"/>
                </a:solidFill>
                <a:latin typeface="Courier New" pitchFamily="34" charset="0"/>
                <a:ea typeface="Courier New" pitchFamily="34" charset="-122"/>
                <a:cs typeface="Courier New" pitchFamily="34" charset="-120"/>
              </a:rPr>
              <a:t>VISUAL</a:t>
            </a:r>
            <a:endParaRPr lang="en-US" sz="600" dirty="0"/>
          </a:p>
        </p:txBody>
      </p:sp>
      <p:sp>
        <p:nvSpPr>
          <p:cNvPr id="46" name="Text 14.45"/>
          <p:cNvSpPr txBox="1"/>
          <p:nvPr/>
        </p:nvSpPr>
        <p:spPr>
          <a:xfrm>
            <a:off x="7429314" y="3911502"/>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Low-poly 3D, slapstick items.</a:t>
            </a:r>
            <a:endParaRPr lang="en-US" sz="850" dirty="0"/>
          </a:p>
        </p:txBody>
      </p:sp>
      <p:sp>
        <p:nvSpPr>
          <p:cNvPr id="47" name="Text 14.46"/>
          <p:cNvSpPr txBox="1"/>
          <p:nvPr/>
        </p:nvSpPr>
        <p:spPr>
          <a:xfrm>
            <a:off x="7429314" y="4343291"/>
            <a:ext cx="554744"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38B03A"/>
                </a:solidFill>
                <a:latin typeface="Courier New" pitchFamily="34" charset="0"/>
                <a:ea typeface="Courier New" pitchFamily="34" charset="-122"/>
                <a:cs typeface="Courier New" pitchFamily="34" charset="-120"/>
              </a:rPr>
              <a:t>MECHANIC</a:t>
            </a:r>
            <a:endParaRPr lang="en-US" sz="600" dirty="0"/>
          </a:p>
        </p:txBody>
      </p:sp>
      <p:sp>
        <p:nvSpPr>
          <p:cNvPr id="48" name="Text 14.47"/>
          <p:cNvSpPr txBox="1"/>
          <p:nvPr/>
        </p:nvSpPr>
        <p:spPr>
          <a:xfrm>
            <a:off x="7429314" y="4482988"/>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Board game with short mini-games.</a:t>
            </a:r>
            <a:endParaRPr lang="en-US" sz="850" dirty="0"/>
          </a:p>
        </p:txBody>
      </p:sp>
      <p:sp>
        <p:nvSpPr>
          <p:cNvPr id="49" name="Text 14.48"/>
          <p:cNvSpPr txBox="1"/>
          <p:nvPr/>
        </p:nvSpPr>
        <p:spPr>
          <a:xfrm>
            <a:off x="7429314" y="4914777"/>
            <a:ext cx="738895"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38B03A"/>
                </a:solidFill>
                <a:latin typeface="Courier New" pitchFamily="34" charset="0"/>
                <a:ea typeface="Courier New" pitchFamily="34" charset="-122"/>
                <a:cs typeface="Courier New" pitchFamily="34" charset="-120"/>
              </a:rPr>
              <a:t>MULTIPLAYER</a:t>
            </a:r>
            <a:endParaRPr lang="en-US" sz="600" dirty="0"/>
          </a:p>
        </p:txBody>
      </p:sp>
      <p:sp>
        <p:nvSpPr>
          <p:cNvPr id="50" name="Text 14.49"/>
          <p:cNvSpPr txBox="1"/>
          <p:nvPr/>
        </p:nvSpPr>
        <p:spPr>
          <a:xfrm>
            <a:off x="7429314" y="5054474"/>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4–8 online and local. No LAN listed.</a:t>
            </a:r>
            <a:endParaRPr lang="en-US" sz="850" dirty="0"/>
          </a:p>
        </p:txBody>
      </p:sp>
      <p:sp>
        <p:nvSpPr>
          <p:cNvPr id="51" name="Text 14.50"/>
          <p:cNvSpPr txBox="1"/>
          <p:nvPr/>
        </p:nvSpPr>
        <p:spPr>
          <a:xfrm>
            <a:off x="7429314" y="5486263"/>
            <a:ext cx="67747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38B03A"/>
                </a:solidFill>
                <a:latin typeface="Courier New" pitchFamily="34" charset="0"/>
                <a:ea typeface="Courier New" pitchFamily="34" charset="-122"/>
                <a:cs typeface="Courier New" pitchFamily="34" charset="-120"/>
              </a:rPr>
              <a:t>FINANCIALS</a:t>
            </a:r>
            <a:endParaRPr lang="en-US" sz="600" dirty="0"/>
          </a:p>
        </p:txBody>
      </p:sp>
      <p:sp>
        <p:nvSpPr>
          <p:cNvPr id="52" name="Text 14.51"/>
          <p:cNvSpPr txBox="1"/>
          <p:nvPr/>
        </p:nvSpPr>
        <p:spPr>
          <a:xfrm>
            <a:off x="7429314" y="5625959"/>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$14.99. Peak 20,957. Owner est. 1.5M–7.6M.</a:t>
            </a:r>
            <a:endParaRPr lang="en-US" sz="850" dirty="0"/>
          </a:p>
        </p:txBody>
      </p:sp>
      <p:sp>
        <p:nvSpPr>
          <p:cNvPr id="53" name="Text 14.52"/>
          <p:cNvSpPr txBox="1"/>
          <p:nvPr/>
        </p:nvSpPr>
        <p:spPr>
          <a:xfrm>
            <a:off x="9651759" y="1930352"/>
            <a:ext cx="825479" cy="190495"/>
          </a:xfrm>
          <a:prstGeom prst="rect">
            <a:avLst/>
          </a:prstGeom>
          <a:noFill/>
          <a:ln/>
        </p:spPr>
        <p:txBody>
          <a:bodyPr wrap="square" lIns="0" tIns="0" rIns="0" bIns="0" rtlCol="0" anchor="ctr"/>
          <a:lstStyle/>
          <a:p>
            <a:pPr algn="ctr" indent="0" marL="0">
              <a:lnSpc>
                <a:spcPts val="600"/>
              </a:lnSpc>
              <a:buNone/>
            </a:pPr>
            <a:r>
              <a:rPr lang="en-US" sz="600" b="1" spc="84" kern="0" dirty="0">
                <a:solidFill>
                  <a:srgbClr val="FFFFFF"/>
                </a:solidFill>
                <a:latin typeface="Courier New" pitchFamily="34" charset="0"/>
                <a:ea typeface="Courier New" pitchFamily="34" charset="-122"/>
                <a:cs typeface="Courier New" pitchFamily="34" charset="-120"/>
              </a:rPr>
              <a:t>MECHANIC</a:t>
            </a:r>
            <a:endParaRPr lang="en-US" sz="600" dirty="0"/>
          </a:p>
        </p:txBody>
      </p:sp>
      <p:sp>
        <p:nvSpPr>
          <p:cNvPr id="54" name="Text 14.53"/>
          <p:cNvSpPr txBox="1"/>
          <p:nvPr/>
        </p:nvSpPr>
        <p:spPr>
          <a:xfrm>
            <a:off x="9651759" y="3136822"/>
            <a:ext cx="816931" cy="182558"/>
          </a:xfrm>
          <a:prstGeom prst="rect">
            <a:avLst/>
          </a:prstGeom>
          <a:noFill/>
          <a:ln/>
        </p:spPr>
        <p:txBody>
          <a:bodyPr wrap="square" lIns="0" tIns="0" rIns="0" bIns="0" rtlCol="0" anchor="t"/>
          <a:lstStyle/>
          <a:p>
            <a:pPr algn="l" indent="0" marL="0">
              <a:lnSpc>
                <a:spcPts val="1440"/>
              </a:lnSpc>
              <a:buNone/>
            </a:pPr>
            <a:r>
              <a:rPr lang="en-US" sz="1250" b="1" spc="-13" kern="0" dirty="0">
                <a:solidFill>
                  <a:srgbClr val="14161B"/>
                </a:solidFill>
                <a:latin typeface="Arial" pitchFamily="34" charset="0"/>
                <a:ea typeface="Arial" pitchFamily="34" charset="-122"/>
                <a:cs typeface="Arial" pitchFamily="34" charset="-120"/>
              </a:rPr>
              <a:t>Squarena</a:t>
            </a:r>
            <a:endParaRPr lang="en-US" sz="1250" dirty="0"/>
          </a:p>
        </p:txBody>
      </p:sp>
      <p:sp>
        <p:nvSpPr>
          <p:cNvPr id="55" name="Text 14.54"/>
          <p:cNvSpPr txBox="1"/>
          <p:nvPr/>
        </p:nvSpPr>
        <p:spPr>
          <a:xfrm>
            <a:off x="9651759" y="3365416"/>
            <a:ext cx="112781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Codeaclysm · 2022</a:t>
            </a:r>
            <a:endParaRPr lang="en-US" sz="750" dirty="0"/>
          </a:p>
        </p:txBody>
      </p:sp>
      <p:sp>
        <p:nvSpPr>
          <p:cNvPr id="56" name="Text 14.55"/>
          <p:cNvSpPr txBox="1"/>
          <p:nvPr/>
        </p:nvSpPr>
        <p:spPr>
          <a:xfrm>
            <a:off x="9651759" y="3492413"/>
            <a:ext cx="112781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1450C8"/>
                </a:solidFill>
                <a:latin typeface="Courier New" pitchFamily="34" charset="0"/>
                <a:ea typeface="Courier New" pitchFamily="34" charset="-122"/>
                <a:cs typeface="Courier New" pitchFamily="34" charset="-120"/>
              </a:rPr>
              <a:t>steam app 1858400</a:t>
            </a:r>
            <a:endParaRPr lang="en-US" sz="750" dirty="0"/>
          </a:p>
        </p:txBody>
      </p:sp>
      <p:sp>
        <p:nvSpPr>
          <p:cNvPr id="57" name="Text 14.56"/>
          <p:cNvSpPr txBox="1"/>
          <p:nvPr/>
        </p:nvSpPr>
        <p:spPr>
          <a:xfrm>
            <a:off x="9651759" y="3771806"/>
            <a:ext cx="43190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7E48DE"/>
                </a:solidFill>
                <a:latin typeface="Courier New" pitchFamily="34" charset="0"/>
                <a:ea typeface="Courier New" pitchFamily="34" charset="-122"/>
                <a:cs typeface="Courier New" pitchFamily="34" charset="-120"/>
              </a:rPr>
              <a:t>VISUAL</a:t>
            </a:r>
            <a:endParaRPr lang="en-US" sz="600" dirty="0"/>
          </a:p>
        </p:txBody>
      </p:sp>
      <p:sp>
        <p:nvSpPr>
          <p:cNvPr id="58" name="Text 14.57"/>
          <p:cNvSpPr txBox="1"/>
          <p:nvPr/>
        </p:nvSpPr>
        <p:spPr>
          <a:xfrm>
            <a:off x="9651759" y="3911502"/>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Minimal flat 2D squares.</a:t>
            </a:r>
            <a:endParaRPr lang="en-US" sz="850" dirty="0"/>
          </a:p>
        </p:txBody>
      </p:sp>
      <p:sp>
        <p:nvSpPr>
          <p:cNvPr id="59" name="Text 14.58"/>
          <p:cNvSpPr txBox="1"/>
          <p:nvPr/>
        </p:nvSpPr>
        <p:spPr>
          <a:xfrm>
            <a:off x="9651759" y="4343291"/>
            <a:ext cx="554744"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7E48DE"/>
                </a:solidFill>
                <a:latin typeface="Courier New" pitchFamily="34" charset="0"/>
                <a:ea typeface="Courier New" pitchFamily="34" charset="-122"/>
                <a:cs typeface="Courier New" pitchFamily="34" charset="-120"/>
              </a:rPr>
              <a:t>MECHANIC</a:t>
            </a:r>
            <a:endParaRPr lang="en-US" sz="600" dirty="0"/>
          </a:p>
        </p:txBody>
      </p:sp>
      <p:sp>
        <p:nvSpPr>
          <p:cNvPr id="60" name="Text 14.59"/>
          <p:cNvSpPr txBox="1"/>
          <p:nvPr/>
        </p:nvSpPr>
        <p:spPr>
          <a:xfrm>
            <a:off x="9651759" y="4482988"/>
            <a:ext cx="1816055" cy="29129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Low health shrinks you; small bodies feel more recoil.</a:t>
            </a:r>
            <a:endParaRPr lang="en-US" sz="850" dirty="0"/>
          </a:p>
        </p:txBody>
      </p:sp>
      <p:sp>
        <p:nvSpPr>
          <p:cNvPr id="61" name="Text 14.60"/>
          <p:cNvSpPr txBox="1"/>
          <p:nvPr/>
        </p:nvSpPr>
        <p:spPr>
          <a:xfrm>
            <a:off x="9651759" y="4914777"/>
            <a:ext cx="738895"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7E48DE"/>
                </a:solidFill>
                <a:latin typeface="Courier New" pitchFamily="34" charset="0"/>
                <a:ea typeface="Courier New" pitchFamily="34" charset="-122"/>
                <a:cs typeface="Courier New" pitchFamily="34" charset="-120"/>
              </a:rPr>
              <a:t>MULTIPLAYER</a:t>
            </a:r>
            <a:endParaRPr lang="en-US" sz="600" dirty="0"/>
          </a:p>
        </p:txBody>
      </p:sp>
      <p:sp>
        <p:nvSpPr>
          <p:cNvPr id="62" name="Text 14.61"/>
          <p:cNvSpPr txBox="1"/>
          <p:nvPr/>
        </p:nvSpPr>
        <p:spPr>
          <a:xfrm>
            <a:off x="9651759" y="5054474"/>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Up to 6 local. No LAN listed.</a:t>
            </a:r>
            <a:endParaRPr lang="en-US" sz="850" dirty="0"/>
          </a:p>
        </p:txBody>
      </p:sp>
      <p:sp>
        <p:nvSpPr>
          <p:cNvPr id="63" name="Text 14.62"/>
          <p:cNvSpPr txBox="1"/>
          <p:nvPr/>
        </p:nvSpPr>
        <p:spPr>
          <a:xfrm>
            <a:off x="9651759" y="5486263"/>
            <a:ext cx="677476" cy="91438"/>
          </a:xfrm>
          <a:prstGeom prst="rect">
            <a:avLst/>
          </a:prstGeom>
          <a:noFill/>
          <a:ln/>
        </p:spPr>
        <p:txBody>
          <a:bodyPr wrap="square" lIns="0" tIns="0" rIns="0" bIns="0" rtlCol="0" anchor="t"/>
          <a:lstStyle/>
          <a:p>
            <a:pPr algn="l" indent="0" marL="0">
              <a:lnSpc>
                <a:spcPts val="720"/>
              </a:lnSpc>
              <a:buNone/>
            </a:pPr>
            <a:r>
              <a:rPr lang="en-US" sz="600" b="1" spc="96" kern="0" dirty="0">
                <a:solidFill>
                  <a:srgbClr val="7E48DE"/>
                </a:solidFill>
                <a:latin typeface="Courier New" pitchFamily="34" charset="0"/>
                <a:ea typeface="Courier New" pitchFamily="34" charset="-122"/>
                <a:cs typeface="Courier New" pitchFamily="34" charset="-120"/>
              </a:rPr>
              <a:t>FINANCIALS</a:t>
            </a:r>
            <a:endParaRPr lang="en-US" sz="600" dirty="0"/>
          </a:p>
        </p:txBody>
      </p:sp>
      <p:sp>
        <p:nvSpPr>
          <p:cNvPr id="64" name="Text 14.63"/>
          <p:cNvSpPr txBox="1"/>
          <p:nvPr/>
        </p:nvSpPr>
        <p:spPr>
          <a:xfrm>
            <a:off x="9651759" y="5625959"/>
            <a:ext cx="1816055" cy="145729"/>
          </a:xfrm>
          <a:prstGeom prst="rect">
            <a:avLst/>
          </a:prstGeom>
          <a:noFill/>
          <a:ln/>
        </p:spPr>
        <p:txBody>
          <a:bodyPr wrap="square" lIns="0" tIns="0" rIns="0" bIns="0" rtlCol="0" anchor="t"/>
          <a:lstStyle/>
          <a:p>
            <a:pPr algn="l" indent="0" marL="0">
              <a:lnSpc>
                <a:spcPts val="1150"/>
              </a:lnSpc>
              <a:buNone/>
            </a:pPr>
            <a:r>
              <a:rPr lang="en-US" sz="850" dirty="0">
                <a:solidFill>
                  <a:srgbClr val="14161B"/>
                </a:solidFill>
                <a:latin typeface="Arial" pitchFamily="34" charset="0"/>
                <a:ea typeface="Arial" pitchFamily="34" charset="-122"/>
                <a:cs typeface="Arial" pitchFamily="34" charset="-120"/>
              </a:rPr>
              <a:t>$4.99. Sales not disclosed.</a:t>
            </a:r>
            <a:endParaRPr lang="en-US" sz="850" dirty="0"/>
          </a:p>
        </p:txBody>
      </p:sp>
      <p:sp>
        <p:nvSpPr>
          <p:cNvPr id="65" name="Text 14.64"/>
          <p:cNvSpPr txBox="1"/>
          <p:nvPr/>
        </p:nvSpPr>
        <p:spPr>
          <a:xfrm>
            <a:off x="609585" y="6235544"/>
            <a:ext cx="820244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Screenshots: official Steam media, © publishers. “Owner est.” = third-party estimates via SteamDB, not sales. Data 2026-10-17 [7].</a:t>
            </a:r>
            <a:endParaRPr lang="en-US" sz="750" dirty="0"/>
          </a:p>
        </p:txBody>
      </p:sp>
      <p:sp>
        <p:nvSpPr>
          <p:cNvPr id="66" name="Text 14.65"/>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14</a:t>
            </a:r>
            <a:endParaRPr lang="en-US" sz="7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5.1"/>
          <p:cNvSpPr txBox="1"/>
          <p:nvPr/>
        </p:nvSpPr>
        <p:spPr>
          <a:xfrm>
            <a:off x="609585" y="355591"/>
            <a:ext cx="1076489"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38B03A"/>
                </a:solidFill>
                <a:latin typeface="Courier New" pitchFamily="34" charset="0"/>
                <a:ea typeface="Courier New" pitchFamily="34" charset="-122"/>
                <a:cs typeface="Courier New" pitchFamily="34" charset="-120"/>
              </a:rPr>
              <a:t>09 — MARKET</a:t>
            </a:r>
            <a:endParaRPr lang="en-US" sz="900" dirty="0"/>
          </a:p>
        </p:txBody>
      </p:sp>
      <p:sp>
        <p:nvSpPr>
          <p:cNvPr id="3" name="Text 15.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15.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Where we sit </a:t>
            </a:r>
            <a:pPr algn="l" indent="0" marL="0">
              <a:lnSpc>
                <a:spcPts val="3600"/>
              </a:lnSpc>
              <a:buNone/>
            </a:pPr>
            <a:r>
              <a:rPr lang="en-US" sz="3400" i="1" spc="-41" kern="0" dirty="0">
                <a:solidFill>
                  <a:srgbClr val="38B03A"/>
                </a:solidFill>
                <a:latin typeface="Georgia" pitchFamily="34" charset="0"/>
                <a:ea typeface="Georgia" pitchFamily="34" charset="-122"/>
                <a:cs typeface="Georgia" pitchFamily="34" charset="-120"/>
              </a:rPr>
              <a:t>among them</a:t>
            </a:r>
            <a:endParaRPr lang="en-US" sz="3400" dirty="0"/>
          </a:p>
        </p:txBody>
      </p:sp>
      <p:sp>
        <p:nvSpPr>
          <p:cNvPr id="5" name="Text 15.4"/>
          <p:cNvSpPr txBox="1"/>
          <p:nvPr/>
        </p:nvSpPr>
        <p:spPr>
          <a:xfrm>
            <a:off x="4063898" y="1866853"/>
            <a:ext cx="1250919" cy="99058"/>
          </a:xfrm>
          <a:prstGeom prst="rect">
            <a:avLst/>
          </a:prstGeom>
          <a:noFill/>
          <a:ln/>
        </p:spPr>
        <p:txBody>
          <a:bodyPr wrap="square" lIns="0" tIns="0" rIns="0" bIns="0" rtlCol="0" anchor="t"/>
          <a:lstStyle/>
          <a:p>
            <a:pPr algn="ctr" indent="0" marL="0">
              <a:lnSpc>
                <a:spcPts val="780"/>
              </a:lnSpc>
              <a:buNone/>
            </a:pPr>
            <a:r>
              <a:rPr lang="en-US" sz="650" b="1" spc="104" kern="0" dirty="0">
                <a:solidFill>
                  <a:srgbClr val="646973"/>
                </a:solidFill>
                <a:latin typeface="Courier New" pitchFamily="34" charset="0"/>
                <a:ea typeface="Courier New" pitchFamily="34" charset="-122"/>
                <a:cs typeface="Courier New" pitchFamily="34" charset="-120"/>
              </a:rPr>
              <a:t>PARTY ANIMALS</a:t>
            </a:r>
            <a:endParaRPr lang="en-US" sz="650" dirty="0"/>
          </a:p>
        </p:txBody>
      </p:sp>
      <p:sp>
        <p:nvSpPr>
          <p:cNvPr id="6" name="Text 15.5"/>
          <p:cNvSpPr txBox="1"/>
          <p:nvPr/>
        </p:nvSpPr>
        <p:spPr>
          <a:xfrm>
            <a:off x="5314817" y="1866853"/>
            <a:ext cx="1250919" cy="99058"/>
          </a:xfrm>
          <a:prstGeom prst="rect">
            <a:avLst/>
          </a:prstGeom>
          <a:noFill/>
          <a:ln/>
        </p:spPr>
        <p:txBody>
          <a:bodyPr wrap="square" lIns="0" tIns="0" rIns="0" bIns="0" rtlCol="0" anchor="t"/>
          <a:lstStyle/>
          <a:p>
            <a:pPr algn="ctr" indent="0" marL="0">
              <a:lnSpc>
                <a:spcPts val="780"/>
              </a:lnSpc>
              <a:buNone/>
            </a:pPr>
            <a:r>
              <a:rPr lang="en-US" sz="650" b="1" spc="104" kern="0" dirty="0">
                <a:solidFill>
                  <a:srgbClr val="646973"/>
                </a:solidFill>
                <a:latin typeface="Courier New" pitchFamily="34" charset="0"/>
                <a:ea typeface="Courier New" pitchFamily="34" charset="-122"/>
                <a:cs typeface="Courier New" pitchFamily="34" charset="-120"/>
              </a:rPr>
              <a:t>GANG BEASTS</a:t>
            </a:r>
            <a:endParaRPr lang="en-US" sz="650" dirty="0"/>
          </a:p>
        </p:txBody>
      </p:sp>
      <p:sp>
        <p:nvSpPr>
          <p:cNvPr id="7" name="Text 15.6"/>
          <p:cNvSpPr txBox="1"/>
          <p:nvPr/>
        </p:nvSpPr>
        <p:spPr>
          <a:xfrm>
            <a:off x="6565736" y="1866853"/>
            <a:ext cx="1250919" cy="99058"/>
          </a:xfrm>
          <a:prstGeom prst="rect">
            <a:avLst/>
          </a:prstGeom>
          <a:noFill/>
          <a:ln/>
        </p:spPr>
        <p:txBody>
          <a:bodyPr wrap="square" lIns="0" tIns="0" rIns="0" bIns="0" rtlCol="0" anchor="t"/>
          <a:lstStyle/>
          <a:p>
            <a:pPr algn="ctr" indent="0" marL="0">
              <a:lnSpc>
                <a:spcPts val="780"/>
              </a:lnSpc>
              <a:buNone/>
            </a:pPr>
            <a:r>
              <a:rPr lang="en-US" sz="650" b="1" spc="104" kern="0" dirty="0">
                <a:solidFill>
                  <a:srgbClr val="646973"/>
                </a:solidFill>
                <a:latin typeface="Courier New" pitchFamily="34" charset="0"/>
                <a:ea typeface="Courier New" pitchFamily="34" charset="-122"/>
                <a:cs typeface="Courier New" pitchFamily="34" charset="-120"/>
              </a:rPr>
              <a:t>FALL GUYS</a:t>
            </a:r>
            <a:endParaRPr lang="en-US" sz="650" dirty="0"/>
          </a:p>
        </p:txBody>
      </p:sp>
      <p:sp>
        <p:nvSpPr>
          <p:cNvPr id="8" name="Text 15.7"/>
          <p:cNvSpPr txBox="1"/>
          <p:nvPr/>
        </p:nvSpPr>
        <p:spPr>
          <a:xfrm>
            <a:off x="7816655" y="1866853"/>
            <a:ext cx="1250919" cy="99058"/>
          </a:xfrm>
          <a:prstGeom prst="rect">
            <a:avLst/>
          </a:prstGeom>
          <a:noFill/>
          <a:ln/>
        </p:spPr>
        <p:txBody>
          <a:bodyPr wrap="square" lIns="0" tIns="0" rIns="0" bIns="0" rtlCol="0" anchor="t"/>
          <a:lstStyle/>
          <a:p>
            <a:pPr algn="ctr" indent="0" marL="0">
              <a:lnSpc>
                <a:spcPts val="780"/>
              </a:lnSpc>
              <a:buNone/>
            </a:pPr>
            <a:r>
              <a:rPr lang="en-US" sz="650" b="1" spc="104" kern="0" dirty="0">
                <a:solidFill>
                  <a:srgbClr val="646973"/>
                </a:solidFill>
                <a:latin typeface="Courier New" pitchFamily="34" charset="0"/>
                <a:ea typeface="Courier New" pitchFamily="34" charset="-122"/>
                <a:cs typeface="Courier New" pitchFamily="34" charset="-120"/>
              </a:rPr>
              <a:t>PUMMEL PARTY</a:t>
            </a:r>
            <a:endParaRPr lang="en-US" sz="650" dirty="0"/>
          </a:p>
        </p:txBody>
      </p:sp>
      <p:sp>
        <p:nvSpPr>
          <p:cNvPr id="9" name="Text 15.8"/>
          <p:cNvSpPr txBox="1"/>
          <p:nvPr/>
        </p:nvSpPr>
        <p:spPr>
          <a:xfrm>
            <a:off x="9067573" y="1866853"/>
            <a:ext cx="1250919" cy="99058"/>
          </a:xfrm>
          <a:prstGeom prst="rect">
            <a:avLst/>
          </a:prstGeom>
          <a:noFill/>
          <a:ln/>
        </p:spPr>
        <p:txBody>
          <a:bodyPr wrap="square" lIns="0" tIns="0" rIns="0" bIns="0" rtlCol="0" anchor="t"/>
          <a:lstStyle/>
          <a:p>
            <a:pPr algn="ctr" indent="0" marL="0">
              <a:lnSpc>
                <a:spcPts val="780"/>
              </a:lnSpc>
              <a:buNone/>
            </a:pPr>
            <a:r>
              <a:rPr lang="en-US" sz="650" b="1" spc="104" kern="0" dirty="0">
                <a:solidFill>
                  <a:srgbClr val="646973"/>
                </a:solidFill>
                <a:latin typeface="Courier New" pitchFamily="34" charset="0"/>
                <a:ea typeface="Courier New" pitchFamily="34" charset="-122"/>
                <a:cs typeface="Courier New" pitchFamily="34" charset="-120"/>
              </a:rPr>
              <a:t>SQUARENA</a:t>
            </a:r>
            <a:endParaRPr lang="en-US" sz="650" dirty="0"/>
          </a:p>
        </p:txBody>
      </p:sp>
      <p:sp>
        <p:nvSpPr>
          <p:cNvPr id="10" name="Text 15.9"/>
          <p:cNvSpPr txBox="1"/>
          <p:nvPr/>
        </p:nvSpPr>
        <p:spPr>
          <a:xfrm>
            <a:off x="10318492" y="1866853"/>
            <a:ext cx="1250919" cy="99058"/>
          </a:xfrm>
          <a:prstGeom prst="rect">
            <a:avLst/>
          </a:prstGeom>
          <a:noFill/>
          <a:ln/>
        </p:spPr>
        <p:txBody>
          <a:bodyPr wrap="square" lIns="0" tIns="0" rIns="0" bIns="0" rtlCol="0" anchor="t"/>
          <a:lstStyle/>
          <a:p>
            <a:pPr algn="ctr" indent="0" marL="0">
              <a:lnSpc>
                <a:spcPts val="780"/>
              </a:lnSpc>
              <a:buNone/>
            </a:pPr>
            <a:r>
              <a:rPr lang="en-US" sz="650" b="1" spc="104" kern="0" dirty="0">
                <a:solidFill>
                  <a:srgbClr val="FF5A1F"/>
                </a:solidFill>
                <a:latin typeface="Courier New" pitchFamily="34" charset="0"/>
                <a:ea typeface="Courier New" pitchFamily="34" charset="-122"/>
                <a:cs typeface="Courier New" pitchFamily="34" charset="-120"/>
              </a:rPr>
              <a:t>ICE RUMBLE</a:t>
            </a:r>
            <a:endParaRPr lang="en-US" sz="650" dirty="0"/>
          </a:p>
        </p:txBody>
      </p:sp>
      <p:sp>
        <p:nvSpPr>
          <p:cNvPr id="11" name="Text 15.10"/>
          <p:cNvSpPr txBox="1"/>
          <p:nvPr/>
        </p:nvSpPr>
        <p:spPr>
          <a:xfrm>
            <a:off x="609585" y="2400240"/>
            <a:ext cx="3340016" cy="167636"/>
          </a:xfrm>
          <a:prstGeom prst="rect">
            <a:avLst/>
          </a:prstGeom>
          <a:noFill/>
          <a:ln/>
        </p:spPr>
        <p:txBody>
          <a:bodyPr wrap="square" lIns="0" tIns="0" rIns="0" bIns="0" rtlCol="0" anchor="t"/>
          <a:lstStyle/>
          <a:p>
            <a:pPr algn="l" indent="0" marL="0">
              <a:lnSpc>
                <a:spcPts val="1320"/>
              </a:lnSpc>
              <a:buNone/>
            </a:pPr>
            <a:r>
              <a:rPr lang="en-US" sz="1100" b="1" dirty="0">
                <a:solidFill>
                  <a:srgbClr val="14161B"/>
                </a:solidFill>
                <a:latin typeface="Arial" pitchFamily="34" charset="0"/>
                <a:ea typeface="Arial" pitchFamily="34" charset="-122"/>
                <a:cs typeface="Arial" pitchFamily="34" charset="-120"/>
              </a:rPr>
              <a:t>3D characters</a:t>
            </a:r>
            <a:endParaRPr lang="en-US" sz="1100" dirty="0"/>
          </a:p>
        </p:txBody>
      </p:sp>
      <p:sp>
        <p:nvSpPr>
          <p:cNvPr id="12" name="Text 15.11"/>
          <p:cNvSpPr txBox="1"/>
          <p:nvPr/>
        </p:nvSpPr>
        <p:spPr>
          <a:xfrm>
            <a:off x="609585" y="2882828"/>
            <a:ext cx="3340016" cy="167636"/>
          </a:xfrm>
          <a:prstGeom prst="rect">
            <a:avLst/>
          </a:prstGeom>
          <a:noFill/>
          <a:ln/>
        </p:spPr>
        <p:txBody>
          <a:bodyPr wrap="square" lIns="0" tIns="0" rIns="0" bIns="0" rtlCol="0" anchor="t"/>
          <a:lstStyle/>
          <a:p>
            <a:pPr algn="l" indent="0" marL="0">
              <a:lnSpc>
                <a:spcPts val="1320"/>
              </a:lnSpc>
              <a:buNone/>
            </a:pPr>
            <a:r>
              <a:rPr lang="en-US" sz="1100" b="1" dirty="0">
                <a:solidFill>
                  <a:srgbClr val="14161B"/>
                </a:solidFill>
                <a:latin typeface="Arial" pitchFamily="34" charset="0"/>
                <a:ea typeface="Arial" pitchFamily="34" charset="-122"/>
                <a:cs typeface="Arial" pitchFamily="34" charset="-120"/>
              </a:rPr>
              <a:t>Ranged attacks</a:t>
            </a:r>
            <a:endParaRPr lang="en-US" sz="1100" dirty="0"/>
          </a:p>
        </p:txBody>
      </p:sp>
      <p:sp>
        <p:nvSpPr>
          <p:cNvPr id="13" name="Text 15.12"/>
          <p:cNvSpPr txBox="1"/>
          <p:nvPr/>
        </p:nvSpPr>
        <p:spPr>
          <a:xfrm>
            <a:off x="609585" y="3365416"/>
            <a:ext cx="3340016" cy="167636"/>
          </a:xfrm>
          <a:prstGeom prst="rect">
            <a:avLst/>
          </a:prstGeom>
          <a:noFill/>
          <a:ln/>
        </p:spPr>
        <p:txBody>
          <a:bodyPr wrap="square" lIns="0" tIns="0" rIns="0" bIns="0" rtlCol="0" anchor="t"/>
          <a:lstStyle/>
          <a:p>
            <a:pPr algn="l" indent="0" marL="0">
              <a:lnSpc>
                <a:spcPts val="1320"/>
              </a:lnSpc>
              <a:buNone/>
            </a:pPr>
            <a:r>
              <a:rPr lang="en-US" sz="1100" b="1" dirty="0">
                <a:solidFill>
                  <a:srgbClr val="14161B"/>
                </a:solidFill>
                <a:latin typeface="Arial" pitchFamily="34" charset="0"/>
                <a:ea typeface="Arial" pitchFamily="34" charset="-122"/>
                <a:cs typeface="Arial" pitchFamily="34" charset="-120"/>
              </a:rPr>
              <a:t>Damage changes your body size</a:t>
            </a:r>
            <a:endParaRPr lang="en-US" sz="1100" dirty="0"/>
          </a:p>
        </p:txBody>
      </p:sp>
      <p:sp>
        <p:nvSpPr>
          <p:cNvPr id="14" name="Text 15.13"/>
          <p:cNvSpPr txBox="1"/>
          <p:nvPr/>
        </p:nvSpPr>
        <p:spPr>
          <a:xfrm>
            <a:off x="609585" y="3848004"/>
            <a:ext cx="3340016" cy="167636"/>
          </a:xfrm>
          <a:prstGeom prst="rect">
            <a:avLst/>
          </a:prstGeom>
          <a:noFill/>
          <a:ln/>
        </p:spPr>
        <p:txBody>
          <a:bodyPr wrap="square" lIns="0" tIns="0" rIns="0" bIns="0" rtlCol="0" anchor="t"/>
          <a:lstStyle/>
          <a:p>
            <a:pPr algn="l" indent="0" marL="0">
              <a:lnSpc>
                <a:spcPts val="1320"/>
              </a:lnSpc>
              <a:buNone/>
            </a:pPr>
            <a:r>
              <a:rPr lang="en-US" sz="1100" b="1" dirty="0">
                <a:solidFill>
                  <a:srgbClr val="14161B"/>
                </a:solidFill>
                <a:latin typeface="Arial" pitchFamily="34" charset="0"/>
                <a:ea typeface="Arial" pitchFamily="34" charset="-122"/>
                <a:cs typeface="Arial" pitchFamily="34" charset="-120"/>
              </a:rPr>
              <a:t>Less mass, further knockback</a:t>
            </a:r>
            <a:endParaRPr lang="en-US" sz="1100" dirty="0"/>
          </a:p>
        </p:txBody>
      </p:sp>
      <p:sp>
        <p:nvSpPr>
          <p:cNvPr id="15" name="Text 15.14"/>
          <p:cNvSpPr txBox="1"/>
          <p:nvPr/>
        </p:nvSpPr>
        <p:spPr>
          <a:xfrm>
            <a:off x="609585" y="4330592"/>
            <a:ext cx="3340016" cy="167636"/>
          </a:xfrm>
          <a:prstGeom prst="rect">
            <a:avLst/>
          </a:prstGeom>
          <a:noFill/>
          <a:ln/>
        </p:spPr>
        <p:txBody>
          <a:bodyPr wrap="square" lIns="0" tIns="0" rIns="0" bIns="0" rtlCol="0" anchor="t"/>
          <a:lstStyle/>
          <a:p>
            <a:pPr algn="l" indent="0" marL="0">
              <a:lnSpc>
                <a:spcPts val="1320"/>
              </a:lnSpc>
              <a:buNone/>
            </a:pPr>
            <a:r>
              <a:rPr lang="en-US" sz="1100" b="1" dirty="0">
                <a:solidFill>
                  <a:srgbClr val="14161B"/>
                </a:solidFill>
                <a:latin typeface="Arial" pitchFamily="34" charset="0"/>
                <a:ea typeface="Arial" pitchFamily="34" charset="-122"/>
                <a:cs typeface="Arial" pitchFamily="34" charset="-120"/>
              </a:rPr>
              <a:t>Several mini-games, one result</a:t>
            </a:r>
            <a:endParaRPr lang="en-US" sz="1100" dirty="0"/>
          </a:p>
        </p:txBody>
      </p:sp>
      <p:sp>
        <p:nvSpPr>
          <p:cNvPr id="16" name="Text 15.15"/>
          <p:cNvSpPr txBox="1"/>
          <p:nvPr/>
        </p:nvSpPr>
        <p:spPr>
          <a:xfrm>
            <a:off x="609585" y="4813180"/>
            <a:ext cx="3340016" cy="167636"/>
          </a:xfrm>
          <a:prstGeom prst="rect">
            <a:avLst/>
          </a:prstGeom>
          <a:noFill/>
          <a:ln/>
        </p:spPr>
        <p:txBody>
          <a:bodyPr wrap="square" lIns="0" tIns="0" rIns="0" bIns="0" rtlCol="0" anchor="t"/>
          <a:lstStyle/>
          <a:p>
            <a:pPr algn="l" indent="0" marL="0">
              <a:lnSpc>
                <a:spcPts val="1320"/>
              </a:lnSpc>
              <a:buNone/>
            </a:pPr>
            <a:r>
              <a:rPr lang="en-US" sz="1100" b="1" dirty="0">
                <a:solidFill>
                  <a:srgbClr val="14161B"/>
                </a:solidFill>
                <a:latin typeface="Arial" pitchFamily="34" charset="0"/>
                <a:ea typeface="Arial" pitchFamily="34" charset="-122"/>
                <a:cs typeface="Arial" pitchFamily="34" charset="-120"/>
              </a:rPr>
              <a:t>Official LAN play</a:t>
            </a:r>
            <a:endParaRPr lang="en-US" sz="1100" dirty="0"/>
          </a:p>
        </p:txBody>
      </p:sp>
      <p:sp>
        <p:nvSpPr>
          <p:cNvPr id="17" name="Text 15.16"/>
          <p:cNvSpPr txBox="1"/>
          <p:nvPr/>
        </p:nvSpPr>
        <p:spPr>
          <a:xfrm>
            <a:off x="609585" y="5295768"/>
            <a:ext cx="3340016" cy="167636"/>
          </a:xfrm>
          <a:prstGeom prst="rect">
            <a:avLst/>
          </a:prstGeom>
          <a:noFill/>
          <a:ln/>
        </p:spPr>
        <p:txBody>
          <a:bodyPr wrap="square" lIns="0" tIns="0" rIns="0" bIns="0" rtlCol="0" anchor="t"/>
          <a:lstStyle/>
          <a:p>
            <a:pPr algn="l" indent="0" marL="0">
              <a:lnSpc>
                <a:spcPts val="1320"/>
              </a:lnSpc>
              <a:buNone/>
            </a:pPr>
            <a:r>
              <a:rPr lang="en-US" sz="1100" b="1" dirty="0">
                <a:solidFill>
                  <a:srgbClr val="14161B"/>
                </a:solidFill>
                <a:latin typeface="Arial" pitchFamily="34" charset="0"/>
                <a:ea typeface="Arial" pitchFamily="34" charset="-122"/>
                <a:cs typeface="Arial" pitchFamily="34" charset="-120"/>
              </a:rPr>
              <a:t>Plays with no internet</a:t>
            </a:r>
            <a:endParaRPr lang="en-US" sz="1100" dirty="0"/>
          </a:p>
        </p:txBody>
      </p:sp>
      <p:sp>
        <p:nvSpPr>
          <p:cNvPr id="18" name="Text 15.17"/>
          <p:cNvSpPr txBox="1"/>
          <p:nvPr/>
        </p:nvSpPr>
        <p:spPr>
          <a:xfrm>
            <a:off x="812780" y="5873603"/>
            <a:ext cx="261217" cy="137157"/>
          </a:xfrm>
          <a:prstGeom prst="rect">
            <a:avLst/>
          </a:prstGeom>
          <a:noFill/>
          <a:ln/>
        </p:spPr>
        <p:txBody>
          <a:bodyPr wrap="square" lIns="0" tIns="0" rIns="0" bIns="0" rtlCol="0" anchor="t"/>
          <a:lstStyle/>
          <a:p>
            <a:pPr algn="l" indent="0" marL="0">
              <a:lnSpc>
                <a:spcPts val="1080"/>
              </a:lnSpc>
              <a:buNone/>
            </a:pPr>
            <a:r>
              <a:rPr lang="en-US" sz="900" dirty="0">
                <a:solidFill>
                  <a:srgbClr val="646973"/>
                </a:solidFill>
                <a:latin typeface="Arial" pitchFamily="34" charset="0"/>
                <a:ea typeface="Arial" pitchFamily="34" charset="-122"/>
                <a:cs typeface="Arial" pitchFamily="34" charset="-120"/>
              </a:rPr>
              <a:t>Yes</a:t>
            </a:r>
            <a:endParaRPr lang="en-US" sz="900" dirty="0"/>
          </a:p>
        </p:txBody>
      </p:sp>
      <p:sp>
        <p:nvSpPr>
          <p:cNvPr id="19" name="Text 15.18"/>
          <p:cNvSpPr txBox="1"/>
          <p:nvPr/>
        </p:nvSpPr>
        <p:spPr>
          <a:xfrm>
            <a:off x="1765256" y="5873603"/>
            <a:ext cx="373222" cy="137157"/>
          </a:xfrm>
          <a:prstGeom prst="rect">
            <a:avLst/>
          </a:prstGeom>
          <a:noFill/>
          <a:ln/>
        </p:spPr>
        <p:txBody>
          <a:bodyPr wrap="square" lIns="0" tIns="0" rIns="0" bIns="0" rtlCol="0" anchor="t"/>
          <a:lstStyle/>
          <a:p>
            <a:pPr algn="l" indent="0" marL="0">
              <a:lnSpc>
                <a:spcPts val="1080"/>
              </a:lnSpc>
              <a:buNone/>
            </a:pPr>
            <a:r>
              <a:rPr lang="en-US" sz="900" dirty="0">
                <a:solidFill>
                  <a:srgbClr val="646973"/>
                </a:solidFill>
                <a:latin typeface="Arial" pitchFamily="34" charset="0"/>
                <a:ea typeface="Arial" pitchFamily="34" charset="-122"/>
                <a:cs typeface="Arial" pitchFamily="34" charset="-120"/>
              </a:rPr>
              <a:t>Partly</a:t>
            </a:r>
            <a:endParaRPr lang="en-US" sz="900" dirty="0"/>
          </a:p>
        </p:txBody>
      </p:sp>
      <p:sp>
        <p:nvSpPr>
          <p:cNvPr id="20" name="Text 15.19"/>
          <p:cNvSpPr txBox="1"/>
          <p:nvPr/>
        </p:nvSpPr>
        <p:spPr>
          <a:xfrm>
            <a:off x="2717732" y="5873603"/>
            <a:ext cx="218413" cy="137157"/>
          </a:xfrm>
          <a:prstGeom prst="rect">
            <a:avLst/>
          </a:prstGeom>
          <a:noFill/>
          <a:ln/>
        </p:spPr>
        <p:txBody>
          <a:bodyPr wrap="square" lIns="0" tIns="0" rIns="0" bIns="0" rtlCol="0" anchor="t"/>
          <a:lstStyle/>
          <a:p>
            <a:pPr algn="l" indent="0" marL="0">
              <a:lnSpc>
                <a:spcPts val="1080"/>
              </a:lnSpc>
              <a:buNone/>
            </a:pPr>
            <a:r>
              <a:rPr lang="en-US" sz="900" dirty="0">
                <a:solidFill>
                  <a:srgbClr val="646973"/>
                </a:solidFill>
                <a:latin typeface="Arial" pitchFamily="34" charset="0"/>
                <a:ea typeface="Arial" pitchFamily="34" charset="-122"/>
                <a:cs typeface="Arial" pitchFamily="34" charset="-120"/>
              </a:rPr>
              <a:t>No</a:t>
            </a:r>
            <a:endParaRPr lang="en-US" sz="900" dirty="0"/>
          </a:p>
        </p:txBody>
      </p:sp>
      <p:sp>
        <p:nvSpPr>
          <p:cNvPr id="21" name="Text 15.20"/>
          <p:cNvSpPr txBox="1"/>
          <p:nvPr/>
        </p:nvSpPr>
        <p:spPr>
          <a:xfrm>
            <a:off x="3555911" y="5727557"/>
            <a:ext cx="8064298" cy="266693"/>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“Official LAN” = advertised in the game’s Steam features. “Partly”: Party Animals and Pummel Party have some weapons or items; Fall Guys’ playlist eliminates rather than scores. Party Animals needs internet even on one screen [8]. Ice Rumble column = planned design.</a:t>
            </a:r>
            <a:endParaRPr lang="en-US" sz="750" dirty="0"/>
          </a:p>
        </p:txBody>
      </p:sp>
      <p:sp>
        <p:nvSpPr>
          <p:cNvPr id="22" name="Text 15.21"/>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15</a:t>
            </a:r>
            <a:endParaRPr lang="en-US" sz="7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6.1"/>
          <p:cNvSpPr txBox="1"/>
          <p:nvPr/>
        </p:nvSpPr>
        <p:spPr>
          <a:xfrm>
            <a:off x="609585" y="355591"/>
            <a:ext cx="2273735"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FF5A1F"/>
                </a:solidFill>
                <a:latin typeface="Courier New" pitchFamily="34" charset="0"/>
                <a:ea typeface="Courier New" pitchFamily="34" charset="-122"/>
                <a:cs typeface="Courier New" pitchFamily="34" charset="-120"/>
              </a:rPr>
              <a:t>10 — DRAFTS &amp; PROTOTYPES</a:t>
            </a:r>
            <a:endParaRPr lang="en-US" sz="900" dirty="0"/>
          </a:p>
        </p:txBody>
      </p:sp>
      <p:sp>
        <p:nvSpPr>
          <p:cNvPr id="3" name="Text 16.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16.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What we have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built and drawn</a:t>
            </a:r>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 so far</a:t>
            </a:r>
            <a:endParaRPr lang="en-US" sz="3400" dirty="0"/>
          </a:p>
        </p:txBody>
      </p:sp>
      <p:sp>
        <p:nvSpPr>
          <p:cNvPr id="5" name="Text 16.4"/>
          <p:cNvSpPr txBox="1"/>
          <p:nvPr/>
        </p:nvSpPr>
        <p:spPr>
          <a:xfrm>
            <a:off x="838179" y="2044649"/>
            <a:ext cx="15420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EA5E6"/>
                </a:solidFill>
                <a:latin typeface="Courier New" pitchFamily="34" charset="0"/>
                <a:ea typeface="Courier New" pitchFamily="34" charset="-122"/>
                <a:cs typeface="Courier New" pitchFamily="34" charset="-120"/>
              </a:rPr>
              <a:t>PHYSICS PROTOTYPE</a:t>
            </a:r>
            <a:endParaRPr lang="en-US" sz="850" dirty="0"/>
          </a:p>
        </p:txBody>
      </p:sp>
      <p:sp>
        <p:nvSpPr>
          <p:cNvPr id="6" name="Text 16.5"/>
          <p:cNvSpPr txBox="1"/>
          <p:nvPr/>
        </p:nvSpPr>
        <p:spPr>
          <a:xfrm>
            <a:off x="838179" y="5371966"/>
            <a:ext cx="5168771" cy="324437"/>
          </a:xfrm>
          <a:prstGeom prst="rect">
            <a:avLst/>
          </a:prstGeom>
          <a:noFill/>
          <a:ln/>
        </p:spPr>
        <p:txBody>
          <a:bodyPr wrap="square" lIns="0" tIns="0" rIns="0" bIns="0" rtlCol="0" anchor="t"/>
          <a:lstStyle/>
          <a:p>
            <a:pPr algn="l" indent="0" marL="0">
              <a:lnSpc>
                <a:spcPts val="1280"/>
              </a:lnSpc>
              <a:buNone/>
            </a:pPr>
            <a:r>
              <a:rPr lang="en-US" sz="900" b="1" dirty="0">
                <a:solidFill>
                  <a:srgbClr val="14161B"/>
                </a:solidFill>
                <a:latin typeface="Arial" pitchFamily="34" charset="0"/>
                <a:ea typeface="Arial" pitchFamily="34" charset="-122"/>
                <a:cs typeface="Arial" pitchFamily="34" charset="-120"/>
              </a:rPr>
              <a:t>Three.js, deterministic, rendered frame by frame.</a:t>
            </a:r>
            <a:pPr algn="l" indent="0" marL="0">
              <a:lnSpc>
                <a:spcPts val="1280"/>
              </a:lnSpc>
              <a:buNone/>
            </a:pPr>
            <a:r>
              <a:rPr lang="en-US" sz="900" dirty="0">
                <a:solidFill>
                  <a:srgbClr val="646973"/>
                </a:solidFill>
                <a:latin typeface="Arial" pitchFamily="34" charset="0"/>
                <a:ea typeface="Arial" pitchFamily="34" charset="-122"/>
                <a:cs typeface="Arial" pitchFamily="34" charset="-120"/>
              </a:rPr>
              <a:t> Three shots: the target shrinks and is pushed further each time. We used it to check the rule reads before writing Unity code.</a:t>
            </a:r>
            <a:endParaRPr lang="en-US" sz="900" dirty="0"/>
          </a:p>
        </p:txBody>
      </p:sp>
      <p:sp>
        <p:nvSpPr>
          <p:cNvPr id="7" name="Text 16.6"/>
          <p:cNvSpPr txBox="1"/>
          <p:nvPr/>
        </p:nvSpPr>
        <p:spPr>
          <a:xfrm>
            <a:off x="6603835" y="2044649"/>
            <a:ext cx="1802998"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7E48DE"/>
                </a:solidFill>
                <a:latin typeface="Courier New" pitchFamily="34" charset="0"/>
                <a:ea typeface="Courier New" pitchFamily="34" charset="-122"/>
                <a:cs typeface="Courier New" pitchFamily="34" charset="-120"/>
              </a:rPr>
              <a:t>ART-DIRECTION DRAFTS</a:t>
            </a:r>
            <a:endParaRPr lang="en-US" sz="850" dirty="0"/>
          </a:p>
        </p:txBody>
      </p:sp>
      <p:sp>
        <p:nvSpPr>
          <p:cNvPr id="8" name="Text 16.7"/>
          <p:cNvSpPr txBox="1"/>
          <p:nvPr/>
        </p:nvSpPr>
        <p:spPr>
          <a:xfrm>
            <a:off x="6603835" y="3632109"/>
            <a:ext cx="877403"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14161B"/>
                </a:solidFill>
                <a:latin typeface="Courier New" pitchFamily="34" charset="0"/>
                <a:ea typeface="Courier New" pitchFamily="34" charset="-122"/>
                <a:cs typeface="Courier New" pitchFamily="34" charset="-120"/>
              </a:rPr>
              <a:t>A · VINYL TOY</a:t>
            </a:r>
            <a:endParaRPr lang="en-US" sz="750" dirty="0"/>
          </a:p>
        </p:txBody>
      </p:sp>
      <p:sp>
        <p:nvSpPr>
          <p:cNvPr id="9" name="Text 16.8"/>
          <p:cNvSpPr txBox="1"/>
          <p:nvPr/>
        </p:nvSpPr>
        <p:spPr>
          <a:xfrm>
            <a:off x="9029474" y="3632109"/>
            <a:ext cx="1253068"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14161B"/>
                </a:solidFill>
                <a:latin typeface="Courier New" pitchFamily="34" charset="0"/>
                <a:ea typeface="Courier New" pitchFamily="34" charset="-122"/>
                <a:cs typeface="Courier New" pitchFamily="34" charset="-120"/>
              </a:rPr>
              <a:t>B · BUILDING BLOCKS</a:t>
            </a:r>
            <a:endParaRPr lang="en-US" sz="750" dirty="0"/>
          </a:p>
        </p:txBody>
      </p:sp>
      <p:sp>
        <p:nvSpPr>
          <p:cNvPr id="10" name="Text 16.9"/>
          <p:cNvSpPr txBox="1"/>
          <p:nvPr/>
        </p:nvSpPr>
        <p:spPr>
          <a:xfrm>
            <a:off x="6603835" y="5181470"/>
            <a:ext cx="752252"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14161B"/>
                </a:solidFill>
                <a:latin typeface="Courier New" pitchFamily="34" charset="0"/>
                <a:ea typeface="Courier New" pitchFamily="34" charset="-122"/>
                <a:cs typeface="Courier New" pitchFamily="34" charset="-120"/>
              </a:rPr>
              <a:t>C · TIN TOY</a:t>
            </a:r>
            <a:endParaRPr lang="en-US" sz="750" dirty="0"/>
          </a:p>
        </p:txBody>
      </p:sp>
      <p:sp>
        <p:nvSpPr>
          <p:cNvPr id="11" name="Text 16.10"/>
          <p:cNvSpPr txBox="1"/>
          <p:nvPr/>
        </p:nvSpPr>
        <p:spPr>
          <a:xfrm>
            <a:off x="9029474" y="5181470"/>
            <a:ext cx="626995"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14161B"/>
                </a:solidFill>
                <a:latin typeface="Courier New" pitchFamily="34" charset="0"/>
                <a:ea typeface="Courier New" pitchFamily="34" charset="-122"/>
                <a:cs typeface="Courier New" pitchFamily="34" charset="-120"/>
              </a:rPr>
              <a:t>D · JELLY</a:t>
            </a:r>
            <a:endParaRPr lang="en-US" sz="750" dirty="0"/>
          </a:p>
        </p:txBody>
      </p:sp>
      <p:sp>
        <p:nvSpPr>
          <p:cNvPr id="12" name="Text 16.11"/>
          <p:cNvSpPr txBox="1"/>
          <p:nvPr/>
        </p:nvSpPr>
        <p:spPr>
          <a:xfrm>
            <a:off x="6603835" y="5435464"/>
            <a:ext cx="4800480" cy="324437"/>
          </a:xfrm>
          <a:prstGeom prst="rect">
            <a:avLst/>
          </a:prstGeom>
          <a:noFill/>
          <a:ln/>
        </p:spPr>
        <p:txBody>
          <a:bodyPr wrap="square" lIns="0" tIns="0" rIns="0" bIns="0" rtlCol="0" anchor="t"/>
          <a:lstStyle/>
          <a:p>
            <a:pPr algn="l" indent="0" marL="0">
              <a:lnSpc>
                <a:spcPts val="1280"/>
              </a:lnSpc>
              <a:buNone/>
            </a:pPr>
            <a:r>
              <a:rPr lang="en-US" sz="900" b="1" dirty="0">
                <a:solidFill>
                  <a:srgbClr val="14161B"/>
                </a:solidFill>
                <a:latin typeface="Arial" pitchFamily="34" charset="0"/>
                <a:ea typeface="Arial" pitchFamily="34" charset="-122"/>
                <a:cs typeface="Arial" pitchFamily="34" charset="-120"/>
              </a:rPr>
              <a:t>Four looks for the same cube.</a:t>
            </a:r>
            <a:pPr algn="l" indent="0" marL="0">
              <a:lnSpc>
                <a:spcPts val="1280"/>
              </a:lnSpc>
              <a:buNone/>
            </a:pPr>
            <a:r>
              <a:rPr lang="en-US" sz="900" dirty="0">
                <a:solidFill>
                  <a:srgbClr val="646973"/>
                </a:solidFill>
                <a:latin typeface="Arial" pitchFamily="34" charset="0"/>
                <a:ea typeface="Arial" pitchFamily="34" charset="-122"/>
                <a:cs typeface="Arial" pitchFamily="34" charset="-120"/>
              </a:rPr>
              <a:t> This deck uses the glossy-toy direction. All AI-generated; none is gameplay.</a:t>
            </a:r>
            <a:endParaRPr lang="en-US" sz="900" dirty="0"/>
          </a:p>
        </p:txBody>
      </p:sp>
      <p:sp>
        <p:nvSpPr>
          <p:cNvPr id="13" name="Text 16.12"/>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16</a:t>
            </a:r>
            <a:endParaRPr lang="en-US" sz="7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7.1"/>
          <p:cNvSpPr txBox="1"/>
          <p:nvPr/>
        </p:nvSpPr>
        <p:spPr>
          <a:xfrm>
            <a:off x="609585" y="355591"/>
            <a:ext cx="199745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FF5A1F"/>
                </a:solidFill>
                <a:latin typeface="Courier New" pitchFamily="34" charset="0"/>
                <a:ea typeface="Courier New" pitchFamily="34" charset="-122"/>
                <a:cs typeface="Courier New" pitchFamily="34" charset="-120"/>
              </a:rPr>
              <a:t>11 — DEVELOPMENT PLAN</a:t>
            </a:r>
            <a:endParaRPr lang="en-US" sz="900" dirty="0"/>
          </a:p>
        </p:txBody>
      </p:sp>
      <p:sp>
        <p:nvSpPr>
          <p:cNvPr id="3" name="Text 17.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17.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Build order: </a:t>
            </a:r>
            <a:pPr algn="l" indent="0" marL="0">
              <a:lnSpc>
                <a:spcPts val="3600"/>
              </a:lnSpc>
              <a:buNone/>
            </a:pPr>
            <a:r>
              <a:rPr lang="en-US" sz="3400" i="1" spc="-41" kern="0" dirty="0">
                <a:solidFill>
                  <a:srgbClr val="FF5A1F"/>
                </a:solidFill>
                <a:latin typeface="Georgia" pitchFamily="34" charset="0"/>
                <a:ea typeface="Georgia" pitchFamily="34" charset="-122"/>
                <a:cs typeface="Georgia" pitchFamily="34" charset="-120"/>
              </a:rPr>
              <a:t>shared core first</a:t>
            </a:r>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 then each mini-game</a:t>
            </a:r>
            <a:endParaRPr lang="en-US" sz="3400" dirty="0"/>
          </a:p>
        </p:txBody>
      </p:sp>
      <p:sp>
        <p:nvSpPr>
          <p:cNvPr id="5" name="Text 17.4"/>
          <p:cNvSpPr txBox="1"/>
          <p:nvPr/>
        </p:nvSpPr>
        <p:spPr>
          <a:xfrm>
            <a:off x="5283068" y="1993850"/>
            <a:ext cx="877403"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M1 · DATE TBD</a:t>
            </a:r>
            <a:endParaRPr lang="en-US" sz="750" dirty="0"/>
          </a:p>
        </p:txBody>
      </p:sp>
      <p:sp>
        <p:nvSpPr>
          <p:cNvPr id="6" name="Text 17.5"/>
          <p:cNvSpPr txBox="1"/>
          <p:nvPr/>
        </p:nvSpPr>
        <p:spPr>
          <a:xfrm>
            <a:off x="6807030" y="1993850"/>
            <a:ext cx="877403"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M2 · DATE TBD</a:t>
            </a:r>
            <a:endParaRPr lang="en-US" sz="750" dirty="0"/>
          </a:p>
        </p:txBody>
      </p:sp>
      <p:sp>
        <p:nvSpPr>
          <p:cNvPr id="7" name="Text 17.6"/>
          <p:cNvSpPr txBox="1"/>
          <p:nvPr/>
        </p:nvSpPr>
        <p:spPr>
          <a:xfrm>
            <a:off x="8330992" y="1993850"/>
            <a:ext cx="877403"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M3 · DATE TBD</a:t>
            </a:r>
            <a:endParaRPr lang="en-US" sz="750" dirty="0"/>
          </a:p>
        </p:txBody>
      </p:sp>
      <p:sp>
        <p:nvSpPr>
          <p:cNvPr id="8" name="Text 17.7"/>
          <p:cNvSpPr txBox="1"/>
          <p:nvPr/>
        </p:nvSpPr>
        <p:spPr>
          <a:xfrm>
            <a:off x="9854954" y="1993850"/>
            <a:ext cx="877403"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M4 · DATE TBD</a:t>
            </a:r>
            <a:endParaRPr lang="en-US" sz="750" dirty="0"/>
          </a:p>
        </p:txBody>
      </p:sp>
      <p:sp>
        <p:nvSpPr>
          <p:cNvPr id="9" name="Text 17.8"/>
          <p:cNvSpPr txBox="1"/>
          <p:nvPr/>
        </p:nvSpPr>
        <p:spPr>
          <a:xfrm>
            <a:off x="863578" y="2374841"/>
            <a:ext cx="4165496" cy="156841"/>
          </a:xfrm>
          <a:prstGeom prst="rect">
            <a:avLst/>
          </a:prstGeom>
          <a:noFill/>
          <a:ln/>
        </p:spPr>
        <p:txBody>
          <a:bodyPr wrap="square" lIns="0" tIns="0" rIns="0" bIns="0" rtlCol="0" anchor="t"/>
          <a:lstStyle/>
          <a:p>
            <a:pPr algn="l" indent="0" marL="0">
              <a:lnSpc>
                <a:spcPts val="1230"/>
              </a:lnSpc>
              <a:buNone/>
            </a:pPr>
            <a:r>
              <a:rPr lang="en-US" sz="950" b="1" dirty="0">
                <a:solidFill>
                  <a:srgbClr val="14161B"/>
                </a:solidFill>
                <a:latin typeface="Arial" pitchFamily="34" charset="0"/>
                <a:ea typeface="Arial" pitchFamily="34" charset="-122"/>
                <a:cs typeface="Arial" pitchFamily="34" charset="-120"/>
              </a:rPr>
              <a:t>Core</a:t>
            </a:r>
            <a:pPr algn="l" indent="0" marL="0">
              <a:lnSpc>
                <a:spcPts val="1230"/>
              </a:lnSpc>
              <a:buNone/>
            </a:pPr>
            <a:r>
              <a:rPr lang="en-US" sz="950" dirty="0">
                <a:solidFill>
                  <a:srgbClr val="646973"/>
                </a:solidFill>
                <a:latin typeface="Arial" pitchFamily="34" charset="0"/>
                <a:ea typeface="Arial" pitchFamily="34" charset="-122"/>
                <a:cs typeface="Arial" pitchFamily="34" charset="-120"/>
              </a:rPr>
              <a:t> Character, camera, movement, fall detection</a:t>
            </a:r>
            <a:endParaRPr lang="en-US" sz="950" dirty="0"/>
          </a:p>
        </p:txBody>
      </p:sp>
      <p:sp>
        <p:nvSpPr>
          <p:cNvPr id="10" name="Text 17.9"/>
          <p:cNvSpPr txBox="1"/>
          <p:nvPr/>
        </p:nvSpPr>
        <p:spPr>
          <a:xfrm>
            <a:off x="863578" y="2730432"/>
            <a:ext cx="4165496" cy="156841"/>
          </a:xfrm>
          <a:prstGeom prst="rect">
            <a:avLst/>
          </a:prstGeom>
          <a:noFill/>
          <a:ln/>
        </p:spPr>
        <p:txBody>
          <a:bodyPr wrap="square" lIns="0" tIns="0" rIns="0" bIns="0" rtlCol="0" anchor="t"/>
          <a:lstStyle/>
          <a:p>
            <a:pPr algn="l" indent="0" marL="0">
              <a:lnSpc>
                <a:spcPts val="1230"/>
              </a:lnSpc>
              <a:buNone/>
            </a:pPr>
            <a:r>
              <a:rPr lang="en-US" sz="950" b="1" dirty="0">
                <a:solidFill>
                  <a:srgbClr val="14161B"/>
                </a:solidFill>
                <a:latin typeface="Arial" pitchFamily="34" charset="0"/>
                <a:ea typeface="Arial" pitchFamily="34" charset="-122"/>
                <a:cs typeface="Arial" pitchFamily="34" charset="-120"/>
              </a:rPr>
              <a:t>LAN</a:t>
            </a:r>
            <a:pPr algn="l" indent="0" marL="0">
              <a:lnSpc>
                <a:spcPts val="1230"/>
              </a:lnSpc>
              <a:buNone/>
            </a:pPr>
            <a:r>
              <a:rPr lang="en-US" sz="950" dirty="0">
                <a:solidFill>
                  <a:srgbClr val="646973"/>
                </a:solidFill>
                <a:latin typeface="Arial" pitchFamily="34" charset="0"/>
                <a:ea typeface="Arial" pitchFamily="34" charset="-122"/>
                <a:cs typeface="Arial" pitchFamily="34" charset="-120"/>
              </a:rPr>
              <a:t> Host / join, host authority, sync</a:t>
            </a:r>
            <a:endParaRPr lang="en-US" sz="950" dirty="0"/>
          </a:p>
        </p:txBody>
      </p:sp>
      <p:sp>
        <p:nvSpPr>
          <p:cNvPr id="11" name="Text 17.10"/>
          <p:cNvSpPr txBox="1"/>
          <p:nvPr/>
        </p:nvSpPr>
        <p:spPr>
          <a:xfrm>
            <a:off x="863578" y="3086023"/>
            <a:ext cx="4165496" cy="156841"/>
          </a:xfrm>
          <a:prstGeom prst="rect">
            <a:avLst/>
          </a:prstGeom>
          <a:noFill/>
          <a:ln/>
        </p:spPr>
        <p:txBody>
          <a:bodyPr wrap="square" lIns="0" tIns="0" rIns="0" bIns="0" rtlCol="0" anchor="t"/>
          <a:lstStyle/>
          <a:p>
            <a:pPr algn="l" indent="0" marL="0">
              <a:lnSpc>
                <a:spcPts val="1230"/>
              </a:lnSpc>
              <a:buNone/>
            </a:pPr>
            <a:r>
              <a:rPr lang="en-US" sz="950" b="1" dirty="0">
                <a:solidFill>
                  <a:srgbClr val="14161B"/>
                </a:solidFill>
                <a:latin typeface="Arial" pitchFamily="34" charset="0"/>
                <a:ea typeface="Arial" pitchFamily="34" charset="-122"/>
                <a:cs typeface="Arial" pitchFamily="34" charset="-120"/>
              </a:rPr>
              <a:t>Ice Race</a:t>
            </a:r>
            <a:pPr algn="l" indent="0" marL="0">
              <a:lnSpc>
                <a:spcPts val="1230"/>
              </a:lnSpc>
              <a:buNone/>
            </a:pPr>
            <a:r>
              <a:rPr lang="en-US" sz="950" dirty="0">
                <a:solidFill>
                  <a:srgbClr val="646973"/>
                </a:solidFill>
                <a:latin typeface="Arial" pitchFamily="34" charset="0"/>
                <a:ea typeface="Arial" pitchFamily="34" charset="-122"/>
                <a:cs typeface="Arial" pitchFamily="34" charset="-120"/>
              </a:rPr>
              <a:t> Ice movement, track, checkpoints, finish</a:t>
            </a:r>
            <a:endParaRPr lang="en-US" sz="950" dirty="0"/>
          </a:p>
        </p:txBody>
      </p:sp>
      <p:sp>
        <p:nvSpPr>
          <p:cNvPr id="12" name="Text 17.11"/>
          <p:cNvSpPr txBox="1"/>
          <p:nvPr/>
        </p:nvSpPr>
        <p:spPr>
          <a:xfrm>
            <a:off x="863578" y="3441614"/>
            <a:ext cx="4165496" cy="156841"/>
          </a:xfrm>
          <a:prstGeom prst="rect">
            <a:avLst/>
          </a:prstGeom>
          <a:noFill/>
          <a:ln/>
        </p:spPr>
        <p:txBody>
          <a:bodyPr wrap="square" lIns="0" tIns="0" rIns="0" bIns="0" rtlCol="0" anchor="t"/>
          <a:lstStyle/>
          <a:p>
            <a:pPr algn="l" indent="0" marL="0">
              <a:lnSpc>
                <a:spcPts val="1230"/>
              </a:lnSpc>
              <a:buNone/>
            </a:pPr>
            <a:r>
              <a:rPr lang="en-US" sz="950" b="1" dirty="0">
                <a:solidFill>
                  <a:srgbClr val="14161B"/>
                </a:solidFill>
                <a:latin typeface="Arial" pitchFamily="34" charset="0"/>
                <a:ea typeface="Arial" pitchFamily="34" charset="-122"/>
                <a:cs typeface="Arial" pitchFamily="34" charset="-120"/>
              </a:rPr>
              <a:t>Mass Knockout</a:t>
            </a:r>
            <a:pPr algn="l" indent="0" marL="0">
              <a:lnSpc>
                <a:spcPts val="1230"/>
              </a:lnSpc>
              <a:buNone/>
            </a:pPr>
            <a:r>
              <a:rPr lang="en-US" sz="950" dirty="0">
                <a:solidFill>
                  <a:srgbClr val="646973"/>
                </a:solidFill>
                <a:latin typeface="Arial" pitchFamily="34" charset="0"/>
                <a:ea typeface="Arial" pitchFamily="34" charset="-122"/>
                <a:cs typeface="Arial" pitchFamily="34" charset="-120"/>
              </a:rPr>
              <a:t> Mass state, spit, hits, knockback, respawn</a:t>
            </a:r>
            <a:endParaRPr lang="en-US" sz="950" dirty="0"/>
          </a:p>
        </p:txBody>
      </p:sp>
      <p:sp>
        <p:nvSpPr>
          <p:cNvPr id="13" name="Text 17.12"/>
          <p:cNvSpPr txBox="1"/>
          <p:nvPr/>
        </p:nvSpPr>
        <p:spPr>
          <a:xfrm>
            <a:off x="863578" y="3797205"/>
            <a:ext cx="4165496" cy="156841"/>
          </a:xfrm>
          <a:prstGeom prst="rect">
            <a:avLst/>
          </a:prstGeom>
          <a:noFill/>
          <a:ln/>
        </p:spPr>
        <p:txBody>
          <a:bodyPr wrap="square" lIns="0" tIns="0" rIns="0" bIns="0" rtlCol="0" anchor="t"/>
          <a:lstStyle/>
          <a:p>
            <a:pPr algn="l" indent="0" marL="0">
              <a:lnSpc>
                <a:spcPts val="1230"/>
              </a:lnSpc>
              <a:buNone/>
            </a:pPr>
            <a:r>
              <a:rPr lang="en-US" sz="950" b="1" dirty="0">
                <a:solidFill>
                  <a:srgbClr val="14161B"/>
                </a:solidFill>
                <a:latin typeface="Arial" pitchFamily="34" charset="0"/>
                <a:ea typeface="Arial" pitchFamily="34" charset="-122"/>
                <a:cs typeface="Arial" pitchFamily="34" charset="-120"/>
              </a:rPr>
              <a:t>Session</a:t>
            </a:r>
            <a:pPr algn="l" indent="0" marL="0">
              <a:lnSpc>
                <a:spcPts val="1230"/>
              </a:lnSpc>
              <a:buNone/>
            </a:pPr>
            <a:r>
              <a:rPr lang="en-US" sz="950" dirty="0">
                <a:solidFill>
                  <a:srgbClr val="646973"/>
                </a:solidFill>
                <a:latin typeface="Arial" pitchFamily="34" charset="0"/>
                <a:ea typeface="Arial" pitchFamily="34" charset="-122"/>
                <a:cs typeface="Arial" pitchFamily="34" charset="-120"/>
              </a:rPr>
              <a:t> Lobby, rotation, scoreboard, catch-up scoring</a:t>
            </a:r>
            <a:endParaRPr lang="en-US" sz="950" dirty="0"/>
          </a:p>
        </p:txBody>
      </p:sp>
      <p:sp>
        <p:nvSpPr>
          <p:cNvPr id="14" name="Text 17.13"/>
          <p:cNvSpPr txBox="1"/>
          <p:nvPr/>
        </p:nvSpPr>
        <p:spPr>
          <a:xfrm>
            <a:off x="863578" y="4152796"/>
            <a:ext cx="4165496" cy="156841"/>
          </a:xfrm>
          <a:prstGeom prst="rect">
            <a:avLst/>
          </a:prstGeom>
          <a:noFill/>
          <a:ln/>
        </p:spPr>
        <p:txBody>
          <a:bodyPr wrap="square" lIns="0" tIns="0" rIns="0" bIns="0" rtlCol="0" anchor="t"/>
          <a:lstStyle/>
          <a:p>
            <a:pPr algn="l" indent="0" marL="0">
              <a:lnSpc>
                <a:spcPts val="1230"/>
              </a:lnSpc>
              <a:buNone/>
            </a:pPr>
            <a:r>
              <a:rPr lang="en-US" sz="950" b="1" dirty="0">
                <a:solidFill>
                  <a:srgbClr val="14161B"/>
                </a:solidFill>
                <a:latin typeface="Arial" pitchFamily="34" charset="0"/>
                <a:ea typeface="Arial" pitchFamily="34" charset="-122"/>
                <a:cs typeface="Arial" pitchFamily="34" charset="-120"/>
              </a:rPr>
              <a:t>Tune &amp; polish</a:t>
            </a:r>
            <a:pPr algn="l" indent="0" marL="0">
              <a:lnSpc>
                <a:spcPts val="1230"/>
              </a:lnSpc>
              <a:buNone/>
            </a:pPr>
            <a:r>
              <a:rPr lang="en-US" sz="950" dirty="0">
                <a:solidFill>
                  <a:srgbClr val="646973"/>
                </a:solidFill>
                <a:latin typeface="Arial" pitchFamily="34" charset="0"/>
                <a:ea typeface="Arial" pitchFamily="34" charset="-122"/>
                <a:cs typeface="Arial" pitchFamily="34" charset="-120"/>
              </a:rPr>
              <a:t> Playtests; trails, hit flash, UI</a:t>
            </a:r>
            <a:endParaRPr lang="en-US" sz="950" dirty="0"/>
          </a:p>
        </p:txBody>
      </p:sp>
      <p:sp>
        <p:nvSpPr>
          <p:cNvPr id="15" name="Text 17.14"/>
          <p:cNvSpPr txBox="1"/>
          <p:nvPr/>
        </p:nvSpPr>
        <p:spPr>
          <a:xfrm>
            <a:off x="863578" y="4521087"/>
            <a:ext cx="275562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646973"/>
                </a:solidFill>
                <a:latin typeface="Courier New" pitchFamily="34" charset="0"/>
                <a:ea typeface="Courier New" pitchFamily="34" charset="-122"/>
                <a:cs typeface="Courier New" pitchFamily="34" charset="-120"/>
              </a:rPr>
              <a:t>OWNERS: TBD · ORDER IS FIXED, DATES ARE NOT</a:t>
            </a:r>
            <a:endParaRPr lang="en-US" sz="750" dirty="0"/>
          </a:p>
        </p:txBody>
      </p:sp>
      <p:sp>
        <p:nvSpPr>
          <p:cNvPr id="16" name="Text 17.15"/>
          <p:cNvSpPr txBox="1"/>
          <p:nvPr/>
        </p:nvSpPr>
        <p:spPr>
          <a:xfrm>
            <a:off x="1117572" y="5117972"/>
            <a:ext cx="20639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1EA5E6"/>
                </a:solidFill>
                <a:latin typeface="Courier New" pitchFamily="34" charset="0"/>
                <a:ea typeface="Courier New" pitchFamily="34" charset="-122"/>
                <a:cs typeface="Courier New" pitchFamily="34" charset="-120"/>
              </a:rPr>
              <a:t>RISK: NETWORKED PHYSICS</a:t>
            </a:r>
            <a:endParaRPr lang="en-US" sz="850" dirty="0"/>
          </a:p>
        </p:txBody>
      </p:sp>
      <p:sp>
        <p:nvSpPr>
          <p:cNvPr id="17" name="Text 17.16"/>
          <p:cNvSpPr txBox="1"/>
          <p:nvPr/>
        </p:nvSpPr>
        <p:spPr>
          <a:xfrm>
            <a:off x="1117572" y="5295768"/>
            <a:ext cx="2578036" cy="319873"/>
          </a:xfrm>
          <a:prstGeom prst="rect">
            <a:avLst/>
          </a:prstGeom>
          <a:noFill/>
          <a:ln/>
        </p:spPr>
        <p:txBody>
          <a:bodyPr wrap="square" lIns="0" tIns="0" rIns="0" bIns="0" rtlCol="0" anchor="t"/>
          <a:lstStyle/>
          <a:p>
            <a:pPr algn="l" indent="0" marL="0">
              <a:lnSpc>
                <a:spcPts val="1260"/>
              </a:lnSpc>
              <a:buNone/>
            </a:pPr>
            <a:r>
              <a:rPr lang="en-US" sz="900" b="1" dirty="0">
                <a:solidFill>
                  <a:srgbClr val="14161B"/>
                </a:solidFill>
                <a:latin typeface="Arial" pitchFamily="34" charset="0"/>
                <a:ea typeface="Arial" pitchFamily="34" charset="-122"/>
                <a:cs typeface="Arial" pitchFamily="34" charset="-120"/>
              </a:rPr>
              <a:t>Clients disagree on a knockback.</a:t>
            </a:r>
            <a:pPr algn="l" indent="0" marL="0">
              <a:lnSpc>
                <a:spcPts val="1260"/>
              </a:lnSpc>
              <a:buNone/>
            </a:pPr>
            <a:r>
              <a:rPr lang="en-US" sz="900" dirty="0">
                <a:solidFill>
                  <a:srgbClr val="646973"/>
                </a:solidFill>
                <a:latin typeface="Arial" pitchFamily="34" charset="0"/>
                <a:ea typeface="Arial" pitchFamily="34" charset="-122"/>
                <a:cs typeface="Arial" pitchFamily="34" charset="-120"/>
              </a:rPr>
              <a:t> Host-authoritative simulation; clients only render.</a:t>
            </a:r>
            <a:endParaRPr lang="en-US" sz="900" dirty="0"/>
          </a:p>
        </p:txBody>
      </p:sp>
      <p:sp>
        <p:nvSpPr>
          <p:cNvPr id="18" name="Text 17.17"/>
          <p:cNvSpPr txBox="1"/>
          <p:nvPr/>
        </p:nvSpPr>
        <p:spPr>
          <a:xfrm>
            <a:off x="4825879" y="5117972"/>
            <a:ext cx="119417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FF5A1F"/>
                </a:solidFill>
                <a:latin typeface="Courier New" pitchFamily="34" charset="0"/>
                <a:ea typeface="Courier New" pitchFamily="34" charset="-122"/>
                <a:cs typeface="Courier New" pitchFamily="34" charset="-120"/>
              </a:rPr>
              <a:t>RISK: BALANCE</a:t>
            </a:r>
            <a:endParaRPr lang="en-US" sz="850" dirty="0"/>
          </a:p>
        </p:txBody>
      </p:sp>
      <p:sp>
        <p:nvSpPr>
          <p:cNvPr id="19" name="Text 17.18"/>
          <p:cNvSpPr txBox="1"/>
          <p:nvPr/>
        </p:nvSpPr>
        <p:spPr>
          <a:xfrm>
            <a:off x="4825879" y="5295768"/>
            <a:ext cx="2705032" cy="319873"/>
          </a:xfrm>
          <a:prstGeom prst="rect">
            <a:avLst/>
          </a:prstGeom>
          <a:noFill/>
          <a:ln/>
        </p:spPr>
        <p:txBody>
          <a:bodyPr wrap="square" lIns="0" tIns="0" rIns="0" bIns="0" rtlCol="0" anchor="t"/>
          <a:lstStyle/>
          <a:p>
            <a:pPr algn="l" indent="0" marL="0">
              <a:lnSpc>
                <a:spcPts val="1260"/>
              </a:lnSpc>
              <a:buNone/>
            </a:pPr>
            <a:r>
              <a:rPr lang="en-US" sz="900" b="1" dirty="0">
                <a:solidFill>
                  <a:srgbClr val="14161B"/>
                </a:solidFill>
                <a:latin typeface="Arial" pitchFamily="34" charset="0"/>
                <a:ea typeface="Arial" pitchFamily="34" charset="-122"/>
                <a:cs typeface="Arial" pitchFamily="34" charset="-120"/>
              </a:rPr>
              <a:t>Stalling or snowballing.</a:t>
            </a:r>
            <a:pPr algn="l" indent="0" marL="0">
              <a:lnSpc>
                <a:spcPts val="1260"/>
              </a:lnSpc>
              <a:buNone/>
            </a:pPr>
            <a:r>
              <a:rPr lang="en-US" sz="900" dirty="0">
                <a:solidFill>
                  <a:srgbClr val="646973"/>
                </a:solidFill>
                <a:latin typeface="Arial" pitchFamily="34" charset="0"/>
                <a:ea typeface="Arial" pitchFamily="34" charset="-122"/>
                <a:cs typeface="Arial" pitchFamily="34" charset="-120"/>
              </a:rPr>
              <a:t> Score knockouts; respawn at full mass; catch-up scoring.</a:t>
            </a:r>
            <a:endParaRPr lang="en-US" sz="900" dirty="0"/>
          </a:p>
        </p:txBody>
      </p:sp>
      <p:sp>
        <p:nvSpPr>
          <p:cNvPr id="20" name="Text 17.19"/>
          <p:cNvSpPr txBox="1"/>
          <p:nvPr/>
        </p:nvSpPr>
        <p:spPr>
          <a:xfrm>
            <a:off x="8534187" y="5117972"/>
            <a:ext cx="1020223" cy="129537"/>
          </a:xfrm>
          <a:prstGeom prst="rect">
            <a:avLst/>
          </a:prstGeom>
          <a:noFill/>
          <a:ln/>
        </p:spPr>
        <p:txBody>
          <a:bodyPr wrap="square" lIns="0" tIns="0" rIns="0" bIns="0" rtlCol="0" anchor="t"/>
          <a:lstStyle/>
          <a:p>
            <a:pPr algn="l" indent="0" marL="0">
              <a:lnSpc>
                <a:spcPts val="1020"/>
              </a:lnSpc>
              <a:buNone/>
            </a:pPr>
            <a:r>
              <a:rPr lang="en-US" sz="850" b="1" spc="136" kern="0" dirty="0">
                <a:solidFill>
                  <a:srgbClr val="7E48DE"/>
                </a:solidFill>
                <a:latin typeface="Courier New" pitchFamily="34" charset="0"/>
                <a:ea typeface="Courier New" pitchFamily="34" charset="-122"/>
                <a:cs typeface="Courier New" pitchFamily="34" charset="-120"/>
              </a:rPr>
              <a:t>RISK: SCOPE</a:t>
            </a:r>
            <a:endParaRPr lang="en-US" sz="850" dirty="0"/>
          </a:p>
        </p:txBody>
      </p:sp>
      <p:sp>
        <p:nvSpPr>
          <p:cNvPr id="21" name="Text 17.20"/>
          <p:cNvSpPr txBox="1"/>
          <p:nvPr/>
        </p:nvSpPr>
        <p:spPr>
          <a:xfrm>
            <a:off x="8534187" y="5295768"/>
            <a:ext cx="2959026" cy="319873"/>
          </a:xfrm>
          <a:prstGeom prst="rect">
            <a:avLst/>
          </a:prstGeom>
          <a:noFill/>
          <a:ln/>
        </p:spPr>
        <p:txBody>
          <a:bodyPr wrap="square" lIns="0" tIns="0" rIns="0" bIns="0" rtlCol="0" anchor="t"/>
          <a:lstStyle/>
          <a:p>
            <a:pPr algn="l" indent="0" marL="0">
              <a:lnSpc>
                <a:spcPts val="1260"/>
              </a:lnSpc>
              <a:buNone/>
            </a:pPr>
            <a:r>
              <a:rPr lang="en-US" sz="900" b="1" dirty="0">
                <a:solidFill>
                  <a:srgbClr val="14161B"/>
                </a:solidFill>
                <a:latin typeface="Arial" pitchFamily="34" charset="0"/>
                <a:ea typeface="Arial" pitchFamily="34" charset="-122"/>
                <a:cs typeface="Arial" pitchFamily="34" charset="-120"/>
              </a:rPr>
              <a:t>Too many mini-games.</a:t>
            </a:r>
            <a:pPr algn="l" indent="0" marL="0">
              <a:lnSpc>
                <a:spcPts val="1260"/>
              </a:lnSpc>
              <a:buNone/>
            </a:pPr>
            <a:r>
              <a:rPr lang="en-US" sz="900" dirty="0">
                <a:solidFill>
                  <a:srgbClr val="646973"/>
                </a:solidFill>
                <a:latin typeface="Arial" pitchFamily="34" charset="0"/>
                <a:ea typeface="Arial" pitchFamily="34" charset="-122"/>
                <a:cs typeface="Arial" pitchFamily="34" charset="-120"/>
              </a:rPr>
              <a:t> Two for the MVP; more only once both are fun.</a:t>
            </a:r>
            <a:endParaRPr lang="en-US" sz="900" dirty="0"/>
          </a:p>
        </p:txBody>
      </p:sp>
      <p:sp>
        <p:nvSpPr>
          <p:cNvPr id="22" name="Text 17.21"/>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17</a:t>
            </a:r>
            <a:endParaRPr lang="en-US" sz="7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8.1"/>
          <p:cNvSpPr txBox="1"/>
          <p:nvPr/>
        </p:nvSpPr>
        <p:spPr>
          <a:xfrm>
            <a:off x="609585" y="355591"/>
            <a:ext cx="708186"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FF5A1F"/>
                </a:solidFill>
                <a:latin typeface="Courier New" pitchFamily="34" charset="0"/>
                <a:ea typeface="Courier New" pitchFamily="34" charset="-122"/>
                <a:cs typeface="Courier New" pitchFamily="34" charset="-120"/>
              </a:rPr>
              <a:t>SUMMARY</a:t>
            </a:r>
            <a:endParaRPr lang="en-US" sz="900" dirty="0"/>
          </a:p>
        </p:txBody>
      </p:sp>
      <p:sp>
        <p:nvSpPr>
          <p:cNvPr id="3" name="Text 18.2"/>
          <p:cNvSpPr txBox="1"/>
          <p:nvPr/>
        </p:nvSpPr>
        <p:spPr>
          <a:xfrm>
            <a:off x="609585" y="952476"/>
            <a:ext cx="3658604" cy="698483"/>
          </a:xfrm>
          <a:prstGeom prst="rect">
            <a:avLst/>
          </a:prstGeom>
          <a:noFill/>
          <a:ln/>
        </p:spPr>
        <p:txBody>
          <a:bodyPr wrap="square" lIns="0" tIns="0" rIns="0" bIns="0" rtlCol="0" anchor="t"/>
          <a:lstStyle/>
          <a:p>
            <a:pPr algn="l" indent="0" marL="0">
              <a:lnSpc>
                <a:spcPts val="5500"/>
              </a:lnSpc>
              <a:buNone/>
            </a:pPr>
            <a:r>
              <a:rPr lang="en-US" sz="5500" spc="-110" kern="0" dirty="0">
                <a:solidFill>
                  <a:srgbClr val="FFFFFF"/>
                </a:solidFill>
                <a:latin typeface="Georgia" pitchFamily="34" charset="0"/>
                <a:ea typeface="Georgia" pitchFamily="34" charset="-122"/>
                <a:cs typeface="Georgia" pitchFamily="34" charset="-120"/>
              </a:rPr>
              <a:t>Ice Rumble</a:t>
            </a:r>
            <a:endParaRPr lang="en-US" sz="5500" dirty="0"/>
          </a:p>
        </p:txBody>
      </p:sp>
      <p:sp>
        <p:nvSpPr>
          <p:cNvPr id="4" name="Text 18.3"/>
          <p:cNvSpPr txBox="1"/>
          <p:nvPr/>
        </p:nvSpPr>
        <p:spPr>
          <a:xfrm>
            <a:off x="787380" y="2133547"/>
            <a:ext cx="4609985" cy="240024"/>
          </a:xfrm>
          <a:prstGeom prst="rect">
            <a:avLst/>
          </a:prstGeom>
          <a:noFill/>
          <a:ln/>
        </p:spPr>
        <p:txBody>
          <a:bodyPr wrap="square" lIns="0" tIns="0" rIns="0" bIns="0" rtlCol="0" anchor="t"/>
          <a:lstStyle/>
          <a:p>
            <a:pPr algn="l" indent="0" marL="0">
              <a:lnSpc>
                <a:spcPts val="1890"/>
              </a:lnSpc>
              <a:buNone/>
            </a:pPr>
            <a:r>
              <a:rPr lang="en-US" sz="1400" dirty="0">
                <a:solidFill>
                  <a:srgbClr val="FFFFFF"/>
                </a:solidFill>
                <a:latin typeface="Arial" pitchFamily="34" charset="0"/>
                <a:ea typeface="Arial" pitchFamily="34" charset="-122"/>
                <a:cs typeface="Arial" pitchFamily="34" charset="-120"/>
              </a:rPr>
              <a:t>2–4 players, one LAN, no internet.</a:t>
            </a:r>
            <a:endParaRPr lang="en-US" sz="1400" dirty="0"/>
          </a:p>
        </p:txBody>
      </p:sp>
      <p:sp>
        <p:nvSpPr>
          <p:cNvPr id="5" name="Text 18.4"/>
          <p:cNvSpPr txBox="1"/>
          <p:nvPr/>
        </p:nvSpPr>
        <p:spPr>
          <a:xfrm>
            <a:off x="787380" y="2705032"/>
            <a:ext cx="4609985" cy="240024"/>
          </a:xfrm>
          <a:prstGeom prst="rect">
            <a:avLst/>
          </a:prstGeom>
          <a:noFill/>
          <a:ln/>
        </p:spPr>
        <p:txBody>
          <a:bodyPr wrap="square" lIns="0" tIns="0" rIns="0" bIns="0" rtlCol="0" anchor="t"/>
          <a:lstStyle/>
          <a:p>
            <a:pPr algn="l" indent="0" marL="0">
              <a:lnSpc>
                <a:spcPts val="1890"/>
              </a:lnSpc>
              <a:buNone/>
            </a:pPr>
            <a:r>
              <a:rPr lang="en-US" sz="1400" dirty="0">
                <a:solidFill>
                  <a:srgbClr val="FFFFFF"/>
                </a:solidFill>
                <a:latin typeface="Arial" pitchFamily="34" charset="0"/>
                <a:ea typeface="Arial" pitchFamily="34" charset="-122"/>
                <a:cs typeface="Arial" pitchFamily="34" charset="-120"/>
              </a:rPr>
              <a:t>Two mini-games on one shared Unity core.</a:t>
            </a:r>
            <a:endParaRPr lang="en-US" sz="1400" dirty="0"/>
          </a:p>
        </p:txBody>
      </p:sp>
      <p:sp>
        <p:nvSpPr>
          <p:cNvPr id="6" name="Text 18.5"/>
          <p:cNvSpPr txBox="1"/>
          <p:nvPr/>
        </p:nvSpPr>
        <p:spPr>
          <a:xfrm>
            <a:off x="787380" y="3276518"/>
            <a:ext cx="4609985" cy="480008"/>
          </a:xfrm>
          <a:prstGeom prst="rect">
            <a:avLst/>
          </a:prstGeom>
          <a:noFill/>
          <a:ln/>
        </p:spPr>
        <p:txBody>
          <a:bodyPr wrap="square" lIns="0" tIns="0" rIns="0" bIns="0" rtlCol="0" anchor="t"/>
          <a:lstStyle/>
          <a:p>
            <a:pPr algn="l" indent="0" marL="0">
              <a:lnSpc>
                <a:spcPts val="1890"/>
              </a:lnSpc>
              <a:buNone/>
            </a:pPr>
            <a:r>
              <a:rPr lang="en-US" sz="1400" dirty="0">
                <a:solidFill>
                  <a:srgbClr val="FFFFFF"/>
                </a:solidFill>
                <a:latin typeface="Arial" pitchFamily="34" charset="0"/>
                <a:ea typeface="Arial" pitchFamily="34" charset="-122"/>
                <a:cs typeface="Arial" pitchFamily="34" charset="-120"/>
              </a:rPr>
              <a:t>Every shot costs the shooter mass, so aim matters more than volume.</a:t>
            </a:r>
            <a:endParaRPr lang="en-US" sz="1400" dirty="0"/>
          </a:p>
        </p:txBody>
      </p:sp>
      <p:sp>
        <p:nvSpPr>
          <p:cNvPr id="7" name="Text 18.6"/>
          <p:cNvSpPr txBox="1"/>
          <p:nvPr/>
        </p:nvSpPr>
        <p:spPr>
          <a:xfrm>
            <a:off x="609585" y="4381390"/>
            <a:ext cx="2696410" cy="507987"/>
          </a:xfrm>
          <a:prstGeom prst="rect">
            <a:avLst/>
          </a:prstGeom>
          <a:noFill/>
          <a:ln/>
        </p:spPr>
        <p:txBody>
          <a:bodyPr wrap="square" lIns="0" tIns="0" rIns="0" bIns="0" rtlCol="0" anchor="t"/>
          <a:lstStyle/>
          <a:p>
            <a:pPr algn="l" indent="0" marL="0">
              <a:lnSpc>
                <a:spcPts val="4000"/>
              </a:lnSpc>
              <a:buNone/>
            </a:pPr>
            <a:r>
              <a:rPr lang="en-US" sz="4000" i="1" dirty="0">
                <a:solidFill>
                  <a:srgbClr val="FF5A1F"/>
                </a:solidFill>
                <a:latin typeface="Georgia" pitchFamily="34" charset="0"/>
                <a:ea typeface="Georgia" pitchFamily="34" charset="-122"/>
                <a:cs typeface="Georgia" pitchFamily="34" charset="-120"/>
              </a:rPr>
              <a:t>Questions?</a:t>
            </a:r>
            <a:endParaRPr lang="en-US" sz="4000" dirty="0"/>
          </a:p>
        </p:txBody>
      </p:sp>
      <p:sp>
        <p:nvSpPr>
          <p:cNvPr id="8" name="Text 18.7"/>
          <p:cNvSpPr txBox="1"/>
          <p:nvPr/>
        </p:nvSpPr>
        <p:spPr>
          <a:xfrm>
            <a:off x="609585" y="5714857"/>
            <a:ext cx="6387940" cy="177796"/>
          </a:xfrm>
          <a:prstGeom prst="rect">
            <a:avLst/>
          </a:prstGeom>
          <a:noFill/>
          <a:ln/>
        </p:spPr>
        <p:txBody>
          <a:bodyPr wrap="square" lIns="0" tIns="0" rIns="0" bIns="0" rtlCol="0" anchor="t"/>
          <a:lstStyle/>
          <a:p>
            <a:pPr algn="l" indent="0" marL="0">
              <a:lnSpc>
                <a:spcPts val="1400"/>
              </a:lnSpc>
              <a:buNone/>
            </a:pPr>
            <a:r>
              <a:rPr lang="en-US" sz="1000" dirty="0">
                <a:solidFill>
                  <a:srgbClr val="AEB8CC"/>
                </a:solidFill>
                <a:latin typeface="Arial" pitchFamily="34" charset="0"/>
                <a:ea typeface="Arial" pitchFamily="34" charset="-122"/>
                <a:cs typeface="Arial" pitchFamily="34" charset="-120"/>
              </a:rPr>
              <a:t>Ezel Bayraktar · Abdurrahim Özağaç · Kürşat Hürkan Aydın · Ardıl Bilal Ülkü</a:t>
            </a:r>
            <a:endParaRPr lang="en-US" sz="1000" dirty="0"/>
          </a:p>
        </p:txBody>
      </p:sp>
      <p:sp>
        <p:nvSpPr>
          <p:cNvPr id="9" name="Text 18.8"/>
          <p:cNvSpPr txBox="1"/>
          <p:nvPr/>
        </p:nvSpPr>
        <p:spPr>
          <a:xfrm>
            <a:off x="9042372" y="6470488"/>
            <a:ext cx="2755621" cy="133347"/>
          </a:xfrm>
          <a:prstGeom prst="rect">
            <a:avLst/>
          </a:prstGeom>
          <a:noFill/>
          <a:ln/>
        </p:spPr>
        <p:txBody>
          <a:bodyPr wrap="square" lIns="0" tIns="0" rIns="0" bIns="0" rtlCol="0" anchor="t"/>
          <a:lstStyle/>
          <a:p>
            <a:pPr algn="l" indent="0" marL="0">
              <a:lnSpc>
                <a:spcPts val="1050"/>
              </a:lnSpc>
              <a:buNone/>
            </a:pPr>
            <a:r>
              <a:rPr lang="en-US" sz="750" spc="15" kern="0" dirty="0">
                <a:solidFill>
                  <a:srgbClr val="DDE4F0"/>
                </a:solidFill>
                <a:latin typeface="Courier New" pitchFamily="34" charset="0"/>
                <a:ea typeface="Courier New" pitchFamily="34" charset="-122"/>
                <a:cs typeface="Courier New" pitchFamily="34" charset="-120"/>
              </a:rPr>
              <a:t>Concept render, AI-generated. Not gameplay.</a:t>
            </a:r>
            <a:endParaRPr lang="en-US" sz="7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9.1"/>
          <p:cNvSpPr txBox="1"/>
          <p:nvPr/>
        </p:nvSpPr>
        <p:spPr>
          <a:xfrm>
            <a:off x="609585" y="355591"/>
            <a:ext cx="800314" cy="114297"/>
          </a:xfrm>
          <a:prstGeom prst="rect">
            <a:avLst/>
          </a:prstGeom>
          <a:noFill/>
          <a:ln/>
        </p:spPr>
        <p:txBody>
          <a:bodyPr wrap="square" lIns="0" tIns="0" rIns="0" bIns="0" rtlCol="0" anchor="t"/>
          <a:lstStyle/>
          <a:p>
            <a:pPr algn="l" indent="0" marL="0">
              <a:lnSpc>
                <a:spcPts val="900"/>
              </a:lnSpc>
              <a:buNone/>
            </a:pPr>
            <a:r>
              <a:rPr lang="en-US" sz="900" b="1" spc="144" kern="0" dirty="0">
                <a:solidFill>
                  <a:srgbClr val="646973"/>
                </a:solidFill>
                <a:latin typeface="Courier New" pitchFamily="34" charset="0"/>
                <a:ea typeface="Courier New" pitchFamily="34" charset="-122"/>
                <a:cs typeface="Courier New" pitchFamily="34" charset="-120"/>
              </a:rPr>
              <a:t>APPENDIX</a:t>
            </a:r>
            <a:endParaRPr lang="en-US" sz="900" dirty="0"/>
          </a:p>
        </p:txBody>
      </p:sp>
      <p:sp>
        <p:nvSpPr>
          <p:cNvPr id="3" name="Text 19.2"/>
          <p:cNvSpPr txBox="1"/>
          <p:nvPr/>
        </p:nvSpPr>
        <p:spPr>
          <a:xfrm>
            <a:off x="10045747" y="355591"/>
            <a:ext cx="1692044" cy="101597"/>
          </a:xfrm>
          <a:prstGeom prst="rect">
            <a:avLst/>
          </a:prstGeom>
          <a:noFill/>
          <a:ln/>
        </p:spPr>
        <p:txBody>
          <a:bodyPr wrap="square" lIns="0" tIns="0" rIns="0" bIns="0" rtlCol="0" anchor="t"/>
          <a:lstStyle/>
          <a:p>
            <a:pPr algn="l" indent="0" marL="0">
              <a:lnSpc>
                <a:spcPts val="800"/>
              </a:lnSpc>
              <a:buNone/>
            </a:pPr>
            <a:r>
              <a:rPr lang="en-US" sz="800" spc="96" kern="0" dirty="0">
                <a:solidFill>
                  <a:srgbClr val="646973"/>
                </a:solidFill>
                <a:latin typeface="Courier New" pitchFamily="34" charset="0"/>
                <a:ea typeface="Courier New" pitchFamily="34" charset="-122"/>
                <a:cs typeface="Courier New" pitchFamily="34" charset="-120"/>
              </a:rPr>
              <a:t>ICE RUMBLE / PROPOSAL</a:t>
            </a:r>
            <a:endParaRPr lang="en-US" sz="800" dirty="0"/>
          </a:p>
        </p:txBody>
      </p:sp>
      <p:sp>
        <p:nvSpPr>
          <p:cNvPr id="4" name="Text 19.3"/>
          <p:cNvSpPr txBox="1"/>
          <p:nvPr/>
        </p:nvSpPr>
        <p:spPr>
          <a:xfrm>
            <a:off x="609585" y="787380"/>
            <a:ext cx="10832829" cy="457697"/>
          </a:xfrm>
          <a:prstGeom prst="rect">
            <a:avLst/>
          </a:prstGeom>
          <a:noFill/>
          <a:ln/>
        </p:spPr>
        <p:txBody>
          <a:bodyPr wrap="square" lIns="0" tIns="0" rIns="0" bIns="0" rtlCol="0" anchor="t"/>
          <a:lstStyle/>
          <a:p>
            <a:pPr algn="l" indent="0" marL="0">
              <a:lnSpc>
                <a:spcPts val="3600"/>
              </a:lnSpc>
              <a:buNone/>
            </a:pPr>
            <a:r>
              <a:rPr lang="en-US" sz="3400" spc="-41" kern="0" dirty="0">
                <a:solidFill>
                  <a:srgbClr val="14161B"/>
                </a:solidFill>
                <a:latin typeface="Georgia" pitchFamily="34" charset="0"/>
                <a:ea typeface="Georgia" pitchFamily="34" charset="-122"/>
                <a:cs typeface="Georgia" pitchFamily="34" charset="-120"/>
              </a:rPr>
              <a:t>Sources</a:t>
            </a:r>
            <a:endParaRPr lang="en-US" sz="3400" dirty="0"/>
          </a:p>
        </p:txBody>
      </p:sp>
      <p:sp>
        <p:nvSpPr>
          <p:cNvPr id="5" name="Text 19.4"/>
          <p:cNvSpPr txBox="1"/>
          <p:nvPr/>
        </p:nvSpPr>
        <p:spPr>
          <a:xfrm>
            <a:off x="609585" y="1714457"/>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[1] Newzoo final 2025 figures, via GameDev Reports, 2026-06-26. gamedevreports.substack.com/p/newzoo-gaming-market-surpassed-200</a:t>
            </a:r>
            <a:endParaRPr lang="en-US" sz="900" dirty="0"/>
          </a:p>
        </p:txBody>
      </p:sp>
      <p:sp>
        <p:nvSpPr>
          <p:cNvPr id="6" name="Text 19.5"/>
          <p:cNvSpPr txBox="1"/>
          <p:nvPr/>
        </p:nvSpPr>
        <p:spPr>
          <a:xfrm>
            <a:off x="609585" y="2095448"/>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[2] Alinea Analytics, games with co-op on Steam, H1 2025 (proprietary estimates). alineaanalytics.substack.com/p/games-with-co-op-generated-over-4</a:t>
            </a:r>
            <a:endParaRPr lang="en-US" sz="900" dirty="0"/>
          </a:p>
        </p:txBody>
      </p:sp>
      <p:sp>
        <p:nvSpPr>
          <p:cNvPr id="7" name="Text 19.6"/>
          <p:cNvSpPr txBox="1"/>
          <p:nvPr/>
        </p:nvSpPr>
        <p:spPr>
          <a:xfrm>
            <a:off x="609585" y="2476438"/>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[3] ESA Essential Facts 2026 (survey Feb 2026, n=13,545). theesa.com</a:t>
            </a:r>
            <a:endParaRPr lang="en-US" sz="900" dirty="0"/>
          </a:p>
        </p:txBody>
      </p:sp>
      <p:sp>
        <p:nvSpPr>
          <p:cNvPr id="8" name="Text 19.7"/>
          <p:cNvSpPr txBox="1"/>
          <p:nvPr/>
        </p:nvSpPr>
        <p:spPr>
          <a:xfrm>
            <a:off x="609585" y="2857429"/>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[4] Steam store search, tag “Party Game” × LAN PvP / Online PvP / Shared-Split-screen PvP, 2026-10-17. Tags are user-applied.</a:t>
            </a:r>
            <a:endParaRPr lang="en-US" sz="900" dirty="0"/>
          </a:p>
        </p:txBody>
      </p:sp>
      <p:sp>
        <p:nvSpPr>
          <p:cNvPr id="9" name="Text 19.8"/>
          <p:cNvSpPr txBox="1"/>
          <p:nvPr/>
        </p:nvSpPr>
        <p:spPr>
          <a:xfrm>
            <a:off x="609585" y="3238419"/>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[5] Game Developers, 2025 Steam revenue distribution (Gamalytic estimates), 2026-08-21. game-developers.org/2025-steam-game-revenue-distribution</a:t>
            </a:r>
            <a:endParaRPr lang="en-US" sz="900" dirty="0"/>
          </a:p>
        </p:txBody>
      </p:sp>
      <p:sp>
        <p:nvSpPr>
          <p:cNvPr id="10" name="Text 19.9"/>
          <p:cNvSpPr txBox="1"/>
          <p:nvPr/>
        </p:nvSpPr>
        <p:spPr>
          <a:xfrm>
            <a:off x="609585" y="3619410"/>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[6] PC Gamer, Valve at GDC 2026: 5,863 games over $100K on Steam in 2025. pcgamer.com</a:t>
            </a:r>
            <a:endParaRPr lang="en-US" sz="900" dirty="0"/>
          </a:p>
        </p:txBody>
      </p:sp>
      <p:sp>
        <p:nvSpPr>
          <p:cNvPr id="11" name="Text 19.10"/>
          <p:cNvSpPr txBox="1"/>
          <p:nvPr/>
        </p:nvSpPr>
        <p:spPr>
          <a:xfrm>
            <a:off x="609585" y="4000400"/>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[7] Steam store pages and SteamDB charts, apps 1260320, 285900, 1097150, 880940, 1858400: prices, peaks, reviews, owner estimates. 2026-10-17.</a:t>
            </a:r>
            <a:endParaRPr lang="en-US" sz="900" dirty="0"/>
          </a:p>
        </p:txBody>
      </p:sp>
      <p:sp>
        <p:nvSpPr>
          <p:cNvPr id="12" name="Text 19.11"/>
          <p:cNvSpPr txBox="1"/>
          <p:nvPr/>
        </p:nvSpPr>
        <p:spPr>
          <a:xfrm>
            <a:off x="609585" y="4381390"/>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[8] GameRevolution / Prima Games: Party Animals requires an internet connection, including split-screen.</a:t>
            </a:r>
            <a:endParaRPr lang="en-US" sz="900" dirty="0"/>
          </a:p>
        </p:txBody>
      </p:sp>
      <p:sp>
        <p:nvSpPr>
          <p:cNvPr id="13" name="Text 19.12"/>
          <p:cNvSpPr txBox="1"/>
          <p:nvPr/>
        </p:nvSpPr>
        <p:spPr>
          <a:xfrm>
            <a:off x="609585" y="4762381"/>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[9] Osmos official site, osmos-game.com. [10] Squarena on Steam (app 1858400); codeaclysmgames.com/squarena-details.</a:t>
            </a:r>
            <a:endParaRPr lang="en-US" sz="900" dirty="0"/>
          </a:p>
        </p:txBody>
      </p:sp>
      <p:sp>
        <p:nvSpPr>
          <p:cNvPr id="14" name="Text 19.13"/>
          <p:cNvSpPr txBox="1"/>
          <p:nvPr/>
        </p:nvSpPr>
        <p:spPr>
          <a:xfrm>
            <a:off x="609585" y="5143371"/>
            <a:ext cx="11010625" cy="200020"/>
          </a:xfrm>
          <a:prstGeom prst="rect">
            <a:avLst/>
          </a:prstGeom>
          <a:noFill/>
          <a:ln/>
        </p:spPr>
        <p:txBody>
          <a:bodyPr wrap="square" lIns="0" tIns="0" rIns="0" bIns="0" rtlCol="0" anchor="t"/>
          <a:lstStyle/>
          <a:p>
            <a:pPr algn="l" indent="0" marL="0">
              <a:lnSpc>
                <a:spcPts val="1580"/>
              </a:lnSpc>
              <a:buNone/>
            </a:pPr>
            <a:r>
              <a:rPr lang="en-US" sz="900" dirty="0">
                <a:solidFill>
                  <a:srgbClr val="646973"/>
                </a:solidFill>
                <a:latin typeface="Arial" pitchFamily="34" charset="0"/>
                <a:ea typeface="Arial" pitchFamily="34" charset="-122"/>
                <a:cs typeface="Arial" pitchFamily="34" charset="-120"/>
              </a:rPr>
              <a:t>[11] Morphies Law official site, morphieslaw.com/game. [12] Crisol: Theater of Idols, Blumhouse Games and Steam (app 1790930).</a:t>
            </a:r>
            <a:endParaRPr lang="en-US" sz="900" dirty="0"/>
          </a:p>
        </p:txBody>
      </p:sp>
      <p:sp>
        <p:nvSpPr>
          <p:cNvPr id="15" name="Text 19.14"/>
          <p:cNvSpPr txBox="1"/>
          <p:nvPr/>
        </p:nvSpPr>
        <p:spPr>
          <a:xfrm>
            <a:off x="609585" y="5651359"/>
            <a:ext cx="11010625" cy="182875"/>
          </a:xfrm>
          <a:prstGeom prst="rect">
            <a:avLst/>
          </a:prstGeom>
          <a:noFill/>
          <a:ln/>
        </p:spPr>
        <p:txBody>
          <a:bodyPr wrap="square" lIns="0" tIns="0" rIns="0" bIns="0" rtlCol="0" anchor="t"/>
          <a:lstStyle/>
          <a:p>
            <a:pPr algn="l" indent="0" marL="0">
              <a:lnSpc>
                <a:spcPts val="1440"/>
              </a:lnSpc>
              <a:buNone/>
            </a:pPr>
            <a:r>
              <a:rPr lang="en-US" sz="900" i="1" dirty="0">
                <a:solidFill>
                  <a:srgbClr val="646973"/>
                </a:solidFill>
                <a:latin typeface="Georgia" pitchFamily="34" charset="0"/>
                <a:ea typeface="Georgia" pitchFamily="34" charset="-122"/>
                <a:cs typeface="Georgia" pitchFamily="34" charset="-120"/>
              </a:rPr>
              <a:t>Images: all game visuals are AI concept renders (GPT Image via Higgsfield; MiniMax H3) from our own reference art, except competitor screenshots (official Steam media).</a:t>
            </a:r>
            <a:endParaRPr lang="en-US" sz="900" dirty="0"/>
          </a:p>
        </p:txBody>
      </p:sp>
      <p:sp>
        <p:nvSpPr>
          <p:cNvPr id="16" name="Text 19.15"/>
          <p:cNvSpPr txBox="1"/>
          <p:nvPr/>
        </p:nvSpPr>
        <p:spPr>
          <a:xfrm>
            <a:off x="11448665" y="6483188"/>
            <a:ext cx="204951" cy="95248"/>
          </a:xfrm>
          <a:prstGeom prst="rect">
            <a:avLst/>
          </a:prstGeom>
          <a:noFill/>
          <a:ln/>
        </p:spPr>
        <p:txBody>
          <a:bodyPr wrap="square" lIns="0" tIns="0" rIns="0" bIns="0" rtlCol="0" anchor="t"/>
          <a:lstStyle/>
          <a:p>
            <a:pPr algn="l" indent="0" marL="0">
              <a:lnSpc>
                <a:spcPts val="750"/>
              </a:lnSpc>
              <a:buNone/>
            </a:pPr>
            <a:r>
              <a:rPr lang="en-US" sz="750" b="1" spc="75" kern="0" dirty="0">
                <a:solidFill>
                  <a:srgbClr val="646973"/>
                </a:solidFill>
                <a:latin typeface="Courier New" pitchFamily="34" charset="0"/>
                <a:ea typeface="Courier New" pitchFamily="34" charset="-122"/>
                <a:cs typeface="Courier New" pitchFamily="34" charset="-120"/>
              </a:rPr>
              <a:t>19</a:t>
            </a:r>
            <a:endParaRPr lang="en-US" sz="7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Rumble — Game Proposal</dc:title>
  <dc:subject>PptxGenJS Presentation</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2026-10-17T08:55:08Z</dcterms:created>
  <dcterms:modified xsi:type="dcterms:W3CDTF">2026-10-17T08:55:08Z</dcterms:modified>
</cp:coreProperties>
</file>