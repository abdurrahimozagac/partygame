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04c4441-015b-fb56-5117-717121d28c59}">
          <p14:sldIdLst>
            <p14:sldId id="256"/>
            <p14:sldId id="257"/>
          </p14:sldIdLst>
        </p14:section>
        <p14:section name="Gameplay and tech" id="{84a7fcd6-6c82-5219-d9e6-302f56d60ac1}">
          <p14:sldIdLst>
            <p14:sldId id="258"/>
            <p14:sldId id="259"/>
            <p14:sldId id="260"/>
            <p14:sldId id="261"/>
            <p14:sldId id="262"/>
            <p14:sldId id="263"/>
          </p14:sldIdLst>
        </p14:section>
        <p14:section name="Market" id="{4abd559c-076f-7ec7-8917-bddb5ac6b6ed}">
          <p14:sldIdLst>
            <p14:sldId id="264"/>
            <p14:sldId id="265"/>
            <p14:sldId id="266"/>
          </p14:sldIdLst>
        </p14:section>
        <p14:section name="Innovation" id="{66987fdd-c765-b538-bd85-75c44907ede0}">
          <p14:sldIdLst>
            <p14:sldId id="267"/>
            <p14:sldId id="268"/>
            <p14:sldId id="269"/>
          </p14:sldIdLst>
        </p14:section>
        <p14:section name="Drafts and prototypes" id="{c1f9bbf0-d7d2-cfe0-7b43-f933ecb0063c}">
          <p14:sldIdLst>
            <p14:sldId id="270"/>
            <p14:sldId id="271"/>
            <p14:sldId id="272"/>
            <p14:sldId id="273"/>
          </p14:sldIdLst>
        </p14:section>
        <p14:section name="Plan" id="{8ca6157e-edcb-9591-1f76-ce2bbe7b9288}">
          <p14:sldIdLst>
            <p14:sldId id="274"/>
            <p14:sldId id="275"/>
            <p14:sldId id="276"/>
          </p14:sldIdLst>
        </p14:section>
        <p14:section name="Close" id="{fd950c5d-7f81-52bf-1ad2-a7f3ee959d1a}">
          <p14:sldIdLst>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Ice Rumble is a working title. It is a party game for two to four players on one local network: short physics mini-games, with points carried on one scoreboard. The four of us are the four players at the bottom. All game images in this deck are AI concept renders made from our own reference art; none of them is gameplay.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Plain-language summary first: two to four friends, each on a PC, in the same room; one PC hosts. Everyone plays the same cube in one of four colours. The session loop. The host owns the lobby and the round order. Only points carry over between rounds; mass and position reset, so a bad round never makes the next one harder. We also plan catch-up scoring: whoever won the last round earns slightly fewer points in the next one, and whoever came last earns slightly more, so trailing players stay in contention until the final. Placement points 4, 3, 2, 1 and the size of the adjustment are proposals we will tune in playtests.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resource does three jobs. Shooting spends it: the cube spits out a piece of its own body, hit or miss. Getting hit loses it and pushes you back. And the less you have, the further the same hit sends you; off the edge is a knockout. We present the rule, not the numbers: the exact costs are tuning values we will set in playtests.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rule charges both sides. If only the shooter paid, shooting would be pure loss and hiding would win. If only the target paid, shooting would be free and spamming would win. Charging both makes each shot a trade: a hit should take more from the target than the shot cost you, and a miss costs only you. So aim and timing become the skill. The obvious objection, why not just wait and stay heavy, is answered by scoring: points come from knockouts, not survival, so a cube that never shoots scores nothing. Respawn at full mass and a round timer handle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Mass Knockout. One flat platform with open edges. Spitting costs you mass; hits cost the target mass and push it; lighter cubes fly further. The last cube to hit someone gets the knockout. Rounds are timed and ranked by knockouts. Respawns are at full mass.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Ice Race. No shooting here; the skill is momentum. Input sets acceleration, not velocity, and sideways grip is low, so you have to set up corners early. Braking restores grip. Falling sends you back to the last checkpoint: you lose time, not the race. Finish order gives placement, and anyone unfinished at the timeout is ranked by track progress.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The mini-games sit on top of a shared core. Each one implements the same small contract: set up with the players, run, report placement. Below that sit the character, camera, round state machine, scoreboard and lobby, then the LAN layer, where the host is authoritative. Unity Netcode for GameObjects is our candidate library, not a final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shot end to end. The client only sends intent. The host checks the cooldown, takes mass from the shooter, simulates the glob, applies the hit and knockback, and sends one snapshot to everyone. Clients interpolate. Own movement is predicted locally for feel; anything that decides a result lives on the host.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 potential. PC is a 43.6 billion dollar market that grew 12 percent in 2025; games with co-op made an estimated 4.1 billion on Steam in the first half of 2025; most players play with others. Only about 8 percent of Steam party games list LAN. Revenue is very uneven: most releases earn little, but thousands pass 100 thousand dollars. LAN is how we stand out, not why people buy.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comparables, each chosen for one reason. Party Animals and Gang Beasts share our audience and physics comedy. Fall Guys and Pummel Party share our session format of short rounds. Squarena is the closest mechanic: it shrinks you as you lose health, in 2D. Owner numbers are third-party estimates and we label them that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Positioning. Each competitor covers part of this table. Squarena is the only one where damage changes your size, and none ties knockback to lost mass. None advertises official LAN. The Ice Rumble column is our plan, not shipped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core rule is that losing mass makes the next incoming hit launch you further. Spend your body to shoot, lose body when hit, that body is your size, ammunition and health, and less of it means you fly further. We searched for the last link and did not find it in any shipped game. The next slide shows the closest prior art for each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other links have relatives, and we name them: Osmos and Agar.io spend body mass, but to move; Squarena shrinks you as you lose health, in 2D; Morphies Law moves mass between robots; Crisol spends your blood as ammunition. Smash Bros. raises knockback with a percentage counter, not with mass. Lighter-means-launched-further, and all four links in one 3D party game, we did not find.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framework, not a finished design. Characters can differ in starting mass and speed. Weight classes are common in the genre; what is different here is that mass is also ammunition, so a heavy build has more shots and a light build fewer. We would tune this after the two MVP mini-games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Drafts and prototypes. This is a real prototype: a deterministic physics simulation of the Mass Knockout rule, written in Three.js and rendered frame by frame. Over three shots the target shrinks and is pushed further each time. We built it to check that the escalating knockback reads clearly on screen before writing any Unity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art-direction drafts for the same character: vinyl toy, building blocks, tin toy and jelly. We generated them to choose a direction before anyone models anything. The concept renders in this deck follow the glossy-toy direction. The four player colours stay the same whatever look we pick.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logo drafts for the working title. A is a wordmark for the title screen and this deck. B stacks the name under the cube for square formats like a store capsule. C is a small icon for the taskbar and the build. None is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level drafts, seen from above. Mass Knockout: one flat square platform with open edges and no walls, so every edge is a knockout line; players spawn near the corners. Ice Race: a closed loop with a start-finish line and checkpoints; corners are where low grip matters, and a fall puts you back at the last checkpoint. These are drafts for the blockout, not final levels.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course gives us four checkpoints: the proposal on 19 October, progress presentations on 16 November and 14 December, and the final on 11 January, which may still move. Each one has a playable goal. Demo 1: the shared core, LAN and a blockout of Ice Race. Demo 2: Mass Knockout over LAN and a full session with the scoreboard. Final: a tuned, polished build and the promo video. Owners are our proposed split by area. Below, the three main risks and how the design contains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breakdown up to the first progress presentation. The proposal phase is done. For Demo 1 we build the shared core first: project setup, character and camera, then LAN host and join and host authority. Ice Race comes first because it reuses most of the core; Mass Knockout's mass state and spit start in parallel. Owners are a proposed split by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2 completes Mass Knockout: hits, knockback scaled by mass, knockout credit and respawn, all synchronised over the LAN, plus the round state machine and scoreboard, ending with our first full-session playtest. The final phase is tuning from playtests, effects, sound, art and UI polish, a LAN stress test and the promo video. The final date may still change; we will shift the last weeks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a LAN party game, two mini-games on one shared core, and one rule that makes every shot a trade.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research notes with all sources are in research/market-research.md.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1.1"/>
          <p:cNvSpPr txBox="1"/>
          <p:nvPr/>
        </p:nvSpPr>
        <p:spPr>
          <a:xfrm>
            <a:off x="609585" y="444489"/>
            <a:ext cx="3163257"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CMP406 GAMETECH · FALL 2026 · GAME PROPOSAL</a:t>
            </a:r>
            <a:endParaRPr lang="en-US" sz="750" dirty="0"/>
          </a:p>
        </p:txBody>
      </p:sp>
      <p:sp>
        <p:nvSpPr>
          <p:cNvPr id="3" name="Text 1.2"/>
          <p:cNvSpPr txBox="1"/>
          <p:nvPr/>
        </p:nvSpPr>
        <p:spPr>
          <a:xfrm>
            <a:off x="571486" y="1269968"/>
            <a:ext cx="2084746" cy="1269968"/>
          </a:xfrm>
          <a:prstGeom prst="rect">
            <a:avLst/>
          </a:prstGeom>
          <a:noFill/>
          <a:ln/>
        </p:spPr>
        <p:txBody>
          <a:bodyPr wrap="square" lIns="0" tIns="0" rIns="0" bIns="0" rtlCol="0" anchor="t"/>
          <a:lstStyle/>
          <a:p>
            <a:pPr algn="l" indent="0" marL="0">
              <a:lnSpc>
                <a:spcPts val="10000"/>
              </a:lnSpc>
              <a:buNone/>
            </a:pPr>
            <a:r>
              <a:rPr lang="en-US" sz="10000" dirty="0">
                <a:solidFill>
                  <a:srgbClr val="1FA9EA"/>
                </a:solidFill>
                <a:latin typeface="Arial Rounded MT Bold" pitchFamily="34" charset="0"/>
                <a:ea typeface="Arial Rounded MT Bold" pitchFamily="34" charset="-122"/>
                <a:cs typeface="Arial Rounded MT Bold" pitchFamily="34" charset="-120"/>
              </a:rPr>
              <a:t>Ice</a:t>
            </a:r>
            <a:endParaRPr lang="en-US" sz="10000" dirty="0"/>
          </a:p>
        </p:txBody>
      </p:sp>
      <p:sp>
        <p:nvSpPr>
          <p:cNvPr id="4" name="Text 1.3"/>
          <p:cNvSpPr txBox="1"/>
          <p:nvPr/>
        </p:nvSpPr>
        <p:spPr>
          <a:xfrm>
            <a:off x="571486" y="2539937"/>
            <a:ext cx="4990678" cy="1269968"/>
          </a:xfrm>
          <a:prstGeom prst="rect">
            <a:avLst/>
          </a:prstGeom>
          <a:noFill/>
          <a:ln/>
        </p:spPr>
        <p:txBody>
          <a:bodyPr wrap="square" lIns="0" tIns="0" rIns="0" bIns="0" rtlCol="0" anchor="t"/>
          <a:lstStyle/>
          <a:p>
            <a:pPr algn="l" indent="0" marL="0">
              <a:lnSpc>
                <a:spcPts val="10000"/>
              </a:lnSpc>
              <a:buNone/>
            </a:pPr>
            <a:r>
              <a:rPr lang="en-US" sz="10000" dirty="0">
                <a:solidFill>
                  <a:srgbClr val="16233F"/>
                </a:solidFill>
                <a:latin typeface="Arial Rounded MT Bold" pitchFamily="34" charset="0"/>
                <a:ea typeface="Arial Rounded MT Bold" pitchFamily="34" charset="-122"/>
                <a:cs typeface="Arial Rounded MT Bold" pitchFamily="34" charset="-120"/>
              </a:rPr>
              <a:t>Rumble</a:t>
            </a:r>
            <a:endParaRPr lang="en-US" sz="10000" dirty="0"/>
          </a:p>
        </p:txBody>
      </p:sp>
      <p:sp>
        <p:nvSpPr>
          <p:cNvPr id="5" name="Text 1.4"/>
          <p:cNvSpPr txBox="1"/>
          <p:nvPr/>
        </p:nvSpPr>
        <p:spPr>
          <a:xfrm>
            <a:off x="609585" y="4038499"/>
            <a:ext cx="1269968" cy="253994"/>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FFFFFF"/>
                </a:solidFill>
                <a:latin typeface="Arial" pitchFamily="34" charset="0"/>
                <a:ea typeface="Arial" pitchFamily="34" charset="-122"/>
                <a:cs typeface="Arial" pitchFamily="34" charset="-120"/>
              </a:rPr>
              <a:t>WORKING TITLE</a:t>
            </a:r>
            <a:endParaRPr lang="en-US" sz="700" dirty="0"/>
          </a:p>
        </p:txBody>
      </p:sp>
      <p:sp>
        <p:nvSpPr>
          <p:cNvPr id="6" name="Text 1.5"/>
          <p:cNvSpPr txBox="1"/>
          <p:nvPr/>
        </p:nvSpPr>
        <p:spPr>
          <a:xfrm>
            <a:off x="609585" y="4444889"/>
            <a:ext cx="4863978" cy="525648"/>
          </a:xfrm>
          <a:prstGeom prst="rect">
            <a:avLst/>
          </a:prstGeom>
          <a:noFill/>
          <a:ln/>
        </p:spPr>
        <p:txBody>
          <a:bodyPr wrap="square" lIns="0" tIns="0" rIns="0" bIns="0" rtlCol="0" anchor="t"/>
          <a:lstStyle/>
          <a:p>
            <a:pPr algn="l" indent="0" marL="0">
              <a:lnSpc>
                <a:spcPts val="2070"/>
              </a:lnSpc>
              <a:buNone/>
            </a:pPr>
            <a:r>
              <a:rPr lang="en-US" sz="1500" dirty="0">
                <a:solidFill>
                  <a:srgbClr val="16233F"/>
                </a:solidFill>
                <a:latin typeface="Arial" pitchFamily="34" charset="0"/>
                <a:ea typeface="Arial" pitchFamily="34" charset="-122"/>
                <a:cs typeface="Arial" pitchFamily="34" charset="-120"/>
              </a:rPr>
              <a:t>A LAN party game for 2–4 players: short physics mini-games, one shared scoreboard.</a:t>
            </a:r>
            <a:endParaRPr lang="en-US" sz="1500" dirty="0"/>
          </a:p>
        </p:txBody>
      </p:sp>
      <p:sp>
        <p:nvSpPr>
          <p:cNvPr id="7" name="Text 1.6"/>
          <p:cNvSpPr txBox="1"/>
          <p:nvPr/>
        </p:nvSpPr>
        <p:spPr>
          <a:xfrm>
            <a:off x="1308067" y="5651359"/>
            <a:ext cx="1879553" cy="167636"/>
          </a:xfrm>
          <a:prstGeom prst="rect">
            <a:avLst/>
          </a:prstGeom>
          <a:noFill/>
          <a:ln/>
        </p:spPr>
        <p:txBody>
          <a:bodyPr wrap="square" lIns="0" tIns="0" rIns="0" bIns="0" rtlCol="0" anchor="t"/>
          <a:lstStyle/>
          <a:p>
            <a:pPr algn="l" indent="0" marL="0">
              <a:lnSpc>
                <a:spcPts val="1320"/>
              </a:lnSpc>
              <a:buNone/>
            </a:pPr>
            <a:r>
              <a:rPr lang="en-US" sz="1100" b="1" dirty="0">
                <a:solidFill>
                  <a:srgbClr val="16233F"/>
                </a:solidFill>
                <a:latin typeface="Arial" pitchFamily="34" charset="0"/>
                <a:ea typeface="Arial" pitchFamily="34" charset="-122"/>
                <a:cs typeface="Arial" pitchFamily="34" charset="-120"/>
              </a:rPr>
              <a:t>Ezel Bayraktar</a:t>
            </a:r>
            <a:endParaRPr lang="en-US" sz="1100" dirty="0"/>
          </a:p>
        </p:txBody>
      </p:sp>
      <p:sp>
        <p:nvSpPr>
          <p:cNvPr id="8" name="Text 1.7"/>
          <p:cNvSpPr txBox="1"/>
          <p:nvPr/>
        </p:nvSpPr>
        <p:spPr>
          <a:xfrm>
            <a:off x="1308067" y="5854554"/>
            <a:ext cx="625102" cy="133347"/>
          </a:xfrm>
          <a:prstGeom prst="rect">
            <a:avLst/>
          </a:prstGeom>
          <a:noFill/>
          <a:ln/>
        </p:spPr>
        <p:txBody>
          <a:bodyPr wrap="square" lIns="0" tIns="0" rIns="0" bIns="0" rtlCol="0" anchor="t"/>
          <a:lstStyle/>
          <a:p>
            <a:pPr algn="l" indent="0" marL="0">
              <a:lnSpc>
                <a:spcPts val="1050"/>
              </a:lnSpc>
              <a:buNone/>
            </a:pPr>
            <a:r>
              <a:rPr lang="en-US" sz="750" dirty="0">
                <a:solidFill>
                  <a:srgbClr val="6E7D9A"/>
                </a:solidFill>
                <a:latin typeface="Arial" pitchFamily="34" charset="0"/>
                <a:ea typeface="Arial" pitchFamily="34" charset="-122"/>
                <a:cs typeface="Arial" pitchFamily="34" charset="-120"/>
              </a:rPr>
              <a:t>2220356197</a:t>
            </a:r>
            <a:endParaRPr lang="en-US" sz="750" dirty="0"/>
          </a:p>
        </p:txBody>
      </p:sp>
      <p:sp>
        <p:nvSpPr>
          <p:cNvPr id="9" name="Text 1.8"/>
          <p:cNvSpPr txBox="1"/>
          <p:nvPr/>
        </p:nvSpPr>
        <p:spPr>
          <a:xfrm>
            <a:off x="4101997" y="5651359"/>
            <a:ext cx="1879553" cy="167636"/>
          </a:xfrm>
          <a:prstGeom prst="rect">
            <a:avLst/>
          </a:prstGeom>
          <a:noFill/>
          <a:ln/>
        </p:spPr>
        <p:txBody>
          <a:bodyPr wrap="square" lIns="0" tIns="0" rIns="0" bIns="0" rtlCol="0" anchor="t"/>
          <a:lstStyle/>
          <a:p>
            <a:pPr algn="l" indent="0" marL="0">
              <a:lnSpc>
                <a:spcPts val="1320"/>
              </a:lnSpc>
              <a:buNone/>
            </a:pPr>
            <a:r>
              <a:rPr lang="en-US" sz="1100" b="1" dirty="0">
                <a:solidFill>
                  <a:srgbClr val="16233F"/>
                </a:solidFill>
                <a:latin typeface="Arial" pitchFamily="34" charset="0"/>
                <a:ea typeface="Arial" pitchFamily="34" charset="-122"/>
                <a:cs typeface="Arial" pitchFamily="34" charset="-120"/>
              </a:rPr>
              <a:t>Abdurrahim Özağaç</a:t>
            </a:r>
            <a:endParaRPr lang="en-US" sz="1100" dirty="0"/>
          </a:p>
        </p:txBody>
      </p:sp>
      <p:sp>
        <p:nvSpPr>
          <p:cNvPr id="10" name="Text 1.9"/>
          <p:cNvSpPr txBox="1"/>
          <p:nvPr/>
        </p:nvSpPr>
        <p:spPr>
          <a:xfrm>
            <a:off x="4101997" y="5854554"/>
            <a:ext cx="625102" cy="133347"/>
          </a:xfrm>
          <a:prstGeom prst="rect">
            <a:avLst/>
          </a:prstGeom>
          <a:noFill/>
          <a:ln/>
        </p:spPr>
        <p:txBody>
          <a:bodyPr wrap="square" lIns="0" tIns="0" rIns="0" bIns="0" rtlCol="0" anchor="t"/>
          <a:lstStyle/>
          <a:p>
            <a:pPr algn="l" indent="0" marL="0">
              <a:lnSpc>
                <a:spcPts val="1050"/>
              </a:lnSpc>
              <a:buNone/>
            </a:pPr>
            <a:r>
              <a:rPr lang="en-US" sz="750" dirty="0">
                <a:solidFill>
                  <a:srgbClr val="6E7D9A"/>
                </a:solidFill>
                <a:latin typeface="Arial" pitchFamily="34" charset="0"/>
                <a:ea typeface="Arial" pitchFamily="34" charset="-122"/>
                <a:cs typeface="Arial" pitchFamily="34" charset="-120"/>
              </a:rPr>
              <a:t>2220356033</a:t>
            </a:r>
            <a:endParaRPr lang="en-US" sz="750" dirty="0"/>
          </a:p>
        </p:txBody>
      </p:sp>
      <p:sp>
        <p:nvSpPr>
          <p:cNvPr id="11" name="Text 1.10"/>
          <p:cNvSpPr txBox="1"/>
          <p:nvPr/>
        </p:nvSpPr>
        <p:spPr>
          <a:xfrm>
            <a:off x="6895928" y="5651359"/>
            <a:ext cx="1879553" cy="167636"/>
          </a:xfrm>
          <a:prstGeom prst="rect">
            <a:avLst/>
          </a:prstGeom>
          <a:noFill/>
          <a:ln/>
        </p:spPr>
        <p:txBody>
          <a:bodyPr wrap="square" lIns="0" tIns="0" rIns="0" bIns="0" rtlCol="0" anchor="t"/>
          <a:lstStyle/>
          <a:p>
            <a:pPr algn="l" indent="0" marL="0">
              <a:lnSpc>
                <a:spcPts val="1320"/>
              </a:lnSpc>
              <a:buNone/>
            </a:pPr>
            <a:r>
              <a:rPr lang="en-US" sz="1100" b="1" dirty="0">
                <a:solidFill>
                  <a:srgbClr val="16233F"/>
                </a:solidFill>
                <a:latin typeface="Arial" pitchFamily="34" charset="0"/>
                <a:ea typeface="Arial" pitchFamily="34" charset="-122"/>
                <a:cs typeface="Arial" pitchFamily="34" charset="-120"/>
              </a:rPr>
              <a:t>Kürşat Hürkan Aydın</a:t>
            </a:r>
            <a:endParaRPr lang="en-US" sz="1100" dirty="0"/>
          </a:p>
        </p:txBody>
      </p:sp>
      <p:sp>
        <p:nvSpPr>
          <p:cNvPr id="12" name="Text 1.11"/>
          <p:cNvSpPr txBox="1"/>
          <p:nvPr/>
        </p:nvSpPr>
        <p:spPr>
          <a:xfrm>
            <a:off x="6895928" y="5854554"/>
            <a:ext cx="625102" cy="133347"/>
          </a:xfrm>
          <a:prstGeom prst="rect">
            <a:avLst/>
          </a:prstGeom>
          <a:noFill/>
          <a:ln/>
        </p:spPr>
        <p:txBody>
          <a:bodyPr wrap="square" lIns="0" tIns="0" rIns="0" bIns="0" rtlCol="0" anchor="t"/>
          <a:lstStyle/>
          <a:p>
            <a:pPr algn="l" indent="0" marL="0">
              <a:lnSpc>
                <a:spcPts val="1050"/>
              </a:lnSpc>
              <a:buNone/>
            </a:pPr>
            <a:r>
              <a:rPr lang="en-US" sz="750" dirty="0">
                <a:solidFill>
                  <a:srgbClr val="6E7D9A"/>
                </a:solidFill>
                <a:latin typeface="Arial" pitchFamily="34" charset="0"/>
                <a:ea typeface="Arial" pitchFamily="34" charset="-122"/>
                <a:cs typeface="Arial" pitchFamily="34" charset="-120"/>
              </a:rPr>
              <a:t>2230356008</a:t>
            </a:r>
            <a:endParaRPr lang="en-US" sz="750" dirty="0"/>
          </a:p>
        </p:txBody>
      </p:sp>
      <p:sp>
        <p:nvSpPr>
          <p:cNvPr id="13" name="Text 1.12"/>
          <p:cNvSpPr txBox="1"/>
          <p:nvPr/>
        </p:nvSpPr>
        <p:spPr>
          <a:xfrm>
            <a:off x="9689858" y="5651359"/>
            <a:ext cx="1879553" cy="167636"/>
          </a:xfrm>
          <a:prstGeom prst="rect">
            <a:avLst/>
          </a:prstGeom>
          <a:noFill/>
          <a:ln/>
        </p:spPr>
        <p:txBody>
          <a:bodyPr wrap="square" lIns="0" tIns="0" rIns="0" bIns="0" rtlCol="0" anchor="t"/>
          <a:lstStyle/>
          <a:p>
            <a:pPr algn="l" indent="0" marL="0">
              <a:lnSpc>
                <a:spcPts val="1320"/>
              </a:lnSpc>
              <a:buNone/>
            </a:pPr>
            <a:r>
              <a:rPr lang="en-US" sz="1100" b="1" dirty="0">
                <a:solidFill>
                  <a:srgbClr val="16233F"/>
                </a:solidFill>
                <a:latin typeface="Arial" pitchFamily="34" charset="0"/>
                <a:ea typeface="Arial" pitchFamily="34" charset="-122"/>
                <a:cs typeface="Arial" pitchFamily="34" charset="-120"/>
              </a:rPr>
              <a:t>Ardıl Bilal Ülkü</a:t>
            </a:r>
            <a:endParaRPr lang="en-US" sz="1100" dirty="0"/>
          </a:p>
        </p:txBody>
      </p:sp>
      <p:sp>
        <p:nvSpPr>
          <p:cNvPr id="14" name="Text 1.13"/>
          <p:cNvSpPr txBox="1"/>
          <p:nvPr/>
        </p:nvSpPr>
        <p:spPr>
          <a:xfrm>
            <a:off x="9689858" y="5854554"/>
            <a:ext cx="625102" cy="133347"/>
          </a:xfrm>
          <a:prstGeom prst="rect">
            <a:avLst/>
          </a:prstGeom>
          <a:noFill/>
          <a:ln/>
        </p:spPr>
        <p:txBody>
          <a:bodyPr wrap="square" lIns="0" tIns="0" rIns="0" bIns="0" rtlCol="0" anchor="t"/>
          <a:lstStyle/>
          <a:p>
            <a:pPr algn="l" indent="0" marL="0">
              <a:lnSpc>
                <a:spcPts val="1050"/>
              </a:lnSpc>
              <a:buNone/>
            </a:pPr>
            <a:r>
              <a:rPr lang="en-US" sz="750" dirty="0">
                <a:solidFill>
                  <a:srgbClr val="6E7D9A"/>
                </a:solidFill>
                <a:latin typeface="Arial" pitchFamily="34" charset="0"/>
                <a:ea typeface="Arial" pitchFamily="34" charset="-122"/>
                <a:cs typeface="Arial" pitchFamily="34" charset="-120"/>
              </a:rPr>
              <a:t>2230356051</a:t>
            </a:r>
            <a:endParaRPr lang="en-US" sz="750" dirty="0"/>
          </a:p>
        </p:txBody>
      </p:sp>
      <p:sp>
        <p:nvSpPr>
          <p:cNvPr id="15" name="Text 1.14"/>
          <p:cNvSpPr txBox="1"/>
          <p:nvPr/>
        </p:nvSpPr>
        <p:spPr>
          <a:xfrm>
            <a:off x="9494314" y="6533987"/>
            <a:ext cx="2087796" cy="133347"/>
          </a:xfrm>
          <a:prstGeom prst="rect">
            <a:avLst/>
          </a:prstGeom>
          <a:noFill/>
          <a:ln/>
        </p:spPr>
        <p:txBody>
          <a:bodyPr wrap="square" lIns="0" tIns="0" rIns="0" bIns="0" rtlCol="0" anchor="t"/>
          <a:lstStyle/>
          <a:p>
            <a:pPr algn="r" indent="0" marL="0">
              <a:lnSpc>
                <a:spcPts val="1050"/>
              </a:lnSpc>
              <a:buNone/>
            </a:pPr>
            <a:r>
              <a:rPr lang="en-US" sz="750" dirty="0">
                <a:solidFill>
                  <a:srgbClr val="FFFFFF"/>
                </a:solidFill>
                <a:latin typeface="Arial" pitchFamily="34" charset="0"/>
                <a:ea typeface="Arial" pitchFamily="34" charset="-122"/>
                <a:cs typeface="Arial" pitchFamily="34" charset="-120"/>
              </a:rPr>
              <a:t>Concept render, AI-generated. Not gameplay.</a:t>
            </a:r>
            <a:endParaRPr lang="en-US" sz="75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2.1"/>
          <p:cNvSpPr txBox="1"/>
          <p:nvPr/>
        </p:nvSpPr>
        <p:spPr>
          <a:xfrm>
            <a:off x="609585" y="761981"/>
            <a:ext cx="11371296" cy="384038"/>
          </a:xfrm>
          <a:prstGeom prst="rect">
            <a:avLst/>
          </a:prstGeom>
          <a:noFill/>
          <a:ln/>
        </p:spPr>
        <p:txBody>
          <a:bodyPr wrap="square" lIns="0" tIns="0" rIns="0" bIns="0" rtlCol="0" anchor="t"/>
          <a:lstStyle/>
          <a:p>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How it plays: </a:t>
            </a:r>
            <a:pPr algn="l" indent="0" marL="0">
              <a:lnSpc>
                <a:spcPts val="3020"/>
              </a:lnSpc>
              <a:buNone/>
            </a:pPr>
            <a:r>
              <a:rPr lang="en-US" sz="2700" spc="-27" kern="0" dirty="0">
                <a:solidFill>
                  <a:srgbClr val="1FA9EA"/>
                </a:solidFill>
                <a:latin typeface="Arial Rounded MT Bold" pitchFamily="34" charset="0"/>
                <a:ea typeface="Arial Rounded MT Bold" pitchFamily="34" charset="-122"/>
                <a:cs typeface="Arial Rounded MT Bold" pitchFamily="34" charset="-120"/>
              </a:rPr>
              <a:t>one room</a:t>
            </a:r>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 short rounds, one scoreboard</a:t>
            </a:r>
            <a:endParaRPr lang="en-US" sz="2700" dirty="0"/>
          </a:p>
        </p:txBody>
      </p:sp>
      <p:sp>
        <p:nvSpPr>
          <p:cNvPr id="3" name="Text 2.2"/>
          <p:cNvSpPr txBox="1"/>
          <p:nvPr/>
        </p:nvSpPr>
        <p:spPr>
          <a:xfrm>
            <a:off x="609585" y="1409665"/>
            <a:ext cx="11010625" cy="497074"/>
          </a:xfrm>
          <a:prstGeom prst="rect">
            <a:avLst/>
          </a:prstGeom>
          <a:noFill/>
          <a:ln/>
        </p:spPr>
        <p:txBody>
          <a:bodyPr wrap="square" lIns="0" tIns="0" rIns="0" bIns="0" rtlCol="0" anchor="t"/>
          <a:lstStyle/>
          <a:p>
            <a:pPr algn="l" indent="0" marL="0">
              <a:lnSpc>
                <a:spcPts val="1960"/>
              </a:lnSpc>
              <a:buNone/>
            </a:pPr>
            <a:r>
              <a:rPr lang="en-US" sz="1350" dirty="0">
                <a:solidFill>
                  <a:srgbClr val="3B4A66"/>
                </a:solidFill>
                <a:latin typeface="Arial" pitchFamily="34" charset="0"/>
                <a:ea typeface="Arial" pitchFamily="34" charset="-122"/>
                <a:cs typeface="Arial" pitchFamily="34" charset="-120"/>
              </a:rPr>
              <a:t>2–4 friends in one room, each at their own PC. One PC hosts; the others join over the local network. </a:t>
            </a:r>
            <a:pPr algn="l" indent="0" marL="0">
              <a:lnSpc>
                <a:spcPts val="1960"/>
              </a:lnSpc>
              <a:buNone/>
            </a:pPr>
            <a:r>
              <a:rPr lang="en-US" sz="1350" b="1" dirty="0">
                <a:solidFill>
                  <a:srgbClr val="16233F"/>
                </a:solidFill>
                <a:latin typeface="Arial" pitchFamily="34" charset="0"/>
                <a:ea typeface="Arial" pitchFamily="34" charset="-122"/>
                <a:cs typeface="Arial" pitchFamily="34" charset="-120"/>
              </a:rPr>
              <a:t>Everyone plays the same cube, in one of four colours.</a:t>
            </a:r>
            <a:endParaRPr lang="en-US" sz="1350" dirty="0"/>
          </a:p>
        </p:txBody>
      </p:sp>
      <p:sp>
        <p:nvSpPr>
          <p:cNvPr id="4" name="Text 2.3"/>
          <p:cNvSpPr txBox="1"/>
          <p:nvPr/>
        </p:nvSpPr>
        <p:spPr>
          <a:xfrm>
            <a:off x="761981" y="2184345"/>
            <a:ext cx="279393" cy="279393"/>
          </a:xfrm>
          <a:prstGeom prst="rect">
            <a:avLst/>
          </a:prstGeom>
          <a:noFill/>
          <a:ln/>
        </p:spPr>
        <p:txBody>
          <a:bodyPr wrap="square" lIns="0" tIns="0" rIns="0" bIns="0" rtlCol="0" anchor="ctr"/>
          <a:lstStyle/>
          <a:p>
            <a:pPr algn="ctr" indent="0" marL="0">
              <a:lnSpc>
                <a:spcPts val="1100"/>
              </a:lnSpc>
              <a:buNone/>
            </a:pPr>
            <a:r>
              <a:rPr lang="en-US" sz="1100" dirty="0">
                <a:solidFill>
                  <a:srgbClr val="1FA9EA"/>
                </a:solidFill>
                <a:latin typeface="Arial Rounded MT Bold" pitchFamily="34" charset="0"/>
                <a:ea typeface="Arial Rounded MT Bold" pitchFamily="34" charset="-122"/>
                <a:cs typeface="Arial Rounded MT Bold" pitchFamily="34" charset="-120"/>
              </a:rPr>
              <a:t>1</a:t>
            </a:r>
            <a:endParaRPr lang="en-US" sz="1100" dirty="0"/>
          </a:p>
        </p:txBody>
      </p:sp>
      <p:sp>
        <p:nvSpPr>
          <p:cNvPr id="5" name="Text 2.4"/>
          <p:cNvSpPr txBox="1"/>
          <p:nvPr/>
        </p:nvSpPr>
        <p:spPr>
          <a:xfrm>
            <a:off x="1130272" y="2235144"/>
            <a:ext cx="623945" cy="204465"/>
          </a:xfrm>
          <a:prstGeom prst="rect">
            <a:avLst/>
          </a:prstGeom>
          <a:noFill/>
          <a:ln/>
        </p:spPr>
        <p:txBody>
          <a:bodyPr wrap="square" lIns="0" tIns="0" rIns="0" bIns="0" rtlCol="0" anchor="t"/>
          <a:lstStyle/>
          <a:p>
            <a:pPr algn="l" indent="0" marL="0">
              <a:lnSpc>
                <a:spcPts val="1610"/>
              </a:lnSpc>
              <a:buNone/>
            </a:pPr>
            <a:r>
              <a:rPr lang="en-US" sz="1400" dirty="0">
                <a:solidFill>
                  <a:srgbClr val="16233F"/>
                </a:solidFill>
                <a:latin typeface="Arial Rounded MT Bold" pitchFamily="34" charset="0"/>
                <a:ea typeface="Arial Rounded MT Bold" pitchFamily="34" charset="-122"/>
                <a:cs typeface="Arial Rounded MT Bold" pitchFamily="34" charset="-120"/>
              </a:rPr>
              <a:t>Lobby</a:t>
            </a:r>
            <a:endParaRPr lang="en-US" sz="1400" dirty="0"/>
          </a:p>
        </p:txBody>
      </p:sp>
      <p:sp>
        <p:nvSpPr>
          <p:cNvPr id="6" name="Text 2.5"/>
          <p:cNvSpPr txBox="1"/>
          <p:nvPr/>
        </p:nvSpPr>
        <p:spPr>
          <a:xfrm>
            <a:off x="761981" y="2603435"/>
            <a:ext cx="1752556" cy="332970"/>
          </a:xfrm>
          <a:prstGeom prst="rect">
            <a:avLst/>
          </a:prstGeom>
          <a:noFill/>
          <a:ln/>
        </p:spPr>
        <p:txBody>
          <a:bodyPr wrap="square" lIns="0" tIns="0" rIns="0" bIns="0" rtlCol="0" anchor="t"/>
          <a:lstStyle/>
          <a:p>
            <a:pPr algn="l" indent="0" marL="0">
              <a:lnSpc>
                <a:spcPts val="1310"/>
              </a:lnSpc>
              <a:buNone/>
            </a:pPr>
            <a:r>
              <a:rPr lang="en-US" sz="950" dirty="0">
                <a:solidFill>
                  <a:srgbClr val="3B4A66"/>
                </a:solidFill>
                <a:latin typeface="Arial" pitchFamily="34" charset="0"/>
                <a:ea typeface="Arial" pitchFamily="34" charset="-122"/>
                <a:cs typeface="Arial" pitchFamily="34" charset="-120"/>
              </a:rPr>
              <a:t>Host starts a session. Others join with the host’s local IP.</a:t>
            </a:r>
            <a:endParaRPr lang="en-US" sz="950" dirty="0"/>
          </a:p>
        </p:txBody>
      </p:sp>
      <p:sp>
        <p:nvSpPr>
          <p:cNvPr id="7" name="Text 2.6"/>
          <p:cNvSpPr txBox="1"/>
          <p:nvPr/>
        </p:nvSpPr>
        <p:spPr>
          <a:xfrm>
            <a:off x="3028874" y="2184345"/>
            <a:ext cx="279393" cy="279393"/>
          </a:xfrm>
          <a:prstGeom prst="rect">
            <a:avLst/>
          </a:prstGeom>
          <a:noFill/>
          <a:ln/>
        </p:spPr>
        <p:txBody>
          <a:bodyPr wrap="square" lIns="0" tIns="0" rIns="0" bIns="0" rtlCol="0" anchor="ctr"/>
          <a:lstStyle/>
          <a:p>
            <a:pPr algn="ctr" indent="0" marL="0">
              <a:lnSpc>
                <a:spcPts val="1100"/>
              </a:lnSpc>
              <a:buNone/>
            </a:pPr>
            <a:r>
              <a:rPr lang="en-US" sz="1100" dirty="0">
                <a:solidFill>
                  <a:srgbClr val="1FA9EA"/>
                </a:solidFill>
                <a:latin typeface="Arial Rounded MT Bold" pitchFamily="34" charset="0"/>
                <a:ea typeface="Arial Rounded MT Bold" pitchFamily="34" charset="-122"/>
                <a:cs typeface="Arial Rounded MT Bold" pitchFamily="34" charset="-120"/>
              </a:rPr>
              <a:t>2</a:t>
            </a:r>
            <a:endParaRPr lang="en-US" sz="1100" dirty="0"/>
          </a:p>
        </p:txBody>
      </p:sp>
      <p:sp>
        <p:nvSpPr>
          <p:cNvPr id="8" name="Text 2.7"/>
          <p:cNvSpPr txBox="1"/>
          <p:nvPr/>
        </p:nvSpPr>
        <p:spPr>
          <a:xfrm>
            <a:off x="3397165" y="2235144"/>
            <a:ext cx="653708" cy="204465"/>
          </a:xfrm>
          <a:prstGeom prst="rect">
            <a:avLst/>
          </a:prstGeom>
          <a:noFill/>
          <a:ln/>
        </p:spPr>
        <p:txBody>
          <a:bodyPr wrap="square" lIns="0" tIns="0" rIns="0" bIns="0" rtlCol="0" anchor="t"/>
          <a:lstStyle/>
          <a:p>
            <a:pPr algn="l" indent="0" marL="0">
              <a:lnSpc>
                <a:spcPts val="1610"/>
              </a:lnSpc>
              <a:buNone/>
            </a:pPr>
            <a:r>
              <a:rPr lang="en-US" sz="1400" dirty="0">
                <a:solidFill>
                  <a:srgbClr val="16233F"/>
                </a:solidFill>
                <a:latin typeface="Arial Rounded MT Bold" pitchFamily="34" charset="0"/>
                <a:ea typeface="Arial Rounded MT Bold" pitchFamily="34" charset="-122"/>
                <a:cs typeface="Arial Rounded MT Bold" pitchFamily="34" charset="-120"/>
              </a:rPr>
              <a:t>Round</a:t>
            </a:r>
            <a:endParaRPr lang="en-US" sz="1400" dirty="0"/>
          </a:p>
        </p:txBody>
      </p:sp>
      <p:sp>
        <p:nvSpPr>
          <p:cNvPr id="9" name="Text 2.8"/>
          <p:cNvSpPr txBox="1"/>
          <p:nvPr/>
        </p:nvSpPr>
        <p:spPr>
          <a:xfrm>
            <a:off x="3028874" y="2603435"/>
            <a:ext cx="1752556" cy="499455"/>
          </a:xfrm>
          <a:prstGeom prst="rect">
            <a:avLst/>
          </a:prstGeom>
          <a:noFill/>
          <a:ln/>
        </p:spPr>
        <p:txBody>
          <a:bodyPr wrap="square" lIns="0" tIns="0" rIns="0" bIns="0" rtlCol="0" anchor="t"/>
          <a:lstStyle/>
          <a:p>
            <a:pPr algn="l" indent="0" marL="0">
              <a:lnSpc>
                <a:spcPts val="1310"/>
              </a:lnSpc>
              <a:buNone/>
            </a:pPr>
            <a:r>
              <a:rPr lang="en-US" sz="950" dirty="0">
                <a:solidFill>
                  <a:srgbClr val="3B4A66"/>
                </a:solidFill>
                <a:latin typeface="Arial" pitchFamily="34" charset="0"/>
                <a:ea typeface="Arial" pitchFamily="34" charset="-122"/>
                <a:cs typeface="Arial" pitchFamily="34" charset="-120"/>
              </a:rPr>
              <a:t>Host picks the next mini-game. Everyone loads the same arena.</a:t>
            </a:r>
            <a:endParaRPr lang="en-US" sz="950" dirty="0"/>
          </a:p>
        </p:txBody>
      </p:sp>
      <p:sp>
        <p:nvSpPr>
          <p:cNvPr id="10" name="Text 2.9"/>
          <p:cNvSpPr txBox="1"/>
          <p:nvPr/>
        </p:nvSpPr>
        <p:spPr>
          <a:xfrm>
            <a:off x="5295768" y="2184345"/>
            <a:ext cx="279393" cy="279393"/>
          </a:xfrm>
          <a:prstGeom prst="rect">
            <a:avLst/>
          </a:prstGeom>
          <a:noFill/>
          <a:ln/>
        </p:spPr>
        <p:txBody>
          <a:bodyPr wrap="square" lIns="0" tIns="0" rIns="0" bIns="0" rtlCol="0" anchor="ctr"/>
          <a:lstStyle/>
          <a:p>
            <a:pPr algn="ctr" indent="0" marL="0">
              <a:lnSpc>
                <a:spcPts val="1100"/>
              </a:lnSpc>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11" name="Text 2.10"/>
          <p:cNvSpPr txBox="1"/>
          <p:nvPr/>
        </p:nvSpPr>
        <p:spPr>
          <a:xfrm>
            <a:off x="5664058" y="2235144"/>
            <a:ext cx="451994" cy="204465"/>
          </a:xfrm>
          <a:prstGeom prst="rect">
            <a:avLst/>
          </a:prstGeom>
          <a:noFill/>
          <a:ln/>
        </p:spPr>
        <p:txBody>
          <a:bodyPr wrap="square" lIns="0" tIns="0" rIns="0" bIns="0" rtlCol="0" anchor="t"/>
          <a:lstStyle/>
          <a:p>
            <a:pPr algn="l" indent="0" marL="0">
              <a:lnSpc>
                <a:spcPts val="1610"/>
              </a:lnSpc>
              <a:buNone/>
            </a:pPr>
            <a:r>
              <a:rPr lang="en-US" sz="1400" dirty="0">
                <a:solidFill>
                  <a:srgbClr val="16233F"/>
                </a:solidFill>
                <a:latin typeface="Arial Rounded MT Bold" pitchFamily="34" charset="0"/>
                <a:ea typeface="Arial Rounded MT Bold" pitchFamily="34" charset="-122"/>
                <a:cs typeface="Arial Rounded MT Bold" pitchFamily="34" charset="-120"/>
              </a:rPr>
              <a:t>Play</a:t>
            </a:r>
            <a:endParaRPr lang="en-US" sz="1400" dirty="0"/>
          </a:p>
        </p:txBody>
      </p:sp>
      <p:sp>
        <p:nvSpPr>
          <p:cNvPr id="12" name="Text 2.11"/>
          <p:cNvSpPr txBox="1"/>
          <p:nvPr/>
        </p:nvSpPr>
        <p:spPr>
          <a:xfrm>
            <a:off x="5295768" y="2603435"/>
            <a:ext cx="1752556" cy="332970"/>
          </a:xfrm>
          <a:prstGeom prst="rect">
            <a:avLst/>
          </a:prstGeom>
          <a:noFill/>
          <a:ln/>
        </p:spPr>
        <p:txBody>
          <a:bodyPr wrap="square" lIns="0" tIns="0" rIns="0" bIns="0" rtlCol="0" anchor="t"/>
          <a:lstStyle/>
          <a:p>
            <a:pPr algn="l" indent="0" marL="0">
              <a:lnSpc>
                <a:spcPts val="1310"/>
              </a:lnSpc>
              <a:buNone/>
            </a:pPr>
            <a:r>
              <a:rPr lang="en-US" sz="950" dirty="0">
                <a:solidFill>
                  <a:srgbClr val="3B4A66"/>
                </a:solidFill>
                <a:latin typeface="Arial" pitchFamily="34" charset="0"/>
                <a:ea typeface="Arial" pitchFamily="34" charset="-122"/>
                <a:cs typeface="Arial" pitchFamily="34" charset="-120"/>
              </a:rPr>
              <a:t>Host runs the physics. Clients send input and draw the result.</a:t>
            </a:r>
            <a:endParaRPr lang="en-US" sz="950" dirty="0"/>
          </a:p>
        </p:txBody>
      </p:sp>
      <p:sp>
        <p:nvSpPr>
          <p:cNvPr id="13" name="Text 2.12"/>
          <p:cNvSpPr txBox="1"/>
          <p:nvPr/>
        </p:nvSpPr>
        <p:spPr>
          <a:xfrm>
            <a:off x="7562661" y="2184345"/>
            <a:ext cx="279393" cy="279393"/>
          </a:xfrm>
          <a:prstGeom prst="rect">
            <a:avLst/>
          </a:prstGeom>
          <a:noFill/>
          <a:ln/>
        </p:spPr>
        <p:txBody>
          <a:bodyPr wrap="square" lIns="0" tIns="0" rIns="0" bIns="0" rtlCol="0" anchor="ctr"/>
          <a:lstStyle/>
          <a:p>
            <a:pPr algn="ctr" indent="0" marL="0">
              <a:lnSpc>
                <a:spcPts val="1100"/>
              </a:lnSpc>
              <a:buNone/>
            </a:pPr>
            <a:r>
              <a:rPr lang="en-US" sz="1100" dirty="0">
                <a:solidFill>
                  <a:srgbClr val="1FA9EA"/>
                </a:solidFill>
                <a:latin typeface="Arial Rounded MT Bold" pitchFamily="34" charset="0"/>
                <a:ea typeface="Arial Rounded MT Bold" pitchFamily="34" charset="-122"/>
                <a:cs typeface="Arial Rounded MT Bold" pitchFamily="34" charset="-120"/>
              </a:rPr>
              <a:t>4</a:t>
            </a:r>
            <a:endParaRPr lang="en-US" sz="1100" dirty="0"/>
          </a:p>
        </p:txBody>
      </p:sp>
      <p:sp>
        <p:nvSpPr>
          <p:cNvPr id="14" name="Text 2.13"/>
          <p:cNvSpPr txBox="1"/>
          <p:nvPr/>
        </p:nvSpPr>
        <p:spPr>
          <a:xfrm>
            <a:off x="7930952" y="2235144"/>
            <a:ext cx="576304" cy="204465"/>
          </a:xfrm>
          <a:prstGeom prst="rect">
            <a:avLst/>
          </a:prstGeom>
          <a:noFill/>
          <a:ln/>
        </p:spPr>
        <p:txBody>
          <a:bodyPr wrap="square" lIns="0" tIns="0" rIns="0" bIns="0" rtlCol="0" anchor="t"/>
          <a:lstStyle/>
          <a:p>
            <a:pPr algn="l" indent="0" marL="0">
              <a:lnSpc>
                <a:spcPts val="1610"/>
              </a:lnSpc>
              <a:buNone/>
            </a:pPr>
            <a:r>
              <a:rPr lang="en-US" sz="1400" dirty="0">
                <a:solidFill>
                  <a:srgbClr val="16233F"/>
                </a:solidFill>
                <a:latin typeface="Arial Rounded MT Bold" pitchFamily="34" charset="0"/>
                <a:ea typeface="Arial Rounded MT Bold" pitchFamily="34" charset="-122"/>
                <a:cs typeface="Arial Rounded MT Bold" pitchFamily="34" charset="-120"/>
              </a:rPr>
              <a:t>Place</a:t>
            </a:r>
            <a:endParaRPr lang="en-US" sz="1400" dirty="0"/>
          </a:p>
        </p:txBody>
      </p:sp>
      <p:sp>
        <p:nvSpPr>
          <p:cNvPr id="15" name="Text 2.14"/>
          <p:cNvSpPr txBox="1"/>
          <p:nvPr/>
        </p:nvSpPr>
        <p:spPr>
          <a:xfrm>
            <a:off x="7562661" y="2603435"/>
            <a:ext cx="1752556" cy="332970"/>
          </a:xfrm>
          <a:prstGeom prst="rect">
            <a:avLst/>
          </a:prstGeom>
          <a:noFill/>
          <a:ln/>
        </p:spPr>
        <p:txBody>
          <a:bodyPr wrap="square" lIns="0" tIns="0" rIns="0" bIns="0" rtlCol="0" anchor="t"/>
          <a:lstStyle/>
          <a:p>
            <a:pPr algn="l" indent="0" marL="0">
              <a:lnSpc>
                <a:spcPts val="1310"/>
              </a:lnSpc>
              <a:buNone/>
            </a:pPr>
            <a:r>
              <a:rPr lang="en-US" sz="950" dirty="0">
                <a:solidFill>
                  <a:srgbClr val="3B4A66"/>
                </a:solidFill>
                <a:latin typeface="Arial" pitchFamily="34" charset="0"/>
                <a:ea typeface="Arial" pitchFamily="34" charset="-122"/>
                <a:cs typeface="Arial" pitchFamily="34" charset="-120"/>
              </a:rPr>
              <a:t>Round ends. Placement becomes points.</a:t>
            </a:r>
            <a:endParaRPr lang="en-US" sz="950" dirty="0"/>
          </a:p>
        </p:txBody>
      </p:sp>
      <p:sp>
        <p:nvSpPr>
          <p:cNvPr id="16" name="Text 2.15"/>
          <p:cNvSpPr txBox="1"/>
          <p:nvPr/>
        </p:nvSpPr>
        <p:spPr>
          <a:xfrm>
            <a:off x="9829554" y="2184345"/>
            <a:ext cx="279393" cy="279393"/>
          </a:xfrm>
          <a:prstGeom prst="rect">
            <a:avLst/>
          </a:prstGeom>
          <a:noFill/>
          <a:ln/>
        </p:spPr>
        <p:txBody>
          <a:bodyPr wrap="square" lIns="0" tIns="0" rIns="0" bIns="0" rtlCol="0" anchor="ctr"/>
          <a:lstStyle/>
          <a:p>
            <a:pPr algn="ctr" indent="0" marL="0">
              <a:lnSpc>
                <a:spcPts val="1100"/>
              </a:lnSpc>
              <a:buNone/>
            </a:pPr>
            <a:r>
              <a:rPr lang="en-US" sz="1100" dirty="0">
                <a:solidFill>
                  <a:srgbClr val="1FA9EA"/>
                </a:solidFill>
                <a:latin typeface="Arial Rounded MT Bold" pitchFamily="34" charset="0"/>
                <a:ea typeface="Arial Rounded MT Bold" pitchFamily="34" charset="-122"/>
                <a:cs typeface="Arial Rounded MT Bold" pitchFamily="34" charset="-120"/>
              </a:rPr>
              <a:t>5</a:t>
            </a:r>
            <a:endParaRPr lang="en-US" sz="1100" dirty="0"/>
          </a:p>
        </p:txBody>
      </p:sp>
      <p:sp>
        <p:nvSpPr>
          <p:cNvPr id="17" name="Text 2.16"/>
          <p:cNvSpPr txBox="1"/>
          <p:nvPr/>
        </p:nvSpPr>
        <p:spPr>
          <a:xfrm>
            <a:off x="10197845" y="2235144"/>
            <a:ext cx="984465" cy="204465"/>
          </a:xfrm>
          <a:prstGeom prst="rect">
            <a:avLst/>
          </a:prstGeom>
          <a:noFill/>
          <a:ln/>
        </p:spPr>
        <p:txBody>
          <a:bodyPr wrap="square" lIns="0" tIns="0" rIns="0" bIns="0" rtlCol="0" anchor="t"/>
          <a:lstStyle/>
          <a:p>
            <a:pPr algn="l" indent="0" marL="0">
              <a:lnSpc>
                <a:spcPts val="1610"/>
              </a:lnSpc>
              <a:buNone/>
            </a:pPr>
            <a:r>
              <a:rPr lang="en-US" sz="1400" dirty="0">
                <a:solidFill>
                  <a:srgbClr val="16233F"/>
                </a:solidFill>
                <a:latin typeface="Arial Rounded MT Bold" pitchFamily="34" charset="0"/>
                <a:ea typeface="Arial Rounded MT Bold" pitchFamily="34" charset="-122"/>
                <a:cs typeface="Arial Rounded MT Bold" pitchFamily="34" charset="-120"/>
              </a:rPr>
              <a:t>Standings</a:t>
            </a:r>
            <a:endParaRPr lang="en-US" sz="1400" dirty="0"/>
          </a:p>
        </p:txBody>
      </p:sp>
      <p:sp>
        <p:nvSpPr>
          <p:cNvPr id="18" name="Text 2.17"/>
          <p:cNvSpPr txBox="1"/>
          <p:nvPr/>
        </p:nvSpPr>
        <p:spPr>
          <a:xfrm>
            <a:off x="9829554" y="2603435"/>
            <a:ext cx="1752556" cy="332970"/>
          </a:xfrm>
          <a:prstGeom prst="rect">
            <a:avLst/>
          </a:prstGeom>
          <a:noFill/>
          <a:ln/>
        </p:spPr>
        <p:txBody>
          <a:bodyPr wrap="square" lIns="0" tIns="0" rIns="0" bIns="0" rtlCol="0" anchor="t"/>
          <a:lstStyle/>
          <a:p>
            <a:pPr algn="l" indent="0" marL="0">
              <a:lnSpc>
                <a:spcPts val="1310"/>
              </a:lnSpc>
              <a:buNone/>
            </a:pPr>
            <a:r>
              <a:rPr lang="en-US" sz="950" dirty="0">
                <a:solidFill>
                  <a:srgbClr val="3B4A66"/>
                </a:solidFill>
                <a:latin typeface="Arial" pitchFamily="34" charset="0"/>
                <a:ea typeface="Arial" pitchFamily="34" charset="-122"/>
                <a:cs typeface="Arial" pitchFamily="34" charset="-120"/>
              </a:rPr>
              <a:t>Scoreboard updates. After the last round: overall winner.</a:t>
            </a:r>
            <a:endParaRPr lang="en-US" sz="950" dirty="0"/>
          </a:p>
        </p:txBody>
      </p:sp>
      <p:sp>
        <p:nvSpPr>
          <p:cNvPr id="19" name="Text 2.18"/>
          <p:cNvSpPr txBox="1"/>
          <p:nvPr/>
        </p:nvSpPr>
        <p:spPr>
          <a:xfrm>
            <a:off x="5384665" y="3568611"/>
            <a:ext cx="1523962" cy="241294"/>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FF6B1F"/>
                </a:solidFill>
                <a:latin typeface="Arial" pitchFamily="34" charset="0"/>
                <a:ea typeface="Arial" pitchFamily="34" charset="-122"/>
                <a:cs typeface="Arial" pitchFamily="34" charset="-120"/>
              </a:rPr>
              <a:t>NEXT MINI-GAME</a:t>
            </a:r>
            <a:endParaRPr lang="en-US" sz="700" dirty="0"/>
          </a:p>
        </p:txBody>
      </p:sp>
      <p:sp>
        <p:nvSpPr>
          <p:cNvPr id="20" name="Text 2.19"/>
          <p:cNvSpPr txBox="1"/>
          <p:nvPr/>
        </p:nvSpPr>
        <p:spPr>
          <a:xfrm>
            <a:off x="863578" y="4330592"/>
            <a:ext cx="2084746"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FF6B1F"/>
                </a:solidFill>
                <a:latin typeface="Arial" pitchFamily="34" charset="0"/>
                <a:ea typeface="Arial" pitchFamily="34" charset="-122"/>
                <a:cs typeface="Arial" pitchFamily="34" charset="-120"/>
              </a:rPr>
              <a:t>PLACEMENT POINTS · PROPOSED</a:t>
            </a:r>
            <a:endParaRPr lang="en-US" sz="750" dirty="0"/>
          </a:p>
        </p:txBody>
      </p:sp>
      <p:sp>
        <p:nvSpPr>
          <p:cNvPr id="21" name="Text 2.20"/>
          <p:cNvSpPr txBox="1"/>
          <p:nvPr/>
        </p:nvSpPr>
        <p:spPr>
          <a:xfrm>
            <a:off x="863578" y="4622684"/>
            <a:ext cx="404562" cy="215895"/>
          </a:xfrm>
          <a:prstGeom prst="rect">
            <a:avLst/>
          </a:prstGeom>
          <a:noFill/>
          <a:ln/>
        </p:spPr>
        <p:txBody>
          <a:bodyPr wrap="square" lIns="0" tIns="0" rIns="0" bIns="0" rtlCol="0" anchor="t"/>
          <a:lstStyle/>
          <a:p>
            <a:pPr algn="l" indent="0" marL="0">
              <a:lnSpc>
                <a:spcPts val="1700"/>
              </a:lnSpc>
              <a:buNone/>
            </a:pPr>
            <a:r>
              <a:rPr lang="en-US" sz="1700" dirty="0">
                <a:solidFill>
                  <a:srgbClr val="FF6B1F"/>
                </a:solidFill>
                <a:latin typeface="Arial Rounded MT Bold" pitchFamily="34" charset="0"/>
                <a:ea typeface="Arial Rounded MT Bold" pitchFamily="34" charset="-122"/>
                <a:cs typeface="Arial Rounded MT Bold" pitchFamily="34" charset="-120"/>
              </a:rPr>
              <a:t>1st</a:t>
            </a:r>
            <a:endParaRPr lang="en-US" sz="1700" dirty="0"/>
          </a:p>
        </p:txBody>
      </p:sp>
      <p:sp>
        <p:nvSpPr>
          <p:cNvPr id="22" name="Text 2.21"/>
          <p:cNvSpPr txBox="1"/>
          <p:nvPr/>
        </p:nvSpPr>
        <p:spPr>
          <a:xfrm>
            <a:off x="4444889" y="4622684"/>
            <a:ext cx="483544" cy="215895"/>
          </a:xfrm>
          <a:prstGeom prst="rect">
            <a:avLst/>
          </a:prstGeom>
          <a:noFill/>
          <a:ln/>
        </p:spPr>
        <p:txBody>
          <a:bodyPr wrap="square" lIns="0" tIns="0" rIns="0" bIns="0" rtlCol="0" anchor="t"/>
          <a:lstStyle/>
          <a:p>
            <a:pPr algn="l" indent="0" marL="0">
              <a:lnSpc>
                <a:spcPts val="1700"/>
              </a:lnSpc>
              <a:buNone/>
            </a:pPr>
            <a:r>
              <a:rPr lang="en-US" sz="1700" dirty="0">
                <a:solidFill>
                  <a:srgbClr val="16233F"/>
                </a:solidFill>
                <a:latin typeface="Arial Rounded MT Bold" pitchFamily="34" charset="0"/>
                <a:ea typeface="Arial Rounded MT Bold" pitchFamily="34" charset="-122"/>
                <a:cs typeface="Arial Rounded MT Bold" pitchFamily="34" charset="-120"/>
              </a:rPr>
              <a:t>4 </a:t>
            </a:r>
            <a:pPr algn="l" indent="0" marL="0">
              <a:lnSpc>
                <a:spcPts val="1700"/>
              </a:lnSpc>
              <a:buNone/>
            </a:pPr>
            <a:r>
              <a:rPr lang="en-US" sz="750" b="1" spc="75" kern="0" dirty="0">
                <a:solidFill>
                  <a:srgbClr val="6E7D9A"/>
                </a:solidFill>
                <a:latin typeface="Arial" pitchFamily="34" charset="0"/>
                <a:ea typeface="Arial" pitchFamily="34" charset="-122"/>
                <a:cs typeface="Arial" pitchFamily="34" charset="-120"/>
              </a:rPr>
              <a:t>PTS</a:t>
            </a:r>
            <a:endParaRPr lang="en-US" sz="1700" dirty="0"/>
          </a:p>
        </p:txBody>
      </p:sp>
      <p:sp>
        <p:nvSpPr>
          <p:cNvPr id="23" name="Text 2.22"/>
          <p:cNvSpPr txBox="1"/>
          <p:nvPr/>
        </p:nvSpPr>
        <p:spPr>
          <a:xfrm>
            <a:off x="863578" y="5016375"/>
            <a:ext cx="480810" cy="215895"/>
          </a:xfrm>
          <a:prstGeom prst="rect">
            <a:avLst/>
          </a:prstGeom>
          <a:noFill/>
          <a:ln/>
        </p:spPr>
        <p:txBody>
          <a:bodyPr wrap="square" lIns="0" tIns="0" rIns="0" bIns="0" rtlCol="0" anchor="t"/>
          <a:lstStyle/>
          <a:p>
            <a:pPr algn="l" indent="0" marL="0">
              <a:lnSpc>
                <a:spcPts val="1700"/>
              </a:lnSpc>
              <a:buNone/>
            </a:pPr>
            <a:r>
              <a:rPr lang="en-US" sz="1700" dirty="0">
                <a:solidFill>
                  <a:srgbClr val="16233F"/>
                </a:solidFill>
                <a:latin typeface="Arial Rounded MT Bold" pitchFamily="34" charset="0"/>
                <a:ea typeface="Arial Rounded MT Bold" pitchFamily="34" charset="-122"/>
                <a:cs typeface="Arial Rounded MT Bold" pitchFamily="34" charset="-120"/>
              </a:rPr>
              <a:t>2nd</a:t>
            </a:r>
            <a:endParaRPr lang="en-US" sz="1700" dirty="0"/>
          </a:p>
        </p:txBody>
      </p:sp>
      <p:sp>
        <p:nvSpPr>
          <p:cNvPr id="24" name="Text 2.23"/>
          <p:cNvSpPr txBox="1"/>
          <p:nvPr/>
        </p:nvSpPr>
        <p:spPr>
          <a:xfrm>
            <a:off x="4444889" y="5016375"/>
            <a:ext cx="483544" cy="215895"/>
          </a:xfrm>
          <a:prstGeom prst="rect">
            <a:avLst/>
          </a:prstGeom>
          <a:noFill/>
          <a:ln/>
        </p:spPr>
        <p:txBody>
          <a:bodyPr wrap="square" lIns="0" tIns="0" rIns="0" bIns="0" rtlCol="0" anchor="t"/>
          <a:lstStyle/>
          <a:p>
            <a:pPr algn="l" indent="0" marL="0">
              <a:lnSpc>
                <a:spcPts val="1700"/>
              </a:lnSpc>
              <a:buNone/>
            </a:pPr>
            <a:r>
              <a:rPr lang="en-US" sz="1700" dirty="0">
                <a:solidFill>
                  <a:srgbClr val="16233F"/>
                </a:solidFill>
                <a:latin typeface="Arial Rounded MT Bold" pitchFamily="34" charset="0"/>
                <a:ea typeface="Arial Rounded MT Bold" pitchFamily="34" charset="-122"/>
                <a:cs typeface="Arial Rounded MT Bold" pitchFamily="34" charset="-120"/>
              </a:rPr>
              <a:t>3 </a:t>
            </a:r>
            <a:pPr algn="l" indent="0" marL="0">
              <a:lnSpc>
                <a:spcPts val="1700"/>
              </a:lnSpc>
              <a:buNone/>
            </a:pPr>
            <a:r>
              <a:rPr lang="en-US" sz="750" b="1" spc="75" kern="0" dirty="0">
                <a:solidFill>
                  <a:srgbClr val="6E7D9A"/>
                </a:solidFill>
                <a:latin typeface="Arial" pitchFamily="34" charset="0"/>
                <a:ea typeface="Arial" pitchFamily="34" charset="-122"/>
                <a:cs typeface="Arial" pitchFamily="34" charset="-120"/>
              </a:rPr>
              <a:t>PTS</a:t>
            </a:r>
            <a:endParaRPr lang="en-US" sz="1700" dirty="0"/>
          </a:p>
        </p:txBody>
      </p:sp>
      <p:sp>
        <p:nvSpPr>
          <p:cNvPr id="25" name="Text 2.24"/>
          <p:cNvSpPr txBox="1"/>
          <p:nvPr/>
        </p:nvSpPr>
        <p:spPr>
          <a:xfrm>
            <a:off x="863578" y="5410065"/>
            <a:ext cx="436849" cy="215895"/>
          </a:xfrm>
          <a:prstGeom prst="rect">
            <a:avLst/>
          </a:prstGeom>
          <a:noFill/>
          <a:ln/>
        </p:spPr>
        <p:txBody>
          <a:bodyPr wrap="square" lIns="0" tIns="0" rIns="0" bIns="0" rtlCol="0" anchor="t"/>
          <a:lstStyle/>
          <a:p>
            <a:pPr algn="l" indent="0" marL="0">
              <a:lnSpc>
                <a:spcPts val="1700"/>
              </a:lnSpc>
              <a:buNone/>
            </a:pPr>
            <a:r>
              <a:rPr lang="en-US" sz="1700" dirty="0">
                <a:solidFill>
                  <a:srgbClr val="16233F"/>
                </a:solidFill>
                <a:latin typeface="Arial Rounded MT Bold" pitchFamily="34" charset="0"/>
                <a:ea typeface="Arial Rounded MT Bold" pitchFamily="34" charset="-122"/>
                <a:cs typeface="Arial Rounded MT Bold" pitchFamily="34" charset="-120"/>
              </a:rPr>
              <a:t>3rd</a:t>
            </a:r>
            <a:endParaRPr lang="en-US" sz="1700" dirty="0"/>
          </a:p>
        </p:txBody>
      </p:sp>
      <p:sp>
        <p:nvSpPr>
          <p:cNvPr id="26" name="Text 2.25"/>
          <p:cNvSpPr txBox="1"/>
          <p:nvPr/>
        </p:nvSpPr>
        <p:spPr>
          <a:xfrm>
            <a:off x="4444889" y="5410065"/>
            <a:ext cx="483544" cy="215895"/>
          </a:xfrm>
          <a:prstGeom prst="rect">
            <a:avLst/>
          </a:prstGeom>
          <a:noFill/>
          <a:ln/>
        </p:spPr>
        <p:txBody>
          <a:bodyPr wrap="square" lIns="0" tIns="0" rIns="0" bIns="0" rtlCol="0" anchor="t"/>
          <a:lstStyle/>
          <a:p>
            <a:pPr algn="l" indent="0" marL="0">
              <a:lnSpc>
                <a:spcPts val="1700"/>
              </a:lnSpc>
              <a:buNone/>
            </a:pPr>
            <a:r>
              <a:rPr lang="en-US" sz="1700" dirty="0">
                <a:solidFill>
                  <a:srgbClr val="16233F"/>
                </a:solidFill>
                <a:latin typeface="Arial Rounded MT Bold" pitchFamily="34" charset="0"/>
                <a:ea typeface="Arial Rounded MT Bold" pitchFamily="34" charset="-122"/>
                <a:cs typeface="Arial Rounded MT Bold" pitchFamily="34" charset="-120"/>
              </a:rPr>
              <a:t>2 </a:t>
            </a:r>
            <a:pPr algn="l" indent="0" marL="0">
              <a:lnSpc>
                <a:spcPts val="1700"/>
              </a:lnSpc>
              <a:buNone/>
            </a:pPr>
            <a:r>
              <a:rPr lang="en-US" sz="750" b="1" spc="75" kern="0" dirty="0">
                <a:solidFill>
                  <a:srgbClr val="6E7D9A"/>
                </a:solidFill>
                <a:latin typeface="Arial" pitchFamily="34" charset="0"/>
                <a:ea typeface="Arial" pitchFamily="34" charset="-122"/>
                <a:cs typeface="Arial" pitchFamily="34" charset="-120"/>
              </a:rPr>
              <a:t>PTS</a:t>
            </a:r>
            <a:endParaRPr lang="en-US" sz="1700" dirty="0"/>
          </a:p>
        </p:txBody>
      </p:sp>
      <p:sp>
        <p:nvSpPr>
          <p:cNvPr id="27" name="Text 2.26"/>
          <p:cNvSpPr txBox="1"/>
          <p:nvPr/>
        </p:nvSpPr>
        <p:spPr>
          <a:xfrm>
            <a:off x="863578" y="5803755"/>
            <a:ext cx="418760" cy="215895"/>
          </a:xfrm>
          <a:prstGeom prst="rect">
            <a:avLst/>
          </a:prstGeom>
          <a:noFill/>
          <a:ln/>
        </p:spPr>
        <p:txBody>
          <a:bodyPr wrap="square" lIns="0" tIns="0" rIns="0" bIns="0" rtlCol="0" anchor="t"/>
          <a:lstStyle/>
          <a:p>
            <a:pPr algn="l" indent="0" marL="0">
              <a:lnSpc>
                <a:spcPts val="1700"/>
              </a:lnSpc>
              <a:buNone/>
            </a:pPr>
            <a:r>
              <a:rPr lang="en-US" sz="1700" dirty="0">
                <a:solidFill>
                  <a:srgbClr val="16233F"/>
                </a:solidFill>
                <a:latin typeface="Arial Rounded MT Bold" pitchFamily="34" charset="0"/>
                <a:ea typeface="Arial Rounded MT Bold" pitchFamily="34" charset="-122"/>
                <a:cs typeface="Arial Rounded MT Bold" pitchFamily="34" charset="-120"/>
              </a:rPr>
              <a:t>4th</a:t>
            </a:r>
            <a:endParaRPr lang="en-US" sz="1700" dirty="0"/>
          </a:p>
        </p:txBody>
      </p:sp>
      <p:sp>
        <p:nvSpPr>
          <p:cNvPr id="28" name="Text 2.27"/>
          <p:cNvSpPr txBox="1"/>
          <p:nvPr/>
        </p:nvSpPr>
        <p:spPr>
          <a:xfrm>
            <a:off x="4444889" y="5803755"/>
            <a:ext cx="483544" cy="215895"/>
          </a:xfrm>
          <a:prstGeom prst="rect">
            <a:avLst/>
          </a:prstGeom>
          <a:noFill/>
          <a:ln/>
        </p:spPr>
        <p:txBody>
          <a:bodyPr wrap="square" lIns="0" tIns="0" rIns="0" bIns="0" rtlCol="0" anchor="t"/>
          <a:lstStyle/>
          <a:p>
            <a:pPr algn="l" indent="0" marL="0">
              <a:lnSpc>
                <a:spcPts val="1700"/>
              </a:lnSpc>
              <a:buNone/>
            </a:pPr>
            <a:r>
              <a:rPr lang="en-US" sz="1700" dirty="0">
                <a:solidFill>
                  <a:srgbClr val="16233F"/>
                </a:solidFill>
                <a:latin typeface="Arial Rounded MT Bold" pitchFamily="34" charset="0"/>
                <a:ea typeface="Arial Rounded MT Bold" pitchFamily="34" charset="-122"/>
                <a:cs typeface="Arial Rounded MT Bold" pitchFamily="34" charset="-120"/>
              </a:rPr>
              <a:t>1 </a:t>
            </a:r>
            <a:pPr algn="l" indent="0" marL="0">
              <a:lnSpc>
                <a:spcPts val="1700"/>
              </a:lnSpc>
              <a:buNone/>
            </a:pPr>
            <a:r>
              <a:rPr lang="en-US" sz="750" b="1" spc="75" kern="0" dirty="0">
                <a:solidFill>
                  <a:srgbClr val="6E7D9A"/>
                </a:solidFill>
                <a:latin typeface="Arial" pitchFamily="34" charset="0"/>
                <a:ea typeface="Arial" pitchFamily="34" charset="-122"/>
                <a:cs typeface="Arial" pitchFamily="34" charset="-120"/>
              </a:rPr>
              <a:t>PTS</a:t>
            </a:r>
            <a:endParaRPr lang="en-US" sz="1700" dirty="0"/>
          </a:p>
        </p:txBody>
      </p:sp>
      <p:sp>
        <p:nvSpPr>
          <p:cNvPr id="29" name="Text 2.28"/>
          <p:cNvSpPr txBox="1"/>
          <p:nvPr/>
        </p:nvSpPr>
        <p:spPr>
          <a:xfrm>
            <a:off x="6324442" y="4330592"/>
            <a:ext cx="1203533"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1FA9EA"/>
                </a:solidFill>
                <a:latin typeface="Arial" pitchFamily="34" charset="0"/>
                <a:ea typeface="Arial" pitchFamily="34" charset="-122"/>
                <a:cs typeface="Arial" pitchFamily="34" charset="-120"/>
              </a:rPr>
              <a:t>BETWEEN ROUNDS</a:t>
            </a:r>
            <a:endParaRPr lang="en-US" sz="750" dirty="0"/>
          </a:p>
        </p:txBody>
      </p:sp>
      <p:sp>
        <p:nvSpPr>
          <p:cNvPr id="30" name="Text 2.29"/>
          <p:cNvSpPr txBox="1"/>
          <p:nvPr/>
        </p:nvSpPr>
        <p:spPr>
          <a:xfrm>
            <a:off x="6324442" y="4648084"/>
            <a:ext cx="855633" cy="99058"/>
          </a:xfrm>
          <a:prstGeom prst="rect">
            <a:avLst/>
          </a:prstGeom>
          <a:noFill/>
          <a:ln/>
        </p:spPr>
        <p:txBody>
          <a:bodyPr wrap="square" lIns="0" tIns="0" rIns="0" bIns="0" rtlCol="0" anchor="t"/>
          <a:lstStyle/>
          <a:p>
            <a:pPr algn="l" indent="0" marL="0">
              <a:lnSpc>
                <a:spcPts val="780"/>
              </a:lnSpc>
              <a:buNone/>
            </a:pPr>
            <a:r>
              <a:rPr lang="en-US" sz="650" b="1" spc="78" kern="0" dirty="0">
                <a:solidFill>
                  <a:srgbClr val="16233F"/>
                </a:solidFill>
                <a:latin typeface="Arial" pitchFamily="34" charset="0"/>
                <a:ea typeface="Arial" pitchFamily="34" charset="-122"/>
                <a:cs typeface="Arial" pitchFamily="34" charset="-120"/>
              </a:rPr>
              <a:t>CARRIES OVER</a:t>
            </a:r>
            <a:endParaRPr lang="en-US" sz="650" dirty="0"/>
          </a:p>
        </p:txBody>
      </p:sp>
      <p:sp>
        <p:nvSpPr>
          <p:cNvPr id="31" name="Text 2.30"/>
          <p:cNvSpPr txBox="1"/>
          <p:nvPr/>
        </p:nvSpPr>
        <p:spPr>
          <a:xfrm>
            <a:off x="7848404" y="4609985"/>
            <a:ext cx="3530512" cy="193353"/>
          </a:xfrm>
          <a:prstGeom prst="rect">
            <a:avLst/>
          </a:prstGeom>
          <a:noFill/>
          <a:ln/>
        </p:spPr>
        <p:txBody>
          <a:bodyPr wrap="square" lIns="0" tIns="0" rIns="0" bIns="0" rtlCol="0" anchor="t"/>
          <a:lstStyle/>
          <a:p>
            <a:pPr algn="l" indent="0" marL="0">
              <a:lnSpc>
                <a:spcPts val="1520"/>
              </a:lnSpc>
              <a:buNone/>
            </a:pPr>
            <a:r>
              <a:rPr lang="en-US" sz="1050" dirty="0">
                <a:solidFill>
                  <a:srgbClr val="3B4A66"/>
                </a:solidFill>
                <a:latin typeface="Arial" pitchFamily="34" charset="0"/>
                <a:ea typeface="Arial" pitchFamily="34" charset="-122"/>
                <a:cs typeface="Arial" pitchFamily="34" charset="-120"/>
              </a:rPr>
              <a:t>Points. Nothing else accumulates.</a:t>
            </a:r>
            <a:endParaRPr lang="en-US" sz="1050" dirty="0"/>
          </a:p>
        </p:txBody>
      </p:sp>
      <p:sp>
        <p:nvSpPr>
          <p:cNvPr id="32" name="Text 2.31"/>
          <p:cNvSpPr txBox="1"/>
          <p:nvPr/>
        </p:nvSpPr>
        <p:spPr>
          <a:xfrm>
            <a:off x="6324442" y="5092573"/>
            <a:ext cx="597969" cy="99058"/>
          </a:xfrm>
          <a:prstGeom prst="rect">
            <a:avLst/>
          </a:prstGeom>
          <a:noFill/>
          <a:ln/>
        </p:spPr>
        <p:txBody>
          <a:bodyPr wrap="square" lIns="0" tIns="0" rIns="0" bIns="0" rtlCol="0" anchor="t"/>
          <a:lstStyle/>
          <a:p>
            <a:pPr algn="l" indent="0" marL="0">
              <a:lnSpc>
                <a:spcPts val="780"/>
              </a:lnSpc>
              <a:buNone/>
            </a:pPr>
            <a:r>
              <a:rPr lang="en-US" sz="650" b="1" spc="78" kern="0" dirty="0">
                <a:solidFill>
                  <a:srgbClr val="16233F"/>
                </a:solidFill>
                <a:latin typeface="Arial" pitchFamily="34" charset="0"/>
                <a:ea typeface="Arial" pitchFamily="34" charset="-122"/>
                <a:cs typeface="Arial" pitchFamily="34" charset="-120"/>
              </a:rPr>
              <a:t>CATCH-UP</a:t>
            </a:r>
            <a:endParaRPr lang="en-US" sz="650" dirty="0"/>
          </a:p>
        </p:txBody>
      </p:sp>
      <p:sp>
        <p:nvSpPr>
          <p:cNvPr id="33" name="Text 2.32"/>
          <p:cNvSpPr txBox="1"/>
          <p:nvPr/>
        </p:nvSpPr>
        <p:spPr>
          <a:xfrm>
            <a:off x="7848404" y="5054474"/>
            <a:ext cx="3530512" cy="386547"/>
          </a:xfrm>
          <a:prstGeom prst="rect">
            <a:avLst/>
          </a:prstGeom>
          <a:noFill/>
          <a:ln/>
        </p:spPr>
        <p:txBody>
          <a:bodyPr wrap="square" lIns="0" tIns="0" rIns="0" bIns="0" rtlCol="0" anchor="t"/>
          <a:lstStyle/>
          <a:p>
            <a:pPr algn="l" indent="0" marL="0">
              <a:lnSpc>
                <a:spcPts val="1520"/>
              </a:lnSpc>
              <a:buNone/>
            </a:pPr>
            <a:r>
              <a:rPr lang="en-US" sz="1050" dirty="0">
                <a:solidFill>
                  <a:srgbClr val="3B4A66"/>
                </a:solidFill>
                <a:latin typeface="Arial" pitchFamily="34" charset="0"/>
                <a:ea typeface="Arial" pitchFamily="34" charset="-122"/>
                <a:cs typeface="Arial" pitchFamily="34" charset="-120"/>
              </a:rPr>
              <a:t>The last round's winner earns slightly fewer points next round; last place earns slightly more.</a:t>
            </a:r>
            <a:endParaRPr lang="en-US" sz="1050" dirty="0"/>
          </a:p>
        </p:txBody>
      </p:sp>
      <p:sp>
        <p:nvSpPr>
          <p:cNvPr id="34" name="Text 2.33"/>
          <p:cNvSpPr txBox="1"/>
          <p:nvPr/>
        </p:nvSpPr>
        <p:spPr>
          <a:xfrm>
            <a:off x="6324442" y="5752956"/>
            <a:ext cx="476603" cy="99058"/>
          </a:xfrm>
          <a:prstGeom prst="rect">
            <a:avLst/>
          </a:prstGeom>
          <a:noFill/>
          <a:ln/>
        </p:spPr>
        <p:txBody>
          <a:bodyPr wrap="square" lIns="0" tIns="0" rIns="0" bIns="0" rtlCol="0" anchor="t"/>
          <a:lstStyle/>
          <a:p>
            <a:pPr algn="l" indent="0" marL="0">
              <a:lnSpc>
                <a:spcPts val="780"/>
              </a:lnSpc>
              <a:buNone/>
            </a:pPr>
            <a:r>
              <a:rPr lang="en-US" sz="650" b="1" spc="78" kern="0" dirty="0">
                <a:solidFill>
                  <a:srgbClr val="16233F"/>
                </a:solidFill>
                <a:latin typeface="Arial" pitchFamily="34" charset="0"/>
                <a:ea typeface="Arial" pitchFamily="34" charset="-122"/>
                <a:cs typeface="Arial" pitchFamily="34" charset="-120"/>
              </a:rPr>
              <a:t>RESETS</a:t>
            </a:r>
            <a:endParaRPr lang="en-US" sz="650" dirty="0"/>
          </a:p>
        </p:txBody>
      </p:sp>
      <p:sp>
        <p:nvSpPr>
          <p:cNvPr id="35" name="Text 2.34"/>
          <p:cNvSpPr txBox="1"/>
          <p:nvPr/>
        </p:nvSpPr>
        <p:spPr>
          <a:xfrm>
            <a:off x="7848404" y="5714857"/>
            <a:ext cx="3530512" cy="193353"/>
          </a:xfrm>
          <a:prstGeom prst="rect">
            <a:avLst/>
          </a:prstGeom>
          <a:noFill/>
          <a:ln/>
        </p:spPr>
        <p:txBody>
          <a:bodyPr wrap="square" lIns="0" tIns="0" rIns="0" bIns="0" rtlCol="0" anchor="t"/>
          <a:lstStyle/>
          <a:p>
            <a:pPr algn="l" indent="0" marL="0">
              <a:lnSpc>
                <a:spcPts val="1520"/>
              </a:lnSpc>
              <a:buNone/>
            </a:pPr>
            <a:r>
              <a:rPr lang="en-US" sz="1050" dirty="0">
                <a:solidFill>
                  <a:srgbClr val="3B4A66"/>
                </a:solidFill>
                <a:latin typeface="Arial" pitchFamily="34" charset="0"/>
                <a:ea typeface="Arial" pitchFamily="34" charset="-122"/>
                <a:cs typeface="Arial" pitchFamily="34" charset="-120"/>
              </a:rPr>
              <a:t>Mass and position, so one bad round does not snowball.</a:t>
            </a:r>
            <a:endParaRPr lang="en-US" sz="1050" dirty="0"/>
          </a:p>
        </p:txBody>
      </p:sp>
      <p:sp>
        <p:nvSpPr>
          <p:cNvPr id="36" name="Text 2.35"/>
          <p:cNvSpPr txBox="1"/>
          <p:nvPr/>
        </p:nvSpPr>
        <p:spPr>
          <a:xfrm>
            <a:off x="927077" y="355591"/>
            <a:ext cx="856369" cy="107947"/>
          </a:xfrm>
          <a:prstGeom prst="rect">
            <a:avLst/>
          </a:prstGeom>
          <a:noFill/>
          <a:ln/>
        </p:spPr>
        <p:txBody>
          <a:bodyPr wrap="square" lIns="0" tIns="0" rIns="0" bIns="0" rtlCol="0" anchor="t"/>
          <a:lstStyle/>
          <a:p>
            <a:pPr algn="l" indent="0" marL="0">
              <a:lnSpc>
                <a:spcPts val="850"/>
              </a:lnSpc>
              <a:buNone/>
            </a:pPr>
            <a:r>
              <a:rPr lang="en-US" sz="850" b="1" spc="17" kern="0" dirty="0">
                <a:solidFill>
                  <a:srgbClr val="16233F"/>
                </a:solidFill>
                <a:latin typeface="Arial" pitchFamily="34" charset="0"/>
                <a:ea typeface="Arial" pitchFamily="34" charset="-122"/>
                <a:cs typeface="Arial" pitchFamily="34" charset="-120"/>
              </a:rPr>
              <a:t>01 · The game</a:t>
            </a:r>
            <a:endParaRPr lang="en-US" sz="850" dirty="0"/>
          </a:p>
        </p:txBody>
      </p:sp>
      <p:sp>
        <p:nvSpPr>
          <p:cNvPr id="37" name="Text 2.36"/>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02</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23</a:t>
            </a:r>
            <a:endParaRPr lang="en-US" sz="10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3.1"/>
          <p:cNvSpPr txBox="1"/>
          <p:nvPr/>
        </p:nvSpPr>
        <p:spPr>
          <a:xfrm>
            <a:off x="609585" y="761981"/>
            <a:ext cx="11371296" cy="384038"/>
          </a:xfrm>
          <a:prstGeom prst="rect">
            <a:avLst/>
          </a:prstGeom>
          <a:noFill/>
          <a:ln/>
        </p:spPr>
        <p:txBody>
          <a:bodyPr wrap="square" lIns="0" tIns="0" rIns="0" bIns="0" rtlCol="0" anchor="t"/>
          <a:lstStyle/>
          <a:p>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One value is your </a:t>
            </a:r>
            <a:pPr algn="l" indent="0" marL="0">
              <a:lnSpc>
                <a:spcPts val="3020"/>
              </a:lnSpc>
              <a:buNone/>
            </a:pPr>
            <a:r>
              <a:rPr lang="en-US" sz="2700" spc="-27" kern="0" dirty="0">
                <a:solidFill>
                  <a:srgbClr val="FF6B1F"/>
                </a:solidFill>
                <a:latin typeface="Arial Rounded MT Bold" pitchFamily="34" charset="0"/>
                <a:ea typeface="Arial Rounded MT Bold" pitchFamily="34" charset="-122"/>
                <a:cs typeface="Arial Rounded MT Bold" pitchFamily="34" charset="-120"/>
              </a:rPr>
              <a:t>health</a:t>
            </a:r>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 your </a:t>
            </a:r>
            <a:pPr algn="l" indent="0" marL="0">
              <a:lnSpc>
                <a:spcPts val="3020"/>
              </a:lnSpc>
              <a:buNone/>
            </a:pPr>
            <a:r>
              <a:rPr lang="en-US" sz="2700" spc="-27" kern="0" dirty="0">
                <a:solidFill>
                  <a:srgbClr val="FF6B1F"/>
                </a:solidFill>
                <a:latin typeface="Arial Rounded MT Bold" pitchFamily="34" charset="0"/>
                <a:ea typeface="Arial Rounded MT Bold" pitchFamily="34" charset="-122"/>
                <a:cs typeface="Arial Rounded MT Bold" pitchFamily="34" charset="-120"/>
              </a:rPr>
              <a:t>ammunition</a:t>
            </a:r>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 and your </a:t>
            </a:r>
            <a:pPr algn="l" indent="0" marL="0">
              <a:lnSpc>
                <a:spcPts val="3020"/>
              </a:lnSpc>
              <a:buNone/>
            </a:pPr>
            <a:r>
              <a:rPr lang="en-US" sz="2700" spc="-27" kern="0" dirty="0">
                <a:solidFill>
                  <a:srgbClr val="FF6B1F"/>
                </a:solidFill>
                <a:latin typeface="Arial Rounded MT Bold" pitchFamily="34" charset="0"/>
                <a:ea typeface="Arial Rounded MT Bold" pitchFamily="34" charset="-122"/>
                <a:cs typeface="Arial Rounded MT Bold" pitchFamily="34" charset="-120"/>
              </a:rPr>
              <a:t>weight</a:t>
            </a:r>
            <a:endParaRPr lang="en-US" sz="2700" dirty="0"/>
          </a:p>
        </p:txBody>
      </p:sp>
      <p:sp>
        <p:nvSpPr>
          <p:cNvPr id="3" name="Text 3.2"/>
          <p:cNvSpPr txBox="1"/>
          <p:nvPr/>
        </p:nvSpPr>
        <p:spPr>
          <a:xfrm>
            <a:off x="761981" y="1816055"/>
            <a:ext cx="863578" cy="266693"/>
          </a:xfrm>
          <a:prstGeom prst="rect">
            <a:avLst/>
          </a:prstGeom>
          <a:noFill/>
          <a:ln/>
        </p:spPr>
        <p:txBody>
          <a:bodyPr wrap="square" lIns="0" tIns="0" rIns="0" bIns="0" rtlCol="0" anchor="ctr"/>
          <a:lstStyle/>
          <a:p>
            <a:pPr algn="ctr" indent="0" marL="0">
              <a:lnSpc>
                <a:spcPts val="1000"/>
              </a:lnSpc>
              <a:buNone/>
            </a:pPr>
            <a:r>
              <a:rPr lang="en-US" sz="1000" dirty="0">
                <a:solidFill>
                  <a:srgbClr val="FFFFFF"/>
                </a:solidFill>
                <a:latin typeface="Arial Rounded MT Bold" pitchFamily="34" charset="0"/>
                <a:ea typeface="Arial Rounded MT Bold" pitchFamily="34" charset="-122"/>
                <a:cs typeface="Arial Rounded MT Bold" pitchFamily="34" charset="-120"/>
              </a:rPr>
              <a:t>1 · Shoot</a:t>
            </a:r>
            <a:endParaRPr lang="en-US" sz="1000" dirty="0"/>
          </a:p>
        </p:txBody>
      </p:sp>
      <p:sp>
        <p:nvSpPr>
          <p:cNvPr id="4" name="Text 3.3"/>
          <p:cNvSpPr txBox="1"/>
          <p:nvPr/>
        </p:nvSpPr>
        <p:spPr>
          <a:xfrm>
            <a:off x="609585" y="3898803"/>
            <a:ext cx="3467013" cy="378609"/>
          </a:xfrm>
          <a:prstGeom prst="rect">
            <a:avLst/>
          </a:prstGeom>
          <a:noFill/>
          <a:ln/>
        </p:spPr>
        <p:txBody>
          <a:bodyPr wrap="square" lIns="0" tIns="0" rIns="0" bIns="0" rtlCol="0" anchor="t"/>
          <a:lstStyle/>
          <a:p>
            <a:pPr algn="l" indent="0" marL="0">
              <a:lnSpc>
                <a:spcPts val="1490"/>
              </a:lnSpc>
              <a:buNone/>
            </a:pPr>
            <a:r>
              <a:rPr lang="en-US" sz="1050" dirty="0">
                <a:solidFill>
                  <a:srgbClr val="3B4A66"/>
                </a:solidFill>
                <a:latin typeface="Arial" pitchFamily="34" charset="0"/>
                <a:ea typeface="Arial" pitchFamily="34" charset="-122"/>
                <a:cs typeface="Arial" pitchFamily="34" charset="-120"/>
              </a:rPr>
              <a:t>A cube spits out a piece of its own body. Every shot makes it smaller, hit or miss.</a:t>
            </a:r>
            <a:endParaRPr lang="en-US" sz="1050" dirty="0"/>
          </a:p>
        </p:txBody>
      </p:sp>
      <p:sp>
        <p:nvSpPr>
          <p:cNvPr id="5" name="Text 3.4"/>
          <p:cNvSpPr txBox="1"/>
          <p:nvPr/>
        </p:nvSpPr>
        <p:spPr>
          <a:xfrm>
            <a:off x="609585" y="4584585"/>
            <a:ext cx="899384" cy="99058"/>
          </a:xfrm>
          <a:prstGeom prst="rect">
            <a:avLst/>
          </a:prstGeom>
          <a:noFill/>
          <a:ln/>
        </p:spPr>
        <p:txBody>
          <a:bodyPr wrap="square" lIns="0" tIns="0" rIns="0" bIns="0" rtlCol="0" anchor="t"/>
          <a:lstStyle/>
          <a:p>
            <a:pPr algn="l" indent="0" marL="0">
              <a:lnSpc>
                <a:spcPts val="780"/>
              </a:lnSpc>
              <a:buNone/>
            </a:pPr>
            <a:r>
              <a:rPr lang="en-US" sz="650" b="1" spc="78" kern="0" dirty="0">
                <a:solidFill>
                  <a:srgbClr val="16233F"/>
                </a:solidFill>
                <a:latin typeface="Arial" pitchFamily="34" charset="0"/>
                <a:ea typeface="Arial" pitchFamily="34" charset="-122"/>
                <a:cs typeface="Arial" pitchFamily="34" charset="-120"/>
              </a:rPr>
              <a:t>SHOOTER MASS</a:t>
            </a:r>
            <a:endParaRPr lang="en-US" sz="650" dirty="0"/>
          </a:p>
        </p:txBody>
      </p:sp>
      <p:sp>
        <p:nvSpPr>
          <p:cNvPr id="6" name="Text 3.5"/>
          <p:cNvSpPr txBox="1"/>
          <p:nvPr/>
        </p:nvSpPr>
        <p:spPr>
          <a:xfrm>
            <a:off x="609585" y="4978276"/>
            <a:ext cx="1522722" cy="133347"/>
          </a:xfrm>
          <a:prstGeom prst="rect">
            <a:avLst/>
          </a:prstGeom>
          <a:noFill/>
          <a:ln/>
        </p:spPr>
        <p:txBody>
          <a:bodyPr wrap="square" lIns="0" tIns="0" rIns="0" bIns="0" rtlCol="0" anchor="t"/>
          <a:lstStyle/>
          <a:p>
            <a:pPr algn="l" indent="0" marL="0">
              <a:lnSpc>
                <a:spcPts val="1050"/>
              </a:lnSpc>
              <a:buNone/>
            </a:pPr>
            <a:r>
              <a:rPr lang="en-US" sz="750" dirty="0">
                <a:solidFill>
                  <a:srgbClr val="6E7D9A"/>
                </a:solidFill>
                <a:latin typeface="Arial" pitchFamily="34" charset="0"/>
                <a:ea typeface="Arial" pitchFamily="34" charset="-122"/>
                <a:cs typeface="Arial" pitchFamily="34" charset="-120"/>
              </a:rPr>
              <a:t>Faded part: lost in this exchange</a:t>
            </a:r>
            <a:endParaRPr lang="en-US" sz="750" dirty="0"/>
          </a:p>
        </p:txBody>
      </p:sp>
      <p:sp>
        <p:nvSpPr>
          <p:cNvPr id="7" name="Text 3.6"/>
          <p:cNvSpPr txBox="1"/>
          <p:nvPr/>
        </p:nvSpPr>
        <p:spPr>
          <a:xfrm>
            <a:off x="4470288" y="1816055"/>
            <a:ext cx="863578" cy="266693"/>
          </a:xfrm>
          <a:prstGeom prst="rect">
            <a:avLst/>
          </a:prstGeom>
          <a:noFill/>
          <a:ln/>
        </p:spPr>
        <p:txBody>
          <a:bodyPr wrap="square" lIns="0" tIns="0" rIns="0" bIns="0" rtlCol="0" anchor="ctr"/>
          <a:lstStyle/>
          <a:p>
            <a:pPr algn="ctr" indent="0" marL="0">
              <a:lnSpc>
                <a:spcPts val="1000"/>
              </a:lnSpc>
              <a:buNone/>
            </a:pPr>
            <a:r>
              <a:rPr lang="en-US" sz="1000" dirty="0">
                <a:solidFill>
                  <a:srgbClr val="FFFFFF"/>
                </a:solidFill>
                <a:latin typeface="Arial Rounded MT Bold" pitchFamily="34" charset="0"/>
                <a:ea typeface="Arial Rounded MT Bold" pitchFamily="34" charset="-122"/>
                <a:cs typeface="Arial Rounded MT Bold" pitchFamily="34" charset="-120"/>
              </a:rPr>
              <a:t>2 · Hit</a:t>
            </a:r>
            <a:endParaRPr lang="en-US" sz="1000" dirty="0"/>
          </a:p>
        </p:txBody>
      </p:sp>
      <p:sp>
        <p:nvSpPr>
          <p:cNvPr id="8" name="Text 3.7"/>
          <p:cNvSpPr txBox="1"/>
          <p:nvPr/>
        </p:nvSpPr>
        <p:spPr>
          <a:xfrm>
            <a:off x="4317892" y="3898803"/>
            <a:ext cx="3467013" cy="378609"/>
          </a:xfrm>
          <a:prstGeom prst="rect">
            <a:avLst/>
          </a:prstGeom>
          <a:noFill/>
          <a:ln/>
        </p:spPr>
        <p:txBody>
          <a:bodyPr wrap="square" lIns="0" tIns="0" rIns="0" bIns="0" rtlCol="0" anchor="t"/>
          <a:lstStyle/>
          <a:p>
            <a:pPr algn="l" indent="0" marL="0">
              <a:lnSpc>
                <a:spcPts val="1490"/>
              </a:lnSpc>
              <a:buNone/>
            </a:pPr>
            <a:r>
              <a:rPr lang="en-US" sz="1050" dirty="0">
                <a:solidFill>
                  <a:srgbClr val="3B4A66"/>
                </a:solidFill>
                <a:latin typeface="Arial" pitchFamily="34" charset="0"/>
                <a:ea typeface="Arial" pitchFamily="34" charset="-122"/>
                <a:cs typeface="Arial" pitchFamily="34" charset="-120"/>
              </a:rPr>
              <a:t>The target loses mass on impact and is pushed back along the line of the shot.</a:t>
            </a:r>
            <a:endParaRPr lang="en-US" sz="1050" dirty="0"/>
          </a:p>
        </p:txBody>
      </p:sp>
      <p:sp>
        <p:nvSpPr>
          <p:cNvPr id="9" name="Text 3.8"/>
          <p:cNvSpPr txBox="1"/>
          <p:nvPr/>
        </p:nvSpPr>
        <p:spPr>
          <a:xfrm>
            <a:off x="4317892" y="4584585"/>
            <a:ext cx="809359" cy="99058"/>
          </a:xfrm>
          <a:prstGeom prst="rect">
            <a:avLst/>
          </a:prstGeom>
          <a:noFill/>
          <a:ln/>
        </p:spPr>
        <p:txBody>
          <a:bodyPr wrap="square" lIns="0" tIns="0" rIns="0" bIns="0" rtlCol="0" anchor="t"/>
          <a:lstStyle/>
          <a:p>
            <a:pPr algn="l" indent="0" marL="0">
              <a:lnSpc>
                <a:spcPts val="780"/>
              </a:lnSpc>
              <a:buNone/>
            </a:pPr>
            <a:r>
              <a:rPr lang="en-US" sz="650" b="1" spc="78" kern="0" dirty="0">
                <a:solidFill>
                  <a:srgbClr val="16233F"/>
                </a:solidFill>
                <a:latin typeface="Arial" pitchFamily="34" charset="0"/>
                <a:ea typeface="Arial" pitchFamily="34" charset="-122"/>
                <a:cs typeface="Arial" pitchFamily="34" charset="-120"/>
              </a:rPr>
              <a:t>TARGET MASS</a:t>
            </a:r>
            <a:endParaRPr lang="en-US" sz="650" dirty="0"/>
          </a:p>
        </p:txBody>
      </p:sp>
      <p:sp>
        <p:nvSpPr>
          <p:cNvPr id="10" name="Text 3.9"/>
          <p:cNvSpPr txBox="1"/>
          <p:nvPr/>
        </p:nvSpPr>
        <p:spPr>
          <a:xfrm>
            <a:off x="4317892" y="4978276"/>
            <a:ext cx="1522722" cy="133347"/>
          </a:xfrm>
          <a:prstGeom prst="rect">
            <a:avLst/>
          </a:prstGeom>
          <a:noFill/>
          <a:ln/>
        </p:spPr>
        <p:txBody>
          <a:bodyPr wrap="square" lIns="0" tIns="0" rIns="0" bIns="0" rtlCol="0" anchor="t"/>
          <a:lstStyle/>
          <a:p>
            <a:pPr algn="l" indent="0" marL="0">
              <a:lnSpc>
                <a:spcPts val="1050"/>
              </a:lnSpc>
              <a:buNone/>
            </a:pPr>
            <a:r>
              <a:rPr lang="en-US" sz="750" dirty="0">
                <a:solidFill>
                  <a:srgbClr val="6E7D9A"/>
                </a:solidFill>
                <a:latin typeface="Arial" pitchFamily="34" charset="0"/>
                <a:ea typeface="Arial" pitchFamily="34" charset="-122"/>
                <a:cs typeface="Arial" pitchFamily="34" charset="-120"/>
              </a:rPr>
              <a:t>Faded part: lost in this exchange</a:t>
            </a:r>
            <a:endParaRPr lang="en-US" sz="750" dirty="0"/>
          </a:p>
        </p:txBody>
      </p:sp>
      <p:sp>
        <p:nvSpPr>
          <p:cNvPr id="11" name="Text 3.10"/>
          <p:cNvSpPr txBox="1"/>
          <p:nvPr/>
        </p:nvSpPr>
        <p:spPr>
          <a:xfrm>
            <a:off x="8178596" y="1816055"/>
            <a:ext cx="863578" cy="266693"/>
          </a:xfrm>
          <a:prstGeom prst="rect">
            <a:avLst/>
          </a:prstGeom>
          <a:noFill/>
          <a:ln/>
        </p:spPr>
        <p:txBody>
          <a:bodyPr wrap="square" lIns="0" tIns="0" rIns="0" bIns="0" rtlCol="0" anchor="ctr"/>
          <a:lstStyle/>
          <a:p>
            <a:pPr algn="ctr" indent="0" marL="0">
              <a:lnSpc>
                <a:spcPts val="1000"/>
              </a:lnSpc>
              <a:buNone/>
            </a:pPr>
            <a:r>
              <a:rPr lang="en-US" sz="1000" dirty="0">
                <a:solidFill>
                  <a:srgbClr val="FFFFFF"/>
                </a:solidFill>
                <a:latin typeface="Arial Rounded MT Bold" pitchFamily="34" charset="0"/>
                <a:ea typeface="Arial Rounded MT Bold" pitchFamily="34" charset="-122"/>
                <a:cs typeface="Arial Rounded MT Bold" pitchFamily="34" charset="-120"/>
              </a:rPr>
              <a:t>3 · Fall</a:t>
            </a:r>
            <a:endParaRPr lang="en-US" sz="1000" dirty="0"/>
          </a:p>
        </p:txBody>
      </p:sp>
      <p:sp>
        <p:nvSpPr>
          <p:cNvPr id="12" name="Text 3.11"/>
          <p:cNvSpPr txBox="1"/>
          <p:nvPr/>
        </p:nvSpPr>
        <p:spPr>
          <a:xfrm>
            <a:off x="8026199" y="3898803"/>
            <a:ext cx="3467013" cy="378609"/>
          </a:xfrm>
          <a:prstGeom prst="rect">
            <a:avLst/>
          </a:prstGeom>
          <a:noFill/>
          <a:ln/>
        </p:spPr>
        <p:txBody>
          <a:bodyPr wrap="square" lIns="0" tIns="0" rIns="0" bIns="0" rtlCol="0" anchor="t"/>
          <a:lstStyle/>
          <a:p>
            <a:pPr algn="l" indent="0" marL="0">
              <a:lnSpc>
                <a:spcPts val="1490"/>
              </a:lnSpc>
              <a:buNone/>
            </a:pPr>
            <a:r>
              <a:rPr lang="en-US" sz="1050" dirty="0">
                <a:solidFill>
                  <a:srgbClr val="3B4A66"/>
                </a:solidFill>
                <a:latin typeface="Arial" pitchFamily="34" charset="0"/>
                <a:ea typeface="Arial" pitchFamily="34" charset="-122"/>
                <a:cs typeface="Arial" pitchFamily="34" charset="-120"/>
              </a:rPr>
              <a:t>Less mass means the same hit pushes further. Off the edge is a knockout.</a:t>
            </a:r>
            <a:endParaRPr lang="en-US" sz="1050" dirty="0"/>
          </a:p>
        </p:txBody>
      </p:sp>
      <p:sp>
        <p:nvSpPr>
          <p:cNvPr id="13" name="Text 3.12"/>
          <p:cNvSpPr txBox="1"/>
          <p:nvPr/>
        </p:nvSpPr>
        <p:spPr>
          <a:xfrm>
            <a:off x="8026199" y="4584585"/>
            <a:ext cx="1303339" cy="99058"/>
          </a:xfrm>
          <a:prstGeom prst="rect">
            <a:avLst/>
          </a:prstGeom>
          <a:noFill/>
          <a:ln/>
        </p:spPr>
        <p:txBody>
          <a:bodyPr wrap="square" lIns="0" tIns="0" rIns="0" bIns="0" rtlCol="0" anchor="t"/>
          <a:lstStyle/>
          <a:p>
            <a:pPr algn="l" indent="0" marL="0">
              <a:lnSpc>
                <a:spcPts val="780"/>
              </a:lnSpc>
              <a:buNone/>
            </a:pPr>
            <a:r>
              <a:rPr lang="en-US" sz="650" b="1" spc="78" kern="0" dirty="0">
                <a:solidFill>
                  <a:srgbClr val="16233F"/>
                </a:solidFill>
                <a:latin typeface="Arial" pitchFamily="34" charset="0"/>
                <a:ea typeface="Arial" pitchFamily="34" charset="-122"/>
                <a:cs typeface="Arial" pitchFamily="34" charset="-120"/>
              </a:rPr>
              <a:t>KNOCKBACK, SAME HIT</a:t>
            </a:r>
            <a:endParaRPr lang="en-US" sz="650" dirty="0"/>
          </a:p>
        </p:txBody>
      </p:sp>
      <p:sp>
        <p:nvSpPr>
          <p:cNvPr id="14" name="Text 3.13"/>
          <p:cNvSpPr txBox="1"/>
          <p:nvPr/>
        </p:nvSpPr>
        <p:spPr>
          <a:xfrm>
            <a:off x="8026199" y="4978276"/>
            <a:ext cx="1039785" cy="133347"/>
          </a:xfrm>
          <a:prstGeom prst="rect">
            <a:avLst/>
          </a:prstGeom>
          <a:noFill/>
          <a:ln/>
        </p:spPr>
        <p:txBody>
          <a:bodyPr wrap="square" lIns="0" tIns="0" rIns="0" bIns="0" rtlCol="0" anchor="t"/>
          <a:lstStyle/>
          <a:p>
            <a:pPr algn="l" indent="0" marL="0">
              <a:lnSpc>
                <a:spcPts val="1050"/>
              </a:lnSpc>
              <a:buNone/>
            </a:pPr>
            <a:r>
              <a:rPr lang="en-US" sz="750" dirty="0">
                <a:solidFill>
                  <a:srgbClr val="6E7D9A"/>
                </a:solidFill>
                <a:latin typeface="Arial" pitchFamily="34" charset="0"/>
                <a:ea typeface="Arial" pitchFamily="34" charset="-122"/>
                <a:cs typeface="Arial" pitchFamily="34" charset="-120"/>
              </a:rPr>
              <a:t>Grows as mass drops</a:t>
            </a:r>
            <a:endParaRPr lang="en-US" sz="750" dirty="0"/>
          </a:p>
        </p:txBody>
      </p:sp>
      <p:sp>
        <p:nvSpPr>
          <p:cNvPr id="15" name="Text 3.14"/>
          <p:cNvSpPr txBox="1"/>
          <p:nvPr/>
        </p:nvSpPr>
        <p:spPr>
          <a:xfrm>
            <a:off x="863578" y="5727557"/>
            <a:ext cx="10451839" cy="257804"/>
          </a:xfrm>
          <a:prstGeom prst="rect">
            <a:avLst/>
          </a:prstGeom>
          <a:noFill/>
          <a:ln/>
        </p:spPr>
        <p:txBody>
          <a:bodyPr wrap="square" lIns="0" tIns="0" rIns="0" bIns="0" rtlCol="0" anchor="t"/>
          <a:lstStyle/>
          <a:p>
            <a:pPr algn="l" indent="0" marL="0">
              <a:lnSpc>
                <a:spcPts val="2030"/>
              </a:lnSpc>
              <a:buNone/>
            </a:pPr>
            <a:r>
              <a:rPr lang="en-US" sz="1400" dirty="0">
                <a:solidFill>
                  <a:srgbClr val="16233F"/>
                </a:solidFill>
                <a:latin typeface="Arial" pitchFamily="34" charset="0"/>
                <a:ea typeface="Arial" pitchFamily="34" charset="-122"/>
                <a:cs typeface="Arial" pitchFamily="34" charset="-120"/>
              </a:rPr>
              <a:t>Shooting, getting hit and getting launched all read from one number the player can see: </a:t>
            </a:r>
            <a:pPr algn="l" indent="0" marL="0">
              <a:lnSpc>
                <a:spcPts val="2030"/>
              </a:lnSpc>
              <a:buNone/>
            </a:pPr>
            <a:r>
              <a:rPr lang="en-US" sz="1400" b="1" dirty="0">
                <a:solidFill>
                  <a:srgbClr val="FF6B1F"/>
                </a:solidFill>
                <a:latin typeface="Arial" pitchFamily="34" charset="0"/>
                <a:ea typeface="Arial" pitchFamily="34" charset="-122"/>
                <a:cs typeface="Arial" pitchFamily="34" charset="-120"/>
              </a:rPr>
              <a:t>the cube's size.</a:t>
            </a:r>
            <a:endParaRPr lang="en-US" sz="1400" dirty="0"/>
          </a:p>
        </p:txBody>
      </p:sp>
      <p:sp>
        <p:nvSpPr>
          <p:cNvPr id="16" name="Text 3.15"/>
          <p:cNvSpPr txBox="1"/>
          <p:nvPr/>
        </p:nvSpPr>
        <p:spPr>
          <a:xfrm>
            <a:off x="609585" y="6597485"/>
            <a:ext cx="10832829" cy="133347"/>
          </a:xfrm>
          <a:prstGeom prst="rect">
            <a:avLst/>
          </a:prstGeom>
          <a:noFill/>
          <a:ln/>
        </p:spPr>
        <p:txBody>
          <a:bodyPr wrap="square" lIns="0" tIns="0" rIns="0" bIns="0" rtlCol="0" anchor="t"/>
          <a:lstStyle/>
          <a:p>
            <a:pPr algn="l" indent="0" marL="0">
              <a:lnSpc>
                <a:spcPts val="1050"/>
              </a:lnSpc>
              <a:buNone/>
            </a:pPr>
            <a:r>
              <a:rPr lang="en-US" sz="750" dirty="0">
                <a:solidFill>
                  <a:srgbClr val="6E7D9A"/>
                </a:solidFill>
                <a:latin typeface="Arial" pitchFamily="34" charset="0"/>
                <a:ea typeface="Arial" pitchFamily="34" charset="-122"/>
                <a:cs typeface="Arial" pitchFamily="34" charset="-120"/>
              </a:rPr>
              <a:t>Bars show direction only. Costs and knockback values are set in playtests.</a:t>
            </a:r>
            <a:endParaRPr lang="en-US" sz="750" dirty="0"/>
          </a:p>
        </p:txBody>
      </p:sp>
      <p:sp>
        <p:nvSpPr>
          <p:cNvPr id="17" name="Text 3.16"/>
          <p:cNvSpPr txBox="1"/>
          <p:nvPr/>
        </p:nvSpPr>
        <p:spPr>
          <a:xfrm>
            <a:off x="927077" y="355591"/>
            <a:ext cx="1266740" cy="107947"/>
          </a:xfrm>
          <a:prstGeom prst="rect">
            <a:avLst/>
          </a:prstGeom>
          <a:noFill/>
          <a:ln/>
        </p:spPr>
        <p:txBody>
          <a:bodyPr wrap="square" lIns="0" tIns="0" rIns="0" bIns="0" rtlCol="0" anchor="t"/>
          <a:lstStyle/>
          <a:p>
            <a:pPr algn="l" indent="0" marL="0">
              <a:lnSpc>
                <a:spcPts val="850"/>
              </a:lnSpc>
              <a:buNone/>
            </a:pPr>
            <a:r>
              <a:rPr lang="en-US" sz="850" b="1" spc="17" kern="0" dirty="0">
                <a:solidFill>
                  <a:srgbClr val="16233F"/>
                </a:solidFill>
                <a:latin typeface="Arial" pitchFamily="34" charset="0"/>
                <a:ea typeface="Arial" pitchFamily="34" charset="-122"/>
                <a:cs typeface="Arial" pitchFamily="34" charset="-120"/>
              </a:rPr>
              <a:t>02 · Gameplay &amp; tech</a:t>
            </a:r>
            <a:endParaRPr lang="en-US" sz="850" dirty="0"/>
          </a:p>
        </p:txBody>
      </p:sp>
      <p:sp>
        <p:nvSpPr>
          <p:cNvPr id="18" name="Text 3.17"/>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03</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23</a:t>
            </a:r>
            <a:endParaRPr lang="en-US" sz="100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4.1"/>
          <p:cNvSpPr txBox="1"/>
          <p:nvPr/>
        </p:nvSpPr>
        <p:spPr>
          <a:xfrm>
            <a:off x="609585" y="761981"/>
            <a:ext cx="11371296" cy="384038"/>
          </a:xfrm>
          <a:prstGeom prst="rect">
            <a:avLst/>
          </a:prstGeom>
          <a:noFill/>
          <a:ln/>
        </p:spPr>
        <p:txBody>
          <a:bodyPr wrap="square" lIns="0" tIns="0" rIns="0" bIns="0" rtlCol="0" anchor="t"/>
          <a:lstStyle/>
          <a:p>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Why both the shooter </a:t>
            </a:r>
            <a:pPr algn="l" indent="0" marL="0">
              <a:lnSpc>
                <a:spcPts val="3020"/>
              </a:lnSpc>
              <a:buNone/>
            </a:pPr>
            <a:r>
              <a:rPr lang="en-US" sz="2700" spc="-27" kern="0" dirty="0">
                <a:solidFill>
                  <a:srgbClr val="FF6B1F"/>
                </a:solidFill>
                <a:latin typeface="Arial Rounded MT Bold" pitchFamily="34" charset="0"/>
                <a:ea typeface="Arial Rounded MT Bold" pitchFamily="34" charset="-122"/>
                <a:cs typeface="Arial Rounded MT Bold" pitchFamily="34" charset="-120"/>
              </a:rPr>
              <a:t>and</a:t>
            </a:r>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 the target lose mass</a:t>
            </a:r>
            <a:endParaRPr lang="en-US" sz="2700" dirty="0"/>
          </a:p>
        </p:txBody>
      </p:sp>
      <p:sp>
        <p:nvSpPr>
          <p:cNvPr id="3" name="Text 4.2"/>
          <p:cNvSpPr txBox="1"/>
          <p:nvPr/>
        </p:nvSpPr>
        <p:spPr>
          <a:xfrm>
            <a:off x="838179" y="1892253"/>
            <a:ext cx="624682" cy="99058"/>
          </a:xfrm>
          <a:prstGeom prst="rect">
            <a:avLst/>
          </a:prstGeom>
          <a:noFill/>
          <a:ln/>
        </p:spPr>
        <p:txBody>
          <a:bodyPr wrap="square" lIns="0" tIns="0" rIns="0" bIns="0" rtlCol="0" anchor="t"/>
          <a:lstStyle/>
          <a:p>
            <a:pPr algn="l" indent="0" marL="0">
              <a:lnSpc>
                <a:spcPts val="780"/>
              </a:lnSpc>
              <a:buNone/>
            </a:pPr>
            <a:r>
              <a:rPr lang="en-US" sz="650" b="1" spc="78" kern="0" dirty="0">
                <a:solidFill>
                  <a:srgbClr val="6E7D9A"/>
                </a:solidFill>
                <a:latin typeface="Arial" pitchFamily="34" charset="0"/>
                <a:ea typeface="Arial" pitchFamily="34" charset="-122"/>
                <a:cs typeface="Arial" pitchFamily="34" charset="-120"/>
              </a:rPr>
              <a:t>VARIANT A</a:t>
            </a:r>
            <a:endParaRPr lang="en-US" sz="650" dirty="0"/>
          </a:p>
        </p:txBody>
      </p:sp>
      <p:sp>
        <p:nvSpPr>
          <p:cNvPr id="4" name="Text 4.3"/>
          <p:cNvSpPr txBox="1"/>
          <p:nvPr/>
        </p:nvSpPr>
        <p:spPr>
          <a:xfrm>
            <a:off x="838179" y="2070048"/>
            <a:ext cx="3149521" cy="204465"/>
          </a:xfrm>
          <a:prstGeom prst="rect">
            <a:avLst/>
          </a:prstGeom>
          <a:noFill/>
          <a:ln/>
        </p:spPr>
        <p:txBody>
          <a:bodyPr wrap="square" lIns="0" tIns="0" rIns="0" bIns="0" rtlCol="0" anchor="t"/>
          <a:lstStyle/>
          <a:p>
            <a:pPr algn="l" indent="0" marL="0">
              <a:lnSpc>
                <a:spcPts val="1610"/>
              </a:lnSpc>
              <a:buNone/>
            </a:pPr>
            <a:r>
              <a:rPr lang="en-US" sz="1400" dirty="0">
                <a:solidFill>
                  <a:srgbClr val="16233F"/>
                </a:solidFill>
                <a:latin typeface="Arial Rounded MT Bold" pitchFamily="34" charset="0"/>
                <a:ea typeface="Arial Rounded MT Bold" pitchFamily="34" charset="-122"/>
                <a:cs typeface="Arial Rounded MT Bold" pitchFamily="34" charset="-120"/>
              </a:rPr>
              <a:t>Only the shooter pays</a:t>
            </a:r>
            <a:endParaRPr lang="en-US" sz="1400" dirty="0"/>
          </a:p>
        </p:txBody>
      </p:sp>
      <p:sp>
        <p:nvSpPr>
          <p:cNvPr id="5" name="Text 4.4"/>
          <p:cNvSpPr txBox="1"/>
          <p:nvPr/>
        </p:nvSpPr>
        <p:spPr>
          <a:xfrm>
            <a:off x="1003275" y="3225719"/>
            <a:ext cx="634984" cy="215895"/>
          </a:xfrm>
          <a:prstGeom prst="rect">
            <a:avLst/>
          </a:prstGeom>
          <a:noFill/>
          <a:ln/>
        </p:spPr>
        <p:txBody>
          <a:bodyPr wrap="square" lIns="0" tIns="0" rIns="0" bIns="0" rtlCol="0" anchor="ctr"/>
          <a:lstStyle/>
          <a:p>
            <a:pPr algn="ctr" indent="0" marL="0">
              <a:lnSpc>
                <a:spcPts val="750"/>
              </a:lnSpc>
              <a:buNone/>
            </a:pPr>
            <a:r>
              <a:rPr lang="en-US" sz="750" b="1" spc="60" kern="0" dirty="0">
                <a:solidFill>
                  <a:srgbClr val="FFFFFF"/>
                </a:solidFill>
                <a:latin typeface="Arial" pitchFamily="34" charset="0"/>
                <a:ea typeface="Arial" pitchFamily="34" charset="-122"/>
                <a:cs typeface="Arial" pitchFamily="34" charset="-120"/>
              </a:rPr>
              <a:t>− MASS</a:t>
            </a:r>
            <a:endParaRPr lang="en-US" sz="750" dirty="0"/>
          </a:p>
        </p:txBody>
      </p:sp>
      <p:sp>
        <p:nvSpPr>
          <p:cNvPr id="6" name="Text 4.5"/>
          <p:cNvSpPr txBox="1"/>
          <p:nvPr/>
        </p:nvSpPr>
        <p:spPr>
          <a:xfrm>
            <a:off x="3136822" y="3225719"/>
            <a:ext cx="634984" cy="215895"/>
          </a:xfrm>
          <a:prstGeom prst="rect">
            <a:avLst/>
          </a:prstGeom>
          <a:noFill/>
          <a:ln/>
        </p:spPr>
        <p:txBody>
          <a:bodyPr wrap="square" lIns="0" tIns="0" rIns="0" bIns="0" rtlCol="0" anchor="ctr"/>
          <a:lstStyle/>
          <a:p>
            <a:pPr algn="ctr" indent="0" marL="0">
              <a:lnSpc>
                <a:spcPts val="750"/>
              </a:lnSpc>
              <a:buNone/>
            </a:pPr>
            <a:r>
              <a:rPr lang="en-US" sz="750" b="1" spc="60" kern="0" dirty="0">
                <a:solidFill>
                  <a:srgbClr val="6E7D9A"/>
                </a:solidFill>
                <a:latin typeface="Arial" pitchFamily="34" charset="0"/>
                <a:ea typeface="Arial" pitchFamily="34" charset="-122"/>
                <a:cs typeface="Arial" pitchFamily="34" charset="-120"/>
              </a:rPr>
              <a:t>FREE</a:t>
            </a:r>
            <a:endParaRPr lang="en-US" sz="750" dirty="0"/>
          </a:p>
        </p:txBody>
      </p:sp>
      <p:sp>
        <p:nvSpPr>
          <p:cNvPr id="7" name="Text 4.6"/>
          <p:cNvSpPr txBox="1"/>
          <p:nvPr/>
        </p:nvSpPr>
        <p:spPr>
          <a:xfrm>
            <a:off x="838179" y="3695608"/>
            <a:ext cx="641088" cy="99058"/>
          </a:xfrm>
          <a:prstGeom prst="rect">
            <a:avLst/>
          </a:prstGeom>
          <a:noFill/>
          <a:ln/>
        </p:spPr>
        <p:txBody>
          <a:bodyPr wrap="square" lIns="0" tIns="0" rIns="0" bIns="0" rtlCol="0" anchor="t"/>
          <a:lstStyle/>
          <a:p>
            <a:pPr algn="l" indent="0" marL="0">
              <a:lnSpc>
                <a:spcPts val="780"/>
              </a:lnSpc>
              <a:buNone/>
            </a:pPr>
            <a:r>
              <a:rPr lang="en-US" sz="650" b="1" spc="78" kern="0" dirty="0">
                <a:solidFill>
                  <a:srgbClr val="6E7D9A"/>
                </a:solidFill>
                <a:latin typeface="Arial" pitchFamily="34" charset="0"/>
                <a:ea typeface="Arial" pitchFamily="34" charset="-122"/>
                <a:cs typeface="Arial" pitchFamily="34" charset="-120"/>
              </a:rPr>
              <a:t>BEST PLAY</a:t>
            </a:r>
            <a:endParaRPr lang="en-US" sz="650" dirty="0"/>
          </a:p>
        </p:txBody>
      </p:sp>
      <p:sp>
        <p:nvSpPr>
          <p:cNvPr id="8" name="Text 4.7"/>
          <p:cNvSpPr txBox="1"/>
          <p:nvPr/>
        </p:nvSpPr>
        <p:spPr>
          <a:xfrm>
            <a:off x="838179" y="3860703"/>
            <a:ext cx="3149521" cy="378609"/>
          </a:xfrm>
          <a:prstGeom prst="rect">
            <a:avLst/>
          </a:prstGeom>
          <a:noFill/>
          <a:ln/>
        </p:spPr>
        <p:txBody>
          <a:bodyPr wrap="square" lIns="0" tIns="0" rIns="0" bIns="0" rtlCol="0" anchor="t"/>
          <a:lstStyle/>
          <a:p>
            <a:pPr algn="l" indent="0" marL="0">
              <a:lnSpc>
                <a:spcPts val="1490"/>
              </a:lnSpc>
              <a:buNone/>
            </a:pPr>
            <a:r>
              <a:rPr lang="en-US" sz="1050" dirty="0">
                <a:solidFill>
                  <a:srgbClr val="3B4A66"/>
                </a:solidFill>
                <a:latin typeface="Arial" pitchFamily="34" charset="0"/>
                <a:ea typeface="Arial" pitchFamily="34" charset="-122"/>
                <a:cs typeface="Arial" pitchFamily="34" charset="-120"/>
              </a:rPr>
              <a:t>Shooting is pure loss. The best play is to never shoot and wait for the others to weaken each other.</a:t>
            </a:r>
            <a:endParaRPr lang="en-US" sz="1050" dirty="0"/>
          </a:p>
        </p:txBody>
      </p:sp>
      <p:sp>
        <p:nvSpPr>
          <p:cNvPr id="9" name="Text 4.8"/>
          <p:cNvSpPr txBox="1"/>
          <p:nvPr/>
        </p:nvSpPr>
        <p:spPr>
          <a:xfrm>
            <a:off x="838179" y="4800480"/>
            <a:ext cx="1396965" cy="279393"/>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6E7D9A"/>
                </a:solidFill>
                <a:latin typeface="Arial" pitchFamily="34" charset="0"/>
                <a:ea typeface="Arial" pitchFamily="34" charset="-122"/>
                <a:cs typeface="Arial" pitchFamily="34" charset="-120"/>
              </a:rPr>
              <a:t>✕ REWARDS HIDING</a:t>
            </a:r>
            <a:endParaRPr lang="en-US" sz="700" dirty="0"/>
          </a:p>
        </p:txBody>
      </p:sp>
      <p:sp>
        <p:nvSpPr>
          <p:cNvPr id="10" name="Text 4.9"/>
          <p:cNvSpPr txBox="1"/>
          <p:nvPr/>
        </p:nvSpPr>
        <p:spPr>
          <a:xfrm>
            <a:off x="4546486" y="1892253"/>
            <a:ext cx="627942" cy="99058"/>
          </a:xfrm>
          <a:prstGeom prst="rect">
            <a:avLst/>
          </a:prstGeom>
          <a:noFill/>
          <a:ln/>
        </p:spPr>
        <p:txBody>
          <a:bodyPr wrap="square" lIns="0" tIns="0" rIns="0" bIns="0" rtlCol="0" anchor="t"/>
          <a:lstStyle/>
          <a:p>
            <a:pPr algn="l" indent="0" marL="0">
              <a:lnSpc>
                <a:spcPts val="780"/>
              </a:lnSpc>
              <a:buNone/>
            </a:pPr>
            <a:r>
              <a:rPr lang="en-US" sz="650" b="1" spc="78" kern="0" dirty="0">
                <a:solidFill>
                  <a:srgbClr val="6E7D9A"/>
                </a:solidFill>
                <a:latin typeface="Arial" pitchFamily="34" charset="0"/>
                <a:ea typeface="Arial" pitchFamily="34" charset="-122"/>
                <a:cs typeface="Arial" pitchFamily="34" charset="-120"/>
              </a:rPr>
              <a:t>VARIANT B</a:t>
            </a:r>
            <a:endParaRPr lang="en-US" sz="650" dirty="0"/>
          </a:p>
        </p:txBody>
      </p:sp>
      <p:sp>
        <p:nvSpPr>
          <p:cNvPr id="11" name="Text 4.10"/>
          <p:cNvSpPr txBox="1"/>
          <p:nvPr/>
        </p:nvSpPr>
        <p:spPr>
          <a:xfrm>
            <a:off x="4546486" y="2070048"/>
            <a:ext cx="3149521" cy="204465"/>
          </a:xfrm>
          <a:prstGeom prst="rect">
            <a:avLst/>
          </a:prstGeom>
          <a:noFill/>
          <a:ln/>
        </p:spPr>
        <p:txBody>
          <a:bodyPr wrap="square" lIns="0" tIns="0" rIns="0" bIns="0" rtlCol="0" anchor="t"/>
          <a:lstStyle/>
          <a:p>
            <a:pPr algn="l" indent="0" marL="0">
              <a:lnSpc>
                <a:spcPts val="1610"/>
              </a:lnSpc>
              <a:buNone/>
            </a:pPr>
            <a:r>
              <a:rPr lang="en-US" sz="1400" dirty="0">
                <a:solidFill>
                  <a:srgbClr val="16233F"/>
                </a:solidFill>
                <a:latin typeface="Arial Rounded MT Bold" pitchFamily="34" charset="0"/>
                <a:ea typeface="Arial Rounded MT Bold" pitchFamily="34" charset="-122"/>
                <a:cs typeface="Arial Rounded MT Bold" pitchFamily="34" charset="-120"/>
              </a:rPr>
              <a:t>Only the target pays</a:t>
            </a:r>
            <a:endParaRPr lang="en-US" sz="1400" dirty="0"/>
          </a:p>
        </p:txBody>
      </p:sp>
      <p:sp>
        <p:nvSpPr>
          <p:cNvPr id="12" name="Text 4.11"/>
          <p:cNvSpPr txBox="1"/>
          <p:nvPr/>
        </p:nvSpPr>
        <p:spPr>
          <a:xfrm>
            <a:off x="4711582" y="3225719"/>
            <a:ext cx="634984" cy="215895"/>
          </a:xfrm>
          <a:prstGeom prst="rect">
            <a:avLst/>
          </a:prstGeom>
          <a:noFill/>
          <a:ln/>
        </p:spPr>
        <p:txBody>
          <a:bodyPr wrap="square" lIns="0" tIns="0" rIns="0" bIns="0" rtlCol="0" anchor="ctr"/>
          <a:lstStyle/>
          <a:p>
            <a:pPr algn="ctr" indent="0" marL="0">
              <a:lnSpc>
                <a:spcPts val="750"/>
              </a:lnSpc>
              <a:buNone/>
            </a:pPr>
            <a:r>
              <a:rPr lang="en-US" sz="750" b="1" spc="60" kern="0" dirty="0">
                <a:solidFill>
                  <a:srgbClr val="6E7D9A"/>
                </a:solidFill>
                <a:latin typeface="Arial" pitchFamily="34" charset="0"/>
                <a:ea typeface="Arial" pitchFamily="34" charset="-122"/>
                <a:cs typeface="Arial" pitchFamily="34" charset="-120"/>
              </a:rPr>
              <a:t>FREE</a:t>
            </a:r>
            <a:endParaRPr lang="en-US" sz="750" dirty="0"/>
          </a:p>
        </p:txBody>
      </p:sp>
      <p:sp>
        <p:nvSpPr>
          <p:cNvPr id="13" name="Text 4.12"/>
          <p:cNvSpPr txBox="1"/>
          <p:nvPr/>
        </p:nvSpPr>
        <p:spPr>
          <a:xfrm>
            <a:off x="6845129" y="3225719"/>
            <a:ext cx="634984" cy="215895"/>
          </a:xfrm>
          <a:prstGeom prst="rect">
            <a:avLst/>
          </a:prstGeom>
          <a:noFill/>
          <a:ln/>
        </p:spPr>
        <p:txBody>
          <a:bodyPr wrap="square" lIns="0" tIns="0" rIns="0" bIns="0" rtlCol="0" anchor="ctr"/>
          <a:lstStyle/>
          <a:p>
            <a:pPr algn="ctr" indent="0" marL="0">
              <a:lnSpc>
                <a:spcPts val="750"/>
              </a:lnSpc>
              <a:buNone/>
            </a:pPr>
            <a:r>
              <a:rPr lang="en-US" sz="750" b="1" spc="60" kern="0" dirty="0">
                <a:solidFill>
                  <a:srgbClr val="FFFFFF"/>
                </a:solidFill>
                <a:latin typeface="Arial" pitchFamily="34" charset="0"/>
                <a:ea typeface="Arial" pitchFamily="34" charset="-122"/>
                <a:cs typeface="Arial" pitchFamily="34" charset="-120"/>
              </a:rPr>
              <a:t>− MASS</a:t>
            </a:r>
            <a:endParaRPr lang="en-US" sz="750" dirty="0"/>
          </a:p>
        </p:txBody>
      </p:sp>
      <p:sp>
        <p:nvSpPr>
          <p:cNvPr id="14" name="Text 4.13"/>
          <p:cNvSpPr txBox="1"/>
          <p:nvPr/>
        </p:nvSpPr>
        <p:spPr>
          <a:xfrm>
            <a:off x="4546486" y="3695608"/>
            <a:ext cx="641088" cy="99058"/>
          </a:xfrm>
          <a:prstGeom prst="rect">
            <a:avLst/>
          </a:prstGeom>
          <a:noFill/>
          <a:ln/>
        </p:spPr>
        <p:txBody>
          <a:bodyPr wrap="square" lIns="0" tIns="0" rIns="0" bIns="0" rtlCol="0" anchor="t"/>
          <a:lstStyle/>
          <a:p>
            <a:pPr algn="l" indent="0" marL="0">
              <a:lnSpc>
                <a:spcPts val="780"/>
              </a:lnSpc>
              <a:buNone/>
            </a:pPr>
            <a:r>
              <a:rPr lang="en-US" sz="650" b="1" spc="78" kern="0" dirty="0">
                <a:solidFill>
                  <a:srgbClr val="6E7D9A"/>
                </a:solidFill>
                <a:latin typeface="Arial" pitchFamily="34" charset="0"/>
                <a:ea typeface="Arial" pitchFamily="34" charset="-122"/>
                <a:cs typeface="Arial" pitchFamily="34" charset="-120"/>
              </a:rPr>
              <a:t>BEST PLAY</a:t>
            </a:r>
            <a:endParaRPr lang="en-US" sz="650" dirty="0"/>
          </a:p>
        </p:txBody>
      </p:sp>
      <p:sp>
        <p:nvSpPr>
          <p:cNvPr id="15" name="Text 4.14"/>
          <p:cNvSpPr txBox="1"/>
          <p:nvPr/>
        </p:nvSpPr>
        <p:spPr>
          <a:xfrm>
            <a:off x="4546486" y="3860703"/>
            <a:ext cx="3149521" cy="378609"/>
          </a:xfrm>
          <a:prstGeom prst="rect">
            <a:avLst/>
          </a:prstGeom>
          <a:noFill/>
          <a:ln/>
        </p:spPr>
        <p:txBody>
          <a:bodyPr wrap="square" lIns="0" tIns="0" rIns="0" bIns="0" rtlCol="0" anchor="t"/>
          <a:lstStyle/>
          <a:p>
            <a:pPr algn="l" indent="0" marL="0">
              <a:lnSpc>
                <a:spcPts val="1490"/>
              </a:lnSpc>
              <a:buNone/>
            </a:pPr>
            <a:r>
              <a:rPr lang="en-US" sz="1050" dirty="0">
                <a:solidFill>
                  <a:srgbClr val="3B4A66"/>
                </a:solidFill>
                <a:latin typeface="Arial" pitchFamily="34" charset="0"/>
                <a:ea typeface="Arial" pitchFamily="34" charset="-122"/>
                <a:cs typeface="Arial" pitchFamily="34" charset="-120"/>
              </a:rPr>
              <a:t>Shooting is free. The best play is to shoot nonstop in every direction.</a:t>
            </a:r>
            <a:endParaRPr lang="en-US" sz="1050" dirty="0"/>
          </a:p>
        </p:txBody>
      </p:sp>
      <p:sp>
        <p:nvSpPr>
          <p:cNvPr id="16" name="Text 4.15"/>
          <p:cNvSpPr txBox="1"/>
          <p:nvPr/>
        </p:nvSpPr>
        <p:spPr>
          <a:xfrm>
            <a:off x="4546486" y="4800480"/>
            <a:ext cx="1396965" cy="279393"/>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6E7D9A"/>
                </a:solidFill>
                <a:latin typeface="Arial" pitchFamily="34" charset="0"/>
                <a:ea typeface="Arial" pitchFamily="34" charset="-122"/>
                <a:cs typeface="Arial" pitchFamily="34" charset="-120"/>
              </a:rPr>
              <a:t>✕ REWARDS SPAM</a:t>
            </a:r>
            <a:endParaRPr lang="en-US" sz="700" dirty="0"/>
          </a:p>
        </p:txBody>
      </p:sp>
      <p:sp>
        <p:nvSpPr>
          <p:cNvPr id="17" name="Text 4.16"/>
          <p:cNvSpPr txBox="1"/>
          <p:nvPr/>
        </p:nvSpPr>
        <p:spPr>
          <a:xfrm>
            <a:off x="8254794" y="1892253"/>
            <a:ext cx="627942" cy="99058"/>
          </a:xfrm>
          <a:prstGeom prst="rect">
            <a:avLst/>
          </a:prstGeom>
          <a:noFill/>
          <a:ln/>
        </p:spPr>
        <p:txBody>
          <a:bodyPr wrap="square" lIns="0" tIns="0" rIns="0" bIns="0" rtlCol="0" anchor="t"/>
          <a:lstStyle/>
          <a:p>
            <a:pPr algn="l" indent="0" marL="0">
              <a:lnSpc>
                <a:spcPts val="780"/>
              </a:lnSpc>
              <a:buNone/>
            </a:pPr>
            <a:r>
              <a:rPr lang="en-US" sz="650" b="1" spc="78" kern="0" dirty="0">
                <a:solidFill>
                  <a:srgbClr val="FF6B1F"/>
                </a:solidFill>
                <a:latin typeface="Arial" pitchFamily="34" charset="0"/>
                <a:ea typeface="Arial" pitchFamily="34" charset="-122"/>
                <a:cs typeface="Arial" pitchFamily="34" charset="-120"/>
              </a:rPr>
              <a:t>VARIANT C</a:t>
            </a:r>
            <a:endParaRPr lang="en-US" sz="650" dirty="0"/>
          </a:p>
        </p:txBody>
      </p:sp>
      <p:sp>
        <p:nvSpPr>
          <p:cNvPr id="18" name="Text 4.17"/>
          <p:cNvSpPr txBox="1"/>
          <p:nvPr/>
        </p:nvSpPr>
        <p:spPr>
          <a:xfrm>
            <a:off x="8254794" y="2070048"/>
            <a:ext cx="3149521" cy="204465"/>
          </a:xfrm>
          <a:prstGeom prst="rect">
            <a:avLst/>
          </a:prstGeom>
          <a:noFill/>
          <a:ln/>
        </p:spPr>
        <p:txBody>
          <a:bodyPr wrap="square" lIns="0" tIns="0" rIns="0" bIns="0" rtlCol="0" anchor="t"/>
          <a:lstStyle/>
          <a:p>
            <a:pPr algn="l" indent="0" marL="0">
              <a:lnSpc>
                <a:spcPts val="1610"/>
              </a:lnSpc>
              <a:buNone/>
            </a:pPr>
            <a:r>
              <a:rPr lang="en-US" sz="1400" dirty="0">
                <a:solidFill>
                  <a:srgbClr val="16233F"/>
                </a:solidFill>
                <a:latin typeface="Arial Rounded MT Bold" pitchFamily="34" charset="0"/>
                <a:ea typeface="Arial Rounded MT Bold" pitchFamily="34" charset="-122"/>
                <a:cs typeface="Arial Rounded MT Bold" pitchFamily="34" charset="-120"/>
              </a:rPr>
              <a:t>Both pay: our rule</a:t>
            </a:r>
            <a:endParaRPr lang="en-US" sz="1400" dirty="0"/>
          </a:p>
        </p:txBody>
      </p:sp>
      <p:sp>
        <p:nvSpPr>
          <p:cNvPr id="19" name="Text 4.18"/>
          <p:cNvSpPr txBox="1"/>
          <p:nvPr/>
        </p:nvSpPr>
        <p:spPr>
          <a:xfrm>
            <a:off x="8419889" y="3225719"/>
            <a:ext cx="634984" cy="215895"/>
          </a:xfrm>
          <a:prstGeom prst="rect">
            <a:avLst/>
          </a:prstGeom>
          <a:noFill/>
          <a:ln/>
        </p:spPr>
        <p:txBody>
          <a:bodyPr wrap="square" lIns="0" tIns="0" rIns="0" bIns="0" rtlCol="0" anchor="ctr"/>
          <a:lstStyle/>
          <a:p>
            <a:pPr algn="ctr" indent="0" marL="0">
              <a:lnSpc>
                <a:spcPts val="750"/>
              </a:lnSpc>
              <a:buNone/>
            </a:pPr>
            <a:r>
              <a:rPr lang="en-US" sz="750" b="1" spc="60" kern="0" dirty="0">
                <a:solidFill>
                  <a:srgbClr val="FFFFFF"/>
                </a:solidFill>
                <a:latin typeface="Arial" pitchFamily="34" charset="0"/>
                <a:ea typeface="Arial" pitchFamily="34" charset="-122"/>
                <a:cs typeface="Arial" pitchFamily="34" charset="-120"/>
              </a:rPr>
              <a:t>− MASS</a:t>
            </a:r>
            <a:endParaRPr lang="en-US" sz="750" dirty="0"/>
          </a:p>
        </p:txBody>
      </p:sp>
      <p:sp>
        <p:nvSpPr>
          <p:cNvPr id="20" name="Text 4.19"/>
          <p:cNvSpPr txBox="1"/>
          <p:nvPr/>
        </p:nvSpPr>
        <p:spPr>
          <a:xfrm>
            <a:off x="10553436" y="3225719"/>
            <a:ext cx="634984" cy="215895"/>
          </a:xfrm>
          <a:prstGeom prst="rect">
            <a:avLst/>
          </a:prstGeom>
          <a:noFill/>
          <a:ln/>
        </p:spPr>
        <p:txBody>
          <a:bodyPr wrap="square" lIns="0" tIns="0" rIns="0" bIns="0" rtlCol="0" anchor="ctr"/>
          <a:lstStyle/>
          <a:p>
            <a:pPr algn="ctr" indent="0" marL="0">
              <a:lnSpc>
                <a:spcPts val="750"/>
              </a:lnSpc>
              <a:buNone/>
            </a:pPr>
            <a:r>
              <a:rPr lang="en-US" sz="750" b="1" spc="60" kern="0" dirty="0">
                <a:solidFill>
                  <a:srgbClr val="FFFFFF"/>
                </a:solidFill>
                <a:latin typeface="Arial" pitchFamily="34" charset="0"/>
                <a:ea typeface="Arial" pitchFamily="34" charset="-122"/>
                <a:cs typeface="Arial" pitchFamily="34" charset="-120"/>
              </a:rPr>
              <a:t>− MASS</a:t>
            </a:r>
            <a:endParaRPr lang="en-US" sz="750" dirty="0"/>
          </a:p>
        </p:txBody>
      </p:sp>
      <p:sp>
        <p:nvSpPr>
          <p:cNvPr id="21" name="Text 4.20"/>
          <p:cNvSpPr txBox="1"/>
          <p:nvPr/>
        </p:nvSpPr>
        <p:spPr>
          <a:xfrm>
            <a:off x="8254794" y="3695608"/>
            <a:ext cx="641088" cy="99058"/>
          </a:xfrm>
          <a:prstGeom prst="rect">
            <a:avLst/>
          </a:prstGeom>
          <a:noFill/>
          <a:ln/>
        </p:spPr>
        <p:txBody>
          <a:bodyPr wrap="square" lIns="0" tIns="0" rIns="0" bIns="0" rtlCol="0" anchor="t"/>
          <a:lstStyle/>
          <a:p>
            <a:pPr algn="l" indent="0" marL="0">
              <a:lnSpc>
                <a:spcPts val="780"/>
              </a:lnSpc>
              <a:buNone/>
            </a:pPr>
            <a:r>
              <a:rPr lang="en-US" sz="650" b="1" spc="78" kern="0" dirty="0">
                <a:solidFill>
                  <a:srgbClr val="6E7D9A"/>
                </a:solidFill>
                <a:latin typeface="Arial" pitchFamily="34" charset="0"/>
                <a:ea typeface="Arial" pitchFamily="34" charset="-122"/>
                <a:cs typeface="Arial" pitchFamily="34" charset="-120"/>
              </a:rPr>
              <a:t>BEST PLAY</a:t>
            </a:r>
            <a:endParaRPr lang="en-US" sz="650" dirty="0"/>
          </a:p>
        </p:txBody>
      </p:sp>
      <p:sp>
        <p:nvSpPr>
          <p:cNvPr id="22" name="Text 4.21"/>
          <p:cNvSpPr txBox="1"/>
          <p:nvPr/>
        </p:nvSpPr>
        <p:spPr>
          <a:xfrm>
            <a:off x="8254794" y="3860703"/>
            <a:ext cx="3149521" cy="567914"/>
          </a:xfrm>
          <a:prstGeom prst="rect">
            <a:avLst/>
          </a:prstGeom>
          <a:noFill/>
          <a:ln/>
        </p:spPr>
        <p:txBody>
          <a:bodyPr wrap="square" lIns="0" tIns="0" rIns="0" bIns="0" rtlCol="0" anchor="t"/>
          <a:lstStyle/>
          <a:p>
            <a:pPr algn="l" indent="0" marL="0">
              <a:lnSpc>
                <a:spcPts val="1490"/>
              </a:lnSpc>
              <a:buNone/>
            </a:pPr>
            <a:r>
              <a:rPr lang="en-US" sz="1050" dirty="0">
                <a:solidFill>
                  <a:srgbClr val="3B4A66"/>
                </a:solidFill>
                <a:latin typeface="Arial" pitchFamily="34" charset="0"/>
                <a:ea typeface="Arial" pitchFamily="34" charset="-122"/>
                <a:cs typeface="Arial" pitchFamily="34" charset="-120"/>
              </a:rPr>
              <a:t>Every shot is a trade. A hit should take more from the target than the shot cost you, and a miss costs only you.</a:t>
            </a:r>
            <a:endParaRPr lang="en-US" sz="1050" dirty="0"/>
          </a:p>
        </p:txBody>
      </p:sp>
      <p:sp>
        <p:nvSpPr>
          <p:cNvPr id="23" name="Text 4.22"/>
          <p:cNvSpPr txBox="1"/>
          <p:nvPr/>
        </p:nvSpPr>
        <p:spPr>
          <a:xfrm>
            <a:off x="8254794" y="4800480"/>
            <a:ext cx="1968451" cy="279393"/>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FFFFFF"/>
                </a:solidFill>
                <a:latin typeface="Arial" pitchFamily="34" charset="0"/>
                <a:ea typeface="Arial" pitchFamily="34" charset="-122"/>
                <a:cs typeface="Arial" pitchFamily="34" charset="-120"/>
              </a:rPr>
              <a:t>✓ REWARDS AIM AND TIMING</a:t>
            </a:r>
            <a:endParaRPr lang="en-US" sz="700" dirty="0"/>
          </a:p>
        </p:txBody>
      </p:sp>
      <p:sp>
        <p:nvSpPr>
          <p:cNvPr id="24" name="Text 4.23"/>
          <p:cNvSpPr txBox="1"/>
          <p:nvPr/>
        </p:nvSpPr>
        <p:spPr>
          <a:xfrm>
            <a:off x="609585" y="5511662"/>
            <a:ext cx="11010625" cy="504812"/>
          </a:xfrm>
          <a:prstGeom prst="rect">
            <a:avLst/>
          </a:prstGeom>
          <a:noFill/>
          <a:ln/>
        </p:spPr>
        <p:txBody>
          <a:bodyPr wrap="square" lIns="0" tIns="0" rIns="0" bIns="0" rtlCol="0" anchor="t"/>
          <a:lstStyle/>
          <a:p>
            <a:pPr algn="l" indent="0" marL="0">
              <a:lnSpc>
                <a:spcPts val="1990"/>
              </a:lnSpc>
              <a:buNone/>
            </a:pPr>
            <a:r>
              <a:rPr lang="en-US" sz="1400" dirty="0">
                <a:solidFill>
                  <a:srgbClr val="16233F"/>
                </a:solidFill>
                <a:latin typeface="Arial" pitchFamily="34" charset="0"/>
                <a:ea typeface="Arial" pitchFamily="34" charset="-122"/>
                <a:cs typeface="Arial" pitchFamily="34" charset="-120"/>
              </a:rPr>
              <a:t>A shot only pays off when it lands, so </a:t>
            </a:r>
            <a:pPr algn="l" indent="0" marL="0">
              <a:lnSpc>
                <a:spcPts val="1990"/>
              </a:lnSpc>
              <a:buNone/>
            </a:pPr>
            <a:r>
              <a:rPr lang="en-US" sz="1400" b="1" dirty="0">
                <a:solidFill>
                  <a:srgbClr val="FF6B1F"/>
                </a:solidFill>
                <a:latin typeface="Arial" pitchFamily="34" charset="0"/>
                <a:ea typeface="Arial" pitchFamily="34" charset="-122"/>
                <a:cs typeface="Arial" pitchFamily="34" charset="-120"/>
              </a:rPr>
              <a:t>accuracy becomes the skill.</a:t>
            </a:r>
            <a:pPr algn="l" indent="0" marL="0">
              <a:lnSpc>
                <a:spcPts val="1990"/>
              </a:lnSpc>
              <a:buNone/>
            </a:pPr>
            <a:r>
              <a:rPr lang="en-US" sz="1400" dirty="0">
                <a:solidFill>
                  <a:srgbClr val="16233F"/>
                </a:solidFill>
                <a:latin typeface="Arial" pitchFamily="34" charset="0"/>
                <a:ea typeface="Arial" pitchFamily="34" charset="-122"/>
                <a:cs typeface="Arial" pitchFamily="34" charset="-120"/>
              </a:rPr>
              <a:t> And never shooting scores nothing: points come from knockouts, not survival.</a:t>
            </a:r>
            <a:endParaRPr lang="en-US" sz="1400" dirty="0"/>
          </a:p>
        </p:txBody>
      </p:sp>
      <p:sp>
        <p:nvSpPr>
          <p:cNvPr id="25" name="Text 4.24"/>
          <p:cNvSpPr txBox="1"/>
          <p:nvPr/>
        </p:nvSpPr>
        <p:spPr>
          <a:xfrm>
            <a:off x="609585" y="6572086"/>
            <a:ext cx="10832829" cy="133347"/>
          </a:xfrm>
          <a:prstGeom prst="rect">
            <a:avLst/>
          </a:prstGeom>
          <a:noFill/>
          <a:ln/>
        </p:spPr>
        <p:txBody>
          <a:bodyPr wrap="square" lIns="0" tIns="0" rIns="0" bIns="0" rtlCol="0" anchor="t"/>
          <a:lstStyle/>
          <a:p>
            <a:pPr algn="l" indent="0" marL="0">
              <a:lnSpc>
                <a:spcPts val="1050"/>
              </a:lnSpc>
              <a:buNone/>
            </a:pPr>
            <a:r>
              <a:rPr lang="en-US" sz="750" dirty="0">
                <a:solidFill>
                  <a:srgbClr val="6E7D9A"/>
                </a:solidFill>
                <a:latin typeface="Arial" pitchFamily="34" charset="0"/>
                <a:ea typeface="Arial" pitchFamily="34" charset="-122"/>
                <a:cs typeface="Arial" pitchFamily="34" charset="-120"/>
              </a:rPr>
              <a:t>Exact costs are tuning values. We fix them in playtests, not on paper.</a:t>
            </a:r>
            <a:endParaRPr lang="en-US" sz="750" dirty="0"/>
          </a:p>
        </p:txBody>
      </p:sp>
      <p:sp>
        <p:nvSpPr>
          <p:cNvPr id="26" name="Text 4.25"/>
          <p:cNvSpPr txBox="1"/>
          <p:nvPr/>
        </p:nvSpPr>
        <p:spPr>
          <a:xfrm>
            <a:off x="927077" y="355591"/>
            <a:ext cx="1266740" cy="107947"/>
          </a:xfrm>
          <a:prstGeom prst="rect">
            <a:avLst/>
          </a:prstGeom>
          <a:noFill/>
          <a:ln/>
        </p:spPr>
        <p:txBody>
          <a:bodyPr wrap="square" lIns="0" tIns="0" rIns="0" bIns="0" rtlCol="0" anchor="t"/>
          <a:lstStyle/>
          <a:p>
            <a:pPr algn="l" indent="0" marL="0">
              <a:lnSpc>
                <a:spcPts val="850"/>
              </a:lnSpc>
              <a:buNone/>
            </a:pPr>
            <a:r>
              <a:rPr lang="en-US" sz="850" b="1" spc="17" kern="0" dirty="0">
                <a:solidFill>
                  <a:srgbClr val="16233F"/>
                </a:solidFill>
                <a:latin typeface="Arial" pitchFamily="34" charset="0"/>
                <a:ea typeface="Arial" pitchFamily="34" charset="-122"/>
                <a:cs typeface="Arial" pitchFamily="34" charset="-120"/>
              </a:rPr>
              <a:t>02 · Gameplay &amp; tech</a:t>
            </a:r>
            <a:endParaRPr lang="en-US" sz="850" dirty="0"/>
          </a:p>
        </p:txBody>
      </p:sp>
      <p:sp>
        <p:nvSpPr>
          <p:cNvPr id="27" name="Text 4.26"/>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04</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23</a:t>
            </a:r>
            <a:endParaRPr lang="en-US" sz="100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5.1"/>
          <p:cNvSpPr txBox="1"/>
          <p:nvPr/>
        </p:nvSpPr>
        <p:spPr>
          <a:xfrm>
            <a:off x="7772206" y="1015975"/>
            <a:ext cx="1079473" cy="228594"/>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FFFFFF"/>
                </a:solidFill>
                <a:latin typeface="Arial" pitchFamily="34" charset="0"/>
                <a:ea typeface="Arial" pitchFamily="34" charset="-122"/>
                <a:cs typeface="Arial" pitchFamily="34" charset="-120"/>
              </a:rPr>
              <a:t>MINI-GAME 01</a:t>
            </a:r>
            <a:endParaRPr lang="en-US" sz="700" dirty="0"/>
          </a:p>
        </p:txBody>
      </p:sp>
      <p:sp>
        <p:nvSpPr>
          <p:cNvPr id="3" name="Text 5.2"/>
          <p:cNvSpPr txBox="1"/>
          <p:nvPr/>
        </p:nvSpPr>
        <p:spPr>
          <a:xfrm>
            <a:off x="7759506" y="1371566"/>
            <a:ext cx="2665175" cy="1088006"/>
          </a:xfrm>
          <a:prstGeom prst="rect">
            <a:avLst/>
          </a:prstGeom>
          <a:noFill/>
          <a:ln/>
        </p:spPr>
        <p:txBody>
          <a:bodyPr wrap="square" lIns="0" tIns="0" rIns="0" bIns="0" rtlCol="0" anchor="t"/>
          <a:lstStyle/>
          <a:p>
            <a:pPr algn="l" indent="0" marL="0">
              <a:lnSpc>
                <a:spcPts val="4280"/>
              </a:lnSpc>
              <a:buNone/>
            </a:pPr>
            <a:r>
              <a:rPr lang="en-US" sz="4200" dirty="0">
                <a:solidFill>
                  <a:srgbClr val="16233F"/>
                </a:solidFill>
                <a:latin typeface="Arial Rounded MT Bold" pitchFamily="34" charset="0"/>
                <a:ea typeface="Arial Rounded MT Bold" pitchFamily="34" charset="-122"/>
                <a:cs typeface="Arial Rounded MT Bold" pitchFamily="34" charset="-120"/>
              </a:rPr>
              <a:t>Mass</a:t>
            </a:r>
            <a:endParaRPr lang="en-US" sz="4200" dirty="0"/>
          </a:p>
          <a:p>
            <a:pPr algn="l" indent="0" marL="0">
              <a:lnSpc>
                <a:spcPts val="4280"/>
              </a:lnSpc>
              <a:buNone/>
            </a:pPr>
            <a:r>
              <a:rPr lang="en-US" sz="4200" dirty="0">
                <a:solidFill>
                  <a:srgbClr val="16233F"/>
                </a:solidFill>
                <a:latin typeface="Arial Rounded MT Bold" pitchFamily="34" charset="0"/>
                <a:ea typeface="Arial Rounded MT Bold" pitchFamily="34" charset="-122"/>
                <a:cs typeface="Arial Rounded MT Bold" pitchFamily="34" charset="-120"/>
              </a:rPr>
              <a:t>Knockout</a:t>
            </a:r>
            <a:endParaRPr lang="en-US" sz="4200" dirty="0"/>
          </a:p>
        </p:txBody>
      </p:sp>
      <p:sp>
        <p:nvSpPr>
          <p:cNvPr id="4" name="Text 5.3"/>
          <p:cNvSpPr txBox="1"/>
          <p:nvPr/>
        </p:nvSpPr>
        <p:spPr>
          <a:xfrm>
            <a:off x="7772206" y="2844729"/>
            <a:ext cx="358288" cy="99058"/>
          </a:xfrm>
          <a:prstGeom prst="rect">
            <a:avLst/>
          </a:prstGeom>
          <a:noFill/>
          <a:ln/>
        </p:spPr>
        <p:txBody>
          <a:bodyPr wrap="square" lIns="0" tIns="0" rIns="0" bIns="0" rtlCol="0" anchor="t"/>
          <a:lstStyle/>
          <a:p>
            <a:pPr algn="l" indent="0" marL="0">
              <a:lnSpc>
                <a:spcPts val="780"/>
              </a:lnSpc>
              <a:buNone/>
            </a:pPr>
            <a:r>
              <a:rPr lang="en-US" sz="650" b="1" spc="78" kern="0" dirty="0">
                <a:solidFill>
                  <a:srgbClr val="FF6B1F"/>
                </a:solidFill>
                <a:latin typeface="Arial" pitchFamily="34" charset="0"/>
                <a:ea typeface="Arial" pitchFamily="34" charset="-122"/>
                <a:cs typeface="Arial" pitchFamily="34" charset="-120"/>
              </a:rPr>
              <a:t>GOAL</a:t>
            </a:r>
            <a:endParaRPr lang="en-US" sz="650" dirty="0"/>
          </a:p>
        </p:txBody>
      </p:sp>
      <p:sp>
        <p:nvSpPr>
          <p:cNvPr id="5" name="Text 5.4"/>
          <p:cNvSpPr txBox="1"/>
          <p:nvPr/>
        </p:nvSpPr>
        <p:spPr>
          <a:xfrm>
            <a:off x="7772206" y="3009825"/>
            <a:ext cx="3568611" cy="186685"/>
          </a:xfrm>
          <a:prstGeom prst="rect">
            <a:avLst/>
          </a:prstGeom>
          <a:noFill/>
          <a:ln/>
        </p:spPr>
        <p:txBody>
          <a:bodyPr wrap="square" lIns="0" tIns="0" rIns="0" bIns="0" rtlCol="0" anchor="t"/>
          <a:lstStyle/>
          <a:p>
            <a:pPr algn="l" indent="0" marL="0">
              <a:lnSpc>
                <a:spcPts val="1470"/>
              </a:lnSpc>
              <a:buNone/>
            </a:pPr>
            <a:r>
              <a:rPr lang="en-US" sz="1050" dirty="0">
                <a:solidFill>
                  <a:srgbClr val="16233F"/>
                </a:solidFill>
                <a:latin typeface="Arial" pitchFamily="34" charset="0"/>
                <a:ea typeface="Arial" pitchFamily="34" charset="-122"/>
                <a:cs typeface="Arial" pitchFamily="34" charset="-120"/>
              </a:rPr>
              <a:t>Knock other cubes off the floating platform.</a:t>
            </a:r>
            <a:endParaRPr lang="en-US" sz="1050" dirty="0"/>
          </a:p>
        </p:txBody>
      </p:sp>
      <p:sp>
        <p:nvSpPr>
          <p:cNvPr id="6" name="Text 5.5"/>
          <p:cNvSpPr txBox="1"/>
          <p:nvPr/>
        </p:nvSpPr>
        <p:spPr>
          <a:xfrm>
            <a:off x="7772206" y="3505112"/>
            <a:ext cx="638459" cy="99058"/>
          </a:xfrm>
          <a:prstGeom prst="rect">
            <a:avLst/>
          </a:prstGeom>
          <a:noFill/>
          <a:ln/>
        </p:spPr>
        <p:txBody>
          <a:bodyPr wrap="square" lIns="0" tIns="0" rIns="0" bIns="0" rtlCol="0" anchor="t"/>
          <a:lstStyle/>
          <a:p>
            <a:pPr algn="l" indent="0" marL="0">
              <a:lnSpc>
                <a:spcPts val="780"/>
              </a:lnSpc>
              <a:buNone/>
            </a:pPr>
            <a:r>
              <a:rPr lang="en-US" sz="650" b="1" spc="78" kern="0" dirty="0">
                <a:solidFill>
                  <a:srgbClr val="FF6B1F"/>
                </a:solidFill>
                <a:latin typeface="Arial" pitchFamily="34" charset="0"/>
                <a:ea typeface="Arial" pitchFamily="34" charset="-122"/>
                <a:cs typeface="Arial" pitchFamily="34" charset="-120"/>
              </a:rPr>
              <a:t>CONTROLS</a:t>
            </a:r>
            <a:endParaRPr lang="en-US" sz="650" dirty="0"/>
          </a:p>
        </p:txBody>
      </p:sp>
      <p:sp>
        <p:nvSpPr>
          <p:cNvPr id="7" name="Text 5.6"/>
          <p:cNvSpPr txBox="1"/>
          <p:nvPr/>
        </p:nvSpPr>
        <p:spPr>
          <a:xfrm>
            <a:off x="7772206" y="3670208"/>
            <a:ext cx="3568611" cy="186685"/>
          </a:xfrm>
          <a:prstGeom prst="rect">
            <a:avLst/>
          </a:prstGeom>
          <a:noFill/>
          <a:ln/>
        </p:spPr>
        <p:txBody>
          <a:bodyPr wrap="square" lIns="0" tIns="0" rIns="0" bIns="0" rtlCol="0" anchor="t"/>
          <a:lstStyle/>
          <a:p>
            <a:pPr algn="l" indent="0" marL="0">
              <a:lnSpc>
                <a:spcPts val="1470"/>
              </a:lnSpc>
              <a:buNone/>
            </a:pPr>
            <a:r>
              <a:rPr lang="en-US" sz="1050" dirty="0">
                <a:solidFill>
                  <a:srgbClr val="16233F"/>
                </a:solidFill>
                <a:latin typeface="Arial" pitchFamily="34" charset="0"/>
                <a:ea typeface="Arial" pitchFamily="34" charset="-122"/>
                <a:cs typeface="Arial" pitchFamily="34" charset="-120"/>
              </a:rPr>
              <a:t>Move, aim, spit. A short cooldown between shots.</a:t>
            </a:r>
            <a:endParaRPr lang="en-US" sz="1050" dirty="0"/>
          </a:p>
        </p:txBody>
      </p:sp>
      <p:sp>
        <p:nvSpPr>
          <p:cNvPr id="8" name="Text 5.7"/>
          <p:cNvSpPr txBox="1"/>
          <p:nvPr/>
        </p:nvSpPr>
        <p:spPr>
          <a:xfrm>
            <a:off x="7772206" y="4165496"/>
            <a:ext cx="545384" cy="99058"/>
          </a:xfrm>
          <a:prstGeom prst="rect">
            <a:avLst/>
          </a:prstGeom>
          <a:noFill/>
          <a:ln/>
        </p:spPr>
        <p:txBody>
          <a:bodyPr wrap="square" lIns="0" tIns="0" rIns="0" bIns="0" rtlCol="0" anchor="t"/>
          <a:lstStyle/>
          <a:p>
            <a:pPr algn="l" indent="0" marL="0">
              <a:lnSpc>
                <a:spcPts val="780"/>
              </a:lnSpc>
              <a:buNone/>
            </a:pPr>
            <a:r>
              <a:rPr lang="en-US" sz="650" b="1" spc="78" kern="0" dirty="0">
                <a:solidFill>
                  <a:srgbClr val="FF6B1F"/>
                </a:solidFill>
                <a:latin typeface="Arial" pitchFamily="34" charset="0"/>
                <a:ea typeface="Arial" pitchFamily="34" charset="-122"/>
                <a:cs typeface="Arial" pitchFamily="34" charset="-120"/>
              </a:rPr>
              <a:t>SCORING</a:t>
            </a:r>
            <a:endParaRPr lang="en-US" sz="650" dirty="0"/>
          </a:p>
        </p:txBody>
      </p:sp>
      <p:sp>
        <p:nvSpPr>
          <p:cNvPr id="9" name="Text 5.8"/>
          <p:cNvSpPr txBox="1"/>
          <p:nvPr/>
        </p:nvSpPr>
        <p:spPr>
          <a:xfrm>
            <a:off x="7772206" y="4330592"/>
            <a:ext cx="3568611" cy="373252"/>
          </a:xfrm>
          <a:prstGeom prst="rect">
            <a:avLst/>
          </a:prstGeom>
          <a:noFill/>
          <a:ln/>
        </p:spPr>
        <p:txBody>
          <a:bodyPr wrap="square" lIns="0" tIns="0" rIns="0" bIns="0" rtlCol="0" anchor="t"/>
          <a:lstStyle/>
          <a:p>
            <a:pPr algn="l" indent="0" marL="0">
              <a:lnSpc>
                <a:spcPts val="1470"/>
              </a:lnSpc>
              <a:buNone/>
            </a:pPr>
            <a:r>
              <a:rPr lang="en-US" sz="1050" dirty="0">
                <a:solidFill>
                  <a:srgbClr val="16233F"/>
                </a:solidFill>
                <a:latin typeface="Arial" pitchFamily="34" charset="0"/>
                <a:ea typeface="Arial" pitchFamily="34" charset="-122"/>
                <a:cs typeface="Arial" pitchFamily="34" charset="-120"/>
              </a:rPr>
              <a:t>A knockout goes to the last cube that hit the one that fell. Most knockouts at the timer wins.</a:t>
            </a:r>
            <a:endParaRPr lang="en-US" sz="1050" dirty="0"/>
          </a:p>
        </p:txBody>
      </p:sp>
      <p:sp>
        <p:nvSpPr>
          <p:cNvPr id="10" name="Text 5.9"/>
          <p:cNvSpPr txBox="1"/>
          <p:nvPr/>
        </p:nvSpPr>
        <p:spPr>
          <a:xfrm>
            <a:off x="7772206" y="4825879"/>
            <a:ext cx="572938" cy="99058"/>
          </a:xfrm>
          <a:prstGeom prst="rect">
            <a:avLst/>
          </a:prstGeom>
          <a:noFill/>
          <a:ln/>
        </p:spPr>
        <p:txBody>
          <a:bodyPr wrap="square" lIns="0" tIns="0" rIns="0" bIns="0" rtlCol="0" anchor="t"/>
          <a:lstStyle/>
          <a:p>
            <a:pPr algn="l" indent="0" marL="0">
              <a:lnSpc>
                <a:spcPts val="780"/>
              </a:lnSpc>
              <a:buNone/>
            </a:pPr>
            <a:r>
              <a:rPr lang="en-US" sz="650" b="1" spc="78" kern="0" dirty="0">
                <a:solidFill>
                  <a:srgbClr val="FF6B1F"/>
                </a:solidFill>
                <a:latin typeface="Arial" pitchFamily="34" charset="0"/>
                <a:ea typeface="Arial" pitchFamily="34" charset="-122"/>
                <a:cs typeface="Arial" pitchFamily="34" charset="-120"/>
              </a:rPr>
              <a:t>RESPAWN</a:t>
            </a:r>
            <a:endParaRPr lang="en-US" sz="650" dirty="0"/>
          </a:p>
        </p:txBody>
      </p:sp>
      <p:sp>
        <p:nvSpPr>
          <p:cNvPr id="11" name="Text 5.10"/>
          <p:cNvSpPr txBox="1"/>
          <p:nvPr/>
        </p:nvSpPr>
        <p:spPr>
          <a:xfrm>
            <a:off x="7772206" y="4990975"/>
            <a:ext cx="3568611" cy="186685"/>
          </a:xfrm>
          <a:prstGeom prst="rect">
            <a:avLst/>
          </a:prstGeom>
          <a:noFill/>
          <a:ln/>
        </p:spPr>
        <p:txBody>
          <a:bodyPr wrap="square" lIns="0" tIns="0" rIns="0" bIns="0" rtlCol="0" anchor="t"/>
          <a:lstStyle/>
          <a:p>
            <a:pPr algn="l" indent="0" marL="0">
              <a:lnSpc>
                <a:spcPts val="1470"/>
              </a:lnSpc>
              <a:buNone/>
            </a:pPr>
            <a:r>
              <a:rPr lang="en-US" sz="1050" dirty="0">
                <a:solidFill>
                  <a:srgbClr val="16233F"/>
                </a:solidFill>
                <a:latin typeface="Arial" pitchFamily="34" charset="0"/>
                <a:ea typeface="Arial" pitchFamily="34" charset="-122"/>
                <a:cs typeface="Arial" pitchFamily="34" charset="-120"/>
              </a:rPr>
              <a:t>After a short delay, at full mass.</a:t>
            </a:r>
            <a:endParaRPr lang="en-US" sz="1050" dirty="0"/>
          </a:p>
        </p:txBody>
      </p:sp>
      <p:sp>
        <p:nvSpPr>
          <p:cNvPr id="12" name="Text 5.11"/>
          <p:cNvSpPr txBox="1"/>
          <p:nvPr/>
        </p:nvSpPr>
        <p:spPr>
          <a:xfrm>
            <a:off x="7772206" y="5486263"/>
            <a:ext cx="427174" cy="99058"/>
          </a:xfrm>
          <a:prstGeom prst="rect">
            <a:avLst/>
          </a:prstGeom>
          <a:noFill/>
          <a:ln/>
        </p:spPr>
        <p:txBody>
          <a:bodyPr wrap="square" lIns="0" tIns="0" rIns="0" bIns="0" rtlCol="0" anchor="t"/>
          <a:lstStyle/>
          <a:p>
            <a:pPr algn="l" indent="0" marL="0">
              <a:lnSpc>
                <a:spcPts val="780"/>
              </a:lnSpc>
              <a:buNone/>
            </a:pPr>
            <a:r>
              <a:rPr lang="en-US" sz="650" b="1" spc="78" kern="0" dirty="0">
                <a:solidFill>
                  <a:srgbClr val="FF6B1F"/>
                </a:solidFill>
                <a:latin typeface="Arial" pitchFamily="34" charset="0"/>
                <a:ea typeface="Arial" pitchFamily="34" charset="-122"/>
                <a:cs typeface="Arial" pitchFamily="34" charset="-120"/>
              </a:rPr>
              <a:t>ARENA</a:t>
            </a:r>
            <a:endParaRPr lang="en-US" sz="650" dirty="0"/>
          </a:p>
        </p:txBody>
      </p:sp>
      <p:sp>
        <p:nvSpPr>
          <p:cNvPr id="13" name="Text 5.12"/>
          <p:cNvSpPr txBox="1"/>
          <p:nvPr/>
        </p:nvSpPr>
        <p:spPr>
          <a:xfrm>
            <a:off x="7772206" y="5651359"/>
            <a:ext cx="3568611" cy="186685"/>
          </a:xfrm>
          <a:prstGeom prst="rect">
            <a:avLst/>
          </a:prstGeom>
          <a:noFill/>
          <a:ln/>
        </p:spPr>
        <p:txBody>
          <a:bodyPr wrap="square" lIns="0" tIns="0" rIns="0" bIns="0" rtlCol="0" anchor="t"/>
          <a:lstStyle/>
          <a:p>
            <a:pPr algn="l" indent="0" marL="0">
              <a:lnSpc>
                <a:spcPts val="1470"/>
              </a:lnSpc>
              <a:buNone/>
            </a:pPr>
            <a:r>
              <a:rPr lang="en-US" sz="1050" dirty="0">
                <a:solidFill>
                  <a:srgbClr val="16233F"/>
                </a:solidFill>
                <a:latin typeface="Arial" pitchFamily="34" charset="0"/>
                <a:ea typeface="Arial" pitchFamily="34" charset="-122"/>
                <a:cs typeface="Arial" pitchFamily="34" charset="-120"/>
              </a:rPr>
              <a:t>One flat square platform. Open edges, no walls.</a:t>
            </a:r>
            <a:endParaRPr lang="en-US" sz="1050" dirty="0"/>
          </a:p>
        </p:txBody>
      </p:sp>
      <p:sp>
        <p:nvSpPr>
          <p:cNvPr id="14" name="Text 5.13"/>
          <p:cNvSpPr txBox="1"/>
          <p:nvPr/>
        </p:nvSpPr>
        <p:spPr>
          <a:xfrm>
            <a:off x="609585" y="6095848"/>
            <a:ext cx="5587860" cy="253994"/>
          </a:xfrm>
          <a:prstGeom prst="rect">
            <a:avLst/>
          </a:prstGeom>
          <a:noFill/>
          <a:ln/>
        </p:spPr>
        <p:txBody>
          <a:bodyPr wrap="square" lIns="0" tIns="0" rIns="0" bIns="0" rtlCol="0" anchor="ctr"/>
          <a:lstStyle/>
          <a:p>
            <a:pPr algn="ctr" indent="0" marL="0">
              <a:lnSpc>
                <a:spcPts val="750"/>
              </a:lnSpc>
              <a:buNone/>
            </a:pPr>
            <a:r>
              <a:rPr lang="en-US" sz="750" dirty="0">
                <a:solidFill>
                  <a:srgbClr val="3B4A66"/>
                </a:solidFill>
                <a:latin typeface="Arial" pitchFamily="34" charset="0"/>
                <a:ea typeface="Arial" pitchFamily="34" charset="-122"/>
                <a:cs typeface="Arial" pitchFamily="34" charset="-120"/>
              </a:rPr>
              <a:t>FIG 2 · Orange spits a piece of itself; Cyan is hit near the edge. Concept render, AI-generated.</a:t>
            </a:r>
            <a:endParaRPr lang="en-US" sz="750" dirty="0"/>
          </a:p>
        </p:txBody>
      </p:sp>
      <p:sp>
        <p:nvSpPr>
          <p:cNvPr id="15" name="Text 5.14"/>
          <p:cNvSpPr txBox="1"/>
          <p:nvPr/>
        </p:nvSpPr>
        <p:spPr>
          <a:xfrm>
            <a:off x="927077" y="355591"/>
            <a:ext cx="1266740" cy="107947"/>
          </a:xfrm>
          <a:prstGeom prst="rect">
            <a:avLst/>
          </a:prstGeom>
          <a:noFill/>
          <a:ln/>
        </p:spPr>
        <p:txBody>
          <a:bodyPr wrap="square" lIns="0" tIns="0" rIns="0" bIns="0" rtlCol="0" anchor="t"/>
          <a:lstStyle/>
          <a:p>
            <a:pPr algn="l" indent="0" marL="0">
              <a:lnSpc>
                <a:spcPts val="850"/>
              </a:lnSpc>
              <a:buNone/>
            </a:pPr>
            <a:r>
              <a:rPr lang="en-US" sz="850" b="1" spc="17" kern="0" dirty="0">
                <a:solidFill>
                  <a:srgbClr val="16233F"/>
                </a:solidFill>
                <a:latin typeface="Arial" pitchFamily="34" charset="0"/>
                <a:ea typeface="Arial" pitchFamily="34" charset="-122"/>
                <a:cs typeface="Arial" pitchFamily="34" charset="-120"/>
              </a:rPr>
              <a:t>02 · Gameplay &amp; tech</a:t>
            </a:r>
            <a:endParaRPr lang="en-US" sz="850" dirty="0"/>
          </a:p>
        </p:txBody>
      </p:sp>
      <p:sp>
        <p:nvSpPr>
          <p:cNvPr id="16" name="Text 5.15"/>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05</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23</a:t>
            </a:r>
            <a:endParaRPr lang="en-US" sz="100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6.1"/>
          <p:cNvSpPr txBox="1"/>
          <p:nvPr/>
        </p:nvSpPr>
        <p:spPr>
          <a:xfrm>
            <a:off x="888978" y="1015975"/>
            <a:ext cx="1079473" cy="228594"/>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FFFFFF"/>
                </a:solidFill>
                <a:latin typeface="Arial" pitchFamily="34" charset="0"/>
                <a:ea typeface="Arial" pitchFamily="34" charset="-122"/>
                <a:cs typeface="Arial" pitchFamily="34" charset="-120"/>
              </a:rPr>
              <a:t>MINI-GAME 02</a:t>
            </a:r>
            <a:endParaRPr lang="en-US" sz="700" dirty="0"/>
          </a:p>
        </p:txBody>
      </p:sp>
      <p:sp>
        <p:nvSpPr>
          <p:cNvPr id="3" name="Text 6.2"/>
          <p:cNvSpPr txBox="1"/>
          <p:nvPr/>
        </p:nvSpPr>
        <p:spPr>
          <a:xfrm>
            <a:off x="876278" y="1371566"/>
            <a:ext cx="1470663" cy="1088006"/>
          </a:xfrm>
          <a:prstGeom prst="rect">
            <a:avLst/>
          </a:prstGeom>
          <a:noFill/>
          <a:ln/>
        </p:spPr>
        <p:txBody>
          <a:bodyPr wrap="square" lIns="0" tIns="0" rIns="0" bIns="0" rtlCol="0" anchor="t"/>
          <a:lstStyle/>
          <a:p>
            <a:pPr algn="l" indent="0" marL="0">
              <a:lnSpc>
                <a:spcPts val="4280"/>
              </a:lnSpc>
              <a:buNone/>
            </a:pPr>
            <a:r>
              <a:rPr lang="en-US" sz="4200" dirty="0">
                <a:solidFill>
                  <a:srgbClr val="16233F"/>
                </a:solidFill>
                <a:latin typeface="Arial Rounded MT Bold" pitchFamily="34" charset="0"/>
                <a:ea typeface="Arial Rounded MT Bold" pitchFamily="34" charset="-122"/>
                <a:cs typeface="Arial Rounded MT Bold" pitchFamily="34" charset="-120"/>
              </a:rPr>
              <a:t>Ice</a:t>
            </a:r>
            <a:endParaRPr lang="en-US" sz="4200" dirty="0"/>
          </a:p>
          <a:p>
            <a:pPr algn="l" indent="0" marL="0">
              <a:lnSpc>
                <a:spcPts val="4280"/>
              </a:lnSpc>
              <a:buNone/>
            </a:pPr>
            <a:r>
              <a:rPr lang="en-US" sz="4200" dirty="0">
                <a:solidFill>
                  <a:srgbClr val="16233F"/>
                </a:solidFill>
                <a:latin typeface="Arial Rounded MT Bold" pitchFamily="34" charset="0"/>
                <a:ea typeface="Arial Rounded MT Bold" pitchFamily="34" charset="-122"/>
                <a:cs typeface="Arial Rounded MT Bold" pitchFamily="34" charset="-120"/>
              </a:rPr>
              <a:t>Race</a:t>
            </a:r>
            <a:endParaRPr lang="en-US" sz="4200" dirty="0"/>
          </a:p>
        </p:txBody>
      </p:sp>
      <p:sp>
        <p:nvSpPr>
          <p:cNvPr id="4" name="Text 6.3"/>
          <p:cNvSpPr txBox="1"/>
          <p:nvPr/>
        </p:nvSpPr>
        <p:spPr>
          <a:xfrm>
            <a:off x="888978" y="2844729"/>
            <a:ext cx="358288" cy="99058"/>
          </a:xfrm>
          <a:prstGeom prst="rect">
            <a:avLst/>
          </a:prstGeom>
          <a:noFill/>
          <a:ln/>
        </p:spPr>
        <p:txBody>
          <a:bodyPr wrap="square" lIns="0" tIns="0" rIns="0" bIns="0" rtlCol="0" anchor="t"/>
          <a:lstStyle/>
          <a:p>
            <a:pPr algn="l" indent="0" marL="0">
              <a:lnSpc>
                <a:spcPts val="780"/>
              </a:lnSpc>
              <a:buNone/>
            </a:pPr>
            <a:r>
              <a:rPr lang="en-US" sz="650" b="1" spc="78" kern="0" dirty="0">
                <a:solidFill>
                  <a:srgbClr val="1FA9EA"/>
                </a:solidFill>
                <a:latin typeface="Arial" pitchFamily="34" charset="0"/>
                <a:ea typeface="Arial" pitchFamily="34" charset="-122"/>
                <a:cs typeface="Arial" pitchFamily="34" charset="-120"/>
              </a:rPr>
              <a:t>GOAL</a:t>
            </a:r>
            <a:endParaRPr lang="en-US" sz="650" dirty="0"/>
          </a:p>
        </p:txBody>
      </p:sp>
      <p:sp>
        <p:nvSpPr>
          <p:cNvPr id="5" name="Text 6.4"/>
          <p:cNvSpPr txBox="1"/>
          <p:nvPr/>
        </p:nvSpPr>
        <p:spPr>
          <a:xfrm>
            <a:off x="888978" y="3009825"/>
            <a:ext cx="3568611" cy="186685"/>
          </a:xfrm>
          <a:prstGeom prst="rect">
            <a:avLst/>
          </a:prstGeom>
          <a:noFill/>
          <a:ln/>
        </p:spPr>
        <p:txBody>
          <a:bodyPr wrap="square" lIns="0" tIns="0" rIns="0" bIns="0" rtlCol="0" anchor="t"/>
          <a:lstStyle/>
          <a:p>
            <a:pPr algn="l" indent="0" marL="0">
              <a:lnSpc>
                <a:spcPts val="1470"/>
              </a:lnSpc>
              <a:buNone/>
            </a:pPr>
            <a:r>
              <a:rPr lang="en-US" sz="1050" dirty="0">
                <a:solidFill>
                  <a:srgbClr val="16233F"/>
                </a:solidFill>
                <a:latin typeface="Arial" pitchFamily="34" charset="0"/>
                <a:ea typeface="Arial" pitchFamily="34" charset="-122"/>
                <a:cs typeface="Arial" pitchFamily="34" charset="-120"/>
              </a:rPr>
              <a:t>Finish the laps first on a floating ice track.</a:t>
            </a:r>
            <a:endParaRPr lang="en-US" sz="1050" dirty="0"/>
          </a:p>
        </p:txBody>
      </p:sp>
      <p:sp>
        <p:nvSpPr>
          <p:cNvPr id="6" name="Text 6.5"/>
          <p:cNvSpPr txBox="1"/>
          <p:nvPr/>
        </p:nvSpPr>
        <p:spPr>
          <a:xfrm>
            <a:off x="888978" y="3505112"/>
            <a:ext cx="638459" cy="99058"/>
          </a:xfrm>
          <a:prstGeom prst="rect">
            <a:avLst/>
          </a:prstGeom>
          <a:noFill/>
          <a:ln/>
        </p:spPr>
        <p:txBody>
          <a:bodyPr wrap="square" lIns="0" tIns="0" rIns="0" bIns="0" rtlCol="0" anchor="t"/>
          <a:lstStyle/>
          <a:p>
            <a:pPr algn="l" indent="0" marL="0">
              <a:lnSpc>
                <a:spcPts val="780"/>
              </a:lnSpc>
              <a:buNone/>
            </a:pPr>
            <a:r>
              <a:rPr lang="en-US" sz="650" b="1" spc="78" kern="0" dirty="0">
                <a:solidFill>
                  <a:srgbClr val="1FA9EA"/>
                </a:solidFill>
                <a:latin typeface="Arial" pitchFamily="34" charset="0"/>
                <a:ea typeface="Arial" pitchFamily="34" charset="-122"/>
                <a:cs typeface="Arial" pitchFamily="34" charset="-120"/>
              </a:rPr>
              <a:t>CONTROLS</a:t>
            </a:r>
            <a:endParaRPr lang="en-US" sz="650" dirty="0"/>
          </a:p>
        </p:txBody>
      </p:sp>
      <p:sp>
        <p:nvSpPr>
          <p:cNvPr id="7" name="Text 6.6"/>
          <p:cNvSpPr txBox="1"/>
          <p:nvPr/>
        </p:nvSpPr>
        <p:spPr>
          <a:xfrm>
            <a:off x="888978" y="3670208"/>
            <a:ext cx="3568611" cy="373252"/>
          </a:xfrm>
          <a:prstGeom prst="rect">
            <a:avLst/>
          </a:prstGeom>
          <a:noFill/>
          <a:ln/>
        </p:spPr>
        <p:txBody>
          <a:bodyPr wrap="square" lIns="0" tIns="0" rIns="0" bIns="0" rtlCol="0" anchor="t"/>
          <a:lstStyle/>
          <a:p>
            <a:pPr algn="l" indent="0" marL="0">
              <a:lnSpc>
                <a:spcPts val="1470"/>
              </a:lnSpc>
              <a:buNone/>
            </a:pPr>
            <a:r>
              <a:rPr lang="en-US" sz="1050" dirty="0">
                <a:solidFill>
                  <a:srgbClr val="16233F"/>
                </a:solidFill>
                <a:latin typeface="Arial" pitchFamily="34" charset="0"/>
                <a:ea typeface="Arial" pitchFamily="34" charset="-122"/>
                <a:cs typeface="Arial" pitchFamily="34" charset="-120"/>
              </a:rPr>
              <a:t>Steering changes acceleration, not velocity. Braking restores grip.</a:t>
            </a:r>
            <a:endParaRPr lang="en-US" sz="1050" dirty="0"/>
          </a:p>
        </p:txBody>
      </p:sp>
      <p:sp>
        <p:nvSpPr>
          <p:cNvPr id="8" name="Text 6.7"/>
          <p:cNvSpPr txBox="1"/>
          <p:nvPr/>
        </p:nvSpPr>
        <p:spPr>
          <a:xfrm>
            <a:off x="888978" y="4165496"/>
            <a:ext cx="368805" cy="99058"/>
          </a:xfrm>
          <a:prstGeom prst="rect">
            <a:avLst/>
          </a:prstGeom>
          <a:noFill/>
          <a:ln/>
        </p:spPr>
        <p:txBody>
          <a:bodyPr wrap="square" lIns="0" tIns="0" rIns="0" bIns="0" rtlCol="0" anchor="t"/>
          <a:lstStyle/>
          <a:p>
            <a:pPr algn="l" indent="0" marL="0">
              <a:lnSpc>
                <a:spcPts val="780"/>
              </a:lnSpc>
              <a:buNone/>
            </a:pPr>
            <a:r>
              <a:rPr lang="en-US" sz="650" b="1" spc="78" kern="0" dirty="0">
                <a:solidFill>
                  <a:srgbClr val="1FA9EA"/>
                </a:solidFill>
                <a:latin typeface="Arial" pitchFamily="34" charset="0"/>
                <a:ea typeface="Arial" pitchFamily="34" charset="-122"/>
                <a:cs typeface="Arial" pitchFamily="34" charset="-120"/>
              </a:rPr>
              <a:t>SKILL</a:t>
            </a:r>
            <a:endParaRPr lang="en-US" sz="650" dirty="0"/>
          </a:p>
        </p:txBody>
      </p:sp>
      <p:sp>
        <p:nvSpPr>
          <p:cNvPr id="9" name="Text 6.8"/>
          <p:cNvSpPr txBox="1"/>
          <p:nvPr/>
        </p:nvSpPr>
        <p:spPr>
          <a:xfrm>
            <a:off x="888978" y="4330592"/>
            <a:ext cx="3568611" cy="373252"/>
          </a:xfrm>
          <a:prstGeom prst="rect">
            <a:avLst/>
          </a:prstGeom>
          <a:noFill/>
          <a:ln/>
        </p:spPr>
        <p:txBody>
          <a:bodyPr wrap="square" lIns="0" tIns="0" rIns="0" bIns="0" rtlCol="0" anchor="t"/>
          <a:lstStyle/>
          <a:p>
            <a:pPr algn="l" indent="0" marL="0">
              <a:lnSpc>
                <a:spcPts val="1470"/>
              </a:lnSpc>
              <a:buNone/>
            </a:pPr>
            <a:r>
              <a:rPr lang="en-US" sz="1050" dirty="0">
                <a:solidFill>
                  <a:srgbClr val="16233F"/>
                </a:solidFill>
                <a:latin typeface="Arial" pitchFamily="34" charset="0"/>
                <a:ea typeface="Arial" pitchFamily="34" charset="-122"/>
                <a:cs typeface="Arial" pitchFamily="34" charset="-120"/>
              </a:rPr>
              <a:t>Low sideways grip: carry speed through corners without sliding off.</a:t>
            </a:r>
            <a:endParaRPr lang="en-US" sz="1050" dirty="0"/>
          </a:p>
        </p:txBody>
      </p:sp>
      <p:sp>
        <p:nvSpPr>
          <p:cNvPr id="10" name="Text 6.9"/>
          <p:cNvSpPr txBox="1"/>
          <p:nvPr/>
        </p:nvSpPr>
        <p:spPr>
          <a:xfrm>
            <a:off x="888978" y="4825879"/>
            <a:ext cx="393099" cy="99058"/>
          </a:xfrm>
          <a:prstGeom prst="rect">
            <a:avLst/>
          </a:prstGeom>
          <a:noFill/>
          <a:ln/>
        </p:spPr>
        <p:txBody>
          <a:bodyPr wrap="square" lIns="0" tIns="0" rIns="0" bIns="0" rtlCol="0" anchor="t"/>
          <a:lstStyle/>
          <a:p>
            <a:pPr algn="l" indent="0" marL="0">
              <a:lnSpc>
                <a:spcPts val="780"/>
              </a:lnSpc>
              <a:buNone/>
            </a:pPr>
            <a:r>
              <a:rPr lang="en-US" sz="650" b="1" spc="78" kern="0" dirty="0">
                <a:solidFill>
                  <a:srgbClr val="1FA9EA"/>
                </a:solidFill>
                <a:latin typeface="Arial" pitchFamily="34" charset="0"/>
                <a:ea typeface="Arial" pitchFamily="34" charset="-122"/>
                <a:cs typeface="Arial" pitchFamily="34" charset="-120"/>
              </a:rPr>
              <a:t>FALLS</a:t>
            </a:r>
            <a:endParaRPr lang="en-US" sz="650" dirty="0"/>
          </a:p>
        </p:txBody>
      </p:sp>
      <p:sp>
        <p:nvSpPr>
          <p:cNvPr id="11" name="Text 6.10"/>
          <p:cNvSpPr txBox="1"/>
          <p:nvPr/>
        </p:nvSpPr>
        <p:spPr>
          <a:xfrm>
            <a:off x="888978" y="4990975"/>
            <a:ext cx="3568611" cy="186685"/>
          </a:xfrm>
          <a:prstGeom prst="rect">
            <a:avLst/>
          </a:prstGeom>
          <a:noFill/>
          <a:ln/>
        </p:spPr>
        <p:txBody>
          <a:bodyPr wrap="square" lIns="0" tIns="0" rIns="0" bIns="0" rtlCol="0" anchor="t"/>
          <a:lstStyle/>
          <a:p>
            <a:pPr algn="l" indent="0" marL="0">
              <a:lnSpc>
                <a:spcPts val="1470"/>
              </a:lnSpc>
              <a:buNone/>
            </a:pPr>
            <a:r>
              <a:rPr lang="en-US" sz="1050" dirty="0">
                <a:solidFill>
                  <a:srgbClr val="16233F"/>
                </a:solidFill>
                <a:latin typeface="Arial" pitchFamily="34" charset="0"/>
                <a:ea typeface="Arial" pitchFamily="34" charset="-122"/>
                <a:cs typeface="Arial" pitchFamily="34" charset="-120"/>
              </a:rPr>
              <a:t>Respawn at the last checkpoint. You lose time, not the race.</a:t>
            </a:r>
            <a:endParaRPr lang="en-US" sz="1050" dirty="0"/>
          </a:p>
        </p:txBody>
      </p:sp>
      <p:sp>
        <p:nvSpPr>
          <p:cNvPr id="12" name="Text 6.11"/>
          <p:cNvSpPr txBox="1"/>
          <p:nvPr/>
        </p:nvSpPr>
        <p:spPr>
          <a:xfrm>
            <a:off x="888978" y="5486263"/>
            <a:ext cx="702507" cy="99058"/>
          </a:xfrm>
          <a:prstGeom prst="rect">
            <a:avLst/>
          </a:prstGeom>
          <a:noFill/>
          <a:ln/>
        </p:spPr>
        <p:txBody>
          <a:bodyPr wrap="square" lIns="0" tIns="0" rIns="0" bIns="0" rtlCol="0" anchor="t"/>
          <a:lstStyle/>
          <a:p>
            <a:pPr algn="l" indent="0" marL="0">
              <a:lnSpc>
                <a:spcPts val="780"/>
              </a:lnSpc>
              <a:buNone/>
            </a:pPr>
            <a:r>
              <a:rPr lang="en-US" sz="650" b="1" spc="78" kern="0" dirty="0">
                <a:solidFill>
                  <a:srgbClr val="1FA9EA"/>
                </a:solidFill>
                <a:latin typeface="Arial" pitchFamily="34" charset="0"/>
                <a:ea typeface="Arial" pitchFamily="34" charset="-122"/>
                <a:cs typeface="Arial" pitchFamily="34" charset="-120"/>
              </a:rPr>
              <a:t>PLACEMENT</a:t>
            </a:r>
            <a:endParaRPr lang="en-US" sz="650" dirty="0"/>
          </a:p>
        </p:txBody>
      </p:sp>
      <p:sp>
        <p:nvSpPr>
          <p:cNvPr id="13" name="Text 6.12"/>
          <p:cNvSpPr txBox="1"/>
          <p:nvPr/>
        </p:nvSpPr>
        <p:spPr>
          <a:xfrm>
            <a:off x="888978" y="5651359"/>
            <a:ext cx="3568611" cy="186685"/>
          </a:xfrm>
          <a:prstGeom prst="rect">
            <a:avLst/>
          </a:prstGeom>
          <a:noFill/>
          <a:ln/>
        </p:spPr>
        <p:txBody>
          <a:bodyPr wrap="square" lIns="0" tIns="0" rIns="0" bIns="0" rtlCol="0" anchor="t"/>
          <a:lstStyle/>
          <a:p>
            <a:pPr algn="l" indent="0" marL="0">
              <a:lnSpc>
                <a:spcPts val="1470"/>
              </a:lnSpc>
              <a:buNone/>
            </a:pPr>
            <a:r>
              <a:rPr lang="en-US" sz="1050" dirty="0">
                <a:solidFill>
                  <a:srgbClr val="16233F"/>
                </a:solidFill>
                <a:latin typeface="Arial" pitchFamily="34" charset="0"/>
                <a:ea typeface="Arial" pitchFamily="34" charset="-122"/>
                <a:cs typeface="Arial" pitchFamily="34" charset="-120"/>
              </a:rPr>
              <a:t>Finish order. Unfinished players ranked by track progress.</a:t>
            </a:r>
            <a:endParaRPr lang="en-US" sz="1050" dirty="0"/>
          </a:p>
        </p:txBody>
      </p:sp>
      <p:sp>
        <p:nvSpPr>
          <p:cNvPr id="14" name="Text 6.13"/>
          <p:cNvSpPr txBox="1"/>
          <p:nvPr/>
        </p:nvSpPr>
        <p:spPr>
          <a:xfrm>
            <a:off x="5714857" y="6095848"/>
            <a:ext cx="5867253" cy="253994"/>
          </a:xfrm>
          <a:prstGeom prst="rect">
            <a:avLst/>
          </a:prstGeom>
          <a:noFill/>
          <a:ln/>
        </p:spPr>
        <p:txBody>
          <a:bodyPr wrap="square" lIns="0" tIns="0" rIns="0" bIns="0" rtlCol="0" anchor="ctr"/>
          <a:lstStyle/>
          <a:p>
            <a:pPr algn="ctr" indent="0" marL="0">
              <a:lnSpc>
                <a:spcPts val="750"/>
              </a:lnSpc>
              <a:buNone/>
            </a:pPr>
            <a:r>
              <a:rPr lang="en-US" sz="750" dirty="0">
                <a:solidFill>
                  <a:srgbClr val="3B4A66"/>
                </a:solidFill>
                <a:latin typeface="Arial" pitchFamily="34" charset="0"/>
                <a:ea typeface="Arial" pitchFamily="34" charset="-122"/>
                <a:cs typeface="Arial" pitchFamily="34" charset="-120"/>
              </a:rPr>
              <a:t>FIG 3 · Racing a floating ice track; the HUD is part of the render. Concept render, AI-generated.</a:t>
            </a:r>
            <a:endParaRPr lang="en-US" sz="750" dirty="0"/>
          </a:p>
        </p:txBody>
      </p:sp>
      <p:sp>
        <p:nvSpPr>
          <p:cNvPr id="15" name="Text 6.14"/>
          <p:cNvSpPr txBox="1"/>
          <p:nvPr/>
        </p:nvSpPr>
        <p:spPr>
          <a:xfrm>
            <a:off x="927077" y="355591"/>
            <a:ext cx="1266740" cy="107947"/>
          </a:xfrm>
          <a:prstGeom prst="rect">
            <a:avLst/>
          </a:prstGeom>
          <a:noFill/>
          <a:ln/>
        </p:spPr>
        <p:txBody>
          <a:bodyPr wrap="square" lIns="0" tIns="0" rIns="0" bIns="0" rtlCol="0" anchor="t"/>
          <a:lstStyle/>
          <a:p>
            <a:pPr algn="l" indent="0" marL="0">
              <a:lnSpc>
                <a:spcPts val="850"/>
              </a:lnSpc>
              <a:buNone/>
            </a:pPr>
            <a:r>
              <a:rPr lang="en-US" sz="850" b="1" spc="17" kern="0" dirty="0">
                <a:solidFill>
                  <a:srgbClr val="16233F"/>
                </a:solidFill>
                <a:latin typeface="Arial" pitchFamily="34" charset="0"/>
                <a:ea typeface="Arial" pitchFamily="34" charset="-122"/>
                <a:cs typeface="Arial" pitchFamily="34" charset="-120"/>
              </a:rPr>
              <a:t>02 · Gameplay &amp; tech</a:t>
            </a:r>
            <a:endParaRPr lang="en-US" sz="850" dirty="0"/>
          </a:p>
        </p:txBody>
      </p:sp>
      <p:sp>
        <p:nvSpPr>
          <p:cNvPr id="16" name="Text 6.15"/>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06</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23</a:t>
            </a:r>
            <a:endParaRPr lang="en-US" sz="100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7.1"/>
          <p:cNvSpPr txBox="1"/>
          <p:nvPr/>
        </p:nvSpPr>
        <p:spPr>
          <a:xfrm>
            <a:off x="609585" y="761981"/>
            <a:ext cx="11371296" cy="384038"/>
          </a:xfrm>
          <a:prstGeom prst="rect">
            <a:avLst/>
          </a:prstGeom>
          <a:noFill/>
          <a:ln/>
        </p:spPr>
        <p:txBody>
          <a:bodyPr wrap="square" lIns="0" tIns="0" rIns="0" bIns="0" rtlCol="0" anchor="t"/>
          <a:lstStyle/>
          <a:p>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One shared core; each mini-game </a:t>
            </a:r>
            <a:pPr algn="l" indent="0" marL="0">
              <a:lnSpc>
                <a:spcPts val="3020"/>
              </a:lnSpc>
              <a:buNone/>
            </a:pPr>
            <a:r>
              <a:rPr lang="en-US" sz="2700" spc="-27" kern="0" dirty="0">
                <a:solidFill>
                  <a:srgbClr val="1FA9EA"/>
                </a:solidFill>
                <a:latin typeface="Arial Rounded MT Bold" pitchFamily="34" charset="0"/>
                <a:ea typeface="Arial Rounded MT Bold" pitchFamily="34" charset="-122"/>
                <a:cs typeface="Arial Rounded MT Bold" pitchFamily="34" charset="-120"/>
              </a:rPr>
              <a:t>plugs into it</a:t>
            </a:r>
            <a:endParaRPr lang="en-US" sz="2700" dirty="0"/>
          </a:p>
        </p:txBody>
      </p:sp>
      <p:sp>
        <p:nvSpPr>
          <p:cNvPr id="3" name="Text 7.2"/>
          <p:cNvSpPr txBox="1"/>
          <p:nvPr/>
        </p:nvSpPr>
        <p:spPr>
          <a:xfrm>
            <a:off x="609585" y="1714457"/>
            <a:ext cx="703243" cy="99058"/>
          </a:xfrm>
          <a:prstGeom prst="rect">
            <a:avLst/>
          </a:prstGeom>
          <a:noFill/>
          <a:ln/>
        </p:spPr>
        <p:txBody>
          <a:bodyPr wrap="square" lIns="0" tIns="0" rIns="0" bIns="0" rtlCol="0" anchor="t"/>
          <a:lstStyle/>
          <a:p>
            <a:pPr algn="l" indent="0" marL="0">
              <a:lnSpc>
                <a:spcPts val="780"/>
              </a:lnSpc>
              <a:buNone/>
            </a:pPr>
            <a:r>
              <a:rPr lang="en-US" sz="650" b="1" spc="78" kern="0" dirty="0">
                <a:solidFill>
                  <a:srgbClr val="6E7D9A"/>
                </a:solidFill>
                <a:latin typeface="Arial" pitchFamily="34" charset="0"/>
                <a:ea typeface="Arial" pitchFamily="34" charset="-122"/>
                <a:cs typeface="Arial" pitchFamily="34" charset="-120"/>
              </a:rPr>
              <a:t>MINI-GAMES</a:t>
            </a:r>
            <a:endParaRPr lang="en-US" sz="650" dirty="0"/>
          </a:p>
        </p:txBody>
      </p:sp>
      <p:sp>
        <p:nvSpPr>
          <p:cNvPr id="4" name="Text 7.3"/>
          <p:cNvSpPr txBox="1"/>
          <p:nvPr/>
        </p:nvSpPr>
        <p:spPr>
          <a:xfrm>
            <a:off x="774681" y="2031949"/>
            <a:ext cx="2070048" cy="189860"/>
          </a:xfrm>
          <a:prstGeom prst="rect">
            <a:avLst/>
          </a:prstGeom>
          <a:noFill/>
          <a:ln/>
        </p:spPr>
        <p:txBody>
          <a:bodyPr wrap="square" lIns="0" tIns="0" rIns="0" bIns="0" rtlCol="0" anchor="t"/>
          <a:lstStyle/>
          <a:p>
            <a:pPr algn="l" indent="0" marL="0">
              <a:lnSpc>
                <a:spcPts val="1490"/>
              </a:lnSpc>
              <a:buNone/>
            </a:pPr>
            <a:r>
              <a:rPr lang="en-US" sz="1300" dirty="0">
                <a:solidFill>
                  <a:srgbClr val="FF6B1F"/>
                </a:solidFill>
                <a:latin typeface="Arial Rounded MT Bold" pitchFamily="34" charset="0"/>
                <a:ea typeface="Arial Rounded MT Bold" pitchFamily="34" charset="-122"/>
                <a:cs typeface="Arial Rounded MT Bold" pitchFamily="34" charset="-120"/>
              </a:rPr>
              <a:t>Mass Knockout</a:t>
            </a:r>
            <a:endParaRPr lang="en-US" sz="1300" dirty="0"/>
          </a:p>
        </p:txBody>
      </p:sp>
      <p:sp>
        <p:nvSpPr>
          <p:cNvPr id="5" name="Text 7.4"/>
          <p:cNvSpPr txBox="1"/>
          <p:nvPr/>
        </p:nvSpPr>
        <p:spPr>
          <a:xfrm>
            <a:off x="774681" y="2285943"/>
            <a:ext cx="1365283" cy="133347"/>
          </a:xfrm>
          <a:prstGeom prst="rect">
            <a:avLst/>
          </a:prstGeom>
          <a:noFill/>
          <a:ln/>
        </p:spPr>
        <p:txBody>
          <a:bodyPr wrap="square" lIns="0" tIns="0" rIns="0" bIns="0" rtlCol="0" anchor="t"/>
          <a:lstStyle/>
          <a:p>
            <a:pPr algn="l" indent="0" marL="0">
              <a:lnSpc>
                <a:spcPts val="1050"/>
              </a:lnSpc>
              <a:buNone/>
            </a:pPr>
            <a:r>
              <a:rPr lang="en-US" sz="750" dirty="0">
                <a:solidFill>
                  <a:srgbClr val="3B4A66"/>
                </a:solidFill>
                <a:latin typeface="Arial" pitchFamily="34" charset="0"/>
                <a:ea typeface="Arial" pitchFamily="34" charset="-122"/>
                <a:cs typeface="Arial" pitchFamily="34" charset="-120"/>
              </a:rPr>
              <a:t>mass state · spit · knockback</a:t>
            </a:r>
            <a:endParaRPr lang="en-US" sz="750" dirty="0"/>
          </a:p>
        </p:txBody>
      </p:sp>
      <p:sp>
        <p:nvSpPr>
          <p:cNvPr id="6" name="Text 7.5"/>
          <p:cNvSpPr txBox="1"/>
          <p:nvPr/>
        </p:nvSpPr>
        <p:spPr>
          <a:xfrm>
            <a:off x="3187620" y="2031949"/>
            <a:ext cx="2070048" cy="189860"/>
          </a:xfrm>
          <a:prstGeom prst="rect">
            <a:avLst/>
          </a:prstGeom>
          <a:noFill/>
          <a:ln/>
        </p:spPr>
        <p:txBody>
          <a:bodyPr wrap="square" lIns="0" tIns="0" rIns="0" bIns="0" rtlCol="0" anchor="t"/>
          <a:lstStyle/>
          <a:p>
            <a:pPr algn="l" indent="0" marL="0">
              <a:lnSpc>
                <a:spcPts val="1490"/>
              </a:lnSpc>
              <a:buNone/>
            </a:pPr>
            <a:r>
              <a:rPr lang="en-US" sz="1300" dirty="0">
                <a:solidFill>
                  <a:srgbClr val="1FA9EA"/>
                </a:solidFill>
                <a:latin typeface="Arial Rounded MT Bold" pitchFamily="34" charset="0"/>
                <a:ea typeface="Arial Rounded MT Bold" pitchFamily="34" charset="-122"/>
                <a:cs typeface="Arial Rounded MT Bold" pitchFamily="34" charset="-120"/>
              </a:rPr>
              <a:t>Ice Race</a:t>
            </a:r>
            <a:endParaRPr lang="en-US" sz="1300" dirty="0"/>
          </a:p>
        </p:txBody>
      </p:sp>
      <p:sp>
        <p:nvSpPr>
          <p:cNvPr id="7" name="Text 7.6"/>
          <p:cNvSpPr txBox="1"/>
          <p:nvPr/>
        </p:nvSpPr>
        <p:spPr>
          <a:xfrm>
            <a:off x="3187620" y="2285943"/>
            <a:ext cx="1427018" cy="133347"/>
          </a:xfrm>
          <a:prstGeom prst="rect">
            <a:avLst/>
          </a:prstGeom>
          <a:noFill/>
          <a:ln/>
        </p:spPr>
        <p:txBody>
          <a:bodyPr wrap="square" lIns="0" tIns="0" rIns="0" bIns="0" rtlCol="0" anchor="t"/>
          <a:lstStyle/>
          <a:p>
            <a:pPr algn="l" indent="0" marL="0">
              <a:lnSpc>
                <a:spcPts val="1050"/>
              </a:lnSpc>
              <a:buNone/>
            </a:pPr>
            <a:r>
              <a:rPr lang="en-US" sz="750" dirty="0">
                <a:solidFill>
                  <a:srgbClr val="3B4A66"/>
                </a:solidFill>
                <a:latin typeface="Arial" pitchFamily="34" charset="0"/>
                <a:ea typeface="Arial" pitchFamily="34" charset="-122"/>
                <a:cs typeface="Arial" pitchFamily="34" charset="-120"/>
              </a:rPr>
              <a:t>ice profile · track · checkpoints</a:t>
            </a:r>
            <a:endParaRPr lang="en-US" sz="750" dirty="0"/>
          </a:p>
        </p:txBody>
      </p:sp>
      <p:sp>
        <p:nvSpPr>
          <p:cNvPr id="8" name="Text 7.7"/>
          <p:cNvSpPr txBox="1"/>
          <p:nvPr/>
        </p:nvSpPr>
        <p:spPr>
          <a:xfrm>
            <a:off x="5600560" y="2031949"/>
            <a:ext cx="2070048" cy="189860"/>
          </a:xfrm>
          <a:prstGeom prst="rect">
            <a:avLst/>
          </a:prstGeom>
          <a:noFill/>
          <a:ln/>
        </p:spPr>
        <p:txBody>
          <a:bodyPr wrap="square" lIns="0" tIns="0" rIns="0" bIns="0" rtlCol="0" anchor="t"/>
          <a:lstStyle/>
          <a:p>
            <a:pPr algn="l" indent="0" marL="0">
              <a:lnSpc>
                <a:spcPts val="1490"/>
              </a:lnSpc>
              <a:buNone/>
            </a:pPr>
            <a:r>
              <a:rPr lang="en-US" sz="1300" dirty="0">
                <a:solidFill>
                  <a:srgbClr val="A9B6CC"/>
                </a:solidFill>
                <a:latin typeface="Arial Rounded MT Bold" pitchFamily="34" charset="0"/>
                <a:ea typeface="Arial Rounded MT Bold" pitchFamily="34" charset="-122"/>
                <a:cs typeface="Arial Rounded MT Bold" pitchFamily="34" charset="-120"/>
              </a:rPr>
              <a:t>Next mini-game</a:t>
            </a:r>
            <a:endParaRPr lang="en-US" sz="1300" dirty="0"/>
          </a:p>
        </p:txBody>
      </p:sp>
      <p:sp>
        <p:nvSpPr>
          <p:cNvPr id="9" name="Text 7.8"/>
          <p:cNvSpPr txBox="1"/>
          <p:nvPr/>
        </p:nvSpPr>
        <p:spPr>
          <a:xfrm>
            <a:off x="5600560" y="2285943"/>
            <a:ext cx="1065446" cy="133347"/>
          </a:xfrm>
          <a:prstGeom prst="rect">
            <a:avLst/>
          </a:prstGeom>
          <a:noFill/>
          <a:ln/>
        </p:spPr>
        <p:txBody>
          <a:bodyPr wrap="square" lIns="0" tIns="0" rIns="0" bIns="0" rtlCol="0" anchor="t"/>
          <a:lstStyle/>
          <a:p>
            <a:pPr algn="l" indent="0" marL="0">
              <a:lnSpc>
                <a:spcPts val="1050"/>
              </a:lnSpc>
              <a:buNone/>
            </a:pPr>
            <a:r>
              <a:rPr lang="en-US" sz="750" dirty="0">
                <a:solidFill>
                  <a:srgbClr val="3B4A66"/>
                </a:solidFill>
                <a:latin typeface="Arial" pitchFamily="34" charset="0"/>
                <a:ea typeface="Arial" pitchFamily="34" charset="-122"/>
                <a:cs typeface="Arial" pitchFamily="34" charset="-120"/>
              </a:rPr>
              <a:t>new rules + one arena</a:t>
            </a:r>
            <a:endParaRPr lang="en-US" sz="750" dirty="0"/>
          </a:p>
        </p:txBody>
      </p:sp>
      <p:sp>
        <p:nvSpPr>
          <p:cNvPr id="10" name="Text 7.9"/>
          <p:cNvSpPr txBox="1"/>
          <p:nvPr/>
        </p:nvSpPr>
        <p:spPr>
          <a:xfrm>
            <a:off x="609585" y="2768531"/>
            <a:ext cx="1244128" cy="99058"/>
          </a:xfrm>
          <a:prstGeom prst="rect">
            <a:avLst/>
          </a:prstGeom>
          <a:noFill/>
          <a:ln/>
        </p:spPr>
        <p:txBody>
          <a:bodyPr wrap="square" lIns="0" tIns="0" rIns="0" bIns="0" rtlCol="0" anchor="t"/>
          <a:lstStyle/>
          <a:p>
            <a:pPr algn="l" indent="0" marL="0">
              <a:lnSpc>
                <a:spcPts val="780"/>
              </a:lnSpc>
              <a:buNone/>
            </a:pPr>
            <a:r>
              <a:rPr lang="en-US" sz="650" b="1" spc="78" kern="0" dirty="0">
                <a:solidFill>
                  <a:srgbClr val="6E7D9A"/>
                </a:solidFill>
                <a:latin typeface="Arial" pitchFamily="34" charset="0"/>
                <a:ea typeface="Arial" pitchFamily="34" charset="-122"/>
                <a:cs typeface="Arial" pitchFamily="34" charset="-120"/>
              </a:rPr>
              <a:t>MINI-GAME CONTRACT</a:t>
            </a:r>
            <a:endParaRPr lang="en-US" sz="650" dirty="0"/>
          </a:p>
        </p:txBody>
      </p:sp>
      <p:sp>
        <p:nvSpPr>
          <p:cNvPr id="11" name="Text 7.10"/>
          <p:cNvSpPr txBox="1"/>
          <p:nvPr/>
        </p:nvSpPr>
        <p:spPr>
          <a:xfrm>
            <a:off x="609585" y="2946326"/>
            <a:ext cx="7111822" cy="419090"/>
          </a:xfrm>
          <a:prstGeom prst="rect">
            <a:avLst/>
          </a:prstGeom>
          <a:noFill/>
          <a:ln/>
        </p:spPr>
        <p:txBody>
          <a:bodyPr wrap="square" lIns="0" tIns="0" rIns="0" bIns="0" rtlCol="0" anchor="ctr"/>
          <a:lstStyle/>
          <a:p>
            <a:pPr algn="ctr" indent="0" marL="0">
              <a:lnSpc>
                <a:spcPts val="1150"/>
              </a:lnSpc>
              <a:buNone/>
            </a:pPr>
            <a:r>
              <a:rPr lang="en-US" sz="1000" b="1" dirty="0">
                <a:solidFill>
                  <a:srgbClr val="8A6200"/>
                </a:solidFill>
                <a:latin typeface="Arial" pitchFamily="34" charset="0"/>
                <a:ea typeface="Arial" pitchFamily="34" charset="-122"/>
                <a:cs typeface="Arial" pitchFamily="34" charset="-120"/>
              </a:rPr>
              <a:t>Setup(players) → Run() → Results() : placement</a:t>
            </a:r>
            <a:endParaRPr lang="en-US" sz="1000" dirty="0"/>
          </a:p>
        </p:txBody>
      </p:sp>
      <p:sp>
        <p:nvSpPr>
          <p:cNvPr id="12" name="Text 7.11"/>
          <p:cNvSpPr txBox="1"/>
          <p:nvPr/>
        </p:nvSpPr>
        <p:spPr>
          <a:xfrm>
            <a:off x="609585" y="3555911"/>
            <a:ext cx="1102676" cy="99058"/>
          </a:xfrm>
          <a:prstGeom prst="rect">
            <a:avLst/>
          </a:prstGeom>
          <a:noFill/>
          <a:ln/>
        </p:spPr>
        <p:txBody>
          <a:bodyPr wrap="square" lIns="0" tIns="0" rIns="0" bIns="0" rtlCol="0" anchor="t"/>
          <a:lstStyle/>
          <a:p>
            <a:pPr algn="l" indent="0" marL="0">
              <a:lnSpc>
                <a:spcPts val="780"/>
              </a:lnSpc>
              <a:buNone/>
            </a:pPr>
            <a:r>
              <a:rPr lang="en-US" sz="650" b="1" spc="78" kern="0" dirty="0">
                <a:solidFill>
                  <a:srgbClr val="6E7D9A"/>
                </a:solidFill>
                <a:latin typeface="Arial" pitchFamily="34" charset="0"/>
                <a:ea typeface="Arial" pitchFamily="34" charset="-122"/>
                <a:cs typeface="Arial" pitchFamily="34" charset="-120"/>
              </a:rPr>
              <a:t>SHARED GAMEPLAY</a:t>
            </a:r>
            <a:endParaRPr lang="en-US" sz="650" dirty="0"/>
          </a:p>
        </p:txBody>
      </p:sp>
      <p:sp>
        <p:nvSpPr>
          <p:cNvPr id="13" name="Text 7.12"/>
          <p:cNvSpPr txBox="1"/>
          <p:nvPr/>
        </p:nvSpPr>
        <p:spPr>
          <a:xfrm>
            <a:off x="609585" y="3733707"/>
            <a:ext cx="1142971" cy="419090"/>
          </a:xfrm>
          <a:prstGeom prst="rect">
            <a:avLst/>
          </a:prstGeom>
          <a:noFill/>
          <a:ln/>
        </p:spPr>
        <p:txBody>
          <a:bodyPr wrap="square" lIns="0" tIns="0" rIns="0" bIns="0" rtlCol="0" anchor="ctr"/>
          <a:lstStyle/>
          <a:p>
            <a:pPr algn="ctr" indent="0" marL="0">
              <a:lnSpc>
                <a:spcPts val="1150"/>
              </a:lnSpc>
              <a:buNone/>
            </a:pPr>
            <a:r>
              <a:rPr lang="en-US" sz="1000" b="1" dirty="0">
                <a:solidFill>
                  <a:srgbClr val="16233F"/>
                </a:solidFill>
                <a:latin typeface="Arial" pitchFamily="34" charset="0"/>
                <a:ea typeface="Arial" pitchFamily="34" charset="-122"/>
                <a:cs typeface="Arial" pitchFamily="34" charset="-120"/>
              </a:rPr>
              <a:t>Character</a:t>
            </a:r>
            <a:endParaRPr lang="en-US" sz="1000" dirty="0"/>
          </a:p>
        </p:txBody>
      </p:sp>
      <p:sp>
        <p:nvSpPr>
          <p:cNvPr id="14" name="Text 7.13"/>
          <p:cNvSpPr txBox="1"/>
          <p:nvPr/>
        </p:nvSpPr>
        <p:spPr>
          <a:xfrm>
            <a:off x="1854154" y="3733707"/>
            <a:ext cx="1079473" cy="419090"/>
          </a:xfrm>
          <a:prstGeom prst="rect">
            <a:avLst/>
          </a:prstGeom>
          <a:noFill/>
          <a:ln/>
        </p:spPr>
        <p:txBody>
          <a:bodyPr wrap="square" lIns="0" tIns="0" rIns="0" bIns="0" rtlCol="0" anchor="ctr"/>
          <a:lstStyle/>
          <a:p>
            <a:pPr algn="ctr" indent="0" marL="0">
              <a:lnSpc>
                <a:spcPts val="1150"/>
              </a:lnSpc>
              <a:buNone/>
            </a:pPr>
            <a:r>
              <a:rPr lang="en-US" sz="1000" b="1" dirty="0">
                <a:solidFill>
                  <a:srgbClr val="16233F"/>
                </a:solidFill>
                <a:latin typeface="Arial" pitchFamily="34" charset="0"/>
                <a:ea typeface="Arial" pitchFamily="34" charset="-122"/>
                <a:cs typeface="Arial" pitchFamily="34" charset="-120"/>
              </a:rPr>
              <a:t>Camera</a:t>
            </a:r>
            <a:endParaRPr lang="en-US" sz="1000" dirty="0"/>
          </a:p>
        </p:txBody>
      </p:sp>
      <p:sp>
        <p:nvSpPr>
          <p:cNvPr id="15" name="Text 7.14"/>
          <p:cNvSpPr txBox="1"/>
          <p:nvPr/>
        </p:nvSpPr>
        <p:spPr>
          <a:xfrm>
            <a:off x="3035224" y="3733707"/>
            <a:ext cx="1904952" cy="419090"/>
          </a:xfrm>
          <a:prstGeom prst="rect">
            <a:avLst/>
          </a:prstGeom>
          <a:noFill/>
          <a:ln/>
        </p:spPr>
        <p:txBody>
          <a:bodyPr wrap="square" lIns="0" tIns="0" rIns="0" bIns="0" rtlCol="0" anchor="ctr"/>
          <a:lstStyle/>
          <a:p>
            <a:pPr algn="ctr" indent="0" marL="0">
              <a:lnSpc>
                <a:spcPts val="1150"/>
              </a:lnSpc>
              <a:buNone/>
            </a:pPr>
            <a:r>
              <a:rPr lang="en-US" sz="1000" b="1" dirty="0">
                <a:solidFill>
                  <a:srgbClr val="16233F"/>
                </a:solidFill>
                <a:latin typeface="Arial" pitchFamily="34" charset="0"/>
                <a:ea typeface="Arial" pitchFamily="34" charset="-122"/>
                <a:cs typeface="Arial" pitchFamily="34" charset="-120"/>
              </a:rPr>
              <a:t>Round state machine</a:t>
            </a:r>
            <a:endParaRPr lang="en-US" sz="1000" dirty="0"/>
          </a:p>
        </p:txBody>
      </p:sp>
      <p:sp>
        <p:nvSpPr>
          <p:cNvPr id="16" name="Text 7.15"/>
          <p:cNvSpPr txBox="1"/>
          <p:nvPr/>
        </p:nvSpPr>
        <p:spPr>
          <a:xfrm>
            <a:off x="5041774" y="3733707"/>
            <a:ext cx="1333467" cy="419090"/>
          </a:xfrm>
          <a:prstGeom prst="rect">
            <a:avLst/>
          </a:prstGeom>
          <a:noFill/>
          <a:ln/>
        </p:spPr>
        <p:txBody>
          <a:bodyPr wrap="square" lIns="0" tIns="0" rIns="0" bIns="0" rtlCol="0" anchor="ctr"/>
          <a:lstStyle/>
          <a:p>
            <a:pPr algn="ctr" indent="0" marL="0">
              <a:lnSpc>
                <a:spcPts val="1150"/>
              </a:lnSpc>
              <a:buNone/>
            </a:pPr>
            <a:r>
              <a:rPr lang="en-US" sz="1000" b="1" dirty="0">
                <a:solidFill>
                  <a:srgbClr val="16233F"/>
                </a:solidFill>
                <a:latin typeface="Arial" pitchFamily="34" charset="0"/>
                <a:ea typeface="Arial" pitchFamily="34" charset="-122"/>
                <a:cs typeface="Arial" pitchFamily="34" charset="-120"/>
              </a:rPr>
              <a:t>Scoreboard</a:t>
            </a:r>
            <a:endParaRPr lang="en-US" sz="1000" dirty="0"/>
          </a:p>
        </p:txBody>
      </p:sp>
      <p:sp>
        <p:nvSpPr>
          <p:cNvPr id="17" name="Text 7.16"/>
          <p:cNvSpPr txBox="1"/>
          <p:nvPr/>
        </p:nvSpPr>
        <p:spPr>
          <a:xfrm>
            <a:off x="6476838" y="3733707"/>
            <a:ext cx="1244569" cy="419090"/>
          </a:xfrm>
          <a:prstGeom prst="rect">
            <a:avLst/>
          </a:prstGeom>
          <a:noFill/>
          <a:ln/>
        </p:spPr>
        <p:txBody>
          <a:bodyPr wrap="square" lIns="0" tIns="0" rIns="0" bIns="0" rtlCol="0" anchor="ctr"/>
          <a:lstStyle/>
          <a:p>
            <a:pPr algn="ctr" indent="0" marL="0">
              <a:lnSpc>
                <a:spcPts val="1150"/>
              </a:lnSpc>
              <a:buNone/>
            </a:pPr>
            <a:r>
              <a:rPr lang="en-US" sz="1000" b="1" dirty="0">
                <a:solidFill>
                  <a:srgbClr val="16233F"/>
                </a:solidFill>
                <a:latin typeface="Arial" pitchFamily="34" charset="0"/>
                <a:ea typeface="Arial" pitchFamily="34" charset="-122"/>
                <a:cs typeface="Arial" pitchFamily="34" charset="-120"/>
              </a:rPr>
              <a:t>Lobby &amp; UI</a:t>
            </a:r>
            <a:endParaRPr lang="en-US" sz="1000" dirty="0"/>
          </a:p>
        </p:txBody>
      </p:sp>
      <p:sp>
        <p:nvSpPr>
          <p:cNvPr id="18" name="Text 7.17"/>
          <p:cNvSpPr txBox="1"/>
          <p:nvPr/>
        </p:nvSpPr>
        <p:spPr>
          <a:xfrm>
            <a:off x="609585" y="4343291"/>
            <a:ext cx="589134" cy="99058"/>
          </a:xfrm>
          <a:prstGeom prst="rect">
            <a:avLst/>
          </a:prstGeom>
          <a:noFill/>
          <a:ln/>
        </p:spPr>
        <p:txBody>
          <a:bodyPr wrap="square" lIns="0" tIns="0" rIns="0" bIns="0" rtlCol="0" anchor="t"/>
          <a:lstStyle/>
          <a:p>
            <a:pPr algn="l" indent="0" marL="0">
              <a:lnSpc>
                <a:spcPts val="780"/>
              </a:lnSpc>
              <a:buNone/>
            </a:pPr>
            <a:r>
              <a:rPr lang="en-US" sz="650" b="1" spc="78" kern="0" dirty="0">
                <a:solidFill>
                  <a:srgbClr val="6E7D9A"/>
                </a:solidFill>
                <a:latin typeface="Arial" pitchFamily="34" charset="0"/>
                <a:ea typeface="Arial" pitchFamily="34" charset="-122"/>
                <a:cs typeface="Arial" pitchFamily="34" charset="-120"/>
              </a:rPr>
              <a:t>NETWORK</a:t>
            </a:r>
            <a:endParaRPr lang="en-US" sz="650" dirty="0"/>
          </a:p>
        </p:txBody>
      </p:sp>
      <p:sp>
        <p:nvSpPr>
          <p:cNvPr id="19" name="Text 7.18"/>
          <p:cNvSpPr txBox="1"/>
          <p:nvPr/>
        </p:nvSpPr>
        <p:spPr>
          <a:xfrm>
            <a:off x="609585" y="4521087"/>
            <a:ext cx="7111822" cy="419090"/>
          </a:xfrm>
          <a:prstGeom prst="rect">
            <a:avLst/>
          </a:prstGeom>
          <a:noFill/>
          <a:ln/>
        </p:spPr>
        <p:txBody>
          <a:bodyPr wrap="square" lIns="0" tIns="0" rIns="0" bIns="0" rtlCol="0" anchor="ctr"/>
          <a:lstStyle/>
          <a:p>
            <a:pPr algn="ctr" indent="0" marL="0">
              <a:lnSpc>
                <a:spcPts val="1150"/>
              </a:lnSpc>
              <a:buNone/>
            </a:pPr>
            <a:r>
              <a:rPr lang="en-US" sz="1000" b="1" dirty="0">
                <a:solidFill>
                  <a:srgbClr val="8F55F5"/>
                </a:solidFill>
                <a:latin typeface="Arial" pitchFamily="34" charset="0"/>
                <a:ea typeface="Arial" pitchFamily="34" charset="-122"/>
                <a:cs typeface="Arial" pitchFamily="34" charset="-120"/>
              </a:rPr>
              <a:t>Host-authoritative LAN · Unity Netcode for GameObjects (candidate)</a:t>
            </a:r>
            <a:endParaRPr lang="en-US" sz="1000" dirty="0"/>
          </a:p>
        </p:txBody>
      </p:sp>
      <p:sp>
        <p:nvSpPr>
          <p:cNvPr id="20" name="Text 7.19"/>
          <p:cNvSpPr txBox="1"/>
          <p:nvPr/>
        </p:nvSpPr>
        <p:spPr>
          <a:xfrm>
            <a:off x="609585" y="5130672"/>
            <a:ext cx="461985" cy="99058"/>
          </a:xfrm>
          <a:prstGeom prst="rect">
            <a:avLst/>
          </a:prstGeom>
          <a:noFill/>
          <a:ln/>
        </p:spPr>
        <p:txBody>
          <a:bodyPr wrap="square" lIns="0" tIns="0" rIns="0" bIns="0" rtlCol="0" anchor="t"/>
          <a:lstStyle/>
          <a:p>
            <a:pPr algn="l" indent="0" marL="0">
              <a:lnSpc>
                <a:spcPts val="780"/>
              </a:lnSpc>
              <a:buNone/>
            </a:pPr>
            <a:r>
              <a:rPr lang="en-US" sz="650" b="1" spc="78" kern="0" dirty="0">
                <a:solidFill>
                  <a:srgbClr val="6E7D9A"/>
                </a:solidFill>
                <a:latin typeface="Arial" pitchFamily="34" charset="0"/>
                <a:ea typeface="Arial" pitchFamily="34" charset="-122"/>
                <a:cs typeface="Arial" pitchFamily="34" charset="-120"/>
              </a:rPr>
              <a:t>ENGINE</a:t>
            </a:r>
            <a:endParaRPr lang="en-US" sz="650" dirty="0"/>
          </a:p>
        </p:txBody>
      </p:sp>
      <p:sp>
        <p:nvSpPr>
          <p:cNvPr id="21" name="Text 7.20"/>
          <p:cNvSpPr txBox="1"/>
          <p:nvPr/>
        </p:nvSpPr>
        <p:spPr>
          <a:xfrm>
            <a:off x="609585" y="5308467"/>
            <a:ext cx="7111822" cy="419090"/>
          </a:xfrm>
          <a:prstGeom prst="rect">
            <a:avLst/>
          </a:prstGeom>
          <a:noFill/>
          <a:ln/>
        </p:spPr>
        <p:txBody>
          <a:bodyPr wrap="square" lIns="0" tIns="0" rIns="0" bIns="0" rtlCol="0" anchor="ctr"/>
          <a:lstStyle/>
          <a:p>
            <a:pPr algn="ctr" indent="0" marL="0">
              <a:lnSpc>
                <a:spcPts val="1150"/>
              </a:lnSpc>
              <a:buNone/>
            </a:pPr>
            <a:r>
              <a:rPr lang="en-US" sz="1000" b="1" dirty="0">
                <a:solidFill>
                  <a:srgbClr val="6E7D9A"/>
                </a:solidFill>
                <a:latin typeface="Arial" pitchFamily="34" charset="0"/>
                <a:ea typeface="Arial" pitchFamily="34" charset="-122"/>
                <a:cs typeface="Arial" pitchFamily="34" charset="-120"/>
              </a:rPr>
              <a:t>Unity · built-in rigidbody physics</a:t>
            </a:r>
            <a:endParaRPr lang="en-US" sz="1000" dirty="0"/>
          </a:p>
        </p:txBody>
      </p:sp>
      <p:sp>
        <p:nvSpPr>
          <p:cNvPr id="22" name="Text 7.21"/>
          <p:cNvSpPr txBox="1"/>
          <p:nvPr/>
        </p:nvSpPr>
        <p:spPr>
          <a:xfrm>
            <a:off x="8407190" y="1930352"/>
            <a:ext cx="1039048"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16233F"/>
                </a:solidFill>
                <a:latin typeface="Arial" pitchFamily="34" charset="0"/>
                <a:ea typeface="Arial" pitchFamily="34" charset="-122"/>
                <a:cs typeface="Arial" pitchFamily="34" charset="-120"/>
              </a:rPr>
              <a:t>WHY THIS SPLIT</a:t>
            </a:r>
            <a:endParaRPr lang="en-US" sz="750" dirty="0"/>
          </a:p>
        </p:txBody>
      </p:sp>
      <p:sp>
        <p:nvSpPr>
          <p:cNvPr id="23" name="Text 7.22"/>
          <p:cNvSpPr txBox="1"/>
          <p:nvPr/>
        </p:nvSpPr>
        <p:spPr>
          <a:xfrm>
            <a:off x="8407190" y="2260543"/>
            <a:ext cx="634357" cy="204465"/>
          </a:xfrm>
          <a:prstGeom prst="rect">
            <a:avLst/>
          </a:prstGeom>
          <a:noFill/>
          <a:ln/>
        </p:spPr>
        <p:txBody>
          <a:bodyPr wrap="square" lIns="0" tIns="0" rIns="0" bIns="0" rtlCol="0" anchor="t"/>
          <a:lstStyle/>
          <a:p>
            <a:pPr algn="l" indent="0" marL="0">
              <a:lnSpc>
                <a:spcPts val="1610"/>
              </a:lnSpc>
              <a:buNone/>
            </a:pPr>
            <a:r>
              <a:rPr lang="en-US" sz="1400" dirty="0">
                <a:solidFill>
                  <a:srgbClr val="FF6B1F"/>
                </a:solidFill>
                <a:latin typeface="Arial Rounded MT Bold" pitchFamily="34" charset="0"/>
                <a:ea typeface="Arial Rounded MT Bold" pitchFamily="34" charset="-122"/>
                <a:cs typeface="Arial Rounded MT Bold" pitchFamily="34" charset="-120"/>
              </a:rPr>
              <a:t>Reuse</a:t>
            </a:r>
            <a:endParaRPr lang="en-US" sz="1400" dirty="0"/>
          </a:p>
        </p:txBody>
      </p:sp>
      <p:sp>
        <p:nvSpPr>
          <p:cNvPr id="24" name="Text 7.23"/>
          <p:cNvSpPr txBox="1"/>
          <p:nvPr/>
        </p:nvSpPr>
        <p:spPr>
          <a:xfrm>
            <a:off x="8407190" y="2514537"/>
            <a:ext cx="2959026" cy="579820"/>
          </a:xfrm>
          <a:prstGeom prst="rect">
            <a:avLst/>
          </a:prstGeom>
          <a:noFill/>
          <a:ln/>
        </p:spPr>
        <p:txBody>
          <a:bodyPr wrap="square" lIns="0" tIns="0" rIns="0" bIns="0" rtlCol="0" anchor="t"/>
          <a:lstStyle/>
          <a:p>
            <a:pPr algn="l" indent="0" marL="0">
              <a:lnSpc>
                <a:spcPts val="1520"/>
              </a:lnSpc>
              <a:buNone/>
            </a:pPr>
            <a:r>
              <a:rPr lang="en-US" sz="1050" dirty="0">
                <a:solidFill>
                  <a:srgbClr val="3B4A66"/>
                </a:solidFill>
                <a:latin typeface="Arial" pitchFamily="34" charset="0"/>
                <a:ea typeface="Arial" pitchFamily="34" charset="-122"/>
                <a:cs typeface="Arial" pitchFamily="34" charset="-120"/>
              </a:rPr>
              <a:t>A new mini-game is new rules plus one arena. Character, camera, network and scores already exist.</a:t>
            </a:r>
            <a:endParaRPr lang="en-US" sz="1050" dirty="0"/>
          </a:p>
        </p:txBody>
      </p:sp>
      <p:sp>
        <p:nvSpPr>
          <p:cNvPr id="25" name="Text 7.24"/>
          <p:cNvSpPr txBox="1"/>
          <p:nvPr/>
        </p:nvSpPr>
        <p:spPr>
          <a:xfrm>
            <a:off x="8407190" y="3594010"/>
            <a:ext cx="1686470" cy="204465"/>
          </a:xfrm>
          <a:prstGeom prst="rect">
            <a:avLst/>
          </a:prstGeom>
          <a:noFill/>
          <a:ln/>
        </p:spPr>
        <p:txBody>
          <a:bodyPr wrap="square" lIns="0" tIns="0" rIns="0" bIns="0" rtlCol="0" anchor="t"/>
          <a:lstStyle/>
          <a:p>
            <a:pPr algn="l" indent="0" marL="0">
              <a:lnSpc>
                <a:spcPts val="1610"/>
              </a:lnSpc>
              <a:buNone/>
            </a:pPr>
            <a:r>
              <a:rPr lang="en-US" sz="1400" dirty="0">
                <a:solidFill>
                  <a:srgbClr val="1FA9EA"/>
                </a:solidFill>
                <a:latin typeface="Arial Rounded MT Bold" pitchFamily="34" charset="0"/>
                <a:ea typeface="Arial Rounded MT Bold" pitchFamily="34" charset="-122"/>
                <a:cs typeface="Arial Rounded MT Bold" pitchFamily="34" charset="-120"/>
              </a:rPr>
              <a:t>Per-game physics</a:t>
            </a:r>
            <a:endParaRPr lang="en-US" sz="1400" dirty="0"/>
          </a:p>
        </p:txBody>
      </p:sp>
      <p:sp>
        <p:nvSpPr>
          <p:cNvPr id="26" name="Text 7.25"/>
          <p:cNvSpPr txBox="1"/>
          <p:nvPr/>
        </p:nvSpPr>
        <p:spPr>
          <a:xfrm>
            <a:off x="8407190" y="3848004"/>
            <a:ext cx="2959026" cy="386547"/>
          </a:xfrm>
          <a:prstGeom prst="rect">
            <a:avLst/>
          </a:prstGeom>
          <a:noFill/>
          <a:ln/>
        </p:spPr>
        <p:txBody>
          <a:bodyPr wrap="square" lIns="0" tIns="0" rIns="0" bIns="0" rtlCol="0" anchor="t"/>
          <a:lstStyle/>
          <a:p>
            <a:pPr algn="l" indent="0" marL="0">
              <a:lnSpc>
                <a:spcPts val="1520"/>
              </a:lnSpc>
              <a:buNone/>
            </a:pPr>
            <a:r>
              <a:rPr lang="en-US" sz="1050" dirty="0">
                <a:solidFill>
                  <a:srgbClr val="3B4A66"/>
                </a:solidFill>
                <a:latin typeface="Arial" pitchFamily="34" charset="0"/>
                <a:ea typeface="Arial" pitchFamily="34" charset="-122"/>
                <a:cs typeface="Arial" pitchFamily="34" charset="-120"/>
              </a:rPr>
              <a:t>Each mini-game sets its own profile: low grip on ice, firm grip in Knockout.</a:t>
            </a:r>
            <a:endParaRPr lang="en-US" sz="1050" dirty="0"/>
          </a:p>
        </p:txBody>
      </p:sp>
      <p:sp>
        <p:nvSpPr>
          <p:cNvPr id="27" name="Text 7.26"/>
          <p:cNvSpPr txBox="1"/>
          <p:nvPr/>
        </p:nvSpPr>
        <p:spPr>
          <a:xfrm>
            <a:off x="8407190" y="4736982"/>
            <a:ext cx="924729" cy="204465"/>
          </a:xfrm>
          <a:prstGeom prst="rect">
            <a:avLst/>
          </a:prstGeom>
          <a:noFill/>
          <a:ln/>
        </p:spPr>
        <p:txBody>
          <a:bodyPr wrap="square" lIns="0" tIns="0" rIns="0" bIns="0" rtlCol="0" anchor="t"/>
          <a:lstStyle/>
          <a:p>
            <a:pPr algn="l" indent="0" marL="0">
              <a:lnSpc>
                <a:spcPts val="1610"/>
              </a:lnSpc>
              <a:buNone/>
            </a:pPr>
            <a:r>
              <a:rPr lang="en-US" sz="1400" dirty="0">
                <a:solidFill>
                  <a:srgbClr val="43B832"/>
                </a:solidFill>
                <a:latin typeface="Arial Rounded MT Bold" pitchFamily="34" charset="0"/>
                <a:ea typeface="Arial Rounded MT Bold" pitchFamily="34" charset="-122"/>
                <a:cs typeface="Arial Rounded MT Bold" pitchFamily="34" charset="-120"/>
              </a:rPr>
              <a:t>One truth</a:t>
            </a:r>
            <a:endParaRPr lang="en-US" sz="1400" dirty="0"/>
          </a:p>
        </p:txBody>
      </p:sp>
      <p:sp>
        <p:nvSpPr>
          <p:cNvPr id="28" name="Text 7.27"/>
          <p:cNvSpPr txBox="1"/>
          <p:nvPr/>
        </p:nvSpPr>
        <p:spPr>
          <a:xfrm>
            <a:off x="8407190" y="4990975"/>
            <a:ext cx="2959026" cy="386547"/>
          </a:xfrm>
          <a:prstGeom prst="rect">
            <a:avLst/>
          </a:prstGeom>
          <a:noFill/>
          <a:ln/>
        </p:spPr>
        <p:txBody>
          <a:bodyPr wrap="square" lIns="0" tIns="0" rIns="0" bIns="0" rtlCol="0" anchor="t"/>
          <a:lstStyle/>
          <a:p>
            <a:pPr algn="l" indent="0" marL="0">
              <a:lnSpc>
                <a:spcPts val="1520"/>
              </a:lnSpc>
              <a:buNone/>
            </a:pPr>
            <a:r>
              <a:rPr lang="en-US" sz="1050" dirty="0">
                <a:solidFill>
                  <a:srgbClr val="3B4A66"/>
                </a:solidFill>
                <a:latin typeface="Arial" pitchFamily="34" charset="0"/>
                <a:ea typeface="Arial" pitchFamily="34" charset="-122"/>
                <a:cs typeface="Arial" pitchFamily="34" charset="-120"/>
              </a:rPr>
              <a:t>Everything that decides a result runs on the host, so every screen agrees.</a:t>
            </a:r>
            <a:endParaRPr lang="en-US" sz="1050" dirty="0"/>
          </a:p>
        </p:txBody>
      </p:sp>
      <p:sp>
        <p:nvSpPr>
          <p:cNvPr id="29" name="Text 7.28"/>
          <p:cNvSpPr txBox="1"/>
          <p:nvPr/>
        </p:nvSpPr>
        <p:spPr>
          <a:xfrm>
            <a:off x="927077" y="355591"/>
            <a:ext cx="1266740" cy="107947"/>
          </a:xfrm>
          <a:prstGeom prst="rect">
            <a:avLst/>
          </a:prstGeom>
          <a:noFill/>
          <a:ln/>
        </p:spPr>
        <p:txBody>
          <a:bodyPr wrap="square" lIns="0" tIns="0" rIns="0" bIns="0" rtlCol="0" anchor="t"/>
          <a:lstStyle/>
          <a:p>
            <a:pPr algn="l" indent="0" marL="0">
              <a:lnSpc>
                <a:spcPts val="850"/>
              </a:lnSpc>
              <a:buNone/>
            </a:pPr>
            <a:r>
              <a:rPr lang="en-US" sz="850" b="1" spc="17" kern="0" dirty="0">
                <a:solidFill>
                  <a:srgbClr val="16233F"/>
                </a:solidFill>
                <a:latin typeface="Arial" pitchFamily="34" charset="0"/>
                <a:ea typeface="Arial" pitchFamily="34" charset="-122"/>
                <a:cs typeface="Arial" pitchFamily="34" charset="-120"/>
              </a:rPr>
              <a:t>02 · Gameplay &amp; tech</a:t>
            </a:r>
            <a:endParaRPr lang="en-US" sz="850" dirty="0"/>
          </a:p>
        </p:txBody>
      </p:sp>
      <p:sp>
        <p:nvSpPr>
          <p:cNvPr id="30" name="Text 7.29"/>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07</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23</a:t>
            </a:r>
            <a:endParaRPr lang="en-US" sz="100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8.1"/>
          <p:cNvSpPr txBox="1"/>
          <p:nvPr/>
        </p:nvSpPr>
        <p:spPr>
          <a:xfrm>
            <a:off x="609585" y="761981"/>
            <a:ext cx="11371296" cy="384038"/>
          </a:xfrm>
          <a:prstGeom prst="rect">
            <a:avLst/>
          </a:prstGeom>
          <a:noFill/>
          <a:ln/>
        </p:spPr>
        <p:txBody>
          <a:bodyPr wrap="square" lIns="0" tIns="0" rIns="0" bIns="0" rtlCol="0" anchor="t"/>
          <a:lstStyle/>
          <a:p>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One shot over the LAN, </a:t>
            </a:r>
            <a:pPr algn="l" indent="0" marL="0">
              <a:lnSpc>
                <a:spcPts val="3020"/>
              </a:lnSpc>
              <a:buNone/>
            </a:pPr>
            <a:r>
              <a:rPr lang="en-US" sz="2700" spc="-27" kern="0" dirty="0">
                <a:solidFill>
                  <a:srgbClr val="1FA9EA"/>
                </a:solidFill>
                <a:latin typeface="Arial Rounded MT Bold" pitchFamily="34" charset="0"/>
                <a:ea typeface="Arial Rounded MT Bold" pitchFamily="34" charset="-122"/>
                <a:cs typeface="Arial Rounded MT Bold" pitchFamily="34" charset="-120"/>
              </a:rPr>
              <a:t>step by step</a:t>
            </a:r>
            <a:endParaRPr lang="en-US" sz="2700" dirty="0"/>
          </a:p>
        </p:txBody>
      </p:sp>
      <p:sp>
        <p:nvSpPr>
          <p:cNvPr id="3" name="Text 8.2"/>
          <p:cNvSpPr txBox="1"/>
          <p:nvPr/>
        </p:nvSpPr>
        <p:spPr>
          <a:xfrm>
            <a:off x="1574761" y="1777956"/>
            <a:ext cx="1562061" cy="190495"/>
          </a:xfrm>
          <a:prstGeom prst="rect">
            <a:avLst/>
          </a:prstGeom>
          <a:noFill/>
          <a:ln/>
        </p:spPr>
        <p:txBody>
          <a:bodyPr wrap="square" lIns="0" tIns="0" rIns="0" bIns="0" rtlCol="0" anchor="t"/>
          <a:lstStyle/>
          <a:p>
            <a:pPr algn="l" indent="0" marL="0">
              <a:lnSpc>
                <a:spcPts val="1500"/>
              </a:lnSpc>
              <a:buNone/>
            </a:pPr>
            <a:r>
              <a:rPr lang="en-US" sz="1500" dirty="0">
                <a:solidFill>
                  <a:srgbClr val="FF6B1F"/>
                </a:solidFill>
                <a:latin typeface="Arial Rounded MT Bold" pitchFamily="34" charset="0"/>
                <a:ea typeface="Arial Rounded MT Bold" pitchFamily="34" charset="-122"/>
                <a:cs typeface="Arial Rounded MT Bold" pitchFamily="34" charset="-120"/>
              </a:rPr>
              <a:t>Client A</a:t>
            </a:r>
            <a:endParaRPr lang="en-US" sz="1500" dirty="0"/>
          </a:p>
        </p:txBody>
      </p:sp>
      <p:sp>
        <p:nvSpPr>
          <p:cNvPr id="4" name="Text 8.3"/>
          <p:cNvSpPr txBox="1"/>
          <p:nvPr/>
        </p:nvSpPr>
        <p:spPr>
          <a:xfrm>
            <a:off x="1574761" y="2019250"/>
            <a:ext cx="1562061" cy="133347"/>
          </a:xfrm>
          <a:prstGeom prst="rect">
            <a:avLst/>
          </a:prstGeom>
          <a:noFill/>
          <a:ln/>
        </p:spPr>
        <p:txBody>
          <a:bodyPr wrap="square" lIns="0" tIns="0" rIns="0" bIns="0" rtlCol="0" anchor="t"/>
          <a:lstStyle/>
          <a:p>
            <a:pPr algn="l" indent="0" marL="0">
              <a:lnSpc>
                <a:spcPts val="1050"/>
              </a:lnSpc>
              <a:buNone/>
            </a:pPr>
            <a:r>
              <a:rPr lang="en-US" sz="750" dirty="0">
                <a:solidFill>
                  <a:srgbClr val="6E7D9A"/>
                </a:solidFill>
                <a:latin typeface="Arial" pitchFamily="34" charset="0"/>
                <a:ea typeface="Arial" pitchFamily="34" charset="-122"/>
                <a:cs typeface="Arial" pitchFamily="34" charset="-120"/>
              </a:rPr>
              <a:t>shooter</a:t>
            </a:r>
            <a:endParaRPr lang="en-US" sz="750" dirty="0"/>
          </a:p>
        </p:txBody>
      </p:sp>
      <p:sp>
        <p:nvSpPr>
          <p:cNvPr id="5" name="Text 8.4"/>
          <p:cNvSpPr txBox="1"/>
          <p:nvPr/>
        </p:nvSpPr>
        <p:spPr>
          <a:xfrm>
            <a:off x="5016375" y="1777956"/>
            <a:ext cx="2158946" cy="190495"/>
          </a:xfrm>
          <a:prstGeom prst="rect">
            <a:avLst/>
          </a:prstGeom>
          <a:noFill/>
          <a:ln/>
        </p:spPr>
        <p:txBody>
          <a:bodyPr wrap="square" lIns="0" tIns="0" rIns="0" bIns="0" rtlCol="0" anchor="t"/>
          <a:lstStyle/>
          <a:p>
            <a:pPr algn="ctr" indent="0" marL="0">
              <a:lnSpc>
                <a:spcPts val="1500"/>
              </a:lnSpc>
              <a:buNone/>
            </a:pPr>
            <a:r>
              <a:rPr lang="en-US" sz="1500" dirty="0">
                <a:solidFill>
                  <a:srgbClr val="16233F"/>
                </a:solidFill>
                <a:latin typeface="Arial Rounded MT Bold" pitchFamily="34" charset="0"/>
                <a:ea typeface="Arial Rounded MT Bold" pitchFamily="34" charset="-122"/>
                <a:cs typeface="Arial Rounded MT Bold" pitchFamily="34" charset="-120"/>
              </a:rPr>
              <a:t>Host</a:t>
            </a:r>
            <a:endParaRPr lang="en-US" sz="1500" dirty="0"/>
          </a:p>
        </p:txBody>
      </p:sp>
      <p:sp>
        <p:nvSpPr>
          <p:cNvPr id="6" name="Text 8.5"/>
          <p:cNvSpPr txBox="1"/>
          <p:nvPr/>
        </p:nvSpPr>
        <p:spPr>
          <a:xfrm>
            <a:off x="5016375" y="2019250"/>
            <a:ext cx="2158946" cy="133347"/>
          </a:xfrm>
          <a:prstGeom prst="rect">
            <a:avLst/>
          </a:prstGeom>
          <a:noFill/>
          <a:ln/>
        </p:spPr>
        <p:txBody>
          <a:bodyPr wrap="square" lIns="0" tIns="0" rIns="0" bIns="0" rtlCol="0" anchor="t"/>
          <a:lstStyle/>
          <a:p>
            <a:pPr algn="ctr" indent="0" marL="0">
              <a:lnSpc>
                <a:spcPts val="1050"/>
              </a:lnSpc>
              <a:buNone/>
            </a:pPr>
            <a:r>
              <a:rPr lang="en-US" sz="750" dirty="0">
                <a:solidFill>
                  <a:srgbClr val="6E7D9A"/>
                </a:solidFill>
                <a:latin typeface="Arial" pitchFamily="34" charset="0"/>
                <a:ea typeface="Arial" pitchFamily="34" charset="-122"/>
                <a:cs typeface="Arial" pitchFamily="34" charset="-120"/>
              </a:rPr>
              <a:t>authority: runs the physics</a:t>
            </a:r>
            <a:endParaRPr lang="en-US" sz="750" dirty="0"/>
          </a:p>
        </p:txBody>
      </p:sp>
      <p:sp>
        <p:nvSpPr>
          <p:cNvPr id="7" name="Text 8.6"/>
          <p:cNvSpPr txBox="1"/>
          <p:nvPr/>
        </p:nvSpPr>
        <p:spPr>
          <a:xfrm>
            <a:off x="9575561" y="1777956"/>
            <a:ext cx="1562061" cy="190495"/>
          </a:xfrm>
          <a:prstGeom prst="rect">
            <a:avLst/>
          </a:prstGeom>
          <a:noFill/>
          <a:ln/>
        </p:spPr>
        <p:txBody>
          <a:bodyPr wrap="square" lIns="0" tIns="0" rIns="0" bIns="0" rtlCol="0" anchor="t"/>
          <a:lstStyle/>
          <a:p>
            <a:pPr algn="l" indent="0" marL="0">
              <a:lnSpc>
                <a:spcPts val="1500"/>
              </a:lnSpc>
              <a:buNone/>
            </a:pPr>
            <a:r>
              <a:rPr lang="en-US" sz="1500" dirty="0">
                <a:solidFill>
                  <a:srgbClr val="1FA9EA"/>
                </a:solidFill>
                <a:latin typeface="Arial Rounded MT Bold" pitchFamily="34" charset="0"/>
                <a:ea typeface="Arial Rounded MT Bold" pitchFamily="34" charset="-122"/>
                <a:cs typeface="Arial Rounded MT Bold" pitchFamily="34" charset="-120"/>
              </a:rPr>
              <a:t>Client B</a:t>
            </a:r>
            <a:endParaRPr lang="en-US" sz="1500" dirty="0"/>
          </a:p>
        </p:txBody>
      </p:sp>
      <p:sp>
        <p:nvSpPr>
          <p:cNvPr id="8" name="Text 8.7"/>
          <p:cNvSpPr txBox="1"/>
          <p:nvPr/>
        </p:nvSpPr>
        <p:spPr>
          <a:xfrm>
            <a:off x="9575561" y="2019250"/>
            <a:ext cx="1562061" cy="133347"/>
          </a:xfrm>
          <a:prstGeom prst="rect">
            <a:avLst/>
          </a:prstGeom>
          <a:noFill/>
          <a:ln/>
        </p:spPr>
        <p:txBody>
          <a:bodyPr wrap="square" lIns="0" tIns="0" rIns="0" bIns="0" rtlCol="0" anchor="t"/>
          <a:lstStyle/>
          <a:p>
            <a:pPr algn="l" indent="0" marL="0">
              <a:lnSpc>
                <a:spcPts val="1050"/>
              </a:lnSpc>
              <a:buNone/>
            </a:pPr>
            <a:r>
              <a:rPr lang="en-US" sz="750" dirty="0">
                <a:solidFill>
                  <a:srgbClr val="6E7D9A"/>
                </a:solidFill>
                <a:latin typeface="Arial" pitchFamily="34" charset="0"/>
                <a:ea typeface="Arial" pitchFamily="34" charset="-122"/>
                <a:cs typeface="Arial" pitchFamily="34" charset="-120"/>
              </a:rPr>
              <a:t>target</a:t>
            </a:r>
            <a:endParaRPr lang="en-US" sz="750" dirty="0"/>
          </a:p>
        </p:txBody>
      </p:sp>
      <p:sp>
        <p:nvSpPr>
          <p:cNvPr id="9" name="Text 8.8"/>
          <p:cNvSpPr txBox="1"/>
          <p:nvPr/>
        </p:nvSpPr>
        <p:spPr>
          <a:xfrm>
            <a:off x="2355791" y="2482788"/>
            <a:ext cx="241294" cy="241294"/>
          </a:xfrm>
          <a:prstGeom prst="rect">
            <a:avLst/>
          </a:prstGeom>
          <a:noFill/>
          <a:ln/>
        </p:spPr>
        <p:txBody>
          <a:bodyPr wrap="square" lIns="0" tIns="0" rIns="0" bIns="0" rtlCol="0" anchor="ctr"/>
          <a:lstStyle/>
          <a:p>
            <a:pPr algn="ctr" indent="0" marL="0">
              <a:lnSpc>
                <a:spcPts val="950"/>
              </a:lnSpc>
              <a:buNone/>
            </a:pPr>
            <a:r>
              <a:rPr lang="en-US" sz="950" dirty="0">
                <a:solidFill>
                  <a:srgbClr val="FFFFFF"/>
                </a:solidFill>
                <a:latin typeface="Arial Rounded MT Bold" pitchFamily="34" charset="0"/>
                <a:ea typeface="Arial Rounded MT Bold" pitchFamily="34" charset="-122"/>
                <a:cs typeface="Arial Rounded MT Bold" pitchFamily="34" charset="-120"/>
              </a:rPr>
              <a:t>1</a:t>
            </a:r>
            <a:endParaRPr lang="en-US" sz="950" dirty="0"/>
          </a:p>
        </p:txBody>
      </p:sp>
      <p:sp>
        <p:nvSpPr>
          <p:cNvPr id="10" name="Text 8.9"/>
          <p:cNvSpPr txBox="1"/>
          <p:nvPr/>
        </p:nvSpPr>
        <p:spPr>
          <a:xfrm>
            <a:off x="2679633" y="2362141"/>
            <a:ext cx="1667960" cy="152396"/>
          </a:xfrm>
          <a:prstGeom prst="rect">
            <a:avLst/>
          </a:prstGeom>
          <a:noFill/>
          <a:ln/>
        </p:spPr>
        <p:txBody>
          <a:bodyPr wrap="square" lIns="0" tIns="0" rIns="0" bIns="0" rtlCol="0" anchor="t"/>
          <a:lstStyle/>
          <a:p>
            <a:pPr algn="l" indent="0" marL="0">
              <a:lnSpc>
                <a:spcPts val="1200"/>
              </a:lnSpc>
              <a:buNone/>
            </a:pPr>
            <a:r>
              <a:rPr lang="en-US" sz="1000" b="1" dirty="0">
                <a:solidFill>
                  <a:srgbClr val="16233F"/>
                </a:solidFill>
                <a:latin typeface="Arial" pitchFamily="34" charset="0"/>
                <a:ea typeface="Arial" pitchFamily="34" charset="-122"/>
                <a:cs typeface="Arial" pitchFamily="34" charset="-120"/>
              </a:rPr>
              <a:t>Fire input + aim direction</a:t>
            </a:r>
            <a:endParaRPr lang="en-US" sz="1000" dirty="0"/>
          </a:p>
        </p:txBody>
      </p:sp>
      <p:sp>
        <p:nvSpPr>
          <p:cNvPr id="11" name="Text 8.10"/>
          <p:cNvSpPr txBox="1"/>
          <p:nvPr/>
        </p:nvSpPr>
        <p:spPr>
          <a:xfrm>
            <a:off x="6305392" y="2876478"/>
            <a:ext cx="241294" cy="241294"/>
          </a:xfrm>
          <a:prstGeom prst="rect">
            <a:avLst/>
          </a:prstGeom>
          <a:noFill/>
          <a:ln/>
        </p:spPr>
        <p:txBody>
          <a:bodyPr wrap="square" lIns="0" tIns="0" rIns="0" bIns="0" rtlCol="0" anchor="ctr"/>
          <a:lstStyle/>
          <a:p>
            <a:pPr algn="ctr" indent="0" marL="0">
              <a:lnSpc>
                <a:spcPts val="950"/>
              </a:lnSpc>
              <a:buNone/>
            </a:pPr>
            <a:r>
              <a:rPr lang="en-US" sz="950" dirty="0">
                <a:solidFill>
                  <a:srgbClr val="16233F"/>
                </a:solidFill>
                <a:latin typeface="Arial Rounded MT Bold" pitchFamily="34" charset="0"/>
                <a:ea typeface="Arial Rounded MT Bold" pitchFamily="34" charset="-122"/>
                <a:cs typeface="Arial Rounded MT Bold" pitchFamily="34" charset="-120"/>
              </a:rPr>
              <a:t>2</a:t>
            </a:r>
            <a:endParaRPr lang="en-US" sz="950" dirty="0"/>
          </a:p>
        </p:txBody>
      </p:sp>
      <p:sp>
        <p:nvSpPr>
          <p:cNvPr id="12" name="Text 8.11"/>
          <p:cNvSpPr txBox="1"/>
          <p:nvPr/>
        </p:nvSpPr>
        <p:spPr>
          <a:xfrm>
            <a:off x="6629234" y="2914577"/>
            <a:ext cx="3086023" cy="165096"/>
          </a:xfrm>
          <a:prstGeom prst="rect">
            <a:avLst/>
          </a:prstGeom>
          <a:noFill/>
          <a:ln/>
        </p:spPr>
        <p:txBody>
          <a:bodyPr wrap="square" lIns="0" tIns="0" rIns="0" bIns="0" rtlCol="0" anchor="t"/>
          <a:lstStyle/>
          <a:p>
            <a:pPr algn="l" indent="0" marL="0">
              <a:lnSpc>
                <a:spcPts val="1300"/>
              </a:lnSpc>
              <a:buNone/>
            </a:pPr>
            <a:r>
              <a:rPr lang="en-US" sz="1000" dirty="0">
                <a:solidFill>
                  <a:srgbClr val="16233F"/>
                </a:solidFill>
                <a:latin typeface="Arial" pitchFamily="34" charset="0"/>
                <a:ea typeface="Arial" pitchFamily="34" charset="-122"/>
                <a:cs typeface="Arial" pitchFamily="34" charset="-120"/>
              </a:rPr>
              <a:t>Check cooldown; shrink A; spawn the glob</a:t>
            </a:r>
            <a:endParaRPr lang="en-US" sz="1000" dirty="0"/>
          </a:p>
        </p:txBody>
      </p:sp>
      <p:sp>
        <p:nvSpPr>
          <p:cNvPr id="13" name="Text 8.12"/>
          <p:cNvSpPr txBox="1"/>
          <p:nvPr/>
        </p:nvSpPr>
        <p:spPr>
          <a:xfrm>
            <a:off x="6305392" y="3384465"/>
            <a:ext cx="241294" cy="241294"/>
          </a:xfrm>
          <a:prstGeom prst="rect">
            <a:avLst/>
          </a:prstGeom>
          <a:noFill/>
          <a:ln/>
        </p:spPr>
        <p:txBody>
          <a:bodyPr wrap="square" lIns="0" tIns="0" rIns="0" bIns="0" rtlCol="0" anchor="ctr"/>
          <a:lstStyle/>
          <a:p>
            <a:pPr algn="ctr" indent="0" marL="0">
              <a:lnSpc>
                <a:spcPts val="950"/>
              </a:lnSpc>
              <a:buNone/>
            </a:pPr>
            <a:r>
              <a:rPr lang="en-US" sz="950" dirty="0">
                <a:solidFill>
                  <a:srgbClr val="16233F"/>
                </a:solidFill>
                <a:latin typeface="Arial Rounded MT Bold" pitchFamily="34" charset="0"/>
                <a:ea typeface="Arial Rounded MT Bold" pitchFamily="34" charset="-122"/>
                <a:cs typeface="Arial Rounded MT Bold" pitchFamily="34" charset="-120"/>
              </a:rPr>
              <a:t>3</a:t>
            </a:r>
            <a:endParaRPr lang="en-US" sz="950" dirty="0"/>
          </a:p>
        </p:txBody>
      </p:sp>
      <p:sp>
        <p:nvSpPr>
          <p:cNvPr id="14" name="Text 8.13"/>
          <p:cNvSpPr txBox="1"/>
          <p:nvPr/>
        </p:nvSpPr>
        <p:spPr>
          <a:xfrm>
            <a:off x="6629234" y="3422564"/>
            <a:ext cx="3086023" cy="165096"/>
          </a:xfrm>
          <a:prstGeom prst="rect">
            <a:avLst/>
          </a:prstGeom>
          <a:noFill/>
          <a:ln/>
        </p:spPr>
        <p:txBody>
          <a:bodyPr wrap="square" lIns="0" tIns="0" rIns="0" bIns="0" rtlCol="0" anchor="t"/>
          <a:lstStyle/>
          <a:p>
            <a:pPr algn="l" indent="0" marL="0">
              <a:lnSpc>
                <a:spcPts val="1300"/>
              </a:lnSpc>
              <a:buNone/>
            </a:pPr>
            <a:r>
              <a:rPr lang="en-US" sz="1000" dirty="0">
                <a:solidFill>
                  <a:srgbClr val="16233F"/>
                </a:solidFill>
                <a:latin typeface="Arial" pitchFamily="34" charset="0"/>
                <a:ea typeface="Arial" pitchFamily="34" charset="-122"/>
                <a:cs typeface="Arial" pitchFamily="34" charset="-120"/>
              </a:rPr>
              <a:t>Physics step: the glob reaches B</a:t>
            </a:r>
            <a:endParaRPr lang="en-US" sz="1000" dirty="0"/>
          </a:p>
        </p:txBody>
      </p:sp>
      <p:sp>
        <p:nvSpPr>
          <p:cNvPr id="15" name="Text 8.14"/>
          <p:cNvSpPr txBox="1"/>
          <p:nvPr/>
        </p:nvSpPr>
        <p:spPr>
          <a:xfrm>
            <a:off x="6305392" y="3892453"/>
            <a:ext cx="241294" cy="241294"/>
          </a:xfrm>
          <a:prstGeom prst="rect">
            <a:avLst/>
          </a:prstGeom>
          <a:noFill/>
          <a:ln/>
        </p:spPr>
        <p:txBody>
          <a:bodyPr wrap="square" lIns="0" tIns="0" rIns="0" bIns="0" rtlCol="0" anchor="ctr"/>
          <a:lstStyle/>
          <a:p>
            <a:pPr algn="ctr" indent="0" marL="0">
              <a:lnSpc>
                <a:spcPts val="950"/>
              </a:lnSpc>
              <a:buNone/>
            </a:pPr>
            <a:r>
              <a:rPr lang="en-US" sz="950" dirty="0">
                <a:solidFill>
                  <a:srgbClr val="16233F"/>
                </a:solidFill>
                <a:latin typeface="Arial Rounded MT Bold" pitchFamily="34" charset="0"/>
                <a:ea typeface="Arial Rounded MT Bold" pitchFamily="34" charset="-122"/>
                <a:cs typeface="Arial Rounded MT Bold" pitchFamily="34" charset="-120"/>
              </a:rPr>
              <a:t>4</a:t>
            </a:r>
            <a:endParaRPr lang="en-US" sz="950" dirty="0"/>
          </a:p>
        </p:txBody>
      </p:sp>
      <p:sp>
        <p:nvSpPr>
          <p:cNvPr id="16" name="Text 8.15"/>
          <p:cNvSpPr txBox="1"/>
          <p:nvPr/>
        </p:nvSpPr>
        <p:spPr>
          <a:xfrm>
            <a:off x="6629234" y="3930552"/>
            <a:ext cx="3086023" cy="165096"/>
          </a:xfrm>
          <a:prstGeom prst="rect">
            <a:avLst/>
          </a:prstGeom>
          <a:noFill/>
          <a:ln/>
        </p:spPr>
        <p:txBody>
          <a:bodyPr wrap="square" lIns="0" tIns="0" rIns="0" bIns="0" rtlCol="0" anchor="t"/>
          <a:lstStyle/>
          <a:p>
            <a:pPr algn="l" indent="0" marL="0">
              <a:lnSpc>
                <a:spcPts val="1300"/>
              </a:lnSpc>
              <a:buNone/>
            </a:pPr>
            <a:r>
              <a:rPr lang="en-US" sz="1000" dirty="0">
                <a:solidFill>
                  <a:srgbClr val="16233F"/>
                </a:solidFill>
                <a:latin typeface="Arial" pitchFamily="34" charset="0"/>
                <a:ea typeface="Arial" pitchFamily="34" charset="-122"/>
                <a:cs typeface="Arial" pitchFamily="34" charset="-120"/>
              </a:rPr>
              <a:t>B loses mass; push scaled by B’s new mass</a:t>
            </a:r>
            <a:endParaRPr lang="en-US" sz="1000" dirty="0"/>
          </a:p>
        </p:txBody>
      </p:sp>
      <p:sp>
        <p:nvSpPr>
          <p:cNvPr id="17" name="Text 8.16"/>
          <p:cNvSpPr txBox="1"/>
          <p:nvPr/>
        </p:nvSpPr>
        <p:spPr>
          <a:xfrm>
            <a:off x="5581510" y="4578236"/>
            <a:ext cx="241294" cy="241294"/>
          </a:xfrm>
          <a:prstGeom prst="rect">
            <a:avLst/>
          </a:prstGeom>
          <a:noFill/>
          <a:ln/>
        </p:spPr>
        <p:txBody>
          <a:bodyPr wrap="square" lIns="0" tIns="0" rIns="0" bIns="0" rtlCol="0" anchor="ctr"/>
          <a:lstStyle/>
          <a:p>
            <a:pPr algn="ctr" indent="0" marL="0">
              <a:lnSpc>
                <a:spcPts val="950"/>
              </a:lnSpc>
              <a:buNone/>
            </a:pPr>
            <a:r>
              <a:rPr lang="en-US" sz="950" dirty="0">
                <a:solidFill>
                  <a:srgbClr val="FFFFFF"/>
                </a:solidFill>
                <a:latin typeface="Arial Rounded MT Bold" pitchFamily="34" charset="0"/>
                <a:ea typeface="Arial Rounded MT Bold" pitchFamily="34" charset="-122"/>
                <a:cs typeface="Arial Rounded MT Bold" pitchFamily="34" charset="-120"/>
              </a:rPr>
              <a:t>5</a:t>
            </a:r>
            <a:endParaRPr lang="en-US" sz="950" dirty="0"/>
          </a:p>
        </p:txBody>
      </p:sp>
      <p:sp>
        <p:nvSpPr>
          <p:cNvPr id="18" name="Text 8.17"/>
          <p:cNvSpPr txBox="1"/>
          <p:nvPr/>
        </p:nvSpPr>
        <p:spPr>
          <a:xfrm>
            <a:off x="6368891" y="4578236"/>
            <a:ext cx="241294" cy="241294"/>
          </a:xfrm>
          <a:prstGeom prst="rect">
            <a:avLst/>
          </a:prstGeom>
          <a:noFill/>
          <a:ln/>
        </p:spPr>
        <p:txBody>
          <a:bodyPr wrap="square" lIns="0" tIns="0" rIns="0" bIns="0" rtlCol="0" anchor="ctr"/>
          <a:lstStyle/>
          <a:p>
            <a:pPr algn="ctr" indent="0" marL="0">
              <a:lnSpc>
                <a:spcPts val="950"/>
              </a:lnSpc>
              <a:buNone/>
            </a:pPr>
            <a:r>
              <a:rPr lang="en-US" sz="950" dirty="0">
                <a:solidFill>
                  <a:srgbClr val="FFFFFF"/>
                </a:solidFill>
                <a:latin typeface="Arial Rounded MT Bold" pitchFamily="34" charset="0"/>
                <a:ea typeface="Arial Rounded MT Bold" pitchFamily="34" charset="-122"/>
                <a:cs typeface="Arial Rounded MT Bold" pitchFamily="34" charset="-120"/>
              </a:rPr>
              <a:t>5</a:t>
            </a:r>
            <a:endParaRPr lang="en-US" sz="950" dirty="0"/>
          </a:p>
        </p:txBody>
      </p:sp>
      <p:sp>
        <p:nvSpPr>
          <p:cNvPr id="19" name="Text 8.18"/>
          <p:cNvSpPr txBox="1"/>
          <p:nvPr/>
        </p:nvSpPr>
        <p:spPr>
          <a:xfrm>
            <a:off x="2349441" y="4457589"/>
            <a:ext cx="3340016" cy="152396"/>
          </a:xfrm>
          <a:prstGeom prst="rect">
            <a:avLst/>
          </a:prstGeom>
          <a:noFill/>
          <a:ln/>
        </p:spPr>
        <p:txBody>
          <a:bodyPr wrap="square" lIns="0" tIns="0" rIns="0" bIns="0" rtlCol="0" anchor="t"/>
          <a:lstStyle/>
          <a:p>
            <a:pPr algn="l" indent="0" marL="0">
              <a:lnSpc>
                <a:spcPts val="1200"/>
              </a:lnSpc>
              <a:buNone/>
            </a:pPr>
            <a:r>
              <a:rPr lang="en-US" sz="1000" b="1" dirty="0">
                <a:solidFill>
                  <a:srgbClr val="16233F"/>
                </a:solidFill>
                <a:latin typeface="Arial" pitchFamily="34" charset="0"/>
                <a:ea typeface="Arial" pitchFamily="34" charset="-122"/>
                <a:cs typeface="Arial" pitchFamily="34" charset="-120"/>
              </a:rPr>
              <a:t>Snapshot: positions, sizes, scores</a:t>
            </a:r>
            <a:endParaRPr lang="en-US" sz="1000" dirty="0"/>
          </a:p>
        </p:txBody>
      </p:sp>
      <p:sp>
        <p:nvSpPr>
          <p:cNvPr id="20" name="Text 8.19"/>
          <p:cNvSpPr txBox="1"/>
          <p:nvPr/>
        </p:nvSpPr>
        <p:spPr>
          <a:xfrm>
            <a:off x="6743531" y="4457589"/>
            <a:ext cx="3340016" cy="152396"/>
          </a:xfrm>
          <a:prstGeom prst="rect">
            <a:avLst/>
          </a:prstGeom>
          <a:noFill/>
          <a:ln/>
        </p:spPr>
        <p:txBody>
          <a:bodyPr wrap="square" lIns="0" tIns="0" rIns="0" bIns="0" rtlCol="0" anchor="t"/>
          <a:lstStyle/>
          <a:p>
            <a:pPr algn="l" indent="0" marL="0">
              <a:lnSpc>
                <a:spcPts val="1200"/>
              </a:lnSpc>
              <a:buNone/>
            </a:pPr>
            <a:r>
              <a:rPr lang="en-US" sz="1000" b="1" dirty="0">
                <a:solidFill>
                  <a:srgbClr val="16233F"/>
                </a:solidFill>
                <a:latin typeface="Arial" pitchFamily="34" charset="0"/>
                <a:ea typeface="Arial" pitchFamily="34" charset="-122"/>
                <a:cs typeface="Arial" pitchFamily="34" charset="-120"/>
              </a:rPr>
              <a:t>Same snapshot to every client</a:t>
            </a:r>
            <a:endParaRPr lang="en-US" sz="1000" dirty="0"/>
          </a:p>
        </p:txBody>
      </p:sp>
      <p:sp>
        <p:nvSpPr>
          <p:cNvPr id="21" name="Text 8.20"/>
          <p:cNvSpPr txBox="1"/>
          <p:nvPr/>
        </p:nvSpPr>
        <p:spPr>
          <a:xfrm>
            <a:off x="1974801" y="5035424"/>
            <a:ext cx="241294" cy="241294"/>
          </a:xfrm>
          <a:prstGeom prst="rect">
            <a:avLst/>
          </a:prstGeom>
          <a:noFill/>
          <a:ln/>
        </p:spPr>
        <p:txBody>
          <a:bodyPr wrap="square" lIns="0" tIns="0" rIns="0" bIns="0" rtlCol="0" anchor="ctr"/>
          <a:lstStyle/>
          <a:p>
            <a:pPr algn="ctr" indent="0" marL="0">
              <a:lnSpc>
                <a:spcPts val="950"/>
              </a:lnSpc>
              <a:buNone/>
            </a:pPr>
            <a:r>
              <a:rPr lang="en-US" sz="950" dirty="0">
                <a:solidFill>
                  <a:srgbClr val="16233F"/>
                </a:solidFill>
                <a:latin typeface="Arial Rounded MT Bold" pitchFamily="34" charset="0"/>
                <a:ea typeface="Arial Rounded MT Bold" pitchFamily="34" charset="-122"/>
                <a:cs typeface="Arial Rounded MT Bold" pitchFamily="34" charset="-120"/>
              </a:rPr>
              <a:t>6</a:t>
            </a:r>
            <a:endParaRPr lang="en-US" sz="950" dirty="0"/>
          </a:p>
        </p:txBody>
      </p:sp>
      <p:sp>
        <p:nvSpPr>
          <p:cNvPr id="22" name="Text 8.21"/>
          <p:cNvSpPr txBox="1"/>
          <p:nvPr/>
        </p:nvSpPr>
        <p:spPr>
          <a:xfrm>
            <a:off x="9975601" y="5035424"/>
            <a:ext cx="241294" cy="241294"/>
          </a:xfrm>
          <a:prstGeom prst="rect">
            <a:avLst/>
          </a:prstGeom>
          <a:noFill/>
          <a:ln/>
        </p:spPr>
        <p:txBody>
          <a:bodyPr wrap="square" lIns="0" tIns="0" rIns="0" bIns="0" rtlCol="0" anchor="ctr"/>
          <a:lstStyle/>
          <a:p>
            <a:pPr algn="ctr" indent="0" marL="0">
              <a:lnSpc>
                <a:spcPts val="950"/>
              </a:lnSpc>
              <a:buNone/>
            </a:pPr>
            <a:r>
              <a:rPr lang="en-US" sz="950" dirty="0">
                <a:solidFill>
                  <a:srgbClr val="16233F"/>
                </a:solidFill>
                <a:latin typeface="Arial Rounded MT Bold" pitchFamily="34" charset="0"/>
                <a:ea typeface="Arial Rounded MT Bold" pitchFamily="34" charset="-122"/>
                <a:cs typeface="Arial Rounded MT Bold" pitchFamily="34" charset="-120"/>
              </a:rPr>
              <a:t>6</a:t>
            </a:r>
            <a:endParaRPr lang="en-US" sz="950" dirty="0"/>
          </a:p>
        </p:txBody>
      </p:sp>
      <p:sp>
        <p:nvSpPr>
          <p:cNvPr id="23" name="Text 8.22"/>
          <p:cNvSpPr txBox="1"/>
          <p:nvPr/>
        </p:nvSpPr>
        <p:spPr>
          <a:xfrm>
            <a:off x="2324042" y="5073523"/>
            <a:ext cx="3594010" cy="165096"/>
          </a:xfrm>
          <a:prstGeom prst="rect">
            <a:avLst/>
          </a:prstGeom>
          <a:noFill/>
          <a:ln/>
        </p:spPr>
        <p:txBody>
          <a:bodyPr wrap="square" lIns="0" tIns="0" rIns="0" bIns="0" rtlCol="0" anchor="t"/>
          <a:lstStyle/>
          <a:p>
            <a:pPr algn="l" indent="0" marL="0">
              <a:lnSpc>
                <a:spcPts val="1300"/>
              </a:lnSpc>
              <a:buNone/>
            </a:pPr>
            <a:r>
              <a:rPr lang="en-US" sz="1000" dirty="0">
                <a:solidFill>
                  <a:srgbClr val="3B4A66"/>
                </a:solidFill>
                <a:latin typeface="Arial" pitchFamily="34" charset="0"/>
                <a:ea typeface="Arial" pitchFamily="34" charset="-122"/>
                <a:cs typeface="Arial" pitchFamily="34" charset="-120"/>
              </a:rPr>
              <a:t>Clients interpolate between snapshots and draw.</a:t>
            </a:r>
            <a:endParaRPr lang="en-US" sz="1000" dirty="0"/>
          </a:p>
        </p:txBody>
      </p:sp>
      <p:sp>
        <p:nvSpPr>
          <p:cNvPr id="24" name="Text 8.23"/>
          <p:cNvSpPr txBox="1"/>
          <p:nvPr/>
        </p:nvSpPr>
        <p:spPr>
          <a:xfrm>
            <a:off x="863578" y="5727557"/>
            <a:ext cx="10515337" cy="386547"/>
          </a:xfrm>
          <a:prstGeom prst="rect">
            <a:avLst/>
          </a:prstGeom>
          <a:noFill/>
          <a:ln/>
        </p:spPr>
        <p:txBody>
          <a:bodyPr wrap="square" lIns="0" tIns="0" rIns="0" bIns="0" rtlCol="0" anchor="t"/>
          <a:lstStyle/>
          <a:p>
            <a:pPr algn="l" indent="0" marL="0">
              <a:lnSpc>
                <a:spcPts val="1520"/>
              </a:lnSpc>
              <a:buNone/>
            </a:pPr>
            <a:r>
              <a:rPr lang="en-US" sz="1050" b="1" dirty="0">
                <a:solidFill>
                  <a:srgbClr val="16233F"/>
                </a:solidFill>
                <a:latin typeface="Arial" pitchFamily="34" charset="0"/>
                <a:ea typeface="Arial" pitchFamily="34" charset="-122"/>
                <a:cs typeface="Arial" pitchFamily="34" charset="-120"/>
              </a:rPr>
              <a:t>Your own movement is predicted locally, so it feels instant.</a:t>
            </a:r>
            <a:pPr algn="l" indent="0" marL="0">
              <a:lnSpc>
                <a:spcPts val="1520"/>
              </a:lnSpc>
              <a:buNone/>
            </a:pPr>
            <a:r>
              <a:rPr lang="en-US" sz="1050" dirty="0">
                <a:solidFill>
                  <a:srgbClr val="3B4A66"/>
                </a:solidFill>
                <a:latin typeface="Arial" pitchFamily="34" charset="0"/>
                <a:ea typeface="Arial" pitchFamily="34" charset="-122"/>
                <a:cs typeface="Arial" pitchFamily="34" charset="-120"/>
              </a:rPr>
              <a:t> Hits, mass changes and knockouts are decided only on the host. </a:t>
            </a:r>
            <a:pPr algn="l" indent="0" marL="0">
              <a:lnSpc>
                <a:spcPts val="1520"/>
              </a:lnSpc>
              <a:buNone/>
            </a:pPr>
            <a:r>
              <a:rPr lang="en-US" sz="1050" b="1" dirty="0">
                <a:solidFill>
                  <a:srgbClr val="FF6B1F"/>
                </a:solidFill>
                <a:latin typeface="Arial" pitchFamily="34" charset="0"/>
                <a:ea typeface="Arial" pitchFamily="34" charset="-122"/>
                <a:cs typeface="Arial" pitchFamily="34" charset="-120"/>
              </a:rPr>
              <a:t>Main risk:</a:t>
            </a:r>
            <a:pPr algn="l" indent="0" marL="0">
              <a:lnSpc>
                <a:spcPts val="1520"/>
              </a:lnSpc>
              <a:buNone/>
            </a:pPr>
            <a:r>
              <a:rPr lang="en-US" sz="1050" dirty="0">
                <a:solidFill>
                  <a:srgbClr val="3B4A66"/>
                </a:solidFill>
                <a:latin typeface="Arial" pitchFamily="34" charset="0"/>
                <a:ea typeface="Arial" pitchFamily="34" charset="-122"/>
                <a:cs typeface="Arial" pitchFamily="34" charset="-120"/>
              </a:rPr>
              <a:t> keeping physics smooth on clients. LAN latency is low, and we tune the snapshot rate.</a:t>
            </a:r>
            <a:endParaRPr lang="en-US" sz="1050" dirty="0"/>
          </a:p>
        </p:txBody>
      </p:sp>
      <p:sp>
        <p:nvSpPr>
          <p:cNvPr id="25" name="Text 8.24"/>
          <p:cNvSpPr txBox="1"/>
          <p:nvPr/>
        </p:nvSpPr>
        <p:spPr>
          <a:xfrm>
            <a:off x="927077" y="355591"/>
            <a:ext cx="1266740" cy="107947"/>
          </a:xfrm>
          <a:prstGeom prst="rect">
            <a:avLst/>
          </a:prstGeom>
          <a:noFill/>
          <a:ln/>
        </p:spPr>
        <p:txBody>
          <a:bodyPr wrap="square" lIns="0" tIns="0" rIns="0" bIns="0" rtlCol="0" anchor="t"/>
          <a:lstStyle/>
          <a:p>
            <a:pPr algn="l" indent="0" marL="0">
              <a:lnSpc>
                <a:spcPts val="850"/>
              </a:lnSpc>
              <a:buNone/>
            </a:pPr>
            <a:r>
              <a:rPr lang="en-US" sz="850" b="1" spc="17" kern="0" dirty="0">
                <a:solidFill>
                  <a:srgbClr val="16233F"/>
                </a:solidFill>
                <a:latin typeface="Arial" pitchFamily="34" charset="0"/>
                <a:ea typeface="Arial" pitchFamily="34" charset="-122"/>
                <a:cs typeface="Arial" pitchFamily="34" charset="-120"/>
              </a:rPr>
              <a:t>02 · Gameplay &amp; tech</a:t>
            </a:r>
            <a:endParaRPr lang="en-US" sz="850" dirty="0"/>
          </a:p>
        </p:txBody>
      </p:sp>
      <p:sp>
        <p:nvSpPr>
          <p:cNvPr id="26" name="Text 8.25"/>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08</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23</a:t>
            </a:r>
            <a:endParaRPr lang="en-US" sz="100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9.1"/>
          <p:cNvSpPr txBox="1"/>
          <p:nvPr/>
        </p:nvSpPr>
        <p:spPr>
          <a:xfrm>
            <a:off x="609585" y="761981"/>
            <a:ext cx="11371296" cy="384038"/>
          </a:xfrm>
          <a:prstGeom prst="rect">
            <a:avLst/>
          </a:prstGeom>
          <a:noFill/>
          <a:ln/>
        </p:spPr>
        <p:txBody>
          <a:bodyPr wrap="square" lIns="0" tIns="0" rIns="0" bIns="0" rtlCol="0" anchor="t"/>
          <a:lstStyle/>
          <a:p>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Social PC play is growing; </a:t>
            </a:r>
            <a:pPr algn="l" indent="0" marL="0">
              <a:lnSpc>
                <a:spcPts val="3020"/>
              </a:lnSpc>
              <a:buNone/>
            </a:pPr>
            <a:r>
              <a:rPr lang="en-US" sz="2700" spc="-27" kern="0" dirty="0">
                <a:solidFill>
                  <a:srgbClr val="8F55F5"/>
                </a:solidFill>
                <a:latin typeface="Arial Rounded MT Bold" pitchFamily="34" charset="0"/>
                <a:ea typeface="Arial Rounded MT Bold" pitchFamily="34" charset="-122"/>
                <a:cs typeface="Arial Rounded MT Bold" pitchFamily="34" charset="-120"/>
              </a:rPr>
              <a:t>LAN party games are rare</a:t>
            </a:r>
            <a:endParaRPr lang="en-US" sz="2700" dirty="0"/>
          </a:p>
        </p:txBody>
      </p:sp>
      <p:sp>
        <p:nvSpPr>
          <p:cNvPr id="3" name="Text 9.2"/>
          <p:cNvSpPr txBox="1"/>
          <p:nvPr/>
        </p:nvSpPr>
        <p:spPr>
          <a:xfrm>
            <a:off x="812780" y="1930352"/>
            <a:ext cx="1991040" cy="533387"/>
          </a:xfrm>
          <a:prstGeom prst="rect">
            <a:avLst/>
          </a:prstGeom>
          <a:noFill/>
          <a:ln/>
        </p:spPr>
        <p:txBody>
          <a:bodyPr wrap="square" lIns="0" tIns="0" rIns="0" bIns="0" rtlCol="0" anchor="t"/>
          <a:lstStyle/>
          <a:p>
            <a:pPr algn="l" indent="0" marL="0">
              <a:lnSpc>
                <a:spcPts val="4200"/>
              </a:lnSpc>
              <a:buNone/>
            </a:pPr>
            <a:r>
              <a:rPr lang="en-US" sz="4200" dirty="0">
                <a:solidFill>
                  <a:srgbClr val="1FA9EA"/>
                </a:solidFill>
                <a:latin typeface="Arial Rounded MT Bold" pitchFamily="34" charset="0"/>
                <a:ea typeface="Arial Rounded MT Bold" pitchFamily="34" charset="-122"/>
                <a:cs typeface="Arial Rounded MT Bold" pitchFamily="34" charset="-120"/>
              </a:rPr>
              <a:t>$43.6B</a:t>
            </a:r>
            <a:endParaRPr lang="en-US" sz="4200" dirty="0"/>
          </a:p>
        </p:txBody>
      </p:sp>
      <p:sp>
        <p:nvSpPr>
          <p:cNvPr id="4" name="Text 9.3"/>
          <p:cNvSpPr txBox="1"/>
          <p:nvPr/>
        </p:nvSpPr>
        <p:spPr>
          <a:xfrm>
            <a:off x="812780" y="2578036"/>
            <a:ext cx="2603435" cy="350432"/>
          </a:xfrm>
          <a:prstGeom prst="rect">
            <a:avLst/>
          </a:prstGeom>
          <a:noFill/>
          <a:ln/>
        </p:spPr>
        <p:txBody>
          <a:bodyPr wrap="square" lIns="0" tIns="0" rIns="0" bIns="0" rtlCol="0" anchor="t"/>
          <a:lstStyle/>
          <a:p>
            <a:pPr algn="l" indent="0" marL="0">
              <a:lnSpc>
                <a:spcPts val="1380"/>
              </a:lnSpc>
              <a:buNone/>
            </a:pPr>
            <a:r>
              <a:rPr lang="en-US" sz="1000" dirty="0">
                <a:solidFill>
                  <a:srgbClr val="3B4A66"/>
                </a:solidFill>
                <a:latin typeface="Arial" pitchFamily="34" charset="0"/>
                <a:ea typeface="Arial" pitchFamily="34" charset="-122"/>
                <a:cs typeface="Arial" pitchFamily="34" charset="-120"/>
              </a:rPr>
              <a:t>PC games revenue in 2025, up 12% year on year.</a:t>
            </a:r>
            <a:endParaRPr lang="en-US" sz="1000" dirty="0"/>
          </a:p>
        </p:txBody>
      </p:sp>
      <p:sp>
        <p:nvSpPr>
          <p:cNvPr id="5" name="Text 9.4"/>
          <p:cNvSpPr txBox="1"/>
          <p:nvPr/>
        </p:nvSpPr>
        <p:spPr>
          <a:xfrm>
            <a:off x="812780" y="3047924"/>
            <a:ext cx="568626" cy="133347"/>
          </a:xfrm>
          <a:prstGeom prst="rect">
            <a:avLst/>
          </a:prstGeom>
          <a:noFill/>
          <a:ln/>
        </p:spPr>
        <p:txBody>
          <a:bodyPr wrap="square" lIns="0" tIns="0" rIns="0" bIns="0" rtlCol="0" anchor="t"/>
          <a:lstStyle/>
          <a:p>
            <a:pPr algn="l" indent="0" marL="0">
              <a:lnSpc>
                <a:spcPts val="1050"/>
              </a:lnSpc>
              <a:buNone/>
            </a:pPr>
            <a:r>
              <a:rPr lang="en-US" sz="750" dirty="0">
                <a:solidFill>
                  <a:srgbClr val="6E7D9A"/>
                </a:solidFill>
                <a:latin typeface="Arial" pitchFamily="34" charset="0"/>
                <a:ea typeface="Arial" pitchFamily="34" charset="-122"/>
                <a:cs typeface="Arial" pitchFamily="34" charset="-120"/>
              </a:rPr>
              <a:t>Newzoo [1]</a:t>
            </a:r>
            <a:endParaRPr lang="en-US" sz="750" dirty="0"/>
          </a:p>
        </p:txBody>
      </p:sp>
      <p:sp>
        <p:nvSpPr>
          <p:cNvPr id="6" name="Text 9.5"/>
          <p:cNvSpPr txBox="1"/>
          <p:nvPr/>
        </p:nvSpPr>
        <p:spPr>
          <a:xfrm>
            <a:off x="3936902" y="1930352"/>
            <a:ext cx="1655130" cy="533387"/>
          </a:xfrm>
          <a:prstGeom prst="rect">
            <a:avLst/>
          </a:prstGeom>
          <a:noFill/>
          <a:ln/>
        </p:spPr>
        <p:txBody>
          <a:bodyPr wrap="square" lIns="0" tIns="0" rIns="0" bIns="0" rtlCol="0" anchor="t"/>
          <a:lstStyle/>
          <a:p>
            <a:pPr algn="l" indent="0" marL="0">
              <a:lnSpc>
                <a:spcPts val="4200"/>
              </a:lnSpc>
              <a:buNone/>
            </a:pPr>
            <a:r>
              <a:rPr lang="en-US" sz="4200" dirty="0">
                <a:solidFill>
                  <a:srgbClr val="43B832"/>
                </a:solidFill>
                <a:latin typeface="Arial Rounded MT Bold" pitchFamily="34" charset="0"/>
                <a:ea typeface="Arial Rounded MT Bold" pitchFamily="34" charset="-122"/>
                <a:cs typeface="Arial Rounded MT Bold" pitchFamily="34" charset="-120"/>
              </a:rPr>
              <a:t>$4.1B</a:t>
            </a:r>
            <a:endParaRPr lang="en-US" sz="4200" dirty="0"/>
          </a:p>
        </p:txBody>
      </p:sp>
      <p:sp>
        <p:nvSpPr>
          <p:cNvPr id="7" name="Text 9.6"/>
          <p:cNvSpPr txBox="1"/>
          <p:nvPr/>
        </p:nvSpPr>
        <p:spPr>
          <a:xfrm>
            <a:off x="3936902" y="2578036"/>
            <a:ext cx="2603435" cy="350432"/>
          </a:xfrm>
          <a:prstGeom prst="rect">
            <a:avLst/>
          </a:prstGeom>
          <a:noFill/>
          <a:ln/>
        </p:spPr>
        <p:txBody>
          <a:bodyPr wrap="square" lIns="0" tIns="0" rIns="0" bIns="0" rtlCol="0" anchor="t"/>
          <a:lstStyle/>
          <a:p>
            <a:pPr algn="l" indent="0" marL="0">
              <a:lnSpc>
                <a:spcPts val="1380"/>
              </a:lnSpc>
              <a:buNone/>
            </a:pPr>
            <a:r>
              <a:rPr lang="en-US" sz="1000" dirty="0">
                <a:solidFill>
                  <a:srgbClr val="3B4A66"/>
                </a:solidFill>
                <a:latin typeface="Arial" pitchFamily="34" charset="0"/>
                <a:ea typeface="Arial" pitchFamily="34" charset="-122"/>
                <a:cs typeface="Arial" pitchFamily="34" charset="-120"/>
              </a:rPr>
              <a:t>Steam revenue of games with co-op in H1 2025, an all-time high (estimate).</a:t>
            </a:r>
            <a:endParaRPr lang="en-US" sz="1000" dirty="0"/>
          </a:p>
        </p:txBody>
      </p:sp>
      <p:sp>
        <p:nvSpPr>
          <p:cNvPr id="8" name="Text 9.7"/>
          <p:cNvSpPr txBox="1"/>
          <p:nvPr/>
        </p:nvSpPr>
        <p:spPr>
          <a:xfrm>
            <a:off x="3936902" y="3047924"/>
            <a:ext cx="484491" cy="133347"/>
          </a:xfrm>
          <a:prstGeom prst="rect">
            <a:avLst/>
          </a:prstGeom>
          <a:noFill/>
          <a:ln/>
        </p:spPr>
        <p:txBody>
          <a:bodyPr wrap="square" lIns="0" tIns="0" rIns="0" bIns="0" rtlCol="0" anchor="t"/>
          <a:lstStyle/>
          <a:p>
            <a:pPr algn="l" indent="0" marL="0">
              <a:lnSpc>
                <a:spcPts val="1050"/>
              </a:lnSpc>
              <a:buNone/>
            </a:pPr>
            <a:r>
              <a:rPr lang="en-US" sz="750" dirty="0">
                <a:solidFill>
                  <a:srgbClr val="6E7D9A"/>
                </a:solidFill>
                <a:latin typeface="Arial" pitchFamily="34" charset="0"/>
                <a:ea typeface="Arial" pitchFamily="34" charset="-122"/>
                <a:cs typeface="Arial" pitchFamily="34" charset="-120"/>
              </a:rPr>
              <a:t>Alinea [2]</a:t>
            </a:r>
            <a:endParaRPr lang="en-US" sz="750" dirty="0"/>
          </a:p>
        </p:txBody>
      </p:sp>
      <p:sp>
        <p:nvSpPr>
          <p:cNvPr id="9" name="Text 9.8"/>
          <p:cNvSpPr txBox="1"/>
          <p:nvPr/>
        </p:nvSpPr>
        <p:spPr>
          <a:xfrm>
            <a:off x="812780" y="3708307"/>
            <a:ext cx="1218362" cy="533387"/>
          </a:xfrm>
          <a:prstGeom prst="rect">
            <a:avLst/>
          </a:prstGeom>
          <a:noFill/>
          <a:ln/>
        </p:spPr>
        <p:txBody>
          <a:bodyPr wrap="square" lIns="0" tIns="0" rIns="0" bIns="0" rtlCol="0" anchor="t"/>
          <a:lstStyle/>
          <a:p>
            <a:pPr algn="l" indent="0" marL="0">
              <a:lnSpc>
                <a:spcPts val="4200"/>
              </a:lnSpc>
              <a:buNone/>
            </a:pPr>
            <a:r>
              <a:rPr lang="en-US" sz="4200" dirty="0">
                <a:solidFill>
                  <a:srgbClr val="8F55F5"/>
                </a:solidFill>
                <a:latin typeface="Arial Rounded MT Bold" pitchFamily="34" charset="0"/>
                <a:ea typeface="Arial Rounded MT Bold" pitchFamily="34" charset="-122"/>
                <a:cs typeface="Arial Rounded MT Bold" pitchFamily="34" charset="-120"/>
              </a:rPr>
              <a:t>70%</a:t>
            </a:r>
            <a:endParaRPr lang="en-US" sz="4200" dirty="0"/>
          </a:p>
        </p:txBody>
      </p:sp>
      <p:sp>
        <p:nvSpPr>
          <p:cNvPr id="10" name="Text 9.9"/>
          <p:cNvSpPr txBox="1"/>
          <p:nvPr/>
        </p:nvSpPr>
        <p:spPr>
          <a:xfrm>
            <a:off x="812780" y="4355991"/>
            <a:ext cx="2603435" cy="350432"/>
          </a:xfrm>
          <a:prstGeom prst="rect">
            <a:avLst/>
          </a:prstGeom>
          <a:noFill/>
          <a:ln/>
        </p:spPr>
        <p:txBody>
          <a:bodyPr wrap="square" lIns="0" tIns="0" rIns="0" bIns="0" rtlCol="0" anchor="t"/>
          <a:lstStyle/>
          <a:p>
            <a:pPr algn="l" indent="0" marL="0">
              <a:lnSpc>
                <a:spcPts val="1380"/>
              </a:lnSpc>
              <a:buNone/>
            </a:pPr>
            <a:r>
              <a:rPr lang="en-US" sz="1000" dirty="0">
                <a:solidFill>
                  <a:srgbClr val="3B4A66"/>
                </a:solidFill>
                <a:latin typeface="Arial" pitchFamily="34" charset="0"/>
                <a:ea typeface="Arial" pitchFamily="34" charset="-122"/>
                <a:cs typeface="Arial" pitchFamily="34" charset="-120"/>
              </a:rPr>
              <a:t>of US players aged 8+ play with other people.</a:t>
            </a:r>
            <a:endParaRPr lang="en-US" sz="1000" dirty="0"/>
          </a:p>
        </p:txBody>
      </p:sp>
      <p:sp>
        <p:nvSpPr>
          <p:cNvPr id="11" name="Text 9.10"/>
          <p:cNvSpPr txBox="1"/>
          <p:nvPr/>
        </p:nvSpPr>
        <p:spPr>
          <a:xfrm>
            <a:off x="812780" y="4825879"/>
            <a:ext cx="652972" cy="133347"/>
          </a:xfrm>
          <a:prstGeom prst="rect">
            <a:avLst/>
          </a:prstGeom>
          <a:noFill/>
          <a:ln/>
        </p:spPr>
        <p:txBody>
          <a:bodyPr wrap="square" lIns="0" tIns="0" rIns="0" bIns="0" rtlCol="0" anchor="t"/>
          <a:lstStyle/>
          <a:p>
            <a:pPr algn="l" indent="0" marL="0">
              <a:lnSpc>
                <a:spcPts val="1050"/>
              </a:lnSpc>
              <a:buNone/>
            </a:pPr>
            <a:r>
              <a:rPr lang="en-US" sz="750" dirty="0">
                <a:solidFill>
                  <a:srgbClr val="6E7D9A"/>
                </a:solidFill>
                <a:latin typeface="Arial" pitchFamily="34" charset="0"/>
                <a:ea typeface="Arial" pitchFamily="34" charset="-122"/>
                <a:cs typeface="Arial" pitchFamily="34" charset="-120"/>
              </a:rPr>
              <a:t>ESA 2026 [3]</a:t>
            </a:r>
            <a:endParaRPr lang="en-US" sz="750" dirty="0"/>
          </a:p>
        </p:txBody>
      </p:sp>
      <p:sp>
        <p:nvSpPr>
          <p:cNvPr id="12" name="Text 9.11"/>
          <p:cNvSpPr txBox="1"/>
          <p:nvPr/>
        </p:nvSpPr>
        <p:spPr>
          <a:xfrm>
            <a:off x="3936902" y="3708307"/>
            <a:ext cx="1192701" cy="533387"/>
          </a:xfrm>
          <a:prstGeom prst="rect">
            <a:avLst/>
          </a:prstGeom>
          <a:noFill/>
          <a:ln/>
        </p:spPr>
        <p:txBody>
          <a:bodyPr wrap="square" lIns="0" tIns="0" rIns="0" bIns="0" rtlCol="0" anchor="t"/>
          <a:lstStyle/>
          <a:p>
            <a:pPr algn="l" indent="0" marL="0">
              <a:lnSpc>
                <a:spcPts val="4200"/>
              </a:lnSpc>
              <a:buNone/>
            </a:pPr>
            <a:r>
              <a:rPr lang="en-US" sz="4200" dirty="0">
                <a:solidFill>
                  <a:srgbClr val="FF6B1F"/>
                </a:solidFill>
                <a:latin typeface="Arial Rounded MT Bold" pitchFamily="34" charset="0"/>
                <a:ea typeface="Arial Rounded MT Bold" pitchFamily="34" charset="-122"/>
                <a:cs typeface="Arial Rounded MT Bold" pitchFamily="34" charset="-120"/>
              </a:rPr>
              <a:t>≈8%</a:t>
            </a:r>
            <a:endParaRPr lang="en-US" sz="4200" dirty="0"/>
          </a:p>
        </p:txBody>
      </p:sp>
      <p:sp>
        <p:nvSpPr>
          <p:cNvPr id="13" name="Text 9.12"/>
          <p:cNvSpPr txBox="1"/>
          <p:nvPr/>
        </p:nvSpPr>
        <p:spPr>
          <a:xfrm>
            <a:off x="3936902" y="4355991"/>
            <a:ext cx="2603435" cy="350432"/>
          </a:xfrm>
          <a:prstGeom prst="rect">
            <a:avLst/>
          </a:prstGeom>
          <a:noFill/>
          <a:ln/>
        </p:spPr>
        <p:txBody>
          <a:bodyPr wrap="square" lIns="0" tIns="0" rIns="0" bIns="0" rtlCol="0" anchor="t"/>
          <a:lstStyle/>
          <a:p>
            <a:pPr algn="l" indent="0" marL="0">
              <a:lnSpc>
                <a:spcPts val="1380"/>
              </a:lnSpc>
              <a:buNone/>
            </a:pPr>
            <a:r>
              <a:rPr lang="en-US" sz="1000" dirty="0">
                <a:solidFill>
                  <a:srgbClr val="3B4A66"/>
                </a:solidFill>
                <a:latin typeface="Arial" pitchFamily="34" charset="0"/>
                <a:ea typeface="Arial" pitchFamily="34" charset="-122"/>
                <a:cs typeface="Arial" pitchFamily="34" charset="-120"/>
              </a:rPr>
              <a:t>of ~3,490 Steam “Party Game” titles list LAN PvP.</a:t>
            </a:r>
            <a:endParaRPr lang="en-US" sz="1000" dirty="0"/>
          </a:p>
        </p:txBody>
      </p:sp>
      <p:sp>
        <p:nvSpPr>
          <p:cNvPr id="14" name="Text 9.13"/>
          <p:cNvSpPr txBox="1"/>
          <p:nvPr/>
        </p:nvSpPr>
        <p:spPr>
          <a:xfrm>
            <a:off x="3936902" y="4825879"/>
            <a:ext cx="961433" cy="133347"/>
          </a:xfrm>
          <a:prstGeom prst="rect">
            <a:avLst/>
          </a:prstGeom>
          <a:noFill/>
          <a:ln/>
        </p:spPr>
        <p:txBody>
          <a:bodyPr wrap="square" lIns="0" tIns="0" rIns="0" bIns="0" rtlCol="0" anchor="t"/>
          <a:lstStyle/>
          <a:p>
            <a:pPr algn="l" indent="0" marL="0">
              <a:lnSpc>
                <a:spcPts val="1050"/>
              </a:lnSpc>
              <a:buNone/>
            </a:pPr>
            <a:r>
              <a:rPr lang="en-US" sz="750" dirty="0">
                <a:solidFill>
                  <a:srgbClr val="6E7D9A"/>
                </a:solidFill>
                <a:latin typeface="Arial" pitchFamily="34" charset="0"/>
                <a:ea typeface="Arial" pitchFamily="34" charset="-122"/>
                <a:cs typeface="Arial" pitchFamily="34" charset="-120"/>
              </a:rPr>
              <a:t>Steam, Oct 2026 [4]</a:t>
            </a:r>
            <a:endParaRPr lang="en-US" sz="750" dirty="0"/>
          </a:p>
        </p:txBody>
      </p:sp>
      <p:sp>
        <p:nvSpPr>
          <p:cNvPr id="15" name="Text 9.14"/>
          <p:cNvSpPr txBox="1"/>
          <p:nvPr/>
        </p:nvSpPr>
        <p:spPr>
          <a:xfrm>
            <a:off x="6984825" y="1930352"/>
            <a:ext cx="3248023"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16233F"/>
                </a:solidFill>
                <a:latin typeface="Arial" pitchFamily="34" charset="0"/>
                <a:ea typeface="Arial" pitchFamily="34" charset="-122"/>
                <a:cs typeface="Arial" pitchFamily="34" charset="-120"/>
              </a:rPr>
              <a:t>STEAM “PARTY GAME” TITLES BY MULTIPLAYER TAG</a:t>
            </a:r>
            <a:endParaRPr lang="en-US" sz="750" dirty="0"/>
          </a:p>
        </p:txBody>
      </p:sp>
      <p:sp>
        <p:nvSpPr>
          <p:cNvPr id="16" name="Text 9.15"/>
          <p:cNvSpPr txBox="1"/>
          <p:nvPr/>
        </p:nvSpPr>
        <p:spPr>
          <a:xfrm>
            <a:off x="6984825" y="2476438"/>
            <a:ext cx="698510" cy="99058"/>
          </a:xfrm>
          <a:prstGeom prst="rect">
            <a:avLst/>
          </a:prstGeom>
          <a:noFill/>
          <a:ln/>
        </p:spPr>
        <p:txBody>
          <a:bodyPr wrap="square" lIns="0" tIns="0" rIns="0" bIns="0" rtlCol="0" anchor="t"/>
          <a:lstStyle/>
          <a:p>
            <a:pPr algn="l" indent="0" marL="0">
              <a:lnSpc>
                <a:spcPts val="780"/>
              </a:lnSpc>
              <a:buNone/>
            </a:pPr>
            <a:r>
              <a:rPr lang="en-US" sz="650" b="1" spc="78" kern="0" dirty="0">
                <a:solidFill>
                  <a:srgbClr val="16233F"/>
                </a:solidFill>
                <a:latin typeface="Arial" pitchFamily="34" charset="0"/>
                <a:ea typeface="Arial" pitchFamily="34" charset="-122"/>
                <a:cs typeface="Arial" pitchFamily="34" charset="-120"/>
              </a:rPr>
              <a:t>ONLINE PVP</a:t>
            </a:r>
            <a:endParaRPr lang="en-US" sz="650" dirty="0"/>
          </a:p>
        </p:txBody>
      </p:sp>
      <p:sp>
        <p:nvSpPr>
          <p:cNvPr id="17" name="Text 9.16"/>
          <p:cNvSpPr txBox="1"/>
          <p:nvPr/>
        </p:nvSpPr>
        <p:spPr>
          <a:xfrm>
            <a:off x="10566136" y="2654234"/>
            <a:ext cx="761981" cy="228594"/>
          </a:xfrm>
          <a:prstGeom prst="rect">
            <a:avLst/>
          </a:prstGeom>
          <a:noFill/>
          <a:ln/>
        </p:spPr>
        <p:txBody>
          <a:bodyPr wrap="square" lIns="0" tIns="0" rIns="0" bIns="0" rtlCol="0" anchor="t"/>
          <a:lstStyle/>
          <a:p>
            <a:pPr algn="r" indent="0" marL="0">
              <a:lnSpc>
                <a:spcPts val="1800"/>
              </a:lnSpc>
              <a:buNone/>
            </a:pPr>
            <a:r>
              <a:rPr lang="en-US" sz="1800" dirty="0">
                <a:solidFill>
                  <a:srgbClr val="1FA9EA"/>
                </a:solidFill>
                <a:latin typeface="Arial Rounded MT Bold" pitchFamily="34" charset="0"/>
                <a:ea typeface="Arial Rounded MT Bold" pitchFamily="34" charset="-122"/>
                <a:cs typeface="Arial Rounded MT Bold" pitchFamily="34" charset="-120"/>
              </a:rPr>
              <a:t>1,870</a:t>
            </a:r>
            <a:endParaRPr lang="en-US" sz="1800" dirty="0"/>
          </a:p>
        </p:txBody>
      </p:sp>
      <p:sp>
        <p:nvSpPr>
          <p:cNvPr id="18" name="Text 9.17"/>
          <p:cNvSpPr txBox="1"/>
          <p:nvPr/>
        </p:nvSpPr>
        <p:spPr>
          <a:xfrm>
            <a:off x="6984825" y="3251119"/>
            <a:ext cx="1604754" cy="99058"/>
          </a:xfrm>
          <a:prstGeom prst="rect">
            <a:avLst/>
          </a:prstGeom>
          <a:noFill/>
          <a:ln/>
        </p:spPr>
        <p:txBody>
          <a:bodyPr wrap="square" lIns="0" tIns="0" rIns="0" bIns="0" rtlCol="0" anchor="t"/>
          <a:lstStyle/>
          <a:p>
            <a:pPr algn="l" indent="0" marL="0">
              <a:lnSpc>
                <a:spcPts val="780"/>
              </a:lnSpc>
              <a:buNone/>
            </a:pPr>
            <a:r>
              <a:rPr lang="en-US" sz="650" b="1" spc="78" kern="0" dirty="0">
                <a:solidFill>
                  <a:srgbClr val="16233F"/>
                </a:solidFill>
                <a:latin typeface="Arial" pitchFamily="34" charset="0"/>
                <a:ea typeface="Arial" pitchFamily="34" charset="-122"/>
                <a:cs typeface="Arial" pitchFamily="34" charset="-120"/>
              </a:rPr>
              <a:t>SHARED / SPLIT-SCREEN PVP</a:t>
            </a:r>
            <a:endParaRPr lang="en-US" sz="650" dirty="0"/>
          </a:p>
        </p:txBody>
      </p:sp>
      <p:sp>
        <p:nvSpPr>
          <p:cNvPr id="19" name="Text 9.18"/>
          <p:cNvSpPr txBox="1"/>
          <p:nvPr/>
        </p:nvSpPr>
        <p:spPr>
          <a:xfrm>
            <a:off x="10566136" y="3428914"/>
            <a:ext cx="761981" cy="228594"/>
          </a:xfrm>
          <a:prstGeom prst="rect">
            <a:avLst/>
          </a:prstGeom>
          <a:noFill/>
          <a:ln/>
        </p:spPr>
        <p:txBody>
          <a:bodyPr wrap="square" lIns="0" tIns="0" rIns="0" bIns="0" rtlCol="0" anchor="t"/>
          <a:lstStyle/>
          <a:p>
            <a:pPr algn="r" indent="0" marL="0">
              <a:lnSpc>
                <a:spcPts val="1800"/>
              </a:lnSpc>
              <a:buNone/>
            </a:pPr>
            <a:r>
              <a:rPr lang="en-US" sz="1800" dirty="0">
                <a:solidFill>
                  <a:srgbClr val="8F55F5"/>
                </a:solidFill>
                <a:latin typeface="Arial Rounded MT Bold" pitchFamily="34" charset="0"/>
                <a:ea typeface="Arial Rounded MT Bold" pitchFamily="34" charset="-122"/>
                <a:cs typeface="Arial Rounded MT Bold" pitchFamily="34" charset="-120"/>
              </a:rPr>
              <a:t>1,017</a:t>
            </a:r>
            <a:endParaRPr lang="en-US" sz="1800" dirty="0"/>
          </a:p>
        </p:txBody>
      </p:sp>
      <p:sp>
        <p:nvSpPr>
          <p:cNvPr id="20" name="Text 9.19"/>
          <p:cNvSpPr txBox="1"/>
          <p:nvPr/>
        </p:nvSpPr>
        <p:spPr>
          <a:xfrm>
            <a:off x="6984825" y="4025799"/>
            <a:ext cx="516252" cy="99058"/>
          </a:xfrm>
          <a:prstGeom prst="rect">
            <a:avLst/>
          </a:prstGeom>
          <a:noFill/>
          <a:ln/>
        </p:spPr>
        <p:txBody>
          <a:bodyPr wrap="square" lIns="0" tIns="0" rIns="0" bIns="0" rtlCol="0" anchor="t"/>
          <a:lstStyle/>
          <a:p>
            <a:pPr algn="l" indent="0" marL="0">
              <a:lnSpc>
                <a:spcPts val="780"/>
              </a:lnSpc>
              <a:buNone/>
            </a:pPr>
            <a:r>
              <a:rPr lang="en-US" sz="650" b="1" spc="78" kern="0" dirty="0">
                <a:solidFill>
                  <a:srgbClr val="16233F"/>
                </a:solidFill>
                <a:latin typeface="Arial" pitchFamily="34" charset="0"/>
                <a:ea typeface="Arial" pitchFamily="34" charset="-122"/>
                <a:cs typeface="Arial" pitchFamily="34" charset="-120"/>
              </a:rPr>
              <a:t>LAN PVP</a:t>
            </a:r>
            <a:endParaRPr lang="en-US" sz="650" dirty="0"/>
          </a:p>
        </p:txBody>
      </p:sp>
      <p:sp>
        <p:nvSpPr>
          <p:cNvPr id="21" name="Text 9.20"/>
          <p:cNvSpPr txBox="1"/>
          <p:nvPr/>
        </p:nvSpPr>
        <p:spPr>
          <a:xfrm>
            <a:off x="10566136" y="4203595"/>
            <a:ext cx="761981" cy="228594"/>
          </a:xfrm>
          <a:prstGeom prst="rect">
            <a:avLst/>
          </a:prstGeom>
          <a:noFill/>
          <a:ln/>
        </p:spPr>
        <p:txBody>
          <a:bodyPr wrap="square" lIns="0" tIns="0" rIns="0" bIns="0" rtlCol="0" anchor="t"/>
          <a:lstStyle/>
          <a:p>
            <a:pPr algn="r" indent="0" marL="0">
              <a:lnSpc>
                <a:spcPts val="1800"/>
              </a:lnSpc>
              <a:buNone/>
            </a:pPr>
            <a:r>
              <a:rPr lang="en-US" sz="1800" dirty="0">
                <a:solidFill>
                  <a:srgbClr val="FF6B1F"/>
                </a:solidFill>
                <a:latin typeface="Arial Rounded MT Bold" pitchFamily="34" charset="0"/>
                <a:ea typeface="Arial Rounded MT Bold" pitchFamily="34" charset="-122"/>
                <a:cs typeface="Arial Rounded MT Bold" pitchFamily="34" charset="-120"/>
              </a:rPr>
              <a:t>292</a:t>
            </a:r>
            <a:endParaRPr lang="en-US" sz="1800" dirty="0"/>
          </a:p>
        </p:txBody>
      </p:sp>
      <p:sp>
        <p:nvSpPr>
          <p:cNvPr id="22" name="Text 9.21"/>
          <p:cNvSpPr txBox="1"/>
          <p:nvPr/>
        </p:nvSpPr>
        <p:spPr>
          <a:xfrm>
            <a:off x="6984825" y="4838579"/>
            <a:ext cx="2598288" cy="133347"/>
          </a:xfrm>
          <a:prstGeom prst="rect">
            <a:avLst/>
          </a:prstGeom>
          <a:noFill/>
          <a:ln/>
        </p:spPr>
        <p:txBody>
          <a:bodyPr wrap="square" lIns="0" tIns="0" rIns="0" bIns="0" rtlCol="0" anchor="t"/>
          <a:lstStyle/>
          <a:p>
            <a:pPr algn="l" indent="0" marL="0">
              <a:lnSpc>
                <a:spcPts val="1050"/>
              </a:lnSpc>
              <a:buNone/>
            </a:pPr>
            <a:r>
              <a:rPr lang="en-US" sz="750" dirty="0">
                <a:solidFill>
                  <a:srgbClr val="6E7D9A"/>
                </a:solidFill>
                <a:latin typeface="Arial" pitchFamily="34" charset="0"/>
                <a:ea typeface="Arial" pitchFamily="34" charset="-122"/>
                <a:cs typeface="Arial" pitchFamily="34" charset="-120"/>
              </a:rPr>
              <a:t>Steam store search, Oct 2026 [4]. Tags are user-applied.</a:t>
            </a:r>
            <a:endParaRPr lang="en-US" sz="750" dirty="0"/>
          </a:p>
        </p:txBody>
      </p:sp>
      <p:sp>
        <p:nvSpPr>
          <p:cNvPr id="23" name="Text 9.22"/>
          <p:cNvSpPr txBox="1"/>
          <p:nvPr/>
        </p:nvSpPr>
        <p:spPr>
          <a:xfrm>
            <a:off x="863578" y="5549761"/>
            <a:ext cx="1442688"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B07D00"/>
                </a:solidFill>
                <a:latin typeface="Arial" pitchFamily="34" charset="0"/>
                <a:ea typeface="Arial" pitchFamily="34" charset="-122"/>
                <a:cs typeface="Arial" pitchFamily="34" charset="-120"/>
              </a:rPr>
              <a:t>RISK, STATED PLAINLY</a:t>
            </a:r>
            <a:endParaRPr lang="en-US" sz="750" dirty="0"/>
          </a:p>
        </p:txBody>
      </p:sp>
      <p:sp>
        <p:nvSpPr>
          <p:cNvPr id="24" name="Text 9.23"/>
          <p:cNvSpPr txBox="1"/>
          <p:nvPr/>
        </p:nvSpPr>
        <p:spPr>
          <a:xfrm>
            <a:off x="863578" y="5752956"/>
            <a:ext cx="10515337" cy="193353"/>
          </a:xfrm>
          <a:prstGeom prst="rect">
            <a:avLst/>
          </a:prstGeom>
          <a:noFill/>
          <a:ln/>
        </p:spPr>
        <p:txBody>
          <a:bodyPr wrap="square" lIns="0" tIns="0" rIns="0" bIns="0" rtlCol="0" anchor="t"/>
          <a:lstStyle/>
          <a:p>
            <a:pPr algn="l" indent="0" marL="0">
              <a:lnSpc>
                <a:spcPts val="1520"/>
              </a:lnSpc>
              <a:buNone/>
            </a:pPr>
            <a:r>
              <a:rPr lang="en-US" sz="1050" dirty="0">
                <a:solidFill>
                  <a:srgbClr val="3B4A66"/>
                </a:solidFill>
                <a:latin typeface="Arial" pitchFamily="34" charset="0"/>
                <a:ea typeface="Arial" pitchFamily="34" charset="-122"/>
                <a:cs typeface="Arial" pitchFamily="34" charset="-120"/>
              </a:rPr>
              <a:t>An estimated 65.9% of 2025 Steam releases earned under $1,000 [5], while 5,863 games passed $100K in 2025 (Valve) [6]. </a:t>
            </a:r>
            <a:pPr algn="l" indent="0" marL="0">
              <a:lnSpc>
                <a:spcPts val="1520"/>
              </a:lnSpc>
              <a:buNone/>
            </a:pPr>
            <a:r>
              <a:rPr lang="en-US" sz="1050" b="1" dirty="0">
                <a:solidFill>
                  <a:srgbClr val="16233F"/>
                </a:solidFill>
                <a:latin typeface="Arial" pitchFamily="34" charset="0"/>
                <a:ea typeface="Arial" pitchFamily="34" charset="-122"/>
                <a:cs typeface="Arial" pitchFamily="34" charset="-120"/>
              </a:rPr>
              <a:t>LAN is our differentiator, not a demand driver.</a:t>
            </a:r>
            <a:endParaRPr lang="en-US" sz="1050" dirty="0"/>
          </a:p>
        </p:txBody>
      </p:sp>
      <p:sp>
        <p:nvSpPr>
          <p:cNvPr id="25" name="Text 9.24"/>
          <p:cNvSpPr txBox="1"/>
          <p:nvPr/>
        </p:nvSpPr>
        <p:spPr>
          <a:xfrm>
            <a:off x="927077" y="355591"/>
            <a:ext cx="686521" cy="107947"/>
          </a:xfrm>
          <a:prstGeom prst="rect">
            <a:avLst/>
          </a:prstGeom>
          <a:noFill/>
          <a:ln/>
        </p:spPr>
        <p:txBody>
          <a:bodyPr wrap="square" lIns="0" tIns="0" rIns="0" bIns="0" rtlCol="0" anchor="t"/>
          <a:lstStyle/>
          <a:p>
            <a:pPr algn="l" indent="0" marL="0">
              <a:lnSpc>
                <a:spcPts val="850"/>
              </a:lnSpc>
              <a:buNone/>
            </a:pPr>
            <a:r>
              <a:rPr lang="en-US" sz="850" b="1" spc="17" kern="0" dirty="0">
                <a:solidFill>
                  <a:srgbClr val="16233F"/>
                </a:solidFill>
                <a:latin typeface="Arial" pitchFamily="34" charset="0"/>
                <a:ea typeface="Arial" pitchFamily="34" charset="-122"/>
                <a:cs typeface="Arial" pitchFamily="34" charset="-120"/>
              </a:rPr>
              <a:t>03 · Market</a:t>
            </a:r>
            <a:endParaRPr lang="en-US" sz="850" dirty="0"/>
          </a:p>
        </p:txBody>
      </p:sp>
      <p:sp>
        <p:nvSpPr>
          <p:cNvPr id="26" name="Text 9.25"/>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09</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23</a:t>
            </a:r>
            <a:endParaRPr lang="en-US" sz="100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10.1"/>
          <p:cNvSpPr txBox="1"/>
          <p:nvPr/>
        </p:nvSpPr>
        <p:spPr>
          <a:xfrm>
            <a:off x="609585" y="761981"/>
            <a:ext cx="11371296" cy="384038"/>
          </a:xfrm>
          <a:prstGeom prst="rect">
            <a:avLst/>
          </a:prstGeom>
          <a:noFill/>
          <a:ln/>
        </p:spPr>
        <p:txBody>
          <a:bodyPr wrap="square" lIns="0" tIns="0" rIns="0" bIns="0" rtlCol="0" anchor="t"/>
          <a:lstStyle/>
          <a:p>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Five games we are measured against</a:t>
            </a:r>
            <a:endParaRPr lang="en-US" sz="2700" dirty="0"/>
          </a:p>
        </p:txBody>
      </p:sp>
      <p:sp>
        <p:nvSpPr>
          <p:cNvPr id="3" name="Text 10.2"/>
          <p:cNvSpPr txBox="1"/>
          <p:nvPr/>
        </p:nvSpPr>
        <p:spPr>
          <a:xfrm>
            <a:off x="749281" y="1777956"/>
            <a:ext cx="761981" cy="190495"/>
          </a:xfrm>
          <a:prstGeom prst="rect">
            <a:avLst/>
          </a:prstGeom>
          <a:noFill/>
          <a:ln/>
        </p:spPr>
        <p:txBody>
          <a:bodyPr wrap="square" lIns="0" tIns="0" rIns="0" bIns="0" rtlCol="0" anchor="ctr"/>
          <a:lstStyle/>
          <a:p>
            <a:pPr algn="ctr" indent="0" marL="0">
              <a:lnSpc>
                <a:spcPts val="600"/>
              </a:lnSpc>
              <a:buNone/>
            </a:pPr>
            <a:r>
              <a:rPr lang="en-US" sz="600" b="1" spc="48" kern="0" dirty="0">
                <a:solidFill>
                  <a:srgbClr val="FFFFFF"/>
                </a:solidFill>
                <a:latin typeface="Arial" pitchFamily="34" charset="0"/>
                <a:ea typeface="Arial" pitchFamily="34" charset="-122"/>
                <a:cs typeface="Arial" pitchFamily="34" charset="-120"/>
              </a:rPr>
              <a:t>AUDIENCE</a:t>
            </a:r>
            <a:endParaRPr lang="en-US" sz="600" dirty="0"/>
          </a:p>
        </p:txBody>
      </p:sp>
      <p:sp>
        <p:nvSpPr>
          <p:cNvPr id="4" name="Text 10.3"/>
          <p:cNvSpPr txBox="1"/>
          <p:nvPr/>
        </p:nvSpPr>
        <p:spPr>
          <a:xfrm>
            <a:off x="761981" y="2933627"/>
            <a:ext cx="1191859" cy="182558"/>
          </a:xfrm>
          <a:prstGeom prst="rect">
            <a:avLst/>
          </a:prstGeom>
          <a:noFill/>
          <a:ln/>
        </p:spPr>
        <p:txBody>
          <a:bodyPr wrap="square" lIns="0" tIns="0" rIns="0" bIns="0" rtlCol="0" anchor="t"/>
          <a:lstStyle/>
          <a:p>
            <a:pPr algn="l" indent="0" marL="0">
              <a:lnSpc>
                <a:spcPts val="1440"/>
              </a:lnSpc>
              <a:buNone/>
            </a:pPr>
            <a:r>
              <a:rPr lang="en-US" sz="1250" dirty="0">
                <a:solidFill>
                  <a:srgbClr val="16233F"/>
                </a:solidFill>
                <a:latin typeface="Arial Rounded MT Bold" pitchFamily="34" charset="0"/>
                <a:ea typeface="Arial Rounded MT Bold" pitchFamily="34" charset="-122"/>
                <a:cs typeface="Arial Rounded MT Bold" pitchFamily="34" charset="-120"/>
              </a:rPr>
              <a:t>Party Animals</a:t>
            </a:r>
            <a:endParaRPr lang="en-US" sz="1250" dirty="0"/>
          </a:p>
        </p:txBody>
      </p:sp>
      <p:sp>
        <p:nvSpPr>
          <p:cNvPr id="5" name="Text 10.4"/>
          <p:cNvSpPr txBox="1"/>
          <p:nvPr/>
        </p:nvSpPr>
        <p:spPr>
          <a:xfrm>
            <a:off x="761981" y="3162221"/>
            <a:ext cx="1069127" cy="124457"/>
          </a:xfrm>
          <a:prstGeom prst="rect">
            <a:avLst/>
          </a:prstGeom>
          <a:noFill/>
          <a:ln/>
        </p:spPr>
        <p:txBody>
          <a:bodyPr wrap="square" lIns="0" tIns="0" rIns="0" bIns="0" rtlCol="0" anchor="t"/>
          <a:lstStyle/>
          <a:p>
            <a:pPr algn="l" indent="0" marL="0">
              <a:lnSpc>
                <a:spcPts val="980"/>
              </a:lnSpc>
              <a:buNone/>
            </a:pPr>
            <a:r>
              <a:rPr lang="en-US" sz="700" dirty="0">
                <a:solidFill>
                  <a:srgbClr val="6E7D9A"/>
                </a:solidFill>
                <a:latin typeface="Arial" pitchFamily="34" charset="0"/>
                <a:ea typeface="Arial" pitchFamily="34" charset="-122"/>
                <a:cs typeface="Arial" pitchFamily="34" charset="-120"/>
              </a:rPr>
              <a:t>Recreate Games · 2023</a:t>
            </a:r>
            <a:endParaRPr lang="en-US" sz="700" dirty="0"/>
          </a:p>
        </p:txBody>
      </p:sp>
      <p:sp>
        <p:nvSpPr>
          <p:cNvPr id="6" name="Text 10.5"/>
          <p:cNvSpPr txBox="1"/>
          <p:nvPr/>
        </p:nvSpPr>
        <p:spPr>
          <a:xfrm>
            <a:off x="761981" y="3479713"/>
            <a:ext cx="417919" cy="91438"/>
          </a:xfrm>
          <a:prstGeom prst="rect">
            <a:avLst/>
          </a:prstGeom>
          <a:noFill/>
          <a:ln/>
        </p:spPr>
        <p:txBody>
          <a:bodyPr wrap="square" lIns="0" tIns="0" rIns="0" bIns="0" rtlCol="0" anchor="t"/>
          <a:lstStyle/>
          <a:p>
            <a:pPr algn="l" indent="0" marL="0">
              <a:lnSpc>
                <a:spcPts val="720"/>
              </a:lnSpc>
              <a:buNone/>
            </a:pPr>
            <a:r>
              <a:rPr lang="en-US" sz="600" b="1" spc="72" kern="0" dirty="0">
                <a:solidFill>
                  <a:srgbClr val="FF6B1F"/>
                </a:solidFill>
                <a:latin typeface="Arial" pitchFamily="34" charset="0"/>
                <a:ea typeface="Arial" pitchFamily="34" charset="-122"/>
                <a:cs typeface="Arial" pitchFamily="34" charset="-120"/>
              </a:rPr>
              <a:t>VISUAL</a:t>
            </a:r>
            <a:endParaRPr lang="en-US" sz="600" dirty="0"/>
          </a:p>
        </p:txBody>
      </p:sp>
      <p:sp>
        <p:nvSpPr>
          <p:cNvPr id="7" name="Text 10.6"/>
          <p:cNvSpPr txBox="1"/>
          <p:nvPr/>
        </p:nvSpPr>
        <p:spPr>
          <a:xfrm>
            <a:off x="761981" y="3619410"/>
            <a:ext cx="1854154" cy="146808"/>
          </a:xfrm>
          <a:prstGeom prst="rect">
            <a:avLst/>
          </a:prstGeom>
          <a:noFill/>
          <a:ln/>
        </p:spPr>
        <p:txBody>
          <a:bodyPr wrap="square" lIns="0" tIns="0" rIns="0" bIns="0" rtlCol="0" anchor="t"/>
          <a:lstStyle/>
          <a:p>
            <a:pPr algn="l" indent="0" marL="0">
              <a:lnSpc>
                <a:spcPts val="1160"/>
              </a:lnSpc>
              <a:buNone/>
            </a:pPr>
            <a:r>
              <a:rPr lang="en-US" sz="850" dirty="0">
                <a:solidFill>
                  <a:srgbClr val="3B4A66"/>
                </a:solidFill>
                <a:latin typeface="Arial" pitchFamily="34" charset="0"/>
                <a:ea typeface="Arial" pitchFamily="34" charset="-122"/>
                <a:cs typeface="Arial" pitchFamily="34" charset="-120"/>
              </a:rPr>
              <a:t>Plush 3D animals, toy-like arenas.</a:t>
            </a:r>
            <a:endParaRPr lang="en-US" sz="850" dirty="0"/>
          </a:p>
        </p:txBody>
      </p:sp>
      <p:sp>
        <p:nvSpPr>
          <p:cNvPr id="8" name="Text 10.7"/>
          <p:cNvSpPr txBox="1"/>
          <p:nvPr/>
        </p:nvSpPr>
        <p:spPr>
          <a:xfrm>
            <a:off x="761981" y="4165496"/>
            <a:ext cx="576304" cy="91438"/>
          </a:xfrm>
          <a:prstGeom prst="rect">
            <a:avLst/>
          </a:prstGeom>
          <a:noFill/>
          <a:ln/>
        </p:spPr>
        <p:txBody>
          <a:bodyPr wrap="square" lIns="0" tIns="0" rIns="0" bIns="0" rtlCol="0" anchor="t"/>
          <a:lstStyle/>
          <a:p>
            <a:pPr algn="l" indent="0" marL="0">
              <a:lnSpc>
                <a:spcPts val="720"/>
              </a:lnSpc>
              <a:buNone/>
            </a:pPr>
            <a:r>
              <a:rPr lang="en-US" sz="600" b="1" spc="72" kern="0" dirty="0">
                <a:solidFill>
                  <a:srgbClr val="FF6B1F"/>
                </a:solidFill>
                <a:latin typeface="Arial" pitchFamily="34" charset="0"/>
                <a:ea typeface="Arial" pitchFamily="34" charset="-122"/>
                <a:cs typeface="Arial" pitchFamily="34" charset="-120"/>
              </a:rPr>
              <a:t>MECHANIC</a:t>
            </a:r>
            <a:endParaRPr lang="en-US" sz="600" dirty="0"/>
          </a:p>
        </p:txBody>
      </p:sp>
      <p:sp>
        <p:nvSpPr>
          <p:cNvPr id="9" name="Text 10.8"/>
          <p:cNvSpPr txBox="1"/>
          <p:nvPr/>
        </p:nvSpPr>
        <p:spPr>
          <a:xfrm>
            <a:off x="761981" y="4305192"/>
            <a:ext cx="1854154" cy="293482"/>
          </a:xfrm>
          <a:prstGeom prst="rect">
            <a:avLst/>
          </a:prstGeom>
          <a:noFill/>
          <a:ln/>
        </p:spPr>
        <p:txBody>
          <a:bodyPr wrap="square" lIns="0" tIns="0" rIns="0" bIns="0" rtlCol="0" anchor="t"/>
          <a:lstStyle/>
          <a:p>
            <a:pPr algn="l" indent="0" marL="0">
              <a:lnSpc>
                <a:spcPts val="1160"/>
              </a:lnSpc>
              <a:buNone/>
            </a:pPr>
            <a:r>
              <a:rPr lang="en-US" sz="850" dirty="0">
                <a:solidFill>
                  <a:srgbClr val="3B4A66"/>
                </a:solidFill>
                <a:latin typeface="Arial" pitchFamily="34" charset="0"/>
                <a:ea typeface="Arial" pitchFamily="34" charset="-122"/>
                <a:cs typeface="Arial" pitchFamily="34" charset="-120"/>
              </a:rPr>
              <a:t>Physics brawling: grab, punch, throw rivals out.</a:t>
            </a:r>
            <a:endParaRPr lang="en-US" sz="850" dirty="0"/>
          </a:p>
        </p:txBody>
      </p:sp>
      <p:sp>
        <p:nvSpPr>
          <p:cNvPr id="10" name="Text 10.9"/>
          <p:cNvSpPr txBox="1"/>
          <p:nvPr/>
        </p:nvSpPr>
        <p:spPr>
          <a:xfrm>
            <a:off x="761981" y="4851279"/>
            <a:ext cx="731113" cy="91438"/>
          </a:xfrm>
          <a:prstGeom prst="rect">
            <a:avLst/>
          </a:prstGeom>
          <a:noFill/>
          <a:ln/>
        </p:spPr>
        <p:txBody>
          <a:bodyPr wrap="square" lIns="0" tIns="0" rIns="0" bIns="0" rtlCol="0" anchor="t"/>
          <a:lstStyle/>
          <a:p>
            <a:pPr algn="l" indent="0" marL="0">
              <a:lnSpc>
                <a:spcPts val="720"/>
              </a:lnSpc>
              <a:buNone/>
            </a:pPr>
            <a:r>
              <a:rPr lang="en-US" sz="600" b="1" spc="72" kern="0" dirty="0">
                <a:solidFill>
                  <a:srgbClr val="FF6B1F"/>
                </a:solidFill>
                <a:latin typeface="Arial" pitchFamily="34" charset="0"/>
                <a:ea typeface="Arial" pitchFamily="34" charset="-122"/>
                <a:cs typeface="Arial" pitchFamily="34" charset="-120"/>
              </a:rPr>
              <a:t>MULTIPLAYER</a:t>
            </a:r>
            <a:endParaRPr lang="en-US" sz="600" dirty="0"/>
          </a:p>
        </p:txBody>
      </p:sp>
      <p:sp>
        <p:nvSpPr>
          <p:cNvPr id="11" name="Text 10.10"/>
          <p:cNvSpPr txBox="1"/>
          <p:nvPr/>
        </p:nvSpPr>
        <p:spPr>
          <a:xfrm>
            <a:off x="761981" y="4990975"/>
            <a:ext cx="1854154" cy="293482"/>
          </a:xfrm>
          <a:prstGeom prst="rect">
            <a:avLst/>
          </a:prstGeom>
          <a:noFill/>
          <a:ln/>
        </p:spPr>
        <p:txBody>
          <a:bodyPr wrap="square" lIns="0" tIns="0" rIns="0" bIns="0" rtlCol="0" anchor="t"/>
          <a:lstStyle/>
          <a:p>
            <a:pPr algn="l" indent="0" marL="0">
              <a:lnSpc>
                <a:spcPts val="1160"/>
              </a:lnSpc>
              <a:buNone/>
            </a:pPr>
            <a:r>
              <a:rPr lang="en-US" sz="850" dirty="0">
                <a:solidFill>
                  <a:srgbClr val="3B4A66"/>
                </a:solidFill>
                <a:latin typeface="Arial" pitchFamily="34" charset="0"/>
                <a:ea typeface="Arial" pitchFamily="34" charset="-122"/>
                <a:cs typeface="Arial" pitchFamily="34" charset="-120"/>
              </a:rPr>
              <a:t>Online and same-screen. No LAN listed.</a:t>
            </a:r>
            <a:endParaRPr lang="en-US" sz="850" dirty="0"/>
          </a:p>
        </p:txBody>
      </p:sp>
      <p:sp>
        <p:nvSpPr>
          <p:cNvPr id="12" name="Text 10.11"/>
          <p:cNvSpPr txBox="1"/>
          <p:nvPr/>
        </p:nvSpPr>
        <p:spPr>
          <a:xfrm>
            <a:off x="761981" y="5537062"/>
            <a:ext cx="649501" cy="91438"/>
          </a:xfrm>
          <a:prstGeom prst="rect">
            <a:avLst/>
          </a:prstGeom>
          <a:noFill/>
          <a:ln/>
        </p:spPr>
        <p:txBody>
          <a:bodyPr wrap="square" lIns="0" tIns="0" rIns="0" bIns="0" rtlCol="0" anchor="t"/>
          <a:lstStyle/>
          <a:p>
            <a:pPr algn="l" indent="0" marL="0">
              <a:lnSpc>
                <a:spcPts val="720"/>
              </a:lnSpc>
              <a:buNone/>
            </a:pPr>
            <a:r>
              <a:rPr lang="en-US" sz="600" b="1" spc="72" kern="0" dirty="0">
                <a:solidFill>
                  <a:srgbClr val="FF6B1F"/>
                </a:solidFill>
                <a:latin typeface="Arial" pitchFamily="34" charset="0"/>
                <a:ea typeface="Arial" pitchFamily="34" charset="-122"/>
                <a:cs typeface="Arial" pitchFamily="34" charset="-120"/>
              </a:rPr>
              <a:t>FINANCIALS</a:t>
            </a:r>
            <a:endParaRPr lang="en-US" sz="600" dirty="0"/>
          </a:p>
        </p:txBody>
      </p:sp>
      <p:sp>
        <p:nvSpPr>
          <p:cNvPr id="13" name="Text 10.12"/>
          <p:cNvSpPr txBox="1"/>
          <p:nvPr/>
        </p:nvSpPr>
        <p:spPr>
          <a:xfrm>
            <a:off x="761981" y="5676758"/>
            <a:ext cx="1854154" cy="293482"/>
          </a:xfrm>
          <a:prstGeom prst="rect">
            <a:avLst/>
          </a:prstGeom>
          <a:noFill/>
          <a:ln/>
        </p:spPr>
        <p:txBody>
          <a:bodyPr wrap="square" lIns="0" tIns="0" rIns="0" bIns="0" rtlCol="0" anchor="t"/>
          <a:lstStyle/>
          <a:p>
            <a:pPr algn="l" indent="0" marL="0">
              <a:lnSpc>
                <a:spcPts val="1160"/>
              </a:lnSpc>
              <a:buNone/>
            </a:pPr>
            <a:r>
              <a:rPr lang="en-US" sz="850" dirty="0">
                <a:solidFill>
                  <a:srgbClr val="3B4A66"/>
                </a:solidFill>
                <a:latin typeface="Arial" pitchFamily="34" charset="0"/>
                <a:ea typeface="Arial" pitchFamily="34" charset="-122"/>
                <a:cs typeface="Arial" pitchFamily="34" charset="-120"/>
              </a:rPr>
              <a:t>Launch peak 104,174 players. Owner est. 2.5M–6.0M.</a:t>
            </a:r>
            <a:endParaRPr lang="en-US" sz="850" dirty="0"/>
          </a:p>
        </p:txBody>
      </p:sp>
      <p:sp>
        <p:nvSpPr>
          <p:cNvPr id="14" name="Text 10.13"/>
          <p:cNvSpPr txBox="1"/>
          <p:nvPr/>
        </p:nvSpPr>
        <p:spPr>
          <a:xfrm>
            <a:off x="2971726" y="1777956"/>
            <a:ext cx="761981" cy="190495"/>
          </a:xfrm>
          <a:prstGeom prst="rect">
            <a:avLst/>
          </a:prstGeom>
          <a:noFill/>
          <a:ln/>
        </p:spPr>
        <p:txBody>
          <a:bodyPr wrap="square" lIns="0" tIns="0" rIns="0" bIns="0" rtlCol="0" anchor="ctr"/>
          <a:lstStyle/>
          <a:p>
            <a:pPr algn="ctr" indent="0" marL="0">
              <a:lnSpc>
                <a:spcPts val="600"/>
              </a:lnSpc>
              <a:buNone/>
            </a:pPr>
            <a:r>
              <a:rPr lang="en-US" sz="600" b="1" spc="48" kern="0" dirty="0">
                <a:solidFill>
                  <a:srgbClr val="FFFFFF"/>
                </a:solidFill>
                <a:latin typeface="Arial" pitchFamily="34" charset="0"/>
                <a:ea typeface="Arial" pitchFamily="34" charset="-122"/>
                <a:cs typeface="Arial" pitchFamily="34" charset="-120"/>
              </a:rPr>
              <a:t>PHYSICS</a:t>
            </a:r>
            <a:endParaRPr lang="en-US" sz="600" dirty="0"/>
          </a:p>
        </p:txBody>
      </p:sp>
      <p:sp>
        <p:nvSpPr>
          <p:cNvPr id="15" name="Text 10.14"/>
          <p:cNvSpPr txBox="1"/>
          <p:nvPr/>
        </p:nvSpPr>
        <p:spPr>
          <a:xfrm>
            <a:off x="2984425" y="2933627"/>
            <a:ext cx="1108670" cy="182558"/>
          </a:xfrm>
          <a:prstGeom prst="rect">
            <a:avLst/>
          </a:prstGeom>
          <a:noFill/>
          <a:ln/>
        </p:spPr>
        <p:txBody>
          <a:bodyPr wrap="square" lIns="0" tIns="0" rIns="0" bIns="0" rtlCol="0" anchor="t"/>
          <a:lstStyle/>
          <a:p>
            <a:pPr algn="l" indent="0" marL="0">
              <a:lnSpc>
                <a:spcPts val="1440"/>
              </a:lnSpc>
              <a:buNone/>
            </a:pPr>
            <a:r>
              <a:rPr lang="en-US" sz="1250" dirty="0">
                <a:solidFill>
                  <a:srgbClr val="16233F"/>
                </a:solidFill>
                <a:latin typeface="Arial Rounded MT Bold" pitchFamily="34" charset="0"/>
                <a:ea typeface="Arial Rounded MT Bold" pitchFamily="34" charset="-122"/>
                <a:cs typeface="Arial Rounded MT Bold" pitchFamily="34" charset="-120"/>
              </a:rPr>
              <a:t>Gang Beasts</a:t>
            </a:r>
            <a:endParaRPr lang="en-US" sz="1250" dirty="0"/>
          </a:p>
        </p:txBody>
      </p:sp>
      <p:sp>
        <p:nvSpPr>
          <p:cNvPr id="16" name="Text 10.15"/>
          <p:cNvSpPr txBox="1"/>
          <p:nvPr/>
        </p:nvSpPr>
        <p:spPr>
          <a:xfrm>
            <a:off x="2984425" y="3162221"/>
            <a:ext cx="728904" cy="124457"/>
          </a:xfrm>
          <a:prstGeom prst="rect">
            <a:avLst/>
          </a:prstGeom>
          <a:noFill/>
          <a:ln/>
        </p:spPr>
        <p:txBody>
          <a:bodyPr wrap="square" lIns="0" tIns="0" rIns="0" bIns="0" rtlCol="0" anchor="t"/>
          <a:lstStyle/>
          <a:p>
            <a:pPr algn="l" indent="0" marL="0">
              <a:lnSpc>
                <a:spcPts val="980"/>
              </a:lnSpc>
              <a:buNone/>
            </a:pPr>
            <a:r>
              <a:rPr lang="en-US" sz="700" dirty="0">
                <a:solidFill>
                  <a:srgbClr val="6E7D9A"/>
                </a:solidFill>
                <a:latin typeface="Arial" pitchFamily="34" charset="0"/>
                <a:ea typeface="Arial" pitchFamily="34" charset="-122"/>
                <a:cs typeface="Arial" pitchFamily="34" charset="-120"/>
              </a:rPr>
              <a:t>Boneloaf · 2017</a:t>
            </a:r>
            <a:endParaRPr lang="en-US" sz="700" dirty="0"/>
          </a:p>
        </p:txBody>
      </p:sp>
      <p:sp>
        <p:nvSpPr>
          <p:cNvPr id="17" name="Text 10.16"/>
          <p:cNvSpPr txBox="1"/>
          <p:nvPr/>
        </p:nvSpPr>
        <p:spPr>
          <a:xfrm>
            <a:off x="2984425" y="3479713"/>
            <a:ext cx="417919" cy="91438"/>
          </a:xfrm>
          <a:prstGeom prst="rect">
            <a:avLst/>
          </a:prstGeom>
          <a:noFill/>
          <a:ln/>
        </p:spPr>
        <p:txBody>
          <a:bodyPr wrap="square" lIns="0" tIns="0" rIns="0" bIns="0" rtlCol="0" anchor="t"/>
          <a:lstStyle/>
          <a:p>
            <a:pPr algn="l" indent="0" marL="0">
              <a:lnSpc>
                <a:spcPts val="720"/>
              </a:lnSpc>
              <a:buNone/>
            </a:pPr>
            <a:r>
              <a:rPr lang="en-US" sz="600" b="1" spc="72" kern="0" dirty="0">
                <a:solidFill>
                  <a:srgbClr val="1FA9EA"/>
                </a:solidFill>
                <a:latin typeface="Arial" pitchFamily="34" charset="0"/>
                <a:ea typeface="Arial" pitchFamily="34" charset="-122"/>
                <a:cs typeface="Arial" pitchFamily="34" charset="-120"/>
              </a:rPr>
              <a:t>VISUAL</a:t>
            </a:r>
            <a:endParaRPr lang="en-US" sz="600" dirty="0"/>
          </a:p>
        </p:txBody>
      </p:sp>
      <p:sp>
        <p:nvSpPr>
          <p:cNvPr id="18" name="Text 10.17"/>
          <p:cNvSpPr txBox="1"/>
          <p:nvPr/>
        </p:nvSpPr>
        <p:spPr>
          <a:xfrm>
            <a:off x="2984425" y="3619410"/>
            <a:ext cx="1854154" cy="146808"/>
          </a:xfrm>
          <a:prstGeom prst="rect">
            <a:avLst/>
          </a:prstGeom>
          <a:noFill/>
          <a:ln/>
        </p:spPr>
        <p:txBody>
          <a:bodyPr wrap="square" lIns="0" tIns="0" rIns="0" bIns="0" rtlCol="0" anchor="t"/>
          <a:lstStyle/>
          <a:p>
            <a:pPr algn="l" indent="0" marL="0">
              <a:lnSpc>
                <a:spcPts val="1160"/>
              </a:lnSpc>
              <a:buNone/>
            </a:pPr>
            <a:r>
              <a:rPr lang="en-US" sz="850" dirty="0">
                <a:solidFill>
                  <a:srgbClr val="3B4A66"/>
                </a:solidFill>
                <a:latin typeface="Arial" pitchFamily="34" charset="0"/>
                <a:ea typeface="Arial" pitchFamily="34" charset="-122"/>
                <a:cs typeface="Arial" pitchFamily="34" charset="-120"/>
              </a:rPr>
              <a:t>Soft, gelatinous 3D people.</a:t>
            </a:r>
            <a:endParaRPr lang="en-US" sz="850" dirty="0"/>
          </a:p>
        </p:txBody>
      </p:sp>
      <p:sp>
        <p:nvSpPr>
          <p:cNvPr id="19" name="Text 10.18"/>
          <p:cNvSpPr txBox="1"/>
          <p:nvPr/>
        </p:nvSpPr>
        <p:spPr>
          <a:xfrm>
            <a:off x="2984425" y="4165496"/>
            <a:ext cx="576304" cy="91438"/>
          </a:xfrm>
          <a:prstGeom prst="rect">
            <a:avLst/>
          </a:prstGeom>
          <a:noFill/>
          <a:ln/>
        </p:spPr>
        <p:txBody>
          <a:bodyPr wrap="square" lIns="0" tIns="0" rIns="0" bIns="0" rtlCol="0" anchor="t"/>
          <a:lstStyle/>
          <a:p>
            <a:pPr algn="l" indent="0" marL="0">
              <a:lnSpc>
                <a:spcPts val="720"/>
              </a:lnSpc>
              <a:buNone/>
            </a:pPr>
            <a:r>
              <a:rPr lang="en-US" sz="600" b="1" spc="72" kern="0" dirty="0">
                <a:solidFill>
                  <a:srgbClr val="1FA9EA"/>
                </a:solidFill>
                <a:latin typeface="Arial" pitchFamily="34" charset="0"/>
                <a:ea typeface="Arial" pitchFamily="34" charset="-122"/>
                <a:cs typeface="Arial" pitchFamily="34" charset="-120"/>
              </a:rPr>
              <a:t>MECHANIC</a:t>
            </a:r>
            <a:endParaRPr lang="en-US" sz="600" dirty="0"/>
          </a:p>
        </p:txBody>
      </p:sp>
      <p:sp>
        <p:nvSpPr>
          <p:cNvPr id="20" name="Text 10.19"/>
          <p:cNvSpPr txBox="1"/>
          <p:nvPr/>
        </p:nvSpPr>
        <p:spPr>
          <a:xfrm>
            <a:off x="2984425" y="4305192"/>
            <a:ext cx="1854154" cy="146808"/>
          </a:xfrm>
          <a:prstGeom prst="rect">
            <a:avLst/>
          </a:prstGeom>
          <a:noFill/>
          <a:ln/>
        </p:spPr>
        <p:txBody>
          <a:bodyPr wrap="square" lIns="0" tIns="0" rIns="0" bIns="0" rtlCol="0" anchor="t"/>
          <a:lstStyle/>
          <a:p>
            <a:pPr algn="l" indent="0" marL="0">
              <a:lnSpc>
                <a:spcPts val="1160"/>
              </a:lnSpc>
              <a:buNone/>
            </a:pPr>
            <a:r>
              <a:rPr lang="en-US" sz="850" dirty="0">
                <a:solidFill>
                  <a:srgbClr val="3B4A66"/>
                </a:solidFill>
                <a:latin typeface="Arial" pitchFamily="34" charset="0"/>
                <a:ea typeface="Arial" pitchFamily="34" charset="-122"/>
                <a:cs typeface="Arial" pitchFamily="34" charset="-120"/>
              </a:rPr>
              <a:t>Ragdoll brawling into stage hazards.</a:t>
            </a:r>
            <a:endParaRPr lang="en-US" sz="850" dirty="0"/>
          </a:p>
        </p:txBody>
      </p:sp>
      <p:sp>
        <p:nvSpPr>
          <p:cNvPr id="21" name="Text 10.20"/>
          <p:cNvSpPr txBox="1"/>
          <p:nvPr/>
        </p:nvSpPr>
        <p:spPr>
          <a:xfrm>
            <a:off x="2984425" y="4851279"/>
            <a:ext cx="731113" cy="91438"/>
          </a:xfrm>
          <a:prstGeom prst="rect">
            <a:avLst/>
          </a:prstGeom>
          <a:noFill/>
          <a:ln/>
        </p:spPr>
        <p:txBody>
          <a:bodyPr wrap="square" lIns="0" tIns="0" rIns="0" bIns="0" rtlCol="0" anchor="t"/>
          <a:lstStyle/>
          <a:p>
            <a:pPr algn="l" indent="0" marL="0">
              <a:lnSpc>
                <a:spcPts val="720"/>
              </a:lnSpc>
              <a:buNone/>
            </a:pPr>
            <a:r>
              <a:rPr lang="en-US" sz="600" b="1" spc="72" kern="0" dirty="0">
                <a:solidFill>
                  <a:srgbClr val="1FA9EA"/>
                </a:solidFill>
                <a:latin typeface="Arial" pitchFamily="34" charset="0"/>
                <a:ea typeface="Arial" pitchFamily="34" charset="-122"/>
                <a:cs typeface="Arial" pitchFamily="34" charset="-120"/>
              </a:rPr>
              <a:t>MULTIPLAYER</a:t>
            </a:r>
            <a:endParaRPr lang="en-US" sz="600" dirty="0"/>
          </a:p>
        </p:txBody>
      </p:sp>
      <p:sp>
        <p:nvSpPr>
          <p:cNvPr id="22" name="Text 10.21"/>
          <p:cNvSpPr txBox="1"/>
          <p:nvPr/>
        </p:nvSpPr>
        <p:spPr>
          <a:xfrm>
            <a:off x="2984425" y="4990975"/>
            <a:ext cx="1854154" cy="293482"/>
          </a:xfrm>
          <a:prstGeom prst="rect">
            <a:avLst/>
          </a:prstGeom>
          <a:noFill/>
          <a:ln/>
        </p:spPr>
        <p:txBody>
          <a:bodyPr wrap="square" lIns="0" tIns="0" rIns="0" bIns="0" rtlCol="0" anchor="t"/>
          <a:lstStyle/>
          <a:p>
            <a:pPr algn="l" indent="0" marL="0">
              <a:lnSpc>
                <a:spcPts val="1160"/>
              </a:lnSpc>
              <a:buNone/>
            </a:pPr>
            <a:r>
              <a:rPr lang="en-US" sz="850" dirty="0">
                <a:solidFill>
                  <a:srgbClr val="3B4A66"/>
                </a:solidFill>
                <a:latin typeface="Arial" pitchFamily="34" charset="0"/>
                <a:ea typeface="Arial" pitchFamily="34" charset="-122"/>
                <a:cs typeface="Arial" pitchFamily="34" charset="-120"/>
              </a:rPr>
              <a:t>Same-screen and online. No LAN listed.</a:t>
            </a:r>
            <a:endParaRPr lang="en-US" sz="850" dirty="0"/>
          </a:p>
        </p:txBody>
      </p:sp>
      <p:sp>
        <p:nvSpPr>
          <p:cNvPr id="23" name="Text 10.22"/>
          <p:cNvSpPr txBox="1"/>
          <p:nvPr/>
        </p:nvSpPr>
        <p:spPr>
          <a:xfrm>
            <a:off x="2984425" y="5537062"/>
            <a:ext cx="649501" cy="91438"/>
          </a:xfrm>
          <a:prstGeom prst="rect">
            <a:avLst/>
          </a:prstGeom>
          <a:noFill/>
          <a:ln/>
        </p:spPr>
        <p:txBody>
          <a:bodyPr wrap="square" lIns="0" tIns="0" rIns="0" bIns="0" rtlCol="0" anchor="t"/>
          <a:lstStyle/>
          <a:p>
            <a:pPr algn="l" indent="0" marL="0">
              <a:lnSpc>
                <a:spcPts val="720"/>
              </a:lnSpc>
              <a:buNone/>
            </a:pPr>
            <a:r>
              <a:rPr lang="en-US" sz="600" b="1" spc="72" kern="0" dirty="0">
                <a:solidFill>
                  <a:srgbClr val="1FA9EA"/>
                </a:solidFill>
                <a:latin typeface="Arial" pitchFamily="34" charset="0"/>
                <a:ea typeface="Arial" pitchFamily="34" charset="-122"/>
                <a:cs typeface="Arial" pitchFamily="34" charset="-120"/>
              </a:rPr>
              <a:t>FINANCIALS</a:t>
            </a:r>
            <a:endParaRPr lang="en-US" sz="600" dirty="0"/>
          </a:p>
        </p:txBody>
      </p:sp>
      <p:sp>
        <p:nvSpPr>
          <p:cNvPr id="24" name="Text 10.23"/>
          <p:cNvSpPr txBox="1"/>
          <p:nvPr/>
        </p:nvSpPr>
        <p:spPr>
          <a:xfrm>
            <a:off x="2984425" y="5676758"/>
            <a:ext cx="1854154" cy="146808"/>
          </a:xfrm>
          <a:prstGeom prst="rect">
            <a:avLst/>
          </a:prstGeom>
          <a:noFill/>
          <a:ln/>
        </p:spPr>
        <p:txBody>
          <a:bodyPr wrap="square" lIns="0" tIns="0" rIns="0" bIns="0" rtlCol="0" anchor="t"/>
          <a:lstStyle/>
          <a:p>
            <a:pPr algn="l" indent="0" marL="0">
              <a:lnSpc>
                <a:spcPts val="1160"/>
              </a:lnSpc>
              <a:buNone/>
            </a:pPr>
            <a:r>
              <a:rPr lang="en-US" sz="850" dirty="0">
                <a:solidFill>
                  <a:srgbClr val="3B4A66"/>
                </a:solidFill>
                <a:latin typeface="Arial" pitchFamily="34" charset="0"/>
                <a:ea typeface="Arial" pitchFamily="34" charset="-122"/>
                <a:cs typeface="Arial" pitchFamily="34" charset="-120"/>
              </a:rPr>
              <a:t>85% positive. Owner est. 4.6M–5.8M.</a:t>
            </a:r>
            <a:endParaRPr lang="en-US" sz="850" dirty="0"/>
          </a:p>
        </p:txBody>
      </p:sp>
      <p:sp>
        <p:nvSpPr>
          <p:cNvPr id="25" name="Text 10.24"/>
          <p:cNvSpPr txBox="1"/>
          <p:nvPr/>
        </p:nvSpPr>
        <p:spPr>
          <a:xfrm>
            <a:off x="5194170" y="1777956"/>
            <a:ext cx="761981" cy="190495"/>
          </a:xfrm>
          <a:prstGeom prst="rect">
            <a:avLst/>
          </a:prstGeom>
          <a:noFill/>
          <a:ln/>
        </p:spPr>
        <p:txBody>
          <a:bodyPr wrap="square" lIns="0" tIns="0" rIns="0" bIns="0" rtlCol="0" anchor="ctr"/>
          <a:lstStyle/>
          <a:p>
            <a:pPr algn="ctr" indent="0" marL="0">
              <a:lnSpc>
                <a:spcPts val="600"/>
              </a:lnSpc>
              <a:buNone/>
            </a:pPr>
            <a:r>
              <a:rPr lang="en-US" sz="600" b="1" spc="48" kern="0" dirty="0">
                <a:solidFill>
                  <a:srgbClr val="FFFFFF"/>
                </a:solidFill>
                <a:latin typeface="Arial" pitchFamily="34" charset="0"/>
                <a:ea typeface="Arial" pitchFamily="34" charset="-122"/>
                <a:cs typeface="Arial" pitchFamily="34" charset="-120"/>
              </a:rPr>
              <a:t>FORMAT</a:t>
            </a:r>
            <a:endParaRPr lang="en-US" sz="600" dirty="0"/>
          </a:p>
        </p:txBody>
      </p:sp>
      <p:sp>
        <p:nvSpPr>
          <p:cNvPr id="26" name="Text 10.25"/>
          <p:cNvSpPr txBox="1"/>
          <p:nvPr/>
        </p:nvSpPr>
        <p:spPr>
          <a:xfrm>
            <a:off x="5206870" y="2933627"/>
            <a:ext cx="809359" cy="182558"/>
          </a:xfrm>
          <a:prstGeom prst="rect">
            <a:avLst/>
          </a:prstGeom>
          <a:noFill/>
          <a:ln/>
        </p:spPr>
        <p:txBody>
          <a:bodyPr wrap="square" lIns="0" tIns="0" rIns="0" bIns="0" rtlCol="0" anchor="t"/>
          <a:lstStyle/>
          <a:p>
            <a:pPr algn="l" indent="0" marL="0">
              <a:lnSpc>
                <a:spcPts val="1440"/>
              </a:lnSpc>
              <a:buNone/>
            </a:pPr>
            <a:r>
              <a:rPr lang="en-US" sz="1250" dirty="0">
                <a:solidFill>
                  <a:srgbClr val="16233F"/>
                </a:solidFill>
                <a:latin typeface="Arial Rounded MT Bold" pitchFamily="34" charset="0"/>
                <a:ea typeface="Arial Rounded MT Bold" pitchFamily="34" charset="-122"/>
                <a:cs typeface="Arial Rounded MT Bold" pitchFamily="34" charset="-120"/>
              </a:rPr>
              <a:t>Fall Guys</a:t>
            </a:r>
            <a:endParaRPr lang="en-US" sz="1250" dirty="0"/>
          </a:p>
        </p:txBody>
      </p:sp>
      <p:sp>
        <p:nvSpPr>
          <p:cNvPr id="27" name="Text 10.26"/>
          <p:cNvSpPr txBox="1"/>
          <p:nvPr/>
        </p:nvSpPr>
        <p:spPr>
          <a:xfrm>
            <a:off x="5206870" y="3162221"/>
            <a:ext cx="1074490" cy="124457"/>
          </a:xfrm>
          <a:prstGeom prst="rect">
            <a:avLst/>
          </a:prstGeom>
          <a:noFill/>
          <a:ln/>
        </p:spPr>
        <p:txBody>
          <a:bodyPr wrap="square" lIns="0" tIns="0" rIns="0" bIns="0" rtlCol="0" anchor="t"/>
          <a:lstStyle/>
          <a:p>
            <a:pPr algn="l" indent="0" marL="0">
              <a:lnSpc>
                <a:spcPts val="980"/>
              </a:lnSpc>
              <a:buNone/>
            </a:pPr>
            <a:r>
              <a:rPr lang="en-US" sz="700" dirty="0">
                <a:solidFill>
                  <a:srgbClr val="6E7D9A"/>
                </a:solidFill>
                <a:latin typeface="Arial" pitchFamily="34" charset="0"/>
                <a:ea typeface="Arial" pitchFamily="34" charset="-122"/>
                <a:cs typeface="Arial" pitchFamily="34" charset="-120"/>
              </a:rPr>
              <a:t>Mediatonic / Epic · 2020</a:t>
            </a:r>
            <a:endParaRPr lang="en-US" sz="700" dirty="0"/>
          </a:p>
        </p:txBody>
      </p:sp>
      <p:sp>
        <p:nvSpPr>
          <p:cNvPr id="28" name="Text 10.27"/>
          <p:cNvSpPr txBox="1"/>
          <p:nvPr/>
        </p:nvSpPr>
        <p:spPr>
          <a:xfrm>
            <a:off x="5206870" y="3479713"/>
            <a:ext cx="417919" cy="91438"/>
          </a:xfrm>
          <a:prstGeom prst="rect">
            <a:avLst/>
          </a:prstGeom>
          <a:noFill/>
          <a:ln/>
        </p:spPr>
        <p:txBody>
          <a:bodyPr wrap="square" lIns="0" tIns="0" rIns="0" bIns="0" rtlCol="0" anchor="t"/>
          <a:lstStyle/>
          <a:p>
            <a:pPr algn="l" indent="0" marL="0">
              <a:lnSpc>
                <a:spcPts val="720"/>
              </a:lnSpc>
              <a:buNone/>
            </a:pPr>
            <a:r>
              <a:rPr lang="en-US" sz="600" b="1" spc="72" kern="0" dirty="0">
                <a:solidFill>
                  <a:srgbClr val="43B832"/>
                </a:solidFill>
                <a:latin typeface="Arial" pitchFamily="34" charset="0"/>
                <a:ea typeface="Arial" pitchFamily="34" charset="-122"/>
                <a:cs typeface="Arial" pitchFamily="34" charset="-120"/>
              </a:rPr>
              <a:t>VISUAL</a:t>
            </a:r>
            <a:endParaRPr lang="en-US" sz="600" dirty="0"/>
          </a:p>
        </p:txBody>
      </p:sp>
      <p:sp>
        <p:nvSpPr>
          <p:cNvPr id="29" name="Text 10.28"/>
          <p:cNvSpPr txBox="1"/>
          <p:nvPr/>
        </p:nvSpPr>
        <p:spPr>
          <a:xfrm>
            <a:off x="5206870" y="3619410"/>
            <a:ext cx="1854154" cy="293482"/>
          </a:xfrm>
          <a:prstGeom prst="rect">
            <a:avLst/>
          </a:prstGeom>
          <a:noFill/>
          <a:ln/>
        </p:spPr>
        <p:txBody>
          <a:bodyPr wrap="square" lIns="0" tIns="0" rIns="0" bIns="0" rtlCol="0" anchor="t"/>
          <a:lstStyle/>
          <a:p>
            <a:pPr algn="l" indent="0" marL="0">
              <a:lnSpc>
                <a:spcPts val="1160"/>
              </a:lnSpc>
              <a:buNone/>
            </a:pPr>
            <a:r>
              <a:rPr lang="en-US" sz="850" dirty="0">
                <a:solidFill>
                  <a:srgbClr val="3B4A66"/>
                </a:solidFill>
                <a:latin typeface="Arial" pitchFamily="34" charset="0"/>
                <a:ea typeface="Arial" pitchFamily="34" charset="-122"/>
                <a:cs typeface="Arial" pitchFamily="34" charset="-120"/>
              </a:rPr>
              <a:t>Candy-coloured beans, obstacle courses.</a:t>
            </a:r>
            <a:endParaRPr lang="en-US" sz="850" dirty="0"/>
          </a:p>
        </p:txBody>
      </p:sp>
      <p:sp>
        <p:nvSpPr>
          <p:cNvPr id="30" name="Text 10.29"/>
          <p:cNvSpPr txBox="1"/>
          <p:nvPr/>
        </p:nvSpPr>
        <p:spPr>
          <a:xfrm>
            <a:off x="5206870" y="4165496"/>
            <a:ext cx="576304" cy="91438"/>
          </a:xfrm>
          <a:prstGeom prst="rect">
            <a:avLst/>
          </a:prstGeom>
          <a:noFill/>
          <a:ln/>
        </p:spPr>
        <p:txBody>
          <a:bodyPr wrap="square" lIns="0" tIns="0" rIns="0" bIns="0" rtlCol="0" anchor="t"/>
          <a:lstStyle/>
          <a:p>
            <a:pPr algn="l" indent="0" marL="0">
              <a:lnSpc>
                <a:spcPts val="720"/>
              </a:lnSpc>
              <a:buNone/>
            </a:pPr>
            <a:r>
              <a:rPr lang="en-US" sz="600" b="1" spc="72" kern="0" dirty="0">
                <a:solidFill>
                  <a:srgbClr val="43B832"/>
                </a:solidFill>
                <a:latin typeface="Arial" pitchFamily="34" charset="0"/>
                <a:ea typeface="Arial" pitchFamily="34" charset="-122"/>
                <a:cs typeface="Arial" pitchFamily="34" charset="-120"/>
              </a:rPr>
              <a:t>MECHANIC</a:t>
            </a:r>
            <a:endParaRPr lang="en-US" sz="600" dirty="0"/>
          </a:p>
        </p:txBody>
      </p:sp>
      <p:sp>
        <p:nvSpPr>
          <p:cNvPr id="31" name="Text 10.30"/>
          <p:cNvSpPr txBox="1"/>
          <p:nvPr/>
        </p:nvSpPr>
        <p:spPr>
          <a:xfrm>
            <a:off x="5206870" y="4305192"/>
            <a:ext cx="1854154" cy="293482"/>
          </a:xfrm>
          <a:prstGeom prst="rect">
            <a:avLst/>
          </a:prstGeom>
          <a:noFill/>
          <a:ln/>
        </p:spPr>
        <p:txBody>
          <a:bodyPr wrap="square" lIns="0" tIns="0" rIns="0" bIns="0" rtlCol="0" anchor="t"/>
          <a:lstStyle/>
          <a:p>
            <a:pPr algn="l" indent="0" marL="0">
              <a:lnSpc>
                <a:spcPts val="1160"/>
              </a:lnSpc>
              <a:buNone/>
            </a:pPr>
            <a:r>
              <a:rPr lang="en-US" sz="850" dirty="0">
                <a:solidFill>
                  <a:srgbClr val="3B4A66"/>
                </a:solidFill>
                <a:latin typeface="Arial" pitchFamily="34" charset="0"/>
                <a:ea typeface="Arial" pitchFamily="34" charset="-122"/>
                <a:cs typeface="Arial" pitchFamily="34" charset="-120"/>
              </a:rPr>
              <a:t>Short race and survival rounds in a playlist.</a:t>
            </a:r>
            <a:endParaRPr lang="en-US" sz="850" dirty="0"/>
          </a:p>
        </p:txBody>
      </p:sp>
      <p:sp>
        <p:nvSpPr>
          <p:cNvPr id="32" name="Text 10.31"/>
          <p:cNvSpPr txBox="1"/>
          <p:nvPr/>
        </p:nvSpPr>
        <p:spPr>
          <a:xfrm>
            <a:off x="5206870" y="4851279"/>
            <a:ext cx="731113" cy="91438"/>
          </a:xfrm>
          <a:prstGeom prst="rect">
            <a:avLst/>
          </a:prstGeom>
          <a:noFill/>
          <a:ln/>
        </p:spPr>
        <p:txBody>
          <a:bodyPr wrap="square" lIns="0" tIns="0" rIns="0" bIns="0" rtlCol="0" anchor="t"/>
          <a:lstStyle/>
          <a:p>
            <a:pPr algn="l" indent="0" marL="0">
              <a:lnSpc>
                <a:spcPts val="720"/>
              </a:lnSpc>
              <a:buNone/>
            </a:pPr>
            <a:r>
              <a:rPr lang="en-US" sz="600" b="1" spc="72" kern="0" dirty="0">
                <a:solidFill>
                  <a:srgbClr val="43B832"/>
                </a:solidFill>
                <a:latin typeface="Arial" pitchFamily="34" charset="0"/>
                <a:ea typeface="Arial" pitchFamily="34" charset="-122"/>
                <a:cs typeface="Arial" pitchFamily="34" charset="-120"/>
              </a:rPr>
              <a:t>MULTIPLAYER</a:t>
            </a:r>
            <a:endParaRPr lang="en-US" sz="600" dirty="0"/>
          </a:p>
        </p:txBody>
      </p:sp>
      <p:sp>
        <p:nvSpPr>
          <p:cNvPr id="33" name="Text 10.32"/>
          <p:cNvSpPr txBox="1"/>
          <p:nvPr/>
        </p:nvSpPr>
        <p:spPr>
          <a:xfrm>
            <a:off x="5206870" y="4990975"/>
            <a:ext cx="1854154" cy="146808"/>
          </a:xfrm>
          <a:prstGeom prst="rect">
            <a:avLst/>
          </a:prstGeom>
          <a:noFill/>
          <a:ln/>
        </p:spPr>
        <p:txBody>
          <a:bodyPr wrap="square" lIns="0" tIns="0" rIns="0" bIns="0" rtlCol="0" anchor="t"/>
          <a:lstStyle/>
          <a:p>
            <a:pPr algn="l" indent="0" marL="0">
              <a:lnSpc>
                <a:spcPts val="1160"/>
              </a:lnSpc>
              <a:buNone/>
            </a:pPr>
            <a:r>
              <a:rPr lang="en-US" sz="850" dirty="0">
                <a:solidFill>
                  <a:srgbClr val="3B4A66"/>
                </a:solidFill>
                <a:latin typeface="Arial" pitchFamily="34" charset="0"/>
                <a:ea typeface="Arial" pitchFamily="34" charset="-122"/>
                <a:cs typeface="Arial" pitchFamily="34" charset="-120"/>
              </a:rPr>
              <a:t>Online, cross-platform only.</a:t>
            </a:r>
            <a:endParaRPr lang="en-US" sz="850" dirty="0"/>
          </a:p>
        </p:txBody>
      </p:sp>
      <p:sp>
        <p:nvSpPr>
          <p:cNvPr id="34" name="Text 10.33"/>
          <p:cNvSpPr txBox="1"/>
          <p:nvPr/>
        </p:nvSpPr>
        <p:spPr>
          <a:xfrm>
            <a:off x="5206870" y="5537062"/>
            <a:ext cx="649501" cy="91438"/>
          </a:xfrm>
          <a:prstGeom prst="rect">
            <a:avLst/>
          </a:prstGeom>
          <a:noFill/>
          <a:ln/>
        </p:spPr>
        <p:txBody>
          <a:bodyPr wrap="square" lIns="0" tIns="0" rIns="0" bIns="0" rtlCol="0" anchor="t"/>
          <a:lstStyle/>
          <a:p>
            <a:pPr algn="l" indent="0" marL="0">
              <a:lnSpc>
                <a:spcPts val="720"/>
              </a:lnSpc>
              <a:buNone/>
            </a:pPr>
            <a:r>
              <a:rPr lang="en-US" sz="600" b="1" spc="72" kern="0" dirty="0">
                <a:solidFill>
                  <a:srgbClr val="43B832"/>
                </a:solidFill>
                <a:latin typeface="Arial" pitchFamily="34" charset="0"/>
                <a:ea typeface="Arial" pitchFamily="34" charset="-122"/>
                <a:cs typeface="Arial" pitchFamily="34" charset="-120"/>
              </a:rPr>
              <a:t>FINANCIALS</a:t>
            </a:r>
            <a:endParaRPr lang="en-US" sz="600" dirty="0"/>
          </a:p>
        </p:txBody>
      </p:sp>
      <p:sp>
        <p:nvSpPr>
          <p:cNvPr id="35" name="Text 10.34"/>
          <p:cNvSpPr txBox="1"/>
          <p:nvPr/>
        </p:nvSpPr>
        <p:spPr>
          <a:xfrm>
            <a:off x="5206870" y="5676758"/>
            <a:ext cx="1854154" cy="293482"/>
          </a:xfrm>
          <a:prstGeom prst="rect">
            <a:avLst/>
          </a:prstGeom>
          <a:noFill/>
          <a:ln/>
        </p:spPr>
        <p:txBody>
          <a:bodyPr wrap="square" lIns="0" tIns="0" rIns="0" bIns="0" rtlCol="0" anchor="t"/>
          <a:lstStyle/>
          <a:p>
            <a:pPr algn="l" indent="0" marL="0">
              <a:lnSpc>
                <a:spcPts val="1160"/>
              </a:lnSpc>
              <a:buNone/>
            </a:pPr>
            <a:r>
              <a:rPr lang="en-US" sz="850" dirty="0">
                <a:solidFill>
                  <a:srgbClr val="3B4A66"/>
                </a:solidFill>
                <a:latin typeface="Arial" pitchFamily="34" charset="0"/>
                <a:ea typeface="Arial" pitchFamily="34" charset="-122"/>
                <a:cs typeface="Arial" pitchFamily="34" charset="-120"/>
              </a:rPr>
              <a:t>Free-to-play. Legacy Steam peak 172,213. Metacritic 80.</a:t>
            </a:r>
            <a:endParaRPr lang="en-US" sz="850" dirty="0"/>
          </a:p>
        </p:txBody>
      </p:sp>
      <p:sp>
        <p:nvSpPr>
          <p:cNvPr id="36" name="Text 10.35"/>
          <p:cNvSpPr txBox="1"/>
          <p:nvPr/>
        </p:nvSpPr>
        <p:spPr>
          <a:xfrm>
            <a:off x="7416615" y="1777956"/>
            <a:ext cx="761981" cy="190495"/>
          </a:xfrm>
          <a:prstGeom prst="rect">
            <a:avLst/>
          </a:prstGeom>
          <a:noFill/>
          <a:ln/>
        </p:spPr>
        <p:txBody>
          <a:bodyPr wrap="square" lIns="0" tIns="0" rIns="0" bIns="0" rtlCol="0" anchor="ctr"/>
          <a:lstStyle/>
          <a:p>
            <a:pPr algn="ctr" indent="0" marL="0">
              <a:lnSpc>
                <a:spcPts val="600"/>
              </a:lnSpc>
              <a:buNone/>
            </a:pPr>
            <a:r>
              <a:rPr lang="en-US" sz="600" b="1" spc="48" kern="0" dirty="0">
                <a:solidFill>
                  <a:srgbClr val="FFFFFF"/>
                </a:solidFill>
                <a:latin typeface="Arial" pitchFamily="34" charset="0"/>
                <a:ea typeface="Arial" pitchFamily="34" charset="-122"/>
                <a:cs typeface="Arial" pitchFamily="34" charset="-120"/>
              </a:rPr>
              <a:t>FORMAT</a:t>
            </a:r>
            <a:endParaRPr lang="en-US" sz="600" dirty="0"/>
          </a:p>
        </p:txBody>
      </p:sp>
      <p:sp>
        <p:nvSpPr>
          <p:cNvPr id="37" name="Text 10.36"/>
          <p:cNvSpPr txBox="1"/>
          <p:nvPr/>
        </p:nvSpPr>
        <p:spPr>
          <a:xfrm>
            <a:off x="7429314" y="2933627"/>
            <a:ext cx="1195225" cy="182558"/>
          </a:xfrm>
          <a:prstGeom prst="rect">
            <a:avLst/>
          </a:prstGeom>
          <a:noFill/>
          <a:ln/>
        </p:spPr>
        <p:txBody>
          <a:bodyPr wrap="square" lIns="0" tIns="0" rIns="0" bIns="0" rtlCol="0" anchor="t"/>
          <a:lstStyle/>
          <a:p>
            <a:pPr algn="l" indent="0" marL="0">
              <a:lnSpc>
                <a:spcPts val="1440"/>
              </a:lnSpc>
              <a:buNone/>
            </a:pPr>
            <a:r>
              <a:rPr lang="en-US" sz="1250" dirty="0">
                <a:solidFill>
                  <a:srgbClr val="16233F"/>
                </a:solidFill>
                <a:latin typeface="Arial Rounded MT Bold" pitchFamily="34" charset="0"/>
                <a:ea typeface="Arial Rounded MT Bold" pitchFamily="34" charset="-122"/>
                <a:cs typeface="Arial Rounded MT Bold" pitchFamily="34" charset="-120"/>
              </a:rPr>
              <a:t>Pummel Party</a:t>
            </a:r>
            <a:endParaRPr lang="en-US" sz="1250" dirty="0"/>
          </a:p>
        </p:txBody>
      </p:sp>
      <p:sp>
        <p:nvSpPr>
          <p:cNvPr id="38" name="Text 10.37"/>
          <p:cNvSpPr txBox="1"/>
          <p:nvPr/>
        </p:nvSpPr>
        <p:spPr>
          <a:xfrm>
            <a:off x="7429314" y="3162221"/>
            <a:ext cx="980154" cy="124457"/>
          </a:xfrm>
          <a:prstGeom prst="rect">
            <a:avLst/>
          </a:prstGeom>
          <a:noFill/>
          <a:ln/>
        </p:spPr>
        <p:txBody>
          <a:bodyPr wrap="square" lIns="0" tIns="0" rIns="0" bIns="0" rtlCol="0" anchor="t"/>
          <a:lstStyle/>
          <a:p>
            <a:pPr algn="l" indent="0" marL="0">
              <a:lnSpc>
                <a:spcPts val="980"/>
              </a:lnSpc>
              <a:buNone/>
            </a:pPr>
            <a:r>
              <a:rPr lang="en-US" sz="700" dirty="0">
                <a:solidFill>
                  <a:srgbClr val="6E7D9A"/>
                </a:solidFill>
                <a:latin typeface="Arial" pitchFamily="34" charset="0"/>
                <a:ea typeface="Arial" pitchFamily="34" charset="-122"/>
                <a:cs typeface="Arial" pitchFamily="34" charset="-120"/>
              </a:rPr>
              <a:t>Rebuilt Games · 2018</a:t>
            </a:r>
            <a:endParaRPr lang="en-US" sz="700" dirty="0"/>
          </a:p>
        </p:txBody>
      </p:sp>
      <p:sp>
        <p:nvSpPr>
          <p:cNvPr id="39" name="Text 10.38"/>
          <p:cNvSpPr txBox="1"/>
          <p:nvPr/>
        </p:nvSpPr>
        <p:spPr>
          <a:xfrm>
            <a:off x="7429314" y="3479713"/>
            <a:ext cx="417919" cy="91438"/>
          </a:xfrm>
          <a:prstGeom prst="rect">
            <a:avLst/>
          </a:prstGeom>
          <a:noFill/>
          <a:ln/>
        </p:spPr>
        <p:txBody>
          <a:bodyPr wrap="square" lIns="0" tIns="0" rIns="0" bIns="0" rtlCol="0" anchor="t"/>
          <a:lstStyle/>
          <a:p>
            <a:pPr algn="l" indent="0" marL="0">
              <a:lnSpc>
                <a:spcPts val="720"/>
              </a:lnSpc>
              <a:buNone/>
            </a:pPr>
            <a:r>
              <a:rPr lang="en-US" sz="600" b="1" spc="72" kern="0" dirty="0">
                <a:solidFill>
                  <a:srgbClr val="43B832"/>
                </a:solidFill>
                <a:latin typeface="Arial" pitchFamily="34" charset="0"/>
                <a:ea typeface="Arial" pitchFamily="34" charset="-122"/>
                <a:cs typeface="Arial" pitchFamily="34" charset="-120"/>
              </a:rPr>
              <a:t>VISUAL</a:t>
            </a:r>
            <a:endParaRPr lang="en-US" sz="600" dirty="0"/>
          </a:p>
        </p:txBody>
      </p:sp>
      <p:sp>
        <p:nvSpPr>
          <p:cNvPr id="40" name="Text 10.39"/>
          <p:cNvSpPr txBox="1"/>
          <p:nvPr/>
        </p:nvSpPr>
        <p:spPr>
          <a:xfrm>
            <a:off x="7429314" y="3619410"/>
            <a:ext cx="1854154" cy="293482"/>
          </a:xfrm>
          <a:prstGeom prst="rect">
            <a:avLst/>
          </a:prstGeom>
          <a:noFill/>
          <a:ln/>
        </p:spPr>
        <p:txBody>
          <a:bodyPr wrap="square" lIns="0" tIns="0" rIns="0" bIns="0" rtlCol="0" anchor="t"/>
          <a:lstStyle/>
          <a:p>
            <a:pPr algn="l" indent="0" marL="0">
              <a:lnSpc>
                <a:spcPts val="1160"/>
              </a:lnSpc>
              <a:buNone/>
            </a:pPr>
            <a:r>
              <a:rPr lang="en-US" sz="850" dirty="0">
                <a:solidFill>
                  <a:srgbClr val="3B4A66"/>
                </a:solidFill>
                <a:latin typeface="Arial" pitchFamily="34" charset="0"/>
                <a:ea typeface="Arial" pitchFamily="34" charset="-122"/>
                <a:cs typeface="Arial" pitchFamily="34" charset="-120"/>
              </a:rPr>
              <a:t>Colourful low-poly 3D, slapstick items.</a:t>
            </a:r>
            <a:endParaRPr lang="en-US" sz="850" dirty="0"/>
          </a:p>
        </p:txBody>
      </p:sp>
      <p:sp>
        <p:nvSpPr>
          <p:cNvPr id="41" name="Text 10.40"/>
          <p:cNvSpPr txBox="1"/>
          <p:nvPr/>
        </p:nvSpPr>
        <p:spPr>
          <a:xfrm>
            <a:off x="7429314" y="4165496"/>
            <a:ext cx="576304" cy="91438"/>
          </a:xfrm>
          <a:prstGeom prst="rect">
            <a:avLst/>
          </a:prstGeom>
          <a:noFill/>
          <a:ln/>
        </p:spPr>
        <p:txBody>
          <a:bodyPr wrap="square" lIns="0" tIns="0" rIns="0" bIns="0" rtlCol="0" anchor="t"/>
          <a:lstStyle/>
          <a:p>
            <a:pPr algn="l" indent="0" marL="0">
              <a:lnSpc>
                <a:spcPts val="720"/>
              </a:lnSpc>
              <a:buNone/>
            </a:pPr>
            <a:r>
              <a:rPr lang="en-US" sz="600" b="1" spc="72" kern="0" dirty="0">
                <a:solidFill>
                  <a:srgbClr val="43B832"/>
                </a:solidFill>
                <a:latin typeface="Arial" pitchFamily="34" charset="0"/>
                <a:ea typeface="Arial" pitchFamily="34" charset="-122"/>
                <a:cs typeface="Arial" pitchFamily="34" charset="-120"/>
              </a:rPr>
              <a:t>MECHANIC</a:t>
            </a:r>
            <a:endParaRPr lang="en-US" sz="600" dirty="0"/>
          </a:p>
        </p:txBody>
      </p:sp>
      <p:sp>
        <p:nvSpPr>
          <p:cNvPr id="42" name="Text 10.41"/>
          <p:cNvSpPr txBox="1"/>
          <p:nvPr/>
        </p:nvSpPr>
        <p:spPr>
          <a:xfrm>
            <a:off x="7429314" y="4305192"/>
            <a:ext cx="1854154" cy="293482"/>
          </a:xfrm>
          <a:prstGeom prst="rect">
            <a:avLst/>
          </a:prstGeom>
          <a:noFill/>
          <a:ln/>
        </p:spPr>
        <p:txBody>
          <a:bodyPr wrap="square" lIns="0" tIns="0" rIns="0" bIns="0" rtlCol="0" anchor="t"/>
          <a:lstStyle/>
          <a:p>
            <a:pPr algn="l" indent="0" marL="0">
              <a:lnSpc>
                <a:spcPts val="1160"/>
              </a:lnSpc>
              <a:buNone/>
            </a:pPr>
            <a:r>
              <a:rPr lang="en-US" sz="850" dirty="0">
                <a:solidFill>
                  <a:srgbClr val="3B4A66"/>
                </a:solidFill>
                <a:latin typeface="Arial" pitchFamily="34" charset="0"/>
                <a:ea typeface="Arial" pitchFamily="34" charset="-122"/>
                <a:cs typeface="Arial" pitchFamily="34" charset="-120"/>
              </a:rPr>
              <a:t>Board game with short competitive mini-games.</a:t>
            </a:r>
            <a:endParaRPr lang="en-US" sz="850" dirty="0"/>
          </a:p>
        </p:txBody>
      </p:sp>
      <p:sp>
        <p:nvSpPr>
          <p:cNvPr id="43" name="Text 10.42"/>
          <p:cNvSpPr txBox="1"/>
          <p:nvPr/>
        </p:nvSpPr>
        <p:spPr>
          <a:xfrm>
            <a:off x="7429314" y="4851279"/>
            <a:ext cx="731113" cy="91438"/>
          </a:xfrm>
          <a:prstGeom prst="rect">
            <a:avLst/>
          </a:prstGeom>
          <a:noFill/>
          <a:ln/>
        </p:spPr>
        <p:txBody>
          <a:bodyPr wrap="square" lIns="0" tIns="0" rIns="0" bIns="0" rtlCol="0" anchor="t"/>
          <a:lstStyle/>
          <a:p>
            <a:pPr algn="l" indent="0" marL="0">
              <a:lnSpc>
                <a:spcPts val="720"/>
              </a:lnSpc>
              <a:buNone/>
            </a:pPr>
            <a:r>
              <a:rPr lang="en-US" sz="600" b="1" spc="72" kern="0" dirty="0">
                <a:solidFill>
                  <a:srgbClr val="43B832"/>
                </a:solidFill>
                <a:latin typeface="Arial" pitchFamily="34" charset="0"/>
                <a:ea typeface="Arial" pitchFamily="34" charset="-122"/>
                <a:cs typeface="Arial" pitchFamily="34" charset="-120"/>
              </a:rPr>
              <a:t>MULTIPLAYER</a:t>
            </a:r>
            <a:endParaRPr lang="en-US" sz="600" dirty="0"/>
          </a:p>
        </p:txBody>
      </p:sp>
      <p:sp>
        <p:nvSpPr>
          <p:cNvPr id="44" name="Text 10.43"/>
          <p:cNvSpPr txBox="1"/>
          <p:nvPr/>
        </p:nvSpPr>
        <p:spPr>
          <a:xfrm>
            <a:off x="7429314" y="4990975"/>
            <a:ext cx="1854154" cy="146808"/>
          </a:xfrm>
          <a:prstGeom prst="rect">
            <a:avLst/>
          </a:prstGeom>
          <a:noFill/>
          <a:ln/>
        </p:spPr>
        <p:txBody>
          <a:bodyPr wrap="square" lIns="0" tIns="0" rIns="0" bIns="0" rtlCol="0" anchor="t"/>
          <a:lstStyle/>
          <a:p>
            <a:pPr algn="l" indent="0" marL="0">
              <a:lnSpc>
                <a:spcPts val="1160"/>
              </a:lnSpc>
              <a:buNone/>
            </a:pPr>
            <a:r>
              <a:rPr lang="en-US" sz="850" dirty="0">
                <a:solidFill>
                  <a:srgbClr val="3B4A66"/>
                </a:solidFill>
                <a:latin typeface="Arial" pitchFamily="34" charset="0"/>
                <a:ea typeface="Arial" pitchFamily="34" charset="-122"/>
                <a:cs typeface="Arial" pitchFamily="34" charset="-120"/>
              </a:rPr>
              <a:t>4–8 online and local. No LAN listed.</a:t>
            </a:r>
            <a:endParaRPr lang="en-US" sz="850" dirty="0"/>
          </a:p>
        </p:txBody>
      </p:sp>
      <p:sp>
        <p:nvSpPr>
          <p:cNvPr id="45" name="Text 10.44"/>
          <p:cNvSpPr txBox="1"/>
          <p:nvPr/>
        </p:nvSpPr>
        <p:spPr>
          <a:xfrm>
            <a:off x="7429314" y="5537062"/>
            <a:ext cx="649501" cy="91438"/>
          </a:xfrm>
          <a:prstGeom prst="rect">
            <a:avLst/>
          </a:prstGeom>
          <a:noFill/>
          <a:ln/>
        </p:spPr>
        <p:txBody>
          <a:bodyPr wrap="square" lIns="0" tIns="0" rIns="0" bIns="0" rtlCol="0" anchor="t"/>
          <a:lstStyle/>
          <a:p>
            <a:pPr algn="l" indent="0" marL="0">
              <a:lnSpc>
                <a:spcPts val="720"/>
              </a:lnSpc>
              <a:buNone/>
            </a:pPr>
            <a:r>
              <a:rPr lang="en-US" sz="600" b="1" spc="72" kern="0" dirty="0">
                <a:solidFill>
                  <a:srgbClr val="43B832"/>
                </a:solidFill>
                <a:latin typeface="Arial" pitchFamily="34" charset="0"/>
                <a:ea typeface="Arial" pitchFamily="34" charset="-122"/>
                <a:cs typeface="Arial" pitchFamily="34" charset="-120"/>
              </a:rPr>
              <a:t>FINANCIALS</a:t>
            </a:r>
            <a:endParaRPr lang="en-US" sz="600" dirty="0"/>
          </a:p>
        </p:txBody>
      </p:sp>
      <p:sp>
        <p:nvSpPr>
          <p:cNvPr id="46" name="Text 10.45"/>
          <p:cNvSpPr txBox="1"/>
          <p:nvPr/>
        </p:nvSpPr>
        <p:spPr>
          <a:xfrm>
            <a:off x="7429314" y="5676758"/>
            <a:ext cx="1854154" cy="293482"/>
          </a:xfrm>
          <a:prstGeom prst="rect">
            <a:avLst/>
          </a:prstGeom>
          <a:noFill/>
          <a:ln/>
        </p:spPr>
        <p:txBody>
          <a:bodyPr wrap="square" lIns="0" tIns="0" rIns="0" bIns="0" rtlCol="0" anchor="t"/>
          <a:lstStyle/>
          <a:p>
            <a:pPr algn="l" indent="0" marL="0">
              <a:lnSpc>
                <a:spcPts val="1160"/>
              </a:lnSpc>
              <a:buNone/>
            </a:pPr>
            <a:r>
              <a:rPr lang="en-US" sz="850" dirty="0">
                <a:solidFill>
                  <a:srgbClr val="3B4A66"/>
                </a:solidFill>
                <a:latin typeface="Arial" pitchFamily="34" charset="0"/>
                <a:ea typeface="Arial" pitchFamily="34" charset="-122"/>
                <a:cs typeface="Arial" pitchFamily="34" charset="-120"/>
              </a:rPr>
              <a:t>$14.99. Peak 20,957. Owner est. 1.5M–7.6M.</a:t>
            </a:r>
            <a:endParaRPr lang="en-US" sz="850" dirty="0"/>
          </a:p>
        </p:txBody>
      </p:sp>
      <p:sp>
        <p:nvSpPr>
          <p:cNvPr id="47" name="Text 10.46"/>
          <p:cNvSpPr txBox="1"/>
          <p:nvPr/>
        </p:nvSpPr>
        <p:spPr>
          <a:xfrm>
            <a:off x="9639059" y="1777956"/>
            <a:ext cx="761981" cy="190495"/>
          </a:xfrm>
          <a:prstGeom prst="rect">
            <a:avLst/>
          </a:prstGeom>
          <a:noFill/>
          <a:ln/>
        </p:spPr>
        <p:txBody>
          <a:bodyPr wrap="square" lIns="0" tIns="0" rIns="0" bIns="0" rtlCol="0" anchor="ctr"/>
          <a:lstStyle/>
          <a:p>
            <a:pPr algn="ctr" indent="0" marL="0">
              <a:lnSpc>
                <a:spcPts val="600"/>
              </a:lnSpc>
              <a:buNone/>
            </a:pPr>
            <a:r>
              <a:rPr lang="en-US" sz="600" b="1" spc="48" kern="0" dirty="0">
                <a:solidFill>
                  <a:srgbClr val="FFFFFF"/>
                </a:solidFill>
                <a:latin typeface="Arial" pitchFamily="34" charset="0"/>
                <a:ea typeface="Arial" pitchFamily="34" charset="-122"/>
                <a:cs typeface="Arial" pitchFamily="34" charset="-120"/>
              </a:rPr>
              <a:t>MECHANIC</a:t>
            </a:r>
            <a:endParaRPr lang="en-US" sz="600" dirty="0"/>
          </a:p>
        </p:txBody>
      </p:sp>
      <p:sp>
        <p:nvSpPr>
          <p:cNvPr id="48" name="Text 10.47"/>
          <p:cNvSpPr txBox="1"/>
          <p:nvPr/>
        </p:nvSpPr>
        <p:spPr>
          <a:xfrm>
            <a:off x="9651759" y="2933627"/>
            <a:ext cx="853740" cy="182558"/>
          </a:xfrm>
          <a:prstGeom prst="rect">
            <a:avLst/>
          </a:prstGeom>
          <a:noFill/>
          <a:ln/>
        </p:spPr>
        <p:txBody>
          <a:bodyPr wrap="square" lIns="0" tIns="0" rIns="0" bIns="0" rtlCol="0" anchor="t"/>
          <a:lstStyle/>
          <a:p>
            <a:pPr algn="l" indent="0" marL="0">
              <a:lnSpc>
                <a:spcPts val="1440"/>
              </a:lnSpc>
              <a:buNone/>
            </a:pPr>
            <a:r>
              <a:rPr lang="en-US" sz="1250" dirty="0">
                <a:solidFill>
                  <a:srgbClr val="16233F"/>
                </a:solidFill>
                <a:latin typeface="Arial Rounded MT Bold" pitchFamily="34" charset="0"/>
                <a:ea typeface="Arial Rounded MT Bold" pitchFamily="34" charset="-122"/>
                <a:cs typeface="Arial Rounded MT Bold" pitchFamily="34" charset="-120"/>
              </a:rPr>
              <a:t>Squarena</a:t>
            </a:r>
            <a:endParaRPr lang="en-US" sz="1250" dirty="0"/>
          </a:p>
        </p:txBody>
      </p:sp>
      <p:sp>
        <p:nvSpPr>
          <p:cNvPr id="49" name="Text 10.48"/>
          <p:cNvSpPr txBox="1"/>
          <p:nvPr/>
        </p:nvSpPr>
        <p:spPr>
          <a:xfrm>
            <a:off x="9651759" y="3162221"/>
            <a:ext cx="875405" cy="124457"/>
          </a:xfrm>
          <a:prstGeom prst="rect">
            <a:avLst/>
          </a:prstGeom>
          <a:noFill/>
          <a:ln/>
        </p:spPr>
        <p:txBody>
          <a:bodyPr wrap="square" lIns="0" tIns="0" rIns="0" bIns="0" rtlCol="0" anchor="t"/>
          <a:lstStyle/>
          <a:p>
            <a:pPr algn="l" indent="0" marL="0">
              <a:lnSpc>
                <a:spcPts val="980"/>
              </a:lnSpc>
              <a:buNone/>
            </a:pPr>
            <a:r>
              <a:rPr lang="en-US" sz="700" dirty="0">
                <a:solidFill>
                  <a:srgbClr val="6E7D9A"/>
                </a:solidFill>
                <a:latin typeface="Arial" pitchFamily="34" charset="0"/>
                <a:ea typeface="Arial" pitchFamily="34" charset="-122"/>
                <a:cs typeface="Arial" pitchFamily="34" charset="-120"/>
              </a:rPr>
              <a:t>Codeaclysm · 2022</a:t>
            </a:r>
            <a:endParaRPr lang="en-US" sz="700" dirty="0"/>
          </a:p>
        </p:txBody>
      </p:sp>
      <p:sp>
        <p:nvSpPr>
          <p:cNvPr id="50" name="Text 10.49"/>
          <p:cNvSpPr txBox="1"/>
          <p:nvPr/>
        </p:nvSpPr>
        <p:spPr>
          <a:xfrm>
            <a:off x="9651759" y="3479713"/>
            <a:ext cx="417919" cy="91438"/>
          </a:xfrm>
          <a:prstGeom prst="rect">
            <a:avLst/>
          </a:prstGeom>
          <a:noFill/>
          <a:ln/>
        </p:spPr>
        <p:txBody>
          <a:bodyPr wrap="square" lIns="0" tIns="0" rIns="0" bIns="0" rtlCol="0" anchor="t"/>
          <a:lstStyle/>
          <a:p>
            <a:pPr algn="l" indent="0" marL="0">
              <a:lnSpc>
                <a:spcPts val="720"/>
              </a:lnSpc>
              <a:buNone/>
            </a:pPr>
            <a:r>
              <a:rPr lang="en-US" sz="600" b="1" spc="72" kern="0" dirty="0">
                <a:solidFill>
                  <a:srgbClr val="8F55F5"/>
                </a:solidFill>
                <a:latin typeface="Arial" pitchFamily="34" charset="0"/>
                <a:ea typeface="Arial" pitchFamily="34" charset="-122"/>
                <a:cs typeface="Arial" pitchFamily="34" charset="-120"/>
              </a:rPr>
              <a:t>VISUAL</a:t>
            </a:r>
            <a:endParaRPr lang="en-US" sz="600" dirty="0"/>
          </a:p>
        </p:txBody>
      </p:sp>
      <p:sp>
        <p:nvSpPr>
          <p:cNvPr id="51" name="Text 10.50"/>
          <p:cNvSpPr txBox="1"/>
          <p:nvPr/>
        </p:nvSpPr>
        <p:spPr>
          <a:xfrm>
            <a:off x="9651759" y="3619410"/>
            <a:ext cx="1854154" cy="146808"/>
          </a:xfrm>
          <a:prstGeom prst="rect">
            <a:avLst/>
          </a:prstGeom>
          <a:noFill/>
          <a:ln/>
        </p:spPr>
        <p:txBody>
          <a:bodyPr wrap="square" lIns="0" tIns="0" rIns="0" bIns="0" rtlCol="0" anchor="t"/>
          <a:lstStyle/>
          <a:p>
            <a:pPr algn="l" indent="0" marL="0">
              <a:lnSpc>
                <a:spcPts val="1160"/>
              </a:lnSpc>
              <a:buNone/>
            </a:pPr>
            <a:r>
              <a:rPr lang="en-US" sz="850" dirty="0">
                <a:solidFill>
                  <a:srgbClr val="3B4A66"/>
                </a:solidFill>
                <a:latin typeface="Arial" pitchFamily="34" charset="0"/>
                <a:ea typeface="Arial" pitchFamily="34" charset="-122"/>
                <a:cs typeface="Arial" pitchFamily="34" charset="-120"/>
              </a:rPr>
              <a:t>Minimal flat 2D squares.</a:t>
            </a:r>
            <a:endParaRPr lang="en-US" sz="850" dirty="0"/>
          </a:p>
        </p:txBody>
      </p:sp>
      <p:sp>
        <p:nvSpPr>
          <p:cNvPr id="52" name="Text 10.51"/>
          <p:cNvSpPr txBox="1"/>
          <p:nvPr/>
        </p:nvSpPr>
        <p:spPr>
          <a:xfrm>
            <a:off x="9651759" y="4165496"/>
            <a:ext cx="576304" cy="91438"/>
          </a:xfrm>
          <a:prstGeom prst="rect">
            <a:avLst/>
          </a:prstGeom>
          <a:noFill/>
          <a:ln/>
        </p:spPr>
        <p:txBody>
          <a:bodyPr wrap="square" lIns="0" tIns="0" rIns="0" bIns="0" rtlCol="0" anchor="t"/>
          <a:lstStyle/>
          <a:p>
            <a:pPr algn="l" indent="0" marL="0">
              <a:lnSpc>
                <a:spcPts val="720"/>
              </a:lnSpc>
              <a:buNone/>
            </a:pPr>
            <a:r>
              <a:rPr lang="en-US" sz="600" b="1" spc="72" kern="0" dirty="0">
                <a:solidFill>
                  <a:srgbClr val="8F55F5"/>
                </a:solidFill>
                <a:latin typeface="Arial" pitchFamily="34" charset="0"/>
                <a:ea typeface="Arial" pitchFamily="34" charset="-122"/>
                <a:cs typeface="Arial" pitchFamily="34" charset="-120"/>
              </a:rPr>
              <a:t>MECHANIC</a:t>
            </a:r>
            <a:endParaRPr lang="en-US" sz="600" dirty="0"/>
          </a:p>
        </p:txBody>
      </p:sp>
      <p:sp>
        <p:nvSpPr>
          <p:cNvPr id="53" name="Text 10.52"/>
          <p:cNvSpPr txBox="1"/>
          <p:nvPr/>
        </p:nvSpPr>
        <p:spPr>
          <a:xfrm>
            <a:off x="9651759" y="4305192"/>
            <a:ext cx="1854154" cy="293482"/>
          </a:xfrm>
          <a:prstGeom prst="rect">
            <a:avLst/>
          </a:prstGeom>
          <a:noFill/>
          <a:ln/>
        </p:spPr>
        <p:txBody>
          <a:bodyPr wrap="square" lIns="0" tIns="0" rIns="0" bIns="0" rtlCol="0" anchor="t"/>
          <a:lstStyle/>
          <a:p>
            <a:pPr algn="l" indent="0" marL="0">
              <a:lnSpc>
                <a:spcPts val="1160"/>
              </a:lnSpc>
              <a:buNone/>
            </a:pPr>
            <a:r>
              <a:rPr lang="en-US" sz="850" dirty="0">
                <a:solidFill>
                  <a:srgbClr val="3B4A66"/>
                </a:solidFill>
                <a:latin typeface="Arial" pitchFamily="34" charset="0"/>
                <a:ea typeface="Arial" pitchFamily="34" charset="-122"/>
                <a:cs typeface="Arial" pitchFamily="34" charset="-120"/>
              </a:rPr>
              <a:t>Arena shooter: low health shrinks you; small bodies feel more recoil.</a:t>
            </a:r>
            <a:endParaRPr lang="en-US" sz="850" dirty="0"/>
          </a:p>
        </p:txBody>
      </p:sp>
      <p:sp>
        <p:nvSpPr>
          <p:cNvPr id="54" name="Text 10.53"/>
          <p:cNvSpPr txBox="1"/>
          <p:nvPr/>
        </p:nvSpPr>
        <p:spPr>
          <a:xfrm>
            <a:off x="9651759" y="4851279"/>
            <a:ext cx="731113" cy="91438"/>
          </a:xfrm>
          <a:prstGeom prst="rect">
            <a:avLst/>
          </a:prstGeom>
          <a:noFill/>
          <a:ln/>
        </p:spPr>
        <p:txBody>
          <a:bodyPr wrap="square" lIns="0" tIns="0" rIns="0" bIns="0" rtlCol="0" anchor="t"/>
          <a:lstStyle/>
          <a:p>
            <a:pPr algn="l" indent="0" marL="0">
              <a:lnSpc>
                <a:spcPts val="720"/>
              </a:lnSpc>
              <a:buNone/>
            </a:pPr>
            <a:r>
              <a:rPr lang="en-US" sz="600" b="1" spc="72" kern="0" dirty="0">
                <a:solidFill>
                  <a:srgbClr val="8F55F5"/>
                </a:solidFill>
                <a:latin typeface="Arial" pitchFamily="34" charset="0"/>
                <a:ea typeface="Arial" pitchFamily="34" charset="-122"/>
                <a:cs typeface="Arial" pitchFamily="34" charset="-120"/>
              </a:rPr>
              <a:t>MULTIPLAYER</a:t>
            </a:r>
            <a:endParaRPr lang="en-US" sz="600" dirty="0"/>
          </a:p>
        </p:txBody>
      </p:sp>
      <p:sp>
        <p:nvSpPr>
          <p:cNvPr id="55" name="Text 10.54"/>
          <p:cNvSpPr txBox="1"/>
          <p:nvPr/>
        </p:nvSpPr>
        <p:spPr>
          <a:xfrm>
            <a:off x="9651759" y="4990975"/>
            <a:ext cx="1854154" cy="146808"/>
          </a:xfrm>
          <a:prstGeom prst="rect">
            <a:avLst/>
          </a:prstGeom>
          <a:noFill/>
          <a:ln/>
        </p:spPr>
        <p:txBody>
          <a:bodyPr wrap="square" lIns="0" tIns="0" rIns="0" bIns="0" rtlCol="0" anchor="t"/>
          <a:lstStyle/>
          <a:p>
            <a:pPr algn="l" indent="0" marL="0">
              <a:lnSpc>
                <a:spcPts val="1160"/>
              </a:lnSpc>
              <a:buNone/>
            </a:pPr>
            <a:r>
              <a:rPr lang="en-US" sz="850" dirty="0">
                <a:solidFill>
                  <a:srgbClr val="3B4A66"/>
                </a:solidFill>
                <a:latin typeface="Arial" pitchFamily="34" charset="0"/>
                <a:ea typeface="Arial" pitchFamily="34" charset="-122"/>
                <a:cs typeface="Arial" pitchFamily="34" charset="-120"/>
              </a:rPr>
              <a:t>Up to 6 local. No LAN listed.</a:t>
            </a:r>
            <a:endParaRPr lang="en-US" sz="850" dirty="0"/>
          </a:p>
        </p:txBody>
      </p:sp>
      <p:sp>
        <p:nvSpPr>
          <p:cNvPr id="56" name="Text 10.55"/>
          <p:cNvSpPr txBox="1"/>
          <p:nvPr/>
        </p:nvSpPr>
        <p:spPr>
          <a:xfrm>
            <a:off x="9651759" y="5537062"/>
            <a:ext cx="649501" cy="91438"/>
          </a:xfrm>
          <a:prstGeom prst="rect">
            <a:avLst/>
          </a:prstGeom>
          <a:noFill/>
          <a:ln/>
        </p:spPr>
        <p:txBody>
          <a:bodyPr wrap="square" lIns="0" tIns="0" rIns="0" bIns="0" rtlCol="0" anchor="t"/>
          <a:lstStyle/>
          <a:p>
            <a:pPr algn="l" indent="0" marL="0">
              <a:lnSpc>
                <a:spcPts val="720"/>
              </a:lnSpc>
              <a:buNone/>
            </a:pPr>
            <a:r>
              <a:rPr lang="en-US" sz="600" b="1" spc="72" kern="0" dirty="0">
                <a:solidFill>
                  <a:srgbClr val="8F55F5"/>
                </a:solidFill>
                <a:latin typeface="Arial" pitchFamily="34" charset="0"/>
                <a:ea typeface="Arial" pitchFamily="34" charset="-122"/>
                <a:cs typeface="Arial" pitchFamily="34" charset="-120"/>
              </a:rPr>
              <a:t>FINANCIALS</a:t>
            </a:r>
            <a:endParaRPr lang="en-US" sz="600" dirty="0"/>
          </a:p>
        </p:txBody>
      </p:sp>
      <p:sp>
        <p:nvSpPr>
          <p:cNvPr id="57" name="Text 10.56"/>
          <p:cNvSpPr txBox="1"/>
          <p:nvPr/>
        </p:nvSpPr>
        <p:spPr>
          <a:xfrm>
            <a:off x="9651759" y="5676758"/>
            <a:ext cx="1854154" cy="146808"/>
          </a:xfrm>
          <a:prstGeom prst="rect">
            <a:avLst/>
          </a:prstGeom>
          <a:noFill/>
          <a:ln/>
        </p:spPr>
        <p:txBody>
          <a:bodyPr wrap="square" lIns="0" tIns="0" rIns="0" bIns="0" rtlCol="0" anchor="t"/>
          <a:lstStyle/>
          <a:p>
            <a:pPr algn="l" indent="0" marL="0">
              <a:lnSpc>
                <a:spcPts val="1160"/>
              </a:lnSpc>
              <a:buNone/>
            </a:pPr>
            <a:r>
              <a:rPr lang="en-US" sz="850" dirty="0">
                <a:solidFill>
                  <a:srgbClr val="3B4A66"/>
                </a:solidFill>
                <a:latin typeface="Arial" pitchFamily="34" charset="0"/>
                <a:ea typeface="Arial" pitchFamily="34" charset="-122"/>
                <a:cs typeface="Arial" pitchFamily="34" charset="-120"/>
              </a:rPr>
              <a:t>$4.99. Sales not disclosed.</a:t>
            </a:r>
            <a:endParaRPr lang="en-US" sz="850" dirty="0"/>
          </a:p>
        </p:txBody>
      </p:sp>
      <p:sp>
        <p:nvSpPr>
          <p:cNvPr id="58" name="Text 10.57"/>
          <p:cNvSpPr txBox="1"/>
          <p:nvPr/>
        </p:nvSpPr>
        <p:spPr>
          <a:xfrm>
            <a:off x="609585" y="6572086"/>
            <a:ext cx="10832829" cy="133347"/>
          </a:xfrm>
          <a:prstGeom prst="rect">
            <a:avLst/>
          </a:prstGeom>
          <a:noFill/>
          <a:ln/>
        </p:spPr>
        <p:txBody>
          <a:bodyPr wrap="square" lIns="0" tIns="0" rIns="0" bIns="0" rtlCol="0" anchor="t"/>
          <a:lstStyle/>
          <a:p>
            <a:pPr algn="l" indent="0" marL="0">
              <a:lnSpc>
                <a:spcPts val="1050"/>
              </a:lnSpc>
              <a:buNone/>
            </a:pPr>
            <a:r>
              <a:rPr lang="en-US" sz="750" dirty="0">
                <a:solidFill>
                  <a:srgbClr val="6E7D9A"/>
                </a:solidFill>
                <a:latin typeface="Arial" pitchFamily="34" charset="0"/>
                <a:ea typeface="Arial" pitchFamily="34" charset="-122"/>
                <a:cs typeface="Arial" pitchFamily="34" charset="-120"/>
              </a:rPr>
              <a:t>Screenshots: official Steam media, © publishers. “Owner est.” = third-party estimates via SteamDB, not sales. 2026-10-17 [7].</a:t>
            </a:r>
            <a:endParaRPr lang="en-US" sz="750" dirty="0"/>
          </a:p>
        </p:txBody>
      </p:sp>
      <p:sp>
        <p:nvSpPr>
          <p:cNvPr id="59" name="Text 10.58"/>
          <p:cNvSpPr txBox="1"/>
          <p:nvPr/>
        </p:nvSpPr>
        <p:spPr>
          <a:xfrm>
            <a:off x="927077" y="355591"/>
            <a:ext cx="686521" cy="107947"/>
          </a:xfrm>
          <a:prstGeom prst="rect">
            <a:avLst/>
          </a:prstGeom>
          <a:noFill/>
          <a:ln/>
        </p:spPr>
        <p:txBody>
          <a:bodyPr wrap="square" lIns="0" tIns="0" rIns="0" bIns="0" rtlCol="0" anchor="t"/>
          <a:lstStyle/>
          <a:p>
            <a:pPr algn="l" indent="0" marL="0">
              <a:lnSpc>
                <a:spcPts val="850"/>
              </a:lnSpc>
              <a:buNone/>
            </a:pPr>
            <a:r>
              <a:rPr lang="en-US" sz="850" b="1" spc="17" kern="0" dirty="0">
                <a:solidFill>
                  <a:srgbClr val="16233F"/>
                </a:solidFill>
                <a:latin typeface="Arial" pitchFamily="34" charset="0"/>
                <a:ea typeface="Arial" pitchFamily="34" charset="-122"/>
                <a:cs typeface="Arial" pitchFamily="34" charset="-120"/>
              </a:rPr>
              <a:t>03 · Market</a:t>
            </a:r>
            <a:endParaRPr lang="en-US" sz="850" dirty="0"/>
          </a:p>
        </p:txBody>
      </p:sp>
      <p:sp>
        <p:nvSpPr>
          <p:cNvPr id="60" name="Text 10.59"/>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10</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23</a:t>
            </a:r>
            <a:endParaRPr lang="en-US" sz="100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11.1"/>
          <p:cNvSpPr txBox="1"/>
          <p:nvPr/>
        </p:nvSpPr>
        <p:spPr>
          <a:xfrm>
            <a:off x="609585" y="761981"/>
            <a:ext cx="11371296" cy="384038"/>
          </a:xfrm>
          <a:prstGeom prst="rect">
            <a:avLst/>
          </a:prstGeom>
          <a:noFill/>
          <a:ln/>
        </p:spPr>
        <p:txBody>
          <a:bodyPr wrap="square" lIns="0" tIns="0" rIns="0" bIns="0" rtlCol="0" anchor="t"/>
          <a:lstStyle/>
          <a:p>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Where we sit among them</a:t>
            </a:r>
            <a:endParaRPr lang="en-US" sz="2700" dirty="0"/>
          </a:p>
        </p:txBody>
      </p:sp>
      <p:sp>
        <p:nvSpPr>
          <p:cNvPr id="3" name="Text 11.2"/>
          <p:cNvSpPr txBox="1"/>
          <p:nvPr/>
        </p:nvSpPr>
        <p:spPr>
          <a:xfrm>
            <a:off x="4444889" y="1765256"/>
            <a:ext cx="1187420" cy="99058"/>
          </a:xfrm>
          <a:prstGeom prst="rect">
            <a:avLst/>
          </a:prstGeom>
          <a:noFill/>
          <a:ln/>
        </p:spPr>
        <p:txBody>
          <a:bodyPr wrap="square" lIns="0" tIns="0" rIns="0" bIns="0" rtlCol="0" anchor="t"/>
          <a:lstStyle/>
          <a:p>
            <a:pPr algn="ctr" indent="0" marL="0">
              <a:lnSpc>
                <a:spcPts val="780"/>
              </a:lnSpc>
              <a:buNone/>
            </a:pPr>
            <a:r>
              <a:rPr lang="en-US" sz="650" b="1" spc="78" kern="0" dirty="0">
                <a:solidFill>
                  <a:srgbClr val="6E7D9A"/>
                </a:solidFill>
                <a:latin typeface="Arial" pitchFamily="34" charset="0"/>
                <a:ea typeface="Arial" pitchFamily="34" charset="-122"/>
                <a:cs typeface="Arial" pitchFamily="34" charset="-120"/>
              </a:rPr>
              <a:t>PARTY ANIMALS</a:t>
            </a:r>
            <a:endParaRPr lang="en-US" sz="650" dirty="0"/>
          </a:p>
        </p:txBody>
      </p:sp>
      <p:sp>
        <p:nvSpPr>
          <p:cNvPr id="4" name="Text 11.3"/>
          <p:cNvSpPr txBox="1"/>
          <p:nvPr/>
        </p:nvSpPr>
        <p:spPr>
          <a:xfrm>
            <a:off x="5632309" y="1765256"/>
            <a:ext cx="1187420" cy="99058"/>
          </a:xfrm>
          <a:prstGeom prst="rect">
            <a:avLst/>
          </a:prstGeom>
          <a:noFill/>
          <a:ln/>
        </p:spPr>
        <p:txBody>
          <a:bodyPr wrap="square" lIns="0" tIns="0" rIns="0" bIns="0" rtlCol="0" anchor="t"/>
          <a:lstStyle/>
          <a:p>
            <a:pPr algn="ctr" indent="0" marL="0">
              <a:lnSpc>
                <a:spcPts val="780"/>
              </a:lnSpc>
              <a:buNone/>
            </a:pPr>
            <a:r>
              <a:rPr lang="en-US" sz="650" b="1" spc="78" kern="0" dirty="0">
                <a:solidFill>
                  <a:srgbClr val="6E7D9A"/>
                </a:solidFill>
                <a:latin typeface="Arial" pitchFamily="34" charset="0"/>
                <a:ea typeface="Arial" pitchFamily="34" charset="-122"/>
                <a:cs typeface="Arial" pitchFamily="34" charset="-120"/>
              </a:rPr>
              <a:t>GANG BEASTS</a:t>
            </a:r>
            <a:endParaRPr lang="en-US" sz="650" dirty="0"/>
          </a:p>
        </p:txBody>
      </p:sp>
      <p:sp>
        <p:nvSpPr>
          <p:cNvPr id="5" name="Text 11.4"/>
          <p:cNvSpPr txBox="1"/>
          <p:nvPr/>
        </p:nvSpPr>
        <p:spPr>
          <a:xfrm>
            <a:off x="6819730" y="1765256"/>
            <a:ext cx="1187420" cy="99058"/>
          </a:xfrm>
          <a:prstGeom prst="rect">
            <a:avLst/>
          </a:prstGeom>
          <a:noFill/>
          <a:ln/>
        </p:spPr>
        <p:txBody>
          <a:bodyPr wrap="square" lIns="0" tIns="0" rIns="0" bIns="0" rtlCol="0" anchor="t"/>
          <a:lstStyle/>
          <a:p>
            <a:pPr algn="ctr" indent="0" marL="0">
              <a:lnSpc>
                <a:spcPts val="780"/>
              </a:lnSpc>
              <a:buNone/>
            </a:pPr>
            <a:r>
              <a:rPr lang="en-US" sz="650" b="1" spc="78" kern="0" dirty="0">
                <a:solidFill>
                  <a:srgbClr val="6E7D9A"/>
                </a:solidFill>
                <a:latin typeface="Arial" pitchFamily="34" charset="0"/>
                <a:ea typeface="Arial" pitchFamily="34" charset="-122"/>
                <a:cs typeface="Arial" pitchFamily="34" charset="-120"/>
              </a:rPr>
              <a:t>FALL GUYS</a:t>
            </a:r>
            <a:endParaRPr lang="en-US" sz="650" dirty="0"/>
          </a:p>
        </p:txBody>
      </p:sp>
      <p:sp>
        <p:nvSpPr>
          <p:cNvPr id="6" name="Text 11.5"/>
          <p:cNvSpPr txBox="1"/>
          <p:nvPr/>
        </p:nvSpPr>
        <p:spPr>
          <a:xfrm>
            <a:off x="8007150" y="1765256"/>
            <a:ext cx="1187420" cy="99058"/>
          </a:xfrm>
          <a:prstGeom prst="rect">
            <a:avLst/>
          </a:prstGeom>
          <a:noFill/>
          <a:ln/>
        </p:spPr>
        <p:txBody>
          <a:bodyPr wrap="square" lIns="0" tIns="0" rIns="0" bIns="0" rtlCol="0" anchor="t"/>
          <a:lstStyle/>
          <a:p>
            <a:pPr algn="ctr" indent="0" marL="0">
              <a:lnSpc>
                <a:spcPts val="780"/>
              </a:lnSpc>
              <a:buNone/>
            </a:pPr>
            <a:r>
              <a:rPr lang="en-US" sz="650" b="1" spc="78" kern="0" dirty="0">
                <a:solidFill>
                  <a:srgbClr val="6E7D9A"/>
                </a:solidFill>
                <a:latin typeface="Arial" pitchFamily="34" charset="0"/>
                <a:ea typeface="Arial" pitchFamily="34" charset="-122"/>
                <a:cs typeface="Arial" pitchFamily="34" charset="-120"/>
              </a:rPr>
              <a:t>PUMMEL PARTY</a:t>
            </a:r>
            <a:endParaRPr lang="en-US" sz="650" dirty="0"/>
          </a:p>
        </p:txBody>
      </p:sp>
      <p:sp>
        <p:nvSpPr>
          <p:cNvPr id="7" name="Text 11.6"/>
          <p:cNvSpPr txBox="1"/>
          <p:nvPr/>
        </p:nvSpPr>
        <p:spPr>
          <a:xfrm>
            <a:off x="9194570" y="1765256"/>
            <a:ext cx="1187420" cy="99058"/>
          </a:xfrm>
          <a:prstGeom prst="rect">
            <a:avLst/>
          </a:prstGeom>
          <a:noFill/>
          <a:ln/>
        </p:spPr>
        <p:txBody>
          <a:bodyPr wrap="square" lIns="0" tIns="0" rIns="0" bIns="0" rtlCol="0" anchor="t"/>
          <a:lstStyle/>
          <a:p>
            <a:pPr algn="ctr" indent="0" marL="0">
              <a:lnSpc>
                <a:spcPts val="780"/>
              </a:lnSpc>
              <a:buNone/>
            </a:pPr>
            <a:r>
              <a:rPr lang="en-US" sz="650" b="1" spc="78" kern="0" dirty="0">
                <a:solidFill>
                  <a:srgbClr val="6E7D9A"/>
                </a:solidFill>
                <a:latin typeface="Arial" pitchFamily="34" charset="0"/>
                <a:ea typeface="Arial" pitchFamily="34" charset="-122"/>
                <a:cs typeface="Arial" pitchFamily="34" charset="-120"/>
              </a:rPr>
              <a:t>SQUARENA</a:t>
            </a:r>
            <a:endParaRPr lang="en-US" sz="650" dirty="0"/>
          </a:p>
        </p:txBody>
      </p:sp>
      <p:sp>
        <p:nvSpPr>
          <p:cNvPr id="8" name="Text 11.7"/>
          <p:cNvSpPr txBox="1"/>
          <p:nvPr/>
        </p:nvSpPr>
        <p:spPr>
          <a:xfrm>
            <a:off x="10381990" y="1765256"/>
            <a:ext cx="1187420" cy="99058"/>
          </a:xfrm>
          <a:prstGeom prst="rect">
            <a:avLst/>
          </a:prstGeom>
          <a:noFill/>
          <a:ln/>
        </p:spPr>
        <p:txBody>
          <a:bodyPr wrap="square" lIns="0" tIns="0" rIns="0" bIns="0" rtlCol="0" anchor="t"/>
          <a:lstStyle/>
          <a:p>
            <a:pPr algn="ctr" indent="0" marL="0">
              <a:lnSpc>
                <a:spcPts val="780"/>
              </a:lnSpc>
              <a:buNone/>
            </a:pPr>
            <a:r>
              <a:rPr lang="en-US" sz="650" b="1" spc="78" kern="0" dirty="0">
                <a:solidFill>
                  <a:srgbClr val="FF6B1F"/>
                </a:solidFill>
                <a:latin typeface="Arial" pitchFamily="34" charset="0"/>
                <a:ea typeface="Arial" pitchFamily="34" charset="-122"/>
                <a:cs typeface="Arial" pitchFamily="34" charset="-120"/>
              </a:rPr>
              <a:t>ICE RUMBLE</a:t>
            </a:r>
            <a:endParaRPr lang="en-US" sz="650" dirty="0"/>
          </a:p>
        </p:txBody>
      </p:sp>
      <p:sp>
        <p:nvSpPr>
          <p:cNvPr id="9" name="Text 11.8"/>
          <p:cNvSpPr txBox="1"/>
          <p:nvPr/>
        </p:nvSpPr>
        <p:spPr>
          <a:xfrm>
            <a:off x="825479" y="2209745"/>
            <a:ext cx="3594010" cy="167636"/>
          </a:xfrm>
          <a:prstGeom prst="rect">
            <a:avLst/>
          </a:prstGeom>
          <a:noFill/>
          <a:ln/>
        </p:spPr>
        <p:txBody>
          <a:bodyPr wrap="square" lIns="0" tIns="0" rIns="0" bIns="0" rtlCol="0" anchor="t"/>
          <a:lstStyle/>
          <a:p>
            <a:pPr algn="l" indent="0" marL="0">
              <a:lnSpc>
                <a:spcPts val="1320"/>
              </a:lnSpc>
              <a:buNone/>
            </a:pPr>
            <a:r>
              <a:rPr lang="en-US" sz="1100" b="1" dirty="0">
                <a:solidFill>
                  <a:srgbClr val="16233F"/>
                </a:solidFill>
                <a:latin typeface="Arial" pitchFamily="34" charset="0"/>
                <a:ea typeface="Arial" pitchFamily="34" charset="-122"/>
                <a:cs typeface="Arial" pitchFamily="34" charset="-120"/>
              </a:rPr>
              <a:t>3D characters</a:t>
            </a:r>
            <a:endParaRPr lang="en-US" sz="1100" dirty="0"/>
          </a:p>
        </p:txBody>
      </p:sp>
      <p:sp>
        <p:nvSpPr>
          <p:cNvPr id="10" name="Text 11.9"/>
          <p:cNvSpPr txBox="1"/>
          <p:nvPr/>
        </p:nvSpPr>
        <p:spPr>
          <a:xfrm>
            <a:off x="825479" y="2730432"/>
            <a:ext cx="3594010" cy="167636"/>
          </a:xfrm>
          <a:prstGeom prst="rect">
            <a:avLst/>
          </a:prstGeom>
          <a:noFill/>
          <a:ln/>
        </p:spPr>
        <p:txBody>
          <a:bodyPr wrap="square" lIns="0" tIns="0" rIns="0" bIns="0" rtlCol="0" anchor="t"/>
          <a:lstStyle/>
          <a:p>
            <a:pPr algn="l" indent="0" marL="0">
              <a:lnSpc>
                <a:spcPts val="1320"/>
              </a:lnSpc>
              <a:buNone/>
            </a:pPr>
            <a:r>
              <a:rPr lang="en-US" sz="1100" b="1" dirty="0">
                <a:solidFill>
                  <a:srgbClr val="16233F"/>
                </a:solidFill>
                <a:latin typeface="Arial" pitchFamily="34" charset="0"/>
                <a:ea typeface="Arial" pitchFamily="34" charset="-122"/>
                <a:cs typeface="Arial" pitchFamily="34" charset="-120"/>
              </a:rPr>
              <a:t>Ranged attacks</a:t>
            </a:r>
            <a:endParaRPr lang="en-US" sz="1100" dirty="0"/>
          </a:p>
        </p:txBody>
      </p:sp>
      <p:sp>
        <p:nvSpPr>
          <p:cNvPr id="11" name="Text 11.10"/>
          <p:cNvSpPr txBox="1"/>
          <p:nvPr/>
        </p:nvSpPr>
        <p:spPr>
          <a:xfrm>
            <a:off x="825479" y="3251119"/>
            <a:ext cx="3594010" cy="167636"/>
          </a:xfrm>
          <a:prstGeom prst="rect">
            <a:avLst/>
          </a:prstGeom>
          <a:noFill/>
          <a:ln/>
        </p:spPr>
        <p:txBody>
          <a:bodyPr wrap="square" lIns="0" tIns="0" rIns="0" bIns="0" rtlCol="0" anchor="t"/>
          <a:lstStyle/>
          <a:p>
            <a:pPr algn="l" indent="0" marL="0">
              <a:lnSpc>
                <a:spcPts val="1320"/>
              </a:lnSpc>
              <a:buNone/>
            </a:pPr>
            <a:r>
              <a:rPr lang="en-US" sz="1100" b="1" dirty="0">
                <a:solidFill>
                  <a:srgbClr val="16233F"/>
                </a:solidFill>
                <a:latin typeface="Arial" pitchFamily="34" charset="0"/>
                <a:ea typeface="Arial" pitchFamily="34" charset="-122"/>
                <a:cs typeface="Arial" pitchFamily="34" charset="-120"/>
              </a:rPr>
              <a:t>Damage changes your body size</a:t>
            </a:r>
            <a:endParaRPr lang="en-US" sz="1100" dirty="0"/>
          </a:p>
        </p:txBody>
      </p:sp>
      <p:sp>
        <p:nvSpPr>
          <p:cNvPr id="12" name="Text 11.11"/>
          <p:cNvSpPr txBox="1"/>
          <p:nvPr/>
        </p:nvSpPr>
        <p:spPr>
          <a:xfrm>
            <a:off x="825479" y="3771806"/>
            <a:ext cx="3594010" cy="167636"/>
          </a:xfrm>
          <a:prstGeom prst="rect">
            <a:avLst/>
          </a:prstGeom>
          <a:noFill/>
          <a:ln/>
        </p:spPr>
        <p:txBody>
          <a:bodyPr wrap="square" lIns="0" tIns="0" rIns="0" bIns="0" rtlCol="0" anchor="t"/>
          <a:lstStyle/>
          <a:p>
            <a:pPr algn="l" indent="0" marL="0">
              <a:lnSpc>
                <a:spcPts val="1320"/>
              </a:lnSpc>
              <a:buNone/>
            </a:pPr>
            <a:r>
              <a:rPr lang="en-US" sz="1100" b="1" dirty="0">
                <a:solidFill>
                  <a:srgbClr val="16233F"/>
                </a:solidFill>
                <a:latin typeface="Arial" pitchFamily="34" charset="0"/>
                <a:ea typeface="Arial" pitchFamily="34" charset="-122"/>
                <a:cs typeface="Arial" pitchFamily="34" charset="-120"/>
              </a:rPr>
              <a:t>Less mass, further knockback</a:t>
            </a:r>
            <a:endParaRPr lang="en-US" sz="1100" dirty="0"/>
          </a:p>
        </p:txBody>
      </p:sp>
      <p:sp>
        <p:nvSpPr>
          <p:cNvPr id="13" name="Text 11.12"/>
          <p:cNvSpPr txBox="1"/>
          <p:nvPr/>
        </p:nvSpPr>
        <p:spPr>
          <a:xfrm>
            <a:off x="825479" y="4292493"/>
            <a:ext cx="3594010" cy="167636"/>
          </a:xfrm>
          <a:prstGeom prst="rect">
            <a:avLst/>
          </a:prstGeom>
          <a:noFill/>
          <a:ln/>
        </p:spPr>
        <p:txBody>
          <a:bodyPr wrap="square" lIns="0" tIns="0" rIns="0" bIns="0" rtlCol="0" anchor="t"/>
          <a:lstStyle/>
          <a:p>
            <a:pPr algn="l" indent="0" marL="0">
              <a:lnSpc>
                <a:spcPts val="1320"/>
              </a:lnSpc>
              <a:buNone/>
            </a:pPr>
            <a:r>
              <a:rPr lang="en-US" sz="1100" b="1" dirty="0">
                <a:solidFill>
                  <a:srgbClr val="16233F"/>
                </a:solidFill>
                <a:latin typeface="Arial" pitchFamily="34" charset="0"/>
                <a:ea typeface="Arial" pitchFamily="34" charset="-122"/>
                <a:cs typeface="Arial" pitchFamily="34" charset="-120"/>
              </a:rPr>
              <a:t>Several mini-games, one result</a:t>
            </a:r>
            <a:endParaRPr lang="en-US" sz="1100" dirty="0"/>
          </a:p>
        </p:txBody>
      </p:sp>
      <p:sp>
        <p:nvSpPr>
          <p:cNvPr id="14" name="Text 11.13"/>
          <p:cNvSpPr txBox="1"/>
          <p:nvPr/>
        </p:nvSpPr>
        <p:spPr>
          <a:xfrm>
            <a:off x="825479" y="4813180"/>
            <a:ext cx="3594010" cy="167636"/>
          </a:xfrm>
          <a:prstGeom prst="rect">
            <a:avLst/>
          </a:prstGeom>
          <a:noFill/>
          <a:ln/>
        </p:spPr>
        <p:txBody>
          <a:bodyPr wrap="square" lIns="0" tIns="0" rIns="0" bIns="0" rtlCol="0" anchor="t"/>
          <a:lstStyle/>
          <a:p>
            <a:pPr algn="l" indent="0" marL="0">
              <a:lnSpc>
                <a:spcPts val="1320"/>
              </a:lnSpc>
              <a:buNone/>
            </a:pPr>
            <a:r>
              <a:rPr lang="en-US" sz="1100" b="1" dirty="0">
                <a:solidFill>
                  <a:srgbClr val="16233F"/>
                </a:solidFill>
                <a:latin typeface="Arial" pitchFamily="34" charset="0"/>
                <a:ea typeface="Arial" pitchFamily="34" charset="-122"/>
                <a:cs typeface="Arial" pitchFamily="34" charset="-120"/>
              </a:rPr>
              <a:t>Official LAN play</a:t>
            </a:r>
            <a:endParaRPr lang="en-US" sz="1100" dirty="0"/>
          </a:p>
        </p:txBody>
      </p:sp>
      <p:sp>
        <p:nvSpPr>
          <p:cNvPr id="15" name="Text 11.14"/>
          <p:cNvSpPr txBox="1"/>
          <p:nvPr/>
        </p:nvSpPr>
        <p:spPr>
          <a:xfrm>
            <a:off x="825479" y="5333867"/>
            <a:ext cx="3594010" cy="167636"/>
          </a:xfrm>
          <a:prstGeom prst="rect">
            <a:avLst/>
          </a:prstGeom>
          <a:noFill/>
          <a:ln/>
        </p:spPr>
        <p:txBody>
          <a:bodyPr wrap="square" lIns="0" tIns="0" rIns="0" bIns="0" rtlCol="0" anchor="t"/>
          <a:lstStyle/>
          <a:p>
            <a:pPr algn="l" indent="0" marL="0">
              <a:lnSpc>
                <a:spcPts val="1320"/>
              </a:lnSpc>
              <a:buNone/>
            </a:pPr>
            <a:r>
              <a:rPr lang="en-US" sz="1100" b="1" dirty="0">
                <a:solidFill>
                  <a:srgbClr val="16233F"/>
                </a:solidFill>
                <a:latin typeface="Arial" pitchFamily="34" charset="0"/>
                <a:ea typeface="Arial" pitchFamily="34" charset="-122"/>
                <a:cs typeface="Arial" pitchFamily="34" charset="-120"/>
              </a:rPr>
              <a:t>Plays with no internet</a:t>
            </a:r>
            <a:endParaRPr lang="en-US" sz="1100" dirty="0"/>
          </a:p>
        </p:txBody>
      </p:sp>
      <p:sp>
        <p:nvSpPr>
          <p:cNvPr id="16" name="Text 11.15"/>
          <p:cNvSpPr txBox="1"/>
          <p:nvPr/>
        </p:nvSpPr>
        <p:spPr>
          <a:xfrm>
            <a:off x="812780" y="5962501"/>
            <a:ext cx="228299" cy="133347"/>
          </a:xfrm>
          <a:prstGeom prst="rect">
            <a:avLst/>
          </a:prstGeom>
          <a:noFill/>
          <a:ln/>
        </p:spPr>
        <p:txBody>
          <a:bodyPr wrap="square" lIns="0" tIns="0" rIns="0" bIns="0" rtlCol="0" anchor="t"/>
          <a:lstStyle/>
          <a:p>
            <a:pPr algn="l" indent="0" marL="0">
              <a:lnSpc>
                <a:spcPts val="1050"/>
              </a:lnSpc>
              <a:buNone/>
            </a:pPr>
            <a:r>
              <a:rPr lang="en-US" sz="750" dirty="0">
                <a:solidFill>
                  <a:srgbClr val="6E7D9A"/>
                </a:solidFill>
                <a:latin typeface="Arial" pitchFamily="34" charset="0"/>
                <a:ea typeface="Arial" pitchFamily="34" charset="-122"/>
                <a:cs typeface="Arial" pitchFamily="34" charset="-120"/>
              </a:rPr>
              <a:t>Yes</a:t>
            </a:r>
            <a:endParaRPr lang="en-US" sz="750" dirty="0"/>
          </a:p>
        </p:txBody>
      </p:sp>
      <p:sp>
        <p:nvSpPr>
          <p:cNvPr id="17" name="Text 11.16"/>
          <p:cNvSpPr txBox="1"/>
          <p:nvPr/>
        </p:nvSpPr>
        <p:spPr>
          <a:xfrm>
            <a:off x="1638259" y="5962501"/>
            <a:ext cx="321584" cy="133347"/>
          </a:xfrm>
          <a:prstGeom prst="rect">
            <a:avLst/>
          </a:prstGeom>
          <a:noFill/>
          <a:ln/>
        </p:spPr>
        <p:txBody>
          <a:bodyPr wrap="square" lIns="0" tIns="0" rIns="0" bIns="0" rtlCol="0" anchor="t"/>
          <a:lstStyle/>
          <a:p>
            <a:pPr algn="l" indent="0" marL="0">
              <a:lnSpc>
                <a:spcPts val="1050"/>
              </a:lnSpc>
              <a:buNone/>
            </a:pPr>
            <a:r>
              <a:rPr lang="en-US" sz="750" dirty="0">
                <a:solidFill>
                  <a:srgbClr val="6E7D9A"/>
                </a:solidFill>
                <a:latin typeface="Arial" pitchFamily="34" charset="0"/>
                <a:ea typeface="Arial" pitchFamily="34" charset="-122"/>
                <a:cs typeface="Arial" pitchFamily="34" charset="-120"/>
              </a:rPr>
              <a:t>Partly</a:t>
            </a:r>
            <a:endParaRPr lang="en-US" sz="750" dirty="0"/>
          </a:p>
        </p:txBody>
      </p:sp>
      <p:sp>
        <p:nvSpPr>
          <p:cNvPr id="18" name="Text 11.17"/>
          <p:cNvSpPr txBox="1"/>
          <p:nvPr/>
        </p:nvSpPr>
        <p:spPr>
          <a:xfrm>
            <a:off x="2527237" y="5962501"/>
            <a:ext cx="192646" cy="133347"/>
          </a:xfrm>
          <a:prstGeom prst="rect">
            <a:avLst/>
          </a:prstGeom>
          <a:noFill/>
          <a:ln/>
        </p:spPr>
        <p:txBody>
          <a:bodyPr wrap="square" lIns="0" tIns="0" rIns="0" bIns="0" rtlCol="0" anchor="t"/>
          <a:lstStyle/>
          <a:p>
            <a:pPr algn="l" indent="0" marL="0">
              <a:lnSpc>
                <a:spcPts val="1050"/>
              </a:lnSpc>
              <a:buNone/>
            </a:pPr>
            <a:r>
              <a:rPr lang="en-US" sz="750" dirty="0">
                <a:solidFill>
                  <a:srgbClr val="6E7D9A"/>
                </a:solidFill>
                <a:latin typeface="Arial" pitchFamily="34" charset="0"/>
                <a:ea typeface="Arial" pitchFamily="34" charset="-122"/>
                <a:cs typeface="Arial" pitchFamily="34" charset="-120"/>
              </a:rPr>
              <a:t>No</a:t>
            </a:r>
            <a:endParaRPr lang="en-US" sz="750" dirty="0"/>
          </a:p>
        </p:txBody>
      </p:sp>
      <p:sp>
        <p:nvSpPr>
          <p:cNvPr id="19" name="Text 11.18"/>
          <p:cNvSpPr txBox="1"/>
          <p:nvPr/>
        </p:nvSpPr>
        <p:spPr>
          <a:xfrm>
            <a:off x="3225719" y="5962501"/>
            <a:ext cx="1039995" cy="133347"/>
          </a:xfrm>
          <a:prstGeom prst="rect">
            <a:avLst/>
          </a:prstGeom>
          <a:noFill/>
          <a:ln/>
        </p:spPr>
        <p:txBody>
          <a:bodyPr wrap="square" lIns="0" tIns="0" rIns="0" bIns="0" rtlCol="0" anchor="t"/>
          <a:lstStyle/>
          <a:p>
            <a:pPr algn="l" indent="0" marL="0">
              <a:lnSpc>
                <a:spcPts val="1050"/>
              </a:lnSpc>
              <a:buNone/>
            </a:pPr>
            <a:r>
              <a:rPr lang="en-US" sz="750" dirty="0">
                <a:solidFill>
                  <a:srgbClr val="6E7D9A"/>
                </a:solidFill>
                <a:latin typeface="Arial" pitchFamily="34" charset="0"/>
                <a:ea typeface="Arial" pitchFamily="34" charset="-122"/>
                <a:cs typeface="Arial" pitchFamily="34" charset="-120"/>
              </a:rPr>
              <a:t>Planned (Ice Rumble)</a:t>
            </a:r>
            <a:endParaRPr lang="en-US" sz="750" dirty="0"/>
          </a:p>
        </p:txBody>
      </p:sp>
      <p:sp>
        <p:nvSpPr>
          <p:cNvPr id="20" name="Text 11.19"/>
          <p:cNvSpPr txBox="1"/>
          <p:nvPr/>
        </p:nvSpPr>
        <p:spPr>
          <a:xfrm>
            <a:off x="609585" y="6413340"/>
            <a:ext cx="11010625" cy="266693"/>
          </a:xfrm>
          <a:prstGeom prst="rect">
            <a:avLst/>
          </a:prstGeom>
          <a:noFill/>
          <a:ln/>
        </p:spPr>
        <p:txBody>
          <a:bodyPr wrap="square" lIns="0" tIns="0" rIns="0" bIns="0" rtlCol="0" anchor="t"/>
          <a:lstStyle/>
          <a:p>
            <a:pPr algn="l" indent="0" marL="0">
              <a:lnSpc>
                <a:spcPts val="1050"/>
              </a:lnSpc>
              <a:buNone/>
            </a:pPr>
            <a:r>
              <a:rPr lang="en-US" sz="750" dirty="0">
                <a:solidFill>
                  <a:srgbClr val="6E7D9A"/>
                </a:solidFill>
                <a:latin typeface="Arial" pitchFamily="34" charset="0"/>
                <a:ea typeface="Arial" pitchFamily="34" charset="-122"/>
                <a:cs typeface="Arial" pitchFamily="34" charset="-120"/>
              </a:rPr>
              <a:t>“Official LAN: No” = not advertised in the game's Steam features. “Partly”: Party Animals and Pummel Party have some weapons or items; Fall Guys' playlist eliminates rather than scores. Party Animals needs internet even on one screen [8]. Ice Rumble column = planned design.</a:t>
            </a:r>
            <a:endParaRPr lang="en-US" sz="750" dirty="0"/>
          </a:p>
        </p:txBody>
      </p:sp>
      <p:sp>
        <p:nvSpPr>
          <p:cNvPr id="21" name="Text 11.20"/>
          <p:cNvSpPr txBox="1"/>
          <p:nvPr/>
        </p:nvSpPr>
        <p:spPr>
          <a:xfrm>
            <a:off x="927077" y="355591"/>
            <a:ext cx="686521" cy="107947"/>
          </a:xfrm>
          <a:prstGeom prst="rect">
            <a:avLst/>
          </a:prstGeom>
          <a:noFill/>
          <a:ln/>
        </p:spPr>
        <p:txBody>
          <a:bodyPr wrap="square" lIns="0" tIns="0" rIns="0" bIns="0" rtlCol="0" anchor="t"/>
          <a:lstStyle/>
          <a:p>
            <a:pPr algn="l" indent="0" marL="0">
              <a:lnSpc>
                <a:spcPts val="850"/>
              </a:lnSpc>
              <a:buNone/>
            </a:pPr>
            <a:r>
              <a:rPr lang="en-US" sz="850" b="1" spc="17" kern="0" dirty="0">
                <a:solidFill>
                  <a:srgbClr val="16233F"/>
                </a:solidFill>
                <a:latin typeface="Arial" pitchFamily="34" charset="0"/>
                <a:ea typeface="Arial" pitchFamily="34" charset="-122"/>
                <a:cs typeface="Arial" pitchFamily="34" charset="-120"/>
              </a:rPr>
              <a:t>03 · Market</a:t>
            </a:r>
            <a:endParaRPr lang="en-US" sz="850" dirty="0"/>
          </a:p>
        </p:txBody>
      </p:sp>
      <p:sp>
        <p:nvSpPr>
          <p:cNvPr id="22" name="Text 11.21"/>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11</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23</a:t>
            </a:r>
            <a:endParaRPr lang="en-US" sz="100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12.1"/>
          <p:cNvSpPr txBox="1"/>
          <p:nvPr/>
        </p:nvSpPr>
        <p:spPr>
          <a:xfrm>
            <a:off x="609585" y="952476"/>
            <a:ext cx="1142971" cy="241294"/>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FFFFFF"/>
                </a:solidFill>
                <a:latin typeface="Arial" pitchFamily="34" charset="0"/>
                <a:ea typeface="Arial" pitchFamily="34" charset="-122"/>
                <a:cs typeface="Arial" pitchFamily="34" charset="-120"/>
              </a:rPr>
              <a:t>THE NEW LINK</a:t>
            </a:r>
            <a:endParaRPr lang="en-US" sz="700" dirty="0"/>
          </a:p>
        </p:txBody>
      </p:sp>
      <p:sp>
        <p:nvSpPr>
          <p:cNvPr id="3" name="Text 12.2"/>
          <p:cNvSpPr txBox="1"/>
          <p:nvPr/>
        </p:nvSpPr>
        <p:spPr>
          <a:xfrm>
            <a:off x="609585" y="1371566"/>
            <a:ext cx="4990975" cy="1322751"/>
          </a:xfrm>
          <a:prstGeom prst="rect">
            <a:avLst/>
          </a:prstGeom>
          <a:noFill/>
          <a:ln/>
        </p:spPr>
        <p:txBody>
          <a:bodyPr wrap="square" lIns="0" tIns="0" rIns="0" bIns="0" rtlCol="0" anchor="t"/>
          <a:lstStyle/>
          <a:p>
            <a:pPr algn="l" indent="0" marL="0">
              <a:lnSpc>
                <a:spcPts val="3470"/>
              </a:lnSpc>
              <a:buNone/>
            </a:pPr>
            <a:r>
              <a:rPr lang="en-US" sz="3100" dirty="0">
                <a:solidFill>
                  <a:srgbClr val="16233F"/>
                </a:solidFill>
                <a:latin typeface="Arial Rounded MT Bold" pitchFamily="34" charset="0"/>
                <a:ea typeface="Arial Rounded MT Bold" pitchFamily="34" charset="-122"/>
                <a:cs typeface="Arial Rounded MT Bold" pitchFamily="34" charset="-120"/>
              </a:rPr>
              <a:t>No shipped game we found ties </a:t>
            </a:r>
            <a:pPr algn="l" indent="0" marL="0">
              <a:lnSpc>
                <a:spcPts val="3470"/>
              </a:lnSpc>
              <a:buNone/>
            </a:pPr>
            <a:r>
              <a:rPr lang="en-US" sz="3100" dirty="0">
                <a:solidFill>
                  <a:srgbClr val="FF6B1F"/>
                </a:solidFill>
                <a:latin typeface="Arial Rounded MT Bold" pitchFamily="34" charset="0"/>
                <a:ea typeface="Arial Rounded MT Bold" pitchFamily="34" charset="-122"/>
                <a:cs typeface="Arial Rounded MT Bold" pitchFamily="34" charset="-120"/>
              </a:rPr>
              <a:t>knockback to the mass you have lost.</a:t>
            </a:r>
            <a:endParaRPr lang="en-US" sz="3100" dirty="0"/>
          </a:p>
        </p:txBody>
      </p:sp>
      <p:sp>
        <p:nvSpPr>
          <p:cNvPr id="4" name="Text 12.3"/>
          <p:cNvSpPr txBox="1"/>
          <p:nvPr/>
        </p:nvSpPr>
        <p:spPr>
          <a:xfrm>
            <a:off x="609585" y="3174921"/>
            <a:ext cx="4736982" cy="690545"/>
          </a:xfrm>
          <a:prstGeom prst="rect">
            <a:avLst/>
          </a:prstGeom>
          <a:noFill/>
          <a:ln/>
        </p:spPr>
        <p:txBody>
          <a:bodyPr wrap="square" lIns="0" tIns="0" rIns="0" bIns="0" rtlCol="0" anchor="t"/>
          <a:lstStyle/>
          <a:p>
            <a:pPr algn="l" indent="0" marL="0">
              <a:lnSpc>
                <a:spcPts val="1810"/>
              </a:lnSpc>
              <a:buNone/>
            </a:pPr>
            <a:r>
              <a:rPr lang="en-US" sz="1250" dirty="0">
                <a:solidFill>
                  <a:srgbClr val="3B4A66"/>
                </a:solidFill>
                <a:latin typeface="Arial" pitchFamily="34" charset="0"/>
                <a:ea typeface="Arial" pitchFamily="34" charset="-122"/>
                <a:cs typeface="Arial" pitchFamily="34" charset="-120"/>
              </a:rPr>
              <a:t>Mass Knockout puts four links on one physical value the player can see. Links 01 to 03 have relatives in other games. </a:t>
            </a:r>
            <a:pPr algn="l" indent="0" marL="0">
              <a:lnSpc>
                <a:spcPts val="1810"/>
              </a:lnSpc>
              <a:buNone/>
            </a:pPr>
            <a:r>
              <a:rPr lang="en-US" sz="1250" b="1" dirty="0">
                <a:solidFill>
                  <a:srgbClr val="16233F"/>
                </a:solidFill>
                <a:latin typeface="Arial" pitchFamily="34" charset="0"/>
                <a:ea typeface="Arial" pitchFamily="34" charset="-122"/>
                <a:cs typeface="Arial" pitchFamily="34" charset="-120"/>
              </a:rPr>
              <a:t>Link 04 we did not find.</a:t>
            </a:r>
            <a:endParaRPr lang="en-US" sz="1250" dirty="0"/>
          </a:p>
        </p:txBody>
      </p:sp>
      <p:sp>
        <p:nvSpPr>
          <p:cNvPr id="5" name="Text 12.4"/>
          <p:cNvSpPr txBox="1"/>
          <p:nvPr/>
        </p:nvSpPr>
        <p:spPr>
          <a:xfrm>
            <a:off x="609585" y="5968851"/>
            <a:ext cx="4990975" cy="133347"/>
          </a:xfrm>
          <a:prstGeom prst="rect">
            <a:avLst/>
          </a:prstGeom>
          <a:noFill/>
          <a:ln/>
        </p:spPr>
        <p:txBody>
          <a:bodyPr wrap="square" lIns="0" tIns="0" rIns="0" bIns="0" rtlCol="0" anchor="t"/>
          <a:lstStyle/>
          <a:p>
            <a:pPr algn="l" indent="0" marL="0">
              <a:lnSpc>
                <a:spcPts val="1050"/>
              </a:lnSpc>
              <a:buNone/>
            </a:pPr>
            <a:r>
              <a:rPr lang="en-US" sz="750" dirty="0">
                <a:solidFill>
                  <a:srgbClr val="6E7D9A"/>
                </a:solidFill>
                <a:latin typeface="Arial" pitchFamily="34" charset="0"/>
                <a:ea typeface="Arial" pitchFamily="34" charset="-122"/>
                <a:cs typeface="Arial" pitchFamily="34" charset="-120"/>
              </a:rPr>
              <a:t>Prior-art search of shipped games, Oct 2026 [9–12]. Evidence on the next slide.</a:t>
            </a:r>
            <a:endParaRPr lang="en-US" sz="750" dirty="0"/>
          </a:p>
        </p:txBody>
      </p:sp>
      <p:sp>
        <p:nvSpPr>
          <p:cNvPr id="6" name="Text 12.5"/>
          <p:cNvSpPr txBox="1"/>
          <p:nvPr/>
        </p:nvSpPr>
        <p:spPr>
          <a:xfrm>
            <a:off x="8000800" y="4000400"/>
            <a:ext cx="1396965" cy="253994"/>
          </a:xfrm>
          <a:prstGeom prst="rect">
            <a:avLst/>
          </a:prstGeom>
          <a:noFill/>
          <a:ln/>
        </p:spPr>
        <p:txBody>
          <a:bodyPr wrap="square" lIns="0" tIns="0" rIns="0" bIns="0" rtlCol="0" anchor="t"/>
          <a:lstStyle/>
          <a:p>
            <a:pPr algn="ctr" indent="0" marL="0">
              <a:lnSpc>
                <a:spcPts val="2000"/>
              </a:lnSpc>
              <a:buNone/>
            </a:pPr>
            <a:r>
              <a:rPr lang="en-US" sz="2000" dirty="0">
                <a:solidFill>
                  <a:srgbClr val="16233F"/>
                </a:solidFill>
                <a:latin typeface="Arial Rounded MT Bold" pitchFamily="34" charset="0"/>
                <a:ea typeface="Arial Rounded MT Bold" pitchFamily="34" charset="-122"/>
                <a:cs typeface="Arial Rounded MT Bold" pitchFamily="34" charset="-120"/>
              </a:rPr>
              <a:t>Mass</a:t>
            </a:r>
            <a:endParaRPr lang="en-US" sz="2000" dirty="0"/>
          </a:p>
        </p:txBody>
      </p:sp>
      <p:sp>
        <p:nvSpPr>
          <p:cNvPr id="7" name="Text 12.6"/>
          <p:cNvSpPr txBox="1"/>
          <p:nvPr/>
        </p:nvSpPr>
        <p:spPr>
          <a:xfrm>
            <a:off x="8000800" y="4292493"/>
            <a:ext cx="1396965" cy="99058"/>
          </a:xfrm>
          <a:prstGeom prst="rect">
            <a:avLst/>
          </a:prstGeom>
          <a:noFill/>
          <a:ln/>
        </p:spPr>
        <p:txBody>
          <a:bodyPr wrap="square" lIns="0" tIns="0" rIns="0" bIns="0" rtlCol="0" anchor="t"/>
          <a:lstStyle/>
          <a:p>
            <a:pPr algn="ctr" indent="0" marL="0">
              <a:lnSpc>
                <a:spcPts val="780"/>
              </a:lnSpc>
              <a:buNone/>
            </a:pPr>
            <a:r>
              <a:rPr lang="en-US" sz="650" b="1" spc="78" kern="0" dirty="0">
                <a:solidFill>
                  <a:srgbClr val="6E7D9A"/>
                </a:solidFill>
                <a:latin typeface="Arial" pitchFamily="34" charset="0"/>
                <a:ea typeface="Arial" pitchFamily="34" charset="-122"/>
                <a:cs typeface="Arial" pitchFamily="34" charset="-120"/>
              </a:rPr>
              <a:t>ONE VALUE</a:t>
            </a:r>
            <a:endParaRPr lang="en-US" sz="650" dirty="0"/>
          </a:p>
        </p:txBody>
      </p:sp>
      <p:sp>
        <p:nvSpPr>
          <p:cNvPr id="8" name="Text 12.7"/>
          <p:cNvSpPr txBox="1"/>
          <p:nvPr/>
        </p:nvSpPr>
        <p:spPr>
          <a:xfrm>
            <a:off x="7886503" y="1790655"/>
            <a:ext cx="921785" cy="177796"/>
          </a:xfrm>
          <a:prstGeom prst="rect">
            <a:avLst/>
          </a:prstGeom>
          <a:noFill/>
          <a:ln/>
        </p:spPr>
        <p:txBody>
          <a:bodyPr wrap="square" lIns="0" tIns="0" rIns="0" bIns="0" rtlCol="0" anchor="t"/>
          <a:lstStyle/>
          <a:p>
            <a:pPr algn="l" indent="0" marL="0">
              <a:lnSpc>
                <a:spcPts val="1400"/>
              </a:lnSpc>
              <a:buNone/>
            </a:pPr>
            <a:r>
              <a:rPr lang="en-US" sz="1400" dirty="0">
                <a:solidFill>
                  <a:srgbClr val="16233F"/>
                </a:solidFill>
                <a:latin typeface="Arial Rounded MT Bold" pitchFamily="34" charset="0"/>
                <a:ea typeface="Arial Rounded MT Bold" pitchFamily="34" charset="-122"/>
                <a:cs typeface="Arial Rounded MT Bold" pitchFamily="34" charset="-120"/>
              </a:rPr>
              <a:t>01 Spend</a:t>
            </a:r>
            <a:endParaRPr lang="en-US" sz="1400" dirty="0"/>
          </a:p>
        </p:txBody>
      </p:sp>
      <p:sp>
        <p:nvSpPr>
          <p:cNvPr id="9" name="Text 12.8"/>
          <p:cNvSpPr txBox="1"/>
          <p:nvPr/>
        </p:nvSpPr>
        <p:spPr>
          <a:xfrm>
            <a:off x="7886503" y="2044649"/>
            <a:ext cx="1663658" cy="308563"/>
          </a:xfrm>
          <a:prstGeom prst="rect">
            <a:avLst/>
          </a:prstGeom>
          <a:noFill/>
          <a:ln/>
        </p:spPr>
        <p:txBody>
          <a:bodyPr wrap="square" lIns="0" tIns="0" rIns="0" bIns="0" rtlCol="0" anchor="t"/>
          <a:lstStyle/>
          <a:p>
            <a:pPr algn="l" indent="0" marL="0">
              <a:lnSpc>
                <a:spcPts val="1220"/>
              </a:lnSpc>
              <a:buNone/>
            </a:pPr>
            <a:r>
              <a:rPr lang="en-US" sz="900" dirty="0">
                <a:solidFill>
                  <a:srgbClr val="3B4A66"/>
                </a:solidFill>
                <a:latin typeface="Arial" pitchFamily="34" charset="0"/>
                <a:ea typeface="Arial" pitchFamily="34" charset="-122"/>
                <a:cs typeface="Arial" pitchFamily="34" charset="-120"/>
              </a:rPr>
              <a:t>Shooting spits out part of your own body.</a:t>
            </a:r>
            <a:endParaRPr lang="en-US" sz="900" dirty="0"/>
          </a:p>
        </p:txBody>
      </p:sp>
      <p:sp>
        <p:nvSpPr>
          <p:cNvPr id="10" name="Text 12.9"/>
          <p:cNvSpPr txBox="1"/>
          <p:nvPr/>
        </p:nvSpPr>
        <p:spPr>
          <a:xfrm>
            <a:off x="9727957" y="3632109"/>
            <a:ext cx="828920" cy="177796"/>
          </a:xfrm>
          <a:prstGeom prst="rect">
            <a:avLst/>
          </a:prstGeom>
          <a:noFill/>
          <a:ln/>
        </p:spPr>
        <p:txBody>
          <a:bodyPr wrap="square" lIns="0" tIns="0" rIns="0" bIns="0" rtlCol="0" anchor="t"/>
          <a:lstStyle/>
          <a:p>
            <a:pPr algn="l" indent="0" marL="0">
              <a:lnSpc>
                <a:spcPts val="1400"/>
              </a:lnSpc>
              <a:buNone/>
            </a:pPr>
            <a:r>
              <a:rPr lang="en-US" sz="1400" dirty="0">
                <a:solidFill>
                  <a:srgbClr val="16233F"/>
                </a:solidFill>
                <a:latin typeface="Arial Rounded MT Bold" pitchFamily="34" charset="0"/>
                <a:ea typeface="Arial Rounded MT Bold" pitchFamily="34" charset="-122"/>
                <a:cs typeface="Arial Rounded MT Bold" pitchFamily="34" charset="-120"/>
              </a:rPr>
              <a:t>02 Drain</a:t>
            </a:r>
            <a:endParaRPr lang="en-US" sz="1400" dirty="0"/>
          </a:p>
        </p:txBody>
      </p:sp>
      <p:sp>
        <p:nvSpPr>
          <p:cNvPr id="11" name="Text 12.10"/>
          <p:cNvSpPr txBox="1"/>
          <p:nvPr/>
        </p:nvSpPr>
        <p:spPr>
          <a:xfrm>
            <a:off x="9727957" y="3886103"/>
            <a:ext cx="1663658" cy="308563"/>
          </a:xfrm>
          <a:prstGeom prst="rect">
            <a:avLst/>
          </a:prstGeom>
          <a:noFill/>
          <a:ln/>
        </p:spPr>
        <p:txBody>
          <a:bodyPr wrap="square" lIns="0" tIns="0" rIns="0" bIns="0" rtlCol="0" anchor="t"/>
          <a:lstStyle/>
          <a:p>
            <a:pPr algn="l" indent="0" marL="0">
              <a:lnSpc>
                <a:spcPts val="1220"/>
              </a:lnSpc>
              <a:buNone/>
            </a:pPr>
            <a:r>
              <a:rPr lang="en-US" sz="900" dirty="0">
                <a:solidFill>
                  <a:srgbClr val="3B4A66"/>
                </a:solidFill>
                <a:latin typeface="Arial" pitchFamily="34" charset="0"/>
                <a:ea typeface="Arial" pitchFamily="34" charset="-122"/>
                <a:cs typeface="Arial" pitchFamily="34" charset="-120"/>
              </a:rPr>
              <a:t>Every hit you take removes body mass.</a:t>
            </a:r>
            <a:endParaRPr lang="en-US" sz="900" dirty="0"/>
          </a:p>
        </p:txBody>
      </p:sp>
      <p:sp>
        <p:nvSpPr>
          <p:cNvPr id="12" name="Text 12.11"/>
          <p:cNvSpPr txBox="1"/>
          <p:nvPr/>
        </p:nvSpPr>
        <p:spPr>
          <a:xfrm>
            <a:off x="7886503" y="5473563"/>
            <a:ext cx="1245390" cy="177796"/>
          </a:xfrm>
          <a:prstGeom prst="rect">
            <a:avLst/>
          </a:prstGeom>
          <a:noFill/>
          <a:ln/>
        </p:spPr>
        <p:txBody>
          <a:bodyPr wrap="square" lIns="0" tIns="0" rIns="0" bIns="0" rtlCol="0" anchor="t"/>
          <a:lstStyle/>
          <a:p>
            <a:pPr algn="l" indent="0" marL="0">
              <a:lnSpc>
                <a:spcPts val="1400"/>
              </a:lnSpc>
              <a:buNone/>
            </a:pPr>
            <a:r>
              <a:rPr lang="en-US" sz="1400" dirty="0">
                <a:solidFill>
                  <a:srgbClr val="16233F"/>
                </a:solidFill>
                <a:latin typeface="Arial Rounded MT Bold" pitchFamily="34" charset="0"/>
                <a:ea typeface="Arial Rounded MT Bold" pitchFamily="34" charset="-122"/>
                <a:cs typeface="Arial Rounded MT Bold" pitchFamily="34" charset="-120"/>
              </a:rPr>
              <a:t>03 One value</a:t>
            </a:r>
            <a:endParaRPr lang="en-US" sz="1400" dirty="0"/>
          </a:p>
        </p:txBody>
      </p:sp>
      <p:sp>
        <p:nvSpPr>
          <p:cNvPr id="13" name="Text 12.12"/>
          <p:cNvSpPr txBox="1"/>
          <p:nvPr/>
        </p:nvSpPr>
        <p:spPr>
          <a:xfrm>
            <a:off x="7886503" y="5727557"/>
            <a:ext cx="1663658" cy="308563"/>
          </a:xfrm>
          <a:prstGeom prst="rect">
            <a:avLst/>
          </a:prstGeom>
          <a:noFill/>
          <a:ln/>
        </p:spPr>
        <p:txBody>
          <a:bodyPr wrap="square" lIns="0" tIns="0" rIns="0" bIns="0" rtlCol="0" anchor="t"/>
          <a:lstStyle/>
          <a:p>
            <a:pPr algn="l" indent="0" marL="0">
              <a:lnSpc>
                <a:spcPts val="1220"/>
              </a:lnSpc>
              <a:buNone/>
            </a:pPr>
            <a:r>
              <a:rPr lang="en-US" sz="900" dirty="0">
                <a:solidFill>
                  <a:srgbClr val="3B4A66"/>
                </a:solidFill>
                <a:latin typeface="Arial" pitchFamily="34" charset="0"/>
                <a:ea typeface="Arial" pitchFamily="34" charset="-122"/>
                <a:cs typeface="Arial" pitchFamily="34" charset="-120"/>
              </a:rPr>
              <a:t>That mass is your size, ammunition and health.</a:t>
            </a:r>
            <a:endParaRPr lang="en-US" sz="900" dirty="0"/>
          </a:p>
        </p:txBody>
      </p:sp>
      <p:sp>
        <p:nvSpPr>
          <p:cNvPr id="14" name="Text 12.13"/>
          <p:cNvSpPr txBox="1"/>
          <p:nvPr/>
        </p:nvSpPr>
        <p:spPr>
          <a:xfrm>
            <a:off x="6045049" y="3632109"/>
            <a:ext cx="1009285" cy="177796"/>
          </a:xfrm>
          <a:prstGeom prst="rect">
            <a:avLst/>
          </a:prstGeom>
          <a:noFill/>
          <a:ln/>
        </p:spPr>
        <p:txBody>
          <a:bodyPr wrap="square" lIns="0" tIns="0" rIns="0" bIns="0" rtlCol="0" anchor="t"/>
          <a:lstStyle/>
          <a:p>
            <a:pPr algn="l" indent="0" marL="0">
              <a:lnSpc>
                <a:spcPts val="1400"/>
              </a:lnSpc>
              <a:buNone/>
            </a:pPr>
            <a:r>
              <a:rPr lang="en-US" sz="1400" dirty="0">
                <a:solidFill>
                  <a:srgbClr val="FF6B1F"/>
                </a:solidFill>
                <a:latin typeface="Arial Rounded MT Bold" pitchFamily="34" charset="0"/>
                <a:ea typeface="Arial Rounded MT Bold" pitchFamily="34" charset="-122"/>
                <a:cs typeface="Arial Rounded MT Bold" pitchFamily="34" charset="-120"/>
              </a:rPr>
              <a:t>04 Launch</a:t>
            </a:r>
            <a:endParaRPr lang="en-US" sz="1400" dirty="0"/>
          </a:p>
        </p:txBody>
      </p:sp>
      <p:sp>
        <p:nvSpPr>
          <p:cNvPr id="15" name="Text 12.14"/>
          <p:cNvSpPr txBox="1"/>
          <p:nvPr/>
        </p:nvSpPr>
        <p:spPr>
          <a:xfrm>
            <a:off x="6045049" y="3886103"/>
            <a:ext cx="1663658" cy="308563"/>
          </a:xfrm>
          <a:prstGeom prst="rect">
            <a:avLst/>
          </a:prstGeom>
          <a:noFill/>
          <a:ln/>
        </p:spPr>
        <p:txBody>
          <a:bodyPr wrap="square" lIns="0" tIns="0" rIns="0" bIns="0" rtlCol="0" anchor="t"/>
          <a:lstStyle/>
          <a:p>
            <a:pPr algn="l" indent="0" marL="0">
              <a:lnSpc>
                <a:spcPts val="1220"/>
              </a:lnSpc>
              <a:buNone/>
            </a:pPr>
            <a:r>
              <a:rPr lang="en-US" sz="900" dirty="0">
                <a:solidFill>
                  <a:srgbClr val="3B4A66"/>
                </a:solidFill>
                <a:latin typeface="Arial" pitchFamily="34" charset="0"/>
                <a:ea typeface="Arial" pitchFamily="34" charset="-122"/>
                <a:cs typeface="Arial" pitchFamily="34" charset="-120"/>
              </a:rPr>
              <a:t>Less mass: the same incoming hit sends you further.</a:t>
            </a:r>
            <a:endParaRPr lang="en-US" sz="900" dirty="0"/>
          </a:p>
        </p:txBody>
      </p:sp>
      <p:sp>
        <p:nvSpPr>
          <p:cNvPr id="16" name="Text 12.15"/>
          <p:cNvSpPr txBox="1"/>
          <p:nvPr/>
        </p:nvSpPr>
        <p:spPr>
          <a:xfrm>
            <a:off x="5905352" y="4482988"/>
            <a:ext cx="1841454" cy="241294"/>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FFFFFF"/>
                </a:solidFill>
                <a:latin typeface="Arial" pitchFamily="34" charset="0"/>
                <a:ea typeface="Arial" pitchFamily="34" charset="-122"/>
                <a:cs typeface="Arial" pitchFamily="34" charset="-120"/>
              </a:rPr>
              <a:t>NOT FOUND ELSEWHERE</a:t>
            </a:r>
            <a:endParaRPr lang="en-US" sz="700" dirty="0"/>
          </a:p>
        </p:txBody>
      </p:sp>
      <p:sp>
        <p:nvSpPr>
          <p:cNvPr id="17" name="Text 12.16"/>
          <p:cNvSpPr txBox="1"/>
          <p:nvPr/>
        </p:nvSpPr>
        <p:spPr>
          <a:xfrm>
            <a:off x="927077" y="355591"/>
            <a:ext cx="905273" cy="107947"/>
          </a:xfrm>
          <a:prstGeom prst="rect">
            <a:avLst/>
          </a:prstGeom>
          <a:noFill/>
          <a:ln/>
        </p:spPr>
        <p:txBody>
          <a:bodyPr wrap="square" lIns="0" tIns="0" rIns="0" bIns="0" rtlCol="0" anchor="t"/>
          <a:lstStyle/>
          <a:p>
            <a:pPr algn="l" indent="0" marL="0">
              <a:lnSpc>
                <a:spcPts val="850"/>
              </a:lnSpc>
              <a:buNone/>
            </a:pPr>
            <a:r>
              <a:rPr lang="en-US" sz="850" b="1" spc="17" kern="0" dirty="0">
                <a:solidFill>
                  <a:srgbClr val="16233F"/>
                </a:solidFill>
                <a:latin typeface="Arial" pitchFamily="34" charset="0"/>
                <a:ea typeface="Arial" pitchFamily="34" charset="-122"/>
                <a:cs typeface="Arial" pitchFamily="34" charset="-120"/>
              </a:rPr>
              <a:t>04 · Innovation</a:t>
            </a:r>
            <a:endParaRPr lang="en-US" sz="850" dirty="0"/>
          </a:p>
        </p:txBody>
      </p:sp>
      <p:sp>
        <p:nvSpPr>
          <p:cNvPr id="18" name="Text 12.17"/>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12</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23</a:t>
            </a:r>
            <a:endParaRPr lang="en-US" sz="10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13.1"/>
          <p:cNvSpPr txBox="1"/>
          <p:nvPr/>
        </p:nvSpPr>
        <p:spPr>
          <a:xfrm>
            <a:off x="609585" y="761981"/>
            <a:ext cx="11371296" cy="384038"/>
          </a:xfrm>
          <a:prstGeom prst="rect">
            <a:avLst/>
          </a:prstGeom>
          <a:noFill/>
          <a:ln/>
        </p:spPr>
        <p:txBody>
          <a:bodyPr wrap="square" lIns="0" tIns="0" rIns="0" bIns="0" rtlCol="0" anchor="t"/>
          <a:lstStyle/>
          <a:p>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Closest prior art for each link, and </a:t>
            </a:r>
            <a:pPr algn="l" indent="0" marL="0">
              <a:lnSpc>
                <a:spcPts val="3020"/>
              </a:lnSpc>
              <a:buNone/>
            </a:pPr>
            <a:r>
              <a:rPr lang="en-US" sz="2700" spc="-27" kern="0" dirty="0">
                <a:solidFill>
                  <a:srgbClr val="FF6B1F"/>
                </a:solidFill>
                <a:latin typeface="Arial Rounded MT Bold" pitchFamily="34" charset="0"/>
                <a:ea typeface="Arial Rounded MT Bold" pitchFamily="34" charset="-122"/>
                <a:cs typeface="Arial Rounded MT Bold" pitchFamily="34" charset="-120"/>
              </a:rPr>
              <a:t>what we did not find</a:t>
            </a:r>
            <a:endParaRPr lang="en-US" sz="2700" dirty="0"/>
          </a:p>
        </p:txBody>
      </p:sp>
      <p:sp>
        <p:nvSpPr>
          <p:cNvPr id="3" name="Text 13.2"/>
          <p:cNvSpPr txBox="1"/>
          <p:nvPr/>
        </p:nvSpPr>
        <p:spPr>
          <a:xfrm>
            <a:off x="863578" y="1663658"/>
            <a:ext cx="309700" cy="99058"/>
          </a:xfrm>
          <a:prstGeom prst="rect">
            <a:avLst/>
          </a:prstGeom>
          <a:noFill/>
          <a:ln/>
        </p:spPr>
        <p:txBody>
          <a:bodyPr wrap="square" lIns="0" tIns="0" rIns="0" bIns="0" rtlCol="0" anchor="t"/>
          <a:lstStyle/>
          <a:p>
            <a:pPr algn="l" indent="0" marL="0">
              <a:lnSpc>
                <a:spcPts val="780"/>
              </a:lnSpc>
              <a:buNone/>
            </a:pPr>
            <a:r>
              <a:rPr lang="en-US" sz="650" b="1" spc="78" kern="0" dirty="0">
                <a:solidFill>
                  <a:srgbClr val="6E7D9A"/>
                </a:solidFill>
                <a:latin typeface="Arial" pitchFamily="34" charset="0"/>
                <a:ea typeface="Arial" pitchFamily="34" charset="-122"/>
                <a:cs typeface="Arial" pitchFamily="34" charset="-120"/>
              </a:rPr>
              <a:t>LINK</a:t>
            </a:r>
            <a:endParaRPr lang="en-US" sz="650" dirty="0"/>
          </a:p>
        </p:txBody>
      </p:sp>
      <p:sp>
        <p:nvSpPr>
          <p:cNvPr id="4" name="Text 13.3"/>
          <p:cNvSpPr txBox="1"/>
          <p:nvPr/>
        </p:nvSpPr>
        <p:spPr>
          <a:xfrm>
            <a:off x="3936902" y="1663658"/>
            <a:ext cx="1157574" cy="99058"/>
          </a:xfrm>
          <a:prstGeom prst="rect">
            <a:avLst/>
          </a:prstGeom>
          <a:noFill/>
          <a:ln/>
        </p:spPr>
        <p:txBody>
          <a:bodyPr wrap="square" lIns="0" tIns="0" rIns="0" bIns="0" rtlCol="0" anchor="t"/>
          <a:lstStyle/>
          <a:p>
            <a:pPr algn="l" indent="0" marL="0">
              <a:lnSpc>
                <a:spcPts val="780"/>
              </a:lnSpc>
              <a:buNone/>
            </a:pPr>
            <a:r>
              <a:rPr lang="en-US" sz="650" b="1" spc="78" kern="0" dirty="0">
                <a:solidFill>
                  <a:srgbClr val="6E7D9A"/>
                </a:solidFill>
                <a:latin typeface="Arial" pitchFamily="34" charset="0"/>
                <a:ea typeface="Arial" pitchFamily="34" charset="-122"/>
                <a:cs typeface="Arial" pitchFamily="34" charset="-120"/>
              </a:rPr>
              <a:t>CLOSEST PRIOR ART</a:t>
            </a:r>
            <a:endParaRPr lang="en-US" sz="650" dirty="0"/>
          </a:p>
        </p:txBody>
      </p:sp>
      <p:sp>
        <p:nvSpPr>
          <p:cNvPr id="5" name="Text 13.4"/>
          <p:cNvSpPr txBox="1"/>
          <p:nvPr/>
        </p:nvSpPr>
        <p:spPr>
          <a:xfrm>
            <a:off x="9905752" y="1663658"/>
            <a:ext cx="463562" cy="99058"/>
          </a:xfrm>
          <a:prstGeom prst="rect">
            <a:avLst/>
          </a:prstGeom>
          <a:noFill/>
          <a:ln/>
        </p:spPr>
        <p:txBody>
          <a:bodyPr wrap="square" lIns="0" tIns="0" rIns="0" bIns="0" rtlCol="0" anchor="t"/>
          <a:lstStyle/>
          <a:p>
            <a:pPr algn="l" indent="0" marL="0">
              <a:lnSpc>
                <a:spcPts val="780"/>
              </a:lnSpc>
              <a:buNone/>
            </a:pPr>
            <a:r>
              <a:rPr lang="en-US" sz="650" b="1" spc="78" kern="0" dirty="0">
                <a:solidFill>
                  <a:srgbClr val="6E7D9A"/>
                </a:solidFill>
                <a:latin typeface="Arial" pitchFamily="34" charset="0"/>
                <a:ea typeface="Arial" pitchFamily="34" charset="-122"/>
                <a:cs typeface="Arial" pitchFamily="34" charset="-120"/>
              </a:rPr>
              <a:t>STATUS</a:t>
            </a:r>
            <a:endParaRPr lang="en-US" sz="650" dirty="0"/>
          </a:p>
        </p:txBody>
      </p:sp>
      <p:sp>
        <p:nvSpPr>
          <p:cNvPr id="6" name="Text 13.5"/>
          <p:cNvSpPr txBox="1"/>
          <p:nvPr/>
        </p:nvSpPr>
        <p:spPr>
          <a:xfrm>
            <a:off x="863578" y="2095448"/>
            <a:ext cx="351557" cy="228594"/>
          </a:xfrm>
          <a:prstGeom prst="rect">
            <a:avLst/>
          </a:prstGeom>
          <a:noFill/>
          <a:ln/>
        </p:spPr>
        <p:txBody>
          <a:bodyPr wrap="square" lIns="0" tIns="0" rIns="0" bIns="0" rtlCol="0" anchor="t"/>
          <a:lstStyle/>
          <a:p>
            <a:pPr algn="l" indent="0" marL="0">
              <a:lnSpc>
                <a:spcPts val="1800"/>
              </a:lnSpc>
              <a:buNone/>
            </a:pPr>
            <a:r>
              <a:rPr lang="en-US" sz="1800" dirty="0">
                <a:solidFill>
                  <a:srgbClr val="A9B6CC"/>
                </a:solidFill>
                <a:latin typeface="Arial Rounded MT Bold" pitchFamily="34" charset="0"/>
                <a:ea typeface="Arial Rounded MT Bold" pitchFamily="34" charset="-122"/>
                <a:cs typeface="Arial Rounded MT Bold" pitchFamily="34" charset="-120"/>
              </a:rPr>
              <a:t>01</a:t>
            </a:r>
            <a:endParaRPr lang="en-US" sz="1800" dirty="0"/>
          </a:p>
        </p:txBody>
      </p:sp>
      <p:sp>
        <p:nvSpPr>
          <p:cNvPr id="7" name="Text 13.6"/>
          <p:cNvSpPr txBox="1"/>
          <p:nvPr/>
        </p:nvSpPr>
        <p:spPr>
          <a:xfrm>
            <a:off x="1460463" y="2120847"/>
            <a:ext cx="2197045" cy="182558"/>
          </a:xfrm>
          <a:prstGeom prst="rect">
            <a:avLst/>
          </a:prstGeom>
          <a:noFill/>
          <a:ln/>
        </p:spPr>
        <p:txBody>
          <a:bodyPr wrap="square" lIns="0" tIns="0" rIns="0" bIns="0" rtlCol="0" anchor="t"/>
          <a:lstStyle/>
          <a:p>
            <a:pPr algn="l" indent="0" marL="0">
              <a:lnSpc>
                <a:spcPts val="1440"/>
              </a:lnSpc>
              <a:buNone/>
            </a:pPr>
            <a:r>
              <a:rPr lang="en-US" sz="1150" b="1" dirty="0">
                <a:solidFill>
                  <a:srgbClr val="16233F"/>
                </a:solidFill>
                <a:latin typeface="Arial" pitchFamily="34" charset="0"/>
                <a:ea typeface="Arial" pitchFamily="34" charset="-122"/>
                <a:cs typeface="Arial" pitchFamily="34" charset="-120"/>
              </a:rPr>
              <a:t>Spend your body</a:t>
            </a:r>
            <a:endParaRPr lang="en-US" sz="1150" dirty="0"/>
          </a:p>
        </p:txBody>
      </p:sp>
      <p:sp>
        <p:nvSpPr>
          <p:cNvPr id="8" name="Text 13.7"/>
          <p:cNvSpPr txBox="1"/>
          <p:nvPr/>
        </p:nvSpPr>
        <p:spPr>
          <a:xfrm>
            <a:off x="3936902" y="2031949"/>
            <a:ext cx="5625959" cy="177796"/>
          </a:xfrm>
          <a:prstGeom prst="rect">
            <a:avLst/>
          </a:prstGeom>
          <a:noFill/>
          <a:ln/>
        </p:spPr>
        <p:txBody>
          <a:bodyPr wrap="square" lIns="0" tIns="0" rIns="0" bIns="0" rtlCol="0" anchor="t"/>
          <a:lstStyle/>
          <a:p>
            <a:pPr algn="l" indent="0" marL="0">
              <a:lnSpc>
                <a:spcPts val="1400"/>
              </a:lnSpc>
              <a:buNone/>
            </a:pPr>
            <a:r>
              <a:rPr lang="en-US" sz="1000" dirty="0">
                <a:solidFill>
                  <a:srgbClr val="3B4A66"/>
                </a:solidFill>
                <a:latin typeface="Arial" pitchFamily="34" charset="0"/>
                <a:ea typeface="Arial" pitchFamily="34" charset="-122"/>
                <a:cs typeface="Arial" pitchFamily="34" charset="-120"/>
              </a:rPr>
              <a:t>Osmos ejects its own matter to move, not to attack. Agar.io ejects mass.</a:t>
            </a:r>
            <a:endParaRPr lang="en-US" sz="1000" dirty="0"/>
          </a:p>
        </p:txBody>
      </p:sp>
      <p:sp>
        <p:nvSpPr>
          <p:cNvPr id="9" name="Text 13.8"/>
          <p:cNvSpPr txBox="1"/>
          <p:nvPr/>
        </p:nvSpPr>
        <p:spPr>
          <a:xfrm>
            <a:off x="9905752" y="2082748"/>
            <a:ext cx="1422364" cy="266693"/>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6E7D9A"/>
                </a:solidFill>
                <a:latin typeface="Arial" pitchFamily="34" charset="0"/>
                <a:ea typeface="Arial" pitchFamily="34" charset="-122"/>
                <a:cs typeface="Arial" pitchFamily="34" charset="-120"/>
              </a:rPr>
              <a:t>DIFFERENT USE</a:t>
            </a:r>
            <a:endParaRPr lang="en-US" sz="700" dirty="0"/>
          </a:p>
        </p:txBody>
      </p:sp>
      <p:sp>
        <p:nvSpPr>
          <p:cNvPr id="10" name="Text 13.9"/>
          <p:cNvSpPr txBox="1"/>
          <p:nvPr/>
        </p:nvSpPr>
        <p:spPr>
          <a:xfrm>
            <a:off x="863578" y="2882828"/>
            <a:ext cx="351557" cy="228594"/>
          </a:xfrm>
          <a:prstGeom prst="rect">
            <a:avLst/>
          </a:prstGeom>
          <a:noFill/>
          <a:ln/>
        </p:spPr>
        <p:txBody>
          <a:bodyPr wrap="square" lIns="0" tIns="0" rIns="0" bIns="0" rtlCol="0" anchor="t"/>
          <a:lstStyle/>
          <a:p>
            <a:pPr algn="l" indent="0" marL="0">
              <a:lnSpc>
                <a:spcPts val="1800"/>
              </a:lnSpc>
              <a:buNone/>
            </a:pPr>
            <a:r>
              <a:rPr lang="en-US" sz="1800" dirty="0">
                <a:solidFill>
                  <a:srgbClr val="A9B6CC"/>
                </a:solidFill>
                <a:latin typeface="Arial Rounded MT Bold" pitchFamily="34" charset="0"/>
                <a:ea typeface="Arial Rounded MT Bold" pitchFamily="34" charset="-122"/>
                <a:cs typeface="Arial Rounded MT Bold" pitchFamily="34" charset="-120"/>
              </a:rPr>
              <a:t>02</a:t>
            </a:r>
            <a:endParaRPr lang="en-US" sz="1800" dirty="0"/>
          </a:p>
        </p:txBody>
      </p:sp>
      <p:sp>
        <p:nvSpPr>
          <p:cNvPr id="11" name="Text 13.10"/>
          <p:cNvSpPr txBox="1"/>
          <p:nvPr/>
        </p:nvSpPr>
        <p:spPr>
          <a:xfrm>
            <a:off x="1460463" y="2908227"/>
            <a:ext cx="2197045" cy="182558"/>
          </a:xfrm>
          <a:prstGeom prst="rect">
            <a:avLst/>
          </a:prstGeom>
          <a:noFill/>
          <a:ln/>
        </p:spPr>
        <p:txBody>
          <a:bodyPr wrap="square" lIns="0" tIns="0" rIns="0" bIns="0" rtlCol="0" anchor="t"/>
          <a:lstStyle/>
          <a:p>
            <a:pPr algn="l" indent="0" marL="0">
              <a:lnSpc>
                <a:spcPts val="1440"/>
              </a:lnSpc>
              <a:buNone/>
            </a:pPr>
            <a:r>
              <a:rPr lang="en-US" sz="1150" b="1" dirty="0">
                <a:solidFill>
                  <a:srgbClr val="16233F"/>
                </a:solidFill>
                <a:latin typeface="Arial" pitchFamily="34" charset="0"/>
                <a:ea typeface="Arial" pitchFamily="34" charset="-122"/>
                <a:cs typeface="Arial" pitchFamily="34" charset="-120"/>
              </a:rPr>
              <a:t>Hits shrink you</a:t>
            </a:r>
            <a:endParaRPr lang="en-US" sz="1150" dirty="0"/>
          </a:p>
        </p:txBody>
      </p:sp>
      <p:sp>
        <p:nvSpPr>
          <p:cNvPr id="12" name="Text 13.11"/>
          <p:cNvSpPr txBox="1"/>
          <p:nvPr/>
        </p:nvSpPr>
        <p:spPr>
          <a:xfrm>
            <a:off x="3936902" y="2819330"/>
            <a:ext cx="5625959" cy="177796"/>
          </a:xfrm>
          <a:prstGeom prst="rect">
            <a:avLst/>
          </a:prstGeom>
          <a:noFill/>
          <a:ln/>
        </p:spPr>
        <p:txBody>
          <a:bodyPr wrap="square" lIns="0" tIns="0" rIns="0" bIns="0" rtlCol="0" anchor="t"/>
          <a:lstStyle/>
          <a:p>
            <a:pPr algn="l" indent="0" marL="0">
              <a:lnSpc>
                <a:spcPts val="1400"/>
              </a:lnSpc>
              <a:buNone/>
            </a:pPr>
            <a:r>
              <a:rPr lang="en-US" sz="1000" dirty="0">
                <a:solidFill>
                  <a:srgbClr val="3B4A66"/>
                </a:solidFill>
                <a:latin typeface="Arial" pitchFamily="34" charset="0"/>
                <a:ea typeface="Arial" pitchFamily="34" charset="-122"/>
                <a:cs typeface="Arial" pitchFamily="34" charset="-120"/>
              </a:rPr>
              <a:t>Squarena (2D): lower health, smaller body. Morphies Law: hits move mass between robots.</a:t>
            </a:r>
            <a:endParaRPr lang="en-US" sz="1000" dirty="0"/>
          </a:p>
        </p:txBody>
      </p:sp>
      <p:sp>
        <p:nvSpPr>
          <p:cNvPr id="13" name="Text 13.12"/>
          <p:cNvSpPr txBox="1"/>
          <p:nvPr/>
        </p:nvSpPr>
        <p:spPr>
          <a:xfrm>
            <a:off x="9905752" y="2870128"/>
            <a:ext cx="1422364" cy="266693"/>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1FA9EA"/>
                </a:solidFill>
                <a:latin typeface="Arial" pitchFamily="34" charset="0"/>
                <a:ea typeface="Arial" pitchFamily="34" charset="-122"/>
                <a:cs typeface="Arial" pitchFamily="34" charset="-120"/>
              </a:rPr>
              <a:t>PRECEDENT</a:t>
            </a:r>
            <a:endParaRPr lang="en-US" sz="700" dirty="0"/>
          </a:p>
        </p:txBody>
      </p:sp>
      <p:sp>
        <p:nvSpPr>
          <p:cNvPr id="14" name="Text 13.13"/>
          <p:cNvSpPr txBox="1"/>
          <p:nvPr/>
        </p:nvSpPr>
        <p:spPr>
          <a:xfrm>
            <a:off x="863578" y="3670208"/>
            <a:ext cx="351557" cy="228594"/>
          </a:xfrm>
          <a:prstGeom prst="rect">
            <a:avLst/>
          </a:prstGeom>
          <a:noFill/>
          <a:ln/>
        </p:spPr>
        <p:txBody>
          <a:bodyPr wrap="square" lIns="0" tIns="0" rIns="0" bIns="0" rtlCol="0" anchor="t"/>
          <a:lstStyle/>
          <a:p>
            <a:pPr algn="l" indent="0" marL="0">
              <a:lnSpc>
                <a:spcPts val="1800"/>
              </a:lnSpc>
              <a:buNone/>
            </a:pPr>
            <a:r>
              <a:rPr lang="en-US" sz="1800" dirty="0">
                <a:solidFill>
                  <a:srgbClr val="A9B6CC"/>
                </a:solidFill>
                <a:latin typeface="Arial Rounded MT Bold" pitchFamily="34" charset="0"/>
                <a:ea typeface="Arial Rounded MT Bold" pitchFamily="34" charset="-122"/>
                <a:cs typeface="Arial Rounded MT Bold" pitchFamily="34" charset="-120"/>
              </a:rPr>
              <a:t>03</a:t>
            </a:r>
            <a:endParaRPr lang="en-US" sz="1800" dirty="0"/>
          </a:p>
        </p:txBody>
      </p:sp>
      <p:sp>
        <p:nvSpPr>
          <p:cNvPr id="15" name="Text 13.14"/>
          <p:cNvSpPr txBox="1"/>
          <p:nvPr/>
        </p:nvSpPr>
        <p:spPr>
          <a:xfrm>
            <a:off x="1460463" y="3695608"/>
            <a:ext cx="2197045" cy="182558"/>
          </a:xfrm>
          <a:prstGeom prst="rect">
            <a:avLst/>
          </a:prstGeom>
          <a:noFill/>
          <a:ln/>
        </p:spPr>
        <p:txBody>
          <a:bodyPr wrap="square" lIns="0" tIns="0" rIns="0" bIns="0" rtlCol="0" anchor="t"/>
          <a:lstStyle/>
          <a:p>
            <a:pPr algn="l" indent="0" marL="0">
              <a:lnSpc>
                <a:spcPts val="1440"/>
              </a:lnSpc>
              <a:buNone/>
            </a:pPr>
            <a:r>
              <a:rPr lang="en-US" sz="1150" b="1" dirty="0">
                <a:solidFill>
                  <a:srgbClr val="16233F"/>
                </a:solidFill>
                <a:latin typeface="Arial" pitchFamily="34" charset="0"/>
                <a:ea typeface="Arial" pitchFamily="34" charset="-122"/>
                <a:cs typeface="Arial" pitchFamily="34" charset="-120"/>
              </a:rPr>
              <a:t>Attack costs health</a:t>
            </a:r>
            <a:endParaRPr lang="en-US" sz="1150" dirty="0"/>
          </a:p>
        </p:txBody>
      </p:sp>
      <p:sp>
        <p:nvSpPr>
          <p:cNvPr id="16" name="Text 13.15"/>
          <p:cNvSpPr txBox="1"/>
          <p:nvPr/>
        </p:nvSpPr>
        <p:spPr>
          <a:xfrm>
            <a:off x="3936902" y="3606710"/>
            <a:ext cx="5625959" cy="177796"/>
          </a:xfrm>
          <a:prstGeom prst="rect">
            <a:avLst/>
          </a:prstGeom>
          <a:noFill/>
          <a:ln/>
        </p:spPr>
        <p:txBody>
          <a:bodyPr wrap="square" lIns="0" tIns="0" rIns="0" bIns="0" rtlCol="0" anchor="t"/>
          <a:lstStyle/>
          <a:p>
            <a:pPr algn="l" indent="0" marL="0">
              <a:lnSpc>
                <a:spcPts val="1400"/>
              </a:lnSpc>
              <a:buNone/>
            </a:pPr>
            <a:r>
              <a:rPr lang="en-US" sz="1000" dirty="0">
                <a:solidFill>
                  <a:srgbClr val="3B4A66"/>
                </a:solidFill>
                <a:latin typeface="Arial" pitchFamily="34" charset="0"/>
                <a:ea typeface="Arial" pitchFamily="34" charset="-122"/>
                <a:cs typeface="Arial" pitchFamily="34" charset="-120"/>
              </a:rPr>
              <a:t>Crisol: Theater of Idols: your blood is your ammunition. Not physical mass.</a:t>
            </a:r>
            <a:endParaRPr lang="en-US" sz="1000" dirty="0"/>
          </a:p>
        </p:txBody>
      </p:sp>
      <p:sp>
        <p:nvSpPr>
          <p:cNvPr id="17" name="Text 13.16"/>
          <p:cNvSpPr txBox="1"/>
          <p:nvPr/>
        </p:nvSpPr>
        <p:spPr>
          <a:xfrm>
            <a:off x="9905752" y="3657509"/>
            <a:ext cx="1422364" cy="266693"/>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1FA9EA"/>
                </a:solidFill>
                <a:latin typeface="Arial" pitchFamily="34" charset="0"/>
                <a:ea typeface="Arial" pitchFamily="34" charset="-122"/>
                <a:cs typeface="Arial" pitchFamily="34" charset="-120"/>
              </a:rPr>
              <a:t>PRECEDENT</a:t>
            </a:r>
            <a:endParaRPr lang="en-US" sz="700" dirty="0"/>
          </a:p>
        </p:txBody>
      </p:sp>
      <p:sp>
        <p:nvSpPr>
          <p:cNvPr id="18" name="Text 13.17"/>
          <p:cNvSpPr txBox="1"/>
          <p:nvPr/>
        </p:nvSpPr>
        <p:spPr>
          <a:xfrm>
            <a:off x="863578" y="4457589"/>
            <a:ext cx="351557" cy="228594"/>
          </a:xfrm>
          <a:prstGeom prst="rect">
            <a:avLst/>
          </a:prstGeom>
          <a:noFill/>
          <a:ln/>
        </p:spPr>
        <p:txBody>
          <a:bodyPr wrap="square" lIns="0" tIns="0" rIns="0" bIns="0" rtlCol="0" anchor="t"/>
          <a:lstStyle/>
          <a:p>
            <a:pPr algn="l" indent="0" marL="0">
              <a:lnSpc>
                <a:spcPts val="1800"/>
              </a:lnSpc>
              <a:buNone/>
            </a:pPr>
            <a:r>
              <a:rPr lang="en-US" sz="1800" dirty="0">
                <a:solidFill>
                  <a:srgbClr val="FF6B1F"/>
                </a:solidFill>
                <a:latin typeface="Arial Rounded MT Bold" pitchFamily="34" charset="0"/>
                <a:ea typeface="Arial Rounded MT Bold" pitchFamily="34" charset="-122"/>
                <a:cs typeface="Arial Rounded MT Bold" pitchFamily="34" charset="-120"/>
              </a:rPr>
              <a:t>04</a:t>
            </a:r>
            <a:endParaRPr lang="en-US" sz="1800" dirty="0"/>
          </a:p>
        </p:txBody>
      </p:sp>
      <p:sp>
        <p:nvSpPr>
          <p:cNvPr id="19" name="Text 13.18"/>
          <p:cNvSpPr txBox="1"/>
          <p:nvPr/>
        </p:nvSpPr>
        <p:spPr>
          <a:xfrm>
            <a:off x="1460463" y="4482988"/>
            <a:ext cx="2197045" cy="182558"/>
          </a:xfrm>
          <a:prstGeom prst="rect">
            <a:avLst/>
          </a:prstGeom>
          <a:noFill/>
          <a:ln/>
        </p:spPr>
        <p:txBody>
          <a:bodyPr wrap="square" lIns="0" tIns="0" rIns="0" bIns="0" rtlCol="0" anchor="t"/>
          <a:lstStyle/>
          <a:p>
            <a:pPr algn="l" indent="0" marL="0">
              <a:lnSpc>
                <a:spcPts val="1440"/>
              </a:lnSpc>
              <a:buNone/>
            </a:pPr>
            <a:r>
              <a:rPr lang="en-US" sz="1150" b="1" dirty="0">
                <a:solidFill>
                  <a:srgbClr val="16233F"/>
                </a:solidFill>
                <a:latin typeface="Arial" pitchFamily="34" charset="0"/>
                <a:ea typeface="Arial" pitchFamily="34" charset="-122"/>
                <a:cs typeface="Arial" pitchFamily="34" charset="-120"/>
              </a:rPr>
              <a:t>Lighter, launched further</a:t>
            </a:r>
            <a:endParaRPr lang="en-US" sz="1150" dirty="0"/>
          </a:p>
        </p:txBody>
      </p:sp>
      <p:sp>
        <p:nvSpPr>
          <p:cNvPr id="20" name="Text 13.19"/>
          <p:cNvSpPr txBox="1"/>
          <p:nvPr/>
        </p:nvSpPr>
        <p:spPr>
          <a:xfrm>
            <a:off x="3936902" y="4394090"/>
            <a:ext cx="5625959" cy="355591"/>
          </a:xfrm>
          <a:prstGeom prst="rect">
            <a:avLst/>
          </a:prstGeom>
          <a:noFill/>
          <a:ln/>
        </p:spPr>
        <p:txBody>
          <a:bodyPr wrap="square" lIns="0" tIns="0" rIns="0" bIns="0" rtlCol="0" anchor="t"/>
          <a:lstStyle/>
          <a:p>
            <a:pPr algn="l" indent="0" marL="0">
              <a:lnSpc>
                <a:spcPts val="1400"/>
              </a:lnSpc>
              <a:buNone/>
            </a:pPr>
            <a:r>
              <a:rPr lang="en-US" sz="1000" dirty="0">
                <a:solidFill>
                  <a:srgbClr val="3B4A66"/>
                </a:solidFill>
                <a:latin typeface="Arial" pitchFamily="34" charset="0"/>
                <a:ea typeface="Arial" pitchFamily="34" charset="-122"/>
                <a:cs typeface="Arial" pitchFamily="34" charset="-120"/>
              </a:rPr>
              <a:t>Smash Bros. raises knockback with a damage % counter, not mass. In Squarena, smaller bodies feel more of their own recoil.</a:t>
            </a:r>
            <a:endParaRPr lang="en-US" sz="1000" dirty="0"/>
          </a:p>
        </p:txBody>
      </p:sp>
      <p:sp>
        <p:nvSpPr>
          <p:cNvPr id="21" name="Text 13.20"/>
          <p:cNvSpPr txBox="1"/>
          <p:nvPr/>
        </p:nvSpPr>
        <p:spPr>
          <a:xfrm>
            <a:off x="9905752" y="4444889"/>
            <a:ext cx="1422364" cy="266693"/>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FFFFFF"/>
                </a:solidFill>
                <a:latin typeface="Arial" pitchFamily="34" charset="0"/>
                <a:ea typeface="Arial" pitchFamily="34" charset="-122"/>
                <a:cs typeface="Arial" pitchFamily="34" charset="-120"/>
              </a:rPr>
              <a:t>NOT FOUND</a:t>
            </a:r>
            <a:endParaRPr lang="en-US" sz="700" dirty="0"/>
          </a:p>
        </p:txBody>
      </p:sp>
      <p:sp>
        <p:nvSpPr>
          <p:cNvPr id="22" name="Text 13.21"/>
          <p:cNvSpPr txBox="1"/>
          <p:nvPr/>
        </p:nvSpPr>
        <p:spPr>
          <a:xfrm>
            <a:off x="863578" y="5244969"/>
            <a:ext cx="760665" cy="228594"/>
          </a:xfrm>
          <a:prstGeom prst="rect">
            <a:avLst/>
          </a:prstGeom>
          <a:noFill/>
          <a:ln/>
        </p:spPr>
        <p:txBody>
          <a:bodyPr wrap="square" lIns="0" tIns="0" rIns="0" bIns="0" rtlCol="0" anchor="t"/>
          <a:lstStyle/>
          <a:p>
            <a:pPr algn="l" indent="0" marL="0">
              <a:lnSpc>
                <a:spcPts val="1800"/>
              </a:lnSpc>
              <a:buNone/>
            </a:pPr>
            <a:r>
              <a:rPr lang="en-US" sz="1800" dirty="0">
                <a:solidFill>
                  <a:srgbClr val="FF6B1F"/>
                </a:solidFill>
                <a:latin typeface="Arial Rounded MT Bold" pitchFamily="34" charset="0"/>
                <a:ea typeface="Arial Rounded MT Bold" pitchFamily="34" charset="-122"/>
                <a:cs typeface="Arial Rounded MT Bold" pitchFamily="34" charset="-120"/>
              </a:rPr>
              <a:t>01–04</a:t>
            </a:r>
            <a:endParaRPr lang="en-US" sz="1800" dirty="0"/>
          </a:p>
        </p:txBody>
      </p:sp>
      <p:sp>
        <p:nvSpPr>
          <p:cNvPr id="23" name="Text 13.22"/>
          <p:cNvSpPr txBox="1"/>
          <p:nvPr/>
        </p:nvSpPr>
        <p:spPr>
          <a:xfrm>
            <a:off x="2006550" y="5168771"/>
            <a:ext cx="1816055" cy="365116"/>
          </a:xfrm>
          <a:prstGeom prst="rect">
            <a:avLst/>
          </a:prstGeom>
          <a:noFill/>
          <a:ln/>
        </p:spPr>
        <p:txBody>
          <a:bodyPr wrap="square" lIns="0" tIns="0" rIns="0" bIns="0" rtlCol="0" anchor="t"/>
          <a:lstStyle/>
          <a:p>
            <a:pPr algn="l" indent="0" marL="0">
              <a:lnSpc>
                <a:spcPts val="1440"/>
              </a:lnSpc>
              <a:buNone/>
            </a:pPr>
            <a:r>
              <a:rPr lang="en-US" sz="1150" b="1" dirty="0">
                <a:solidFill>
                  <a:srgbClr val="16233F"/>
                </a:solidFill>
                <a:latin typeface="Arial" pitchFamily="34" charset="0"/>
                <a:ea typeface="Arial" pitchFamily="34" charset="-122"/>
                <a:cs typeface="Arial" pitchFamily="34" charset="-120"/>
              </a:rPr>
              <a:t>All four in one 3D party game</a:t>
            </a:r>
            <a:endParaRPr lang="en-US" sz="1150" dirty="0"/>
          </a:p>
        </p:txBody>
      </p:sp>
      <p:sp>
        <p:nvSpPr>
          <p:cNvPr id="24" name="Text 13.23"/>
          <p:cNvSpPr txBox="1"/>
          <p:nvPr/>
        </p:nvSpPr>
        <p:spPr>
          <a:xfrm>
            <a:off x="3936902" y="5181470"/>
            <a:ext cx="5625959" cy="177796"/>
          </a:xfrm>
          <a:prstGeom prst="rect">
            <a:avLst/>
          </a:prstGeom>
          <a:noFill/>
          <a:ln/>
        </p:spPr>
        <p:txBody>
          <a:bodyPr wrap="square" lIns="0" tIns="0" rIns="0" bIns="0" rtlCol="0" anchor="t"/>
          <a:lstStyle/>
          <a:p>
            <a:pPr algn="l" indent="0" marL="0">
              <a:lnSpc>
                <a:spcPts val="1400"/>
              </a:lnSpc>
              <a:buNone/>
            </a:pPr>
            <a:r>
              <a:rPr lang="en-US" sz="1000" dirty="0">
                <a:solidFill>
                  <a:srgbClr val="6E7D9A"/>
                </a:solidFill>
                <a:latin typeface="Arial" pitchFamily="34" charset="0"/>
                <a:ea typeface="Arial" pitchFamily="34" charset="-122"/>
                <a:cs typeface="Arial" pitchFamily="34" charset="-120"/>
              </a:rPr>
              <a:t>No shipped game found.</a:t>
            </a:r>
            <a:endParaRPr lang="en-US" sz="1000" dirty="0"/>
          </a:p>
        </p:txBody>
      </p:sp>
      <p:sp>
        <p:nvSpPr>
          <p:cNvPr id="25" name="Text 13.24"/>
          <p:cNvSpPr txBox="1"/>
          <p:nvPr/>
        </p:nvSpPr>
        <p:spPr>
          <a:xfrm>
            <a:off x="9905752" y="5232269"/>
            <a:ext cx="1422364" cy="266693"/>
          </a:xfrm>
          <a:prstGeom prst="rect">
            <a:avLst/>
          </a:prstGeom>
          <a:noFill/>
          <a:ln/>
        </p:spPr>
        <p:txBody>
          <a:bodyPr wrap="square" lIns="0" tIns="0" rIns="0" bIns="0" rtlCol="0" anchor="ctr"/>
          <a:lstStyle/>
          <a:p>
            <a:pPr algn="ctr" indent="0" marL="0">
              <a:lnSpc>
                <a:spcPts val="700"/>
              </a:lnSpc>
              <a:buNone/>
            </a:pPr>
            <a:r>
              <a:rPr lang="en-US" sz="700" b="1" spc="56" kern="0" dirty="0">
                <a:solidFill>
                  <a:srgbClr val="FFFFFF"/>
                </a:solidFill>
                <a:latin typeface="Arial" pitchFamily="34" charset="0"/>
                <a:ea typeface="Arial" pitchFamily="34" charset="-122"/>
                <a:cs typeface="Arial" pitchFamily="34" charset="-120"/>
              </a:rPr>
              <a:t>NOT FOUND</a:t>
            </a:r>
            <a:endParaRPr lang="en-US" sz="700" dirty="0"/>
          </a:p>
        </p:txBody>
      </p:sp>
      <p:sp>
        <p:nvSpPr>
          <p:cNvPr id="26" name="Text 13.25"/>
          <p:cNvSpPr txBox="1"/>
          <p:nvPr/>
        </p:nvSpPr>
        <p:spPr>
          <a:xfrm>
            <a:off x="609585" y="6495888"/>
            <a:ext cx="10832829" cy="133347"/>
          </a:xfrm>
          <a:prstGeom prst="rect">
            <a:avLst/>
          </a:prstGeom>
          <a:noFill/>
          <a:ln/>
        </p:spPr>
        <p:txBody>
          <a:bodyPr wrap="square" lIns="0" tIns="0" rIns="0" bIns="0" rtlCol="0" anchor="t"/>
          <a:lstStyle/>
          <a:p>
            <a:pPr algn="l" indent="0" marL="0">
              <a:lnSpc>
                <a:spcPts val="1050"/>
              </a:lnSpc>
              <a:buNone/>
            </a:pPr>
            <a:r>
              <a:rPr lang="en-US" sz="750" dirty="0">
                <a:solidFill>
                  <a:srgbClr val="6E7D9A"/>
                </a:solidFill>
                <a:latin typeface="Arial" pitchFamily="34" charset="0"/>
                <a:ea typeface="Arial" pitchFamily="34" charset="-122"/>
                <a:cs typeface="Arial" pitchFamily="34" charset="-120"/>
              </a:rPr>
              <a:t>Prior-art search of shipped games, Oct 2026 [9–12]. “Not found” means not found after searching.</a:t>
            </a:r>
            <a:endParaRPr lang="en-US" sz="750" dirty="0"/>
          </a:p>
        </p:txBody>
      </p:sp>
      <p:sp>
        <p:nvSpPr>
          <p:cNvPr id="27" name="Text 13.26"/>
          <p:cNvSpPr txBox="1"/>
          <p:nvPr/>
        </p:nvSpPr>
        <p:spPr>
          <a:xfrm>
            <a:off x="927077" y="355591"/>
            <a:ext cx="905273" cy="107947"/>
          </a:xfrm>
          <a:prstGeom prst="rect">
            <a:avLst/>
          </a:prstGeom>
          <a:noFill/>
          <a:ln/>
        </p:spPr>
        <p:txBody>
          <a:bodyPr wrap="square" lIns="0" tIns="0" rIns="0" bIns="0" rtlCol="0" anchor="t"/>
          <a:lstStyle/>
          <a:p>
            <a:pPr algn="l" indent="0" marL="0">
              <a:lnSpc>
                <a:spcPts val="850"/>
              </a:lnSpc>
              <a:buNone/>
            </a:pPr>
            <a:r>
              <a:rPr lang="en-US" sz="850" b="1" spc="17" kern="0" dirty="0">
                <a:solidFill>
                  <a:srgbClr val="16233F"/>
                </a:solidFill>
                <a:latin typeface="Arial" pitchFamily="34" charset="0"/>
                <a:ea typeface="Arial" pitchFamily="34" charset="-122"/>
                <a:cs typeface="Arial" pitchFamily="34" charset="-120"/>
              </a:rPr>
              <a:t>04 · Innovation</a:t>
            </a:r>
            <a:endParaRPr lang="en-US" sz="850" dirty="0"/>
          </a:p>
        </p:txBody>
      </p:sp>
      <p:sp>
        <p:nvSpPr>
          <p:cNvPr id="28" name="Text 13.27"/>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13</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23</a:t>
            </a:r>
            <a:endParaRPr lang="en-US" sz="100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14.1"/>
          <p:cNvSpPr txBox="1"/>
          <p:nvPr/>
        </p:nvSpPr>
        <p:spPr>
          <a:xfrm>
            <a:off x="609585" y="761981"/>
            <a:ext cx="11371296" cy="384038"/>
          </a:xfrm>
          <a:prstGeom prst="rect">
            <a:avLst/>
          </a:prstGeom>
          <a:noFill/>
          <a:ln/>
        </p:spPr>
        <p:txBody>
          <a:bodyPr wrap="square" lIns="0" tIns="0" rIns="0" bIns="0" rtlCol="0" anchor="t"/>
          <a:lstStyle/>
          <a:p>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Same rules, different builds: </a:t>
            </a:r>
            <a:pPr algn="l" indent="0" marL="0">
              <a:lnSpc>
                <a:spcPts val="3020"/>
              </a:lnSpc>
              <a:buNone/>
            </a:pPr>
            <a:r>
              <a:rPr lang="en-US" sz="2700" spc="-27" kern="0" dirty="0">
                <a:solidFill>
                  <a:srgbClr val="FF6B1F"/>
                </a:solidFill>
                <a:latin typeface="Arial Rounded MT Bold" pitchFamily="34" charset="0"/>
                <a:ea typeface="Arial Rounded MT Bold" pitchFamily="34" charset="-122"/>
                <a:cs typeface="Arial Rounded MT Bold" pitchFamily="34" charset="-120"/>
              </a:rPr>
              <a:t>weight is also ammunition</a:t>
            </a:r>
            <a:endParaRPr lang="en-US" sz="2700" dirty="0"/>
          </a:p>
        </p:txBody>
      </p:sp>
      <p:sp>
        <p:nvSpPr>
          <p:cNvPr id="3" name="Text 14.2"/>
          <p:cNvSpPr txBox="1"/>
          <p:nvPr/>
        </p:nvSpPr>
        <p:spPr>
          <a:xfrm>
            <a:off x="609585" y="5117972"/>
            <a:ext cx="5752956" cy="133347"/>
          </a:xfrm>
          <a:prstGeom prst="rect">
            <a:avLst/>
          </a:prstGeom>
          <a:noFill/>
          <a:ln/>
        </p:spPr>
        <p:txBody>
          <a:bodyPr wrap="square" lIns="0" tIns="0" rIns="0" bIns="0" rtlCol="0" anchor="t"/>
          <a:lstStyle/>
          <a:p>
            <a:pPr algn="l" indent="0" marL="0">
              <a:lnSpc>
                <a:spcPts val="1050"/>
              </a:lnSpc>
              <a:buNone/>
            </a:pPr>
            <a:r>
              <a:rPr lang="en-US" sz="750" dirty="0">
                <a:solidFill>
                  <a:srgbClr val="6E7D9A"/>
                </a:solidFill>
                <a:latin typeface="Arial" pitchFamily="34" charset="0"/>
                <a:ea typeface="Arial" pitchFamily="34" charset="-122"/>
                <a:cs typeface="Arial" pitchFamily="34" charset="-120"/>
              </a:rPr>
              <a:t>FIG 4 · Heavy, balanced and light builds of the same character. Concept render, AI-generated.</a:t>
            </a:r>
            <a:endParaRPr lang="en-US" sz="750" dirty="0"/>
          </a:p>
        </p:txBody>
      </p:sp>
      <p:sp>
        <p:nvSpPr>
          <p:cNvPr id="4" name="Text 14.3"/>
          <p:cNvSpPr txBox="1"/>
          <p:nvPr/>
        </p:nvSpPr>
        <p:spPr>
          <a:xfrm>
            <a:off x="609585" y="5524362"/>
            <a:ext cx="5752956" cy="386547"/>
          </a:xfrm>
          <a:prstGeom prst="rect">
            <a:avLst/>
          </a:prstGeom>
          <a:noFill/>
          <a:ln/>
        </p:spPr>
        <p:txBody>
          <a:bodyPr wrap="square" lIns="0" tIns="0" rIns="0" bIns="0" rtlCol="0" anchor="t"/>
          <a:lstStyle/>
          <a:p>
            <a:pPr algn="l" indent="0" marL="0">
              <a:lnSpc>
                <a:spcPts val="1520"/>
              </a:lnSpc>
              <a:buNone/>
            </a:pPr>
            <a:r>
              <a:rPr lang="en-US" sz="1050" dirty="0">
                <a:solidFill>
                  <a:srgbClr val="3B4A66"/>
                </a:solidFill>
                <a:latin typeface="Arial" pitchFamily="34" charset="0"/>
                <a:ea typeface="Arial" pitchFamily="34" charset="-122"/>
                <a:cs typeface="Arial" pitchFamily="34" charset="-120"/>
              </a:rPr>
              <a:t>Weight classes are standard in the genre (e.g. Mario Kart). The twist: here weight is also your ammunition, so a build changes how you play, not only how you look.</a:t>
            </a:r>
            <a:endParaRPr lang="en-US" sz="1050" dirty="0"/>
          </a:p>
        </p:txBody>
      </p:sp>
      <p:sp>
        <p:nvSpPr>
          <p:cNvPr id="5" name="Text 14.4"/>
          <p:cNvSpPr txBox="1"/>
          <p:nvPr/>
        </p:nvSpPr>
        <p:spPr>
          <a:xfrm>
            <a:off x="7505512" y="1955751"/>
            <a:ext cx="792216" cy="228594"/>
          </a:xfrm>
          <a:prstGeom prst="rect">
            <a:avLst/>
          </a:prstGeom>
          <a:noFill/>
          <a:ln/>
        </p:spPr>
        <p:txBody>
          <a:bodyPr wrap="square" lIns="0" tIns="0" rIns="0" bIns="0" rtlCol="0" anchor="t"/>
          <a:lstStyle/>
          <a:p>
            <a:pPr algn="l" indent="0" marL="0">
              <a:lnSpc>
                <a:spcPts val="1800"/>
              </a:lnSpc>
              <a:buNone/>
            </a:pPr>
            <a:r>
              <a:rPr lang="en-US" sz="1800" dirty="0">
                <a:solidFill>
                  <a:srgbClr val="8F55F5"/>
                </a:solidFill>
                <a:latin typeface="Arial Rounded MT Bold" pitchFamily="34" charset="0"/>
                <a:ea typeface="Arial Rounded MT Bold" pitchFamily="34" charset="-122"/>
                <a:cs typeface="Arial Rounded MT Bold" pitchFamily="34" charset="-120"/>
              </a:rPr>
              <a:t>Heavy</a:t>
            </a:r>
            <a:endParaRPr lang="en-US" sz="1800" dirty="0"/>
          </a:p>
        </p:txBody>
      </p:sp>
      <p:sp>
        <p:nvSpPr>
          <p:cNvPr id="6" name="Text 14.5"/>
          <p:cNvSpPr txBox="1"/>
          <p:nvPr/>
        </p:nvSpPr>
        <p:spPr>
          <a:xfrm>
            <a:off x="7010225" y="2362141"/>
            <a:ext cx="2514537" cy="332970"/>
          </a:xfrm>
          <a:prstGeom prst="rect">
            <a:avLst/>
          </a:prstGeom>
          <a:noFill/>
          <a:ln/>
        </p:spPr>
        <p:txBody>
          <a:bodyPr wrap="square" lIns="0" tIns="0" rIns="0" bIns="0" rtlCol="0" anchor="t"/>
          <a:lstStyle/>
          <a:p>
            <a:pPr algn="l" indent="0" marL="0">
              <a:lnSpc>
                <a:spcPts val="1310"/>
              </a:lnSpc>
              <a:buNone/>
            </a:pPr>
            <a:r>
              <a:rPr lang="en-US" sz="950" dirty="0">
                <a:solidFill>
                  <a:srgbClr val="3B4A66"/>
                </a:solidFill>
                <a:latin typeface="Arial" pitchFamily="34" charset="0"/>
                <a:ea typeface="Arial" pitchFamily="34" charset="-122"/>
                <a:cs typeface="Arial" pitchFamily="34" charset="-120"/>
              </a:rPr>
              <a:t>More starting mass: more shots to spend, harder to push. Moves slower.</a:t>
            </a:r>
            <a:endParaRPr lang="en-US" sz="950" dirty="0"/>
          </a:p>
        </p:txBody>
      </p:sp>
      <p:sp>
        <p:nvSpPr>
          <p:cNvPr id="7" name="Text 14.6"/>
          <p:cNvSpPr txBox="1"/>
          <p:nvPr/>
        </p:nvSpPr>
        <p:spPr>
          <a:xfrm>
            <a:off x="9753356" y="1993850"/>
            <a:ext cx="783382" cy="99058"/>
          </a:xfrm>
          <a:prstGeom prst="rect">
            <a:avLst/>
          </a:prstGeom>
          <a:noFill/>
          <a:ln/>
        </p:spPr>
        <p:txBody>
          <a:bodyPr wrap="square" lIns="0" tIns="0" rIns="0" bIns="0" rtlCol="0" anchor="t"/>
          <a:lstStyle/>
          <a:p>
            <a:pPr algn="l" indent="0" marL="0">
              <a:lnSpc>
                <a:spcPts val="780"/>
              </a:lnSpc>
              <a:buNone/>
            </a:pPr>
            <a:r>
              <a:rPr lang="en-US" sz="650" b="1" spc="78" kern="0" dirty="0">
                <a:solidFill>
                  <a:srgbClr val="6E7D9A"/>
                </a:solidFill>
                <a:latin typeface="Arial" pitchFamily="34" charset="0"/>
                <a:ea typeface="Arial" pitchFamily="34" charset="-122"/>
                <a:cs typeface="Arial" pitchFamily="34" charset="-120"/>
              </a:rPr>
              <a:t>MASS · AMMO</a:t>
            </a:r>
            <a:endParaRPr lang="en-US" sz="650" dirty="0"/>
          </a:p>
        </p:txBody>
      </p:sp>
      <p:sp>
        <p:nvSpPr>
          <p:cNvPr id="8" name="Text 14.7"/>
          <p:cNvSpPr txBox="1"/>
          <p:nvPr/>
        </p:nvSpPr>
        <p:spPr>
          <a:xfrm>
            <a:off x="9753356" y="2425639"/>
            <a:ext cx="412660" cy="99058"/>
          </a:xfrm>
          <a:prstGeom prst="rect">
            <a:avLst/>
          </a:prstGeom>
          <a:noFill/>
          <a:ln/>
        </p:spPr>
        <p:txBody>
          <a:bodyPr wrap="square" lIns="0" tIns="0" rIns="0" bIns="0" rtlCol="0" anchor="t"/>
          <a:lstStyle/>
          <a:p>
            <a:pPr algn="l" indent="0" marL="0">
              <a:lnSpc>
                <a:spcPts val="780"/>
              </a:lnSpc>
              <a:buNone/>
            </a:pPr>
            <a:r>
              <a:rPr lang="en-US" sz="650" b="1" spc="78" kern="0" dirty="0">
                <a:solidFill>
                  <a:srgbClr val="6E7D9A"/>
                </a:solidFill>
                <a:latin typeface="Arial" pitchFamily="34" charset="0"/>
                <a:ea typeface="Arial" pitchFamily="34" charset="-122"/>
                <a:cs typeface="Arial" pitchFamily="34" charset="-120"/>
              </a:rPr>
              <a:t>SPEED</a:t>
            </a:r>
            <a:endParaRPr lang="en-US" sz="650" dirty="0"/>
          </a:p>
        </p:txBody>
      </p:sp>
      <p:sp>
        <p:nvSpPr>
          <p:cNvPr id="9" name="Text 14.8"/>
          <p:cNvSpPr txBox="1"/>
          <p:nvPr/>
        </p:nvSpPr>
        <p:spPr>
          <a:xfrm>
            <a:off x="7505512" y="3289218"/>
            <a:ext cx="1177241" cy="228594"/>
          </a:xfrm>
          <a:prstGeom prst="rect">
            <a:avLst/>
          </a:prstGeom>
          <a:noFill/>
          <a:ln/>
        </p:spPr>
        <p:txBody>
          <a:bodyPr wrap="square" lIns="0" tIns="0" rIns="0" bIns="0" rtlCol="0" anchor="t"/>
          <a:lstStyle/>
          <a:p>
            <a:pPr algn="l" indent="0" marL="0">
              <a:lnSpc>
                <a:spcPts val="1800"/>
              </a:lnSpc>
              <a:buNone/>
            </a:pPr>
            <a:r>
              <a:rPr lang="en-US" sz="1800" dirty="0">
                <a:solidFill>
                  <a:srgbClr val="FF6B1F"/>
                </a:solidFill>
                <a:latin typeface="Arial Rounded MT Bold" pitchFamily="34" charset="0"/>
                <a:ea typeface="Arial Rounded MT Bold" pitchFamily="34" charset="-122"/>
                <a:cs typeface="Arial Rounded MT Bold" pitchFamily="34" charset="-120"/>
              </a:rPr>
              <a:t>Balanced</a:t>
            </a:r>
            <a:endParaRPr lang="en-US" sz="1800" dirty="0"/>
          </a:p>
        </p:txBody>
      </p:sp>
      <p:sp>
        <p:nvSpPr>
          <p:cNvPr id="10" name="Text 14.9"/>
          <p:cNvSpPr txBox="1"/>
          <p:nvPr/>
        </p:nvSpPr>
        <p:spPr>
          <a:xfrm>
            <a:off x="7010225" y="3695608"/>
            <a:ext cx="2514537" cy="332970"/>
          </a:xfrm>
          <a:prstGeom prst="rect">
            <a:avLst/>
          </a:prstGeom>
          <a:noFill/>
          <a:ln/>
        </p:spPr>
        <p:txBody>
          <a:bodyPr wrap="square" lIns="0" tIns="0" rIns="0" bIns="0" rtlCol="0" anchor="t"/>
          <a:lstStyle/>
          <a:p>
            <a:pPr algn="l" indent="0" marL="0">
              <a:lnSpc>
                <a:spcPts val="1310"/>
              </a:lnSpc>
              <a:buNone/>
            </a:pPr>
            <a:r>
              <a:rPr lang="en-US" sz="950" dirty="0">
                <a:solidFill>
                  <a:srgbClr val="3B4A66"/>
                </a:solidFill>
                <a:latin typeface="Arial" pitchFamily="34" charset="0"/>
                <a:ea typeface="Arial" pitchFamily="34" charset="-122"/>
                <a:cs typeface="Arial" pitchFamily="34" charset="-120"/>
              </a:rPr>
              <a:t>The reference build every other one is tuned against.</a:t>
            </a:r>
            <a:endParaRPr lang="en-US" sz="950" dirty="0"/>
          </a:p>
        </p:txBody>
      </p:sp>
      <p:sp>
        <p:nvSpPr>
          <p:cNvPr id="11" name="Text 14.10"/>
          <p:cNvSpPr txBox="1"/>
          <p:nvPr/>
        </p:nvSpPr>
        <p:spPr>
          <a:xfrm>
            <a:off x="9753356" y="3327317"/>
            <a:ext cx="783382" cy="99058"/>
          </a:xfrm>
          <a:prstGeom prst="rect">
            <a:avLst/>
          </a:prstGeom>
          <a:noFill/>
          <a:ln/>
        </p:spPr>
        <p:txBody>
          <a:bodyPr wrap="square" lIns="0" tIns="0" rIns="0" bIns="0" rtlCol="0" anchor="t"/>
          <a:lstStyle/>
          <a:p>
            <a:pPr algn="l" indent="0" marL="0">
              <a:lnSpc>
                <a:spcPts val="780"/>
              </a:lnSpc>
              <a:buNone/>
            </a:pPr>
            <a:r>
              <a:rPr lang="en-US" sz="650" b="1" spc="78" kern="0" dirty="0">
                <a:solidFill>
                  <a:srgbClr val="6E7D9A"/>
                </a:solidFill>
                <a:latin typeface="Arial" pitchFamily="34" charset="0"/>
                <a:ea typeface="Arial" pitchFamily="34" charset="-122"/>
                <a:cs typeface="Arial" pitchFamily="34" charset="-120"/>
              </a:rPr>
              <a:t>MASS · AMMO</a:t>
            </a:r>
            <a:endParaRPr lang="en-US" sz="650" dirty="0"/>
          </a:p>
        </p:txBody>
      </p:sp>
      <p:sp>
        <p:nvSpPr>
          <p:cNvPr id="12" name="Text 14.11"/>
          <p:cNvSpPr txBox="1"/>
          <p:nvPr/>
        </p:nvSpPr>
        <p:spPr>
          <a:xfrm>
            <a:off x="9753356" y="3759106"/>
            <a:ext cx="412660" cy="99058"/>
          </a:xfrm>
          <a:prstGeom prst="rect">
            <a:avLst/>
          </a:prstGeom>
          <a:noFill/>
          <a:ln/>
        </p:spPr>
        <p:txBody>
          <a:bodyPr wrap="square" lIns="0" tIns="0" rIns="0" bIns="0" rtlCol="0" anchor="t"/>
          <a:lstStyle/>
          <a:p>
            <a:pPr algn="l" indent="0" marL="0">
              <a:lnSpc>
                <a:spcPts val="780"/>
              </a:lnSpc>
              <a:buNone/>
            </a:pPr>
            <a:r>
              <a:rPr lang="en-US" sz="650" b="1" spc="78" kern="0" dirty="0">
                <a:solidFill>
                  <a:srgbClr val="6E7D9A"/>
                </a:solidFill>
                <a:latin typeface="Arial" pitchFamily="34" charset="0"/>
                <a:ea typeface="Arial" pitchFamily="34" charset="-122"/>
                <a:cs typeface="Arial" pitchFamily="34" charset="-120"/>
              </a:rPr>
              <a:t>SPEED</a:t>
            </a:r>
            <a:endParaRPr lang="en-US" sz="650" dirty="0"/>
          </a:p>
        </p:txBody>
      </p:sp>
      <p:sp>
        <p:nvSpPr>
          <p:cNvPr id="13" name="Text 14.12"/>
          <p:cNvSpPr txBox="1"/>
          <p:nvPr/>
        </p:nvSpPr>
        <p:spPr>
          <a:xfrm>
            <a:off x="7505512" y="4622684"/>
            <a:ext cx="659177" cy="228594"/>
          </a:xfrm>
          <a:prstGeom prst="rect">
            <a:avLst/>
          </a:prstGeom>
          <a:noFill/>
          <a:ln/>
        </p:spPr>
        <p:txBody>
          <a:bodyPr wrap="square" lIns="0" tIns="0" rIns="0" bIns="0" rtlCol="0" anchor="t"/>
          <a:lstStyle/>
          <a:p>
            <a:pPr algn="l" indent="0" marL="0">
              <a:lnSpc>
                <a:spcPts val="1800"/>
              </a:lnSpc>
              <a:buNone/>
            </a:pPr>
            <a:r>
              <a:rPr lang="en-US" sz="1800" dirty="0">
                <a:solidFill>
                  <a:srgbClr val="43B832"/>
                </a:solidFill>
                <a:latin typeface="Arial Rounded MT Bold" pitchFamily="34" charset="0"/>
                <a:ea typeface="Arial Rounded MT Bold" pitchFamily="34" charset="-122"/>
                <a:cs typeface="Arial Rounded MT Bold" pitchFamily="34" charset="-120"/>
              </a:rPr>
              <a:t>Light</a:t>
            </a:r>
            <a:endParaRPr lang="en-US" sz="1800" dirty="0"/>
          </a:p>
        </p:txBody>
      </p:sp>
      <p:sp>
        <p:nvSpPr>
          <p:cNvPr id="14" name="Text 14.13"/>
          <p:cNvSpPr txBox="1"/>
          <p:nvPr/>
        </p:nvSpPr>
        <p:spPr>
          <a:xfrm>
            <a:off x="7010225" y="5029074"/>
            <a:ext cx="2514537" cy="332970"/>
          </a:xfrm>
          <a:prstGeom prst="rect">
            <a:avLst/>
          </a:prstGeom>
          <a:noFill/>
          <a:ln/>
        </p:spPr>
        <p:txBody>
          <a:bodyPr wrap="square" lIns="0" tIns="0" rIns="0" bIns="0" rtlCol="0" anchor="t"/>
          <a:lstStyle/>
          <a:p>
            <a:pPr algn="l" indent="0" marL="0">
              <a:lnSpc>
                <a:spcPts val="1310"/>
              </a:lnSpc>
              <a:buNone/>
            </a:pPr>
            <a:r>
              <a:rPr lang="en-US" sz="950" dirty="0">
                <a:solidFill>
                  <a:srgbClr val="3B4A66"/>
                </a:solidFill>
                <a:latin typeface="Arial" pitchFamily="34" charset="0"/>
                <a:ea typeface="Arial" pitchFamily="34" charset="-122"/>
                <a:cs typeface="Arial" pitchFamily="34" charset="-120"/>
              </a:rPr>
              <a:t>Less starting mass: fewer shots, flies further when hit. Moves faster.</a:t>
            </a:r>
            <a:endParaRPr lang="en-US" sz="950" dirty="0"/>
          </a:p>
        </p:txBody>
      </p:sp>
      <p:sp>
        <p:nvSpPr>
          <p:cNvPr id="15" name="Text 14.14"/>
          <p:cNvSpPr txBox="1"/>
          <p:nvPr/>
        </p:nvSpPr>
        <p:spPr>
          <a:xfrm>
            <a:off x="9753356" y="4660783"/>
            <a:ext cx="783382" cy="99058"/>
          </a:xfrm>
          <a:prstGeom prst="rect">
            <a:avLst/>
          </a:prstGeom>
          <a:noFill/>
          <a:ln/>
        </p:spPr>
        <p:txBody>
          <a:bodyPr wrap="square" lIns="0" tIns="0" rIns="0" bIns="0" rtlCol="0" anchor="t"/>
          <a:lstStyle/>
          <a:p>
            <a:pPr algn="l" indent="0" marL="0">
              <a:lnSpc>
                <a:spcPts val="780"/>
              </a:lnSpc>
              <a:buNone/>
            </a:pPr>
            <a:r>
              <a:rPr lang="en-US" sz="650" b="1" spc="78" kern="0" dirty="0">
                <a:solidFill>
                  <a:srgbClr val="6E7D9A"/>
                </a:solidFill>
                <a:latin typeface="Arial" pitchFamily="34" charset="0"/>
                <a:ea typeface="Arial" pitchFamily="34" charset="-122"/>
                <a:cs typeface="Arial" pitchFamily="34" charset="-120"/>
              </a:rPr>
              <a:t>MASS · AMMO</a:t>
            </a:r>
            <a:endParaRPr lang="en-US" sz="650" dirty="0"/>
          </a:p>
        </p:txBody>
      </p:sp>
      <p:sp>
        <p:nvSpPr>
          <p:cNvPr id="16" name="Text 14.15"/>
          <p:cNvSpPr txBox="1"/>
          <p:nvPr/>
        </p:nvSpPr>
        <p:spPr>
          <a:xfrm>
            <a:off x="9753356" y="5092573"/>
            <a:ext cx="412660" cy="99058"/>
          </a:xfrm>
          <a:prstGeom prst="rect">
            <a:avLst/>
          </a:prstGeom>
          <a:noFill/>
          <a:ln/>
        </p:spPr>
        <p:txBody>
          <a:bodyPr wrap="square" lIns="0" tIns="0" rIns="0" bIns="0" rtlCol="0" anchor="t"/>
          <a:lstStyle/>
          <a:p>
            <a:pPr algn="l" indent="0" marL="0">
              <a:lnSpc>
                <a:spcPts val="780"/>
              </a:lnSpc>
              <a:buNone/>
            </a:pPr>
            <a:r>
              <a:rPr lang="en-US" sz="650" b="1" spc="78" kern="0" dirty="0">
                <a:solidFill>
                  <a:srgbClr val="6E7D9A"/>
                </a:solidFill>
                <a:latin typeface="Arial" pitchFamily="34" charset="0"/>
                <a:ea typeface="Arial" pitchFamily="34" charset="-122"/>
                <a:cs typeface="Arial" pitchFamily="34" charset="-120"/>
              </a:rPr>
              <a:t>SPEED</a:t>
            </a:r>
            <a:endParaRPr lang="en-US" sz="650" dirty="0"/>
          </a:p>
        </p:txBody>
      </p:sp>
      <p:sp>
        <p:nvSpPr>
          <p:cNvPr id="17" name="Text 14.16"/>
          <p:cNvSpPr txBox="1"/>
          <p:nvPr/>
        </p:nvSpPr>
        <p:spPr>
          <a:xfrm>
            <a:off x="6832429" y="5905352"/>
            <a:ext cx="4787780" cy="133347"/>
          </a:xfrm>
          <a:prstGeom prst="rect">
            <a:avLst/>
          </a:prstGeom>
          <a:noFill/>
          <a:ln/>
        </p:spPr>
        <p:txBody>
          <a:bodyPr wrap="square" lIns="0" tIns="0" rIns="0" bIns="0" rtlCol="0" anchor="t"/>
          <a:lstStyle/>
          <a:p>
            <a:pPr algn="l" indent="0" marL="0">
              <a:lnSpc>
                <a:spcPts val="1050"/>
              </a:lnSpc>
              <a:buNone/>
            </a:pPr>
            <a:r>
              <a:rPr lang="en-US" sz="750" dirty="0">
                <a:solidFill>
                  <a:srgbClr val="6E7D9A"/>
                </a:solidFill>
                <a:latin typeface="Arial" pitchFamily="34" charset="0"/>
                <a:ea typeface="Arial" pitchFamily="34" charset="-122"/>
                <a:cs typeface="Arial" pitchFamily="34" charset="-120"/>
              </a:rPr>
              <a:t>Framework for after the MVP. Pips are relative; stats are not designed yet.</a:t>
            </a:r>
            <a:endParaRPr lang="en-US" sz="750" dirty="0"/>
          </a:p>
        </p:txBody>
      </p:sp>
      <p:sp>
        <p:nvSpPr>
          <p:cNvPr id="18" name="Text 14.17"/>
          <p:cNvSpPr txBox="1"/>
          <p:nvPr/>
        </p:nvSpPr>
        <p:spPr>
          <a:xfrm>
            <a:off x="927077" y="355591"/>
            <a:ext cx="905273" cy="107947"/>
          </a:xfrm>
          <a:prstGeom prst="rect">
            <a:avLst/>
          </a:prstGeom>
          <a:noFill/>
          <a:ln/>
        </p:spPr>
        <p:txBody>
          <a:bodyPr wrap="square" lIns="0" tIns="0" rIns="0" bIns="0" rtlCol="0" anchor="t"/>
          <a:lstStyle/>
          <a:p>
            <a:pPr algn="l" indent="0" marL="0">
              <a:lnSpc>
                <a:spcPts val="850"/>
              </a:lnSpc>
              <a:buNone/>
            </a:pPr>
            <a:r>
              <a:rPr lang="en-US" sz="850" b="1" spc="17" kern="0" dirty="0">
                <a:solidFill>
                  <a:srgbClr val="16233F"/>
                </a:solidFill>
                <a:latin typeface="Arial" pitchFamily="34" charset="0"/>
                <a:ea typeface="Arial" pitchFamily="34" charset="-122"/>
                <a:cs typeface="Arial" pitchFamily="34" charset="-120"/>
              </a:rPr>
              <a:t>04 · Innovation</a:t>
            </a:r>
            <a:endParaRPr lang="en-US" sz="850" dirty="0"/>
          </a:p>
        </p:txBody>
      </p:sp>
      <p:sp>
        <p:nvSpPr>
          <p:cNvPr id="19" name="Text 14.18"/>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14</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23</a:t>
            </a:r>
            <a:endParaRPr lang="en-US" sz="100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15.1"/>
          <p:cNvSpPr txBox="1"/>
          <p:nvPr/>
        </p:nvSpPr>
        <p:spPr>
          <a:xfrm>
            <a:off x="609585" y="761981"/>
            <a:ext cx="11371296" cy="384038"/>
          </a:xfrm>
          <a:prstGeom prst="rect">
            <a:avLst/>
          </a:prstGeom>
          <a:noFill/>
          <a:ln/>
        </p:spPr>
        <p:txBody>
          <a:bodyPr wrap="square" lIns="0" tIns="0" rIns="0" bIns="0" rtlCol="0" anchor="t"/>
          <a:lstStyle/>
          <a:p>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Prototype: the mass rule simulated </a:t>
            </a:r>
            <a:pPr algn="l" indent="0" marL="0">
              <a:lnSpc>
                <a:spcPts val="3020"/>
              </a:lnSpc>
              <a:buNone/>
            </a:pPr>
            <a:r>
              <a:rPr lang="en-US" sz="2700" spc="-27" kern="0" dirty="0">
                <a:solidFill>
                  <a:srgbClr val="43B832"/>
                </a:solidFill>
                <a:latin typeface="Arial Rounded MT Bold" pitchFamily="34" charset="0"/>
                <a:ea typeface="Arial Rounded MT Bold" pitchFamily="34" charset="-122"/>
                <a:cs typeface="Arial Rounded MT Bold" pitchFamily="34" charset="-120"/>
              </a:rPr>
              <a:t>before any Unity code</a:t>
            </a:r>
            <a:endParaRPr lang="en-US" sz="2700" dirty="0"/>
          </a:p>
        </p:txBody>
      </p:sp>
      <p:sp>
        <p:nvSpPr>
          <p:cNvPr id="3" name="Text 15.2"/>
          <p:cNvSpPr txBox="1"/>
          <p:nvPr/>
        </p:nvSpPr>
        <p:spPr>
          <a:xfrm>
            <a:off x="609585" y="3721007"/>
            <a:ext cx="2628834" cy="152396"/>
          </a:xfrm>
          <a:prstGeom prst="rect">
            <a:avLst/>
          </a:prstGeom>
          <a:noFill/>
          <a:ln/>
        </p:spPr>
        <p:txBody>
          <a:bodyPr wrap="square" lIns="0" tIns="0" rIns="0" bIns="0" rtlCol="0" anchor="t"/>
          <a:lstStyle/>
          <a:p>
            <a:pPr algn="ctr" indent="0" marL="0">
              <a:lnSpc>
                <a:spcPts val="1200"/>
              </a:lnSpc>
              <a:buNone/>
            </a:pPr>
            <a:r>
              <a:rPr lang="en-US" sz="1200" dirty="0">
                <a:solidFill>
                  <a:srgbClr val="16233F"/>
                </a:solidFill>
                <a:latin typeface="Arial Rounded MT Bold" pitchFamily="34" charset="0"/>
                <a:ea typeface="Arial Rounded MT Bold" pitchFamily="34" charset="-122"/>
                <a:cs typeface="Arial Rounded MT Bold" pitchFamily="34" charset="-120"/>
              </a:rPr>
              <a:t>Before</a:t>
            </a:r>
            <a:endParaRPr lang="en-US" sz="1200" dirty="0"/>
          </a:p>
        </p:txBody>
      </p:sp>
      <p:sp>
        <p:nvSpPr>
          <p:cNvPr id="4" name="Text 15.3"/>
          <p:cNvSpPr txBox="1"/>
          <p:nvPr/>
        </p:nvSpPr>
        <p:spPr>
          <a:xfrm>
            <a:off x="3390815" y="3721007"/>
            <a:ext cx="2628834" cy="152396"/>
          </a:xfrm>
          <a:prstGeom prst="rect">
            <a:avLst/>
          </a:prstGeom>
          <a:noFill/>
          <a:ln/>
        </p:spPr>
        <p:txBody>
          <a:bodyPr wrap="square" lIns="0" tIns="0" rIns="0" bIns="0" rtlCol="0" anchor="t"/>
          <a:lstStyle/>
          <a:p>
            <a:pPr algn="ctr" indent="0" marL="0">
              <a:lnSpc>
                <a:spcPts val="1200"/>
              </a:lnSpc>
              <a:buNone/>
            </a:pPr>
            <a:r>
              <a:rPr lang="en-US" sz="1200" dirty="0">
                <a:solidFill>
                  <a:srgbClr val="43B832"/>
                </a:solidFill>
                <a:latin typeface="Arial Rounded MT Bold" pitchFamily="34" charset="0"/>
                <a:ea typeface="Arial Rounded MT Bold" pitchFamily="34" charset="-122"/>
                <a:cs typeface="Arial Rounded MT Bold" pitchFamily="34" charset="-120"/>
              </a:rPr>
              <a:t>Shot 1</a:t>
            </a:r>
            <a:endParaRPr lang="en-US" sz="1200" dirty="0"/>
          </a:p>
        </p:txBody>
      </p:sp>
      <p:sp>
        <p:nvSpPr>
          <p:cNvPr id="5" name="Text 15.4"/>
          <p:cNvSpPr txBox="1"/>
          <p:nvPr/>
        </p:nvSpPr>
        <p:spPr>
          <a:xfrm>
            <a:off x="6172046" y="3721007"/>
            <a:ext cx="2628834" cy="152396"/>
          </a:xfrm>
          <a:prstGeom prst="rect">
            <a:avLst/>
          </a:prstGeom>
          <a:noFill/>
          <a:ln/>
        </p:spPr>
        <p:txBody>
          <a:bodyPr wrap="square" lIns="0" tIns="0" rIns="0" bIns="0" rtlCol="0" anchor="t"/>
          <a:lstStyle/>
          <a:p>
            <a:pPr algn="ctr" indent="0" marL="0">
              <a:lnSpc>
                <a:spcPts val="1200"/>
              </a:lnSpc>
              <a:buNone/>
            </a:pPr>
            <a:r>
              <a:rPr lang="en-US" sz="1200" dirty="0">
                <a:solidFill>
                  <a:srgbClr val="43B832"/>
                </a:solidFill>
                <a:latin typeface="Arial Rounded MT Bold" pitchFamily="34" charset="0"/>
                <a:ea typeface="Arial Rounded MT Bold" pitchFamily="34" charset="-122"/>
                <a:cs typeface="Arial Rounded MT Bold" pitchFamily="34" charset="-120"/>
              </a:rPr>
              <a:t>Shot 2</a:t>
            </a:r>
            <a:endParaRPr lang="en-US" sz="1200" dirty="0"/>
          </a:p>
        </p:txBody>
      </p:sp>
      <p:sp>
        <p:nvSpPr>
          <p:cNvPr id="6" name="Text 15.5"/>
          <p:cNvSpPr txBox="1"/>
          <p:nvPr/>
        </p:nvSpPr>
        <p:spPr>
          <a:xfrm>
            <a:off x="8953276" y="3721007"/>
            <a:ext cx="2628834" cy="152396"/>
          </a:xfrm>
          <a:prstGeom prst="rect">
            <a:avLst/>
          </a:prstGeom>
          <a:noFill/>
          <a:ln/>
        </p:spPr>
        <p:txBody>
          <a:bodyPr wrap="square" lIns="0" tIns="0" rIns="0" bIns="0" rtlCol="0" anchor="t"/>
          <a:lstStyle/>
          <a:p>
            <a:pPr algn="ctr" indent="0" marL="0">
              <a:lnSpc>
                <a:spcPts val="1200"/>
              </a:lnSpc>
              <a:buNone/>
            </a:pPr>
            <a:r>
              <a:rPr lang="en-US" sz="1200" dirty="0">
                <a:solidFill>
                  <a:srgbClr val="43B832"/>
                </a:solidFill>
                <a:latin typeface="Arial Rounded MT Bold" pitchFamily="34" charset="0"/>
                <a:ea typeface="Arial Rounded MT Bold" pitchFamily="34" charset="-122"/>
                <a:cs typeface="Arial Rounded MT Bold" pitchFamily="34" charset="-120"/>
              </a:rPr>
              <a:t>Shot 3</a:t>
            </a:r>
            <a:endParaRPr lang="en-US" sz="1200" dirty="0"/>
          </a:p>
        </p:txBody>
      </p:sp>
      <p:sp>
        <p:nvSpPr>
          <p:cNvPr id="7" name="Text 15.6"/>
          <p:cNvSpPr txBox="1"/>
          <p:nvPr/>
        </p:nvSpPr>
        <p:spPr>
          <a:xfrm>
            <a:off x="838179" y="4406790"/>
            <a:ext cx="721227"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43B832"/>
                </a:solidFill>
                <a:latin typeface="Arial" pitchFamily="34" charset="0"/>
                <a:ea typeface="Arial" pitchFamily="34" charset="-122"/>
                <a:cs typeface="Arial" pitchFamily="34" charset="-120"/>
              </a:rPr>
              <a:t>WHAT IT IS</a:t>
            </a:r>
            <a:endParaRPr lang="en-US" sz="750" dirty="0"/>
          </a:p>
        </p:txBody>
      </p:sp>
      <p:sp>
        <p:nvSpPr>
          <p:cNvPr id="8" name="Text 15.7"/>
          <p:cNvSpPr txBox="1"/>
          <p:nvPr/>
        </p:nvSpPr>
        <p:spPr>
          <a:xfrm>
            <a:off x="838179" y="4648084"/>
            <a:ext cx="3136822" cy="607501"/>
          </a:xfrm>
          <a:prstGeom prst="rect">
            <a:avLst/>
          </a:prstGeom>
          <a:noFill/>
          <a:ln/>
        </p:spPr>
        <p:txBody>
          <a:bodyPr wrap="square" lIns="0" tIns="0" rIns="0" bIns="0" rtlCol="0" anchor="t"/>
          <a:lstStyle/>
          <a:p>
            <a:pPr algn="l" indent="0" marL="0">
              <a:lnSpc>
                <a:spcPts val="1590"/>
              </a:lnSpc>
              <a:buNone/>
            </a:pPr>
            <a:r>
              <a:rPr lang="en-US" sz="1100" dirty="0">
                <a:solidFill>
                  <a:srgbClr val="16233F"/>
                </a:solidFill>
                <a:latin typeface="Arial" pitchFamily="34" charset="0"/>
                <a:ea typeface="Arial" pitchFamily="34" charset="-122"/>
                <a:cs typeface="Arial" pitchFamily="34" charset="-120"/>
              </a:rPr>
              <a:t>A deterministic physics simulation of the Mass Knockout rule, written in Three.js and rendered frame by frame.</a:t>
            </a:r>
            <a:endParaRPr lang="en-US" sz="1100" dirty="0"/>
          </a:p>
        </p:txBody>
      </p:sp>
      <p:sp>
        <p:nvSpPr>
          <p:cNvPr id="9" name="Text 15.8"/>
          <p:cNvSpPr txBox="1"/>
          <p:nvPr/>
        </p:nvSpPr>
        <p:spPr>
          <a:xfrm>
            <a:off x="4546486" y="4406790"/>
            <a:ext cx="1185654"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FF6B1F"/>
                </a:solidFill>
                <a:latin typeface="Arial" pitchFamily="34" charset="0"/>
                <a:ea typeface="Arial" pitchFamily="34" charset="-122"/>
                <a:cs typeface="Arial" pitchFamily="34" charset="-120"/>
              </a:rPr>
              <a:t>WHAT IT CHECKED</a:t>
            </a:r>
            <a:endParaRPr lang="en-US" sz="750" dirty="0"/>
          </a:p>
        </p:txBody>
      </p:sp>
      <p:sp>
        <p:nvSpPr>
          <p:cNvPr id="10" name="Text 15.9"/>
          <p:cNvSpPr txBox="1"/>
          <p:nvPr/>
        </p:nvSpPr>
        <p:spPr>
          <a:xfrm>
            <a:off x="4546486" y="4648084"/>
            <a:ext cx="3136822" cy="607501"/>
          </a:xfrm>
          <a:prstGeom prst="rect">
            <a:avLst/>
          </a:prstGeom>
          <a:noFill/>
          <a:ln/>
        </p:spPr>
        <p:txBody>
          <a:bodyPr wrap="square" lIns="0" tIns="0" rIns="0" bIns="0" rtlCol="0" anchor="t"/>
          <a:lstStyle/>
          <a:p>
            <a:pPr algn="l" indent="0" marL="0">
              <a:lnSpc>
                <a:spcPts val="1590"/>
              </a:lnSpc>
              <a:buNone/>
            </a:pPr>
            <a:r>
              <a:rPr lang="en-US" sz="1100" dirty="0">
                <a:solidFill>
                  <a:srgbClr val="16233F"/>
                </a:solidFill>
                <a:latin typeface="Arial" pitchFamily="34" charset="0"/>
                <a:ea typeface="Arial" pitchFamily="34" charset="-122"/>
                <a:cs typeface="Arial" pitchFamily="34" charset="-120"/>
              </a:rPr>
              <a:t>Over three shots the target shrinks and is pushed further each time. The escalating knockback reads clearly on screen.</a:t>
            </a:r>
            <a:endParaRPr lang="en-US" sz="1100" dirty="0"/>
          </a:p>
        </p:txBody>
      </p:sp>
      <p:sp>
        <p:nvSpPr>
          <p:cNvPr id="11" name="Text 15.10"/>
          <p:cNvSpPr txBox="1"/>
          <p:nvPr/>
        </p:nvSpPr>
        <p:spPr>
          <a:xfrm>
            <a:off x="8254794" y="4406790"/>
            <a:ext cx="1010863"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1FA9EA"/>
                </a:solidFill>
                <a:latin typeface="Arial" pitchFamily="34" charset="0"/>
                <a:ea typeface="Arial" pitchFamily="34" charset="-122"/>
                <a:cs typeface="Arial" pitchFamily="34" charset="-120"/>
              </a:rPr>
              <a:t>WHAT IT IS NOT</a:t>
            </a:r>
            <a:endParaRPr lang="en-US" sz="750" dirty="0"/>
          </a:p>
        </p:txBody>
      </p:sp>
      <p:sp>
        <p:nvSpPr>
          <p:cNvPr id="12" name="Text 15.11"/>
          <p:cNvSpPr txBox="1"/>
          <p:nvPr/>
        </p:nvSpPr>
        <p:spPr>
          <a:xfrm>
            <a:off x="8254794" y="4648084"/>
            <a:ext cx="3136822" cy="405001"/>
          </a:xfrm>
          <a:prstGeom prst="rect">
            <a:avLst/>
          </a:prstGeom>
          <a:noFill/>
          <a:ln/>
        </p:spPr>
        <p:txBody>
          <a:bodyPr wrap="square" lIns="0" tIns="0" rIns="0" bIns="0" rtlCol="0" anchor="t"/>
          <a:lstStyle/>
          <a:p>
            <a:pPr algn="l" indent="0" marL="0">
              <a:lnSpc>
                <a:spcPts val="1590"/>
              </a:lnSpc>
              <a:buNone/>
            </a:pPr>
            <a:r>
              <a:rPr lang="en-US" sz="1100" dirty="0">
                <a:solidFill>
                  <a:srgbClr val="16233F"/>
                </a:solidFill>
                <a:latin typeface="Arial" pitchFamily="34" charset="0"/>
                <a:ea typeface="Arial" pitchFamily="34" charset="-122"/>
                <a:cs typeface="Arial" pitchFamily="34" charset="-120"/>
              </a:rPr>
              <a:t>Not Unity, not networked, and not tuned. It tests whether the rule reads, not the final numbers.</a:t>
            </a:r>
            <a:endParaRPr lang="en-US" sz="1100" dirty="0"/>
          </a:p>
        </p:txBody>
      </p:sp>
      <p:sp>
        <p:nvSpPr>
          <p:cNvPr id="13" name="Text 15.12"/>
          <p:cNvSpPr txBox="1"/>
          <p:nvPr/>
        </p:nvSpPr>
        <p:spPr>
          <a:xfrm>
            <a:off x="927077" y="355591"/>
            <a:ext cx="1415554" cy="107947"/>
          </a:xfrm>
          <a:prstGeom prst="rect">
            <a:avLst/>
          </a:prstGeom>
          <a:noFill/>
          <a:ln/>
        </p:spPr>
        <p:txBody>
          <a:bodyPr wrap="square" lIns="0" tIns="0" rIns="0" bIns="0" rtlCol="0" anchor="t"/>
          <a:lstStyle/>
          <a:p>
            <a:pPr algn="l" indent="0" marL="0">
              <a:lnSpc>
                <a:spcPts val="850"/>
              </a:lnSpc>
              <a:buNone/>
            </a:pPr>
            <a:r>
              <a:rPr lang="en-US" sz="850" b="1" spc="17" kern="0" dirty="0">
                <a:solidFill>
                  <a:srgbClr val="16233F"/>
                </a:solidFill>
                <a:latin typeface="Arial" pitchFamily="34" charset="0"/>
                <a:ea typeface="Arial" pitchFamily="34" charset="-122"/>
                <a:cs typeface="Arial" pitchFamily="34" charset="-120"/>
              </a:rPr>
              <a:t>05 · Drafts &amp; prototypes</a:t>
            </a:r>
            <a:endParaRPr lang="en-US" sz="850" dirty="0"/>
          </a:p>
        </p:txBody>
      </p:sp>
      <p:sp>
        <p:nvSpPr>
          <p:cNvPr id="14" name="Text 15.13"/>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15</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23</a:t>
            </a:r>
            <a:endParaRPr lang="en-US" sz="100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16.1"/>
          <p:cNvSpPr txBox="1"/>
          <p:nvPr/>
        </p:nvSpPr>
        <p:spPr>
          <a:xfrm>
            <a:off x="609585" y="761981"/>
            <a:ext cx="11371296" cy="384038"/>
          </a:xfrm>
          <a:prstGeom prst="rect">
            <a:avLst/>
          </a:prstGeom>
          <a:noFill/>
          <a:ln/>
        </p:spPr>
        <p:txBody>
          <a:bodyPr wrap="square" lIns="0" tIns="0" rIns="0" bIns="0" rtlCol="0" anchor="t"/>
          <a:lstStyle/>
          <a:p>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Four art directions for the same cube</a:t>
            </a:r>
            <a:endParaRPr lang="en-US" sz="2700" dirty="0"/>
          </a:p>
        </p:txBody>
      </p:sp>
      <p:sp>
        <p:nvSpPr>
          <p:cNvPr id="3" name="Text 16.2"/>
          <p:cNvSpPr txBox="1"/>
          <p:nvPr/>
        </p:nvSpPr>
        <p:spPr>
          <a:xfrm>
            <a:off x="609585" y="3682908"/>
            <a:ext cx="215895" cy="215895"/>
          </a:xfrm>
          <a:prstGeom prst="rect">
            <a:avLst/>
          </a:prstGeom>
          <a:noFill/>
          <a:ln/>
        </p:spPr>
        <p:txBody>
          <a:bodyPr wrap="square" lIns="0" tIns="0" rIns="0" bIns="0" rtlCol="0" anchor="ctr"/>
          <a:lstStyle/>
          <a:p>
            <a:pPr algn="ctr" indent="0" marL="0">
              <a:lnSpc>
                <a:spcPts val="900"/>
              </a:lnSpc>
              <a:buNone/>
            </a:pPr>
            <a:r>
              <a:rPr lang="en-US" sz="900" dirty="0">
                <a:solidFill>
                  <a:srgbClr val="FFFFFF"/>
                </a:solidFill>
                <a:latin typeface="Arial Rounded MT Bold" pitchFamily="34" charset="0"/>
                <a:ea typeface="Arial Rounded MT Bold" pitchFamily="34" charset="-122"/>
                <a:cs typeface="Arial Rounded MT Bold" pitchFamily="34" charset="-120"/>
              </a:rPr>
              <a:t>A</a:t>
            </a:r>
            <a:endParaRPr lang="en-US" sz="900" dirty="0"/>
          </a:p>
        </p:txBody>
      </p:sp>
      <p:sp>
        <p:nvSpPr>
          <p:cNvPr id="4" name="Text 16.3"/>
          <p:cNvSpPr txBox="1"/>
          <p:nvPr/>
        </p:nvSpPr>
        <p:spPr>
          <a:xfrm>
            <a:off x="901677" y="3727357"/>
            <a:ext cx="594182" cy="120647"/>
          </a:xfrm>
          <a:prstGeom prst="rect">
            <a:avLst/>
          </a:prstGeom>
          <a:noFill/>
          <a:ln/>
        </p:spPr>
        <p:txBody>
          <a:bodyPr wrap="square" lIns="0" tIns="0" rIns="0" bIns="0" rtlCol="0" anchor="t"/>
          <a:lstStyle/>
          <a:p>
            <a:pPr algn="l" indent="0" marL="0">
              <a:lnSpc>
                <a:spcPts val="950"/>
              </a:lnSpc>
              <a:buNone/>
            </a:pPr>
            <a:r>
              <a:rPr lang="en-US" sz="950" b="1" dirty="0">
                <a:solidFill>
                  <a:srgbClr val="16233F"/>
                </a:solidFill>
                <a:latin typeface="Arial" pitchFamily="34" charset="0"/>
                <a:ea typeface="Arial" pitchFamily="34" charset="-122"/>
                <a:cs typeface="Arial" pitchFamily="34" charset="-120"/>
              </a:rPr>
              <a:t>Vinyl toy</a:t>
            </a:r>
            <a:endParaRPr lang="en-US" sz="950" dirty="0"/>
          </a:p>
        </p:txBody>
      </p:sp>
      <p:sp>
        <p:nvSpPr>
          <p:cNvPr id="5" name="Text 16.4"/>
          <p:cNvSpPr txBox="1"/>
          <p:nvPr/>
        </p:nvSpPr>
        <p:spPr>
          <a:xfrm>
            <a:off x="4749681" y="3682908"/>
            <a:ext cx="215895" cy="215895"/>
          </a:xfrm>
          <a:prstGeom prst="rect">
            <a:avLst/>
          </a:prstGeom>
          <a:noFill/>
          <a:ln/>
        </p:spPr>
        <p:txBody>
          <a:bodyPr wrap="square" lIns="0" tIns="0" rIns="0" bIns="0" rtlCol="0" anchor="ctr"/>
          <a:lstStyle/>
          <a:p>
            <a:pPr algn="ctr" indent="0" marL="0">
              <a:lnSpc>
                <a:spcPts val="900"/>
              </a:lnSpc>
              <a:buNone/>
            </a:pPr>
            <a:r>
              <a:rPr lang="en-US" sz="900" dirty="0">
                <a:solidFill>
                  <a:srgbClr val="FFFFFF"/>
                </a:solidFill>
                <a:latin typeface="Arial Rounded MT Bold" pitchFamily="34" charset="0"/>
                <a:ea typeface="Arial Rounded MT Bold" pitchFamily="34" charset="-122"/>
                <a:cs typeface="Arial Rounded MT Bold" pitchFamily="34" charset="-120"/>
              </a:rPr>
              <a:t>B</a:t>
            </a:r>
            <a:endParaRPr lang="en-US" sz="900" dirty="0"/>
          </a:p>
        </p:txBody>
      </p:sp>
      <p:sp>
        <p:nvSpPr>
          <p:cNvPr id="6" name="Text 16.5"/>
          <p:cNvSpPr txBox="1"/>
          <p:nvPr/>
        </p:nvSpPr>
        <p:spPr>
          <a:xfrm>
            <a:off x="5041774" y="3727357"/>
            <a:ext cx="1015596" cy="120647"/>
          </a:xfrm>
          <a:prstGeom prst="rect">
            <a:avLst/>
          </a:prstGeom>
          <a:noFill/>
          <a:ln/>
        </p:spPr>
        <p:txBody>
          <a:bodyPr wrap="square" lIns="0" tIns="0" rIns="0" bIns="0" rtlCol="0" anchor="t"/>
          <a:lstStyle/>
          <a:p>
            <a:pPr algn="l" indent="0" marL="0">
              <a:lnSpc>
                <a:spcPts val="950"/>
              </a:lnSpc>
              <a:buNone/>
            </a:pPr>
            <a:r>
              <a:rPr lang="en-US" sz="950" b="1" dirty="0">
                <a:solidFill>
                  <a:srgbClr val="16233F"/>
                </a:solidFill>
                <a:latin typeface="Arial" pitchFamily="34" charset="0"/>
                <a:ea typeface="Arial" pitchFamily="34" charset="-122"/>
                <a:cs typeface="Arial" pitchFamily="34" charset="-120"/>
              </a:rPr>
              <a:t>Building blocks</a:t>
            </a:r>
            <a:endParaRPr lang="en-US" sz="950" dirty="0"/>
          </a:p>
        </p:txBody>
      </p:sp>
      <p:sp>
        <p:nvSpPr>
          <p:cNvPr id="7" name="Text 16.6"/>
          <p:cNvSpPr txBox="1"/>
          <p:nvPr/>
        </p:nvSpPr>
        <p:spPr>
          <a:xfrm>
            <a:off x="609585" y="6006950"/>
            <a:ext cx="215895" cy="215895"/>
          </a:xfrm>
          <a:prstGeom prst="rect">
            <a:avLst/>
          </a:prstGeom>
          <a:noFill/>
          <a:ln/>
        </p:spPr>
        <p:txBody>
          <a:bodyPr wrap="square" lIns="0" tIns="0" rIns="0" bIns="0" rtlCol="0" anchor="ctr"/>
          <a:lstStyle/>
          <a:p>
            <a:pPr algn="ctr" indent="0" marL="0">
              <a:lnSpc>
                <a:spcPts val="900"/>
              </a:lnSpc>
              <a:buNone/>
            </a:pPr>
            <a:r>
              <a:rPr lang="en-US" sz="900" dirty="0">
                <a:solidFill>
                  <a:srgbClr val="FFFFFF"/>
                </a:solidFill>
                <a:latin typeface="Arial Rounded MT Bold" pitchFamily="34" charset="0"/>
                <a:ea typeface="Arial Rounded MT Bold" pitchFamily="34" charset="-122"/>
                <a:cs typeface="Arial Rounded MT Bold" pitchFamily="34" charset="-120"/>
              </a:rPr>
              <a:t>C</a:t>
            </a:r>
            <a:endParaRPr lang="en-US" sz="900" dirty="0"/>
          </a:p>
        </p:txBody>
      </p:sp>
      <p:sp>
        <p:nvSpPr>
          <p:cNvPr id="8" name="Text 16.7"/>
          <p:cNvSpPr txBox="1"/>
          <p:nvPr/>
        </p:nvSpPr>
        <p:spPr>
          <a:xfrm>
            <a:off x="901677" y="6051399"/>
            <a:ext cx="480389" cy="120647"/>
          </a:xfrm>
          <a:prstGeom prst="rect">
            <a:avLst/>
          </a:prstGeom>
          <a:noFill/>
          <a:ln/>
        </p:spPr>
        <p:txBody>
          <a:bodyPr wrap="square" lIns="0" tIns="0" rIns="0" bIns="0" rtlCol="0" anchor="t"/>
          <a:lstStyle/>
          <a:p>
            <a:pPr algn="l" indent="0" marL="0">
              <a:lnSpc>
                <a:spcPts val="950"/>
              </a:lnSpc>
              <a:buNone/>
            </a:pPr>
            <a:r>
              <a:rPr lang="en-US" sz="950" b="1" dirty="0">
                <a:solidFill>
                  <a:srgbClr val="16233F"/>
                </a:solidFill>
                <a:latin typeface="Arial" pitchFamily="34" charset="0"/>
                <a:ea typeface="Arial" pitchFamily="34" charset="-122"/>
                <a:cs typeface="Arial" pitchFamily="34" charset="-120"/>
              </a:rPr>
              <a:t>Tin toy</a:t>
            </a:r>
            <a:endParaRPr lang="en-US" sz="950" dirty="0"/>
          </a:p>
        </p:txBody>
      </p:sp>
      <p:sp>
        <p:nvSpPr>
          <p:cNvPr id="9" name="Text 16.8"/>
          <p:cNvSpPr txBox="1"/>
          <p:nvPr/>
        </p:nvSpPr>
        <p:spPr>
          <a:xfrm>
            <a:off x="4749681" y="6006950"/>
            <a:ext cx="215895" cy="215895"/>
          </a:xfrm>
          <a:prstGeom prst="rect">
            <a:avLst/>
          </a:prstGeom>
          <a:noFill/>
          <a:ln/>
        </p:spPr>
        <p:txBody>
          <a:bodyPr wrap="square" lIns="0" tIns="0" rIns="0" bIns="0" rtlCol="0" anchor="ctr"/>
          <a:lstStyle/>
          <a:p>
            <a:pPr algn="ctr" indent="0" marL="0">
              <a:lnSpc>
                <a:spcPts val="900"/>
              </a:lnSpc>
              <a:buNone/>
            </a:pPr>
            <a:r>
              <a:rPr lang="en-US" sz="900" dirty="0">
                <a:solidFill>
                  <a:srgbClr val="FFFFFF"/>
                </a:solidFill>
                <a:latin typeface="Arial Rounded MT Bold" pitchFamily="34" charset="0"/>
                <a:ea typeface="Arial Rounded MT Bold" pitchFamily="34" charset="-122"/>
                <a:cs typeface="Arial Rounded MT Bold" pitchFamily="34" charset="-120"/>
              </a:rPr>
              <a:t>D</a:t>
            </a:r>
            <a:endParaRPr lang="en-US" sz="900" dirty="0"/>
          </a:p>
        </p:txBody>
      </p:sp>
      <p:sp>
        <p:nvSpPr>
          <p:cNvPr id="10" name="Text 16.9"/>
          <p:cNvSpPr txBox="1"/>
          <p:nvPr/>
        </p:nvSpPr>
        <p:spPr>
          <a:xfrm>
            <a:off x="5041774" y="6051399"/>
            <a:ext cx="347981" cy="120647"/>
          </a:xfrm>
          <a:prstGeom prst="rect">
            <a:avLst/>
          </a:prstGeom>
          <a:noFill/>
          <a:ln/>
        </p:spPr>
        <p:txBody>
          <a:bodyPr wrap="square" lIns="0" tIns="0" rIns="0" bIns="0" rtlCol="0" anchor="t"/>
          <a:lstStyle/>
          <a:p>
            <a:pPr algn="l" indent="0" marL="0">
              <a:lnSpc>
                <a:spcPts val="950"/>
              </a:lnSpc>
              <a:buNone/>
            </a:pPr>
            <a:r>
              <a:rPr lang="en-US" sz="950" b="1" dirty="0">
                <a:solidFill>
                  <a:srgbClr val="16233F"/>
                </a:solidFill>
                <a:latin typeface="Arial" pitchFamily="34" charset="0"/>
                <a:ea typeface="Arial" pitchFamily="34" charset="-122"/>
                <a:cs typeface="Arial" pitchFamily="34" charset="-120"/>
              </a:rPr>
              <a:t>Jelly</a:t>
            </a:r>
            <a:endParaRPr lang="en-US" sz="950" dirty="0"/>
          </a:p>
        </p:txBody>
      </p:sp>
      <p:sp>
        <p:nvSpPr>
          <p:cNvPr id="11" name="Text 16.10"/>
          <p:cNvSpPr txBox="1"/>
          <p:nvPr/>
        </p:nvSpPr>
        <p:spPr>
          <a:xfrm>
            <a:off x="8991375" y="1943051"/>
            <a:ext cx="642034"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16233F"/>
                </a:solidFill>
                <a:latin typeface="Arial" pitchFamily="34" charset="0"/>
                <a:ea typeface="Arial" pitchFamily="34" charset="-122"/>
                <a:cs typeface="Arial" pitchFamily="34" charset="-120"/>
              </a:rPr>
              <a:t>PURPOSE</a:t>
            </a:r>
            <a:endParaRPr lang="en-US" sz="750" dirty="0"/>
          </a:p>
        </p:txBody>
      </p:sp>
      <p:sp>
        <p:nvSpPr>
          <p:cNvPr id="12" name="Text 16.11"/>
          <p:cNvSpPr txBox="1"/>
          <p:nvPr/>
        </p:nvSpPr>
        <p:spPr>
          <a:xfrm>
            <a:off x="8991375" y="2158946"/>
            <a:ext cx="2451039" cy="552436"/>
          </a:xfrm>
          <a:prstGeom prst="rect">
            <a:avLst/>
          </a:prstGeom>
          <a:noFill/>
          <a:ln/>
        </p:spPr>
        <p:txBody>
          <a:bodyPr wrap="square" lIns="0" tIns="0" rIns="0" bIns="0" rtlCol="0" anchor="t"/>
          <a:lstStyle/>
          <a:p>
            <a:pPr algn="l" indent="0" marL="0">
              <a:lnSpc>
                <a:spcPts val="1450"/>
              </a:lnSpc>
              <a:buNone/>
            </a:pPr>
            <a:r>
              <a:rPr lang="en-US" sz="1000" dirty="0">
                <a:solidFill>
                  <a:srgbClr val="3B4A66"/>
                </a:solidFill>
                <a:latin typeface="Arial" pitchFamily="34" charset="0"/>
                <a:ea typeface="Arial" pitchFamily="34" charset="-122"/>
                <a:cs typeface="Arial" pitchFamily="34" charset="-120"/>
              </a:rPr>
              <a:t>Four looks for the same character, generated to choose a direction before modelling.</a:t>
            </a:r>
            <a:endParaRPr lang="en-US" sz="1000" dirty="0"/>
          </a:p>
        </p:txBody>
      </p:sp>
      <p:sp>
        <p:nvSpPr>
          <p:cNvPr id="13" name="Text 16.12"/>
          <p:cNvSpPr txBox="1"/>
          <p:nvPr/>
        </p:nvSpPr>
        <p:spPr>
          <a:xfrm>
            <a:off x="8991375" y="3136822"/>
            <a:ext cx="1251175"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FF6B1F"/>
                </a:solidFill>
                <a:latin typeface="Arial" pitchFamily="34" charset="0"/>
                <a:ea typeface="Arial" pitchFamily="34" charset="-122"/>
                <a:cs typeface="Arial" pitchFamily="34" charset="-120"/>
              </a:rPr>
              <a:t>USED IN THIS DECK</a:t>
            </a:r>
            <a:endParaRPr lang="en-US" sz="750" dirty="0"/>
          </a:p>
        </p:txBody>
      </p:sp>
      <p:sp>
        <p:nvSpPr>
          <p:cNvPr id="14" name="Text 16.13"/>
          <p:cNvSpPr txBox="1"/>
          <p:nvPr/>
        </p:nvSpPr>
        <p:spPr>
          <a:xfrm>
            <a:off x="8991375" y="3352716"/>
            <a:ext cx="2451039" cy="368291"/>
          </a:xfrm>
          <a:prstGeom prst="rect">
            <a:avLst/>
          </a:prstGeom>
          <a:noFill/>
          <a:ln/>
        </p:spPr>
        <p:txBody>
          <a:bodyPr wrap="square" lIns="0" tIns="0" rIns="0" bIns="0" rtlCol="0" anchor="t"/>
          <a:lstStyle/>
          <a:p>
            <a:pPr algn="l" indent="0" marL="0">
              <a:lnSpc>
                <a:spcPts val="1450"/>
              </a:lnSpc>
              <a:buNone/>
            </a:pPr>
            <a:r>
              <a:rPr lang="en-US" sz="1000" dirty="0">
                <a:solidFill>
                  <a:srgbClr val="3B4A66"/>
                </a:solidFill>
                <a:latin typeface="Arial" pitchFamily="34" charset="0"/>
                <a:ea typeface="Arial" pitchFamily="34" charset="-122"/>
                <a:cs typeface="Arial" pitchFamily="34" charset="-120"/>
              </a:rPr>
              <a:t>The concept renders follow the glossy-toy direction.</a:t>
            </a:r>
            <a:endParaRPr lang="en-US" sz="1000" dirty="0"/>
          </a:p>
        </p:txBody>
      </p:sp>
      <p:sp>
        <p:nvSpPr>
          <p:cNvPr id="15" name="Text 16.14"/>
          <p:cNvSpPr txBox="1"/>
          <p:nvPr/>
        </p:nvSpPr>
        <p:spPr>
          <a:xfrm>
            <a:off x="8991375" y="4152796"/>
            <a:ext cx="1166303"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16233F"/>
                </a:solidFill>
                <a:latin typeface="Arial" pitchFamily="34" charset="0"/>
                <a:ea typeface="Arial" pitchFamily="34" charset="-122"/>
                <a:cs typeface="Arial" pitchFamily="34" charset="-120"/>
              </a:rPr>
              <a:t>PLAYER COLOURS</a:t>
            </a:r>
            <a:endParaRPr lang="en-US" sz="750" dirty="0"/>
          </a:p>
        </p:txBody>
      </p:sp>
      <p:sp>
        <p:nvSpPr>
          <p:cNvPr id="16" name="Text 16.15"/>
          <p:cNvSpPr txBox="1"/>
          <p:nvPr/>
        </p:nvSpPr>
        <p:spPr>
          <a:xfrm>
            <a:off x="8991375" y="4990975"/>
            <a:ext cx="546086" cy="124457"/>
          </a:xfrm>
          <a:prstGeom prst="rect">
            <a:avLst/>
          </a:prstGeom>
          <a:noFill/>
          <a:ln/>
        </p:spPr>
        <p:txBody>
          <a:bodyPr wrap="square" lIns="0" tIns="0" rIns="0" bIns="0" rtlCol="0" anchor="t"/>
          <a:lstStyle/>
          <a:p>
            <a:pPr algn="l" indent="0" marL="0">
              <a:lnSpc>
                <a:spcPts val="980"/>
              </a:lnSpc>
              <a:buNone/>
            </a:pPr>
            <a:r>
              <a:rPr lang="en-US" sz="700" dirty="0">
                <a:solidFill>
                  <a:srgbClr val="16233F"/>
                </a:solidFill>
                <a:latin typeface="Arial" pitchFamily="34" charset="0"/>
                <a:ea typeface="Arial" pitchFamily="34" charset="-122"/>
                <a:cs typeface="Arial" pitchFamily="34" charset="-120"/>
              </a:rPr>
              <a:t>Orange</a:t>
            </a:r>
            <a:endParaRPr lang="en-US" sz="700" dirty="0"/>
          </a:p>
        </p:txBody>
      </p:sp>
      <p:sp>
        <p:nvSpPr>
          <p:cNvPr id="17" name="Text 16.16"/>
          <p:cNvSpPr txBox="1"/>
          <p:nvPr/>
        </p:nvSpPr>
        <p:spPr>
          <a:xfrm>
            <a:off x="8991375" y="5117972"/>
            <a:ext cx="546086" cy="106677"/>
          </a:xfrm>
          <a:prstGeom prst="rect">
            <a:avLst/>
          </a:prstGeom>
          <a:noFill/>
          <a:ln/>
        </p:spPr>
        <p:txBody>
          <a:bodyPr wrap="square" lIns="0" tIns="0" rIns="0" bIns="0" rtlCol="0" anchor="t"/>
          <a:lstStyle/>
          <a:p>
            <a:pPr algn="l" indent="0" marL="0">
              <a:lnSpc>
                <a:spcPts val="840"/>
              </a:lnSpc>
              <a:buNone/>
            </a:pPr>
            <a:r>
              <a:rPr lang="en-US" sz="600" dirty="0">
                <a:solidFill>
                  <a:srgbClr val="6E7D9A"/>
                </a:solidFill>
                <a:latin typeface="Arial" pitchFamily="34" charset="0"/>
                <a:ea typeface="Arial" pitchFamily="34" charset="-122"/>
                <a:cs typeface="Arial" pitchFamily="34" charset="-120"/>
              </a:rPr>
              <a:t>#FF6B1F</a:t>
            </a:r>
            <a:endParaRPr lang="en-US" sz="600" dirty="0"/>
          </a:p>
        </p:txBody>
      </p:sp>
      <p:sp>
        <p:nvSpPr>
          <p:cNvPr id="18" name="Text 16.17"/>
          <p:cNvSpPr txBox="1"/>
          <p:nvPr/>
        </p:nvSpPr>
        <p:spPr>
          <a:xfrm>
            <a:off x="9600960" y="4990975"/>
            <a:ext cx="546086" cy="124457"/>
          </a:xfrm>
          <a:prstGeom prst="rect">
            <a:avLst/>
          </a:prstGeom>
          <a:noFill/>
          <a:ln/>
        </p:spPr>
        <p:txBody>
          <a:bodyPr wrap="square" lIns="0" tIns="0" rIns="0" bIns="0" rtlCol="0" anchor="t"/>
          <a:lstStyle/>
          <a:p>
            <a:pPr algn="l" indent="0" marL="0">
              <a:lnSpc>
                <a:spcPts val="980"/>
              </a:lnSpc>
              <a:buNone/>
            </a:pPr>
            <a:r>
              <a:rPr lang="en-US" sz="700" dirty="0">
                <a:solidFill>
                  <a:srgbClr val="16233F"/>
                </a:solidFill>
                <a:latin typeface="Arial" pitchFamily="34" charset="0"/>
                <a:ea typeface="Arial" pitchFamily="34" charset="-122"/>
                <a:cs typeface="Arial" pitchFamily="34" charset="-120"/>
              </a:rPr>
              <a:t>Cyan</a:t>
            </a:r>
            <a:endParaRPr lang="en-US" sz="700" dirty="0"/>
          </a:p>
        </p:txBody>
      </p:sp>
      <p:sp>
        <p:nvSpPr>
          <p:cNvPr id="19" name="Text 16.18"/>
          <p:cNvSpPr txBox="1"/>
          <p:nvPr/>
        </p:nvSpPr>
        <p:spPr>
          <a:xfrm>
            <a:off x="9600960" y="5117972"/>
            <a:ext cx="546086" cy="106677"/>
          </a:xfrm>
          <a:prstGeom prst="rect">
            <a:avLst/>
          </a:prstGeom>
          <a:noFill/>
          <a:ln/>
        </p:spPr>
        <p:txBody>
          <a:bodyPr wrap="square" lIns="0" tIns="0" rIns="0" bIns="0" rtlCol="0" anchor="t"/>
          <a:lstStyle/>
          <a:p>
            <a:pPr algn="l" indent="0" marL="0">
              <a:lnSpc>
                <a:spcPts val="840"/>
              </a:lnSpc>
              <a:buNone/>
            </a:pPr>
            <a:r>
              <a:rPr lang="en-US" sz="600" dirty="0">
                <a:solidFill>
                  <a:srgbClr val="6E7D9A"/>
                </a:solidFill>
                <a:latin typeface="Arial" pitchFamily="34" charset="0"/>
                <a:ea typeface="Arial" pitchFamily="34" charset="-122"/>
                <a:cs typeface="Arial" pitchFamily="34" charset="-120"/>
              </a:rPr>
              <a:t>#1FA9EA</a:t>
            </a:r>
            <a:endParaRPr lang="en-US" sz="600" dirty="0"/>
          </a:p>
        </p:txBody>
      </p:sp>
      <p:sp>
        <p:nvSpPr>
          <p:cNvPr id="20" name="Text 16.19"/>
          <p:cNvSpPr txBox="1"/>
          <p:nvPr/>
        </p:nvSpPr>
        <p:spPr>
          <a:xfrm>
            <a:off x="10210545" y="4990975"/>
            <a:ext cx="546086" cy="124457"/>
          </a:xfrm>
          <a:prstGeom prst="rect">
            <a:avLst/>
          </a:prstGeom>
          <a:noFill/>
          <a:ln/>
        </p:spPr>
        <p:txBody>
          <a:bodyPr wrap="square" lIns="0" tIns="0" rIns="0" bIns="0" rtlCol="0" anchor="t"/>
          <a:lstStyle/>
          <a:p>
            <a:pPr algn="l" indent="0" marL="0">
              <a:lnSpc>
                <a:spcPts val="980"/>
              </a:lnSpc>
              <a:buNone/>
            </a:pPr>
            <a:r>
              <a:rPr lang="en-US" sz="700" dirty="0">
                <a:solidFill>
                  <a:srgbClr val="16233F"/>
                </a:solidFill>
                <a:latin typeface="Arial" pitchFamily="34" charset="0"/>
                <a:ea typeface="Arial" pitchFamily="34" charset="-122"/>
                <a:cs typeface="Arial" pitchFamily="34" charset="-120"/>
              </a:rPr>
              <a:t>Lime</a:t>
            </a:r>
            <a:endParaRPr lang="en-US" sz="700" dirty="0"/>
          </a:p>
        </p:txBody>
      </p:sp>
      <p:sp>
        <p:nvSpPr>
          <p:cNvPr id="21" name="Text 16.20"/>
          <p:cNvSpPr txBox="1"/>
          <p:nvPr/>
        </p:nvSpPr>
        <p:spPr>
          <a:xfrm>
            <a:off x="10210545" y="5117972"/>
            <a:ext cx="546086" cy="106677"/>
          </a:xfrm>
          <a:prstGeom prst="rect">
            <a:avLst/>
          </a:prstGeom>
          <a:noFill/>
          <a:ln/>
        </p:spPr>
        <p:txBody>
          <a:bodyPr wrap="square" lIns="0" tIns="0" rIns="0" bIns="0" rtlCol="0" anchor="t"/>
          <a:lstStyle/>
          <a:p>
            <a:pPr algn="l" indent="0" marL="0">
              <a:lnSpc>
                <a:spcPts val="840"/>
              </a:lnSpc>
              <a:buNone/>
            </a:pPr>
            <a:r>
              <a:rPr lang="en-US" sz="600" dirty="0">
                <a:solidFill>
                  <a:srgbClr val="6E7D9A"/>
                </a:solidFill>
                <a:latin typeface="Arial" pitchFamily="34" charset="0"/>
                <a:ea typeface="Arial" pitchFamily="34" charset="-122"/>
                <a:cs typeface="Arial" pitchFamily="34" charset="-120"/>
              </a:rPr>
              <a:t>#43B832</a:t>
            </a:r>
            <a:endParaRPr lang="en-US" sz="600" dirty="0"/>
          </a:p>
        </p:txBody>
      </p:sp>
      <p:sp>
        <p:nvSpPr>
          <p:cNvPr id="22" name="Text 16.21"/>
          <p:cNvSpPr txBox="1"/>
          <p:nvPr/>
        </p:nvSpPr>
        <p:spPr>
          <a:xfrm>
            <a:off x="10820129" y="4990975"/>
            <a:ext cx="546086" cy="124457"/>
          </a:xfrm>
          <a:prstGeom prst="rect">
            <a:avLst/>
          </a:prstGeom>
          <a:noFill/>
          <a:ln/>
        </p:spPr>
        <p:txBody>
          <a:bodyPr wrap="square" lIns="0" tIns="0" rIns="0" bIns="0" rtlCol="0" anchor="t"/>
          <a:lstStyle/>
          <a:p>
            <a:pPr algn="l" indent="0" marL="0">
              <a:lnSpc>
                <a:spcPts val="980"/>
              </a:lnSpc>
              <a:buNone/>
            </a:pPr>
            <a:r>
              <a:rPr lang="en-US" sz="700" dirty="0">
                <a:solidFill>
                  <a:srgbClr val="16233F"/>
                </a:solidFill>
                <a:latin typeface="Arial" pitchFamily="34" charset="0"/>
                <a:ea typeface="Arial" pitchFamily="34" charset="-122"/>
                <a:cs typeface="Arial" pitchFamily="34" charset="-120"/>
              </a:rPr>
              <a:t>Purple</a:t>
            </a:r>
            <a:endParaRPr lang="en-US" sz="700" dirty="0"/>
          </a:p>
        </p:txBody>
      </p:sp>
      <p:sp>
        <p:nvSpPr>
          <p:cNvPr id="23" name="Text 16.22"/>
          <p:cNvSpPr txBox="1"/>
          <p:nvPr/>
        </p:nvSpPr>
        <p:spPr>
          <a:xfrm>
            <a:off x="10820129" y="5117972"/>
            <a:ext cx="546086" cy="106677"/>
          </a:xfrm>
          <a:prstGeom prst="rect">
            <a:avLst/>
          </a:prstGeom>
          <a:noFill/>
          <a:ln/>
        </p:spPr>
        <p:txBody>
          <a:bodyPr wrap="square" lIns="0" tIns="0" rIns="0" bIns="0" rtlCol="0" anchor="t"/>
          <a:lstStyle/>
          <a:p>
            <a:pPr algn="l" indent="0" marL="0">
              <a:lnSpc>
                <a:spcPts val="840"/>
              </a:lnSpc>
              <a:buNone/>
            </a:pPr>
            <a:r>
              <a:rPr lang="en-US" sz="600" dirty="0">
                <a:solidFill>
                  <a:srgbClr val="6E7D9A"/>
                </a:solidFill>
                <a:latin typeface="Arial" pitchFamily="34" charset="0"/>
                <a:ea typeface="Arial" pitchFamily="34" charset="-122"/>
                <a:cs typeface="Arial" pitchFamily="34" charset="-120"/>
              </a:rPr>
              <a:t>#8F55F5</a:t>
            </a:r>
            <a:endParaRPr lang="en-US" sz="600" dirty="0"/>
          </a:p>
        </p:txBody>
      </p:sp>
      <p:sp>
        <p:nvSpPr>
          <p:cNvPr id="24" name="Text 16.23"/>
          <p:cNvSpPr txBox="1"/>
          <p:nvPr/>
        </p:nvSpPr>
        <p:spPr>
          <a:xfrm>
            <a:off x="8991375" y="5714857"/>
            <a:ext cx="2451039" cy="133347"/>
          </a:xfrm>
          <a:prstGeom prst="rect">
            <a:avLst/>
          </a:prstGeom>
          <a:noFill/>
          <a:ln/>
        </p:spPr>
        <p:txBody>
          <a:bodyPr wrap="square" lIns="0" tIns="0" rIns="0" bIns="0" rtlCol="0" anchor="t"/>
          <a:lstStyle/>
          <a:p>
            <a:pPr algn="l" indent="0" marL="0">
              <a:lnSpc>
                <a:spcPts val="1050"/>
              </a:lnSpc>
              <a:buNone/>
            </a:pPr>
            <a:r>
              <a:rPr lang="en-US" sz="750" dirty="0">
                <a:solidFill>
                  <a:srgbClr val="6E7D9A"/>
                </a:solidFill>
                <a:latin typeface="Arial" pitchFamily="34" charset="0"/>
                <a:ea typeface="Arial" pitchFamily="34" charset="-122"/>
                <a:cs typeface="Arial" pitchFamily="34" charset="-120"/>
              </a:rPr>
              <a:t>All AI-generated drafts. None is gameplay.</a:t>
            </a:r>
            <a:endParaRPr lang="en-US" sz="750" dirty="0"/>
          </a:p>
        </p:txBody>
      </p:sp>
      <p:sp>
        <p:nvSpPr>
          <p:cNvPr id="25" name="Text 16.24"/>
          <p:cNvSpPr txBox="1"/>
          <p:nvPr/>
        </p:nvSpPr>
        <p:spPr>
          <a:xfrm>
            <a:off x="927077" y="355591"/>
            <a:ext cx="1415554" cy="107947"/>
          </a:xfrm>
          <a:prstGeom prst="rect">
            <a:avLst/>
          </a:prstGeom>
          <a:noFill/>
          <a:ln/>
        </p:spPr>
        <p:txBody>
          <a:bodyPr wrap="square" lIns="0" tIns="0" rIns="0" bIns="0" rtlCol="0" anchor="t"/>
          <a:lstStyle/>
          <a:p>
            <a:pPr algn="l" indent="0" marL="0">
              <a:lnSpc>
                <a:spcPts val="850"/>
              </a:lnSpc>
              <a:buNone/>
            </a:pPr>
            <a:r>
              <a:rPr lang="en-US" sz="850" b="1" spc="17" kern="0" dirty="0">
                <a:solidFill>
                  <a:srgbClr val="16233F"/>
                </a:solidFill>
                <a:latin typeface="Arial" pitchFamily="34" charset="0"/>
                <a:ea typeface="Arial" pitchFamily="34" charset="-122"/>
                <a:cs typeface="Arial" pitchFamily="34" charset="-120"/>
              </a:rPr>
              <a:t>05 · Drafts &amp; prototypes</a:t>
            </a:r>
            <a:endParaRPr lang="en-US" sz="850" dirty="0"/>
          </a:p>
        </p:txBody>
      </p:sp>
      <p:sp>
        <p:nvSpPr>
          <p:cNvPr id="26" name="Text 16.25"/>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16</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23</a:t>
            </a:r>
            <a:endParaRPr lang="en-US" sz="100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17.1"/>
          <p:cNvSpPr txBox="1"/>
          <p:nvPr/>
        </p:nvSpPr>
        <p:spPr>
          <a:xfrm>
            <a:off x="609585" y="761981"/>
            <a:ext cx="11371296" cy="384038"/>
          </a:xfrm>
          <a:prstGeom prst="rect">
            <a:avLst/>
          </a:prstGeom>
          <a:noFill/>
          <a:ln/>
        </p:spPr>
        <p:txBody>
          <a:bodyPr wrap="square" lIns="0" tIns="0" rIns="0" bIns="0" rtlCol="0" anchor="t"/>
          <a:lstStyle/>
          <a:p>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Logo drafts</a:t>
            </a:r>
            <a:endParaRPr lang="en-US" sz="2700" dirty="0"/>
          </a:p>
        </p:txBody>
      </p:sp>
      <p:sp>
        <p:nvSpPr>
          <p:cNvPr id="3" name="Text 17.2"/>
          <p:cNvSpPr txBox="1"/>
          <p:nvPr/>
        </p:nvSpPr>
        <p:spPr>
          <a:xfrm>
            <a:off x="609585" y="5029074"/>
            <a:ext cx="1429437"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16233F"/>
                </a:solidFill>
                <a:latin typeface="Arial" pitchFamily="34" charset="0"/>
                <a:ea typeface="Arial" pitchFamily="34" charset="-122"/>
                <a:cs typeface="Arial" pitchFamily="34" charset="-120"/>
              </a:rPr>
              <a:t>DRAFT A · WORDMARK</a:t>
            </a:r>
            <a:endParaRPr lang="en-US" sz="750" dirty="0"/>
          </a:p>
        </p:txBody>
      </p:sp>
      <p:sp>
        <p:nvSpPr>
          <p:cNvPr id="4" name="Text 17.3"/>
          <p:cNvSpPr txBox="1"/>
          <p:nvPr/>
        </p:nvSpPr>
        <p:spPr>
          <a:xfrm>
            <a:off x="609585" y="5244969"/>
            <a:ext cx="3594010" cy="186685"/>
          </a:xfrm>
          <a:prstGeom prst="rect">
            <a:avLst/>
          </a:prstGeom>
          <a:noFill/>
          <a:ln/>
        </p:spPr>
        <p:txBody>
          <a:bodyPr wrap="square" lIns="0" tIns="0" rIns="0" bIns="0" rtlCol="0" anchor="t"/>
          <a:lstStyle/>
          <a:p>
            <a:pPr algn="l" indent="0" marL="0">
              <a:lnSpc>
                <a:spcPts val="1470"/>
              </a:lnSpc>
              <a:buNone/>
            </a:pPr>
            <a:r>
              <a:rPr lang="en-US" sz="1050" dirty="0">
                <a:solidFill>
                  <a:srgbClr val="3B4A66"/>
                </a:solidFill>
                <a:latin typeface="Arial" pitchFamily="34" charset="0"/>
                <a:ea typeface="Arial" pitchFamily="34" charset="-122"/>
                <a:cs typeface="Arial" pitchFamily="34" charset="-120"/>
              </a:rPr>
              <a:t>Title screen, deck cover, video end card.</a:t>
            </a:r>
            <a:endParaRPr lang="en-US" sz="1050" dirty="0"/>
          </a:p>
        </p:txBody>
      </p:sp>
      <p:sp>
        <p:nvSpPr>
          <p:cNvPr id="5" name="Text 17.4"/>
          <p:cNvSpPr txBox="1"/>
          <p:nvPr/>
        </p:nvSpPr>
        <p:spPr>
          <a:xfrm>
            <a:off x="4317892" y="5029074"/>
            <a:ext cx="1282831"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16233F"/>
                </a:solidFill>
                <a:latin typeface="Arial" pitchFamily="34" charset="0"/>
                <a:ea typeface="Arial" pitchFamily="34" charset="-122"/>
                <a:cs typeface="Arial" pitchFamily="34" charset="-120"/>
              </a:rPr>
              <a:t>DRAFT B · STACKED</a:t>
            </a:r>
            <a:endParaRPr lang="en-US" sz="750" dirty="0"/>
          </a:p>
        </p:txBody>
      </p:sp>
      <p:sp>
        <p:nvSpPr>
          <p:cNvPr id="6" name="Text 17.5"/>
          <p:cNvSpPr txBox="1"/>
          <p:nvPr/>
        </p:nvSpPr>
        <p:spPr>
          <a:xfrm>
            <a:off x="4317892" y="5244969"/>
            <a:ext cx="3594010" cy="186685"/>
          </a:xfrm>
          <a:prstGeom prst="rect">
            <a:avLst/>
          </a:prstGeom>
          <a:noFill/>
          <a:ln/>
        </p:spPr>
        <p:txBody>
          <a:bodyPr wrap="square" lIns="0" tIns="0" rIns="0" bIns="0" rtlCol="0" anchor="t"/>
          <a:lstStyle/>
          <a:p>
            <a:pPr algn="l" indent="0" marL="0">
              <a:lnSpc>
                <a:spcPts val="1470"/>
              </a:lnSpc>
              <a:buNone/>
            </a:pPr>
            <a:r>
              <a:rPr lang="en-US" sz="1050" dirty="0">
                <a:solidFill>
                  <a:srgbClr val="3B4A66"/>
                </a:solidFill>
                <a:latin typeface="Arial" pitchFamily="34" charset="0"/>
                <a:ea typeface="Arial" pitchFamily="34" charset="-122"/>
                <a:cs typeface="Arial" pitchFamily="34" charset="-120"/>
              </a:rPr>
              <a:t>Square formats: store capsule, lobby screen.</a:t>
            </a:r>
            <a:endParaRPr lang="en-US" sz="1050" dirty="0"/>
          </a:p>
        </p:txBody>
      </p:sp>
      <p:sp>
        <p:nvSpPr>
          <p:cNvPr id="7" name="Text 17.6"/>
          <p:cNvSpPr txBox="1"/>
          <p:nvPr/>
        </p:nvSpPr>
        <p:spPr>
          <a:xfrm>
            <a:off x="8026199" y="5029074"/>
            <a:ext cx="1018330"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16233F"/>
                </a:solidFill>
                <a:latin typeface="Arial" pitchFamily="34" charset="0"/>
                <a:ea typeface="Arial" pitchFamily="34" charset="-122"/>
                <a:cs typeface="Arial" pitchFamily="34" charset="-120"/>
              </a:rPr>
              <a:t>DRAFT C · ICON</a:t>
            </a:r>
            <a:endParaRPr lang="en-US" sz="750" dirty="0"/>
          </a:p>
        </p:txBody>
      </p:sp>
      <p:sp>
        <p:nvSpPr>
          <p:cNvPr id="8" name="Text 17.7"/>
          <p:cNvSpPr txBox="1"/>
          <p:nvPr/>
        </p:nvSpPr>
        <p:spPr>
          <a:xfrm>
            <a:off x="8026199" y="5244969"/>
            <a:ext cx="3594010" cy="186685"/>
          </a:xfrm>
          <a:prstGeom prst="rect">
            <a:avLst/>
          </a:prstGeom>
          <a:noFill/>
          <a:ln/>
        </p:spPr>
        <p:txBody>
          <a:bodyPr wrap="square" lIns="0" tIns="0" rIns="0" bIns="0" rtlCol="0" anchor="t"/>
          <a:lstStyle/>
          <a:p>
            <a:pPr algn="l" indent="0" marL="0">
              <a:lnSpc>
                <a:spcPts val="1470"/>
              </a:lnSpc>
              <a:buNone/>
            </a:pPr>
            <a:r>
              <a:rPr lang="en-US" sz="1050" dirty="0">
                <a:solidFill>
                  <a:srgbClr val="3B4A66"/>
                </a:solidFill>
                <a:latin typeface="Arial" pitchFamily="34" charset="0"/>
                <a:ea typeface="Arial" pitchFamily="34" charset="-122"/>
                <a:cs typeface="Arial" pitchFamily="34" charset="-120"/>
              </a:rPr>
              <a:t>Taskbar, build icon, favicon.</a:t>
            </a:r>
            <a:endParaRPr lang="en-US" sz="1050" dirty="0"/>
          </a:p>
        </p:txBody>
      </p:sp>
      <p:sp>
        <p:nvSpPr>
          <p:cNvPr id="9" name="Text 17.8"/>
          <p:cNvSpPr txBox="1"/>
          <p:nvPr/>
        </p:nvSpPr>
        <p:spPr>
          <a:xfrm>
            <a:off x="609585" y="6495888"/>
            <a:ext cx="10832829" cy="133347"/>
          </a:xfrm>
          <a:prstGeom prst="rect">
            <a:avLst/>
          </a:prstGeom>
          <a:noFill/>
          <a:ln/>
        </p:spPr>
        <p:txBody>
          <a:bodyPr wrap="square" lIns="0" tIns="0" rIns="0" bIns="0" rtlCol="0" anchor="t"/>
          <a:lstStyle/>
          <a:p>
            <a:pPr algn="l" indent="0" marL="0">
              <a:lnSpc>
                <a:spcPts val="1050"/>
              </a:lnSpc>
              <a:buNone/>
            </a:pPr>
            <a:r>
              <a:rPr lang="en-US" sz="750" dirty="0">
                <a:solidFill>
                  <a:srgbClr val="6E7D9A"/>
                </a:solidFill>
                <a:latin typeface="Arial" pitchFamily="34" charset="0"/>
                <a:ea typeface="Arial" pitchFamily="34" charset="-122"/>
                <a:cs typeface="Arial" pitchFamily="34" charset="-120"/>
              </a:rPr>
              <a:t>Drafts made for this proposal. The name is a working title; the logo is not final.</a:t>
            </a:r>
            <a:endParaRPr lang="en-US" sz="750" dirty="0"/>
          </a:p>
        </p:txBody>
      </p:sp>
      <p:sp>
        <p:nvSpPr>
          <p:cNvPr id="10" name="Text 17.9"/>
          <p:cNvSpPr txBox="1"/>
          <p:nvPr/>
        </p:nvSpPr>
        <p:spPr>
          <a:xfrm>
            <a:off x="927077" y="355591"/>
            <a:ext cx="1415554" cy="107947"/>
          </a:xfrm>
          <a:prstGeom prst="rect">
            <a:avLst/>
          </a:prstGeom>
          <a:noFill/>
          <a:ln/>
        </p:spPr>
        <p:txBody>
          <a:bodyPr wrap="square" lIns="0" tIns="0" rIns="0" bIns="0" rtlCol="0" anchor="t"/>
          <a:lstStyle/>
          <a:p>
            <a:pPr algn="l" indent="0" marL="0">
              <a:lnSpc>
                <a:spcPts val="850"/>
              </a:lnSpc>
              <a:buNone/>
            </a:pPr>
            <a:r>
              <a:rPr lang="en-US" sz="850" b="1" spc="17" kern="0" dirty="0">
                <a:solidFill>
                  <a:srgbClr val="16233F"/>
                </a:solidFill>
                <a:latin typeface="Arial" pitchFamily="34" charset="0"/>
                <a:ea typeface="Arial" pitchFamily="34" charset="-122"/>
                <a:cs typeface="Arial" pitchFamily="34" charset="-120"/>
              </a:rPr>
              <a:t>05 · Drafts &amp; prototypes</a:t>
            </a:r>
            <a:endParaRPr lang="en-US" sz="850" dirty="0"/>
          </a:p>
        </p:txBody>
      </p:sp>
      <p:sp>
        <p:nvSpPr>
          <p:cNvPr id="11" name="Text 17.10"/>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17</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23</a:t>
            </a:r>
            <a:endParaRPr lang="en-US" sz="100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18.1"/>
          <p:cNvSpPr txBox="1"/>
          <p:nvPr/>
        </p:nvSpPr>
        <p:spPr>
          <a:xfrm>
            <a:off x="609585" y="761981"/>
            <a:ext cx="11371296" cy="384038"/>
          </a:xfrm>
          <a:prstGeom prst="rect">
            <a:avLst/>
          </a:prstGeom>
          <a:noFill/>
          <a:ln/>
        </p:spPr>
        <p:txBody>
          <a:bodyPr wrap="square" lIns="0" tIns="0" rIns="0" bIns="0" rtlCol="0" anchor="t"/>
          <a:lstStyle/>
          <a:p>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Level drafts, top-down: </a:t>
            </a:r>
            <a:pPr algn="l" indent="0" marL="0">
              <a:lnSpc>
                <a:spcPts val="3020"/>
              </a:lnSpc>
              <a:buNone/>
            </a:pPr>
            <a:r>
              <a:rPr lang="en-US" sz="2700" spc="-27" kern="0" dirty="0">
                <a:solidFill>
                  <a:srgbClr val="FF6B1F"/>
                </a:solidFill>
                <a:latin typeface="Arial Rounded MT Bold" pitchFamily="34" charset="0"/>
                <a:ea typeface="Arial Rounded MT Bold" pitchFamily="34" charset="-122"/>
                <a:cs typeface="Arial Rounded MT Bold" pitchFamily="34" charset="-120"/>
              </a:rPr>
              <a:t>arena</a:t>
            </a:r>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 and </a:t>
            </a:r>
            <a:pPr algn="l" indent="0" marL="0">
              <a:lnSpc>
                <a:spcPts val="3020"/>
              </a:lnSpc>
              <a:buNone/>
            </a:pPr>
            <a:r>
              <a:rPr lang="en-US" sz="2700" spc="-27" kern="0" dirty="0">
                <a:solidFill>
                  <a:srgbClr val="1FA9EA"/>
                </a:solidFill>
                <a:latin typeface="Arial Rounded MT Bold" pitchFamily="34" charset="0"/>
                <a:ea typeface="Arial Rounded MT Bold" pitchFamily="34" charset="-122"/>
                <a:cs typeface="Arial Rounded MT Bold" pitchFamily="34" charset="-120"/>
              </a:rPr>
              <a:t>track</a:t>
            </a:r>
            <a:endParaRPr lang="en-US" sz="2700" dirty="0"/>
          </a:p>
        </p:txBody>
      </p:sp>
      <p:sp>
        <p:nvSpPr>
          <p:cNvPr id="3" name="Text 18.2"/>
          <p:cNvSpPr txBox="1"/>
          <p:nvPr/>
        </p:nvSpPr>
        <p:spPr>
          <a:xfrm>
            <a:off x="863578" y="1879553"/>
            <a:ext cx="2105044"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FF6B1F"/>
                </a:solidFill>
                <a:latin typeface="Arial" pitchFamily="34" charset="0"/>
                <a:ea typeface="Arial" pitchFamily="34" charset="-122"/>
                <a:cs typeface="Arial" pitchFamily="34" charset="-120"/>
              </a:rPr>
              <a:t>MASS KNOCKOUT · ARENA DRAFT</a:t>
            </a:r>
            <a:endParaRPr lang="en-US" sz="750" dirty="0"/>
          </a:p>
        </p:txBody>
      </p:sp>
      <p:sp>
        <p:nvSpPr>
          <p:cNvPr id="4" name="Text 18.3"/>
          <p:cNvSpPr txBox="1"/>
          <p:nvPr/>
        </p:nvSpPr>
        <p:spPr>
          <a:xfrm>
            <a:off x="1498563" y="5587860"/>
            <a:ext cx="2793930" cy="99058"/>
          </a:xfrm>
          <a:prstGeom prst="rect">
            <a:avLst/>
          </a:prstGeom>
          <a:noFill/>
          <a:ln/>
        </p:spPr>
        <p:txBody>
          <a:bodyPr wrap="square" lIns="0" tIns="0" rIns="0" bIns="0" rtlCol="0" anchor="t"/>
          <a:lstStyle/>
          <a:p>
            <a:pPr algn="ctr" indent="0" marL="0">
              <a:lnSpc>
                <a:spcPts val="780"/>
              </a:lnSpc>
              <a:buNone/>
            </a:pPr>
            <a:r>
              <a:rPr lang="en-US" sz="650" b="1" spc="78" kern="0" dirty="0">
                <a:solidFill>
                  <a:srgbClr val="FF6B1F"/>
                </a:solidFill>
                <a:latin typeface="Arial" pitchFamily="34" charset="0"/>
                <a:ea typeface="Arial" pitchFamily="34" charset="-122"/>
                <a:cs typeface="Arial" pitchFamily="34" charset="-120"/>
              </a:rPr>
              <a:t>OPEN EDGE = KNOCKOUT LINE</a:t>
            </a:r>
            <a:endParaRPr lang="en-US" sz="650" dirty="0"/>
          </a:p>
        </p:txBody>
      </p:sp>
      <p:sp>
        <p:nvSpPr>
          <p:cNvPr id="5" name="Text 18.4"/>
          <p:cNvSpPr txBox="1"/>
          <p:nvPr/>
        </p:nvSpPr>
        <p:spPr>
          <a:xfrm>
            <a:off x="4584585" y="2489138"/>
            <a:ext cx="1244569" cy="266693"/>
          </a:xfrm>
          <a:prstGeom prst="rect">
            <a:avLst/>
          </a:prstGeom>
          <a:noFill/>
          <a:ln/>
        </p:spPr>
        <p:txBody>
          <a:bodyPr wrap="square" lIns="0" tIns="0" rIns="0" bIns="0" rtlCol="0" anchor="t"/>
          <a:lstStyle/>
          <a:p>
            <a:pPr algn="l" indent="0" marL="0">
              <a:lnSpc>
                <a:spcPts val="1050"/>
              </a:lnSpc>
              <a:buNone/>
            </a:pPr>
            <a:r>
              <a:rPr lang="en-US" sz="750" dirty="0">
                <a:solidFill>
                  <a:srgbClr val="6E7D9A"/>
                </a:solidFill>
                <a:latin typeface="Arial" pitchFamily="34" charset="0"/>
                <a:ea typeface="Arial" pitchFamily="34" charset="-122"/>
                <a:cs typeface="Arial" pitchFamily="34" charset="-120"/>
              </a:rPr>
              <a:t>Fall zone. No walls, no cover.</a:t>
            </a:r>
            <a:endParaRPr lang="en-US" sz="750" dirty="0"/>
          </a:p>
        </p:txBody>
      </p:sp>
      <p:sp>
        <p:nvSpPr>
          <p:cNvPr id="6" name="Text 18.5"/>
          <p:cNvSpPr txBox="1"/>
          <p:nvPr/>
        </p:nvSpPr>
        <p:spPr>
          <a:xfrm>
            <a:off x="4584585" y="3746406"/>
            <a:ext cx="1244569" cy="133347"/>
          </a:xfrm>
          <a:prstGeom prst="rect">
            <a:avLst/>
          </a:prstGeom>
          <a:noFill/>
          <a:ln/>
        </p:spPr>
        <p:txBody>
          <a:bodyPr wrap="square" lIns="0" tIns="0" rIns="0" bIns="0" rtlCol="0" anchor="t"/>
          <a:lstStyle/>
          <a:p>
            <a:pPr algn="l" indent="0" marL="0">
              <a:lnSpc>
                <a:spcPts val="1050"/>
              </a:lnSpc>
              <a:buNone/>
            </a:pPr>
            <a:r>
              <a:rPr lang="en-US" sz="750" dirty="0">
                <a:solidFill>
                  <a:srgbClr val="6E7D9A"/>
                </a:solidFill>
                <a:latin typeface="Arial" pitchFamily="34" charset="0"/>
                <a:ea typeface="Arial" pitchFamily="34" charset="-122"/>
                <a:cs typeface="Arial" pitchFamily="34" charset="-120"/>
              </a:rPr>
              <a:t>One flat square platform.</a:t>
            </a:r>
            <a:endParaRPr lang="en-US" sz="750" dirty="0"/>
          </a:p>
        </p:txBody>
      </p:sp>
      <p:sp>
        <p:nvSpPr>
          <p:cNvPr id="7" name="Text 18.6"/>
          <p:cNvSpPr txBox="1"/>
          <p:nvPr/>
        </p:nvSpPr>
        <p:spPr>
          <a:xfrm>
            <a:off x="4584585" y="4698883"/>
            <a:ext cx="1244569" cy="133347"/>
          </a:xfrm>
          <a:prstGeom prst="rect">
            <a:avLst/>
          </a:prstGeom>
          <a:noFill/>
          <a:ln/>
        </p:spPr>
        <p:txBody>
          <a:bodyPr wrap="square" lIns="0" tIns="0" rIns="0" bIns="0" rtlCol="0" anchor="t"/>
          <a:lstStyle/>
          <a:p>
            <a:pPr algn="l" indent="0" marL="0">
              <a:lnSpc>
                <a:spcPts val="1050"/>
              </a:lnSpc>
              <a:buNone/>
            </a:pPr>
            <a:r>
              <a:rPr lang="en-US" sz="750" dirty="0">
                <a:solidFill>
                  <a:srgbClr val="6E7D9A"/>
                </a:solidFill>
                <a:latin typeface="Arial" pitchFamily="34" charset="0"/>
                <a:ea typeface="Arial" pitchFamily="34" charset="-122"/>
                <a:cs typeface="Arial" pitchFamily="34" charset="-120"/>
              </a:rPr>
              <a:t>Spawn near corners (draft).</a:t>
            </a:r>
            <a:endParaRPr lang="en-US" sz="750" dirty="0"/>
          </a:p>
        </p:txBody>
      </p:sp>
      <p:sp>
        <p:nvSpPr>
          <p:cNvPr id="8" name="Text 18.7"/>
          <p:cNvSpPr txBox="1"/>
          <p:nvPr/>
        </p:nvSpPr>
        <p:spPr>
          <a:xfrm>
            <a:off x="6476838" y="1879553"/>
            <a:ext cx="1625682"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1FA9EA"/>
                </a:solidFill>
                <a:latin typeface="Arial" pitchFamily="34" charset="0"/>
                <a:ea typeface="Arial" pitchFamily="34" charset="-122"/>
                <a:cs typeface="Arial" pitchFamily="34" charset="-120"/>
              </a:rPr>
              <a:t>ICE RACE · TRACK DRAFT</a:t>
            </a:r>
            <a:endParaRPr lang="en-US" sz="750" dirty="0"/>
          </a:p>
        </p:txBody>
      </p:sp>
      <p:sp>
        <p:nvSpPr>
          <p:cNvPr id="9" name="Text 18.8"/>
          <p:cNvSpPr txBox="1"/>
          <p:nvPr/>
        </p:nvSpPr>
        <p:spPr>
          <a:xfrm>
            <a:off x="7429314" y="4279793"/>
            <a:ext cx="855423" cy="99058"/>
          </a:xfrm>
          <a:prstGeom prst="rect">
            <a:avLst/>
          </a:prstGeom>
          <a:noFill/>
          <a:ln/>
        </p:spPr>
        <p:txBody>
          <a:bodyPr wrap="square" lIns="0" tIns="0" rIns="0" bIns="0" rtlCol="0" anchor="t"/>
          <a:lstStyle/>
          <a:p>
            <a:pPr algn="l" indent="0" marL="0">
              <a:lnSpc>
                <a:spcPts val="780"/>
              </a:lnSpc>
              <a:buNone/>
            </a:pPr>
            <a:r>
              <a:rPr lang="en-US" sz="650" b="1" spc="78" kern="0" dirty="0">
                <a:solidFill>
                  <a:srgbClr val="16233F"/>
                </a:solidFill>
                <a:latin typeface="Arial" pitchFamily="34" charset="0"/>
                <a:ea typeface="Arial" pitchFamily="34" charset="-122"/>
                <a:cs typeface="Arial" pitchFamily="34" charset="-120"/>
              </a:rPr>
              <a:t>START / FINISH</a:t>
            </a:r>
            <a:endParaRPr lang="en-US" sz="650" dirty="0"/>
          </a:p>
        </p:txBody>
      </p:sp>
      <p:sp>
        <p:nvSpPr>
          <p:cNvPr id="10" name="Text 18.9"/>
          <p:cNvSpPr txBox="1"/>
          <p:nvPr/>
        </p:nvSpPr>
        <p:spPr>
          <a:xfrm>
            <a:off x="8369091" y="2133547"/>
            <a:ext cx="265318" cy="99058"/>
          </a:xfrm>
          <a:prstGeom prst="rect">
            <a:avLst/>
          </a:prstGeom>
          <a:noFill/>
          <a:ln/>
        </p:spPr>
        <p:txBody>
          <a:bodyPr wrap="square" lIns="0" tIns="0" rIns="0" bIns="0" rtlCol="0" anchor="t"/>
          <a:lstStyle/>
          <a:p>
            <a:pPr algn="l" indent="0" marL="0">
              <a:lnSpc>
                <a:spcPts val="780"/>
              </a:lnSpc>
              <a:buNone/>
            </a:pPr>
            <a:r>
              <a:rPr lang="en-US" sz="650" b="1" spc="78" kern="0" dirty="0">
                <a:solidFill>
                  <a:srgbClr val="1FA9EA"/>
                </a:solidFill>
                <a:latin typeface="Arial" pitchFamily="34" charset="0"/>
                <a:ea typeface="Arial" pitchFamily="34" charset="-122"/>
                <a:cs typeface="Arial" pitchFamily="34" charset="-120"/>
              </a:rPr>
              <a:t>CP1</a:t>
            </a:r>
            <a:endParaRPr lang="en-US" sz="650" dirty="0"/>
          </a:p>
        </p:txBody>
      </p:sp>
      <p:sp>
        <p:nvSpPr>
          <p:cNvPr id="11" name="Text 18.10"/>
          <p:cNvSpPr txBox="1"/>
          <p:nvPr/>
        </p:nvSpPr>
        <p:spPr>
          <a:xfrm>
            <a:off x="8737382" y="3479713"/>
            <a:ext cx="265318" cy="99058"/>
          </a:xfrm>
          <a:prstGeom prst="rect">
            <a:avLst/>
          </a:prstGeom>
          <a:noFill/>
          <a:ln/>
        </p:spPr>
        <p:txBody>
          <a:bodyPr wrap="square" lIns="0" tIns="0" rIns="0" bIns="0" rtlCol="0" anchor="t"/>
          <a:lstStyle/>
          <a:p>
            <a:pPr algn="l" indent="0" marL="0">
              <a:lnSpc>
                <a:spcPts val="780"/>
              </a:lnSpc>
              <a:buNone/>
            </a:pPr>
            <a:r>
              <a:rPr lang="en-US" sz="650" b="1" spc="78" kern="0" dirty="0">
                <a:solidFill>
                  <a:srgbClr val="1FA9EA"/>
                </a:solidFill>
                <a:latin typeface="Arial" pitchFamily="34" charset="0"/>
                <a:ea typeface="Arial" pitchFamily="34" charset="-122"/>
                <a:cs typeface="Arial" pitchFamily="34" charset="-120"/>
              </a:rPr>
              <a:t>CP2</a:t>
            </a:r>
            <a:endParaRPr lang="en-US" sz="650" dirty="0"/>
          </a:p>
        </p:txBody>
      </p:sp>
      <p:sp>
        <p:nvSpPr>
          <p:cNvPr id="12" name="Text 18.11"/>
          <p:cNvSpPr txBox="1"/>
          <p:nvPr/>
        </p:nvSpPr>
        <p:spPr>
          <a:xfrm>
            <a:off x="10959826" y="5029074"/>
            <a:ext cx="265318" cy="99058"/>
          </a:xfrm>
          <a:prstGeom prst="rect">
            <a:avLst/>
          </a:prstGeom>
          <a:noFill/>
          <a:ln/>
        </p:spPr>
        <p:txBody>
          <a:bodyPr wrap="square" lIns="0" tIns="0" rIns="0" bIns="0" rtlCol="0" anchor="t"/>
          <a:lstStyle/>
          <a:p>
            <a:pPr algn="l" indent="0" marL="0">
              <a:lnSpc>
                <a:spcPts val="780"/>
              </a:lnSpc>
              <a:buNone/>
            </a:pPr>
            <a:r>
              <a:rPr lang="en-US" sz="650" b="1" spc="78" kern="0" dirty="0">
                <a:solidFill>
                  <a:srgbClr val="1FA9EA"/>
                </a:solidFill>
                <a:latin typeface="Arial" pitchFamily="34" charset="0"/>
                <a:ea typeface="Arial" pitchFamily="34" charset="-122"/>
                <a:cs typeface="Arial" pitchFamily="34" charset="-120"/>
              </a:rPr>
              <a:t>CP3</a:t>
            </a:r>
            <a:endParaRPr lang="en-US" sz="650" dirty="0"/>
          </a:p>
        </p:txBody>
      </p:sp>
      <p:sp>
        <p:nvSpPr>
          <p:cNvPr id="13" name="Text 18.12"/>
          <p:cNvSpPr txBox="1"/>
          <p:nvPr/>
        </p:nvSpPr>
        <p:spPr>
          <a:xfrm>
            <a:off x="9842254" y="2666933"/>
            <a:ext cx="1562061" cy="266693"/>
          </a:xfrm>
          <a:prstGeom prst="rect">
            <a:avLst/>
          </a:prstGeom>
          <a:noFill/>
          <a:ln/>
        </p:spPr>
        <p:txBody>
          <a:bodyPr wrap="square" lIns="0" tIns="0" rIns="0" bIns="0" rtlCol="0" anchor="t"/>
          <a:lstStyle/>
          <a:p>
            <a:pPr algn="l" indent="0" marL="0">
              <a:lnSpc>
                <a:spcPts val="1050"/>
              </a:lnSpc>
              <a:buNone/>
            </a:pPr>
            <a:r>
              <a:rPr lang="en-US" sz="750" b="1" dirty="0">
                <a:solidFill>
                  <a:srgbClr val="B07D00"/>
                </a:solidFill>
                <a:latin typeface="Arial" pitchFamily="34" charset="0"/>
                <a:ea typeface="Arial" pitchFamily="34" charset="-122"/>
                <a:cs typeface="Arial" pitchFamily="34" charset="-120"/>
              </a:rPr>
              <a:t>Yellow:</a:t>
            </a:r>
            <a:pPr algn="l" indent="0" marL="0">
              <a:lnSpc>
                <a:spcPts val="1050"/>
              </a:lnSpc>
              <a:buNone/>
            </a:pPr>
            <a:r>
              <a:rPr lang="en-US" sz="750" dirty="0">
                <a:solidFill>
                  <a:srgbClr val="6E7D9A"/>
                </a:solidFill>
                <a:latin typeface="Arial" pitchFamily="34" charset="0"/>
                <a:ea typeface="Arial" pitchFamily="34" charset="-122"/>
                <a:cs typeface="Arial" pitchFamily="34" charset="-120"/>
              </a:rPr>
              <a:t> low-grip corners. Set up early or slide off.</a:t>
            </a:r>
            <a:endParaRPr lang="en-US" sz="750" dirty="0"/>
          </a:p>
        </p:txBody>
      </p:sp>
      <p:sp>
        <p:nvSpPr>
          <p:cNvPr id="14" name="Text 18.13"/>
          <p:cNvSpPr txBox="1"/>
          <p:nvPr/>
        </p:nvSpPr>
        <p:spPr>
          <a:xfrm>
            <a:off x="9842254" y="3555911"/>
            <a:ext cx="1562061" cy="266693"/>
          </a:xfrm>
          <a:prstGeom prst="rect">
            <a:avLst/>
          </a:prstGeom>
          <a:noFill/>
          <a:ln/>
        </p:spPr>
        <p:txBody>
          <a:bodyPr wrap="square" lIns="0" tIns="0" rIns="0" bIns="0" rtlCol="0" anchor="t"/>
          <a:lstStyle/>
          <a:p>
            <a:pPr algn="l" indent="0" marL="0">
              <a:lnSpc>
                <a:spcPts val="1050"/>
              </a:lnSpc>
              <a:buNone/>
            </a:pPr>
            <a:r>
              <a:rPr lang="en-US" sz="750" dirty="0">
                <a:solidFill>
                  <a:srgbClr val="6E7D9A"/>
                </a:solidFill>
                <a:latin typeface="Arial" pitchFamily="34" charset="0"/>
                <a:ea typeface="Arial" pitchFamily="34" charset="-122"/>
                <a:cs typeface="Arial" pitchFamily="34" charset="-120"/>
              </a:rPr>
              <a:t>Open edges. A fall respawns you at the last checkpoint.</a:t>
            </a:r>
            <a:endParaRPr lang="en-US" sz="750" dirty="0"/>
          </a:p>
        </p:txBody>
      </p:sp>
      <p:sp>
        <p:nvSpPr>
          <p:cNvPr id="15" name="Text 18.14"/>
          <p:cNvSpPr txBox="1"/>
          <p:nvPr/>
        </p:nvSpPr>
        <p:spPr>
          <a:xfrm>
            <a:off x="609585" y="6495888"/>
            <a:ext cx="10832829" cy="133347"/>
          </a:xfrm>
          <a:prstGeom prst="rect">
            <a:avLst/>
          </a:prstGeom>
          <a:noFill/>
          <a:ln/>
        </p:spPr>
        <p:txBody>
          <a:bodyPr wrap="square" lIns="0" tIns="0" rIns="0" bIns="0" rtlCol="0" anchor="t"/>
          <a:lstStyle/>
          <a:p>
            <a:pPr algn="l" indent="0" marL="0">
              <a:lnSpc>
                <a:spcPts val="1050"/>
              </a:lnSpc>
              <a:buNone/>
            </a:pPr>
            <a:r>
              <a:rPr lang="en-US" sz="750" dirty="0">
                <a:solidFill>
                  <a:srgbClr val="6E7D9A"/>
                </a:solidFill>
                <a:latin typeface="Arial" pitchFamily="34" charset="0"/>
                <a:ea typeface="Arial" pitchFamily="34" charset="-122"/>
                <a:cs typeface="Arial" pitchFamily="34" charset="-120"/>
              </a:rPr>
              <a:t>Draft layouts for scope and blockout. Dimensions, spawn points and checkpoint count are not set.</a:t>
            </a:r>
            <a:endParaRPr lang="en-US" sz="750" dirty="0"/>
          </a:p>
        </p:txBody>
      </p:sp>
      <p:sp>
        <p:nvSpPr>
          <p:cNvPr id="16" name="Text 18.15"/>
          <p:cNvSpPr txBox="1"/>
          <p:nvPr/>
        </p:nvSpPr>
        <p:spPr>
          <a:xfrm>
            <a:off x="927077" y="355591"/>
            <a:ext cx="1415554" cy="107947"/>
          </a:xfrm>
          <a:prstGeom prst="rect">
            <a:avLst/>
          </a:prstGeom>
          <a:noFill/>
          <a:ln/>
        </p:spPr>
        <p:txBody>
          <a:bodyPr wrap="square" lIns="0" tIns="0" rIns="0" bIns="0" rtlCol="0" anchor="t"/>
          <a:lstStyle/>
          <a:p>
            <a:pPr algn="l" indent="0" marL="0">
              <a:lnSpc>
                <a:spcPts val="850"/>
              </a:lnSpc>
              <a:buNone/>
            </a:pPr>
            <a:r>
              <a:rPr lang="en-US" sz="850" b="1" spc="17" kern="0" dirty="0">
                <a:solidFill>
                  <a:srgbClr val="16233F"/>
                </a:solidFill>
                <a:latin typeface="Arial" pitchFamily="34" charset="0"/>
                <a:ea typeface="Arial" pitchFamily="34" charset="-122"/>
                <a:cs typeface="Arial" pitchFamily="34" charset="-120"/>
              </a:rPr>
              <a:t>05 · Drafts &amp; prototypes</a:t>
            </a:r>
            <a:endParaRPr lang="en-US" sz="850" dirty="0"/>
          </a:p>
        </p:txBody>
      </p:sp>
      <p:sp>
        <p:nvSpPr>
          <p:cNvPr id="17" name="Text 18.16"/>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18</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23</a:t>
            </a:r>
            <a:endParaRPr lang="en-US" sz="100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19.1"/>
          <p:cNvSpPr txBox="1"/>
          <p:nvPr/>
        </p:nvSpPr>
        <p:spPr>
          <a:xfrm>
            <a:off x="609585" y="761981"/>
            <a:ext cx="11371296" cy="384038"/>
          </a:xfrm>
          <a:prstGeom prst="rect">
            <a:avLst/>
          </a:prstGeom>
          <a:noFill/>
          <a:ln/>
        </p:spPr>
        <p:txBody>
          <a:bodyPr wrap="square" lIns="0" tIns="0" rIns="0" bIns="0" rtlCol="0" anchor="t"/>
          <a:lstStyle/>
          <a:p>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Roadmap: four presentations, </a:t>
            </a:r>
            <a:pPr algn="l" indent="0" marL="0">
              <a:lnSpc>
                <a:spcPts val="3020"/>
              </a:lnSpc>
              <a:buNone/>
            </a:pPr>
            <a:r>
              <a:rPr lang="en-US" sz="2700" spc="-27" kern="0" dirty="0">
                <a:solidFill>
                  <a:srgbClr val="1FA9EA"/>
                </a:solidFill>
                <a:latin typeface="Arial Rounded MT Bold" pitchFamily="34" charset="0"/>
                <a:ea typeface="Arial Rounded MT Bold" pitchFamily="34" charset="-122"/>
                <a:cs typeface="Arial Rounded MT Bold" pitchFamily="34" charset="-120"/>
              </a:rPr>
              <a:t>one playable step each</a:t>
            </a:r>
            <a:endParaRPr lang="en-US" sz="2700" dirty="0"/>
          </a:p>
        </p:txBody>
      </p:sp>
      <p:sp>
        <p:nvSpPr>
          <p:cNvPr id="3" name="Text 19.2"/>
          <p:cNvSpPr txBox="1"/>
          <p:nvPr/>
        </p:nvSpPr>
        <p:spPr>
          <a:xfrm>
            <a:off x="609585" y="1498563"/>
            <a:ext cx="2141643" cy="99058"/>
          </a:xfrm>
          <a:prstGeom prst="rect">
            <a:avLst/>
          </a:prstGeom>
          <a:noFill/>
          <a:ln/>
        </p:spPr>
        <p:txBody>
          <a:bodyPr wrap="square" lIns="0" tIns="0" rIns="0" bIns="0" rtlCol="0" anchor="t"/>
          <a:lstStyle/>
          <a:p>
            <a:pPr algn="l" indent="0" marL="0">
              <a:lnSpc>
                <a:spcPts val="780"/>
              </a:lnSpc>
              <a:buNone/>
            </a:pPr>
            <a:r>
              <a:rPr lang="en-US" sz="650" b="1" spc="78" kern="0" dirty="0">
                <a:solidFill>
                  <a:srgbClr val="6E7D9A"/>
                </a:solidFill>
                <a:latin typeface="Arial" pitchFamily="34" charset="0"/>
                <a:ea typeface="Arial" pitchFamily="34" charset="-122"/>
                <a:cs typeface="Arial" pitchFamily="34" charset="-120"/>
              </a:rPr>
              <a:t>COURSE CHECKPOINTS · ALL MONDAYS</a:t>
            </a:r>
            <a:endParaRPr lang="en-US" sz="650" dirty="0"/>
          </a:p>
        </p:txBody>
      </p:sp>
      <p:sp>
        <p:nvSpPr>
          <p:cNvPr id="4" name="Text 19.3"/>
          <p:cNvSpPr txBox="1"/>
          <p:nvPr/>
        </p:nvSpPr>
        <p:spPr>
          <a:xfrm>
            <a:off x="787380" y="2362141"/>
            <a:ext cx="876562" cy="241294"/>
          </a:xfrm>
          <a:prstGeom prst="rect">
            <a:avLst/>
          </a:prstGeom>
          <a:noFill/>
          <a:ln/>
        </p:spPr>
        <p:txBody>
          <a:bodyPr wrap="square" lIns="0" tIns="0" rIns="0" bIns="0" rtlCol="0" anchor="t"/>
          <a:lstStyle/>
          <a:p>
            <a:pPr algn="l" indent="0" marL="0">
              <a:lnSpc>
                <a:spcPts val="1900"/>
              </a:lnSpc>
              <a:buNone/>
            </a:pPr>
            <a:r>
              <a:rPr lang="en-US" sz="1900" dirty="0">
                <a:solidFill>
                  <a:srgbClr val="43B832"/>
                </a:solidFill>
                <a:latin typeface="Arial Rounded MT Bold" pitchFamily="34" charset="0"/>
                <a:ea typeface="Arial Rounded MT Bold" pitchFamily="34" charset="-122"/>
                <a:cs typeface="Arial Rounded MT Bold" pitchFamily="34" charset="-120"/>
              </a:rPr>
              <a:t>19 Oct</a:t>
            </a:r>
            <a:endParaRPr lang="en-US" sz="1900" dirty="0"/>
          </a:p>
        </p:txBody>
      </p:sp>
      <p:sp>
        <p:nvSpPr>
          <p:cNvPr id="5" name="Text 19.4"/>
          <p:cNvSpPr txBox="1"/>
          <p:nvPr/>
        </p:nvSpPr>
        <p:spPr>
          <a:xfrm>
            <a:off x="787380" y="2679633"/>
            <a:ext cx="817352" cy="189860"/>
          </a:xfrm>
          <a:prstGeom prst="rect">
            <a:avLst/>
          </a:prstGeom>
          <a:noFill/>
          <a:ln/>
        </p:spPr>
        <p:txBody>
          <a:bodyPr wrap="square" lIns="0" tIns="0" rIns="0" bIns="0" rtlCol="0" anchor="t"/>
          <a:lstStyle/>
          <a:p>
            <a:pPr algn="l" indent="0" marL="0">
              <a:lnSpc>
                <a:spcPts val="1490"/>
              </a:lnSpc>
              <a:buNone/>
            </a:pPr>
            <a:r>
              <a:rPr lang="en-US" sz="1300" dirty="0">
                <a:solidFill>
                  <a:srgbClr val="16233F"/>
                </a:solidFill>
                <a:latin typeface="Arial Rounded MT Bold" pitchFamily="34" charset="0"/>
                <a:ea typeface="Arial Rounded MT Bold" pitchFamily="34" charset="-122"/>
                <a:cs typeface="Arial Rounded MT Bold" pitchFamily="34" charset="-120"/>
              </a:rPr>
              <a:t>Proposal</a:t>
            </a:r>
            <a:endParaRPr lang="en-US" sz="1300" dirty="0"/>
          </a:p>
        </p:txBody>
      </p:sp>
      <p:sp>
        <p:nvSpPr>
          <p:cNvPr id="6" name="Text 19.5"/>
          <p:cNvSpPr txBox="1"/>
          <p:nvPr/>
        </p:nvSpPr>
        <p:spPr>
          <a:xfrm>
            <a:off x="787380" y="2946326"/>
            <a:ext cx="2311342" cy="337732"/>
          </a:xfrm>
          <a:prstGeom prst="rect">
            <a:avLst/>
          </a:prstGeom>
          <a:noFill/>
          <a:ln/>
        </p:spPr>
        <p:txBody>
          <a:bodyPr wrap="square" lIns="0" tIns="0" rIns="0" bIns="0" rtlCol="0" anchor="t"/>
          <a:lstStyle/>
          <a:p>
            <a:pPr algn="l" indent="0" marL="0">
              <a:lnSpc>
                <a:spcPts val="1330"/>
              </a:lnSpc>
              <a:buNone/>
            </a:pPr>
            <a:r>
              <a:rPr lang="en-US" sz="950" dirty="0">
                <a:solidFill>
                  <a:srgbClr val="3B4A66"/>
                </a:solidFill>
                <a:latin typeface="Arial" pitchFamily="34" charset="0"/>
                <a:ea typeface="Arial" pitchFamily="34" charset="-122"/>
                <a:cs typeface="Arial" pitchFamily="34" charset="-120"/>
              </a:rPr>
              <a:t>Concept, research, prototype and drafts. This deck.</a:t>
            </a:r>
            <a:endParaRPr lang="en-US" sz="950" dirty="0"/>
          </a:p>
        </p:txBody>
      </p:sp>
      <p:sp>
        <p:nvSpPr>
          <p:cNvPr id="7" name="Text 19.6"/>
          <p:cNvSpPr txBox="1"/>
          <p:nvPr/>
        </p:nvSpPr>
        <p:spPr>
          <a:xfrm>
            <a:off x="2451039" y="2387540"/>
            <a:ext cx="609585" cy="203195"/>
          </a:xfrm>
          <a:prstGeom prst="rect">
            <a:avLst/>
          </a:prstGeom>
          <a:noFill/>
          <a:ln/>
        </p:spPr>
        <p:txBody>
          <a:bodyPr wrap="square" lIns="0" tIns="0" rIns="0" bIns="0" rtlCol="0" anchor="ctr"/>
          <a:lstStyle/>
          <a:p>
            <a:pPr algn="ctr" indent="0" marL="0">
              <a:lnSpc>
                <a:spcPts val="650"/>
              </a:lnSpc>
              <a:buNone/>
            </a:pPr>
            <a:r>
              <a:rPr lang="en-US" sz="650" b="1" spc="52" kern="0" dirty="0">
                <a:solidFill>
                  <a:srgbClr val="FFFFFF"/>
                </a:solidFill>
                <a:latin typeface="Arial" pitchFamily="34" charset="0"/>
                <a:ea typeface="Arial" pitchFamily="34" charset="-122"/>
                <a:cs typeface="Arial" pitchFamily="34" charset="-120"/>
              </a:rPr>
              <a:t>DONE</a:t>
            </a:r>
            <a:endParaRPr lang="en-US" sz="650" dirty="0"/>
          </a:p>
        </p:txBody>
      </p:sp>
      <p:sp>
        <p:nvSpPr>
          <p:cNvPr id="8" name="Text 19.7"/>
          <p:cNvSpPr txBox="1"/>
          <p:nvPr/>
        </p:nvSpPr>
        <p:spPr>
          <a:xfrm>
            <a:off x="3568611" y="2362141"/>
            <a:ext cx="915580" cy="241294"/>
          </a:xfrm>
          <a:prstGeom prst="rect">
            <a:avLst/>
          </a:prstGeom>
          <a:noFill/>
          <a:ln/>
        </p:spPr>
        <p:txBody>
          <a:bodyPr wrap="square" lIns="0" tIns="0" rIns="0" bIns="0" rtlCol="0" anchor="t"/>
          <a:lstStyle/>
          <a:p>
            <a:pPr algn="l" indent="0" marL="0">
              <a:lnSpc>
                <a:spcPts val="1900"/>
              </a:lnSpc>
              <a:buNone/>
            </a:pPr>
            <a:r>
              <a:rPr lang="en-US" sz="1900" dirty="0">
                <a:solidFill>
                  <a:srgbClr val="1FA9EA"/>
                </a:solidFill>
                <a:latin typeface="Arial Rounded MT Bold" pitchFamily="34" charset="0"/>
                <a:ea typeface="Arial Rounded MT Bold" pitchFamily="34" charset="-122"/>
                <a:cs typeface="Arial Rounded MT Bold" pitchFamily="34" charset="-120"/>
              </a:rPr>
              <a:t>16 Nov</a:t>
            </a:r>
            <a:endParaRPr lang="en-US" sz="1900" dirty="0"/>
          </a:p>
        </p:txBody>
      </p:sp>
      <p:sp>
        <p:nvSpPr>
          <p:cNvPr id="9" name="Text 19.8"/>
          <p:cNvSpPr txBox="1"/>
          <p:nvPr/>
        </p:nvSpPr>
        <p:spPr>
          <a:xfrm>
            <a:off x="3568611" y="2679633"/>
            <a:ext cx="705346" cy="189860"/>
          </a:xfrm>
          <a:prstGeom prst="rect">
            <a:avLst/>
          </a:prstGeom>
          <a:noFill/>
          <a:ln/>
        </p:spPr>
        <p:txBody>
          <a:bodyPr wrap="square" lIns="0" tIns="0" rIns="0" bIns="0" rtlCol="0" anchor="t"/>
          <a:lstStyle/>
          <a:p>
            <a:pPr algn="l" indent="0" marL="0">
              <a:lnSpc>
                <a:spcPts val="1490"/>
              </a:lnSpc>
              <a:buNone/>
            </a:pPr>
            <a:r>
              <a:rPr lang="en-US" sz="1300" dirty="0">
                <a:solidFill>
                  <a:srgbClr val="16233F"/>
                </a:solidFill>
                <a:latin typeface="Arial Rounded MT Bold" pitchFamily="34" charset="0"/>
                <a:ea typeface="Arial Rounded MT Bold" pitchFamily="34" charset="-122"/>
                <a:cs typeface="Arial Rounded MT Bold" pitchFamily="34" charset="-120"/>
              </a:rPr>
              <a:t>Demo 1</a:t>
            </a:r>
            <a:endParaRPr lang="en-US" sz="1300" dirty="0"/>
          </a:p>
        </p:txBody>
      </p:sp>
      <p:sp>
        <p:nvSpPr>
          <p:cNvPr id="10" name="Text 19.9"/>
          <p:cNvSpPr txBox="1"/>
          <p:nvPr/>
        </p:nvSpPr>
        <p:spPr>
          <a:xfrm>
            <a:off x="3568611" y="2946326"/>
            <a:ext cx="2311342" cy="337732"/>
          </a:xfrm>
          <a:prstGeom prst="rect">
            <a:avLst/>
          </a:prstGeom>
          <a:noFill/>
          <a:ln/>
        </p:spPr>
        <p:txBody>
          <a:bodyPr wrap="square" lIns="0" tIns="0" rIns="0" bIns="0" rtlCol="0" anchor="t"/>
          <a:lstStyle/>
          <a:p>
            <a:pPr algn="l" indent="0" marL="0">
              <a:lnSpc>
                <a:spcPts val="1330"/>
              </a:lnSpc>
              <a:buNone/>
            </a:pPr>
            <a:r>
              <a:rPr lang="en-US" sz="950" dirty="0">
                <a:solidFill>
                  <a:srgbClr val="3B4A66"/>
                </a:solidFill>
                <a:latin typeface="Arial" pitchFamily="34" charset="0"/>
                <a:ea typeface="Arial" pitchFamily="34" charset="-122"/>
                <a:cs typeface="Arial" pitchFamily="34" charset="-120"/>
              </a:rPr>
              <a:t>Shared core and LAN host/join. Ice Race playable as a blockout.</a:t>
            </a:r>
            <a:endParaRPr lang="en-US" sz="950" dirty="0"/>
          </a:p>
        </p:txBody>
      </p:sp>
      <p:sp>
        <p:nvSpPr>
          <p:cNvPr id="11" name="Text 19.10"/>
          <p:cNvSpPr txBox="1"/>
          <p:nvPr/>
        </p:nvSpPr>
        <p:spPr>
          <a:xfrm>
            <a:off x="6349841" y="2362141"/>
            <a:ext cx="924729" cy="241294"/>
          </a:xfrm>
          <a:prstGeom prst="rect">
            <a:avLst/>
          </a:prstGeom>
          <a:noFill/>
          <a:ln/>
        </p:spPr>
        <p:txBody>
          <a:bodyPr wrap="square" lIns="0" tIns="0" rIns="0" bIns="0" rtlCol="0" anchor="t"/>
          <a:lstStyle/>
          <a:p>
            <a:pPr algn="l" indent="0" marL="0">
              <a:lnSpc>
                <a:spcPts val="1900"/>
              </a:lnSpc>
              <a:buNone/>
            </a:pPr>
            <a:r>
              <a:rPr lang="en-US" sz="1900" dirty="0">
                <a:solidFill>
                  <a:srgbClr val="FF6B1F"/>
                </a:solidFill>
                <a:latin typeface="Arial Rounded MT Bold" pitchFamily="34" charset="0"/>
                <a:ea typeface="Arial Rounded MT Bold" pitchFamily="34" charset="-122"/>
                <a:cs typeface="Arial Rounded MT Bold" pitchFamily="34" charset="-120"/>
              </a:rPr>
              <a:t>14 Dec</a:t>
            </a:r>
            <a:endParaRPr lang="en-US" sz="1900" dirty="0"/>
          </a:p>
        </p:txBody>
      </p:sp>
      <p:sp>
        <p:nvSpPr>
          <p:cNvPr id="12" name="Text 19.11"/>
          <p:cNvSpPr txBox="1"/>
          <p:nvPr/>
        </p:nvSpPr>
        <p:spPr>
          <a:xfrm>
            <a:off x="6349841" y="2679633"/>
            <a:ext cx="705346" cy="189860"/>
          </a:xfrm>
          <a:prstGeom prst="rect">
            <a:avLst/>
          </a:prstGeom>
          <a:noFill/>
          <a:ln/>
        </p:spPr>
        <p:txBody>
          <a:bodyPr wrap="square" lIns="0" tIns="0" rIns="0" bIns="0" rtlCol="0" anchor="t"/>
          <a:lstStyle/>
          <a:p>
            <a:pPr algn="l" indent="0" marL="0">
              <a:lnSpc>
                <a:spcPts val="1490"/>
              </a:lnSpc>
              <a:buNone/>
            </a:pPr>
            <a:r>
              <a:rPr lang="en-US" sz="1300" dirty="0">
                <a:solidFill>
                  <a:srgbClr val="16233F"/>
                </a:solidFill>
                <a:latin typeface="Arial Rounded MT Bold" pitchFamily="34" charset="0"/>
                <a:ea typeface="Arial Rounded MT Bold" pitchFamily="34" charset="-122"/>
                <a:cs typeface="Arial Rounded MT Bold" pitchFamily="34" charset="-120"/>
              </a:rPr>
              <a:t>Demo 2</a:t>
            </a:r>
            <a:endParaRPr lang="en-US" sz="1300" dirty="0"/>
          </a:p>
        </p:txBody>
      </p:sp>
      <p:sp>
        <p:nvSpPr>
          <p:cNvPr id="13" name="Text 19.12"/>
          <p:cNvSpPr txBox="1"/>
          <p:nvPr/>
        </p:nvSpPr>
        <p:spPr>
          <a:xfrm>
            <a:off x="6349841" y="2946326"/>
            <a:ext cx="2311342" cy="337732"/>
          </a:xfrm>
          <a:prstGeom prst="rect">
            <a:avLst/>
          </a:prstGeom>
          <a:noFill/>
          <a:ln/>
        </p:spPr>
        <p:txBody>
          <a:bodyPr wrap="square" lIns="0" tIns="0" rIns="0" bIns="0" rtlCol="0" anchor="t"/>
          <a:lstStyle/>
          <a:p>
            <a:pPr algn="l" indent="0" marL="0">
              <a:lnSpc>
                <a:spcPts val="1330"/>
              </a:lnSpc>
              <a:buNone/>
            </a:pPr>
            <a:r>
              <a:rPr lang="en-US" sz="950" dirty="0">
                <a:solidFill>
                  <a:srgbClr val="3B4A66"/>
                </a:solidFill>
                <a:latin typeface="Arial" pitchFamily="34" charset="0"/>
                <a:ea typeface="Arial" pitchFamily="34" charset="-122"/>
                <a:cs typeface="Arial" pitchFamily="34" charset="-120"/>
              </a:rPr>
              <a:t>Mass Knockout over LAN. A full session with rounds and the scoreboard.</a:t>
            </a:r>
            <a:endParaRPr lang="en-US" sz="950" dirty="0"/>
          </a:p>
        </p:txBody>
      </p:sp>
      <p:sp>
        <p:nvSpPr>
          <p:cNvPr id="14" name="Text 19.13"/>
          <p:cNvSpPr txBox="1"/>
          <p:nvPr/>
        </p:nvSpPr>
        <p:spPr>
          <a:xfrm>
            <a:off x="9131072" y="2362141"/>
            <a:ext cx="884555" cy="241294"/>
          </a:xfrm>
          <a:prstGeom prst="rect">
            <a:avLst/>
          </a:prstGeom>
          <a:noFill/>
          <a:ln/>
        </p:spPr>
        <p:txBody>
          <a:bodyPr wrap="square" lIns="0" tIns="0" rIns="0" bIns="0" rtlCol="0" anchor="t"/>
          <a:lstStyle/>
          <a:p>
            <a:pPr algn="l" indent="0" marL="0">
              <a:lnSpc>
                <a:spcPts val="1900"/>
              </a:lnSpc>
              <a:buNone/>
            </a:pPr>
            <a:r>
              <a:rPr lang="en-US" sz="1900" dirty="0">
                <a:solidFill>
                  <a:srgbClr val="8F55F5"/>
                </a:solidFill>
                <a:latin typeface="Arial Rounded MT Bold" pitchFamily="34" charset="0"/>
                <a:ea typeface="Arial Rounded MT Bold" pitchFamily="34" charset="-122"/>
                <a:cs typeface="Arial Rounded MT Bold" pitchFamily="34" charset="-120"/>
              </a:rPr>
              <a:t>11 Jan</a:t>
            </a:r>
            <a:endParaRPr lang="en-US" sz="1900" dirty="0"/>
          </a:p>
        </p:txBody>
      </p:sp>
      <p:sp>
        <p:nvSpPr>
          <p:cNvPr id="15" name="Text 19.14"/>
          <p:cNvSpPr txBox="1"/>
          <p:nvPr/>
        </p:nvSpPr>
        <p:spPr>
          <a:xfrm>
            <a:off x="9131072" y="2679633"/>
            <a:ext cx="471450" cy="189860"/>
          </a:xfrm>
          <a:prstGeom prst="rect">
            <a:avLst/>
          </a:prstGeom>
          <a:noFill/>
          <a:ln/>
        </p:spPr>
        <p:txBody>
          <a:bodyPr wrap="square" lIns="0" tIns="0" rIns="0" bIns="0" rtlCol="0" anchor="t"/>
          <a:lstStyle/>
          <a:p>
            <a:pPr algn="l" indent="0" marL="0">
              <a:lnSpc>
                <a:spcPts val="1490"/>
              </a:lnSpc>
              <a:buNone/>
            </a:pPr>
            <a:r>
              <a:rPr lang="en-US" sz="1300" dirty="0">
                <a:solidFill>
                  <a:srgbClr val="16233F"/>
                </a:solidFill>
                <a:latin typeface="Arial Rounded MT Bold" pitchFamily="34" charset="0"/>
                <a:ea typeface="Arial Rounded MT Bold" pitchFamily="34" charset="-122"/>
                <a:cs typeface="Arial Rounded MT Bold" pitchFamily="34" charset="-120"/>
              </a:rPr>
              <a:t>Final</a:t>
            </a:r>
            <a:endParaRPr lang="en-US" sz="1300" dirty="0"/>
          </a:p>
        </p:txBody>
      </p:sp>
      <p:sp>
        <p:nvSpPr>
          <p:cNvPr id="16" name="Text 19.15"/>
          <p:cNvSpPr txBox="1"/>
          <p:nvPr/>
        </p:nvSpPr>
        <p:spPr>
          <a:xfrm>
            <a:off x="9131072" y="2946326"/>
            <a:ext cx="2311342" cy="337732"/>
          </a:xfrm>
          <a:prstGeom prst="rect">
            <a:avLst/>
          </a:prstGeom>
          <a:noFill/>
          <a:ln/>
        </p:spPr>
        <p:txBody>
          <a:bodyPr wrap="square" lIns="0" tIns="0" rIns="0" bIns="0" rtlCol="0" anchor="t"/>
          <a:lstStyle/>
          <a:p>
            <a:pPr algn="l" indent="0" marL="0">
              <a:lnSpc>
                <a:spcPts val="1330"/>
              </a:lnSpc>
              <a:buNone/>
            </a:pPr>
            <a:r>
              <a:rPr lang="en-US" sz="950" dirty="0">
                <a:solidFill>
                  <a:srgbClr val="3B4A66"/>
                </a:solidFill>
                <a:latin typeface="Arial" pitchFamily="34" charset="0"/>
                <a:ea typeface="Arial" pitchFamily="34" charset="-122"/>
                <a:cs typeface="Arial" pitchFamily="34" charset="-120"/>
              </a:rPr>
              <a:t>Tuned, polished build. Promo video. Date subject to change.</a:t>
            </a:r>
            <a:endParaRPr lang="en-US" sz="950" dirty="0"/>
          </a:p>
        </p:txBody>
      </p:sp>
      <p:sp>
        <p:nvSpPr>
          <p:cNvPr id="17" name="Text 19.16"/>
          <p:cNvSpPr txBox="1"/>
          <p:nvPr/>
        </p:nvSpPr>
        <p:spPr>
          <a:xfrm>
            <a:off x="609585" y="4063898"/>
            <a:ext cx="1135068" cy="99058"/>
          </a:xfrm>
          <a:prstGeom prst="rect">
            <a:avLst/>
          </a:prstGeom>
          <a:noFill/>
          <a:ln/>
        </p:spPr>
        <p:txBody>
          <a:bodyPr wrap="square" lIns="0" tIns="0" rIns="0" bIns="0" rtlCol="0" anchor="t"/>
          <a:lstStyle/>
          <a:p>
            <a:pPr algn="l" indent="0" marL="0">
              <a:lnSpc>
                <a:spcPts val="780"/>
              </a:lnSpc>
              <a:buNone/>
            </a:pPr>
            <a:r>
              <a:rPr lang="en-US" sz="650" b="1" spc="78" kern="0" dirty="0">
                <a:solidFill>
                  <a:srgbClr val="16233F"/>
                </a:solidFill>
                <a:latin typeface="Arial" pitchFamily="34" charset="0"/>
                <a:ea typeface="Arial" pitchFamily="34" charset="-122"/>
                <a:cs typeface="Arial" pitchFamily="34" charset="-120"/>
              </a:rPr>
              <a:t>PROPOSED OWNERS</a:t>
            </a:r>
            <a:endParaRPr lang="en-US" sz="650" dirty="0"/>
          </a:p>
        </p:txBody>
      </p:sp>
      <p:sp>
        <p:nvSpPr>
          <p:cNvPr id="18" name="Text 19.17"/>
          <p:cNvSpPr txBox="1"/>
          <p:nvPr/>
        </p:nvSpPr>
        <p:spPr>
          <a:xfrm>
            <a:off x="2412940" y="3987700"/>
            <a:ext cx="306019" cy="137157"/>
          </a:xfrm>
          <a:prstGeom prst="rect">
            <a:avLst/>
          </a:prstGeom>
          <a:noFill/>
          <a:ln/>
        </p:spPr>
        <p:txBody>
          <a:bodyPr wrap="square" lIns="0" tIns="0" rIns="0" bIns="0" rtlCol="0" anchor="t"/>
          <a:lstStyle/>
          <a:p>
            <a:pPr algn="l" indent="0" marL="0">
              <a:lnSpc>
                <a:spcPts val="1080"/>
              </a:lnSpc>
              <a:buNone/>
            </a:pPr>
            <a:r>
              <a:rPr lang="en-US" sz="900" b="1" dirty="0">
                <a:solidFill>
                  <a:srgbClr val="16233F"/>
                </a:solidFill>
                <a:latin typeface="Arial" pitchFamily="34" charset="0"/>
                <a:ea typeface="Arial" pitchFamily="34" charset="-122"/>
                <a:cs typeface="Arial" pitchFamily="34" charset="-120"/>
              </a:rPr>
              <a:t>Ezel</a:t>
            </a:r>
            <a:endParaRPr lang="en-US" sz="900" dirty="0"/>
          </a:p>
        </p:txBody>
      </p:sp>
      <p:sp>
        <p:nvSpPr>
          <p:cNvPr id="19" name="Text 19.18"/>
          <p:cNvSpPr txBox="1"/>
          <p:nvPr/>
        </p:nvSpPr>
        <p:spPr>
          <a:xfrm>
            <a:off x="2412940" y="4140096"/>
            <a:ext cx="703243" cy="133347"/>
          </a:xfrm>
          <a:prstGeom prst="rect">
            <a:avLst/>
          </a:prstGeom>
          <a:noFill/>
          <a:ln/>
        </p:spPr>
        <p:txBody>
          <a:bodyPr wrap="square" lIns="0" tIns="0" rIns="0" bIns="0" rtlCol="0" anchor="t"/>
          <a:lstStyle/>
          <a:p>
            <a:pPr algn="l" indent="0" marL="0">
              <a:lnSpc>
                <a:spcPts val="1050"/>
              </a:lnSpc>
              <a:buNone/>
            </a:pPr>
            <a:r>
              <a:rPr lang="en-US" sz="750" dirty="0">
                <a:solidFill>
                  <a:srgbClr val="6E7D9A"/>
                </a:solidFill>
                <a:latin typeface="Arial" pitchFamily="34" charset="0"/>
                <a:ea typeface="Arial" pitchFamily="34" charset="-122"/>
                <a:cs typeface="Arial" pitchFamily="34" charset="-120"/>
              </a:rPr>
              <a:t>Network, build</a:t>
            </a:r>
            <a:endParaRPr lang="en-US" sz="750" dirty="0"/>
          </a:p>
        </p:txBody>
      </p:sp>
      <p:sp>
        <p:nvSpPr>
          <p:cNvPr id="20" name="Text 19.19"/>
          <p:cNvSpPr txBox="1"/>
          <p:nvPr/>
        </p:nvSpPr>
        <p:spPr>
          <a:xfrm>
            <a:off x="4787780" y="3987700"/>
            <a:ext cx="750148" cy="137157"/>
          </a:xfrm>
          <a:prstGeom prst="rect">
            <a:avLst/>
          </a:prstGeom>
          <a:noFill/>
          <a:ln/>
        </p:spPr>
        <p:txBody>
          <a:bodyPr wrap="square" lIns="0" tIns="0" rIns="0" bIns="0" rtlCol="0" anchor="t"/>
          <a:lstStyle/>
          <a:p>
            <a:pPr algn="l" indent="0" marL="0">
              <a:lnSpc>
                <a:spcPts val="1080"/>
              </a:lnSpc>
              <a:buNone/>
            </a:pPr>
            <a:r>
              <a:rPr lang="en-US" sz="900" b="1" dirty="0">
                <a:solidFill>
                  <a:srgbClr val="16233F"/>
                </a:solidFill>
                <a:latin typeface="Arial" pitchFamily="34" charset="0"/>
                <a:ea typeface="Arial" pitchFamily="34" charset="-122"/>
                <a:cs typeface="Arial" pitchFamily="34" charset="-120"/>
              </a:rPr>
              <a:t>Abdurrahim</a:t>
            </a:r>
            <a:endParaRPr lang="en-US" sz="900" dirty="0"/>
          </a:p>
        </p:txBody>
      </p:sp>
      <p:sp>
        <p:nvSpPr>
          <p:cNvPr id="21" name="Text 19.20"/>
          <p:cNvSpPr txBox="1"/>
          <p:nvPr/>
        </p:nvSpPr>
        <p:spPr>
          <a:xfrm>
            <a:off x="4787780" y="4140096"/>
            <a:ext cx="753724" cy="133347"/>
          </a:xfrm>
          <a:prstGeom prst="rect">
            <a:avLst/>
          </a:prstGeom>
          <a:noFill/>
          <a:ln/>
        </p:spPr>
        <p:txBody>
          <a:bodyPr wrap="square" lIns="0" tIns="0" rIns="0" bIns="0" rtlCol="0" anchor="t"/>
          <a:lstStyle/>
          <a:p>
            <a:pPr algn="l" indent="0" marL="0">
              <a:lnSpc>
                <a:spcPts val="1050"/>
              </a:lnSpc>
              <a:buNone/>
            </a:pPr>
            <a:r>
              <a:rPr lang="en-US" sz="750" dirty="0">
                <a:solidFill>
                  <a:srgbClr val="6E7D9A"/>
                </a:solidFill>
                <a:latin typeface="Arial" pitchFamily="34" charset="0"/>
                <a:ea typeface="Arial" pitchFamily="34" charset="-122"/>
                <a:cs typeface="Arial" pitchFamily="34" charset="-120"/>
              </a:rPr>
              <a:t>Mass Knockout</a:t>
            </a:r>
            <a:endParaRPr lang="en-US" sz="750" dirty="0"/>
          </a:p>
        </p:txBody>
      </p:sp>
      <p:sp>
        <p:nvSpPr>
          <p:cNvPr id="22" name="Text 19.21"/>
          <p:cNvSpPr txBox="1"/>
          <p:nvPr/>
        </p:nvSpPr>
        <p:spPr>
          <a:xfrm>
            <a:off x="7162621" y="3987700"/>
            <a:ext cx="447261" cy="137157"/>
          </a:xfrm>
          <a:prstGeom prst="rect">
            <a:avLst/>
          </a:prstGeom>
          <a:noFill/>
          <a:ln/>
        </p:spPr>
        <p:txBody>
          <a:bodyPr wrap="square" lIns="0" tIns="0" rIns="0" bIns="0" rtlCol="0" anchor="t"/>
          <a:lstStyle/>
          <a:p>
            <a:pPr algn="l" indent="0" marL="0">
              <a:lnSpc>
                <a:spcPts val="1080"/>
              </a:lnSpc>
              <a:buNone/>
            </a:pPr>
            <a:r>
              <a:rPr lang="en-US" sz="900" b="1" dirty="0">
                <a:solidFill>
                  <a:srgbClr val="16233F"/>
                </a:solidFill>
                <a:latin typeface="Arial" pitchFamily="34" charset="0"/>
                <a:ea typeface="Arial" pitchFamily="34" charset="-122"/>
                <a:cs typeface="Arial" pitchFamily="34" charset="-120"/>
              </a:rPr>
              <a:t>Kürşat</a:t>
            </a:r>
            <a:endParaRPr lang="en-US" sz="900" dirty="0"/>
          </a:p>
        </p:txBody>
      </p:sp>
      <p:sp>
        <p:nvSpPr>
          <p:cNvPr id="23" name="Text 19.22"/>
          <p:cNvSpPr txBox="1"/>
          <p:nvPr/>
        </p:nvSpPr>
        <p:spPr>
          <a:xfrm>
            <a:off x="7162621" y="4140096"/>
            <a:ext cx="989408" cy="133347"/>
          </a:xfrm>
          <a:prstGeom prst="rect">
            <a:avLst/>
          </a:prstGeom>
          <a:noFill/>
          <a:ln/>
        </p:spPr>
        <p:txBody>
          <a:bodyPr wrap="square" lIns="0" tIns="0" rIns="0" bIns="0" rtlCol="0" anchor="t"/>
          <a:lstStyle/>
          <a:p>
            <a:pPr algn="l" indent="0" marL="0">
              <a:lnSpc>
                <a:spcPts val="1050"/>
              </a:lnSpc>
              <a:buNone/>
            </a:pPr>
            <a:r>
              <a:rPr lang="en-US" sz="750" dirty="0">
                <a:solidFill>
                  <a:srgbClr val="6E7D9A"/>
                </a:solidFill>
                <a:latin typeface="Arial" pitchFamily="34" charset="0"/>
                <a:ea typeface="Arial" pitchFamily="34" charset="-122"/>
                <a:cs typeface="Arial" pitchFamily="34" charset="-120"/>
              </a:rPr>
              <a:t>Movement, Ice Race</a:t>
            </a:r>
            <a:endParaRPr lang="en-US" sz="750" dirty="0"/>
          </a:p>
        </p:txBody>
      </p:sp>
      <p:sp>
        <p:nvSpPr>
          <p:cNvPr id="24" name="Text 19.23"/>
          <p:cNvSpPr txBox="1"/>
          <p:nvPr/>
        </p:nvSpPr>
        <p:spPr>
          <a:xfrm>
            <a:off x="9537462" y="3987700"/>
            <a:ext cx="339568" cy="137157"/>
          </a:xfrm>
          <a:prstGeom prst="rect">
            <a:avLst/>
          </a:prstGeom>
          <a:noFill/>
          <a:ln/>
        </p:spPr>
        <p:txBody>
          <a:bodyPr wrap="square" lIns="0" tIns="0" rIns="0" bIns="0" rtlCol="0" anchor="t"/>
          <a:lstStyle/>
          <a:p>
            <a:pPr algn="l" indent="0" marL="0">
              <a:lnSpc>
                <a:spcPts val="1080"/>
              </a:lnSpc>
              <a:buNone/>
            </a:pPr>
            <a:r>
              <a:rPr lang="en-US" sz="900" b="1" dirty="0">
                <a:solidFill>
                  <a:srgbClr val="16233F"/>
                </a:solidFill>
                <a:latin typeface="Arial" pitchFamily="34" charset="0"/>
                <a:ea typeface="Arial" pitchFamily="34" charset="-122"/>
                <a:cs typeface="Arial" pitchFamily="34" charset="-120"/>
              </a:rPr>
              <a:t>Ardıl</a:t>
            </a:r>
            <a:endParaRPr lang="en-US" sz="900" dirty="0"/>
          </a:p>
        </p:txBody>
      </p:sp>
      <p:sp>
        <p:nvSpPr>
          <p:cNvPr id="25" name="Text 19.24"/>
          <p:cNvSpPr txBox="1"/>
          <p:nvPr/>
        </p:nvSpPr>
        <p:spPr>
          <a:xfrm>
            <a:off x="9537462" y="4140096"/>
            <a:ext cx="748045" cy="133347"/>
          </a:xfrm>
          <a:prstGeom prst="rect">
            <a:avLst/>
          </a:prstGeom>
          <a:noFill/>
          <a:ln/>
        </p:spPr>
        <p:txBody>
          <a:bodyPr wrap="square" lIns="0" tIns="0" rIns="0" bIns="0" rtlCol="0" anchor="t"/>
          <a:lstStyle/>
          <a:p>
            <a:pPr algn="l" indent="0" marL="0">
              <a:lnSpc>
                <a:spcPts val="1050"/>
              </a:lnSpc>
              <a:buNone/>
            </a:pPr>
            <a:r>
              <a:rPr lang="en-US" sz="750" dirty="0">
                <a:solidFill>
                  <a:srgbClr val="6E7D9A"/>
                </a:solidFill>
                <a:latin typeface="Arial" pitchFamily="34" charset="0"/>
                <a:ea typeface="Arial" pitchFamily="34" charset="-122"/>
                <a:cs typeface="Arial" pitchFamily="34" charset="-120"/>
              </a:rPr>
              <a:t>Art, UI, session</a:t>
            </a:r>
            <a:endParaRPr lang="en-US" sz="750" dirty="0"/>
          </a:p>
        </p:txBody>
      </p:sp>
      <p:sp>
        <p:nvSpPr>
          <p:cNvPr id="26" name="Text 19.25"/>
          <p:cNvSpPr txBox="1"/>
          <p:nvPr/>
        </p:nvSpPr>
        <p:spPr>
          <a:xfrm>
            <a:off x="800080" y="4775081"/>
            <a:ext cx="609585" cy="190495"/>
          </a:xfrm>
          <a:prstGeom prst="rect">
            <a:avLst/>
          </a:prstGeom>
          <a:noFill/>
          <a:ln/>
        </p:spPr>
        <p:txBody>
          <a:bodyPr wrap="square" lIns="0" tIns="0" rIns="0" bIns="0" rtlCol="0" anchor="ctr"/>
          <a:lstStyle/>
          <a:p>
            <a:pPr algn="ctr" indent="0" marL="0">
              <a:lnSpc>
                <a:spcPts val="600"/>
              </a:lnSpc>
              <a:buNone/>
            </a:pPr>
            <a:r>
              <a:rPr lang="en-US" sz="600" b="1" spc="48" kern="0" dirty="0">
                <a:solidFill>
                  <a:srgbClr val="1FA9EA"/>
                </a:solidFill>
                <a:latin typeface="Arial" pitchFamily="34" charset="0"/>
                <a:ea typeface="Arial" pitchFamily="34" charset="-122"/>
                <a:cs typeface="Arial" pitchFamily="34" charset="-120"/>
              </a:rPr>
              <a:t>RISK 01</a:t>
            </a:r>
            <a:endParaRPr lang="en-US" sz="600" dirty="0"/>
          </a:p>
        </p:txBody>
      </p:sp>
      <p:sp>
        <p:nvSpPr>
          <p:cNvPr id="27" name="Text 19.26"/>
          <p:cNvSpPr txBox="1"/>
          <p:nvPr/>
        </p:nvSpPr>
        <p:spPr>
          <a:xfrm>
            <a:off x="800080" y="5079873"/>
            <a:ext cx="2177295" cy="215895"/>
          </a:xfrm>
          <a:prstGeom prst="rect">
            <a:avLst/>
          </a:prstGeom>
          <a:noFill/>
          <a:ln/>
        </p:spPr>
        <p:txBody>
          <a:bodyPr wrap="square" lIns="0" tIns="0" rIns="0" bIns="0" rtlCol="0" anchor="t"/>
          <a:lstStyle/>
          <a:p>
            <a:pPr algn="l" indent="0" marL="0">
              <a:lnSpc>
                <a:spcPts val="1700"/>
              </a:lnSpc>
              <a:buNone/>
            </a:pPr>
            <a:r>
              <a:rPr lang="en-US" sz="1700" dirty="0">
                <a:solidFill>
                  <a:srgbClr val="1FA9EA"/>
                </a:solidFill>
                <a:latin typeface="Arial Rounded MT Bold" pitchFamily="34" charset="0"/>
                <a:ea typeface="Arial Rounded MT Bold" pitchFamily="34" charset="-122"/>
                <a:cs typeface="Arial Rounded MT Bold" pitchFamily="34" charset="-120"/>
              </a:rPr>
              <a:t>Networked physics</a:t>
            </a:r>
            <a:endParaRPr lang="en-US" sz="1700" dirty="0"/>
          </a:p>
        </p:txBody>
      </p:sp>
      <p:sp>
        <p:nvSpPr>
          <p:cNvPr id="28" name="Text 19.27"/>
          <p:cNvSpPr txBox="1"/>
          <p:nvPr/>
        </p:nvSpPr>
        <p:spPr>
          <a:xfrm>
            <a:off x="800080" y="5410065"/>
            <a:ext cx="3213020" cy="171446"/>
          </a:xfrm>
          <a:prstGeom prst="rect">
            <a:avLst/>
          </a:prstGeom>
          <a:noFill/>
          <a:ln/>
        </p:spPr>
        <p:txBody>
          <a:bodyPr wrap="square" lIns="0" tIns="0" rIns="0" bIns="0" rtlCol="0" anchor="t"/>
          <a:lstStyle/>
          <a:p>
            <a:pPr algn="l" indent="0" marL="0">
              <a:lnSpc>
                <a:spcPts val="1350"/>
              </a:lnSpc>
              <a:buNone/>
            </a:pPr>
            <a:r>
              <a:rPr lang="en-US" sz="1000" b="1" dirty="0">
                <a:solidFill>
                  <a:srgbClr val="16233F"/>
                </a:solidFill>
                <a:latin typeface="Arial" pitchFamily="34" charset="0"/>
                <a:ea typeface="Arial" pitchFamily="34" charset="-122"/>
                <a:cs typeface="Arial" pitchFamily="34" charset="-120"/>
              </a:rPr>
              <a:t>Clients disagree on a knockback.</a:t>
            </a:r>
            <a:endParaRPr lang="en-US" sz="1000" dirty="0"/>
          </a:p>
        </p:txBody>
      </p:sp>
      <p:sp>
        <p:nvSpPr>
          <p:cNvPr id="29" name="Text 19.28"/>
          <p:cNvSpPr txBox="1"/>
          <p:nvPr/>
        </p:nvSpPr>
        <p:spPr>
          <a:xfrm>
            <a:off x="800080" y="5638659"/>
            <a:ext cx="3213020" cy="168906"/>
          </a:xfrm>
          <a:prstGeom prst="rect">
            <a:avLst/>
          </a:prstGeom>
          <a:noFill/>
          <a:ln/>
        </p:spPr>
        <p:txBody>
          <a:bodyPr wrap="square" lIns="0" tIns="0" rIns="0" bIns="0" rtlCol="0" anchor="t"/>
          <a:lstStyle/>
          <a:p>
            <a:pPr algn="l" indent="0" marL="0">
              <a:lnSpc>
                <a:spcPts val="1330"/>
              </a:lnSpc>
              <a:buNone/>
            </a:pPr>
            <a:r>
              <a:rPr lang="en-US" sz="950" dirty="0">
                <a:solidFill>
                  <a:srgbClr val="3B4A66"/>
                </a:solidFill>
                <a:latin typeface="Arial" pitchFamily="34" charset="0"/>
                <a:ea typeface="Arial" pitchFamily="34" charset="-122"/>
                <a:cs typeface="Arial" pitchFamily="34" charset="-120"/>
              </a:rPr>
              <a:t>Host simulates; clients only render and interpolate.</a:t>
            </a:r>
            <a:endParaRPr lang="en-US" sz="950" dirty="0"/>
          </a:p>
        </p:txBody>
      </p:sp>
      <p:sp>
        <p:nvSpPr>
          <p:cNvPr id="30" name="Text 19.29"/>
          <p:cNvSpPr txBox="1"/>
          <p:nvPr/>
        </p:nvSpPr>
        <p:spPr>
          <a:xfrm>
            <a:off x="4508387" y="4775081"/>
            <a:ext cx="609585" cy="190495"/>
          </a:xfrm>
          <a:prstGeom prst="rect">
            <a:avLst/>
          </a:prstGeom>
          <a:noFill/>
          <a:ln/>
        </p:spPr>
        <p:txBody>
          <a:bodyPr wrap="square" lIns="0" tIns="0" rIns="0" bIns="0" rtlCol="0" anchor="ctr"/>
          <a:lstStyle/>
          <a:p>
            <a:pPr algn="ctr" indent="0" marL="0">
              <a:lnSpc>
                <a:spcPts val="600"/>
              </a:lnSpc>
              <a:buNone/>
            </a:pPr>
            <a:r>
              <a:rPr lang="en-US" sz="600" b="1" spc="48" kern="0" dirty="0">
                <a:solidFill>
                  <a:srgbClr val="FF6B1F"/>
                </a:solidFill>
                <a:latin typeface="Arial" pitchFamily="34" charset="0"/>
                <a:ea typeface="Arial" pitchFamily="34" charset="-122"/>
                <a:cs typeface="Arial" pitchFamily="34" charset="-120"/>
              </a:rPr>
              <a:t>RISK 02</a:t>
            </a:r>
            <a:endParaRPr lang="en-US" sz="600" dirty="0"/>
          </a:p>
        </p:txBody>
      </p:sp>
      <p:sp>
        <p:nvSpPr>
          <p:cNvPr id="31" name="Text 19.30"/>
          <p:cNvSpPr txBox="1"/>
          <p:nvPr/>
        </p:nvSpPr>
        <p:spPr>
          <a:xfrm>
            <a:off x="4508387" y="5079873"/>
            <a:ext cx="972371" cy="215895"/>
          </a:xfrm>
          <a:prstGeom prst="rect">
            <a:avLst/>
          </a:prstGeom>
          <a:noFill/>
          <a:ln/>
        </p:spPr>
        <p:txBody>
          <a:bodyPr wrap="square" lIns="0" tIns="0" rIns="0" bIns="0" rtlCol="0" anchor="t"/>
          <a:lstStyle/>
          <a:p>
            <a:pPr algn="l" indent="0" marL="0">
              <a:lnSpc>
                <a:spcPts val="1700"/>
              </a:lnSpc>
              <a:buNone/>
            </a:pPr>
            <a:r>
              <a:rPr lang="en-US" sz="1700" dirty="0">
                <a:solidFill>
                  <a:srgbClr val="FF6B1F"/>
                </a:solidFill>
                <a:latin typeface="Arial Rounded MT Bold" pitchFamily="34" charset="0"/>
                <a:ea typeface="Arial Rounded MT Bold" pitchFamily="34" charset="-122"/>
                <a:cs typeface="Arial Rounded MT Bold" pitchFamily="34" charset="-120"/>
              </a:rPr>
              <a:t>Balance</a:t>
            </a:r>
            <a:endParaRPr lang="en-US" sz="1700" dirty="0"/>
          </a:p>
        </p:txBody>
      </p:sp>
      <p:sp>
        <p:nvSpPr>
          <p:cNvPr id="32" name="Text 19.31"/>
          <p:cNvSpPr txBox="1"/>
          <p:nvPr/>
        </p:nvSpPr>
        <p:spPr>
          <a:xfrm>
            <a:off x="4508387" y="5410065"/>
            <a:ext cx="3213020" cy="171446"/>
          </a:xfrm>
          <a:prstGeom prst="rect">
            <a:avLst/>
          </a:prstGeom>
          <a:noFill/>
          <a:ln/>
        </p:spPr>
        <p:txBody>
          <a:bodyPr wrap="square" lIns="0" tIns="0" rIns="0" bIns="0" rtlCol="0" anchor="t"/>
          <a:lstStyle/>
          <a:p>
            <a:pPr algn="l" indent="0" marL="0">
              <a:lnSpc>
                <a:spcPts val="1350"/>
              </a:lnSpc>
              <a:buNone/>
            </a:pPr>
            <a:r>
              <a:rPr lang="en-US" sz="1000" b="1" dirty="0">
                <a:solidFill>
                  <a:srgbClr val="16233F"/>
                </a:solidFill>
                <a:latin typeface="Arial" pitchFamily="34" charset="0"/>
                <a:ea typeface="Arial" pitchFamily="34" charset="-122"/>
                <a:cs typeface="Arial" pitchFamily="34" charset="-120"/>
              </a:rPr>
              <a:t>Stalling, or a leader snowballing.</a:t>
            </a:r>
            <a:endParaRPr lang="en-US" sz="1000" dirty="0"/>
          </a:p>
        </p:txBody>
      </p:sp>
      <p:sp>
        <p:nvSpPr>
          <p:cNvPr id="33" name="Text 19.32"/>
          <p:cNvSpPr txBox="1"/>
          <p:nvPr/>
        </p:nvSpPr>
        <p:spPr>
          <a:xfrm>
            <a:off x="4508387" y="5638659"/>
            <a:ext cx="3213020" cy="337732"/>
          </a:xfrm>
          <a:prstGeom prst="rect">
            <a:avLst/>
          </a:prstGeom>
          <a:noFill/>
          <a:ln/>
        </p:spPr>
        <p:txBody>
          <a:bodyPr wrap="square" lIns="0" tIns="0" rIns="0" bIns="0" rtlCol="0" anchor="t"/>
          <a:lstStyle/>
          <a:p>
            <a:pPr algn="l" indent="0" marL="0">
              <a:lnSpc>
                <a:spcPts val="1330"/>
              </a:lnSpc>
              <a:buNone/>
            </a:pPr>
            <a:r>
              <a:rPr lang="en-US" sz="950" dirty="0">
                <a:solidFill>
                  <a:srgbClr val="3B4A66"/>
                </a:solidFill>
                <a:latin typeface="Arial" pitchFamily="34" charset="0"/>
                <a:ea typeface="Arial" pitchFamily="34" charset="-122"/>
                <a:cs typeface="Arial" pitchFamily="34" charset="-120"/>
              </a:rPr>
              <a:t>Score knockouts; full-mass respawn; timer; catch-up scoring.</a:t>
            </a:r>
            <a:endParaRPr lang="en-US" sz="950" dirty="0"/>
          </a:p>
        </p:txBody>
      </p:sp>
      <p:sp>
        <p:nvSpPr>
          <p:cNvPr id="34" name="Text 19.33"/>
          <p:cNvSpPr txBox="1"/>
          <p:nvPr/>
        </p:nvSpPr>
        <p:spPr>
          <a:xfrm>
            <a:off x="8216695" y="4775081"/>
            <a:ext cx="609585" cy="190495"/>
          </a:xfrm>
          <a:prstGeom prst="rect">
            <a:avLst/>
          </a:prstGeom>
          <a:noFill/>
          <a:ln/>
        </p:spPr>
        <p:txBody>
          <a:bodyPr wrap="square" lIns="0" tIns="0" rIns="0" bIns="0" rtlCol="0" anchor="ctr"/>
          <a:lstStyle/>
          <a:p>
            <a:pPr algn="ctr" indent="0" marL="0">
              <a:lnSpc>
                <a:spcPts val="600"/>
              </a:lnSpc>
              <a:buNone/>
            </a:pPr>
            <a:r>
              <a:rPr lang="en-US" sz="600" b="1" spc="48" kern="0" dirty="0">
                <a:solidFill>
                  <a:srgbClr val="8F55F5"/>
                </a:solidFill>
                <a:latin typeface="Arial" pitchFamily="34" charset="0"/>
                <a:ea typeface="Arial" pitchFamily="34" charset="-122"/>
                <a:cs typeface="Arial" pitchFamily="34" charset="-120"/>
              </a:rPr>
              <a:t>RISK 03</a:t>
            </a:r>
            <a:endParaRPr lang="en-US" sz="600" dirty="0"/>
          </a:p>
        </p:txBody>
      </p:sp>
      <p:sp>
        <p:nvSpPr>
          <p:cNvPr id="35" name="Text 19.34"/>
          <p:cNvSpPr txBox="1"/>
          <p:nvPr/>
        </p:nvSpPr>
        <p:spPr>
          <a:xfrm>
            <a:off x="8216695" y="5079873"/>
            <a:ext cx="769394" cy="215895"/>
          </a:xfrm>
          <a:prstGeom prst="rect">
            <a:avLst/>
          </a:prstGeom>
          <a:noFill/>
          <a:ln/>
        </p:spPr>
        <p:txBody>
          <a:bodyPr wrap="square" lIns="0" tIns="0" rIns="0" bIns="0" rtlCol="0" anchor="t"/>
          <a:lstStyle/>
          <a:p>
            <a:pPr algn="l" indent="0" marL="0">
              <a:lnSpc>
                <a:spcPts val="1700"/>
              </a:lnSpc>
              <a:buNone/>
            </a:pPr>
            <a:r>
              <a:rPr lang="en-US" sz="1700" dirty="0">
                <a:solidFill>
                  <a:srgbClr val="8F55F5"/>
                </a:solidFill>
                <a:latin typeface="Arial Rounded MT Bold" pitchFamily="34" charset="0"/>
                <a:ea typeface="Arial Rounded MT Bold" pitchFamily="34" charset="-122"/>
                <a:cs typeface="Arial Rounded MT Bold" pitchFamily="34" charset="-120"/>
              </a:rPr>
              <a:t>Scope</a:t>
            </a:r>
            <a:endParaRPr lang="en-US" sz="1700" dirty="0"/>
          </a:p>
        </p:txBody>
      </p:sp>
      <p:sp>
        <p:nvSpPr>
          <p:cNvPr id="36" name="Text 19.35"/>
          <p:cNvSpPr txBox="1"/>
          <p:nvPr/>
        </p:nvSpPr>
        <p:spPr>
          <a:xfrm>
            <a:off x="8216695" y="5410065"/>
            <a:ext cx="3213020" cy="171446"/>
          </a:xfrm>
          <a:prstGeom prst="rect">
            <a:avLst/>
          </a:prstGeom>
          <a:noFill/>
          <a:ln/>
        </p:spPr>
        <p:txBody>
          <a:bodyPr wrap="square" lIns="0" tIns="0" rIns="0" bIns="0" rtlCol="0" anchor="t"/>
          <a:lstStyle/>
          <a:p>
            <a:pPr algn="l" indent="0" marL="0">
              <a:lnSpc>
                <a:spcPts val="1350"/>
              </a:lnSpc>
              <a:buNone/>
            </a:pPr>
            <a:r>
              <a:rPr lang="en-US" sz="1000" b="1" dirty="0">
                <a:solidFill>
                  <a:srgbClr val="16233F"/>
                </a:solidFill>
                <a:latin typeface="Arial" pitchFamily="34" charset="0"/>
                <a:ea typeface="Arial" pitchFamily="34" charset="-122"/>
                <a:cs typeface="Arial" pitchFamily="34" charset="-120"/>
              </a:rPr>
              <a:t>Too many mini-games for one term.</a:t>
            </a:r>
            <a:endParaRPr lang="en-US" sz="1000" dirty="0"/>
          </a:p>
        </p:txBody>
      </p:sp>
      <p:sp>
        <p:nvSpPr>
          <p:cNvPr id="37" name="Text 19.36"/>
          <p:cNvSpPr txBox="1"/>
          <p:nvPr/>
        </p:nvSpPr>
        <p:spPr>
          <a:xfrm>
            <a:off x="8216695" y="5638659"/>
            <a:ext cx="3213020" cy="168906"/>
          </a:xfrm>
          <a:prstGeom prst="rect">
            <a:avLst/>
          </a:prstGeom>
          <a:noFill/>
          <a:ln/>
        </p:spPr>
        <p:txBody>
          <a:bodyPr wrap="square" lIns="0" tIns="0" rIns="0" bIns="0" rtlCol="0" anchor="t"/>
          <a:lstStyle/>
          <a:p>
            <a:pPr algn="l" indent="0" marL="0">
              <a:lnSpc>
                <a:spcPts val="1330"/>
              </a:lnSpc>
              <a:buNone/>
            </a:pPr>
            <a:r>
              <a:rPr lang="en-US" sz="950" dirty="0">
                <a:solidFill>
                  <a:srgbClr val="3B4A66"/>
                </a:solidFill>
                <a:latin typeface="Arial" pitchFamily="34" charset="0"/>
                <a:ea typeface="Arial" pitchFamily="34" charset="-122"/>
                <a:cs typeface="Arial" pitchFamily="34" charset="-120"/>
              </a:rPr>
              <a:t>Exactly two in the MVP. More only once both are fun.</a:t>
            </a:r>
            <a:endParaRPr lang="en-US" sz="950" dirty="0"/>
          </a:p>
        </p:txBody>
      </p:sp>
      <p:sp>
        <p:nvSpPr>
          <p:cNvPr id="38" name="Text 19.37"/>
          <p:cNvSpPr txBox="1"/>
          <p:nvPr/>
        </p:nvSpPr>
        <p:spPr>
          <a:xfrm>
            <a:off x="927077" y="355591"/>
            <a:ext cx="1326055" cy="107947"/>
          </a:xfrm>
          <a:prstGeom prst="rect">
            <a:avLst/>
          </a:prstGeom>
          <a:noFill/>
          <a:ln/>
        </p:spPr>
        <p:txBody>
          <a:bodyPr wrap="square" lIns="0" tIns="0" rIns="0" bIns="0" rtlCol="0" anchor="t"/>
          <a:lstStyle/>
          <a:p>
            <a:pPr algn="l" indent="0" marL="0">
              <a:lnSpc>
                <a:spcPts val="850"/>
              </a:lnSpc>
              <a:buNone/>
            </a:pPr>
            <a:r>
              <a:rPr lang="en-US" sz="850" b="1" spc="17" kern="0" dirty="0">
                <a:solidFill>
                  <a:srgbClr val="16233F"/>
                </a:solidFill>
                <a:latin typeface="Arial" pitchFamily="34" charset="0"/>
                <a:ea typeface="Arial" pitchFamily="34" charset="-122"/>
                <a:cs typeface="Arial" pitchFamily="34" charset="-120"/>
              </a:rPr>
              <a:t>06 · Development plan</a:t>
            </a:r>
            <a:endParaRPr lang="en-US" sz="850" dirty="0"/>
          </a:p>
        </p:txBody>
      </p:sp>
      <p:sp>
        <p:nvSpPr>
          <p:cNvPr id="39" name="Text 19.38"/>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19</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23</a:t>
            </a:r>
            <a:endParaRPr lang="en-US" sz="1000" dirty="0"/>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20.1"/>
          <p:cNvSpPr txBox="1"/>
          <p:nvPr/>
        </p:nvSpPr>
        <p:spPr>
          <a:xfrm>
            <a:off x="609585" y="761981"/>
            <a:ext cx="11371296" cy="384038"/>
          </a:xfrm>
          <a:prstGeom prst="rect">
            <a:avLst/>
          </a:prstGeom>
          <a:noFill/>
          <a:ln/>
        </p:spPr>
        <p:txBody>
          <a:bodyPr wrap="square" lIns="0" tIns="0" rIns="0" bIns="0" rtlCol="0" anchor="t"/>
          <a:lstStyle/>
          <a:p>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Gantt chart: </a:t>
            </a:r>
            <a:pPr algn="l" indent="0" marL="0">
              <a:lnSpc>
                <a:spcPts val="3020"/>
              </a:lnSpc>
              <a:buNone/>
            </a:pPr>
            <a:r>
              <a:rPr lang="en-US" sz="2700" spc="-27" kern="0" dirty="0">
                <a:solidFill>
                  <a:srgbClr val="43B832"/>
                </a:solidFill>
                <a:latin typeface="Arial Rounded MT Bold" pitchFamily="34" charset="0"/>
                <a:ea typeface="Arial Rounded MT Bold" pitchFamily="34" charset="-122"/>
                <a:cs typeface="Arial Rounded MT Bold" pitchFamily="34" charset="-120"/>
              </a:rPr>
              <a:t>proposal</a:t>
            </a:r>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 and </a:t>
            </a:r>
            <a:pPr algn="l" indent="0" marL="0">
              <a:lnSpc>
                <a:spcPts val="3020"/>
              </a:lnSpc>
              <a:buNone/>
            </a:pPr>
            <a:r>
              <a:rPr lang="en-US" sz="2700" spc="-27" kern="0" dirty="0">
                <a:solidFill>
                  <a:srgbClr val="1FA9EA"/>
                </a:solidFill>
                <a:latin typeface="Arial Rounded MT Bold" pitchFamily="34" charset="0"/>
                <a:ea typeface="Arial Rounded MT Bold" pitchFamily="34" charset="-122"/>
                <a:cs typeface="Arial Rounded MT Bold" pitchFamily="34" charset="-120"/>
              </a:rPr>
              <a:t>demo 1</a:t>
            </a:r>
            <a:endParaRPr lang="en-US" sz="2700" dirty="0"/>
          </a:p>
        </p:txBody>
      </p:sp>
      <p:sp>
        <p:nvSpPr>
          <p:cNvPr id="3" name="Text 20.2"/>
          <p:cNvSpPr txBox="1"/>
          <p:nvPr/>
        </p:nvSpPr>
        <p:spPr>
          <a:xfrm>
            <a:off x="736582" y="1816055"/>
            <a:ext cx="380990" cy="91438"/>
          </a:xfrm>
          <a:prstGeom prst="rect">
            <a:avLst/>
          </a:prstGeom>
          <a:noFill/>
          <a:ln/>
        </p:spPr>
        <p:txBody>
          <a:bodyPr wrap="square" lIns="0" tIns="0" rIns="0" bIns="0" rtlCol="0" anchor="t"/>
          <a:lstStyle/>
          <a:p>
            <a:pPr algn="l" indent="0" marL="0">
              <a:lnSpc>
                <a:spcPts val="720"/>
              </a:lnSpc>
              <a:buNone/>
            </a:pPr>
            <a:r>
              <a:rPr lang="en-US" sz="600" b="1" spc="72" kern="0" dirty="0">
                <a:solidFill>
                  <a:srgbClr val="6E7D9A"/>
                </a:solidFill>
                <a:latin typeface="Arial" pitchFamily="34" charset="0"/>
                <a:ea typeface="Arial" pitchFamily="34" charset="-122"/>
                <a:cs typeface="Arial" pitchFamily="34" charset="-120"/>
              </a:rPr>
              <a:t>WBS</a:t>
            </a:r>
            <a:endParaRPr lang="en-US" sz="600" dirty="0"/>
          </a:p>
        </p:txBody>
      </p:sp>
      <p:sp>
        <p:nvSpPr>
          <p:cNvPr id="4" name="Text 20.3"/>
          <p:cNvSpPr txBox="1"/>
          <p:nvPr/>
        </p:nvSpPr>
        <p:spPr>
          <a:xfrm>
            <a:off x="1142971" y="1816055"/>
            <a:ext cx="2578036" cy="91438"/>
          </a:xfrm>
          <a:prstGeom prst="rect">
            <a:avLst/>
          </a:prstGeom>
          <a:noFill/>
          <a:ln/>
        </p:spPr>
        <p:txBody>
          <a:bodyPr wrap="square" lIns="0" tIns="0" rIns="0" bIns="0" rtlCol="0" anchor="t"/>
          <a:lstStyle/>
          <a:p>
            <a:pPr algn="l" indent="0" marL="0">
              <a:lnSpc>
                <a:spcPts val="720"/>
              </a:lnSpc>
              <a:buNone/>
            </a:pPr>
            <a:r>
              <a:rPr lang="en-US" sz="600" b="1" spc="72" kern="0" dirty="0">
                <a:solidFill>
                  <a:srgbClr val="6E7D9A"/>
                </a:solidFill>
                <a:latin typeface="Arial" pitchFamily="34" charset="0"/>
                <a:ea typeface="Arial" pitchFamily="34" charset="-122"/>
                <a:cs typeface="Arial" pitchFamily="34" charset="-120"/>
              </a:rPr>
              <a:t>TASK TITLE</a:t>
            </a:r>
            <a:endParaRPr lang="en-US" sz="600" dirty="0"/>
          </a:p>
        </p:txBody>
      </p:sp>
      <p:sp>
        <p:nvSpPr>
          <p:cNvPr id="5" name="Text 20.4"/>
          <p:cNvSpPr txBox="1"/>
          <p:nvPr/>
        </p:nvSpPr>
        <p:spPr>
          <a:xfrm>
            <a:off x="3746406" y="1816055"/>
            <a:ext cx="990575" cy="91438"/>
          </a:xfrm>
          <a:prstGeom prst="rect">
            <a:avLst/>
          </a:prstGeom>
          <a:noFill/>
          <a:ln/>
        </p:spPr>
        <p:txBody>
          <a:bodyPr wrap="square" lIns="0" tIns="0" rIns="0" bIns="0" rtlCol="0" anchor="t"/>
          <a:lstStyle/>
          <a:p>
            <a:pPr algn="l" indent="0" marL="0">
              <a:lnSpc>
                <a:spcPts val="720"/>
              </a:lnSpc>
              <a:buNone/>
            </a:pPr>
            <a:r>
              <a:rPr lang="en-US" sz="600" b="1" spc="72" kern="0" dirty="0">
                <a:solidFill>
                  <a:srgbClr val="6E7D9A"/>
                </a:solidFill>
                <a:latin typeface="Arial" pitchFamily="34" charset="0"/>
                <a:ea typeface="Arial" pitchFamily="34" charset="-122"/>
                <a:cs typeface="Arial" pitchFamily="34" charset="-120"/>
              </a:rPr>
              <a:t>OWNER</a:t>
            </a:r>
            <a:endParaRPr lang="en-US" sz="600" dirty="0"/>
          </a:p>
        </p:txBody>
      </p:sp>
      <p:sp>
        <p:nvSpPr>
          <p:cNvPr id="6" name="Text 20.5"/>
          <p:cNvSpPr txBox="1"/>
          <p:nvPr/>
        </p:nvSpPr>
        <p:spPr>
          <a:xfrm>
            <a:off x="4762381" y="1816055"/>
            <a:ext cx="584185" cy="91438"/>
          </a:xfrm>
          <a:prstGeom prst="rect">
            <a:avLst/>
          </a:prstGeom>
          <a:noFill/>
          <a:ln/>
        </p:spPr>
        <p:txBody>
          <a:bodyPr wrap="square" lIns="0" tIns="0" rIns="0" bIns="0" rtlCol="0" anchor="t"/>
          <a:lstStyle/>
          <a:p>
            <a:pPr algn="l" indent="0" marL="0">
              <a:lnSpc>
                <a:spcPts val="720"/>
              </a:lnSpc>
              <a:buNone/>
            </a:pPr>
            <a:r>
              <a:rPr lang="en-US" sz="600" b="1" spc="72" kern="0" dirty="0">
                <a:solidFill>
                  <a:srgbClr val="6E7D9A"/>
                </a:solidFill>
                <a:latin typeface="Arial" pitchFamily="34" charset="0"/>
                <a:ea typeface="Arial" pitchFamily="34" charset="-122"/>
                <a:cs typeface="Arial" pitchFamily="34" charset="-120"/>
              </a:rPr>
              <a:t>DURATION</a:t>
            </a:r>
            <a:endParaRPr lang="en-US" sz="600" dirty="0"/>
          </a:p>
        </p:txBody>
      </p:sp>
      <p:sp>
        <p:nvSpPr>
          <p:cNvPr id="7" name="Text 20.6"/>
          <p:cNvSpPr txBox="1"/>
          <p:nvPr/>
        </p:nvSpPr>
        <p:spPr>
          <a:xfrm>
            <a:off x="5371966" y="1816055"/>
            <a:ext cx="634984" cy="91438"/>
          </a:xfrm>
          <a:prstGeom prst="rect">
            <a:avLst/>
          </a:prstGeom>
          <a:noFill/>
          <a:ln/>
        </p:spPr>
        <p:txBody>
          <a:bodyPr wrap="square" lIns="0" tIns="0" rIns="0" bIns="0" rtlCol="0" anchor="t"/>
          <a:lstStyle/>
          <a:p>
            <a:pPr algn="l" indent="0" marL="0">
              <a:lnSpc>
                <a:spcPts val="720"/>
              </a:lnSpc>
              <a:buNone/>
            </a:pPr>
            <a:r>
              <a:rPr lang="en-US" sz="600" b="1" spc="72" kern="0" dirty="0">
                <a:solidFill>
                  <a:srgbClr val="6E7D9A"/>
                </a:solidFill>
                <a:latin typeface="Arial" pitchFamily="34" charset="0"/>
                <a:ea typeface="Arial" pitchFamily="34" charset="-122"/>
                <a:cs typeface="Arial" pitchFamily="34" charset="-120"/>
              </a:rPr>
              <a:t>COMPLETE</a:t>
            </a:r>
            <a:endParaRPr lang="en-US" sz="600" dirty="0"/>
          </a:p>
        </p:txBody>
      </p:sp>
      <p:sp>
        <p:nvSpPr>
          <p:cNvPr id="8" name="Text 20.7"/>
          <p:cNvSpPr txBox="1"/>
          <p:nvPr/>
        </p:nvSpPr>
        <p:spPr>
          <a:xfrm>
            <a:off x="6095848" y="1574761"/>
            <a:ext cx="2679633" cy="106677"/>
          </a:xfrm>
          <a:prstGeom prst="rect">
            <a:avLst/>
          </a:prstGeom>
          <a:noFill/>
          <a:ln/>
        </p:spPr>
        <p:txBody>
          <a:bodyPr wrap="square" lIns="0" tIns="0" rIns="0" bIns="0" rtlCol="0" anchor="t"/>
          <a:lstStyle/>
          <a:p>
            <a:pPr algn="ctr" indent="0" marL="0">
              <a:lnSpc>
                <a:spcPts val="840"/>
              </a:lnSpc>
              <a:buNone/>
            </a:pPr>
            <a:r>
              <a:rPr lang="en-US" sz="700" b="1" dirty="0">
                <a:solidFill>
                  <a:srgbClr val="16233F"/>
                </a:solidFill>
                <a:latin typeface="Arial" pitchFamily="34" charset="0"/>
                <a:ea typeface="Arial" pitchFamily="34" charset="-122"/>
                <a:cs typeface="Arial" pitchFamily="34" charset="-120"/>
              </a:rPr>
              <a:t>5–9 Oct</a:t>
            </a:r>
            <a:endParaRPr lang="en-US" sz="700" dirty="0"/>
          </a:p>
        </p:txBody>
      </p:sp>
      <p:sp>
        <p:nvSpPr>
          <p:cNvPr id="9" name="Text 20.8"/>
          <p:cNvSpPr txBox="1"/>
          <p:nvPr/>
        </p:nvSpPr>
        <p:spPr>
          <a:xfrm>
            <a:off x="6114897" y="1727157"/>
            <a:ext cx="2641534" cy="165096"/>
          </a:xfrm>
          <a:prstGeom prst="rect">
            <a:avLst/>
          </a:prstGeom>
          <a:noFill/>
          <a:ln/>
        </p:spPr>
        <p:txBody>
          <a:bodyPr wrap="square" lIns="0" tIns="0" rIns="0" bIns="0" rtlCol="0" anchor="ctr"/>
          <a:lstStyle/>
          <a:p>
            <a:pPr algn="ctr" indent="0" marL="0">
              <a:lnSpc>
                <a:spcPts val="650"/>
              </a:lnSpc>
              <a:buNone/>
            </a:pPr>
            <a:r>
              <a:rPr lang="en-US" sz="650" b="1" spc="65" kern="0" dirty="0">
                <a:solidFill>
                  <a:srgbClr val="FFFFFF"/>
                </a:solidFill>
                <a:latin typeface="Arial" pitchFamily="34" charset="0"/>
                <a:ea typeface="Arial" pitchFamily="34" charset="-122"/>
                <a:cs typeface="Arial" pitchFamily="34" charset="-120"/>
              </a:rPr>
              <a:t>WEEK 1</a:t>
            </a:r>
            <a:endParaRPr lang="en-US" sz="650" dirty="0"/>
          </a:p>
        </p:txBody>
      </p:sp>
      <p:sp>
        <p:nvSpPr>
          <p:cNvPr id="10" name="Text 20.9"/>
          <p:cNvSpPr txBox="1"/>
          <p:nvPr/>
        </p:nvSpPr>
        <p:spPr>
          <a:xfrm>
            <a:off x="6095848" y="1917652"/>
            <a:ext cx="535867"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M</a:t>
            </a:r>
            <a:endParaRPr lang="en-US" sz="600" dirty="0"/>
          </a:p>
        </p:txBody>
      </p:sp>
      <p:sp>
        <p:nvSpPr>
          <p:cNvPr id="11" name="Text 20.10"/>
          <p:cNvSpPr txBox="1"/>
          <p:nvPr/>
        </p:nvSpPr>
        <p:spPr>
          <a:xfrm>
            <a:off x="6631715" y="1917652"/>
            <a:ext cx="535867"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T</a:t>
            </a:r>
            <a:endParaRPr lang="en-US" sz="600" dirty="0"/>
          </a:p>
        </p:txBody>
      </p:sp>
      <p:sp>
        <p:nvSpPr>
          <p:cNvPr id="12" name="Text 20.11"/>
          <p:cNvSpPr txBox="1"/>
          <p:nvPr/>
        </p:nvSpPr>
        <p:spPr>
          <a:xfrm>
            <a:off x="7167681" y="1917652"/>
            <a:ext cx="535867"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W</a:t>
            </a:r>
            <a:endParaRPr lang="en-US" sz="600" dirty="0"/>
          </a:p>
        </p:txBody>
      </p:sp>
      <p:sp>
        <p:nvSpPr>
          <p:cNvPr id="13" name="Text 20.12"/>
          <p:cNvSpPr txBox="1"/>
          <p:nvPr/>
        </p:nvSpPr>
        <p:spPr>
          <a:xfrm>
            <a:off x="7703548" y="1917652"/>
            <a:ext cx="535867"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T</a:t>
            </a:r>
            <a:endParaRPr lang="en-US" sz="600" dirty="0"/>
          </a:p>
        </p:txBody>
      </p:sp>
      <p:sp>
        <p:nvSpPr>
          <p:cNvPr id="14" name="Text 20.13"/>
          <p:cNvSpPr txBox="1"/>
          <p:nvPr/>
        </p:nvSpPr>
        <p:spPr>
          <a:xfrm>
            <a:off x="8239514" y="1917652"/>
            <a:ext cx="535867"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F</a:t>
            </a:r>
            <a:endParaRPr lang="en-US" sz="600" dirty="0"/>
          </a:p>
        </p:txBody>
      </p:sp>
      <p:sp>
        <p:nvSpPr>
          <p:cNvPr id="15" name="Text 20.14"/>
          <p:cNvSpPr txBox="1"/>
          <p:nvPr/>
        </p:nvSpPr>
        <p:spPr>
          <a:xfrm>
            <a:off x="8775481" y="1574761"/>
            <a:ext cx="2679633" cy="106677"/>
          </a:xfrm>
          <a:prstGeom prst="rect">
            <a:avLst/>
          </a:prstGeom>
          <a:noFill/>
          <a:ln/>
        </p:spPr>
        <p:txBody>
          <a:bodyPr wrap="square" lIns="0" tIns="0" rIns="0" bIns="0" rtlCol="0" anchor="t"/>
          <a:lstStyle/>
          <a:p>
            <a:pPr algn="ctr" indent="0" marL="0">
              <a:lnSpc>
                <a:spcPts val="840"/>
              </a:lnSpc>
              <a:buNone/>
            </a:pPr>
            <a:r>
              <a:rPr lang="en-US" sz="700" b="1" dirty="0">
                <a:solidFill>
                  <a:srgbClr val="16233F"/>
                </a:solidFill>
                <a:latin typeface="Arial" pitchFamily="34" charset="0"/>
                <a:ea typeface="Arial" pitchFamily="34" charset="-122"/>
                <a:cs typeface="Arial" pitchFamily="34" charset="-120"/>
              </a:rPr>
              <a:t>12–16 Oct</a:t>
            </a:r>
            <a:endParaRPr lang="en-US" sz="700" dirty="0"/>
          </a:p>
        </p:txBody>
      </p:sp>
      <p:sp>
        <p:nvSpPr>
          <p:cNvPr id="16" name="Text 20.15"/>
          <p:cNvSpPr txBox="1"/>
          <p:nvPr/>
        </p:nvSpPr>
        <p:spPr>
          <a:xfrm>
            <a:off x="8794530" y="1727157"/>
            <a:ext cx="2641534" cy="165096"/>
          </a:xfrm>
          <a:prstGeom prst="rect">
            <a:avLst/>
          </a:prstGeom>
          <a:noFill/>
          <a:ln/>
        </p:spPr>
        <p:txBody>
          <a:bodyPr wrap="square" lIns="0" tIns="0" rIns="0" bIns="0" rtlCol="0" anchor="ctr"/>
          <a:lstStyle/>
          <a:p>
            <a:pPr algn="ctr" indent="0" marL="0">
              <a:lnSpc>
                <a:spcPts val="650"/>
              </a:lnSpc>
              <a:buNone/>
            </a:pPr>
            <a:r>
              <a:rPr lang="en-US" sz="650" b="1" spc="65" kern="0" dirty="0">
                <a:solidFill>
                  <a:srgbClr val="FFFFFF"/>
                </a:solidFill>
                <a:latin typeface="Arial" pitchFamily="34" charset="0"/>
                <a:ea typeface="Arial" pitchFamily="34" charset="-122"/>
                <a:cs typeface="Arial" pitchFamily="34" charset="-120"/>
              </a:rPr>
              <a:t>WEEK 2</a:t>
            </a:r>
            <a:endParaRPr lang="en-US" sz="650" dirty="0"/>
          </a:p>
        </p:txBody>
      </p:sp>
      <p:sp>
        <p:nvSpPr>
          <p:cNvPr id="17" name="Text 20.16"/>
          <p:cNvSpPr txBox="1"/>
          <p:nvPr/>
        </p:nvSpPr>
        <p:spPr>
          <a:xfrm>
            <a:off x="8775481" y="1917652"/>
            <a:ext cx="535867"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M</a:t>
            </a:r>
            <a:endParaRPr lang="en-US" sz="600" dirty="0"/>
          </a:p>
        </p:txBody>
      </p:sp>
      <p:sp>
        <p:nvSpPr>
          <p:cNvPr id="18" name="Text 20.17"/>
          <p:cNvSpPr txBox="1"/>
          <p:nvPr/>
        </p:nvSpPr>
        <p:spPr>
          <a:xfrm>
            <a:off x="9311348" y="1917652"/>
            <a:ext cx="535867"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T</a:t>
            </a:r>
            <a:endParaRPr lang="en-US" sz="600" dirty="0"/>
          </a:p>
        </p:txBody>
      </p:sp>
      <p:sp>
        <p:nvSpPr>
          <p:cNvPr id="19" name="Text 20.18"/>
          <p:cNvSpPr txBox="1"/>
          <p:nvPr/>
        </p:nvSpPr>
        <p:spPr>
          <a:xfrm>
            <a:off x="9847314" y="1917652"/>
            <a:ext cx="535867"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W</a:t>
            </a:r>
            <a:endParaRPr lang="en-US" sz="600" dirty="0"/>
          </a:p>
        </p:txBody>
      </p:sp>
      <p:sp>
        <p:nvSpPr>
          <p:cNvPr id="20" name="Text 20.19"/>
          <p:cNvSpPr txBox="1"/>
          <p:nvPr/>
        </p:nvSpPr>
        <p:spPr>
          <a:xfrm>
            <a:off x="10383181" y="1917652"/>
            <a:ext cx="535867"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T</a:t>
            </a:r>
            <a:endParaRPr lang="en-US" sz="600" dirty="0"/>
          </a:p>
        </p:txBody>
      </p:sp>
      <p:sp>
        <p:nvSpPr>
          <p:cNvPr id="21" name="Text 20.20"/>
          <p:cNvSpPr txBox="1"/>
          <p:nvPr/>
        </p:nvSpPr>
        <p:spPr>
          <a:xfrm>
            <a:off x="10919147" y="1917652"/>
            <a:ext cx="535867"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F</a:t>
            </a:r>
            <a:endParaRPr lang="en-US" sz="600" dirty="0"/>
          </a:p>
        </p:txBody>
      </p:sp>
      <p:sp>
        <p:nvSpPr>
          <p:cNvPr id="22" name="Text 20.21"/>
          <p:cNvSpPr txBox="1"/>
          <p:nvPr/>
        </p:nvSpPr>
        <p:spPr>
          <a:xfrm>
            <a:off x="736582" y="2127197"/>
            <a:ext cx="139536" cy="120647"/>
          </a:xfrm>
          <a:prstGeom prst="rect">
            <a:avLst/>
          </a:prstGeom>
          <a:noFill/>
          <a:ln/>
        </p:spPr>
        <p:txBody>
          <a:bodyPr wrap="square" lIns="0" tIns="0" rIns="0" bIns="0" rtlCol="0" anchor="t"/>
          <a:lstStyle/>
          <a:p>
            <a:pPr algn="l" indent="0" marL="0">
              <a:lnSpc>
                <a:spcPts val="950"/>
              </a:lnSpc>
              <a:buNone/>
            </a:pPr>
            <a:r>
              <a:rPr lang="en-US" sz="950" dirty="0">
                <a:solidFill>
                  <a:srgbClr val="16233F"/>
                </a:solidFill>
                <a:latin typeface="Arial Rounded MT Bold" pitchFamily="34" charset="0"/>
                <a:ea typeface="Arial Rounded MT Bold" pitchFamily="34" charset="-122"/>
                <a:cs typeface="Arial Rounded MT Bold" pitchFamily="34" charset="-120"/>
              </a:rPr>
              <a:t>1</a:t>
            </a:r>
            <a:endParaRPr lang="en-US" sz="950" dirty="0"/>
          </a:p>
        </p:txBody>
      </p:sp>
      <p:sp>
        <p:nvSpPr>
          <p:cNvPr id="23" name="Text 20.22"/>
          <p:cNvSpPr txBox="1"/>
          <p:nvPr/>
        </p:nvSpPr>
        <p:spPr>
          <a:xfrm>
            <a:off x="1142971" y="2127197"/>
            <a:ext cx="1127391" cy="120647"/>
          </a:xfrm>
          <a:prstGeom prst="rect">
            <a:avLst/>
          </a:prstGeom>
          <a:noFill/>
          <a:ln/>
        </p:spPr>
        <p:txBody>
          <a:bodyPr wrap="square" lIns="0" tIns="0" rIns="0" bIns="0" rtlCol="0" anchor="t"/>
          <a:lstStyle/>
          <a:p>
            <a:pPr algn="l" indent="0" marL="0">
              <a:lnSpc>
                <a:spcPts val="950"/>
              </a:lnSpc>
              <a:buNone/>
            </a:pPr>
            <a:r>
              <a:rPr lang="en-US" sz="950" dirty="0">
                <a:solidFill>
                  <a:srgbClr val="16233F"/>
                </a:solidFill>
                <a:latin typeface="Arial Rounded MT Bold" pitchFamily="34" charset="0"/>
                <a:ea typeface="Arial Rounded MT Bold" pitchFamily="34" charset="-122"/>
                <a:cs typeface="Arial Rounded MT Bold" pitchFamily="34" charset="-120"/>
              </a:rPr>
              <a:t>Proposal · 19 Oct</a:t>
            </a:r>
            <a:endParaRPr lang="en-US" sz="950" dirty="0"/>
          </a:p>
        </p:txBody>
      </p:sp>
      <p:sp>
        <p:nvSpPr>
          <p:cNvPr id="24" name="Text 20.23"/>
          <p:cNvSpPr txBox="1"/>
          <p:nvPr/>
        </p:nvSpPr>
        <p:spPr>
          <a:xfrm>
            <a:off x="736582" y="2343091"/>
            <a:ext cx="203899" cy="95248"/>
          </a:xfrm>
          <a:prstGeom prst="rect">
            <a:avLst/>
          </a:prstGeom>
          <a:noFill/>
          <a:ln/>
        </p:spPr>
        <p:txBody>
          <a:bodyPr wrap="square" lIns="0" tIns="0" rIns="0" bIns="0" rtlCol="0" anchor="t"/>
          <a:lstStyle/>
          <a:p>
            <a:pPr algn="l" indent="0" marL="0">
              <a:lnSpc>
                <a:spcPts val="750"/>
              </a:lnSpc>
              <a:buNone/>
            </a:pPr>
            <a:r>
              <a:rPr lang="en-US" sz="750" dirty="0">
                <a:solidFill>
                  <a:srgbClr val="6E7D9A"/>
                </a:solidFill>
                <a:latin typeface="Arial" pitchFamily="34" charset="0"/>
                <a:ea typeface="Arial" pitchFamily="34" charset="-122"/>
                <a:cs typeface="Arial" pitchFamily="34" charset="-120"/>
              </a:rPr>
              <a:t>1.1</a:t>
            </a:r>
            <a:endParaRPr lang="en-US" sz="750" dirty="0"/>
          </a:p>
        </p:txBody>
      </p:sp>
      <p:sp>
        <p:nvSpPr>
          <p:cNvPr id="25" name="Text 20.24"/>
          <p:cNvSpPr txBox="1"/>
          <p:nvPr/>
        </p:nvSpPr>
        <p:spPr>
          <a:xfrm>
            <a:off x="1142971" y="2343091"/>
            <a:ext cx="2578036" cy="107947"/>
          </a:xfrm>
          <a:prstGeom prst="rect">
            <a:avLst/>
          </a:prstGeom>
          <a:noFill/>
          <a:ln/>
        </p:spPr>
        <p:txBody>
          <a:bodyPr wrap="square" lIns="0" tIns="0" rIns="0" bIns="0" rtlCol="0" anchor="t"/>
          <a:lstStyle/>
          <a:p>
            <a:pPr algn="l" indent="0" marL="0">
              <a:lnSpc>
                <a:spcPts val="850"/>
              </a:lnSpc>
              <a:buNone/>
            </a:pPr>
            <a:r>
              <a:rPr lang="en-US" sz="850" dirty="0">
                <a:solidFill>
                  <a:srgbClr val="16233F"/>
                </a:solidFill>
                <a:latin typeface="Arial" pitchFamily="34" charset="0"/>
                <a:ea typeface="Arial" pitchFamily="34" charset="-122"/>
                <a:cs typeface="Arial" pitchFamily="34" charset="-120"/>
              </a:rPr>
              <a:t>Concept &amp; core rule</a:t>
            </a:r>
            <a:endParaRPr lang="en-US" sz="850" dirty="0"/>
          </a:p>
        </p:txBody>
      </p:sp>
      <p:sp>
        <p:nvSpPr>
          <p:cNvPr id="26" name="Text 20.25"/>
          <p:cNvSpPr txBox="1"/>
          <p:nvPr/>
        </p:nvSpPr>
        <p:spPr>
          <a:xfrm>
            <a:off x="3746406" y="2311342"/>
            <a:ext cx="838179" cy="152396"/>
          </a:xfrm>
          <a:prstGeom prst="rect">
            <a:avLst/>
          </a:prstGeom>
          <a:noFill/>
          <a:ln/>
        </p:spPr>
        <p:txBody>
          <a:bodyPr wrap="square" lIns="0" tIns="0" rIns="0" bIns="0" rtlCol="0" anchor="ctr"/>
          <a:lstStyle/>
          <a:p>
            <a:pPr algn="ctr" indent="0" marL="0">
              <a:lnSpc>
                <a:spcPts val="650"/>
              </a:lnSpc>
              <a:buNone/>
            </a:pPr>
            <a:r>
              <a:rPr lang="en-US" sz="650" b="1" spc="13" kern="0" dirty="0">
                <a:solidFill>
                  <a:srgbClr val="3B4A66"/>
                </a:solidFill>
                <a:latin typeface="Arial" pitchFamily="34" charset="0"/>
                <a:ea typeface="Arial" pitchFamily="34" charset="-122"/>
                <a:cs typeface="Arial" pitchFamily="34" charset="-120"/>
              </a:rPr>
              <a:t>Team</a:t>
            </a:r>
            <a:endParaRPr lang="en-US" sz="650" dirty="0"/>
          </a:p>
        </p:txBody>
      </p:sp>
      <p:sp>
        <p:nvSpPr>
          <p:cNvPr id="27" name="Text 20.26"/>
          <p:cNvSpPr txBox="1"/>
          <p:nvPr/>
        </p:nvSpPr>
        <p:spPr>
          <a:xfrm>
            <a:off x="4762381" y="2343091"/>
            <a:ext cx="457189" cy="95248"/>
          </a:xfrm>
          <a:prstGeom prst="rect">
            <a:avLst/>
          </a:prstGeom>
          <a:noFill/>
          <a:ln/>
        </p:spPr>
        <p:txBody>
          <a:bodyPr wrap="square" lIns="0" tIns="0" rIns="0" bIns="0" rtlCol="0" anchor="t"/>
          <a:lstStyle/>
          <a:p>
            <a:pPr algn="ctr" indent="0" marL="0">
              <a:lnSpc>
                <a:spcPts val="750"/>
              </a:lnSpc>
              <a:buNone/>
            </a:pPr>
            <a:r>
              <a:rPr lang="en-US" sz="750" dirty="0">
                <a:solidFill>
                  <a:srgbClr val="3B4A66"/>
                </a:solidFill>
                <a:latin typeface="Arial" pitchFamily="34" charset="0"/>
                <a:ea typeface="Arial" pitchFamily="34" charset="-122"/>
                <a:cs typeface="Arial" pitchFamily="34" charset="-120"/>
              </a:rPr>
              <a:t>1 wk</a:t>
            </a:r>
            <a:endParaRPr lang="en-US" sz="750" dirty="0"/>
          </a:p>
        </p:txBody>
      </p:sp>
      <p:sp>
        <p:nvSpPr>
          <p:cNvPr id="28" name="Text 20.27"/>
          <p:cNvSpPr txBox="1"/>
          <p:nvPr/>
        </p:nvSpPr>
        <p:spPr>
          <a:xfrm>
            <a:off x="5371966" y="2311342"/>
            <a:ext cx="482588" cy="152396"/>
          </a:xfrm>
          <a:prstGeom prst="rect">
            <a:avLst/>
          </a:prstGeom>
          <a:noFill/>
          <a:ln/>
        </p:spPr>
        <p:txBody>
          <a:bodyPr wrap="square" lIns="0" tIns="0" rIns="0" bIns="0" rtlCol="0" anchor="ctr"/>
          <a:lstStyle/>
          <a:p>
            <a:pPr algn="ctr" indent="0" marL="0">
              <a:lnSpc>
                <a:spcPts val="600"/>
              </a:lnSpc>
              <a:buNone/>
            </a:pPr>
            <a:r>
              <a:rPr lang="en-US" sz="600" b="1" spc="48" kern="0" dirty="0">
                <a:solidFill>
                  <a:srgbClr val="FFFFFF"/>
                </a:solidFill>
                <a:latin typeface="Arial" pitchFamily="34" charset="0"/>
                <a:ea typeface="Arial" pitchFamily="34" charset="-122"/>
                <a:cs typeface="Arial" pitchFamily="34" charset="-120"/>
              </a:rPr>
              <a:t>100%</a:t>
            </a:r>
            <a:endParaRPr lang="en-US" sz="600" dirty="0"/>
          </a:p>
        </p:txBody>
      </p:sp>
      <p:sp>
        <p:nvSpPr>
          <p:cNvPr id="29" name="Text 20.28"/>
          <p:cNvSpPr txBox="1"/>
          <p:nvPr/>
        </p:nvSpPr>
        <p:spPr>
          <a:xfrm>
            <a:off x="736582" y="2546286"/>
            <a:ext cx="203899" cy="95248"/>
          </a:xfrm>
          <a:prstGeom prst="rect">
            <a:avLst/>
          </a:prstGeom>
          <a:noFill/>
          <a:ln/>
        </p:spPr>
        <p:txBody>
          <a:bodyPr wrap="square" lIns="0" tIns="0" rIns="0" bIns="0" rtlCol="0" anchor="t"/>
          <a:lstStyle/>
          <a:p>
            <a:pPr algn="l" indent="0" marL="0">
              <a:lnSpc>
                <a:spcPts val="750"/>
              </a:lnSpc>
              <a:buNone/>
            </a:pPr>
            <a:r>
              <a:rPr lang="en-US" sz="750" dirty="0">
                <a:solidFill>
                  <a:srgbClr val="6E7D9A"/>
                </a:solidFill>
                <a:latin typeface="Arial" pitchFamily="34" charset="0"/>
                <a:ea typeface="Arial" pitchFamily="34" charset="-122"/>
                <a:cs typeface="Arial" pitchFamily="34" charset="-120"/>
              </a:rPr>
              <a:t>1.2</a:t>
            </a:r>
            <a:endParaRPr lang="en-US" sz="750" dirty="0"/>
          </a:p>
        </p:txBody>
      </p:sp>
      <p:sp>
        <p:nvSpPr>
          <p:cNvPr id="30" name="Text 20.29"/>
          <p:cNvSpPr txBox="1"/>
          <p:nvPr/>
        </p:nvSpPr>
        <p:spPr>
          <a:xfrm>
            <a:off x="1142971" y="2546286"/>
            <a:ext cx="2578036" cy="107947"/>
          </a:xfrm>
          <a:prstGeom prst="rect">
            <a:avLst/>
          </a:prstGeom>
          <a:noFill/>
          <a:ln/>
        </p:spPr>
        <p:txBody>
          <a:bodyPr wrap="square" lIns="0" tIns="0" rIns="0" bIns="0" rtlCol="0" anchor="t"/>
          <a:lstStyle/>
          <a:p>
            <a:pPr algn="l" indent="0" marL="0">
              <a:lnSpc>
                <a:spcPts val="850"/>
              </a:lnSpc>
              <a:buNone/>
            </a:pPr>
            <a:r>
              <a:rPr lang="en-US" sz="850" dirty="0">
                <a:solidFill>
                  <a:srgbClr val="16233F"/>
                </a:solidFill>
                <a:latin typeface="Arial" pitchFamily="34" charset="0"/>
                <a:ea typeface="Arial" pitchFamily="34" charset="-122"/>
                <a:cs typeface="Arial" pitchFamily="34" charset="-120"/>
              </a:rPr>
              <a:t>Mechanics design: both mini-games</a:t>
            </a:r>
            <a:endParaRPr lang="en-US" sz="850" dirty="0"/>
          </a:p>
        </p:txBody>
      </p:sp>
      <p:sp>
        <p:nvSpPr>
          <p:cNvPr id="31" name="Text 20.30"/>
          <p:cNvSpPr txBox="1"/>
          <p:nvPr/>
        </p:nvSpPr>
        <p:spPr>
          <a:xfrm>
            <a:off x="3746406" y="2514537"/>
            <a:ext cx="838179" cy="152396"/>
          </a:xfrm>
          <a:prstGeom prst="rect">
            <a:avLst/>
          </a:prstGeom>
          <a:noFill/>
          <a:ln/>
        </p:spPr>
        <p:txBody>
          <a:bodyPr wrap="square" lIns="0" tIns="0" rIns="0" bIns="0" rtlCol="0" anchor="ctr"/>
          <a:lstStyle/>
          <a:p>
            <a:pPr algn="ctr" indent="0" marL="0">
              <a:lnSpc>
                <a:spcPts val="650"/>
              </a:lnSpc>
              <a:buNone/>
            </a:pPr>
            <a:r>
              <a:rPr lang="en-US" sz="650" b="1" spc="13" kern="0" dirty="0">
                <a:solidFill>
                  <a:srgbClr val="3B4A66"/>
                </a:solidFill>
                <a:latin typeface="Arial" pitchFamily="34" charset="0"/>
                <a:ea typeface="Arial" pitchFamily="34" charset="-122"/>
                <a:cs typeface="Arial" pitchFamily="34" charset="-120"/>
              </a:rPr>
              <a:t>Team</a:t>
            </a:r>
            <a:endParaRPr lang="en-US" sz="650" dirty="0"/>
          </a:p>
        </p:txBody>
      </p:sp>
      <p:sp>
        <p:nvSpPr>
          <p:cNvPr id="32" name="Text 20.31"/>
          <p:cNvSpPr txBox="1"/>
          <p:nvPr/>
        </p:nvSpPr>
        <p:spPr>
          <a:xfrm>
            <a:off x="4762381" y="2546286"/>
            <a:ext cx="457189" cy="95248"/>
          </a:xfrm>
          <a:prstGeom prst="rect">
            <a:avLst/>
          </a:prstGeom>
          <a:noFill/>
          <a:ln/>
        </p:spPr>
        <p:txBody>
          <a:bodyPr wrap="square" lIns="0" tIns="0" rIns="0" bIns="0" rtlCol="0" anchor="t"/>
          <a:lstStyle/>
          <a:p>
            <a:pPr algn="ctr" indent="0" marL="0">
              <a:lnSpc>
                <a:spcPts val="750"/>
              </a:lnSpc>
              <a:buNone/>
            </a:pPr>
            <a:r>
              <a:rPr lang="en-US" sz="750" dirty="0">
                <a:solidFill>
                  <a:srgbClr val="3B4A66"/>
                </a:solidFill>
                <a:latin typeface="Arial" pitchFamily="34" charset="0"/>
                <a:ea typeface="Arial" pitchFamily="34" charset="-122"/>
                <a:cs typeface="Arial" pitchFamily="34" charset="-120"/>
              </a:rPr>
              <a:t>2 wk</a:t>
            </a:r>
            <a:endParaRPr lang="en-US" sz="750" dirty="0"/>
          </a:p>
        </p:txBody>
      </p:sp>
      <p:sp>
        <p:nvSpPr>
          <p:cNvPr id="33" name="Text 20.32"/>
          <p:cNvSpPr txBox="1"/>
          <p:nvPr/>
        </p:nvSpPr>
        <p:spPr>
          <a:xfrm>
            <a:off x="5371966" y="2514537"/>
            <a:ext cx="482588" cy="152396"/>
          </a:xfrm>
          <a:prstGeom prst="rect">
            <a:avLst/>
          </a:prstGeom>
          <a:noFill/>
          <a:ln/>
        </p:spPr>
        <p:txBody>
          <a:bodyPr wrap="square" lIns="0" tIns="0" rIns="0" bIns="0" rtlCol="0" anchor="ctr"/>
          <a:lstStyle/>
          <a:p>
            <a:pPr algn="ctr" indent="0" marL="0">
              <a:lnSpc>
                <a:spcPts val="600"/>
              </a:lnSpc>
              <a:buNone/>
            </a:pPr>
            <a:r>
              <a:rPr lang="en-US" sz="600" b="1" spc="48" kern="0" dirty="0">
                <a:solidFill>
                  <a:srgbClr val="FFFFFF"/>
                </a:solidFill>
                <a:latin typeface="Arial" pitchFamily="34" charset="0"/>
                <a:ea typeface="Arial" pitchFamily="34" charset="-122"/>
                <a:cs typeface="Arial" pitchFamily="34" charset="-120"/>
              </a:rPr>
              <a:t>100%</a:t>
            </a:r>
            <a:endParaRPr lang="en-US" sz="600" dirty="0"/>
          </a:p>
        </p:txBody>
      </p:sp>
      <p:sp>
        <p:nvSpPr>
          <p:cNvPr id="34" name="Text 20.33"/>
          <p:cNvSpPr txBox="1"/>
          <p:nvPr/>
        </p:nvSpPr>
        <p:spPr>
          <a:xfrm>
            <a:off x="736582" y="2749481"/>
            <a:ext cx="203899" cy="95248"/>
          </a:xfrm>
          <a:prstGeom prst="rect">
            <a:avLst/>
          </a:prstGeom>
          <a:noFill/>
          <a:ln/>
        </p:spPr>
        <p:txBody>
          <a:bodyPr wrap="square" lIns="0" tIns="0" rIns="0" bIns="0" rtlCol="0" anchor="t"/>
          <a:lstStyle/>
          <a:p>
            <a:pPr algn="l" indent="0" marL="0">
              <a:lnSpc>
                <a:spcPts val="750"/>
              </a:lnSpc>
              <a:buNone/>
            </a:pPr>
            <a:r>
              <a:rPr lang="en-US" sz="750" dirty="0">
                <a:solidFill>
                  <a:srgbClr val="6E7D9A"/>
                </a:solidFill>
                <a:latin typeface="Arial" pitchFamily="34" charset="0"/>
                <a:ea typeface="Arial" pitchFamily="34" charset="-122"/>
                <a:cs typeface="Arial" pitchFamily="34" charset="-120"/>
              </a:rPr>
              <a:t>1.3</a:t>
            </a:r>
            <a:endParaRPr lang="en-US" sz="750" dirty="0"/>
          </a:p>
        </p:txBody>
      </p:sp>
      <p:sp>
        <p:nvSpPr>
          <p:cNvPr id="35" name="Text 20.34"/>
          <p:cNvSpPr txBox="1"/>
          <p:nvPr/>
        </p:nvSpPr>
        <p:spPr>
          <a:xfrm>
            <a:off x="1142971" y="2749481"/>
            <a:ext cx="2578036" cy="107947"/>
          </a:xfrm>
          <a:prstGeom prst="rect">
            <a:avLst/>
          </a:prstGeom>
          <a:noFill/>
          <a:ln/>
        </p:spPr>
        <p:txBody>
          <a:bodyPr wrap="square" lIns="0" tIns="0" rIns="0" bIns="0" rtlCol="0" anchor="t"/>
          <a:lstStyle/>
          <a:p>
            <a:pPr algn="l" indent="0" marL="0">
              <a:lnSpc>
                <a:spcPts val="850"/>
              </a:lnSpc>
              <a:buNone/>
            </a:pPr>
            <a:r>
              <a:rPr lang="en-US" sz="850" dirty="0">
                <a:solidFill>
                  <a:srgbClr val="16233F"/>
                </a:solidFill>
                <a:latin typeface="Arial" pitchFamily="34" charset="0"/>
                <a:ea typeface="Arial" pitchFamily="34" charset="-122"/>
                <a:cs typeface="Arial" pitchFamily="34" charset="-120"/>
              </a:rPr>
              <a:t>Market &amp; prior-art research</a:t>
            </a:r>
            <a:endParaRPr lang="en-US" sz="850" dirty="0"/>
          </a:p>
        </p:txBody>
      </p:sp>
      <p:sp>
        <p:nvSpPr>
          <p:cNvPr id="36" name="Text 20.35"/>
          <p:cNvSpPr txBox="1"/>
          <p:nvPr/>
        </p:nvSpPr>
        <p:spPr>
          <a:xfrm>
            <a:off x="3746406" y="2717732"/>
            <a:ext cx="838179" cy="152396"/>
          </a:xfrm>
          <a:prstGeom prst="rect">
            <a:avLst/>
          </a:prstGeom>
          <a:noFill/>
          <a:ln/>
        </p:spPr>
        <p:txBody>
          <a:bodyPr wrap="square" lIns="0" tIns="0" rIns="0" bIns="0" rtlCol="0" anchor="ctr"/>
          <a:lstStyle/>
          <a:p>
            <a:pPr algn="ctr" indent="0" marL="0">
              <a:lnSpc>
                <a:spcPts val="650"/>
              </a:lnSpc>
              <a:buNone/>
            </a:pPr>
            <a:r>
              <a:rPr lang="en-US" sz="650" b="1" spc="13" kern="0" dirty="0">
                <a:solidFill>
                  <a:srgbClr val="3B4A66"/>
                </a:solidFill>
                <a:latin typeface="Arial" pitchFamily="34" charset="0"/>
                <a:ea typeface="Arial" pitchFamily="34" charset="-122"/>
                <a:cs typeface="Arial" pitchFamily="34" charset="-120"/>
              </a:rPr>
              <a:t>Team</a:t>
            </a:r>
            <a:endParaRPr lang="en-US" sz="650" dirty="0"/>
          </a:p>
        </p:txBody>
      </p:sp>
      <p:sp>
        <p:nvSpPr>
          <p:cNvPr id="37" name="Text 20.36"/>
          <p:cNvSpPr txBox="1"/>
          <p:nvPr/>
        </p:nvSpPr>
        <p:spPr>
          <a:xfrm>
            <a:off x="4762381" y="2749481"/>
            <a:ext cx="457189" cy="95248"/>
          </a:xfrm>
          <a:prstGeom prst="rect">
            <a:avLst/>
          </a:prstGeom>
          <a:noFill/>
          <a:ln/>
        </p:spPr>
        <p:txBody>
          <a:bodyPr wrap="square" lIns="0" tIns="0" rIns="0" bIns="0" rtlCol="0" anchor="t"/>
          <a:lstStyle/>
          <a:p>
            <a:pPr algn="ctr" indent="0" marL="0">
              <a:lnSpc>
                <a:spcPts val="750"/>
              </a:lnSpc>
              <a:buNone/>
            </a:pPr>
            <a:r>
              <a:rPr lang="en-US" sz="750" dirty="0">
                <a:solidFill>
                  <a:srgbClr val="3B4A66"/>
                </a:solidFill>
                <a:latin typeface="Arial" pitchFamily="34" charset="0"/>
                <a:ea typeface="Arial" pitchFamily="34" charset="-122"/>
                <a:cs typeface="Arial" pitchFamily="34" charset="-120"/>
              </a:rPr>
              <a:t>1 wk</a:t>
            </a:r>
            <a:endParaRPr lang="en-US" sz="750" dirty="0"/>
          </a:p>
        </p:txBody>
      </p:sp>
      <p:sp>
        <p:nvSpPr>
          <p:cNvPr id="38" name="Text 20.37"/>
          <p:cNvSpPr txBox="1"/>
          <p:nvPr/>
        </p:nvSpPr>
        <p:spPr>
          <a:xfrm>
            <a:off x="5371966" y="2717732"/>
            <a:ext cx="482588" cy="152396"/>
          </a:xfrm>
          <a:prstGeom prst="rect">
            <a:avLst/>
          </a:prstGeom>
          <a:noFill/>
          <a:ln/>
        </p:spPr>
        <p:txBody>
          <a:bodyPr wrap="square" lIns="0" tIns="0" rIns="0" bIns="0" rtlCol="0" anchor="ctr"/>
          <a:lstStyle/>
          <a:p>
            <a:pPr algn="ctr" indent="0" marL="0">
              <a:lnSpc>
                <a:spcPts val="600"/>
              </a:lnSpc>
              <a:buNone/>
            </a:pPr>
            <a:r>
              <a:rPr lang="en-US" sz="600" b="1" spc="48" kern="0" dirty="0">
                <a:solidFill>
                  <a:srgbClr val="FFFFFF"/>
                </a:solidFill>
                <a:latin typeface="Arial" pitchFamily="34" charset="0"/>
                <a:ea typeface="Arial" pitchFamily="34" charset="-122"/>
                <a:cs typeface="Arial" pitchFamily="34" charset="-120"/>
              </a:rPr>
              <a:t>100%</a:t>
            </a:r>
            <a:endParaRPr lang="en-US" sz="600" dirty="0"/>
          </a:p>
        </p:txBody>
      </p:sp>
      <p:sp>
        <p:nvSpPr>
          <p:cNvPr id="39" name="Text 20.38"/>
          <p:cNvSpPr txBox="1"/>
          <p:nvPr/>
        </p:nvSpPr>
        <p:spPr>
          <a:xfrm>
            <a:off x="736582" y="2952676"/>
            <a:ext cx="203899" cy="95248"/>
          </a:xfrm>
          <a:prstGeom prst="rect">
            <a:avLst/>
          </a:prstGeom>
          <a:noFill/>
          <a:ln/>
        </p:spPr>
        <p:txBody>
          <a:bodyPr wrap="square" lIns="0" tIns="0" rIns="0" bIns="0" rtlCol="0" anchor="t"/>
          <a:lstStyle/>
          <a:p>
            <a:pPr algn="l" indent="0" marL="0">
              <a:lnSpc>
                <a:spcPts val="750"/>
              </a:lnSpc>
              <a:buNone/>
            </a:pPr>
            <a:r>
              <a:rPr lang="en-US" sz="750" dirty="0">
                <a:solidFill>
                  <a:srgbClr val="6E7D9A"/>
                </a:solidFill>
                <a:latin typeface="Arial" pitchFamily="34" charset="0"/>
                <a:ea typeface="Arial" pitchFamily="34" charset="-122"/>
                <a:cs typeface="Arial" pitchFamily="34" charset="-120"/>
              </a:rPr>
              <a:t>1.4</a:t>
            </a:r>
            <a:endParaRPr lang="en-US" sz="750" dirty="0"/>
          </a:p>
        </p:txBody>
      </p:sp>
      <p:sp>
        <p:nvSpPr>
          <p:cNvPr id="40" name="Text 20.39"/>
          <p:cNvSpPr txBox="1"/>
          <p:nvPr/>
        </p:nvSpPr>
        <p:spPr>
          <a:xfrm>
            <a:off x="1142971" y="2952676"/>
            <a:ext cx="2578036" cy="107947"/>
          </a:xfrm>
          <a:prstGeom prst="rect">
            <a:avLst/>
          </a:prstGeom>
          <a:noFill/>
          <a:ln/>
        </p:spPr>
        <p:txBody>
          <a:bodyPr wrap="square" lIns="0" tIns="0" rIns="0" bIns="0" rtlCol="0" anchor="t"/>
          <a:lstStyle/>
          <a:p>
            <a:pPr algn="l" indent="0" marL="0">
              <a:lnSpc>
                <a:spcPts val="850"/>
              </a:lnSpc>
              <a:buNone/>
            </a:pPr>
            <a:r>
              <a:rPr lang="en-US" sz="850" dirty="0">
                <a:solidFill>
                  <a:srgbClr val="16233F"/>
                </a:solidFill>
                <a:latin typeface="Arial" pitchFamily="34" charset="0"/>
                <a:ea typeface="Arial" pitchFamily="34" charset="-122"/>
                <a:cs typeface="Arial" pitchFamily="34" charset="-120"/>
              </a:rPr>
              <a:t>Physics prototype (Three.js)</a:t>
            </a:r>
            <a:endParaRPr lang="en-US" sz="850" dirty="0"/>
          </a:p>
        </p:txBody>
      </p:sp>
      <p:sp>
        <p:nvSpPr>
          <p:cNvPr id="41" name="Text 20.40"/>
          <p:cNvSpPr txBox="1"/>
          <p:nvPr/>
        </p:nvSpPr>
        <p:spPr>
          <a:xfrm>
            <a:off x="3746406" y="2920927"/>
            <a:ext cx="838179" cy="152396"/>
          </a:xfrm>
          <a:prstGeom prst="rect">
            <a:avLst/>
          </a:prstGeom>
          <a:noFill/>
          <a:ln/>
        </p:spPr>
        <p:txBody>
          <a:bodyPr wrap="square" lIns="0" tIns="0" rIns="0" bIns="0" rtlCol="0" anchor="ctr"/>
          <a:lstStyle/>
          <a:p>
            <a:pPr algn="ctr" indent="0" marL="0">
              <a:lnSpc>
                <a:spcPts val="650"/>
              </a:lnSpc>
              <a:buNone/>
            </a:pPr>
            <a:r>
              <a:rPr lang="en-US" sz="650" b="1" spc="13" kern="0" dirty="0">
                <a:solidFill>
                  <a:srgbClr val="3B4A66"/>
                </a:solidFill>
                <a:latin typeface="Arial" pitchFamily="34" charset="0"/>
                <a:ea typeface="Arial" pitchFamily="34" charset="-122"/>
                <a:cs typeface="Arial" pitchFamily="34" charset="-120"/>
              </a:rPr>
              <a:t>Team</a:t>
            </a:r>
            <a:endParaRPr lang="en-US" sz="650" dirty="0"/>
          </a:p>
        </p:txBody>
      </p:sp>
      <p:sp>
        <p:nvSpPr>
          <p:cNvPr id="42" name="Text 20.41"/>
          <p:cNvSpPr txBox="1"/>
          <p:nvPr/>
        </p:nvSpPr>
        <p:spPr>
          <a:xfrm>
            <a:off x="4762381" y="2952676"/>
            <a:ext cx="457189" cy="95248"/>
          </a:xfrm>
          <a:prstGeom prst="rect">
            <a:avLst/>
          </a:prstGeom>
          <a:noFill/>
          <a:ln/>
        </p:spPr>
        <p:txBody>
          <a:bodyPr wrap="square" lIns="0" tIns="0" rIns="0" bIns="0" rtlCol="0" anchor="t"/>
          <a:lstStyle/>
          <a:p>
            <a:pPr algn="ctr" indent="0" marL="0">
              <a:lnSpc>
                <a:spcPts val="750"/>
              </a:lnSpc>
              <a:buNone/>
            </a:pPr>
            <a:r>
              <a:rPr lang="en-US" sz="750" dirty="0">
                <a:solidFill>
                  <a:srgbClr val="3B4A66"/>
                </a:solidFill>
                <a:latin typeface="Arial" pitchFamily="34" charset="0"/>
                <a:ea typeface="Arial" pitchFamily="34" charset="-122"/>
                <a:cs typeface="Arial" pitchFamily="34" charset="-120"/>
              </a:rPr>
              <a:t>1 wk</a:t>
            </a:r>
            <a:endParaRPr lang="en-US" sz="750" dirty="0"/>
          </a:p>
        </p:txBody>
      </p:sp>
      <p:sp>
        <p:nvSpPr>
          <p:cNvPr id="43" name="Text 20.42"/>
          <p:cNvSpPr txBox="1"/>
          <p:nvPr/>
        </p:nvSpPr>
        <p:spPr>
          <a:xfrm>
            <a:off x="5371966" y="2920927"/>
            <a:ext cx="482588" cy="152396"/>
          </a:xfrm>
          <a:prstGeom prst="rect">
            <a:avLst/>
          </a:prstGeom>
          <a:noFill/>
          <a:ln/>
        </p:spPr>
        <p:txBody>
          <a:bodyPr wrap="square" lIns="0" tIns="0" rIns="0" bIns="0" rtlCol="0" anchor="ctr"/>
          <a:lstStyle/>
          <a:p>
            <a:pPr algn="ctr" indent="0" marL="0">
              <a:lnSpc>
                <a:spcPts val="600"/>
              </a:lnSpc>
              <a:buNone/>
            </a:pPr>
            <a:r>
              <a:rPr lang="en-US" sz="600" b="1" spc="48" kern="0" dirty="0">
                <a:solidFill>
                  <a:srgbClr val="FFFFFF"/>
                </a:solidFill>
                <a:latin typeface="Arial" pitchFamily="34" charset="0"/>
                <a:ea typeface="Arial" pitchFamily="34" charset="-122"/>
                <a:cs typeface="Arial" pitchFamily="34" charset="-120"/>
              </a:rPr>
              <a:t>100%</a:t>
            </a:r>
            <a:endParaRPr lang="en-US" sz="600" dirty="0"/>
          </a:p>
        </p:txBody>
      </p:sp>
      <p:sp>
        <p:nvSpPr>
          <p:cNvPr id="44" name="Text 20.43"/>
          <p:cNvSpPr txBox="1"/>
          <p:nvPr/>
        </p:nvSpPr>
        <p:spPr>
          <a:xfrm>
            <a:off x="736582" y="3155871"/>
            <a:ext cx="203899" cy="95248"/>
          </a:xfrm>
          <a:prstGeom prst="rect">
            <a:avLst/>
          </a:prstGeom>
          <a:noFill/>
          <a:ln/>
        </p:spPr>
        <p:txBody>
          <a:bodyPr wrap="square" lIns="0" tIns="0" rIns="0" bIns="0" rtlCol="0" anchor="t"/>
          <a:lstStyle/>
          <a:p>
            <a:pPr algn="l" indent="0" marL="0">
              <a:lnSpc>
                <a:spcPts val="750"/>
              </a:lnSpc>
              <a:buNone/>
            </a:pPr>
            <a:r>
              <a:rPr lang="en-US" sz="750" dirty="0">
                <a:solidFill>
                  <a:srgbClr val="6E7D9A"/>
                </a:solidFill>
                <a:latin typeface="Arial" pitchFamily="34" charset="0"/>
                <a:ea typeface="Arial" pitchFamily="34" charset="-122"/>
                <a:cs typeface="Arial" pitchFamily="34" charset="-120"/>
              </a:rPr>
              <a:t>1.5</a:t>
            </a:r>
            <a:endParaRPr lang="en-US" sz="750" dirty="0"/>
          </a:p>
        </p:txBody>
      </p:sp>
      <p:sp>
        <p:nvSpPr>
          <p:cNvPr id="45" name="Text 20.44"/>
          <p:cNvSpPr txBox="1"/>
          <p:nvPr/>
        </p:nvSpPr>
        <p:spPr>
          <a:xfrm>
            <a:off x="1142971" y="3155871"/>
            <a:ext cx="2578036" cy="107947"/>
          </a:xfrm>
          <a:prstGeom prst="rect">
            <a:avLst/>
          </a:prstGeom>
          <a:noFill/>
          <a:ln/>
        </p:spPr>
        <p:txBody>
          <a:bodyPr wrap="square" lIns="0" tIns="0" rIns="0" bIns="0" rtlCol="0" anchor="t"/>
          <a:lstStyle/>
          <a:p>
            <a:pPr algn="l" indent="0" marL="0">
              <a:lnSpc>
                <a:spcPts val="850"/>
              </a:lnSpc>
              <a:buNone/>
            </a:pPr>
            <a:r>
              <a:rPr lang="en-US" sz="850" dirty="0">
                <a:solidFill>
                  <a:srgbClr val="16233F"/>
                </a:solidFill>
                <a:latin typeface="Arial" pitchFamily="34" charset="0"/>
                <a:ea typeface="Arial" pitchFamily="34" charset="-122"/>
                <a:cs typeface="Arial" pitchFamily="34" charset="-120"/>
              </a:rPr>
              <a:t>Art, logo &amp; level drafts</a:t>
            </a:r>
            <a:endParaRPr lang="en-US" sz="850" dirty="0"/>
          </a:p>
        </p:txBody>
      </p:sp>
      <p:sp>
        <p:nvSpPr>
          <p:cNvPr id="46" name="Text 20.45"/>
          <p:cNvSpPr txBox="1"/>
          <p:nvPr/>
        </p:nvSpPr>
        <p:spPr>
          <a:xfrm>
            <a:off x="3746406" y="3124122"/>
            <a:ext cx="838179" cy="152396"/>
          </a:xfrm>
          <a:prstGeom prst="rect">
            <a:avLst/>
          </a:prstGeom>
          <a:noFill/>
          <a:ln/>
        </p:spPr>
        <p:txBody>
          <a:bodyPr wrap="square" lIns="0" tIns="0" rIns="0" bIns="0" rtlCol="0" anchor="ctr"/>
          <a:lstStyle/>
          <a:p>
            <a:pPr algn="ctr" indent="0" marL="0">
              <a:lnSpc>
                <a:spcPts val="650"/>
              </a:lnSpc>
              <a:buNone/>
            </a:pPr>
            <a:r>
              <a:rPr lang="en-US" sz="650" b="1" spc="13" kern="0" dirty="0">
                <a:solidFill>
                  <a:srgbClr val="3B4A66"/>
                </a:solidFill>
                <a:latin typeface="Arial" pitchFamily="34" charset="0"/>
                <a:ea typeface="Arial" pitchFamily="34" charset="-122"/>
                <a:cs typeface="Arial" pitchFamily="34" charset="-120"/>
              </a:rPr>
              <a:t>Team</a:t>
            </a:r>
            <a:endParaRPr lang="en-US" sz="650" dirty="0"/>
          </a:p>
        </p:txBody>
      </p:sp>
      <p:sp>
        <p:nvSpPr>
          <p:cNvPr id="47" name="Text 20.46"/>
          <p:cNvSpPr txBox="1"/>
          <p:nvPr/>
        </p:nvSpPr>
        <p:spPr>
          <a:xfrm>
            <a:off x="4762381" y="3155871"/>
            <a:ext cx="457189" cy="95248"/>
          </a:xfrm>
          <a:prstGeom prst="rect">
            <a:avLst/>
          </a:prstGeom>
          <a:noFill/>
          <a:ln/>
        </p:spPr>
        <p:txBody>
          <a:bodyPr wrap="square" lIns="0" tIns="0" rIns="0" bIns="0" rtlCol="0" anchor="t"/>
          <a:lstStyle/>
          <a:p>
            <a:pPr algn="ctr" indent="0" marL="0">
              <a:lnSpc>
                <a:spcPts val="750"/>
              </a:lnSpc>
              <a:buNone/>
            </a:pPr>
            <a:r>
              <a:rPr lang="en-US" sz="750" dirty="0">
                <a:solidFill>
                  <a:srgbClr val="3B4A66"/>
                </a:solidFill>
                <a:latin typeface="Arial" pitchFamily="34" charset="0"/>
                <a:ea typeface="Arial" pitchFamily="34" charset="-122"/>
                <a:cs typeface="Arial" pitchFamily="34" charset="-120"/>
              </a:rPr>
              <a:t>1 wk</a:t>
            </a:r>
            <a:endParaRPr lang="en-US" sz="750" dirty="0"/>
          </a:p>
        </p:txBody>
      </p:sp>
      <p:sp>
        <p:nvSpPr>
          <p:cNvPr id="48" name="Text 20.47"/>
          <p:cNvSpPr txBox="1"/>
          <p:nvPr/>
        </p:nvSpPr>
        <p:spPr>
          <a:xfrm>
            <a:off x="5371966" y="3124122"/>
            <a:ext cx="482588" cy="152396"/>
          </a:xfrm>
          <a:prstGeom prst="rect">
            <a:avLst/>
          </a:prstGeom>
          <a:noFill/>
          <a:ln/>
        </p:spPr>
        <p:txBody>
          <a:bodyPr wrap="square" lIns="0" tIns="0" rIns="0" bIns="0" rtlCol="0" anchor="ctr"/>
          <a:lstStyle/>
          <a:p>
            <a:pPr algn="ctr" indent="0" marL="0">
              <a:lnSpc>
                <a:spcPts val="600"/>
              </a:lnSpc>
              <a:buNone/>
            </a:pPr>
            <a:r>
              <a:rPr lang="en-US" sz="600" b="1" spc="48" kern="0" dirty="0">
                <a:solidFill>
                  <a:srgbClr val="FFFFFF"/>
                </a:solidFill>
                <a:latin typeface="Arial" pitchFamily="34" charset="0"/>
                <a:ea typeface="Arial" pitchFamily="34" charset="-122"/>
                <a:cs typeface="Arial" pitchFamily="34" charset="-120"/>
              </a:rPr>
              <a:t>100%</a:t>
            </a:r>
            <a:endParaRPr lang="en-US" sz="600" dirty="0"/>
          </a:p>
        </p:txBody>
      </p:sp>
      <p:sp>
        <p:nvSpPr>
          <p:cNvPr id="49" name="Text 20.48"/>
          <p:cNvSpPr txBox="1"/>
          <p:nvPr/>
        </p:nvSpPr>
        <p:spPr>
          <a:xfrm>
            <a:off x="736582" y="3359066"/>
            <a:ext cx="203899" cy="95248"/>
          </a:xfrm>
          <a:prstGeom prst="rect">
            <a:avLst/>
          </a:prstGeom>
          <a:noFill/>
          <a:ln/>
        </p:spPr>
        <p:txBody>
          <a:bodyPr wrap="square" lIns="0" tIns="0" rIns="0" bIns="0" rtlCol="0" anchor="t"/>
          <a:lstStyle/>
          <a:p>
            <a:pPr algn="l" indent="0" marL="0">
              <a:lnSpc>
                <a:spcPts val="750"/>
              </a:lnSpc>
              <a:buNone/>
            </a:pPr>
            <a:r>
              <a:rPr lang="en-US" sz="750" dirty="0">
                <a:solidFill>
                  <a:srgbClr val="6E7D9A"/>
                </a:solidFill>
                <a:latin typeface="Arial" pitchFamily="34" charset="0"/>
                <a:ea typeface="Arial" pitchFamily="34" charset="-122"/>
                <a:cs typeface="Arial" pitchFamily="34" charset="-120"/>
              </a:rPr>
              <a:t>1.6</a:t>
            </a:r>
            <a:endParaRPr lang="en-US" sz="750" dirty="0"/>
          </a:p>
        </p:txBody>
      </p:sp>
      <p:sp>
        <p:nvSpPr>
          <p:cNvPr id="50" name="Text 20.49"/>
          <p:cNvSpPr txBox="1"/>
          <p:nvPr/>
        </p:nvSpPr>
        <p:spPr>
          <a:xfrm>
            <a:off x="1142971" y="3359066"/>
            <a:ext cx="2578036" cy="107947"/>
          </a:xfrm>
          <a:prstGeom prst="rect">
            <a:avLst/>
          </a:prstGeom>
          <a:noFill/>
          <a:ln/>
        </p:spPr>
        <p:txBody>
          <a:bodyPr wrap="square" lIns="0" tIns="0" rIns="0" bIns="0" rtlCol="0" anchor="t"/>
          <a:lstStyle/>
          <a:p>
            <a:pPr algn="l" indent="0" marL="0">
              <a:lnSpc>
                <a:spcPts val="850"/>
              </a:lnSpc>
              <a:buNone/>
            </a:pPr>
            <a:r>
              <a:rPr lang="en-US" sz="850" dirty="0">
                <a:solidFill>
                  <a:srgbClr val="16233F"/>
                </a:solidFill>
                <a:latin typeface="Arial" pitchFamily="34" charset="0"/>
                <a:ea typeface="Arial" pitchFamily="34" charset="-122"/>
                <a:cs typeface="Arial" pitchFamily="34" charset="-120"/>
              </a:rPr>
              <a:t>Proposal deck &amp; document</a:t>
            </a:r>
            <a:endParaRPr lang="en-US" sz="850" dirty="0"/>
          </a:p>
        </p:txBody>
      </p:sp>
      <p:sp>
        <p:nvSpPr>
          <p:cNvPr id="51" name="Text 20.50"/>
          <p:cNvSpPr txBox="1"/>
          <p:nvPr/>
        </p:nvSpPr>
        <p:spPr>
          <a:xfrm>
            <a:off x="3746406" y="3327317"/>
            <a:ext cx="838179" cy="152396"/>
          </a:xfrm>
          <a:prstGeom prst="rect">
            <a:avLst/>
          </a:prstGeom>
          <a:noFill/>
          <a:ln/>
        </p:spPr>
        <p:txBody>
          <a:bodyPr wrap="square" lIns="0" tIns="0" rIns="0" bIns="0" rtlCol="0" anchor="ctr"/>
          <a:lstStyle/>
          <a:p>
            <a:pPr algn="ctr" indent="0" marL="0">
              <a:lnSpc>
                <a:spcPts val="650"/>
              </a:lnSpc>
              <a:buNone/>
            </a:pPr>
            <a:r>
              <a:rPr lang="en-US" sz="650" b="1" spc="13" kern="0" dirty="0">
                <a:solidFill>
                  <a:srgbClr val="3B4A66"/>
                </a:solidFill>
                <a:latin typeface="Arial" pitchFamily="34" charset="0"/>
                <a:ea typeface="Arial" pitchFamily="34" charset="-122"/>
                <a:cs typeface="Arial" pitchFamily="34" charset="-120"/>
              </a:rPr>
              <a:t>Team</a:t>
            </a:r>
            <a:endParaRPr lang="en-US" sz="650" dirty="0"/>
          </a:p>
        </p:txBody>
      </p:sp>
      <p:sp>
        <p:nvSpPr>
          <p:cNvPr id="52" name="Text 20.51"/>
          <p:cNvSpPr txBox="1"/>
          <p:nvPr/>
        </p:nvSpPr>
        <p:spPr>
          <a:xfrm>
            <a:off x="4762381" y="3359066"/>
            <a:ext cx="457189" cy="95248"/>
          </a:xfrm>
          <a:prstGeom prst="rect">
            <a:avLst/>
          </a:prstGeom>
          <a:noFill/>
          <a:ln/>
        </p:spPr>
        <p:txBody>
          <a:bodyPr wrap="square" lIns="0" tIns="0" rIns="0" bIns="0" rtlCol="0" anchor="t"/>
          <a:lstStyle/>
          <a:p>
            <a:pPr algn="ctr" indent="0" marL="0">
              <a:lnSpc>
                <a:spcPts val="750"/>
              </a:lnSpc>
              <a:buNone/>
            </a:pPr>
            <a:r>
              <a:rPr lang="en-US" sz="750" dirty="0">
                <a:solidFill>
                  <a:srgbClr val="3B4A66"/>
                </a:solidFill>
                <a:latin typeface="Arial" pitchFamily="34" charset="0"/>
                <a:ea typeface="Arial" pitchFamily="34" charset="-122"/>
                <a:cs typeface="Arial" pitchFamily="34" charset="-120"/>
              </a:rPr>
              <a:t>1 wk</a:t>
            </a:r>
            <a:endParaRPr lang="en-US" sz="750" dirty="0"/>
          </a:p>
        </p:txBody>
      </p:sp>
      <p:sp>
        <p:nvSpPr>
          <p:cNvPr id="53" name="Text 20.52"/>
          <p:cNvSpPr txBox="1"/>
          <p:nvPr/>
        </p:nvSpPr>
        <p:spPr>
          <a:xfrm>
            <a:off x="5371966" y="3327317"/>
            <a:ext cx="482588" cy="152396"/>
          </a:xfrm>
          <a:prstGeom prst="rect">
            <a:avLst/>
          </a:prstGeom>
          <a:noFill/>
          <a:ln/>
        </p:spPr>
        <p:txBody>
          <a:bodyPr wrap="square" lIns="0" tIns="0" rIns="0" bIns="0" rtlCol="0" anchor="ctr"/>
          <a:lstStyle/>
          <a:p>
            <a:pPr algn="ctr" indent="0" marL="0">
              <a:lnSpc>
                <a:spcPts val="600"/>
              </a:lnSpc>
              <a:buNone/>
            </a:pPr>
            <a:r>
              <a:rPr lang="en-US" sz="600" b="1" spc="48" kern="0" dirty="0">
                <a:solidFill>
                  <a:srgbClr val="FFFFFF"/>
                </a:solidFill>
                <a:latin typeface="Arial" pitchFamily="34" charset="0"/>
                <a:ea typeface="Arial" pitchFamily="34" charset="-122"/>
                <a:cs typeface="Arial" pitchFamily="34" charset="-120"/>
              </a:rPr>
              <a:t>100%</a:t>
            </a:r>
            <a:endParaRPr lang="en-US" sz="600" dirty="0"/>
          </a:p>
        </p:txBody>
      </p:sp>
      <p:sp>
        <p:nvSpPr>
          <p:cNvPr id="54" name="Text 20.53"/>
          <p:cNvSpPr txBox="1"/>
          <p:nvPr/>
        </p:nvSpPr>
        <p:spPr>
          <a:xfrm>
            <a:off x="736582" y="4063898"/>
            <a:ext cx="380990" cy="91438"/>
          </a:xfrm>
          <a:prstGeom prst="rect">
            <a:avLst/>
          </a:prstGeom>
          <a:noFill/>
          <a:ln/>
        </p:spPr>
        <p:txBody>
          <a:bodyPr wrap="square" lIns="0" tIns="0" rIns="0" bIns="0" rtlCol="0" anchor="t"/>
          <a:lstStyle/>
          <a:p>
            <a:pPr algn="l" indent="0" marL="0">
              <a:lnSpc>
                <a:spcPts val="720"/>
              </a:lnSpc>
              <a:buNone/>
            </a:pPr>
            <a:r>
              <a:rPr lang="en-US" sz="600" b="1" spc="72" kern="0" dirty="0">
                <a:solidFill>
                  <a:srgbClr val="6E7D9A"/>
                </a:solidFill>
                <a:latin typeface="Arial" pitchFamily="34" charset="0"/>
                <a:ea typeface="Arial" pitchFamily="34" charset="-122"/>
                <a:cs typeface="Arial" pitchFamily="34" charset="-120"/>
              </a:rPr>
              <a:t>WBS</a:t>
            </a:r>
            <a:endParaRPr lang="en-US" sz="600" dirty="0"/>
          </a:p>
        </p:txBody>
      </p:sp>
      <p:sp>
        <p:nvSpPr>
          <p:cNvPr id="55" name="Text 20.54"/>
          <p:cNvSpPr txBox="1"/>
          <p:nvPr/>
        </p:nvSpPr>
        <p:spPr>
          <a:xfrm>
            <a:off x="1142971" y="4063898"/>
            <a:ext cx="2578036" cy="91438"/>
          </a:xfrm>
          <a:prstGeom prst="rect">
            <a:avLst/>
          </a:prstGeom>
          <a:noFill/>
          <a:ln/>
        </p:spPr>
        <p:txBody>
          <a:bodyPr wrap="square" lIns="0" tIns="0" rIns="0" bIns="0" rtlCol="0" anchor="t"/>
          <a:lstStyle/>
          <a:p>
            <a:pPr algn="l" indent="0" marL="0">
              <a:lnSpc>
                <a:spcPts val="720"/>
              </a:lnSpc>
              <a:buNone/>
            </a:pPr>
            <a:r>
              <a:rPr lang="en-US" sz="600" b="1" spc="72" kern="0" dirty="0">
                <a:solidFill>
                  <a:srgbClr val="6E7D9A"/>
                </a:solidFill>
                <a:latin typeface="Arial" pitchFamily="34" charset="0"/>
                <a:ea typeface="Arial" pitchFamily="34" charset="-122"/>
                <a:cs typeface="Arial" pitchFamily="34" charset="-120"/>
              </a:rPr>
              <a:t>TASK TITLE</a:t>
            </a:r>
            <a:endParaRPr lang="en-US" sz="600" dirty="0"/>
          </a:p>
        </p:txBody>
      </p:sp>
      <p:sp>
        <p:nvSpPr>
          <p:cNvPr id="56" name="Text 20.55"/>
          <p:cNvSpPr txBox="1"/>
          <p:nvPr/>
        </p:nvSpPr>
        <p:spPr>
          <a:xfrm>
            <a:off x="3746406" y="4063898"/>
            <a:ext cx="990575" cy="91438"/>
          </a:xfrm>
          <a:prstGeom prst="rect">
            <a:avLst/>
          </a:prstGeom>
          <a:noFill/>
          <a:ln/>
        </p:spPr>
        <p:txBody>
          <a:bodyPr wrap="square" lIns="0" tIns="0" rIns="0" bIns="0" rtlCol="0" anchor="t"/>
          <a:lstStyle/>
          <a:p>
            <a:pPr algn="l" indent="0" marL="0">
              <a:lnSpc>
                <a:spcPts val="720"/>
              </a:lnSpc>
              <a:buNone/>
            </a:pPr>
            <a:r>
              <a:rPr lang="en-US" sz="600" b="1" spc="72" kern="0" dirty="0">
                <a:solidFill>
                  <a:srgbClr val="6E7D9A"/>
                </a:solidFill>
                <a:latin typeface="Arial" pitchFamily="34" charset="0"/>
                <a:ea typeface="Arial" pitchFamily="34" charset="-122"/>
                <a:cs typeface="Arial" pitchFamily="34" charset="-120"/>
              </a:rPr>
              <a:t>OWNER</a:t>
            </a:r>
            <a:endParaRPr lang="en-US" sz="600" dirty="0"/>
          </a:p>
        </p:txBody>
      </p:sp>
      <p:sp>
        <p:nvSpPr>
          <p:cNvPr id="57" name="Text 20.56"/>
          <p:cNvSpPr txBox="1"/>
          <p:nvPr/>
        </p:nvSpPr>
        <p:spPr>
          <a:xfrm>
            <a:off x="4762381" y="4063898"/>
            <a:ext cx="584185" cy="91438"/>
          </a:xfrm>
          <a:prstGeom prst="rect">
            <a:avLst/>
          </a:prstGeom>
          <a:noFill/>
          <a:ln/>
        </p:spPr>
        <p:txBody>
          <a:bodyPr wrap="square" lIns="0" tIns="0" rIns="0" bIns="0" rtlCol="0" anchor="t"/>
          <a:lstStyle/>
          <a:p>
            <a:pPr algn="l" indent="0" marL="0">
              <a:lnSpc>
                <a:spcPts val="720"/>
              </a:lnSpc>
              <a:buNone/>
            </a:pPr>
            <a:r>
              <a:rPr lang="en-US" sz="600" b="1" spc="72" kern="0" dirty="0">
                <a:solidFill>
                  <a:srgbClr val="6E7D9A"/>
                </a:solidFill>
                <a:latin typeface="Arial" pitchFamily="34" charset="0"/>
                <a:ea typeface="Arial" pitchFamily="34" charset="-122"/>
                <a:cs typeface="Arial" pitchFamily="34" charset="-120"/>
              </a:rPr>
              <a:t>DURATION</a:t>
            </a:r>
            <a:endParaRPr lang="en-US" sz="600" dirty="0"/>
          </a:p>
        </p:txBody>
      </p:sp>
      <p:sp>
        <p:nvSpPr>
          <p:cNvPr id="58" name="Text 20.57"/>
          <p:cNvSpPr txBox="1"/>
          <p:nvPr/>
        </p:nvSpPr>
        <p:spPr>
          <a:xfrm>
            <a:off x="5371966" y="4063898"/>
            <a:ext cx="634984" cy="91438"/>
          </a:xfrm>
          <a:prstGeom prst="rect">
            <a:avLst/>
          </a:prstGeom>
          <a:noFill/>
          <a:ln/>
        </p:spPr>
        <p:txBody>
          <a:bodyPr wrap="square" lIns="0" tIns="0" rIns="0" bIns="0" rtlCol="0" anchor="t"/>
          <a:lstStyle/>
          <a:p>
            <a:pPr algn="l" indent="0" marL="0">
              <a:lnSpc>
                <a:spcPts val="720"/>
              </a:lnSpc>
              <a:buNone/>
            </a:pPr>
            <a:r>
              <a:rPr lang="en-US" sz="600" b="1" spc="72" kern="0" dirty="0">
                <a:solidFill>
                  <a:srgbClr val="6E7D9A"/>
                </a:solidFill>
                <a:latin typeface="Arial" pitchFamily="34" charset="0"/>
                <a:ea typeface="Arial" pitchFamily="34" charset="-122"/>
                <a:cs typeface="Arial" pitchFamily="34" charset="-120"/>
              </a:rPr>
              <a:t>COMPLETE</a:t>
            </a:r>
            <a:endParaRPr lang="en-US" sz="600" dirty="0"/>
          </a:p>
        </p:txBody>
      </p:sp>
      <p:sp>
        <p:nvSpPr>
          <p:cNvPr id="59" name="Text 20.58"/>
          <p:cNvSpPr txBox="1"/>
          <p:nvPr/>
        </p:nvSpPr>
        <p:spPr>
          <a:xfrm>
            <a:off x="6095848" y="3822604"/>
            <a:ext cx="1339817" cy="106677"/>
          </a:xfrm>
          <a:prstGeom prst="rect">
            <a:avLst/>
          </a:prstGeom>
          <a:noFill/>
          <a:ln/>
        </p:spPr>
        <p:txBody>
          <a:bodyPr wrap="square" lIns="0" tIns="0" rIns="0" bIns="0" rtlCol="0" anchor="t"/>
          <a:lstStyle/>
          <a:p>
            <a:pPr algn="ctr" indent="0" marL="0">
              <a:lnSpc>
                <a:spcPts val="840"/>
              </a:lnSpc>
              <a:buNone/>
            </a:pPr>
            <a:r>
              <a:rPr lang="en-US" sz="700" b="1" dirty="0">
                <a:solidFill>
                  <a:srgbClr val="16233F"/>
                </a:solidFill>
                <a:latin typeface="Arial" pitchFamily="34" charset="0"/>
                <a:ea typeface="Arial" pitchFamily="34" charset="-122"/>
                <a:cs typeface="Arial" pitchFamily="34" charset="-120"/>
              </a:rPr>
              <a:t>19–23 Oct</a:t>
            </a:r>
            <a:endParaRPr lang="en-US" sz="700" dirty="0"/>
          </a:p>
        </p:txBody>
      </p:sp>
      <p:sp>
        <p:nvSpPr>
          <p:cNvPr id="60" name="Text 20.59"/>
          <p:cNvSpPr txBox="1"/>
          <p:nvPr/>
        </p:nvSpPr>
        <p:spPr>
          <a:xfrm>
            <a:off x="6114897" y="3975001"/>
            <a:ext cx="1301717" cy="165096"/>
          </a:xfrm>
          <a:prstGeom prst="rect">
            <a:avLst/>
          </a:prstGeom>
          <a:noFill/>
          <a:ln/>
        </p:spPr>
        <p:txBody>
          <a:bodyPr wrap="square" lIns="0" tIns="0" rIns="0" bIns="0" rtlCol="0" anchor="ctr"/>
          <a:lstStyle/>
          <a:p>
            <a:pPr algn="ctr" indent="0" marL="0">
              <a:lnSpc>
                <a:spcPts val="650"/>
              </a:lnSpc>
              <a:buNone/>
            </a:pPr>
            <a:r>
              <a:rPr lang="en-US" sz="650" b="1" spc="65" kern="0" dirty="0">
                <a:solidFill>
                  <a:srgbClr val="FFFFFF"/>
                </a:solidFill>
                <a:latin typeface="Arial" pitchFamily="34" charset="0"/>
                <a:ea typeface="Arial" pitchFamily="34" charset="-122"/>
                <a:cs typeface="Arial" pitchFamily="34" charset="-120"/>
              </a:rPr>
              <a:t>WEEK 3</a:t>
            </a:r>
            <a:endParaRPr lang="en-US" sz="650" dirty="0"/>
          </a:p>
        </p:txBody>
      </p:sp>
      <p:sp>
        <p:nvSpPr>
          <p:cNvPr id="61" name="Text 20.60"/>
          <p:cNvSpPr txBox="1"/>
          <p:nvPr/>
        </p:nvSpPr>
        <p:spPr>
          <a:xfrm>
            <a:off x="6095848" y="4165496"/>
            <a:ext cx="267884"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M</a:t>
            </a:r>
            <a:endParaRPr lang="en-US" sz="600" dirty="0"/>
          </a:p>
        </p:txBody>
      </p:sp>
      <p:sp>
        <p:nvSpPr>
          <p:cNvPr id="62" name="Text 20.61"/>
          <p:cNvSpPr txBox="1"/>
          <p:nvPr/>
        </p:nvSpPr>
        <p:spPr>
          <a:xfrm>
            <a:off x="6363732" y="4165496"/>
            <a:ext cx="267884"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T</a:t>
            </a:r>
            <a:endParaRPr lang="en-US" sz="600" dirty="0"/>
          </a:p>
        </p:txBody>
      </p:sp>
      <p:sp>
        <p:nvSpPr>
          <p:cNvPr id="63" name="Text 20.62"/>
          <p:cNvSpPr txBox="1"/>
          <p:nvPr/>
        </p:nvSpPr>
        <p:spPr>
          <a:xfrm>
            <a:off x="6631715" y="4165496"/>
            <a:ext cx="267884"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W</a:t>
            </a:r>
            <a:endParaRPr lang="en-US" sz="600" dirty="0"/>
          </a:p>
        </p:txBody>
      </p:sp>
      <p:sp>
        <p:nvSpPr>
          <p:cNvPr id="64" name="Text 20.63"/>
          <p:cNvSpPr txBox="1"/>
          <p:nvPr/>
        </p:nvSpPr>
        <p:spPr>
          <a:xfrm>
            <a:off x="6899698" y="4165496"/>
            <a:ext cx="267884"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T</a:t>
            </a:r>
            <a:endParaRPr lang="en-US" sz="600" dirty="0"/>
          </a:p>
        </p:txBody>
      </p:sp>
      <p:sp>
        <p:nvSpPr>
          <p:cNvPr id="65" name="Text 20.64"/>
          <p:cNvSpPr txBox="1"/>
          <p:nvPr/>
        </p:nvSpPr>
        <p:spPr>
          <a:xfrm>
            <a:off x="7167681" y="4165496"/>
            <a:ext cx="267884"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F</a:t>
            </a:r>
            <a:endParaRPr lang="en-US" sz="600" dirty="0"/>
          </a:p>
        </p:txBody>
      </p:sp>
      <p:sp>
        <p:nvSpPr>
          <p:cNvPr id="66" name="Text 20.65"/>
          <p:cNvSpPr txBox="1"/>
          <p:nvPr/>
        </p:nvSpPr>
        <p:spPr>
          <a:xfrm>
            <a:off x="7435664" y="3822604"/>
            <a:ext cx="1339817" cy="106677"/>
          </a:xfrm>
          <a:prstGeom prst="rect">
            <a:avLst/>
          </a:prstGeom>
          <a:noFill/>
          <a:ln/>
        </p:spPr>
        <p:txBody>
          <a:bodyPr wrap="square" lIns="0" tIns="0" rIns="0" bIns="0" rtlCol="0" anchor="t"/>
          <a:lstStyle/>
          <a:p>
            <a:pPr algn="ctr" indent="0" marL="0">
              <a:lnSpc>
                <a:spcPts val="840"/>
              </a:lnSpc>
              <a:buNone/>
            </a:pPr>
            <a:r>
              <a:rPr lang="en-US" sz="700" b="1" dirty="0">
                <a:solidFill>
                  <a:srgbClr val="16233F"/>
                </a:solidFill>
                <a:latin typeface="Arial" pitchFamily="34" charset="0"/>
                <a:ea typeface="Arial" pitchFamily="34" charset="-122"/>
                <a:cs typeface="Arial" pitchFamily="34" charset="-120"/>
              </a:rPr>
              <a:t>26–30 Oct</a:t>
            </a:r>
            <a:endParaRPr lang="en-US" sz="700" dirty="0"/>
          </a:p>
        </p:txBody>
      </p:sp>
      <p:sp>
        <p:nvSpPr>
          <p:cNvPr id="67" name="Text 20.66"/>
          <p:cNvSpPr txBox="1"/>
          <p:nvPr/>
        </p:nvSpPr>
        <p:spPr>
          <a:xfrm>
            <a:off x="7454714" y="3975001"/>
            <a:ext cx="1301717" cy="165096"/>
          </a:xfrm>
          <a:prstGeom prst="rect">
            <a:avLst/>
          </a:prstGeom>
          <a:noFill/>
          <a:ln/>
        </p:spPr>
        <p:txBody>
          <a:bodyPr wrap="square" lIns="0" tIns="0" rIns="0" bIns="0" rtlCol="0" anchor="ctr"/>
          <a:lstStyle/>
          <a:p>
            <a:pPr algn="ctr" indent="0" marL="0">
              <a:lnSpc>
                <a:spcPts val="650"/>
              </a:lnSpc>
              <a:buNone/>
            </a:pPr>
            <a:r>
              <a:rPr lang="en-US" sz="650" b="1" spc="65" kern="0" dirty="0">
                <a:solidFill>
                  <a:srgbClr val="FFFFFF"/>
                </a:solidFill>
                <a:latin typeface="Arial" pitchFamily="34" charset="0"/>
                <a:ea typeface="Arial" pitchFamily="34" charset="-122"/>
                <a:cs typeface="Arial" pitchFamily="34" charset="-120"/>
              </a:rPr>
              <a:t>WEEK 4</a:t>
            </a:r>
            <a:endParaRPr lang="en-US" sz="650" dirty="0"/>
          </a:p>
        </p:txBody>
      </p:sp>
      <p:sp>
        <p:nvSpPr>
          <p:cNvPr id="68" name="Text 20.67"/>
          <p:cNvSpPr txBox="1"/>
          <p:nvPr/>
        </p:nvSpPr>
        <p:spPr>
          <a:xfrm>
            <a:off x="7435664" y="4165496"/>
            <a:ext cx="267884"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M</a:t>
            </a:r>
            <a:endParaRPr lang="en-US" sz="600" dirty="0"/>
          </a:p>
        </p:txBody>
      </p:sp>
      <p:sp>
        <p:nvSpPr>
          <p:cNvPr id="69" name="Text 20.68"/>
          <p:cNvSpPr txBox="1"/>
          <p:nvPr/>
        </p:nvSpPr>
        <p:spPr>
          <a:xfrm>
            <a:off x="7703548" y="4165496"/>
            <a:ext cx="267884"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T</a:t>
            </a:r>
            <a:endParaRPr lang="en-US" sz="600" dirty="0"/>
          </a:p>
        </p:txBody>
      </p:sp>
      <p:sp>
        <p:nvSpPr>
          <p:cNvPr id="70" name="Text 20.69"/>
          <p:cNvSpPr txBox="1"/>
          <p:nvPr/>
        </p:nvSpPr>
        <p:spPr>
          <a:xfrm>
            <a:off x="7971531" y="4165496"/>
            <a:ext cx="267884"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W</a:t>
            </a:r>
            <a:endParaRPr lang="en-US" sz="600" dirty="0"/>
          </a:p>
        </p:txBody>
      </p:sp>
      <p:sp>
        <p:nvSpPr>
          <p:cNvPr id="71" name="Text 20.70"/>
          <p:cNvSpPr txBox="1"/>
          <p:nvPr/>
        </p:nvSpPr>
        <p:spPr>
          <a:xfrm>
            <a:off x="8239514" y="4165496"/>
            <a:ext cx="267884"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T</a:t>
            </a:r>
            <a:endParaRPr lang="en-US" sz="600" dirty="0"/>
          </a:p>
        </p:txBody>
      </p:sp>
      <p:sp>
        <p:nvSpPr>
          <p:cNvPr id="72" name="Text 20.71"/>
          <p:cNvSpPr txBox="1"/>
          <p:nvPr/>
        </p:nvSpPr>
        <p:spPr>
          <a:xfrm>
            <a:off x="8507497" y="4165496"/>
            <a:ext cx="267884"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F</a:t>
            </a:r>
            <a:endParaRPr lang="en-US" sz="600" dirty="0"/>
          </a:p>
        </p:txBody>
      </p:sp>
      <p:sp>
        <p:nvSpPr>
          <p:cNvPr id="73" name="Text 20.72"/>
          <p:cNvSpPr txBox="1"/>
          <p:nvPr/>
        </p:nvSpPr>
        <p:spPr>
          <a:xfrm>
            <a:off x="8775481" y="3822604"/>
            <a:ext cx="1339817" cy="106677"/>
          </a:xfrm>
          <a:prstGeom prst="rect">
            <a:avLst/>
          </a:prstGeom>
          <a:noFill/>
          <a:ln/>
        </p:spPr>
        <p:txBody>
          <a:bodyPr wrap="square" lIns="0" tIns="0" rIns="0" bIns="0" rtlCol="0" anchor="t"/>
          <a:lstStyle/>
          <a:p>
            <a:pPr algn="ctr" indent="0" marL="0">
              <a:lnSpc>
                <a:spcPts val="840"/>
              </a:lnSpc>
              <a:buNone/>
            </a:pPr>
            <a:r>
              <a:rPr lang="en-US" sz="700" b="1" dirty="0">
                <a:solidFill>
                  <a:srgbClr val="16233F"/>
                </a:solidFill>
                <a:latin typeface="Arial" pitchFamily="34" charset="0"/>
                <a:ea typeface="Arial" pitchFamily="34" charset="-122"/>
                <a:cs typeface="Arial" pitchFamily="34" charset="-120"/>
              </a:rPr>
              <a:t>2–6 Nov</a:t>
            </a:r>
            <a:endParaRPr lang="en-US" sz="700" dirty="0"/>
          </a:p>
        </p:txBody>
      </p:sp>
      <p:sp>
        <p:nvSpPr>
          <p:cNvPr id="74" name="Text 20.73"/>
          <p:cNvSpPr txBox="1"/>
          <p:nvPr/>
        </p:nvSpPr>
        <p:spPr>
          <a:xfrm>
            <a:off x="8794530" y="3975001"/>
            <a:ext cx="1301717" cy="165096"/>
          </a:xfrm>
          <a:prstGeom prst="rect">
            <a:avLst/>
          </a:prstGeom>
          <a:noFill/>
          <a:ln/>
        </p:spPr>
        <p:txBody>
          <a:bodyPr wrap="square" lIns="0" tIns="0" rIns="0" bIns="0" rtlCol="0" anchor="ctr"/>
          <a:lstStyle/>
          <a:p>
            <a:pPr algn="ctr" indent="0" marL="0">
              <a:lnSpc>
                <a:spcPts val="650"/>
              </a:lnSpc>
              <a:buNone/>
            </a:pPr>
            <a:r>
              <a:rPr lang="en-US" sz="650" b="1" spc="65" kern="0" dirty="0">
                <a:solidFill>
                  <a:srgbClr val="FFFFFF"/>
                </a:solidFill>
                <a:latin typeface="Arial" pitchFamily="34" charset="0"/>
                <a:ea typeface="Arial" pitchFamily="34" charset="-122"/>
                <a:cs typeface="Arial" pitchFamily="34" charset="-120"/>
              </a:rPr>
              <a:t>WEEK 5</a:t>
            </a:r>
            <a:endParaRPr lang="en-US" sz="650" dirty="0"/>
          </a:p>
        </p:txBody>
      </p:sp>
      <p:sp>
        <p:nvSpPr>
          <p:cNvPr id="75" name="Text 20.74"/>
          <p:cNvSpPr txBox="1"/>
          <p:nvPr/>
        </p:nvSpPr>
        <p:spPr>
          <a:xfrm>
            <a:off x="8775481" y="4165496"/>
            <a:ext cx="267884"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M</a:t>
            </a:r>
            <a:endParaRPr lang="en-US" sz="600" dirty="0"/>
          </a:p>
        </p:txBody>
      </p:sp>
      <p:sp>
        <p:nvSpPr>
          <p:cNvPr id="76" name="Text 20.75"/>
          <p:cNvSpPr txBox="1"/>
          <p:nvPr/>
        </p:nvSpPr>
        <p:spPr>
          <a:xfrm>
            <a:off x="9043365" y="4165496"/>
            <a:ext cx="267884"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T</a:t>
            </a:r>
            <a:endParaRPr lang="en-US" sz="600" dirty="0"/>
          </a:p>
        </p:txBody>
      </p:sp>
      <p:sp>
        <p:nvSpPr>
          <p:cNvPr id="77" name="Text 20.76"/>
          <p:cNvSpPr txBox="1"/>
          <p:nvPr/>
        </p:nvSpPr>
        <p:spPr>
          <a:xfrm>
            <a:off x="9311348" y="4165496"/>
            <a:ext cx="267884"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W</a:t>
            </a:r>
            <a:endParaRPr lang="en-US" sz="600" dirty="0"/>
          </a:p>
        </p:txBody>
      </p:sp>
      <p:sp>
        <p:nvSpPr>
          <p:cNvPr id="78" name="Text 20.77"/>
          <p:cNvSpPr txBox="1"/>
          <p:nvPr/>
        </p:nvSpPr>
        <p:spPr>
          <a:xfrm>
            <a:off x="9579331" y="4165496"/>
            <a:ext cx="267884"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T</a:t>
            </a:r>
            <a:endParaRPr lang="en-US" sz="600" dirty="0"/>
          </a:p>
        </p:txBody>
      </p:sp>
      <p:sp>
        <p:nvSpPr>
          <p:cNvPr id="79" name="Text 20.78"/>
          <p:cNvSpPr txBox="1"/>
          <p:nvPr/>
        </p:nvSpPr>
        <p:spPr>
          <a:xfrm>
            <a:off x="9847314" y="4165496"/>
            <a:ext cx="267884"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F</a:t>
            </a:r>
            <a:endParaRPr lang="en-US" sz="600" dirty="0"/>
          </a:p>
        </p:txBody>
      </p:sp>
      <p:sp>
        <p:nvSpPr>
          <p:cNvPr id="80" name="Text 20.79"/>
          <p:cNvSpPr txBox="1"/>
          <p:nvPr/>
        </p:nvSpPr>
        <p:spPr>
          <a:xfrm>
            <a:off x="10115297" y="3822604"/>
            <a:ext cx="1339817" cy="106677"/>
          </a:xfrm>
          <a:prstGeom prst="rect">
            <a:avLst/>
          </a:prstGeom>
          <a:noFill/>
          <a:ln/>
        </p:spPr>
        <p:txBody>
          <a:bodyPr wrap="square" lIns="0" tIns="0" rIns="0" bIns="0" rtlCol="0" anchor="t"/>
          <a:lstStyle/>
          <a:p>
            <a:pPr algn="ctr" indent="0" marL="0">
              <a:lnSpc>
                <a:spcPts val="840"/>
              </a:lnSpc>
              <a:buNone/>
            </a:pPr>
            <a:r>
              <a:rPr lang="en-US" sz="700" b="1" dirty="0">
                <a:solidFill>
                  <a:srgbClr val="16233F"/>
                </a:solidFill>
                <a:latin typeface="Arial" pitchFamily="34" charset="0"/>
                <a:ea typeface="Arial" pitchFamily="34" charset="-122"/>
                <a:cs typeface="Arial" pitchFamily="34" charset="-120"/>
              </a:rPr>
              <a:t>9–13 Nov</a:t>
            </a:r>
            <a:endParaRPr lang="en-US" sz="700" dirty="0"/>
          </a:p>
        </p:txBody>
      </p:sp>
      <p:sp>
        <p:nvSpPr>
          <p:cNvPr id="81" name="Text 20.80"/>
          <p:cNvSpPr txBox="1"/>
          <p:nvPr/>
        </p:nvSpPr>
        <p:spPr>
          <a:xfrm>
            <a:off x="10134347" y="3975001"/>
            <a:ext cx="1301717" cy="165096"/>
          </a:xfrm>
          <a:prstGeom prst="rect">
            <a:avLst/>
          </a:prstGeom>
          <a:noFill/>
          <a:ln/>
        </p:spPr>
        <p:txBody>
          <a:bodyPr wrap="square" lIns="0" tIns="0" rIns="0" bIns="0" rtlCol="0" anchor="ctr"/>
          <a:lstStyle/>
          <a:p>
            <a:pPr algn="ctr" indent="0" marL="0">
              <a:lnSpc>
                <a:spcPts val="650"/>
              </a:lnSpc>
              <a:buNone/>
            </a:pPr>
            <a:r>
              <a:rPr lang="en-US" sz="650" b="1" spc="65" kern="0" dirty="0">
                <a:solidFill>
                  <a:srgbClr val="FFFFFF"/>
                </a:solidFill>
                <a:latin typeface="Arial" pitchFamily="34" charset="0"/>
                <a:ea typeface="Arial" pitchFamily="34" charset="-122"/>
                <a:cs typeface="Arial" pitchFamily="34" charset="-120"/>
              </a:rPr>
              <a:t>WEEK 6</a:t>
            </a:r>
            <a:endParaRPr lang="en-US" sz="650" dirty="0"/>
          </a:p>
        </p:txBody>
      </p:sp>
      <p:sp>
        <p:nvSpPr>
          <p:cNvPr id="82" name="Text 20.81"/>
          <p:cNvSpPr txBox="1"/>
          <p:nvPr/>
        </p:nvSpPr>
        <p:spPr>
          <a:xfrm>
            <a:off x="10115297" y="4165496"/>
            <a:ext cx="267884"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M</a:t>
            </a:r>
            <a:endParaRPr lang="en-US" sz="600" dirty="0"/>
          </a:p>
        </p:txBody>
      </p:sp>
      <p:sp>
        <p:nvSpPr>
          <p:cNvPr id="83" name="Text 20.82"/>
          <p:cNvSpPr txBox="1"/>
          <p:nvPr/>
        </p:nvSpPr>
        <p:spPr>
          <a:xfrm>
            <a:off x="10383181" y="4165496"/>
            <a:ext cx="267884"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T</a:t>
            </a:r>
            <a:endParaRPr lang="en-US" sz="600" dirty="0"/>
          </a:p>
        </p:txBody>
      </p:sp>
      <p:sp>
        <p:nvSpPr>
          <p:cNvPr id="84" name="Text 20.83"/>
          <p:cNvSpPr txBox="1"/>
          <p:nvPr/>
        </p:nvSpPr>
        <p:spPr>
          <a:xfrm>
            <a:off x="10651164" y="4165496"/>
            <a:ext cx="267884"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W</a:t>
            </a:r>
            <a:endParaRPr lang="en-US" sz="600" dirty="0"/>
          </a:p>
        </p:txBody>
      </p:sp>
      <p:sp>
        <p:nvSpPr>
          <p:cNvPr id="85" name="Text 20.84"/>
          <p:cNvSpPr txBox="1"/>
          <p:nvPr/>
        </p:nvSpPr>
        <p:spPr>
          <a:xfrm>
            <a:off x="10919147" y="4165496"/>
            <a:ext cx="267884"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T</a:t>
            </a:r>
            <a:endParaRPr lang="en-US" sz="600" dirty="0"/>
          </a:p>
        </p:txBody>
      </p:sp>
      <p:sp>
        <p:nvSpPr>
          <p:cNvPr id="86" name="Text 20.85"/>
          <p:cNvSpPr txBox="1"/>
          <p:nvPr/>
        </p:nvSpPr>
        <p:spPr>
          <a:xfrm>
            <a:off x="11187130" y="4165496"/>
            <a:ext cx="267884"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F</a:t>
            </a:r>
            <a:endParaRPr lang="en-US" sz="600" dirty="0"/>
          </a:p>
        </p:txBody>
      </p:sp>
      <p:sp>
        <p:nvSpPr>
          <p:cNvPr id="87" name="Text 20.86"/>
          <p:cNvSpPr txBox="1"/>
          <p:nvPr/>
        </p:nvSpPr>
        <p:spPr>
          <a:xfrm>
            <a:off x="736582" y="4375041"/>
            <a:ext cx="139536" cy="120647"/>
          </a:xfrm>
          <a:prstGeom prst="rect">
            <a:avLst/>
          </a:prstGeom>
          <a:noFill/>
          <a:ln/>
        </p:spPr>
        <p:txBody>
          <a:bodyPr wrap="square" lIns="0" tIns="0" rIns="0" bIns="0" rtlCol="0" anchor="t"/>
          <a:lstStyle/>
          <a:p>
            <a:pPr algn="l" indent="0" marL="0">
              <a:lnSpc>
                <a:spcPts val="950"/>
              </a:lnSpc>
              <a:buNone/>
            </a:pPr>
            <a:r>
              <a:rPr lang="en-US" sz="950" dirty="0">
                <a:solidFill>
                  <a:srgbClr val="16233F"/>
                </a:solidFill>
                <a:latin typeface="Arial Rounded MT Bold" pitchFamily="34" charset="0"/>
                <a:ea typeface="Arial Rounded MT Bold" pitchFamily="34" charset="-122"/>
                <a:cs typeface="Arial Rounded MT Bold" pitchFamily="34" charset="-120"/>
              </a:rPr>
              <a:t>2</a:t>
            </a:r>
            <a:endParaRPr lang="en-US" sz="950" dirty="0"/>
          </a:p>
        </p:txBody>
      </p:sp>
      <p:sp>
        <p:nvSpPr>
          <p:cNvPr id="88" name="Text 20.87"/>
          <p:cNvSpPr txBox="1"/>
          <p:nvPr/>
        </p:nvSpPr>
        <p:spPr>
          <a:xfrm>
            <a:off x="1142971" y="4375041"/>
            <a:ext cx="1065130" cy="120647"/>
          </a:xfrm>
          <a:prstGeom prst="rect">
            <a:avLst/>
          </a:prstGeom>
          <a:noFill/>
          <a:ln/>
        </p:spPr>
        <p:txBody>
          <a:bodyPr wrap="square" lIns="0" tIns="0" rIns="0" bIns="0" rtlCol="0" anchor="t"/>
          <a:lstStyle/>
          <a:p>
            <a:pPr algn="l" indent="0" marL="0">
              <a:lnSpc>
                <a:spcPts val="950"/>
              </a:lnSpc>
              <a:buNone/>
            </a:pPr>
            <a:r>
              <a:rPr lang="en-US" sz="950" dirty="0">
                <a:solidFill>
                  <a:srgbClr val="16233F"/>
                </a:solidFill>
                <a:latin typeface="Arial Rounded MT Bold" pitchFamily="34" charset="0"/>
                <a:ea typeface="Arial Rounded MT Bold" pitchFamily="34" charset="-122"/>
                <a:cs typeface="Arial Rounded MT Bold" pitchFamily="34" charset="-120"/>
              </a:rPr>
              <a:t>Demo 1 · 16 Nov</a:t>
            </a:r>
            <a:endParaRPr lang="en-US" sz="950" dirty="0"/>
          </a:p>
        </p:txBody>
      </p:sp>
      <p:sp>
        <p:nvSpPr>
          <p:cNvPr id="89" name="Text 20.88"/>
          <p:cNvSpPr txBox="1"/>
          <p:nvPr/>
        </p:nvSpPr>
        <p:spPr>
          <a:xfrm>
            <a:off x="736582" y="4590935"/>
            <a:ext cx="203899" cy="95248"/>
          </a:xfrm>
          <a:prstGeom prst="rect">
            <a:avLst/>
          </a:prstGeom>
          <a:noFill/>
          <a:ln/>
        </p:spPr>
        <p:txBody>
          <a:bodyPr wrap="square" lIns="0" tIns="0" rIns="0" bIns="0" rtlCol="0" anchor="t"/>
          <a:lstStyle/>
          <a:p>
            <a:pPr algn="l" indent="0" marL="0">
              <a:lnSpc>
                <a:spcPts val="750"/>
              </a:lnSpc>
              <a:buNone/>
            </a:pPr>
            <a:r>
              <a:rPr lang="en-US" sz="750" dirty="0">
                <a:solidFill>
                  <a:srgbClr val="6E7D9A"/>
                </a:solidFill>
                <a:latin typeface="Arial" pitchFamily="34" charset="0"/>
                <a:ea typeface="Arial" pitchFamily="34" charset="-122"/>
                <a:cs typeface="Arial" pitchFamily="34" charset="-120"/>
              </a:rPr>
              <a:t>2.1</a:t>
            </a:r>
            <a:endParaRPr lang="en-US" sz="750" dirty="0"/>
          </a:p>
        </p:txBody>
      </p:sp>
      <p:sp>
        <p:nvSpPr>
          <p:cNvPr id="90" name="Text 20.89"/>
          <p:cNvSpPr txBox="1"/>
          <p:nvPr/>
        </p:nvSpPr>
        <p:spPr>
          <a:xfrm>
            <a:off x="1142971" y="4590935"/>
            <a:ext cx="2578036" cy="107947"/>
          </a:xfrm>
          <a:prstGeom prst="rect">
            <a:avLst/>
          </a:prstGeom>
          <a:noFill/>
          <a:ln/>
        </p:spPr>
        <p:txBody>
          <a:bodyPr wrap="square" lIns="0" tIns="0" rIns="0" bIns="0" rtlCol="0" anchor="t"/>
          <a:lstStyle/>
          <a:p>
            <a:pPr algn="l" indent="0" marL="0">
              <a:lnSpc>
                <a:spcPts val="850"/>
              </a:lnSpc>
              <a:buNone/>
            </a:pPr>
            <a:r>
              <a:rPr lang="en-US" sz="850" dirty="0">
                <a:solidFill>
                  <a:srgbClr val="16233F"/>
                </a:solidFill>
                <a:latin typeface="Arial" pitchFamily="34" charset="0"/>
                <a:ea typeface="Arial" pitchFamily="34" charset="-122"/>
                <a:cs typeface="Arial" pitchFamily="34" charset="-120"/>
              </a:rPr>
              <a:t>Unity project, scenes, build pipeline</a:t>
            </a:r>
            <a:endParaRPr lang="en-US" sz="850" dirty="0"/>
          </a:p>
        </p:txBody>
      </p:sp>
      <p:sp>
        <p:nvSpPr>
          <p:cNvPr id="91" name="Text 20.90"/>
          <p:cNvSpPr txBox="1"/>
          <p:nvPr/>
        </p:nvSpPr>
        <p:spPr>
          <a:xfrm>
            <a:off x="3746406" y="4559186"/>
            <a:ext cx="838179" cy="152396"/>
          </a:xfrm>
          <a:prstGeom prst="rect">
            <a:avLst/>
          </a:prstGeom>
          <a:noFill/>
          <a:ln/>
        </p:spPr>
        <p:txBody>
          <a:bodyPr wrap="square" lIns="0" tIns="0" rIns="0" bIns="0" rtlCol="0" anchor="ctr"/>
          <a:lstStyle/>
          <a:p>
            <a:pPr algn="ctr" indent="0" marL="0">
              <a:lnSpc>
                <a:spcPts val="650"/>
              </a:lnSpc>
              <a:buNone/>
            </a:pPr>
            <a:r>
              <a:rPr lang="en-US" sz="650" b="1" spc="13" kern="0" dirty="0">
                <a:solidFill>
                  <a:srgbClr val="FF6B1F"/>
                </a:solidFill>
                <a:latin typeface="Arial" pitchFamily="34" charset="0"/>
                <a:ea typeface="Arial" pitchFamily="34" charset="-122"/>
                <a:cs typeface="Arial" pitchFamily="34" charset="-120"/>
              </a:rPr>
              <a:t>Ezel</a:t>
            </a:r>
            <a:endParaRPr lang="en-US" sz="650" dirty="0"/>
          </a:p>
        </p:txBody>
      </p:sp>
      <p:sp>
        <p:nvSpPr>
          <p:cNvPr id="92" name="Text 20.91"/>
          <p:cNvSpPr txBox="1"/>
          <p:nvPr/>
        </p:nvSpPr>
        <p:spPr>
          <a:xfrm>
            <a:off x="4762381" y="4590935"/>
            <a:ext cx="457189" cy="95248"/>
          </a:xfrm>
          <a:prstGeom prst="rect">
            <a:avLst/>
          </a:prstGeom>
          <a:noFill/>
          <a:ln/>
        </p:spPr>
        <p:txBody>
          <a:bodyPr wrap="square" lIns="0" tIns="0" rIns="0" bIns="0" rtlCol="0" anchor="t"/>
          <a:lstStyle/>
          <a:p>
            <a:pPr algn="ctr" indent="0" marL="0">
              <a:lnSpc>
                <a:spcPts val="750"/>
              </a:lnSpc>
              <a:buNone/>
            </a:pPr>
            <a:r>
              <a:rPr lang="en-US" sz="750" dirty="0">
                <a:solidFill>
                  <a:srgbClr val="3B4A66"/>
                </a:solidFill>
                <a:latin typeface="Arial" pitchFamily="34" charset="0"/>
                <a:ea typeface="Arial" pitchFamily="34" charset="-122"/>
                <a:cs typeface="Arial" pitchFamily="34" charset="-120"/>
              </a:rPr>
              <a:t>1 wk</a:t>
            </a:r>
            <a:endParaRPr lang="en-US" sz="750" dirty="0"/>
          </a:p>
        </p:txBody>
      </p:sp>
      <p:sp>
        <p:nvSpPr>
          <p:cNvPr id="93" name="Text 20.92"/>
          <p:cNvSpPr txBox="1"/>
          <p:nvPr/>
        </p:nvSpPr>
        <p:spPr>
          <a:xfrm>
            <a:off x="5371966" y="4559186"/>
            <a:ext cx="482588" cy="152396"/>
          </a:xfrm>
          <a:prstGeom prst="rect">
            <a:avLst/>
          </a:prstGeom>
          <a:noFill/>
          <a:ln/>
        </p:spPr>
        <p:txBody>
          <a:bodyPr wrap="square" lIns="0" tIns="0" rIns="0" bIns="0" rtlCol="0" anchor="ctr"/>
          <a:lstStyle/>
          <a:p>
            <a:pPr algn="ctr" indent="0" marL="0">
              <a:lnSpc>
                <a:spcPts val="600"/>
              </a:lnSpc>
              <a:buNone/>
            </a:pPr>
            <a:r>
              <a:rPr lang="en-US" sz="600" b="1" spc="48" kern="0" dirty="0">
                <a:solidFill>
                  <a:srgbClr val="6E7D9A"/>
                </a:solidFill>
                <a:latin typeface="Arial" pitchFamily="34" charset="0"/>
                <a:ea typeface="Arial" pitchFamily="34" charset="-122"/>
                <a:cs typeface="Arial" pitchFamily="34" charset="-120"/>
              </a:rPr>
              <a:t>0%</a:t>
            </a:r>
            <a:endParaRPr lang="en-US" sz="600" dirty="0"/>
          </a:p>
        </p:txBody>
      </p:sp>
      <p:sp>
        <p:nvSpPr>
          <p:cNvPr id="94" name="Text 20.93"/>
          <p:cNvSpPr txBox="1"/>
          <p:nvPr/>
        </p:nvSpPr>
        <p:spPr>
          <a:xfrm>
            <a:off x="736582" y="4794130"/>
            <a:ext cx="203899" cy="95248"/>
          </a:xfrm>
          <a:prstGeom prst="rect">
            <a:avLst/>
          </a:prstGeom>
          <a:noFill/>
          <a:ln/>
        </p:spPr>
        <p:txBody>
          <a:bodyPr wrap="square" lIns="0" tIns="0" rIns="0" bIns="0" rtlCol="0" anchor="t"/>
          <a:lstStyle/>
          <a:p>
            <a:pPr algn="l" indent="0" marL="0">
              <a:lnSpc>
                <a:spcPts val="750"/>
              </a:lnSpc>
              <a:buNone/>
            </a:pPr>
            <a:r>
              <a:rPr lang="en-US" sz="750" dirty="0">
                <a:solidFill>
                  <a:srgbClr val="6E7D9A"/>
                </a:solidFill>
                <a:latin typeface="Arial" pitchFamily="34" charset="0"/>
                <a:ea typeface="Arial" pitchFamily="34" charset="-122"/>
                <a:cs typeface="Arial" pitchFamily="34" charset="-120"/>
              </a:rPr>
              <a:t>2.2</a:t>
            </a:r>
            <a:endParaRPr lang="en-US" sz="750" dirty="0"/>
          </a:p>
        </p:txBody>
      </p:sp>
      <p:sp>
        <p:nvSpPr>
          <p:cNvPr id="95" name="Text 20.94"/>
          <p:cNvSpPr txBox="1"/>
          <p:nvPr/>
        </p:nvSpPr>
        <p:spPr>
          <a:xfrm>
            <a:off x="1142971" y="4794130"/>
            <a:ext cx="2578036" cy="107947"/>
          </a:xfrm>
          <a:prstGeom prst="rect">
            <a:avLst/>
          </a:prstGeom>
          <a:noFill/>
          <a:ln/>
        </p:spPr>
        <p:txBody>
          <a:bodyPr wrap="square" lIns="0" tIns="0" rIns="0" bIns="0" rtlCol="0" anchor="t"/>
          <a:lstStyle/>
          <a:p>
            <a:pPr algn="l" indent="0" marL="0">
              <a:lnSpc>
                <a:spcPts val="850"/>
              </a:lnSpc>
              <a:buNone/>
            </a:pPr>
            <a:r>
              <a:rPr lang="en-US" sz="850" dirty="0">
                <a:solidFill>
                  <a:srgbClr val="16233F"/>
                </a:solidFill>
                <a:latin typeface="Arial" pitchFamily="34" charset="0"/>
                <a:ea typeface="Arial" pitchFamily="34" charset="-122"/>
                <a:cs typeface="Arial" pitchFamily="34" charset="-120"/>
              </a:rPr>
              <a:t>Character controller &amp; camera</a:t>
            </a:r>
            <a:endParaRPr lang="en-US" sz="850" dirty="0"/>
          </a:p>
        </p:txBody>
      </p:sp>
      <p:sp>
        <p:nvSpPr>
          <p:cNvPr id="96" name="Text 20.95"/>
          <p:cNvSpPr txBox="1"/>
          <p:nvPr/>
        </p:nvSpPr>
        <p:spPr>
          <a:xfrm>
            <a:off x="3746406" y="4762381"/>
            <a:ext cx="838179" cy="152396"/>
          </a:xfrm>
          <a:prstGeom prst="rect">
            <a:avLst/>
          </a:prstGeom>
          <a:noFill/>
          <a:ln/>
        </p:spPr>
        <p:txBody>
          <a:bodyPr wrap="square" lIns="0" tIns="0" rIns="0" bIns="0" rtlCol="0" anchor="ctr"/>
          <a:lstStyle/>
          <a:p>
            <a:pPr algn="ctr" indent="0" marL="0">
              <a:lnSpc>
                <a:spcPts val="650"/>
              </a:lnSpc>
              <a:buNone/>
            </a:pPr>
            <a:r>
              <a:rPr lang="en-US" sz="650" b="1" spc="13" kern="0" dirty="0">
                <a:solidFill>
                  <a:srgbClr val="43B832"/>
                </a:solidFill>
                <a:latin typeface="Arial" pitchFamily="34" charset="0"/>
                <a:ea typeface="Arial" pitchFamily="34" charset="-122"/>
                <a:cs typeface="Arial" pitchFamily="34" charset="-120"/>
              </a:rPr>
              <a:t>Kürşat</a:t>
            </a:r>
            <a:endParaRPr lang="en-US" sz="650" dirty="0"/>
          </a:p>
        </p:txBody>
      </p:sp>
      <p:sp>
        <p:nvSpPr>
          <p:cNvPr id="97" name="Text 20.96"/>
          <p:cNvSpPr txBox="1"/>
          <p:nvPr/>
        </p:nvSpPr>
        <p:spPr>
          <a:xfrm>
            <a:off x="4762381" y="4794130"/>
            <a:ext cx="457189" cy="95248"/>
          </a:xfrm>
          <a:prstGeom prst="rect">
            <a:avLst/>
          </a:prstGeom>
          <a:noFill/>
          <a:ln/>
        </p:spPr>
        <p:txBody>
          <a:bodyPr wrap="square" lIns="0" tIns="0" rIns="0" bIns="0" rtlCol="0" anchor="t"/>
          <a:lstStyle/>
          <a:p>
            <a:pPr algn="ctr" indent="0" marL="0">
              <a:lnSpc>
                <a:spcPts val="750"/>
              </a:lnSpc>
              <a:buNone/>
            </a:pPr>
            <a:r>
              <a:rPr lang="en-US" sz="750" dirty="0">
                <a:solidFill>
                  <a:srgbClr val="3B4A66"/>
                </a:solidFill>
                <a:latin typeface="Arial" pitchFamily="34" charset="0"/>
                <a:ea typeface="Arial" pitchFamily="34" charset="-122"/>
                <a:cs typeface="Arial" pitchFamily="34" charset="-120"/>
              </a:rPr>
              <a:t>2 wk</a:t>
            </a:r>
            <a:endParaRPr lang="en-US" sz="750" dirty="0"/>
          </a:p>
        </p:txBody>
      </p:sp>
      <p:sp>
        <p:nvSpPr>
          <p:cNvPr id="98" name="Text 20.97"/>
          <p:cNvSpPr txBox="1"/>
          <p:nvPr/>
        </p:nvSpPr>
        <p:spPr>
          <a:xfrm>
            <a:off x="5371966" y="4762381"/>
            <a:ext cx="482588" cy="152396"/>
          </a:xfrm>
          <a:prstGeom prst="rect">
            <a:avLst/>
          </a:prstGeom>
          <a:noFill/>
          <a:ln/>
        </p:spPr>
        <p:txBody>
          <a:bodyPr wrap="square" lIns="0" tIns="0" rIns="0" bIns="0" rtlCol="0" anchor="ctr"/>
          <a:lstStyle/>
          <a:p>
            <a:pPr algn="ctr" indent="0" marL="0">
              <a:lnSpc>
                <a:spcPts val="600"/>
              </a:lnSpc>
              <a:buNone/>
            </a:pPr>
            <a:r>
              <a:rPr lang="en-US" sz="600" b="1" spc="48" kern="0" dirty="0">
                <a:solidFill>
                  <a:srgbClr val="6E7D9A"/>
                </a:solidFill>
                <a:latin typeface="Arial" pitchFamily="34" charset="0"/>
                <a:ea typeface="Arial" pitchFamily="34" charset="-122"/>
                <a:cs typeface="Arial" pitchFamily="34" charset="-120"/>
              </a:rPr>
              <a:t>0%</a:t>
            </a:r>
            <a:endParaRPr lang="en-US" sz="600" dirty="0"/>
          </a:p>
        </p:txBody>
      </p:sp>
      <p:sp>
        <p:nvSpPr>
          <p:cNvPr id="99" name="Text 20.98"/>
          <p:cNvSpPr txBox="1"/>
          <p:nvPr/>
        </p:nvSpPr>
        <p:spPr>
          <a:xfrm>
            <a:off x="736582" y="4997325"/>
            <a:ext cx="203899" cy="95248"/>
          </a:xfrm>
          <a:prstGeom prst="rect">
            <a:avLst/>
          </a:prstGeom>
          <a:noFill/>
          <a:ln/>
        </p:spPr>
        <p:txBody>
          <a:bodyPr wrap="square" lIns="0" tIns="0" rIns="0" bIns="0" rtlCol="0" anchor="t"/>
          <a:lstStyle/>
          <a:p>
            <a:pPr algn="l" indent="0" marL="0">
              <a:lnSpc>
                <a:spcPts val="750"/>
              </a:lnSpc>
              <a:buNone/>
            </a:pPr>
            <a:r>
              <a:rPr lang="en-US" sz="750" dirty="0">
                <a:solidFill>
                  <a:srgbClr val="6E7D9A"/>
                </a:solidFill>
                <a:latin typeface="Arial" pitchFamily="34" charset="0"/>
                <a:ea typeface="Arial" pitchFamily="34" charset="-122"/>
                <a:cs typeface="Arial" pitchFamily="34" charset="-120"/>
              </a:rPr>
              <a:t>2.3</a:t>
            </a:r>
            <a:endParaRPr lang="en-US" sz="750" dirty="0"/>
          </a:p>
        </p:txBody>
      </p:sp>
      <p:sp>
        <p:nvSpPr>
          <p:cNvPr id="100" name="Text 20.99"/>
          <p:cNvSpPr txBox="1"/>
          <p:nvPr/>
        </p:nvSpPr>
        <p:spPr>
          <a:xfrm>
            <a:off x="1142971" y="4997325"/>
            <a:ext cx="2578036" cy="107947"/>
          </a:xfrm>
          <a:prstGeom prst="rect">
            <a:avLst/>
          </a:prstGeom>
          <a:noFill/>
          <a:ln/>
        </p:spPr>
        <p:txBody>
          <a:bodyPr wrap="square" lIns="0" tIns="0" rIns="0" bIns="0" rtlCol="0" anchor="t"/>
          <a:lstStyle/>
          <a:p>
            <a:pPr algn="l" indent="0" marL="0">
              <a:lnSpc>
                <a:spcPts val="850"/>
              </a:lnSpc>
              <a:buNone/>
            </a:pPr>
            <a:r>
              <a:rPr lang="en-US" sz="850" dirty="0">
                <a:solidFill>
                  <a:srgbClr val="16233F"/>
                </a:solidFill>
                <a:latin typeface="Arial" pitchFamily="34" charset="0"/>
                <a:ea typeface="Arial" pitchFamily="34" charset="-122"/>
                <a:cs typeface="Arial" pitchFamily="34" charset="-120"/>
              </a:rPr>
              <a:t>LAN host / join (Netcode)</a:t>
            </a:r>
            <a:endParaRPr lang="en-US" sz="850" dirty="0"/>
          </a:p>
        </p:txBody>
      </p:sp>
      <p:sp>
        <p:nvSpPr>
          <p:cNvPr id="101" name="Text 20.100"/>
          <p:cNvSpPr txBox="1"/>
          <p:nvPr/>
        </p:nvSpPr>
        <p:spPr>
          <a:xfrm>
            <a:off x="3746406" y="4965576"/>
            <a:ext cx="838179" cy="152396"/>
          </a:xfrm>
          <a:prstGeom prst="rect">
            <a:avLst/>
          </a:prstGeom>
          <a:noFill/>
          <a:ln/>
        </p:spPr>
        <p:txBody>
          <a:bodyPr wrap="square" lIns="0" tIns="0" rIns="0" bIns="0" rtlCol="0" anchor="ctr"/>
          <a:lstStyle/>
          <a:p>
            <a:pPr algn="ctr" indent="0" marL="0">
              <a:lnSpc>
                <a:spcPts val="650"/>
              </a:lnSpc>
              <a:buNone/>
            </a:pPr>
            <a:r>
              <a:rPr lang="en-US" sz="650" b="1" spc="13" kern="0" dirty="0">
                <a:solidFill>
                  <a:srgbClr val="FF6B1F"/>
                </a:solidFill>
                <a:latin typeface="Arial" pitchFamily="34" charset="0"/>
                <a:ea typeface="Arial" pitchFamily="34" charset="-122"/>
                <a:cs typeface="Arial" pitchFamily="34" charset="-120"/>
              </a:rPr>
              <a:t>Ezel</a:t>
            </a:r>
            <a:endParaRPr lang="en-US" sz="650" dirty="0"/>
          </a:p>
        </p:txBody>
      </p:sp>
      <p:sp>
        <p:nvSpPr>
          <p:cNvPr id="102" name="Text 20.101"/>
          <p:cNvSpPr txBox="1"/>
          <p:nvPr/>
        </p:nvSpPr>
        <p:spPr>
          <a:xfrm>
            <a:off x="4762381" y="4997325"/>
            <a:ext cx="457189" cy="95248"/>
          </a:xfrm>
          <a:prstGeom prst="rect">
            <a:avLst/>
          </a:prstGeom>
          <a:noFill/>
          <a:ln/>
        </p:spPr>
        <p:txBody>
          <a:bodyPr wrap="square" lIns="0" tIns="0" rIns="0" bIns="0" rtlCol="0" anchor="t"/>
          <a:lstStyle/>
          <a:p>
            <a:pPr algn="ctr" indent="0" marL="0">
              <a:lnSpc>
                <a:spcPts val="750"/>
              </a:lnSpc>
              <a:buNone/>
            </a:pPr>
            <a:r>
              <a:rPr lang="en-US" sz="750" dirty="0">
                <a:solidFill>
                  <a:srgbClr val="3B4A66"/>
                </a:solidFill>
                <a:latin typeface="Arial" pitchFamily="34" charset="0"/>
                <a:ea typeface="Arial" pitchFamily="34" charset="-122"/>
                <a:cs typeface="Arial" pitchFamily="34" charset="-120"/>
              </a:rPr>
              <a:t>2 wk</a:t>
            </a:r>
            <a:endParaRPr lang="en-US" sz="750" dirty="0"/>
          </a:p>
        </p:txBody>
      </p:sp>
      <p:sp>
        <p:nvSpPr>
          <p:cNvPr id="103" name="Text 20.102"/>
          <p:cNvSpPr txBox="1"/>
          <p:nvPr/>
        </p:nvSpPr>
        <p:spPr>
          <a:xfrm>
            <a:off x="5371966" y="4965576"/>
            <a:ext cx="482588" cy="152396"/>
          </a:xfrm>
          <a:prstGeom prst="rect">
            <a:avLst/>
          </a:prstGeom>
          <a:noFill/>
          <a:ln/>
        </p:spPr>
        <p:txBody>
          <a:bodyPr wrap="square" lIns="0" tIns="0" rIns="0" bIns="0" rtlCol="0" anchor="ctr"/>
          <a:lstStyle/>
          <a:p>
            <a:pPr algn="ctr" indent="0" marL="0">
              <a:lnSpc>
                <a:spcPts val="600"/>
              </a:lnSpc>
              <a:buNone/>
            </a:pPr>
            <a:r>
              <a:rPr lang="en-US" sz="600" b="1" spc="48" kern="0" dirty="0">
                <a:solidFill>
                  <a:srgbClr val="6E7D9A"/>
                </a:solidFill>
                <a:latin typeface="Arial" pitchFamily="34" charset="0"/>
                <a:ea typeface="Arial" pitchFamily="34" charset="-122"/>
                <a:cs typeface="Arial" pitchFamily="34" charset="-120"/>
              </a:rPr>
              <a:t>0%</a:t>
            </a:r>
            <a:endParaRPr lang="en-US" sz="600" dirty="0"/>
          </a:p>
        </p:txBody>
      </p:sp>
      <p:sp>
        <p:nvSpPr>
          <p:cNvPr id="104" name="Text 20.103"/>
          <p:cNvSpPr txBox="1"/>
          <p:nvPr/>
        </p:nvSpPr>
        <p:spPr>
          <a:xfrm>
            <a:off x="736582" y="5200520"/>
            <a:ext cx="203899" cy="95248"/>
          </a:xfrm>
          <a:prstGeom prst="rect">
            <a:avLst/>
          </a:prstGeom>
          <a:noFill/>
          <a:ln/>
        </p:spPr>
        <p:txBody>
          <a:bodyPr wrap="square" lIns="0" tIns="0" rIns="0" bIns="0" rtlCol="0" anchor="t"/>
          <a:lstStyle/>
          <a:p>
            <a:pPr algn="l" indent="0" marL="0">
              <a:lnSpc>
                <a:spcPts val="750"/>
              </a:lnSpc>
              <a:buNone/>
            </a:pPr>
            <a:r>
              <a:rPr lang="en-US" sz="750" dirty="0">
                <a:solidFill>
                  <a:srgbClr val="6E7D9A"/>
                </a:solidFill>
                <a:latin typeface="Arial" pitchFamily="34" charset="0"/>
                <a:ea typeface="Arial" pitchFamily="34" charset="-122"/>
                <a:cs typeface="Arial" pitchFamily="34" charset="-120"/>
              </a:rPr>
              <a:t>2.4</a:t>
            </a:r>
            <a:endParaRPr lang="en-US" sz="750" dirty="0"/>
          </a:p>
        </p:txBody>
      </p:sp>
      <p:sp>
        <p:nvSpPr>
          <p:cNvPr id="105" name="Text 20.104"/>
          <p:cNvSpPr txBox="1"/>
          <p:nvPr/>
        </p:nvSpPr>
        <p:spPr>
          <a:xfrm>
            <a:off x="1142971" y="5200520"/>
            <a:ext cx="2578036" cy="107947"/>
          </a:xfrm>
          <a:prstGeom prst="rect">
            <a:avLst/>
          </a:prstGeom>
          <a:noFill/>
          <a:ln/>
        </p:spPr>
        <p:txBody>
          <a:bodyPr wrap="square" lIns="0" tIns="0" rIns="0" bIns="0" rtlCol="0" anchor="t"/>
          <a:lstStyle/>
          <a:p>
            <a:pPr algn="l" indent="0" marL="0">
              <a:lnSpc>
                <a:spcPts val="850"/>
              </a:lnSpc>
              <a:buNone/>
            </a:pPr>
            <a:r>
              <a:rPr lang="en-US" sz="850" dirty="0">
                <a:solidFill>
                  <a:srgbClr val="16233F"/>
                </a:solidFill>
                <a:latin typeface="Arial" pitchFamily="34" charset="0"/>
                <a:ea typeface="Arial" pitchFamily="34" charset="-122"/>
                <a:cs typeface="Arial" pitchFamily="34" charset="-120"/>
              </a:rPr>
              <a:t>Host authority &amp; state sync</a:t>
            </a:r>
            <a:endParaRPr lang="en-US" sz="850" dirty="0"/>
          </a:p>
        </p:txBody>
      </p:sp>
      <p:sp>
        <p:nvSpPr>
          <p:cNvPr id="106" name="Text 20.105"/>
          <p:cNvSpPr txBox="1"/>
          <p:nvPr/>
        </p:nvSpPr>
        <p:spPr>
          <a:xfrm>
            <a:off x="3746406" y="5168771"/>
            <a:ext cx="838179" cy="152396"/>
          </a:xfrm>
          <a:prstGeom prst="rect">
            <a:avLst/>
          </a:prstGeom>
          <a:noFill/>
          <a:ln/>
        </p:spPr>
        <p:txBody>
          <a:bodyPr wrap="square" lIns="0" tIns="0" rIns="0" bIns="0" rtlCol="0" anchor="ctr"/>
          <a:lstStyle/>
          <a:p>
            <a:pPr algn="ctr" indent="0" marL="0">
              <a:lnSpc>
                <a:spcPts val="650"/>
              </a:lnSpc>
              <a:buNone/>
            </a:pPr>
            <a:r>
              <a:rPr lang="en-US" sz="650" b="1" spc="13" kern="0" dirty="0">
                <a:solidFill>
                  <a:srgbClr val="FF6B1F"/>
                </a:solidFill>
                <a:latin typeface="Arial" pitchFamily="34" charset="0"/>
                <a:ea typeface="Arial" pitchFamily="34" charset="-122"/>
                <a:cs typeface="Arial" pitchFamily="34" charset="-120"/>
              </a:rPr>
              <a:t>Ezel</a:t>
            </a:r>
            <a:endParaRPr lang="en-US" sz="650" dirty="0"/>
          </a:p>
        </p:txBody>
      </p:sp>
      <p:sp>
        <p:nvSpPr>
          <p:cNvPr id="107" name="Text 20.106"/>
          <p:cNvSpPr txBox="1"/>
          <p:nvPr/>
        </p:nvSpPr>
        <p:spPr>
          <a:xfrm>
            <a:off x="4762381" y="5200520"/>
            <a:ext cx="457189" cy="95248"/>
          </a:xfrm>
          <a:prstGeom prst="rect">
            <a:avLst/>
          </a:prstGeom>
          <a:noFill/>
          <a:ln/>
        </p:spPr>
        <p:txBody>
          <a:bodyPr wrap="square" lIns="0" tIns="0" rIns="0" bIns="0" rtlCol="0" anchor="t"/>
          <a:lstStyle/>
          <a:p>
            <a:pPr algn="ctr" indent="0" marL="0">
              <a:lnSpc>
                <a:spcPts val="750"/>
              </a:lnSpc>
              <a:buNone/>
            </a:pPr>
            <a:r>
              <a:rPr lang="en-US" sz="750" dirty="0">
                <a:solidFill>
                  <a:srgbClr val="3B4A66"/>
                </a:solidFill>
                <a:latin typeface="Arial" pitchFamily="34" charset="0"/>
                <a:ea typeface="Arial" pitchFamily="34" charset="-122"/>
                <a:cs typeface="Arial" pitchFamily="34" charset="-120"/>
              </a:rPr>
              <a:t>1 wk</a:t>
            </a:r>
            <a:endParaRPr lang="en-US" sz="750" dirty="0"/>
          </a:p>
        </p:txBody>
      </p:sp>
      <p:sp>
        <p:nvSpPr>
          <p:cNvPr id="108" name="Text 20.107"/>
          <p:cNvSpPr txBox="1"/>
          <p:nvPr/>
        </p:nvSpPr>
        <p:spPr>
          <a:xfrm>
            <a:off x="5371966" y="5168771"/>
            <a:ext cx="482588" cy="152396"/>
          </a:xfrm>
          <a:prstGeom prst="rect">
            <a:avLst/>
          </a:prstGeom>
          <a:noFill/>
          <a:ln/>
        </p:spPr>
        <p:txBody>
          <a:bodyPr wrap="square" lIns="0" tIns="0" rIns="0" bIns="0" rtlCol="0" anchor="ctr"/>
          <a:lstStyle/>
          <a:p>
            <a:pPr algn="ctr" indent="0" marL="0">
              <a:lnSpc>
                <a:spcPts val="600"/>
              </a:lnSpc>
              <a:buNone/>
            </a:pPr>
            <a:r>
              <a:rPr lang="en-US" sz="600" b="1" spc="48" kern="0" dirty="0">
                <a:solidFill>
                  <a:srgbClr val="6E7D9A"/>
                </a:solidFill>
                <a:latin typeface="Arial" pitchFamily="34" charset="0"/>
                <a:ea typeface="Arial" pitchFamily="34" charset="-122"/>
                <a:cs typeface="Arial" pitchFamily="34" charset="-120"/>
              </a:rPr>
              <a:t>0%</a:t>
            </a:r>
            <a:endParaRPr lang="en-US" sz="600" dirty="0"/>
          </a:p>
        </p:txBody>
      </p:sp>
      <p:sp>
        <p:nvSpPr>
          <p:cNvPr id="109" name="Text 20.108"/>
          <p:cNvSpPr txBox="1"/>
          <p:nvPr/>
        </p:nvSpPr>
        <p:spPr>
          <a:xfrm>
            <a:off x="736582" y="5403715"/>
            <a:ext cx="203899" cy="95248"/>
          </a:xfrm>
          <a:prstGeom prst="rect">
            <a:avLst/>
          </a:prstGeom>
          <a:noFill/>
          <a:ln/>
        </p:spPr>
        <p:txBody>
          <a:bodyPr wrap="square" lIns="0" tIns="0" rIns="0" bIns="0" rtlCol="0" anchor="t"/>
          <a:lstStyle/>
          <a:p>
            <a:pPr algn="l" indent="0" marL="0">
              <a:lnSpc>
                <a:spcPts val="750"/>
              </a:lnSpc>
              <a:buNone/>
            </a:pPr>
            <a:r>
              <a:rPr lang="en-US" sz="750" dirty="0">
                <a:solidFill>
                  <a:srgbClr val="6E7D9A"/>
                </a:solidFill>
                <a:latin typeface="Arial" pitchFamily="34" charset="0"/>
                <a:ea typeface="Arial" pitchFamily="34" charset="-122"/>
                <a:cs typeface="Arial" pitchFamily="34" charset="-120"/>
              </a:rPr>
              <a:t>2.5</a:t>
            </a:r>
            <a:endParaRPr lang="en-US" sz="750" dirty="0"/>
          </a:p>
        </p:txBody>
      </p:sp>
      <p:sp>
        <p:nvSpPr>
          <p:cNvPr id="110" name="Text 20.109"/>
          <p:cNvSpPr txBox="1"/>
          <p:nvPr/>
        </p:nvSpPr>
        <p:spPr>
          <a:xfrm>
            <a:off x="1142971" y="5403715"/>
            <a:ext cx="2578036" cy="107947"/>
          </a:xfrm>
          <a:prstGeom prst="rect">
            <a:avLst/>
          </a:prstGeom>
          <a:noFill/>
          <a:ln/>
        </p:spPr>
        <p:txBody>
          <a:bodyPr wrap="square" lIns="0" tIns="0" rIns="0" bIns="0" rtlCol="0" anchor="t"/>
          <a:lstStyle/>
          <a:p>
            <a:pPr algn="l" indent="0" marL="0">
              <a:lnSpc>
                <a:spcPts val="850"/>
              </a:lnSpc>
              <a:buNone/>
            </a:pPr>
            <a:r>
              <a:rPr lang="en-US" sz="850" dirty="0">
                <a:solidFill>
                  <a:srgbClr val="16233F"/>
                </a:solidFill>
                <a:latin typeface="Arial" pitchFamily="34" charset="0"/>
                <a:ea typeface="Arial" pitchFamily="34" charset="-122"/>
                <a:cs typeface="Arial" pitchFamily="34" charset="-120"/>
              </a:rPr>
              <a:t>Ice movement profile</a:t>
            </a:r>
            <a:endParaRPr lang="en-US" sz="850" dirty="0"/>
          </a:p>
        </p:txBody>
      </p:sp>
      <p:sp>
        <p:nvSpPr>
          <p:cNvPr id="111" name="Text 20.110"/>
          <p:cNvSpPr txBox="1"/>
          <p:nvPr/>
        </p:nvSpPr>
        <p:spPr>
          <a:xfrm>
            <a:off x="3746406" y="5371966"/>
            <a:ext cx="838179" cy="152396"/>
          </a:xfrm>
          <a:prstGeom prst="rect">
            <a:avLst/>
          </a:prstGeom>
          <a:noFill/>
          <a:ln/>
        </p:spPr>
        <p:txBody>
          <a:bodyPr wrap="square" lIns="0" tIns="0" rIns="0" bIns="0" rtlCol="0" anchor="ctr"/>
          <a:lstStyle/>
          <a:p>
            <a:pPr algn="ctr" indent="0" marL="0">
              <a:lnSpc>
                <a:spcPts val="650"/>
              </a:lnSpc>
              <a:buNone/>
            </a:pPr>
            <a:r>
              <a:rPr lang="en-US" sz="650" b="1" spc="13" kern="0" dirty="0">
                <a:solidFill>
                  <a:srgbClr val="43B832"/>
                </a:solidFill>
                <a:latin typeface="Arial" pitchFamily="34" charset="0"/>
                <a:ea typeface="Arial" pitchFamily="34" charset="-122"/>
                <a:cs typeface="Arial" pitchFamily="34" charset="-120"/>
              </a:rPr>
              <a:t>Kürşat</a:t>
            </a:r>
            <a:endParaRPr lang="en-US" sz="650" dirty="0"/>
          </a:p>
        </p:txBody>
      </p:sp>
      <p:sp>
        <p:nvSpPr>
          <p:cNvPr id="112" name="Text 20.111"/>
          <p:cNvSpPr txBox="1"/>
          <p:nvPr/>
        </p:nvSpPr>
        <p:spPr>
          <a:xfrm>
            <a:off x="4762381" y="5403715"/>
            <a:ext cx="457189" cy="95248"/>
          </a:xfrm>
          <a:prstGeom prst="rect">
            <a:avLst/>
          </a:prstGeom>
          <a:noFill/>
          <a:ln/>
        </p:spPr>
        <p:txBody>
          <a:bodyPr wrap="square" lIns="0" tIns="0" rIns="0" bIns="0" rtlCol="0" anchor="t"/>
          <a:lstStyle/>
          <a:p>
            <a:pPr algn="ctr" indent="0" marL="0">
              <a:lnSpc>
                <a:spcPts val="750"/>
              </a:lnSpc>
              <a:buNone/>
            </a:pPr>
            <a:r>
              <a:rPr lang="en-US" sz="750" dirty="0">
                <a:solidFill>
                  <a:srgbClr val="3B4A66"/>
                </a:solidFill>
                <a:latin typeface="Arial" pitchFamily="34" charset="0"/>
                <a:ea typeface="Arial" pitchFamily="34" charset="-122"/>
                <a:cs typeface="Arial" pitchFamily="34" charset="-120"/>
              </a:rPr>
              <a:t>1 wk</a:t>
            </a:r>
            <a:endParaRPr lang="en-US" sz="750" dirty="0"/>
          </a:p>
        </p:txBody>
      </p:sp>
      <p:sp>
        <p:nvSpPr>
          <p:cNvPr id="113" name="Text 20.112"/>
          <p:cNvSpPr txBox="1"/>
          <p:nvPr/>
        </p:nvSpPr>
        <p:spPr>
          <a:xfrm>
            <a:off x="5371966" y="5371966"/>
            <a:ext cx="482588" cy="152396"/>
          </a:xfrm>
          <a:prstGeom prst="rect">
            <a:avLst/>
          </a:prstGeom>
          <a:noFill/>
          <a:ln/>
        </p:spPr>
        <p:txBody>
          <a:bodyPr wrap="square" lIns="0" tIns="0" rIns="0" bIns="0" rtlCol="0" anchor="ctr"/>
          <a:lstStyle/>
          <a:p>
            <a:pPr algn="ctr" indent="0" marL="0">
              <a:lnSpc>
                <a:spcPts val="600"/>
              </a:lnSpc>
              <a:buNone/>
            </a:pPr>
            <a:r>
              <a:rPr lang="en-US" sz="600" b="1" spc="48" kern="0" dirty="0">
                <a:solidFill>
                  <a:srgbClr val="6E7D9A"/>
                </a:solidFill>
                <a:latin typeface="Arial" pitchFamily="34" charset="0"/>
                <a:ea typeface="Arial" pitchFamily="34" charset="-122"/>
                <a:cs typeface="Arial" pitchFamily="34" charset="-120"/>
              </a:rPr>
              <a:t>0%</a:t>
            </a:r>
            <a:endParaRPr lang="en-US" sz="600" dirty="0"/>
          </a:p>
        </p:txBody>
      </p:sp>
      <p:sp>
        <p:nvSpPr>
          <p:cNvPr id="114" name="Text 20.113"/>
          <p:cNvSpPr txBox="1"/>
          <p:nvPr/>
        </p:nvSpPr>
        <p:spPr>
          <a:xfrm>
            <a:off x="736582" y="5606910"/>
            <a:ext cx="203899" cy="95248"/>
          </a:xfrm>
          <a:prstGeom prst="rect">
            <a:avLst/>
          </a:prstGeom>
          <a:noFill/>
          <a:ln/>
        </p:spPr>
        <p:txBody>
          <a:bodyPr wrap="square" lIns="0" tIns="0" rIns="0" bIns="0" rtlCol="0" anchor="t"/>
          <a:lstStyle/>
          <a:p>
            <a:pPr algn="l" indent="0" marL="0">
              <a:lnSpc>
                <a:spcPts val="750"/>
              </a:lnSpc>
              <a:buNone/>
            </a:pPr>
            <a:r>
              <a:rPr lang="en-US" sz="750" dirty="0">
                <a:solidFill>
                  <a:srgbClr val="6E7D9A"/>
                </a:solidFill>
                <a:latin typeface="Arial" pitchFamily="34" charset="0"/>
                <a:ea typeface="Arial" pitchFamily="34" charset="-122"/>
                <a:cs typeface="Arial" pitchFamily="34" charset="-120"/>
              </a:rPr>
              <a:t>2.6</a:t>
            </a:r>
            <a:endParaRPr lang="en-US" sz="750" dirty="0"/>
          </a:p>
        </p:txBody>
      </p:sp>
      <p:sp>
        <p:nvSpPr>
          <p:cNvPr id="115" name="Text 20.114"/>
          <p:cNvSpPr txBox="1"/>
          <p:nvPr/>
        </p:nvSpPr>
        <p:spPr>
          <a:xfrm>
            <a:off x="1142971" y="5606910"/>
            <a:ext cx="2578036" cy="107947"/>
          </a:xfrm>
          <a:prstGeom prst="rect">
            <a:avLst/>
          </a:prstGeom>
          <a:noFill/>
          <a:ln/>
        </p:spPr>
        <p:txBody>
          <a:bodyPr wrap="square" lIns="0" tIns="0" rIns="0" bIns="0" rtlCol="0" anchor="t"/>
          <a:lstStyle/>
          <a:p>
            <a:pPr algn="l" indent="0" marL="0">
              <a:lnSpc>
                <a:spcPts val="850"/>
              </a:lnSpc>
              <a:buNone/>
            </a:pPr>
            <a:r>
              <a:rPr lang="en-US" sz="850" dirty="0">
                <a:solidFill>
                  <a:srgbClr val="16233F"/>
                </a:solidFill>
                <a:latin typeface="Arial" pitchFamily="34" charset="0"/>
                <a:ea typeface="Arial" pitchFamily="34" charset="-122"/>
                <a:cs typeface="Arial" pitchFamily="34" charset="-120"/>
              </a:rPr>
              <a:t>Ice Race track blockout &amp; checkpoints</a:t>
            </a:r>
            <a:endParaRPr lang="en-US" sz="850" dirty="0"/>
          </a:p>
        </p:txBody>
      </p:sp>
      <p:sp>
        <p:nvSpPr>
          <p:cNvPr id="116" name="Text 20.115"/>
          <p:cNvSpPr txBox="1"/>
          <p:nvPr/>
        </p:nvSpPr>
        <p:spPr>
          <a:xfrm>
            <a:off x="3746406" y="5575161"/>
            <a:ext cx="838179" cy="152396"/>
          </a:xfrm>
          <a:prstGeom prst="rect">
            <a:avLst/>
          </a:prstGeom>
          <a:noFill/>
          <a:ln/>
        </p:spPr>
        <p:txBody>
          <a:bodyPr wrap="square" lIns="0" tIns="0" rIns="0" bIns="0" rtlCol="0" anchor="ctr"/>
          <a:lstStyle/>
          <a:p>
            <a:pPr algn="ctr" indent="0" marL="0">
              <a:lnSpc>
                <a:spcPts val="650"/>
              </a:lnSpc>
              <a:buNone/>
            </a:pPr>
            <a:r>
              <a:rPr lang="en-US" sz="650" b="1" spc="13" kern="0" dirty="0">
                <a:solidFill>
                  <a:srgbClr val="43B832"/>
                </a:solidFill>
                <a:latin typeface="Arial" pitchFamily="34" charset="0"/>
                <a:ea typeface="Arial" pitchFamily="34" charset="-122"/>
                <a:cs typeface="Arial" pitchFamily="34" charset="-120"/>
              </a:rPr>
              <a:t>Kürşat</a:t>
            </a:r>
            <a:endParaRPr lang="en-US" sz="650" dirty="0"/>
          </a:p>
        </p:txBody>
      </p:sp>
      <p:sp>
        <p:nvSpPr>
          <p:cNvPr id="117" name="Text 20.116"/>
          <p:cNvSpPr txBox="1"/>
          <p:nvPr/>
        </p:nvSpPr>
        <p:spPr>
          <a:xfrm>
            <a:off x="4762381" y="5606910"/>
            <a:ext cx="457189" cy="95248"/>
          </a:xfrm>
          <a:prstGeom prst="rect">
            <a:avLst/>
          </a:prstGeom>
          <a:noFill/>
          <a:ln/>
        </p:spPr>
        <p:txBody>
          <a:bodyPr wrap="square" lIns="0" tIns="0" rIns="0" bIns="0" rtlCol="0" anchor="t"/>
          <a:lstStyle/>
          <a:p>
            <a:pPr algn="ctr" indent="0" marL="0">
              <a:lnSpc>
                <a:spcPts val="750"/>
              </a:lnSpc>
              <a:buNone/>
            </a:pPr>
            <a:r>
              <a:rPr lang="en-US" sz="750" dirty="0">
                <a:solidFill>
                  <a:srgbClr val="3B4A66"/>
                </a:solidFill>
                <a:latin typeface="Arial" pitchFamily="34" charset="0"/>
                <a:ea typeface="Arial" pitchFamily="34" charset="-122"/>
                <a:cs typeface="Arial" pitchFamily="34" charset="-120"/>
              </a:rPr>
              <a:t>1 wk</a:t>
            </a:r>
            <a:endParaRPr lang="en-US" sz="750" dirty="0"/>
          </a:p>
        </p:txBody>
      </p:sp>
      <p:sp>
        <p:nvSpPr>
          <p:cNvPr id="118" name="Text 20.117"/>
          <p:cNvSpPr txBox="1"/>
          <p:nvPr/>
        </p:nvSpPr>
        <p:spPr>
          <a:xfrm>
            <a:off x="5371966" y="5575161"/>
            <a:ext cx="482588" cy="152396"/>
          </a:xfrm>
          <a:prstGeom prst="rect">
            <a:avLst/>
          </a:prstGeom>
          <a:noFill/>
          <a:ln/>
        </p:spPr>
        <p:txBody>
          <a:bodyPr wrap="square" lIns="0" tIns="0" rIns="0" bIns="0" rtlCol="0" anchor="ctr"/>
          <a:lstStyle/>
          <a:p>
            <a:pPr algn="ctr" indent="0" marL="0">
              <a:lnSpc>
                <a:spcPts val="600"/>
              </a:lnSpc>
              <a:buNone/>
            </a:pPr>
            <a:r>
              <a:rPr lang="en-US" sz="600" b="1" spc="48" kern="0" dirty="0">
                <a:solidFill>
                  <a:srgbClr val="6E7D9A"/>
                </a:solidFill>
                <a:latin typeface="Arial" pitchFamily="34" charset="0"/>
                <a:ea typeface="Arial" pitchFamily="34" charset="-122"/>
                <a:cs typeface="Arial" pitchFamily="34" charset="-120"/>
              </a:rPr>
              <a:t>0%</a:t>
            </a:r>
            <a:endParaRPr lang="en-US" sz="600" dirty="0"/>
          </a:p>
        </p:txBody>
      </p:sp>
      <p:sp>
        <p:nvSpPr>
          <p:cNvPr id="119" name="Text 20.118"/>
          <p:cNvSpPr txBox="1"/>
          <p:nvPr/>
        </p:nvSpPr>
        <p:spPr>
          <a:xfrm>
            <a:off x="736582" y="5810105"/>
            <a:ext cx="203899" cy="95248"/>
          </a:xfrm>
          <a:prstGeom prst="rect">
            <a:avLst/>
          </a:prstGeom>
          <a:noFill/>
          <a:ln/>
        </p:spPr>
        <p:txBody>
          <a:bodyPr wrap="square" lIns="0" tIns="0" rIns="0" bIns="0" rtlCol="0" anchor="t"/>
          <a:lstStyle/>
          <a:p>
            <a:pPr algn="l" indent="0" marL="0">
              <a:lnSpc>
                <a:spcPts val="750"/>
              </a:lnSpc>
              <a:buNone/>
            </a:pPr>
            <a:r>
              <a:rPr lang="en-US" sz="750" dirty="0">
                <a:solidFill>
                  <a:srgbClr val="6E7D9A"/>
                </a:solidFill>
                <a:latin typeface="Arial" pitchFamily="34" charset="0"/>
                <a:ea typeface="Arial" pitchFamily="34" charset="-122"/>
                <a:cs typeface="Arial" pitchFamily="34" charset="-120"/>
              </a:rPr>
              <a:t>2.7</a:t>
            </a:r>
            <a:endParaRPr lang="en-US" sz="750" dirty="0"/>
          </a:p>
        </p:txBody>
      </p:sp>
      <p:sp>
        <p:nvSpPr>
          <p:cNvPr id="120" name="Text 20.119"/>
          <p:cNvSpPr txBox="1"/>
          <p:nvPr/>
        </p:nvSpPr>
        <p:spPr>
          <a:xfrm>
            <a:off x="1142971" y="5810105"/>
            <a:ext cx="2578036" cy="107947"/>
          </a:xfrm>
          <a:prstGeom prst="rect">
            <a:avLst/>
          </a:prstGeom>
          <a:noFill/>
          <a:ln/>
        </p:spPr>
        <p:txBody>
          <a:bodyPr wrap="square" lIns="0" tIns="0" rIns="0" bIns="0" rtlCol="0" anchor="t"/>
          <a:lstStyle/>
          <a:p>
            <a:pPr algn="l" indent="0" marL="0">
              <a:lnSpc>
                <a:spcPts val="850"/>
              </a:lnSpc>
              <a:buNone/>
            </a:pPr>
            <a:r>
              <a:rPr lang="en-US" sz="850" dirty="0">
                <a:solidFill>
                  <a:srgbClr val="16233F"/>
                </a:solidFill>
                <a:latin typeface="Arial" pitchFamily="34" charset="0"/>
                <a:ea typeface="Arial" pitchFamily="34" charset="-122"/>
                <a:cs typeface="Arial" pitchFamily="34" charset="-120"/>
              </a:rPr>
              <a:t>Mass state &amp; spit projectile</a:t>
            </a:r>
            <a:endParaRPr lang="en-US" sz="850" dirty="0"/>
          </a:p>
        </p:txBody>
      </p:sp>
      <p:sp>
        <p:nvSpPr>
          <p:cNvPr id="121" name="Text 20.120"/>
          <p:cNvSpPr txBox="1"/>
          <p:nvPr/>
        </p:nvSpPr>
        <p:spPr>
          <a:xfrm>
            <a:off x="3746406" y="5778356"/>
            <a:ext cx="838179" cy="152396"/>
          </a:xfrm>
          <a:prstGeom prst="rect">
            <a:avLst/>
          </a:prstGeom>
          <a:noFill/>
          <a:ln/>
        </p:spPr>
        <p:txBody>
          <a:bodyPr wrap="square" lIns="0" tIns="0" rIns="0" bIns="0" rtlCol="0" anchor="ctr"/>
          <a:lstStyle/>
          <a:p>
            <a:pPr algn="ctr" indent="0" marL="0">
              <a:lnSpc>
                <a:spcPts val="650"/>
              </a:lnSpc>
              <a:buNone/>
            </a:pPr>
            <a:r>
              <a:rPr lang="en-US" sz="650" b="1" spc="13" kern="0" dirty="0">
                <a:solidFill>
                  <a:srgbClr val="1FA9EA"/>
                </a:solidFill>
                <a:latin typeface="Arial" pitchFamily="34" charset="0"/>
                <a:ea typeface="Arial" pitchFamily="34" charset="-122"/>
                <a:cs typeface="Arial" pitchFamily="34" charset="-120"/>
              </a:rPr>
              <a:t>Abdurrahim</a:t>
            </a:r>
            <a:endParaRPr lang="en-US" sz="650" dirty="0"/>
          </a:p>
        </p:txBody>
      </p:sp>
      <p:sp>
        <p:nvSpPr>
          <p:cNvPr id="122" name="Text 20.121"/>
          <p:cNvSpPr txBox="1"/>
          <p:nvPr/>
        </p:nvSpPr>
        <p:spPr>
          <a:xfrm>
            <a:off x="4762381" y="5810105"/>
            <a:ext cx="457189" cy="95248"/>
          </a:xfrm>
          <a:prstGeom prst="rect">
            <a:avLst/>
          </a:prstGeom>
          <a:noFill/>
          <a:ln/>
        </p:spPr>
        <p:txBody>
          <a:bodyPr wrap="square" lIns="0" tIns="0" rIns="0" bIns="0" rtlCol="0" anchor="t"/>
          <a:lstStyle/>
          <a:p>
            <a:pPr algn="ctr" indent="0" marL="0">
              <a:lnSpc>
                <a:spcPts val="750"/>
              </a:lnSpc>
              <a:buNone/>
            </a:pPr>
            <a:r>
              <a:rPr lang="en-US" sz="750" dirty="0">
                <a:solidFill>
                  <a:srgbClr val="3B4A66"/>
                </a:solidFill>
                <a:latin typeface="Arial" pitchFamily="34" charset="0"/>
                <a:ea typeface="Arial" pitchFamily="34" charset="-122"/>
                <a:cs typeface="Arial" pitchFamily="34" charset="-120"/>
              </a:rPr>
              <a:t>3 wk</a:t>
            </a:r>
            <a:endParaRPr lang="en-US" sz="750" dirty="0"/>
          </a:p>
        </p:txBody>
      </p:sp>
      <p:sp>
        <p:nvSpPr>
          <p:cNvPr id="123" name="Text 20.122"/>
          <p:cNvSpPr txBox="1"/>
          <p:nvPr/>
        </p:nvSpPr>
        <p:spPr>
          <a:xfrm>
            <a:off x="5371966" y="5778356"/>
            <a:ext cx="482588" cy="152396"/>
          </a:xfrm>
          <a:prstGeom prst="rect">
            <a:avLst/>
          </a:prstGeom>
          <a:noFill/>
          <a:ln/>
        </p:spPr>
        <p:txBody>
          <a:bodyPr wrap="square" lIns="0" tIns="0" rIns="0" bIns="0" rtlCol="0" anchor="ctr"/>
          <a:lstStyle/>
          <a:p>
            <a:pPr algn="ctr" indent="0" marL="0">
              <a:lnSpc>
                <a:spcPts val="600"/>
              </a:lnSpc>
              <a:buNone/>
            </a:pPr>
            <a:r>
              <a:rPr lang="en-US" sz="600" b="1" spc="48" kern="0" dirty="0">
                <a:solidFill>
                  <a:srgbClr val="6E7D9A"/>
                </a:solidFill>
                <a:latin typeface="Arial" pitchFamily="34" charset="0"/>
                <a:ea typeface="Arial" pitchFamily="34" charset="-122"/>
                <a:cs typeface="Arial" pitchFamily="34" charset="-120"/>
              </a:rPr>
              <a:t>0%</a:t>
            </a:r>
            <a:endParaRPr lang="en-US" sz="600" dirty="0"/>
          </a:p>
        </p:txBody>
      </p:sp>
      <p:sp>
        <p:nvSpPr>
          <p:cNvPr id="124" name="Text 20.123"/>
          <p:cNvSpPr txBox="1"/>
          <p:nvPr/>
        </p:nvSpPr>
        <p:spPr>
          <a:xfrm>
            <a:off x="736582" y="6013300"/>
            <a:ext cx="203899" cy="95248"/>
          </a:xfrm>
          <a:prstGeom prst="rect">
            <a:avLst/>
          </a:prstGeom>
          <a:noFill/>
          <a:ln/>
        </p:spPr>
        <p:txBody>
          <a:bodyPr wrap="square" lIns="0" tIns="0" rIns="0" bIns="0" rtlCol="0" anchor="t"/>
          <a:lstStyle/>
          <a:p>
            <a:pPr algn="l" indent="0" marL="0">
              <a:lnSpc>
                <a:spcPts val="750"/>
              </a:lnSpc>
              <a:buNone/>
            </a:pPr>
            <a:r>
              <a:rPr lang="en-US" sz="750" dirty="0">
                <a:solidFill>
                  <a:srgbClr val="6E7D9A"/>
                </a:solidFill>
                <a:latin typeface="Arial" pitchFamily="34" charset="0"/>
                <a:ea typeface="Arial" pitchFamily="34" charset="-122"/>
                <a:cs typeface="Arial" pitchFamily="34" charset="-120"/>
              </a:rPr>
              <a:t>2.8</a:t>
            </a:r>
            <a:endParaRPr lang="en-US" sz="750" dirty="0"/>
          </a:p>
        </p:txBody>
      </p:sp>
      <p:sp>
        <p:nvSpPr>
          <p:cNvPr id="125" name="Text 20.124"/>
          <p:cNvSpPr txBox="1"/>
          <p:nvPr/>
        </p:nvSpPr>
        <p:spPr>
          <a:xfrm>
            <a:off x="1142971" y="6013300"/>
            <a:ext cx="2578036" cy="107947"/>
          </a:xfrm>
          <a:prstGeom prst="rect">
            <a:avLst/>
          </a:prstGeom>
          <a:noFill/>
          <a:ln/>
        </p:spPr>
        <p:txBody>
          <a:bodyPr wrap="square" lIns="0" tIns="0" rIns="0" bIns="0" rtlCol="0" anchor="t"/>
          <a:lstStyle/>
          <a:p>
            <a:pPr algn="l" indent="0" marL="0">
              <a:lnSpc>
                <a:spcPts val="850"/>
              </a:lnSpc>
              <a:buNone/>
            </a:pPr>
            <a:r>
              <a:rPr lang="en-US" sz="850" dirty="0">
                <a:solidFill>
                  <a:srgbClr val="16233F"/>
                </a:solidFill>
                <a:latin typeface="Arial" pitchFamily="34" charset="0"/>
                <a:ea typeface="Arial" pitchFamily="34" charset="-122"/>
                <a:cs typeface="Arial" pitchFamily="34" charset="-120"/>
              </a:rPr>
              <a:t>Lobby &amp; join UI</a:t>
            </a:r>
            <a:endParaRPr lang="en-US" sz="850" dirty="0"/>
          </a:p>
        </p:txBody>
      </p:sp>
      <p:sp>
        <p:nvSpPr>
          <p:cNvPr id="126" name="Text 20.125"/>
          <p:cNvSpPr txBox="1"/>
          <p:nvPr/>
        </p:nvSpPr>
        <p:spPr>
          <a:xfrm>
            <a:off x="3746406" y="5981550"/>
            <a:ext cx="838179" cy="152396"/>
          </a:xfrm>
          <a:prstGeom prst="rect">
            <a:avLst/>
          </a:prstGeom>
          <a:noFill/>
          <a:ln/>
        </p:spPr>
        <p:txBody>
          <a:bodyPr wrap="square" lIns="0" tIns="0" rIns="0" bIns="0" rtlCol="0" anchor="ctr"/>
          <a:lstStyle/>
          <a:p>
            <a:pPr algn="ctr" indent="0" marL="0">
              <a:lnSpc>
                <a:spcPts val="650"/>
              </a:lnSpc>
              <a:buNone/>
            </a:pPr>
            <a:r>
              <a:rPr lang="en-US" sz="650" b="1" spc="13" kern="0" dirty="0">
                <a:solidFill>
                  <a:srgbClr val="8F55F5"/>
                </a:solidFill>
                <a:latin typeface="Arial" pitchFamily="34" charset="0"/>
                <a:ea typeface="Arial" pitchFamily="34" charset="-122"/>
                <a:cs typeface="Arial" pitchFamily="34" charset="-120"/>
              </a:rPr>
              <a:t>Ardıl</a:t>
            </a:r>
            <a:endParaRPr lang="en-US" sz="650" dirty="0"/>
          </a:p>
        </p:txBody>
      </p:sp>
      <p:sp>
        <p:nvSpPr>
          <p:cNvPr id="127" name="Text 20.126"/>
          <p:cNvSpPr txBox="1"/>
          <p:nvPr/>
        </p:nvSpPr>
        <p:spPr>
          <a:xfrm>
            <a:off x="4762381" y="6013300"/>
            <a:ext cx="457189" cy="95248"/>
          </a:xfrm>
          <a:prstGeom prst="rect">
            <a:avLst/>
          </a:prstGeom>
          <a:noFill/>
          <a:ln/>
        </p:spPr>
        <p:txBody>
          <a:bodyPr wrap="square" lIns="0" tIns="0" rIns="0" bIns="0" rtlCol="0" anchor="t"/>
          <a:lstStyle/>
          <a:p>
            <a:pPr algn="ctr" indent="0" marL="0">
              <a:lnSpc>
                <a:spcPts val="750"/>
              </a:lnSpc>
              <a:buNone/>
            </a:pPr>
            <a:r>
              <a:rPr lang="en-US" sz="750" dirty="0">
                <a:solidFill>
                  <a:srgbClr val="3B4A66"/>
                </a:solidFill>
                <a:latin typeface="Arial" pitchFamily="34" charset="0"/>
                <a:ea typeface="Arial" pitchFamily="34" charset="-122"/>
                <a:cs typeface="Arial" pitchFamily="34" charset="-120"/>
              </a:rPr>
              <a:t>2 wk</a:t>
            </a:r>
            <a:endParaRPr lang="en-US" sz="750" dirty="0"/>
          </a:p>
        </p:txBody>
      </p:sp>
      <p:sp>
        <p:nvSpPr>
          <p:cNvPr id="128" name="Text 20.127"/>
          <p:cNvSpPr txBox="1"/>
          <p:nvPr/>
        </p:nvSpPr>
        <p:spPr>
          <a:xfrm>
            <a:off x="5371966" y="5981550"/>
            <a:ext cx="482588" cy="152396"/>
          </a:xfrm>
          <a:prstGeom prst="rect">
            <a:avLst/>
          </a:prstGeom>
          <a:noFill/>
          <a:ln/>
        </p:spPr>
        <p:txBody>
          <a:bodyPr wrap="square" lIns="0" tIns="0" rIns="0" bIns="0" rtlCol="0" anchor="ctr"/>
          <a:lstStyle/>
          <a:p>
            <a:pPr algn="ctr" indent="0" marL="0">
              <a:lnSpc>
                <a:spcPts val="600"/>
              </a:lnSpc>
              <a:buNone/>
            </a:pPr>
            <a:r>
              <a:rPr lang="en-US" sz="600" b="1" spc="48" kern="0" dirty="0">
                <a:solidFill>
                  <a:srgbClr val="6E7D9A"/>
                </a:solidFill>
                <a:latin typeface="Arial" pitchFamily="34" charset="0"/>
                <a:ea typeface="Arial" pitchFamily="34" charset="-122"/>
                <a:cs typeface="Arial" pitchFamily="34" charset="-120"/>
              </a:rPr>
              <a:t>0%</a:t>
            </a:r>
            <a:endParaRPr lang="en-US" sz="600" dirty="0"/>
          </a:p>
        </p:txBody>
      </p:sp>
      <p:sp>
        <p:nvSpPr>
          <p:cNvPr id="129" name="Text 20.128"/>
          <p:cNvSpPr txBox="1"/>
          <p:nvPr/>
        </p:nvSpPr>
        <p:spPr>
          <a:xfrm>
            <a:off x="736582" y="6216495"/>
            <a:ext cx="203899" cy="95248"/>
          </a:xfrm>
          <a:prstGeom prst="rect">
            <a:avLst/>
          </a:prstGeom>
          <a:noFill/>
          <a:ln/>
        </p:spPr>
        <p:txBody>
          <a:bodyPr wrap="square" lIns="0" tIns="0" rIns="0" bIns="0" rtlCol="0" anchor="t"/>
          <a:lstStyle/>
          <a:p>
            <a:pPr algn="l" indent="0" marL="0">
              <a:lnSpc>
                <a:spcPts val="750"/>
              </a:lnSpc>
              <a:buNone/>
            </a:pPr>
            <a:r>
              <a:rPr lang="en-US" sz="750" dirty="0">
                <a:solidFill>
                  <a:srgbClr val="6E7D9A"/>
                </a:solidFill>
                <a:latin typeface="Arial" pitchFamily="34" charset="0"/>
                <a:ea typeface="Arial" pitchFamily="34" charset="-122"/>
                <a:cs typeface="Arial" pitchFamily="34" charset="-120"/>
              </a:rPr>
              <a:t>2.9</a:t>
            </a:r>
            <a:endParaRPr lang="en-US" sz="750" dirty="0"/>
          </a:p>
        </p:txBody>
      </p:sp>
      <p:sp>
        <p:nvSpPr>
          <p:cNvPr id="130" name="Text 20.129"/>
          <p:cNvSpPr txBox="1"/>
          <p:nvPr/>
        </p:nvSpPr>
        <p:spPr>
          <a:xfrm>
            <a:off x="1142971" y="6216495"/>
            <a:ext cx="2578036" cy="107947"/>
          </a:xfrm>
          <a:prstGeom prst="rect">
            <a:avLst/>
          </a:prstGeom>
          <a:noFill/>
          <a:ln/>
        </p:spPr>
        <p:txBody>
          <a:bodyPr wrap="square" lIns="0" tIns="0" rIns="0" bIns="0" rtlCol="0" anchor="t"/>
          <a:lstStyle/>
          <a:p>
            <a:pPr algn="l" indent="0" marL="0">
              <a:lnSpc>
                <a:spcPts val="850"/>
              </a:lnSpc>
              <a:buNone/>
            </a:pPr>
            <a:r>
              <a:rPr lang="en-US" sz="850" dirty="0">
                <a:solidFill>
                  <a:srgbClr val="16233F"/>
                </a:solidFill>
                <a:latin typeface="Arial" pitchFamily="34" charset="0"/>
                <a:ea typeface="Arial" pitchFamily="34" charset="-122"/>
                <a:cs typeface="Arial" pitchFamily="34" charset="-120"/>
              </a:rPr>
              <a:t>Character model, four colours</a:t>
            </a:r>
            <a:endParaRPr lang="en-US" sz="850" dirty="0"/>
          </a:p>
        </p:txBody>
      </p:sp>
      <p:sp>
        <p:nvSpPr>
          <p:cNvPr id="131" name="Text 20.130"/>
          <p:cNvSpPr txBox="1"/>
          <p:nvPr/>
        </p:nvSpPr>
        <p:spPr>
          <a:xfrm>
            <a:off x="3746406" y="6184745"/>
            <a:ext cx="838179" cy="152396"/>
          </a:xfrm>
          <a:prstGeom prst="rect">
            <a:avLst/>
          </a:prstGeom>
          <a:noFill/>
          <a:ln/>
        </p:spPr>
        <p:txBody>
          <a:bodyPr wrap="square" lIns="0" tIns="0" rIns="0" bIns="0" rtlCol="0" anchor="ctr"/>
          <a:lstStyle/>
          <a:p>
            <a:pPr algn="ctr" indent="0" marL="0">
              <a:lnSpc>
                <a:spcPts val="650"/>
              </a:lnSpc>
              <a:buNone/>
            </a:pPr>
            <a:r>
              <a:rPr lang="en-US" sz="650" b="1" spc="13" kern="0" dirty="0">
                <a:solidFill>
                  <a:srgbClr val="8F55F5"/>
                </a:solidFill>
                <a:latin typeface="Arial" pitchFamily="34" charset="0"/>
                <a:ea typeface="Arial" pitchFamily="34" charset="-122"/>
                <a:cs typeface="Arial" pitchFamily="34" charset="-120"/>
              </a:rPr>
              <a:t>Ardıl</a:t>
            </a:r>
            <a:endParaRPr lang="en-US" sz="650" dirty="0"/>
          </a:p>
        </p:txBody>
      </p:sp>
      <p:sp>
        <p:nvSpPr>
          <p:cNvPr id="132" name="Text 20.131"/>
          <p:cNvSpPr txBox="1"/>
          <p:nvPr/>
        </p:nvSpPr>
        <p:spPr>
          <a:xfrm>
            <a:off x="4762381" y="6216495"/>
            <a:ext cx="457189" cy="95248"/>
          </a:xfrm>
          <a:prstGeom prst="rect">
            <a:avLst/>
          </a:prstGeom>
          <a:noFill/>
          <a:ln/>
        </p:spPr>
        <p:txBody>
          <a:bodyPr wrap="square" lIns="0" tIns="0" rIns="0" bIns="0" rtlCol="0" anchor="t"/>
          <a:lstStyle/>
          <a:p>
            <a:pPr algn="ctr" indent="0" marL="0">
              <a:lnSpc>
                <a:spcPts val="750"/>
              </a:lnSpc>
              <a:buNone/>
            </a:pPr>
            <a:r>
              <a:rPr lang="en-US" sz="750" dirty="0">
                <a:solidFill>
                  <a:srgbClr val="3B4A66"/>
                </a:solidFill>
                <a:latin typeface="Arial" pitchFamily="34" charset="0"/>
                <a:ea typeface="Arial" pitchFamily="34" charset="-122"/>
                <a:cs typeface="Arial" pitchFamily="34" charset="-120"/>
              </a:rPr>
              <a:t>1 wk</a:t>
            </a:r>
            <a:endParaRPr lang="en-US" sz="750" dirty="0"/>
          </a:p>
        </p:txBody>
      </p:sp>
      <p:sp>
        <p:nvSpPr>
          <p:cNvPr id="133" name="Text 20.132"/>
          <p:cNvSpPr txBox="1"/>
          <p:nvPr/>
        </p:nvSpPr>
        <p:spPr>
          <a:xfrm>
            <a:off x="5371966" y="6184745"/>
            <a:ext cx="482588" cy="152396"/>
          </a:xfrm>
          <a:prstGeom prst="rect">
            <a:avLst/>
          </a:prstGeom>
          <a:noFill/>
          <a:ln/>
        </p:spPr>
        <p:txBody>
          <a:bodyPr wrap="square" lIns="0" tIns="0" rIns="0" bIns="0" rtlCol="0" anchor="ctr"/>
          <a:lstStyle/>
          <a:p>
            <a:pPr algn="ctr" indent="0" marL="0">
              <a:lnSpc>
                <a:spcPts val="600"/>
              </a:lnSpc>
              <a:buNone/>
            </a:pPr>
            <a:r>
              <a:rPr lang="en-US" sz="600" b="1" spc="48" kern="0" dirty="0">
                <a:solidFill>
                  <a:srgbClr val="6E7D9A"/>
                </a:solidFill>
                <a:latin typeface="Arial" pitchFamily="34" charset="0"/>
                <a:ea typeface="Arial" pitchFamily="34" charset="-122"/>
                <a:cs typeface="Arial" pitchFamily="34" charset="-120"/>
              </a:rPr>
              <a:t>0%</a:t>
            </a:r>
            <a:endParaRPr lang="en-US" sz="600" dirty="0"/>
          </a:p>
        </p:txBody>
      </p:sp>
      <p:sp>
        <p:nvSpPr>
          <p:cNvPr id="134" name="Text 20.133"/>
          <p:cNvSpPr txBox="1"/>
          <p:nvPr/>
        </p:nvSpPr>
        <p:spPr>
          <a:xfrm>
            <a:off x="736582" y="6419690"/>
            <a:ext cx="260060" cy="95248"/>
          </a:xfrm>
          <a:prstGeom prst="rect">
            <a:avLst/>
          </a:prstGeom>
          <a:noFill/>
          <a:ln/>
        </p:spPr>
        <p:txBody>
          <a:bodyPr wrap="square" lIns="0" tIns="0" rIns="0" bIns="0" rtlCol="0" anchor="t"/>
          <a:lstStyle/>
          <a:p>
            <a:pPr algn="l" indent="0" marL="0">
              <a:lnSpc>
                <a:spcPts val="750"/>
              </a:lnSpc>
              <a:buNone/>
            </a:pPr>
            <a:r>
              <a:rPr lang="en-US" sz="750" dirty="0">
                <a:solidFill>
                  <a:srgbClr val="6E7D9A"/>
                </a:solidFill>
                <a:latin typeface="Arial" pitchFamily="34" charset="0"/>
                <a:ea typeface="Arial" pitchFamily="34" charset="-122"/>
                <a:cs typeface="Arial" pitchFamily="34" charset="-120"/>
              </a:rPr>
              <a:t>2.10</a:t>
            </a:r>
            <a:endParaRPr lang="en-US" sz="750" dirty="0"/>
          </a:p>
        </p:txBody>
      </p:sp>
      <p:sp>
        <p:nvSpPr>
          <p:cNvPr id="135" name="Text 20.134"/>
          <p:cNvSpPr txBox="1"/>
          <p:nvPr/>
        </p:nvSpPr>
        <p:spPr>
          <a:xfrm>
            <a:off x="1142971" y="6419690"/>
            <a:ext cx="2578036" cy="107947"/>
          </a:xfrm>
          <a:prstGeom prst="rect">
            <a:avLst/>
          </a:prstGeom>
          <a:noFill/>
          <a:ln/>
        </p:spPr>
        <p:txBody>
          <a:bodyPr wrap="square" lIns="0" tIns="0" rIns="0" bIns="0" rtlCol="0" anchor="t"/>
          <a:lstStyle/>
          <a:p>
            <a:pPr algn="l" indent="0" marL="0">
              <a:lnSpc>
                <a:spcPts val="850"/>
              </a:lnSpc>
              <a:buNone/>
            </a:pPr>
            <a:r>
              <a:rPr lang="en-US" sz="850" dirty="0">
                <a:solidFill>
                  <a:srgbClr val="16233F"/>
                </a:solidFill>
                <a:latin typeface="Arial" pitchFamily="34" charset="0"/>
                <a:ea typeface="Arial" pitchFamily="34" charset="-122"/>
                <a:cs typeface="Arial" pitchFamily="34" charset="-120"/>
              </a:rPr>
              <a:t>Demo 1 build &amp; presentation</a:t>
            </a:r>
            <a:endParaRPr lang="en-US" sz="850" dirty="0"/>
          </a:p>
        </p:txBody>
      </p:sp>
      <p:sp>
        <p:nvSpPr>
          <p:cNvPr id="136" name="Text 20.135"/>
          <p:cNvSpPr txBox="1"/>
          <p:nvPr/>
        </p:nvSpPr>
        <p:spPr>
          <a:xfrm>
            <a:off x="3746406" y="6387940"/>
            <a:ext cx="838179" cy="152396"/>
          </a:xfrm>
          <a:prstGeom prst="rect">
            <a:avLst/>
          </a:prstGeom>
          <a:noFill/>
          <a:ln/>
        </p:spPr>
        <p:txBody>
          <a:bodyPr wrap="square" lIns="0" tIns="0" rIns="0" bIns="0" rtlCol="0" anchor="ctr"/>
          <a:lstStyle/>
          <a:p>
            <a:pPr algn="ctr" indent="0" marL="0">
              <a:lnSpc>
                <a:spcPts val="650"/>
              </a:lnSpc>
              <a:buNone/>
            </a:pPr>
            <a:r>
              <a:rPr lang="en-US" sz="650" b="1" spc="13" kern="0" dirty="0">
                <a:solidFill>
                  <a:srgbClr val="3B4A66"/>
                </a:solidFill>
                <a:latin typeface="Arial" pitchFamily="34" charset="0"/>
                <a:ea typeface="Arial" pitchFamily="34" charset="-122"/>
                <a:cs typeface="Arial" pitchFamily="34" charset="-120"/>
              </a:rPr>
              <a:t>Team</a:t>
            </a:r>
            <a:endParaRPr lang="en-US" sz="650" dirty="0"/>
          </a:p>
        </p:txBody>
      </p:sp>
      <p:sp>
        <p:nvSpPr>
          <p:cNvPr id="137" name="Text 20.136"/>
          <p:cNvSpPr txBox="1"/>
          <p:nvPr/>
        </p:nvSpPr>
        <p:spPr>
          <a:xfrm>
            <a:off x="4762381" y="6419690"/>
            <a:ext cx="457189" cy="95248"/>
          </a:xfrm>
          <a:prstGeom prst="rect">
            <a:avLst/>
          </a:prstGeom>
          <a:noFill/>
          <a:ln/>
        </p:spPr>
        <p:txBody>
          <a:bodyPr wrap="square" lIns="0" tIns="0" rIns="0" bIns="0" rtlCol="0" anchor="t"/>
          <a:lstStyle/>
          <a:p>
            <a:pPr algn="ctr" indent="0" marL="0">
              <a:lnSpc>
                <a:spcPts val="750"/>
              </a:lnSpc>
              <a:buNone/>
            </a:pPr>
            <a:r>
              <a:rPr lang="en-US" sz="750" dirty="0">
                <a:solidFill>
                  <a:srgbClr val="3B4A66"/>
                </a:solidFill>
                <a:latin typeface="Arial" pitchFamily="34" charset="0"/>
                <a:ea typeface="Arial" pitchFamily="34" charset="-122"/>
                <a:cs typeface="Arial" pitchFamily="34" charset="-120"/>
              </a:rPr>
              <a:t>1 wk</a:t>
            </a:r>
            <a:endParaRPr lang="en-US" sz="750" dirty="0"/>
          </a:p>
        </p:txBody>
      </p:sp>
      <p:sp>
        <p:nvSpPr>
          <p:cNvPr id="138" name="Text 20.137"/>
          <p:cNvSpPr txBox="1"/>
          <p:nvPr/>
        </p:nvSpPr>
        <p:spPr>
          <a:xfrm>
            <a:off x="5371966" y="6387940"/>
            <a:ext cx="482588" cy="152396"/>
          </a:xfrm>
          <a:prstGeom prst="rect">
            <a:avLst/>
          </a:prstGeom>
          <a:noFill/>
          <a:ln/>
        </p:spPr>
        <p:txBody>
          <a:bodyPr wrap="square" lIns="0" tIns="0" rIns="0" bIns="0" rtlCol="0" anchor="ctr"/>
          <a:lstStyle/>
          <a:p>
            <a:pPr algn="ctr" indent="0" marL="0">
              <a:lnSpc>
                <a:spcPts val="600"/>
              </a:lnSpc>
              <a:buNone/>
            </a:pPr>
            <a:r>
              <a:rPr lang="en-US" sz="600" b="1" spc="48" kern="0" dirty="0">
                <a:solidFill>
                  <a:srgbClr val="6E7D9A"/>
                </a:solidFill>
                <a:latin typeface="Arial" pitchFamily="34" charset="0"/>
                <a:ea typeface="Arial" pitchFamily="34" charset="-122"/>
                <a:cs typeface="Arial" pitchFamily="34" charset="-120"/>
              </a:rPr>
              <a:t>0%</a:t>
            </a:r>
            <a:endParaRPr lang="en-US" sz="600" dirty="0"/>
          </a:p>
        </p:txBody>
      </p:sp>
      <p:sp>
        <p:nvSpPr>
          <p:cNvPr id="139" name="Text 20.138"/>
          <p:cNvSpPr txBox="1"/>
          <p:nvPr/>
        </p:nvSpPr>
        <p:spPr>
          <a:xfrm>
            <a:off x="927077" y="355591"/>
            <a:ext cx="1326055" cy="107947"/>
          </a:xfrm>
          <a:prstGeom prst="rect">
            <a:avLst/>
          </a:prstGeom>
          <a:noFill/>
          <a:ln/>
        </p:spPr>
        <p:txBody>
          <a:bodyPr wrap="square" lIns="0" tIns="0" rIns="0" bIns="0" rtlCol="0" anchor="t"/>
          <a:lstStyle/>
          <a:p>
            <a:pPr algn="l" indent="0" marL="0">
              <a:lnSpc>
                <a:spcPts val="850"/>
              </a:lnSpc>
              <a:buNone/>
            </a:pPr>
            <a:r>
              <a:rPr lang="en-US" sz="850" b="1" spc="17" kern="0" dirty="0">
                <a:solidFill>
                  <a:srgbClr val="16233F"/>
                </a:solidFill>
                <a:latin typeface="Arial" pitchFamily="34" charset="0"/>
                <a:ea typeface="Arial" pitchFamily="34" charset="-122"/>
                <a:cs typeface="Arial" pitchFamily="34" charset="-120"/>
              </a:rPr>
              <a:t>06 · Development plan</a:t>
            </a:r>
            <a:endParaRPr lang="en-US" sz="850" dirty="0"/>
          </a:p>
        </p:txBody>
      </p:sp>
      <p:sp>
        <p:nvSpPr>
          <p:cNvPr id="140" name="Text 20.139"/>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20</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23</a:t>
            </a:r>
            <a:endParaRPr lang="en-US" sz="100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21.1"/>
          <p:cNvSpPr txBox="1"/>
          <p:nvPr/>
        </p:nvSpPr>
        <p:spPr>
          <a:xfrm>
            <a:off x="609585" y="761981"/>
            <a:ext cx="11371296" cy="384038"/>
          </a:xfrm>
          <a:prstGeom prst="rect">
            <a:avLst/>
          </a:prstGeom>
          <a:noFill/>
          <a:ln/>
        </p:spPr>
        <p:txBody>
          <a:bodyPr wrap="square" lIns="0" tIns="0" rIns="0" bIns="0" rtlCol="0" anchor="t"/>
          <a:lstStyle/>
          <a:p>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Gantt chart: </a:t>
            </a:r>
            <a:pPr algn="l" indent="0" marL="0">
              <a:lnSpc>
                <a:spcPts val="3020"/>
              </a:lnSpc>
              <a:buNone/>
            </a:pPr>
            <a:r>
              <a:rPr lang="en-US" sz="2700" spc="-27" kern="0" dirty="0">
                <a:solidFill>
                  <a:srgbClr val="FF6B1F"/>
                </a:solidFill>
                <a:latin typeface="Arial Rounded MT Bold" pitchFamily="34" charset="0"/>
                <a:ea typeface="Arial Rounded MT Bold" pitchFamily="34" charset="-122"/>
                <a:cs typeface="Arial Rounded MT Bold" pitchFamily="34" charset="-120"/>
              </a:rPr>
              <a:t>demo 2</a:t>
            </a:r>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 and </a:t>
            </a:r>
            <a:pPr algn="l" indent="0" marL="0">
              <a:lnSpc>
                <a:spcPts val="3020"/>
              </a:lnSpc>
              <a:buNone/>
            </a:pPr>
            <a:r>
              <a:rPr lang="en-US" sz="2700" spc="-27" kern="0" dirty="0">
                <a:solidFill>
                  <a:srgbClr val="8F55F5"/>
                </a:solidFill>
                <a:latin typeface="Arial Rounded MT Bold" pitchFamily="34" charset="0"/>
                <a:ea typeface="Arial Rounded MT Bold" pitchFamily="34" charset="-122"/>
                <a:cs typeface="Arial Rounded MT Bold" pitchFamily="34" charset="-120"/>
              </a:rPr>
              <a:t>final</a:t>
            </a:r>
            <a:endParaRPr lang="en-US" sz="2700" dirty="0"/>
          </a:p>
        </p:txBody>
      </p:sp>
      <p:sp>
        <p:nvSpPr>
          <p:cNvPr id="3" name="Text 21.2"/>
          <p:cNvSpPr txBox="1"/>
          <p:nvPr/>
        </p:nvSpPr>
        <p:spPr>
          <a:xfrm>
            <a:off x="736582" y="1816055"/>
            <a:ext cx="380990" cy="91438"/>
          </a:xfrm>
          <a:prstGeom prst="rect">
            <a:avLst/>
          </a:prstGeom>
          <a:noFill/>
          <a:ln/>
        </p:spPr>
        <p:txBody>
          <a:bodyPr wrap="square" lIns="0" tIns="0" rIns="0" bIns="0" rtlCol="0" anchor="t"/>
          <a:lstStyle/>
          <a:p>
            <a:pPr algn="l" indent="0" marL="0">
              <a:lnSpc>
                <a:spcPts val="720"/>
              </a:lnSpc>
              <a:buNone/>
            </a:pPr>
            <a:r>
              <a:rPr lang="en-US" sz="600" b="1" spc="72" kern="0" dirty="0">
                <a:solidFill>
                  <a:srgbClr val="6E7D9A"/>
                </a:solidFill>
                <a:latin typeface="Arial" pitchFamily="34" charset="0"/>
                <a:ea typeface="Arial" pitchFamily="34" charset="-122"/>
                <a:cs typeface="Arial" pitchFamily="34" charset="-120"/>
              </a:rPr>
              <a:t>WBS</a:t>
            </a:r>
            <a:endParaRPr lang="en-US" sz="600" dirty="0"/>
          </a:p>
        </p:txBody>
      </p:sp>
      <p:sp>
        <p:nvSpPr>
          <p:cNvPr id="4" name="Text 21.3"/>
          <p:cNvSpPr txBox="1"/>
          <p:nvPr/>
        </p:nvSpPr>
        <p:spPr>
          <a:xfrm>
            <a:off x="1142971" y="1816055"/>
            <a:ext cx="2578036" cy="91438"/>
          </a:xfrm>
          <a:prstGeom prst="rect">
            <a:avLst/>
          </a:prstGeom>
          <a:noFill/>
          <a:ln/>
        </p:spPr>
        <p:txBody>
          <a:bodyPr wrap="square" lIns="0" tIns="0" rIns="0" bIns="0" rtlCol="0" anchor="t"/>
          <a:lstStyle/>
          <a:p>
            <a:pPr algn="l" indent="0" marL="0">
              <a:lnSpc>
                <a:spcPts val="720"/>
              </a:lnSpc>
              <a:buNone/>
            </a:pPr>
            <a:r>
              <a:rPr lang="en-US" sz="600" b="1" spc="72" kern="0" dirty="0">
                <a:solidFill>
                  <a:srgbClr val="6E7D9A"/>
                </a:solidFill>
                <a:latin typeface="Arial" pitchFamily="34" charset="0"/>
                <a:ea typeface="Arial" pitchFamily="34" charset="-122"/>
                <a:cs typeface="Arial" pitchFamily="34" charset="-120"/>
              </a:rPr>
              <a:t>TASK TITLE</a:t>
            </a:r>
            <a:endParaRPr lang="en-US" sz="600" dirty="0"/>
          </a:p>
        </p:txBody>
      </p:sp>
      <p:sp>
        <p:nvSpPr>
          <p:cNvPr id="5" name="Text 21.4"/>
          <p:cNvSpPr txBox="1"/>
          <p:nvPr/>
        </p:nvSpPr>
        <p:spPr>
          <a:xfrm>
            <a:off x="3746406" y="1816055"/>
            <a:ext cx="990575" cy="91438"/>
          </a:xfrm>
          <a:prstGeom prst="rect">
            <a:avLst/>
          </a:prstGeom>
          <a:noFill/>
          <a:ln/>
        </p:spPr>
        <p:txBody>
          <a:bodyPr wrap="square" lIns="0" tIns="0" rIns="0" bIns="0" rtlCol="0" anchor="t"/>
          <a:lstStyle/>
          <a:p>
            <a:pPr algn="l" indent="0" marL="0">
              <a:lnSpc>
                <a:spcPts val="720"/>
              </a:lnSpc>
              <a:buNone/>
            </a:pPr>
            <a:r>
              <a:rPr lang="en-US" sz="600" b="1" spc="72" kern="0" dirty="0">
                <a:solidFill>
                  <a:srgbClr val="6E7D9A"/>
                </a:solidFill>
                <a:latin typeface="Arial" pitchFamily="34" charset="0"/>
                <a:ea typeface="Arial" pitchFamily="34" charset="-122"/>
                <a:cs typeface="Arial" pitchFamily="34" charset="-120"/>
              </a:rPr>
              <a:t>OWNER</a:t>
            </a:r>
            <a:endParaRPr lang="en-US" sz="600" dirty="0"/>
          </a:p>
        </p:txBody>
      </p:sp>
      <p:sp>
        <p:nvSpPr>
          <p:cNvPr id="6" name="Text 21.5"/>
          <p:cNvSpPr txBox="1"/>
          <p:nvPr/>
        </p:nvSpPr>
        <p:spPr>
          <a:xfrm>
            <a:off x="4762381" y="1816055"/>
            <a:ext cx="584185" cy="91438"/>
          </a:xfrm>
          <a:prstGeom prst="rect">
            <a:avLst/>
          </a:prstGeom>
          <a:noFill/>
          <a:ln/>
        </p:spPr>
        <p:txBody>
          <a:bodyPr wrap="square" lIns="0" tIns="0" rIns="0" bIns="0" rtlCol="0" anchor="t"/>
          <a:lstStyle/>
          <a:p>
            <a:pPr algn="l" indent="0" marL="0">
              <a:lnSpc>
                <a:spcPts val="720"/>
              </a:lnSpc>
              <a:buNone/>
            </a:pPr>
            <a:r>
              <a:rPr lang="en-US" sz="600" b="1" spc="72" kern="0" dirty="0">
                <a:solidFill>
                  <a:srgbClr val="6E7D9A"/>
                </a:solidFill>
                <a:latin typeface="Arial" pitchFamily="34" charset="0"/>
                <a:ea typeface="Arial" pitchFamily="34" charset="-122"/>
                <a:cs typeface="Arial" pitchFamily="34" charset="-120"/>
              </a:rPr>
              <a:t>DURATION</a:t>
            </a:r>
            <a:endParaRPr lang="en-US" sz="600" dirty="0"/>
          </a:p>
        </p:txBody>
      </p:sp>
      <p:sp>
        <p:nvSpPr>
          <p:cNvPr id="7" name="Text 21.6"/>
          <p:cNvSpPr txBox="1"/>
          <p:nvPr/>
        </p:nvSpPr>
        <p:spPr>
          <a:xfrm>
            <a:off x="5371966" y="1816055"/>
            <a:ext cx="634984" cy="91438"/>
          </a:xfrm>
          <a:prstGeom prst="rect">
            <a:avLst/>
          </a:prstGeom>
          <a:noFill/>
          <a:ln/>
        </p:spPr>
        <p:txBody>
          <a:bodyPr wrap="square" lIns="0" tIns="0" rIns="0" bIns="0" rtlCol="0" anchor="t"/>
          <a:lstStyle/>
          <a:p>
            <a:pPr algn="l" indent="0" marL="0">
              <a:lnSpc>
                <a:spcPts val="720"/>
              </a:lnSpc>
              <a:buNone/>
            </a:pPr>
            <a:r>
              <a:rPr lang="en-US" sz="600" b="1" spc="72" kern="0" dirty="0">
                <a:solidFill>
                  <a:srgbClr val="6E7D9A"/>
                </a:solidFill>
                <a:latin typeface="Arial" pitchFamily="34" charset="0"/>
                <a:ea typeface="Arial" pitchFamily="34" charset="-122"/>
                <a:cs typeface="Arial" pitchFamily="34" charset="-120"/>
              </a:rPr>
              <a:t>COMPLETE</a:t>
            </a:r>
            <a:endParaRPr lang="en-US" sz="600" dirty="0"/>
          </a:p>
        </p:txBody>
      </p:sp>
      <p:sp>
        <p:nvSpPr>
          <p:cNvPr id="8" name="Text 21.7"/>
          <p:cNvSpPr txBox="1"/>
          <p:nvPr/>
        </p:nvSpPr>
        <p:spPr>
          <a:xfrm>
            <a:off x="6095848" y="1574761"/>
            <a:ext cx="1339817" cy="106677"/>
          </a:xfrm>
          <a:prstGeom prst="rect">
            <a:avLst/>
          </a:prstGeom>
          <a:noFill/>
          <a:ln/>
        </p:spPr>
        <p:txBody>
          <a:bodyPr wrap="square" lIns="0" tIns="0" rIns="0" bIns="0" rtlCol="0" anchor="t"/>
          <a:lstStyle/>
          <a:p>
            <a:pPr algn="ctr" indent="0" marL="0">
              <a:lnSpc>
                <a:spcPts val="840"/>
              </a:lnSpc>
              <a:buNone/>
            </a:pPr>
            <a:r>
              <a:rPr lang="en-US" sz="700" b="1" dirty="0">
                <a:solidFill>
                  <a:srgbClr val="16233F"/>
                </a:solidFill>
                <a:latin typeface="Arial" pitchFamily="34" charset="0"/>
                <a:ea typeface="Arial" pitchFamily="34" charset="-122"/>
                <a:cs typeface="Arial" pitchFamily="34" charset="-120"/>
              </a:rPr>
              <a:t>16–20 Nov</a:t>
            </a:r>
            <a:endParaRPr lang="en-US" sz="700" dirty="0"/>
          </a:p>
        </p:txBody>
      </p:sp>
      <p:sp>
        <p:nvSpPr>
          <p:cNvPr id="9" name="Text 21.8"/>
          <p:cNvSpPr txBox="1"/>
          <p:nvPr/>
        </p:nvSpPr>
        <p:spPr>
          <a:xfrm>
            <a:off x="6114897" y="1727157"/>
            <a:ext cx="1301717" cy="165096"/>
          </a:xfrm>
          <a:prstGeom prst="rect">
            <a:avLst/>
          </a:prstGeom>
          <a:noFill/>
          <a:ln/>
        </p:spPr>
        <p:txBody>
          <a:bodyPr wrap="square" lIns="0" tIns="0" rIns="0" bIns="0" rtlCol="0" anchor="ctr"/>
          <a:lstStyle/>
          <a:p>
            <a:pPr algn="ctr" indent="0" marL="0">
              <a:lnSpc>
                <a:spcPts val="650"/>
              </a:lnSpc>
              <a:buNone/>
            </a:pPr>
            <a:r>
              <a:rPr lang="en-US" sz="650" b="1" spc="65" kern="0" dirty="0">
                <a:solidFill>
                  <a:srgbClr val="FFFFFF"/>
                </a:solidFill>
                <a:latin typeface="Arial" pitchFamily="34" charset="0"/>
                <a:ea typeface="Arial" pitchFamily="34" charset="-122"/>
                <a:cs typeface="Arial" pitchFamily="34" charset="-120"/>
              </a:rPr>
              <a:t>WEEK 7</a:t>
            </a:r>
            <a:endParaRPr lang="en-US" sz="650" dirty="0"/>
          </a:p>
        </p:txBody>
      </p:sp>
      <p:sp>
        <p:nvSpPr>
          <p:cNvPr id="10" name="Text 21.9"/>
          <p:cNvSpPr txBox="1"/>
          <p:nvPr/>
        </p:nvSpPr>
        <p:spPr>
          <a:xfrm>
            <a:off x="6095848" y="1917652"/>
            <a:ext cx="267884"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M</a:t>
            </a:r>
            <a:endParaRPr lang="en-US" sz="600" dirty="0"/>
          </a:p>
        </p:txBody>
      </p:sp>
      <p:sp>
        <p:nvSpPr>
          <p:cNvPr id="11" name="Text 21.10"/>
          <p:cNvSpPr txBox="1"/>
          <p:nvPr/>
        </p:nvSpPr>
        <p:spPr>
          <a:xfrm>
            <a:off x="6363732" y="1917652"/>
            <a:ext cx="267884"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T</a:t>
            </a:r>
            <a:endParaRPr lang="en-US" sz="600" dirty="0"/>
          </a:p>
        </p:txBody>
      </p:sp>
      <p:sp>
        <p:nvSpPr>
          <p:cNvPr id="12" name="Text 21.11"/>
          <p:cNvSpPr txBox="1"/>
          <p:nvPr/>
        </p:nvSpPr>
        <p:spPr>
          <a:xfrm>
            <a:off x="6631715" y="1917652"/>
            <a:ext cx="267884"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W</a:t>
            </a:r>
            <a:endParaRPr lang="en-US" sz="600" dirty="0"/>
          </a:p>
        </p:txBody>
      </p:sp>
      <p:sp>
        <p:nvSpPr>
          <p:cNvPr id="13" name="Text 21.12"/>
          <p:cNvSpPr txBox="1"/>
          <p:nvPr/>
        </p:nvSpPr>
        <p:spPr>
          <a:xfrm>
            <a:off x="6899698" y="1917652"/>
            <a:ext cx="267884"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T</a:t>
            </a:r>
            <a:endParaRPr lang="en-US" sz="600" dirty="0"/>
          </a:p>
        </p:txBody>
      </p:sp>
      <p:sp>
        <p:nvSpPr>
          <p:cNvPr id="14" name="Text 21.13"/>
          <p:cNvSpPr txBox="1"/>
          <p:nvPr/>
        </p:nvSpPr>
        <p:spPr>
          <a:xfrm>
            <a:off x="7167681" y="1917652"/>
            <a:ext cx="267884"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F</a:t>
            </a:r>
            <a:endParaRPr lang="en-US" sz="600" dirty="0"/>
          </a:p>
        </p:txBody>
      </p:sp>
      <p:sp>
        <p:nvSpPr>
          <p:cNvPr id="15" name="Text 21.14"/>
          <p:cNvSpPr txBox="1"/>
          <p:nvPr/>
        </p:nvSpPr>
        <p:spPr>
          <a:xfrm>
            <a:off x="7435664" y="1574761"/>
            <a:ext cx="1339817" cy="106677"/>
          </a:xfrm>
          <a:prstGeom prst="rect">
            <a:avLst/>
          </a:prstGeom>
          <a:noFill/>
          <a:ln/>
        </p:spPr>
        <p:txBody>
          <a:bodyPr wrap="square" lIns="0" tIns="0" rIns="0" bIns="0" rtlCol="0" anchor="t"/>
          <a:lstStyle/>
          <a:p>
            <a:pPr algn="ctr" indent="0" marL="0">
              <a:lnSpc>
                <a:spcPts val="840"/>
              </a:lnSpc>
              <a:buNone/>
            </a:pPr>
            <a:r>
              <a:rPr lang="en-US" sz="700" b="1" dirty="0">
                <a:solidFill>
                  <a:srgbClr val="16233F"/>
                </a:solidFill>
                <a:latin typeface="Arial" pitchFamily="34" charset="0"/>
                <a:ea typeface="Arial" pitchFamily="34" charset="-122"/>
                <a:cs typeface="Arial" pitchFamily="34" charset="-120"/>
              </a:rPr>
              <a:t>23–27 Nov</a:t>
            </a:r>
            <a:endParaRPr lang="en-US" sz="700" dirty="0"/>
          </a:p>
        </p:txBody>
      </p:sp>
      <p:sp>
        <p:nvSpPr>
          <p:cNvPr id="16" name="Text 21.15"/>
          <p:cNvSpPr txBox="1"/>
          <p:nvPr/>
        </p:nvSpPr>
        <p:spPr>
          <a:xfrm>
            <a:off x="7454714" y="1727157"/>
            <a:ext cx="1301717" cy="165096"/>
          </a:xfrm>
          <a:prstGeom prst="rect">
            <a:avLst/>
          </a:prstGeom>
          <a:noFill/>
          <a:ln/>
        </p:spPr>
        <p:txBody>
          <a:bodyPr wrap="square" lIns="0" tIns="0" rIns="0" bIns="0" rtlCol="0" anchor="ctr"/>
          <a:lstStyle/>
          <a:p>
            <a:pPr algn="ctr" indent="0" marL="0">
              <a:lnSpc>
                <a:spcPts val="650"/>
              </a:lnSpc>
              <a:buNone/>
            </a:pPr>
            <a:r>
              <a:rPr lang="en-US" sz="650" b="1" spc="65" kern="0" dirty="0">
                <a:solidFill>
                  <a:srgbClr val="FFFFFF"/>
                </a:solidFill>
                <a:latin typeface="Arial" pitchFamily="34" charset="0"/>
                <a:ea typeface="Arial" pitchFamily="34" charset="-122"/>
                <a:cs typeface="Arial" pitchFamily="34" charset="-120"/>
              </a:rPr>
              <a:t>WEEK 8</a:t>
            </a:r>
            <a:endParaRPr lang="en-US" sz="650" dirty="0"/>
          </a:p>
        </p:txBody>
      </p:sp>
      <p:sp>
        <p:nvSpPr>
          <p:cNvPr id="17" name="Text 21.16"/>
          <p:cNvSpPr txBox="1"/>
          <p:nvPr/>
        </p:nvSpPr>
        <p:spPr>
          <a:xfrm>
            <a:off x="7435664" y="1917652"/>
            <a:ext cx="267884"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M</a:t>
            </a:r>
            <a:endParaRPr lang="en-US" sz="600" dirty="0"/>
          </a:p>
        </p:txBody>
      </p:sp>
      <p:sp>
        <p:nvSpPr>
          <p:cNvPr id="18" name="Text 21.17"/>
          <p:cNvSpPr txBox="1"/>
          <p:nvPr/>
        </p:nvSpPr>
        <p:spPr>
          <a:xfrm>
            <a:off x="7703548" y="1917652"/>
            <a:ext cx="267884"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T</a:t>
            </a:r>
            <a:endParaRPr lang="en-US" sz="600" dirty="0"/>
          </a:p>
        </p:txBody>
      </p:sp>
      <p:sp>
        <p:nvSpPr>
          <p:cNvPr id="19" name="Text 21.18"/>
          <p:cNvSpPr txBox="1"/>
          <p:nvPr/>
        </p:nvSpPr>
        <p:spPr>
          <a:xfrm>
            <a:off x="7971531" y="1917652"/>
            <a:ext cx="267884"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W</a:t>
            </a:r>
            <a:endParaRPr lang="en-US" sz="600" dirty="0"/>
          </a:p>
        </p:txBody>
      </p:sp>
      <p:sp>
        <p:nvSpPr>
          <p:cNvPr id="20" name="Text 21.19"/>
          <p:cNvSpPr txBox="1"/>
          <p:nvPr/>
        </p:nvSpPr>
        <p:spPr>
          <a:xfrm>
            <a:off x="8239514" y="1917652"/>
            <a:ext cx="267884"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T</a:t>
            </a:r>
            <a:endParaRPr lang="en-US" sz="600" dirty="0"/>
          </a:p>
        </p:txBody>
      </p:sp>
      <p:sp>
        <p:nvSpPr>
          <p:cNvPr id="21" name="Text 21.20"/>
          <p:cNvSpPr txBox="1"/>
          <p:nvPr/>
        </p:nvSpPr>
        <p:spPr>
          <a:xfrm>
            <a:off x="8507497" y="1917652"/>
            <a:ext cx="267884"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F</a:t>
            </a:r>
            <a:endParaRPr lang="en-US" sz="600" dirty="0"/>
          </a:p>
        </p:txBody>
      </p:sp>
      <p:sp>
        <p:nvSpPr>
          <p:cNvPr id="22" name="Text 21.21"/>
          <p:cNvSpPr txBox="1"/>
          <p:nvPr/>
        </p:nvSpPr>
        <p:spPr>
          <a:xfrm>
            <a:off x="8775481" y="1574761"/>
            <a:ext cx="1339817" cy="106677"/>
          </a:xfrm>
          <a:prstGeom prst="rect">
            <a:avLst/>
          </a:prstGeom>
          <a:noFill/>
          <a:ln/>
        </p:spPr>
        <p:txBody>
          <a:bodyPr wrap="square" lIns="0" tIns="0" rIns="0" bIns="0" rtlCol="0" anchor="t"/>
          <a:lstStyle/>
          <a:p>
            <a:pPr algn="ctr" indent="0" marL="0">
              <a:lnSpc>
                <a:spcPts val="840"/>
              </a:lnSpc>
              <a:buNone/>
            </a:pPr>
            <a:r>
              <a:rPr lang="en-US" sz="700" b="1" dirty="0">
                <a:solidFill>
                  <a:srgbClr val="16233F"/>
                </a:solidFill>
                <a:latin typeface="Arial" pitchFamily="34" charset="0"/>
                <a:ea typeface="Arial" pitchFamily="34" charset="-122"/>
                <a:cs typeface="Arial" pitchFamily="34" charset="-120"/>
              </a:rPr>
              <a:t>30 Nov–4 Dec</a:t>
            </a:r>
            <a:endParaRPr lang="en-US" sz="700" dirty="0"/>
          </a:p>
        </p:txBody>
      </p:sp>
      <p:sp>
        <p:nvSpPr>
          <p:cNvPr id="23" name="Text 21.22"/>
          <p:cNvSpPr txBox="1"/>
          <p:nvPr/>
        </p:nvSpPr>
        <p:spPr>
          <a:xfrm>
            <a:off x="8794530" y="1727157"/>
            <a:ext cx="1301717" cy="165096"/>
          </a:xfrm>
          <a:prstGeom prst="rect">
            <a:avLst/>
          </a:prstGeom>
          <a:noFill/>
          <a:ln/>
        </p:spPr>
        <p:txBody>
          <a:bodyPr wrap="square" lIns="0" tIns="0" rIns="0" bIns="0" rtlCol="0" anchor="ctr"/>
          <a:lstStyle/>
          <a:p>
            <a:pPr algn="ctr" indent="0" marL="0">
              <a:lnSpc>
                <a:spcPts val="650"/>
              </a:lnSpc>
              <a:buNone/>
            </a:pPr>
            <a:r>
              <a:rPr lang="en-US" sz="650" b="1" spc="65" kern="0" dirty="0">
                <a:solidFill>
                  <a:srgbClr val="FFFFFF"/>
                </a:solidFill>
                <a:latin typeface="Arial" pitchFamily="34" charset="0"/>
                <a:ea typeface="Arial" pitchFamily="34" charset="-122"/>
                <a:cs typeface="Arial" pitchFamily="34" charset="-120"/>
              </a:rPr>
              <a:t>WEEK 9</a:t>
            </a:r>
            <a:endParaRPr lang="en-US" sz="650" dirty="0"/>
          </a:p>
        </p:txBody>
      </p:sp>
      <p:sp>
        <p:nvSpPr>
          <p:cNvPr id="24" name="Text 21.23"/>
          <p:cNvSpPr txBox="1"/>
          <p:nvPr/>
        </p:nvSpPr>
        <p:spPr>
          <a:xfrm>
            <a:off x="8775481" y="1917652"/>
            <a:ext cx="267884"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M</a:t>
            </a:r>
            <a:endParaRPr lang="en-US" sz="600" dirty="0"/>
          </a:p>
        </p:txBody>
      </p:sp>
      <p:sp>
        <p:nvSpPr>
          <p:cNvPr id="25" name="Text 21.24"/>
          <p:cNvSpPr txBox="1"/>
          <p:nvPr/>
        </p:nvSpPr>
        <p:spPr>
          <a:xfrm>
            <a:off x="9043365" y="1917652"/>
            <a:ext cx="267884"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T</a:t>
            </a:r>
            <a:endParaRPr lang="en-US" sz="600" dirty="0"/>
          </a:p>
        </p:txBody>
      </p:sp>
      <p:sp>
        <p:nvSpPr>
          <p:cNvPr id="26" name="Text 21.25"/>
          <p:cNvSpPr txBox="1"/>
          <p:nvPr/>
        </p:nvSpPr>
        <p:spPr>
          <a:xfrm>
            <a:off x="9311348" y="1917652"/>
            <a:ext cx="267884"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W</a:t>
            </a:r>
            <a:endParaRPr lang="en-US" sz="600" dirty="0"/>
          </a:p>
        </p:txBody>
      </p:sp>
      <p:sp>
        <p:nvSpPr>
          <p:cNvPr id="27" name="Text 21.26"/>
          <p:cNvSpPr txBox="1"/>
          <p:nvPr/>
        </p:nvSpPr>
        <p:spPr>
          <a:xfrm>
            <a:off x="9579331" y="1917652"/>
            <a:ext cx="267884"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T</a:t>
            </a:r>
            <a:endParaRPr lang="en-US" sz="600" dirty="0"/>
          </a:p>
        </p:txBody>
      </p:sp>
      <p:sp>
        <p:nvSpPr>
          <p:cNvPr id="28" name="Text 21.27"/>
          <p:cNvSpPr txBox="1"/>
          <p:nvPr/>
        </p:nvSpPr>
        <p:spPr>
          <a:xfrm>
            <a:off x="9847314" y="1917652"/>
            <a:ext cx="267884"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F</a:t>
            </a:r>
            <a:endParaRPr lang="en-US" sz="600" dirty="0"/>
          </a:p>
        </p:txBody>
      </p:sp>
      <p:sp>
        <p:nvSpPr>
          <p:cNvPr id="29" name="Text 21.28"/>
          <p:cNvSpPr txBox="1"/>
          <p:nvPr/>
        </p:nvSpPr>
        <p:spPr>
          <a:xfrm>
            <a:off x="10115297" y="1574761"/>
            <a:ext cx="1339817" cy="106677"/>
          </a:xfrm>
          <a:prstGeom prst="rect">
            <a:avLst/>
          </a:prstGeom>
          <a:noFill/>
          <a:ln/>
        </p:spPr>
        <p:txBody>
          <a:bodyPr wrap="square" lIns="0" tIns="0" rIns="0" bIns="0" rtlCol="0" anchor="t"/>
          <a:lstStyle/>
          <a:p>
            <a:pPr algn="ctr" indent="0" marL="0">
              <a:lnSpc>
                <a:spcPts val="840"/>
              </a:lnSpc>
              <a:buNone/>
            </a:pPr>
            <a:r>
              <a:rPr lang="en-US" sz="700" b="1" dirty="0">
                <a:solidFill>
                  <a:srgbClr val="16233F"/>
                </a:solidFill>
                <a:latin typeface="Arial" pitchFamily="34" charset="0"/>
                <a:ea typeface="Arial" pitchFamily="34" charset="-122"/>
                <a:cs typeface="Arial" pitchFamily="34" charset="-120"/>
              </a:rPr>
              <a:t>7–11 Dec</a:t>
            </a:r>
            <a:endParaRPr lang="en-US" sz="700" dirty="0"/>
          </a:p>
        </p:txBody>
      </p:sp>
      <p:sp>
        <p:nvSpPr>
          <p:cNvPr id="30" name="Text 21.29"/>
          <p:cNvSpPr txBox="1"/>
          <p:nvPr/>
        </p:nvSpPr>
        <p:spPr>
          <a:xfrm>
            <a:off x="10134347" y="1727157"/>
            <a:ext cx="1301717" cy="165096"/>
          </a:xfrm>
          <a:prstGeom prst="rect">
            <a:avLst/>
          </a:prstGeom>
          <a:noFill/>
          <a:ln/>
        </p:spPr>
        <p:txBody>
          <a:bodyPr wrap="square" lIns="0" tIns="0" rIns="0" bIns="0" rtlCol="0" anchor="ctr"/>
          <a:lstStyle/>
          <a:p>
            <a:pPr algn="ctr" indent="0" marL="0">
              <a:lnSpc>
                <a:spcPts val="650"/>
              </a:lnSpc>
              <a:buNone/>
            </a:pPr>
            <a:r>
              <a:rPr lang="en-US" sz="650" b="1" spc="65" kern="0" dirty="0">
                <a:solidFill>
                  <a:srgbClr val="FFFFFF"/>
                </a:solidFill>
                <a:latin typeface="Arial" pitchFamily="34" charset="0"/>
                <a:ea typeface="Arial" pitchFamily="34" charset="-122"/>
                <a:cs typeface="Arial" pitchFamily="34" charset="-120"/>
              </a:rPr>
              <a:t>WEEK 10</a:t>
            </a:r>
            <a:endParaRPr lang="en-US" sz="650" dirty="0"/>
          </a:p>
        </p:txBody>
      </p:sp>
      <p:sp>
        <p:nvSpPr>
          <p:cNvPr id="31" name="Text 21.30"/>
          <p:cNvSpPr txBox="1"/>
          <p:nvPr/>
        </p:nvSpPr>
        <p:spPr>
          <a:xfrm>
            <a:off x="10115297" y="1917652"/>
            <a:ext cx="267884"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M</a:t>
            </a:r>
            <a:endParaRPr lang="en-US" sz="600" dirty="0"/>
          </a:p>
        </p:txBody>
      </p:sp>
      <p:sp>
        <p:nvSpPr>
          <p:cNvPr id="32" name="Text 21.31"/>
          <p:cNvSpPr txBox="1"/>
          <p:nvPr/>
        </p:nvSpPr>
        <p:spPr>
          <a:xfrm>
            <a:off x="10383181" y="1917652"/>
            <a:ext cx="267884"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T</a:t>
            </a:r>
            <a:endParaRPr lang="en-US" sz="600" dirty="0"/>
          </a:p>
        </p:txBody>
      </p:sp>
      <p:sp>
        <p:nvSpPr>
          <p:cNvPr id="33" name="Text 21.32"/>
          <p:cNvSpPr txBox="1"/>
          <p:nvPr/>
        </p:nvSpPr>
        <p:spPr>
          <a:xfrm>
            <a:off x="10651164" y="1917652"/>
            <a:ext cx="267884"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W</a:t>
            </a:r>
            <a:endParaRPr lang="en-US" sz="600" dirty="0"/>
          </a:p>
        </p:txBody>
      </p:sp>
      <p:sp>
        <p:nvSpPr>
          <p:cNvPr id="34" name="Text 21.33"/>
          <p:cNvSpPr txBox="1"/>
          <p:nvPr/>
        </p:nvSpPr>
        <p:spPr>
          <a:xfrm>
            <a:off x="10919147" y="1917652"/>
            <a:ext cx="267884"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T</a:t>
            </a:r>
            <a:endParaRPr lang="en-US" sz="600" dirty="0"/>
          </a:p>
        </p:txBody>
      </p:sp>
      <p:sp>
        <p:nvSpPr>
          <p:cNvPr id="35" name="Text 21.34"/>
          <p:cNvSpPr txBox="1"/>
          <p:nvPr/>
        </p:nvSpPr>
        <p:spPr>
          <a:xfrm>
            <a:off x="11187130" y="1917652"/>
            <a:ext cx="267884"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F</a:t>
            </a:r>
            <a:endParaRPr lang="en-US" sz="600" dirty="0"/>
          </a:p>
        </p:txBody>
      </p:sp>
      <p:sp>
        <p:nvSpPr>
          <p:cNvPr id="36" name="Text 21.35"/>
          <p:cNvSpPr txBox="1"/>
          <p:nvPr/>
        </p:nvSpPr>
        <p:spPr>
          <a:xfrm>
            <a:off x="736582" y="2127197"/>
            <a:ext cx="139536" cy="120647"/>
          </a:xfrm>
          <a:prstGeom prst="rect">
            <a:avLst/>
          </a:prstGeom>
          <a:noFill/>
          <a:ln/>
        </p:spPr>
        <p:txBody>
          <a:bodyPr wrap="square" lIns="0" tIns="0" rIns="0" bIns="0" rtlCol="0" anchor="t"/>
          <a:lstStyle/>
          <a:p>
            <a:pPr algn="l" indent="0" marL="0">
              <a:lnSpc>
                <a:spcPts val="950"/>
              </a:lnSpc>
              <a:buNone/>
            </a:pPr>
            <a:r>
              <a:rPr lang="en-US" sz="950" dirty="0">
                <a:solidFill>
                  <a:srgbClr val="16233F"/>
                </a:solidFill>
                <a:latin typeface="Arial Rounded MT Bold" pitchFamily="34" charset="0"/>
                <a:ea typeface="Arial Rounded MT Bold" pitchFamily="34" charset="-122"/>
                <a:cs typeface="Arial Rounded MT Bold" pitchFamily="34" charset="-120"/>
              </a:rPr>
              <a:t>3</a:t>
            </a:r>
            <a:endParaRPr lang="en-US" sz="950" dirty="0"/>
          </a:p>
        </p:txBody>
      </p:sp>
      <p:sp>
        <p:nvSpPr>
          <p:cNvPr id="37" name="Text 21.36"/>
          <p:cNvSpPr txBox="1"/>
          <p:nvPr/>
        </p:nvSpPr>
        <p:spPr>
          <a:xfrm>
            <a:off x="1142971" y="2127197"/>
            <a:ext cx="1069758" cy="120647"/>
          </a:xfrm>
          <a:prstGeom prst="rect">
            <a:avLst/>
          </a:prstGeom>
          <a:noFill/>
          <a:ln/>
        </p:spPr>
        <p:txBody>
          <a:bodyPr wrap="square" lIns="0" tIns="0" rIns="0" bIns="0" rtlCol="0" anchor="t"/>
          <a:lstStyle/>
          <a:p>
            <a:pPr algn="l" indent="0" marL="0">
              <a:lnSpc>
                <a:spcPts val="950"/>
              </a:lnSpc>
              <a:buNone/>
            </a:pPr>
            <a:r>
              <a:rPr lang="en-US" sz="950" dirty="0">
                <a:solidFill>
                  <a:srgbClr val="16233F"/>
                </a:solidFill>
                <a:latin typeface="Arial Rounded MT Bold" pitchFamily="34" charset="0"/>
                <a:ea typeface="Arial Rounded MT Bold" pitchFamily="34" charset="-122"/>
                <a:cs typeface="Arial Rounded MT Bold" pitchFamily="34" charset="-120"/>
              </a:rPr>
              <a:t>Demo 2 · 14 Dec</a:t>
            </a:r>
            <a:endParaRPr lang="en-US" sz="950" dirty="0"/>
          </a:p>
        </p:txBody>
      </p:sp>
      <p:sp>
        <p:nvSpPr>
          <p:cNvPr id="38" name="Text 21.37"/>
          <p:cNvSpPr txBox="1"/>
          <p:nvPr/>
        </p:nvSpPr>
        <p:spPr>
          <a:xfrm>
            <a:off x="736582" y="2343091"/>
            <a:ext cx="203899" cy="95248"/>
          </a:xfrm>
          <a:prstGeom prst="rect">
            <a:avLst/>
          </a:prstGeom>
          <a:noFill/>
          <a:ln/>
        </p:spPr>
        <p:txBody>
          <a:bodyPr wrap="square" lIns="0" tIns="0" rIns="0" bIns="0" rtlCol="0" anchor="t"/>
          <a:lstStyle/>
          <a:p>
            <a:pPr algn="l" indent="0" marL="0">
              <a:lnSpc>
                <a:spcPts val="750"/>
              </a:lnSpc>
              <a:buNone/>
            </a:pPr>
            <a:r>
              <a:rPr lang="en-US" sz="750" dirty="0">
                <a:solidFill>
                  <a:srgbClr val="6E7D9A"/>
                </a:solidFill>
                <a:latin typeface="Arial" pitchFamily="34" charset="0"/>
                <a:ea typeface="Arial" pitchFamily="34" charset="-122"/>
                <a:cs typeface="Arial" pitchFamily="34" charset="-120"/>
              </a:rPr>
              <a:t>3.1</a:t>
            </a:r>
            <a:endParaRPr lang="en-US" sz="750" dirty="0"/>
          </a:p>
        </p:txBody>
      </p:sp>
      <p:sp>
        <p:nvSpPr>
          <p:cNvPr id="39" name="Text 21.38"/>
          <p:cNvSpPr txBox="1"/>
          <p:nvPr/>
        </p:nvSpPr>
        <p:spPr>
          <a:xfrm>
            <a:off x="1142971" y="2343091"/>
            <a:ext cx="2578036" cy="107947"/>
          </a:xfrm>
          <a:prstGeom prst="rect">
            <a:avLst/>
          </a:prstGeom>
          <a:noFill/>
          <a:ln/>
        </p:spPr>
        <p:txBody>
          <a:bodyPr wrap="square" lIns="0" tIns="0" rIns="0" bIns="0" rtlCol="0" anchor="t"/>
          <a:lstStyle/>
          <a:p>
            <a:pPr algn="l" indent="0" marL="0">
              <a:lnSpc>
                <a:spcPts val="850"/>
              </a:lnSpc>
              <a:buNone/>
            </a:pPr>
            <a:r>
              <a:rPr lang="en-US" sz="850" dirty="0">
                <a:solidFill>
                  <a:srgbClr val="16233F"/>
                </a:solidFill>
                <a:latin typeface="Arial" pitchFamily="34" charset="0"/>
                <a:ea typeface="Arial" pitchFamily="34" charset="-122"/>
                <a:cs typeface="Arial" pitchFamily="34" charset="-120"/>
              </a:rPr>
              <a:t>Hit detection &amp; mass loss</a:t>
            </a:r>
            <a:endParaRPr lang="en-US" sz="850" dirty="0"/>
          </a:p>
        </p:txBody>
      </p:sp>
      <p:sp>
        <p:nvSpPr>
          <p:cNvPr id="40" name="Text 21.39"/>
          <p:cNvSpPr txBox="1"/>
          <p:nvPr/>
        </p:nvSpPr>
        <p:spPr>
          <a:xfrm>
            <a:off x="3746406" y="2311342"/>
            <a:ext cx="838179" cy="152396"/>
          </a:xfrm>
          <a:prstGeom prst="rect">
            <a:avLst/>
          </a:prstGeom>
          <a:noFill/>
          <a:ln/>
        </p:spPr>
        <p:txBody>
          <a:bodyPr wrap="square" lIns="0" tIns="0" rIns="0" bIns="0" rtlCol="0" anchor="ctr"/>
          <a:lstStyle/>
          <a:p>
            <a:pPr algn="ctr" indent="0" marL="0">
              <a:lnSpc>
                <a:spcPts val="650"/>
              </a:lnSpc>
              <a:buNone/>
            </a:pPr>
            <a:r>
              <a:rPr lang="en-US" sz="650" b="1" spc="13" kern="0" dirty="0">
                <a:solidFill>
                  <a:srgbClr val="1FA9EA"/>
                </a:solidFill>
                <a:latin typeface="Arial" pitchFamily="34" charset="0"/>
                <a:ea typeface="Arial" pitchFamily="34" charset="-122"/>
                <a:cs typeface="Arial" pitchFamily="34" charset="-120"/>
              </a:rPr>
              <a:t>Abdurrahim</a:t>
            </a:r>
            <a:endParaRPr lang="en-US" sz="650" dirty="0"/>
          </a:p>
        </p:txBody>
      </p:sp>
      <p:sp>
        <p:nvSpPr>
          <p:cNvPr id="41" name="Text 21.40"/>
          <p:cNvSpPr txBox="1"/>
          <p:nvPr/>
        </p:nvSpPr>
        <p:spPr>
          <a:xfrm>
            <a:off x="4762381" y="2343091"/>
            <a:ext cx="457189" cy="95248"/>
          </a:xfrm>
          <a:prstGeom prst="rect">
            <a:avLst/>
          </a:prstGeom>
          <a:noFill/>
          <a:ln/>
        </p:spPr>
        <p:txBody>
          <a:bodyPr wrap="square" lIns="0" tIns="0" rIns="0" bIns="0" rtlCol="0" anchor="t"/>
          <a:lstStyle/>
          <a:p>
            <a:pPr algn="ctr" indent="0" marL="0">
              <a:lnSpc>
                <a:spcPts val="750"/>
              </a:lnSpc>
              <a:buNone/>
            </a:pPr>
            <a:r>
              <a:rPr lang="en-US" sz="750" dirty="0">
                <a:solidFill>
                  <a:srgbClr val="3B4A66"/>
                </a:solidFill>
                <a:latin typeface="Arial" pitchFamily="34" charset="0"/>
                <a:ea typeface="Arial" pitchFamily="34" charset="-122"/>
                <a:cs typeface="Arial" pitchFamily="34" charset="-120"/>
              </a:rPr>
              <a:t>1 wk</a:t>
            </a:r>
            <a:endParaRPr lang="en-US" sz="750" dirty="0"/>
          </a:p>
        </p:txBody>
      </p:sp>
      <p:sp>
        <p:nvSpPr>
          <p:cNvPr id="42" name="Text 21.41"/>
          <p:cNvSpPr txBox="1"/>
          <p:nvPr/>
        </p:nvSpPr>
        <p:spPr>
          <a:xfrm>
            <a:off x="5371966" y="2311342"/>
            <a:ext cx="482588" cy="152396"/>
          </a:xfrm>
          <a:prstGeom prst="rect">
            <a:avLst/>
          </a:prstGeom>
          <a:noFill/>
          <a:ln/>
        </p:spPr>
        <p:txBody>
          <a:bodyPr wrap="square" lIns="0" tIns="0" rIns="0" bIns="0" rtlCol="0" anchor="ctr"/>
          <a:lstStyle/>
          <a:p>
            <a:pPr algn="ctr" indent="0" marL="0">
              <a:lnSpc>
                <a:spcPts val="600"/>
              </a:lnSpc>
              <a:buNone/>
            </a:pPr>
            <a:r>
              <a:rPr lang="en-US" sz="600" b="1" spc="48" kern="0" dirty="0">
                <a:solidFill>
                  <a:srgbClr val="6E7D9A"/>
                </a:solidFill>
                <a:latin typeface="Arial" pitchFamily="34" charset="0"/>
                <a:ea typeface="Arial" pitchFamily="34" charset="-122"/>
                <a:cs typeface="Arial" pitchFamily="34" charset="-120"/>
              </a:rPr>
              <a:t>0%</a:t>
            </a:r>
            <a:endParaRPr lang="en-US" sz="600" dirty="0"/>
          </a:p>
        </p:txBody>
      </p:sp>
      <p:sp>
        <p:nvSpPr>
          <p:cNvPr id="43" name="Text 21.42"/>
          <p:cNvSpPr txBox="1"/>
          <p:nvPr/>
        </p:nvSpPr>
        <p:spPr>
          <a:xfrm>
            <a:off x="736582" y="2546286"/>
            <a:ext cx="203899" cy="95248"/>
          </a:xfrm>
          <a:prstGeom prst="rect">
            <a:avLst/>
          </a:prstGeom>
          <a:noFill/>
          <a:ln/>
        </p:spPr>
        <p:txBody>
          <a:bodyPr wrap="square" lIns="0" tIns="0" rIns="0" bIns="0" rtlCol="0" anchor="t"/>
          <a:lstStyle/>
          <a:p>
            <a:pPr algn="l" indent="0" marL="0">
              <a:lnSpc>
                <a:spcPts val="750"/>
              </a:lnSpc>
              <a:buNone/>
            </a:pPr>
            <a:r>
              <a:rPr lang="en-US" sz="750" dirty="0">
                <a:solidFill>
                  <a:srgbClr val="6E7D9A"/>
                </a:solidFill>
                <a:latin typeface="Arial" pitchFamily="34" charset="0"/>
                <a:ea typeface="Arial" pitchFamily="34" charset="-122"/>
                <a:cs typeface="Arial" pitchFamily="34" charset="-120"/>
              </a:rPr>
              <a:t>3.2</a:t>
            </a:r>
            <a:endParaRPr lang="en-US" sz="750" dirty="0"/>
          </a:p>
        </p:txBody>
      </p:sp>
      <p:sp>
        <p:nvSpPr>
          <p:cNvPr id="44" name="Text 21.43"/>
          <p:cNvSpPr txBox="1"/>
          <p:nvPr/>
        </p:nvSpPr>
        <p:spPr>
          <a:xfrm>
            <a:off x="1142971" y="2546286"/>
            <a:ext cx="2578036" cy="107947"/>
          </a:xfrm>
          <a:prstGeom prst="rect">
            <a:avLst/>
          </a:prstGeom>
          <a:noFill/>
          <a:ln/>
        </p:spPr>
        <p:txBody>
          <a:bodyPr wrap="square" lIns="0" tIns="0" rIns="0" bIns="0" rtlCol="0" anchor="t"/>
          <a:lstStyle/>
          <a:p>
            <a:pPr algn="l" indent="0" marL="0">
              <a:lnSpc>
                <a:spcPts val="850"/>
              </a:lnSpc>
              <a:buNone/>
            </a:pPr>
            <a:r>
              <a:rPr lang="en-US" sz="850" dirty="0">
                <a:solidFill>
                  <a:srgbClr val="16233F"/>
                </a:solidFill>
                <a:latin typeface="Arial" pitchFamily="34" charset="0"/>
                <a:ea typeface="Arial" pitchFamily="34" charset="-122"/>
                <a:cs typeface="Arial" pitchFamily="34" charset="-120"/>
              </a:rPr>
              <a:t>Knockback scaled by mass</a:t>
            </a:r>
            <a:endParaRPr lang="en-US" sz="850" dirty="0"/>
          </a:p>
        </p:txBody>
      </p:sp>
      <p:sp>
        <p:nvSpPr>
          <p:cNvPr id="45" name="Text 21.44"/>
          <p:cNvSpPr txBox="1"/>
          <p:nvPr/>
        </p:nvSpPr>
        <p:spPr>
          <a:xfrm>
            <a:off x="3746406" y="2514537"/>
            <a:ext cx="838179" cy="152396"/>
          </a:xfrm>
          <a:prstGeom prst="rect">
            <a:avLst/>
          </a:prstGeom>
          <a:noFill/>
          <a:ln/>
        </p:spPr>
        <p:txBody>
          <a:bodyPr wrap="square" lIns="0" tIns="0" rIns="0" bIns="0" rtlCol="0" anchor="ctr"/>
          <a:lstStyle/>
          <a:p>
            <a:pPr algn="ctr" indent="0" marL="0">
              <a:lnSpc>
                <a:spcPts val="650"/>
              </a:lnSpc>
              <a:buNone/>
            </a:pPr>
            <a:r>
              <a:rPr lang="en-US" sz="650" b="1" spc="13" kern="0" dirty="0">
                <a:solidFill>
                  <a:srgbClr val="1FA9EA"/>
                </a:solidFill>
                <a:latin typeface="Arial" pitchFamily="34" charset="0"/>
                <a:ea typeface="Arial" pitchFamily="34" charset="-122"/>
                <a:cs typeface="Arial" pitchFamily="34" charset="-120"/>
              </a:rPr>
              <a:t>Abdurrahim</a:t>
            </a:r>
            <a:endParaRPr lang="en-US" sz="650" dirty="0"/>
          </a:p>
        </p:txBody>
      </p:sp>
      <p:sp>
        <p:nvSpPr>
          <p:cNvPr id="46" name="Text 21.45"/>
          <p:cNvSpPr txBox="1"/>
          <p:nvPr/>
        </p:nvSpPr>
        <p:spPr>
          <a:xfrm>
            <a:off x="4762381" y="2546286"/>
            <a:ext cx="457189" cy="95248"/>
          </a:xfrm>
          <a:prstGeom prst="rect">
            <a:avLst/>
          </a:prstGeom>
          <a:noFill/>
          <a:ln/>
        </p:spPr>
        <p:txBody>
          <a:bodyPr wrap="square" lIns="0" tIns="0" rIns="0" bIns="0" rtlCol="0" anchor="t"/>
          <a:lstStyle/>
          <a:p>
            <a:pPr algn="ctr" indent="0" marL="0">
              <a:lnSpc>
                <a:spcPts val="750"/>
              </a:lnSpc>
              <a:buNone/>
            </a:pPr>
            <a:r>
              <a:rPr lang="en-US" sz="750" dirty="0">
                <a:solidFill>
                  <a:srgbClr val="3B4A66"/>
                </a:solidFill>
                <a:latin typeface="Arial" pitchFamily="34" charset="0"/>
                <a:ea typeface="Arial" pitchFamily="34" charset="-122"/>
                <a:cs typeface="Arial" pitchFamily="34" charset="-120"/>
              </a:rPr>
              <a:t>1 wk</a:t>
            </a:r>
            <a:endParaRPr lang="en-US" sz="750" dirty="0"/>
          </a:p>
        </p:txBody>
      </p:sp>
      <p:sp>
        <p:nvSpPr>
          <p:cNvPr id="47" name="Text 21.46"/>
          <p:cNvSpPr txBox="1"/>
          <p:nvPr/>
        </p:nvSpPr>
        <p:spPr>
          <a:xfrm>
            <a:off x="5371966" y="2514537"/>
            <a:ext cx="482588" cy="152396"/>
          </a:xfrm>
          <a:prstGeom prst="rect">
            <a:avLst/>
          </a:prstGeom>
          <a:noFill/>
          <a:ln/>
        </p:spPr>
        <p:txBody>
          <a:bodyPr wrap="square" lIns="0" tIns="0" rIns="0" bIns="0" rtlCol="0" anchor="ctr"/>
          <a:lstStyle/>
          <a:p>
            <a:pPr algn="ctr" indent="0" marL="0">
              <a:lnSpc>
                <a:spcPts val="600"/>
              </a:lnSpc>
              <a:buNone/>
            </a:pPr>
            <a:r>
              <a:rPr lang="en-US" sz="600" b="1" spc="48" kern="0" dirty="0">
                <a:solidFill>
                  <a:srgbClr val="6E7D9A"/>
                </a:solidFill>
                <a:latin typeface="Arial" pitchFamily="34" charset="0"/>
                <a:ea typeface="Arial" pitchFamily="34" charset="-122"/>
                <a:cs typeface="Arial" pitchFamily="34" charset="-120"/>
              </a:rPr>
              <a:t>0%</a:t>
            </a:r>
            <a:endParaRPr lang="en-US" sz="600" dirty="0"/>
          </a:p>
        </p:txBody>
      </p:sp>
      <p:sp>
        <p:nvSpPr>
          <p:cNvPr id="48" name="Text 21.47"/>
          <p:cNvSpPr txBox="1"/>
          <p:nvPr/>
        </p:nvSpPr>
        <p:spPr>
          <a:xfrm>
            <a:off x="736582" y="2749481"/>
            <a:ext cx="203899" cy="95248"/>
          </a:xfrm>
          <a:prstGeom prst="rect">
            <a:avLst/>
          </a:prstGeom>
          <a:noFill/>
          <a:ln/>
        </p:spPr>
        <p:txBody>
          <a:bodyPr wrap="square" lIns="0" tIns="0" rIns="0" bIns="0" rtlCol="0" anchor="t"/>
          <a:lstStyle/>
          <a:p>
            <a:pPr algn="l" indent="0" marL="0">
              <a:lnSpc>
                <a:spcPts val="750"/>
              </a:lnSpc>
              <a:buNone/>
            </a:pPr>
            <a:r>
              <a:rPr lang="en-US" sz="750" dirty="0">
                <a:solidFill>
                  <a:srgbClr val="6E7D9A"/>
                </a:solidFill>
                <a:latin typeface="Arial" pitchFamily="34" charset="0"/>
                <a:ea typeface="Arial" pitchFamily="34" charset="-122"/>
                <a:cs typeface="Arial" pitchFamily="34" charset="-120"/>
              </a:rPr>
              <a:t>3.3</a:t>
            </a:r>
            <a:endParaRPr lang="en-US" sz="750" dirty="0"/>
          </a:p>
        </p:txBody>
      </p:sp>
      <p:sp>
        <p:nvSpPr>
          <p:cNvPr id="49" name="Text 21.48"/>
          <p:cNvSpPr txBox="1"/>
          <p:nvPr/>
        </p:nvSpPr>
        <p:spPr>
          <a:xfrm>
            <a:off x="1142971" y="2749481"/>
            <a:ext cx="2578036" cy="107947"/>
          </a:xfrm>
          <a:prstGeom prst="rect">
            <a:avLst/>
          </a:prstGeom>
          <a:noFill/>
          <a:ln/>
        </p:spPr>
        <p:txBody>
          <a:bodyPr wrap="square" lIns="0" tIns="0" rIns="0" bIns="0" rtlCol="0" anchor="t"/>
          <a:lstStyle/>
          <a:p>
            <a:pPr algn="l" indent="0" marL="0">
              <a:lnSpc>
                <a:spcPts val="850"/>
              </a:lnSpc>
              <a:buNone/>
            </a:pPr>
            <a:r>
              <a:rPr lang="en-US" sz="850" dirty="0">
                <a:solidFill>
                  <a:srgbClr val="16233F"/>
                </a:solidFill>
                <a:latin typeface="Arial" pitchFamily="34" charset="0"/>
                <a:ea typeface="Arial" pitchFamily="34" charset="-122"/>
                <a:cs typeface="Arial" pitchFamily="34" charset="-120"/>
              </a:rPr>
              <a:t>Knockout credit &amp; full-mass respawn</a:t>
            </a:r>
            <a:endParaRPr lang="en-US" sz="850" dirty="0"/>
          </a:p>
        </p:txBody>
      </p:sp>
      <p:sp>
        <p:nvSpPr>
          <p:cNvPr id="50" name="Text 21.49"/>
          <p:cNvSpPr txBox="1"/>
          <p:nvPr/>
        </p:nvSpPr>
        <p:spPr>
          <a:xfrm>
            <a:off x="3746406" y="2717732"/>
            <a:ext cx="838179" cy="152396"/>
          </a:xfrm>
          <a:prstGeom prst="rect">
            <a:avLst/>
          </a:prstGeom>
          <a:noFill/>
          <a:ln/>
        </p:spPr>
        <p:txBody>
          <a:bodyPr wrap="square" lIns="0" tIns="0" rIns="0" bIns="0" rtlCol="0" anchor="ctr"/>
          <a:lstStyle/>
          <a:p>
            <a:pPr algn="ctr" indent="0" marL="0">
              <a:lnSpc>
                <a:spcPts val="650"/>
              </a:lnSpc>
              <a:buNone/>
            </a:pPr>
            <a:r>
              <a:rPr lang="en-US" sz="650" b="1" spc="13" kern="0" dirty="0">
                <a:solidFill>
                  <a:srgbClr val="1FA9EA"/>
                </a:solidFill>
                <a:latin typeface="Arial" pitchFamily="34" charset="0"/>
                <a:ea typeface="Arial" pitchFamily="34" charset="-122"/>
                <a:cs typeface="Arial" pitchFamily="34" charset="-120"/>
              </a:rPr>
              <a:t>Abdurrahim</a:t>
            </a:r>
            <a:endParaRPr lang="en-US" sz="650" dirty="0"/>
          </a:p>
        </p:txBody>
      </p:sp>
      <p:sp>
        <p:nvSpPr>
          <p:cNvPr id="51" name="Text 21.50"/>
          <p:cNvSpPr txBox="1"/>
          <p:nvPr/>
        </p:nvSpPr>
        <p:spPr>
          <a:xfrm>
            <a:off x="4762381" y="2749481"/>
            <a:ext cx="457189" cy="95248"/>
          </a:xfrm>
          <a:prstGeom prst="rect">
            <a:avLst/>
          </a:prstGeom>
          <a:noFill/>
          <a:ln/>
        </p:spPr>
        <p:txBody>
          <a:bodyPr wrap="square" lIns="0" tIns="0" rIns="0" bIns="0" rtlCol="0" anchor="t"/>
          <a:lstStyle/>
          <a:p>
            <a:pPr algn="ctr" indent="0" marL="0">
              <a:lnSpc>
                <a:spcPts val="750"/>
              </a:lnSpc>
              <a:buNone/>
            </a:pPr>
            <a:r>
              <a:rPr lang="en-US" sz="750" dirty="0">
                <a:solidFill>
                  <a:srgbClr val="3B4A66"/>
                </a:solidFill>
                <a:latin typeface="Arial" pitchFamily="34" charset="0"/>
                <a:ea typeface="Arial" pitchFamily="34" charset="-122"/>
                <a:cs typeface="Arial" pitchFamily="34" charset="-120"/>
              </a:rPr>
              <a:t>1 wk</a:t>
            </a:r>
            <a:endParaRPr lang="en-US" sz="750" dirty="0"/>
          </a:p>
        </p:txBody>
      </p:sp>
      <p:sp>
        <p:nvSpPr>
          <p:cNvPr id="52" name="Text 21.51"/>
          <p:cNvSpPr txBox="1"/>
          <p:nvPr/>
        </p:nvSpPr>
        <p:spPr>
          <a:xfrm>
            <a:off x="5371966" y="2717732"/>
            <a:ext cx="482588" cy="152396"/>
          </a:xfrm>
          <a:prstGeom prst="rect">
            <a:avLst/>
          </a:prstGeom>
          <a:noFill/>
          <a:ln/>
        </p:spPr>
        <p:txBody>
          <a:bodyPr wrap="square" lIns="0" tIns="0" rIns="0" bIns="0" rtlCol="0" anchor="ctr"/>
          <a:lstStyle/>
          <a:p>
            <a:pPr algn="ctr" indent="0" marL="0">
              <a:lnSpc>
                <a:spcPts val="600"/>
              </a:lnSpc>
              <a:buNone/>
            </a:pPr>
            <a:r>
              <a:rPr lang="en-US" sz="600" b="1" spc="48" kern="0" dirty="0">
                <a:solidFill>
                  <a:srgbClr val="6E7D9A"/>
                </a:solidFill>
                <a:latin typeface="Arial" pitchFamily="34" charset="0"/>
                <a:ea typeface="Arial" pitchFamily="34" charset="-122"/>
                <a:cs typeface="Arial" pitchFamily="34" charset="-120"/>
              </a:rPr>
              <a:t>0%</a:t>
            </a:r>
            <a:endParaRPr lang="en-US" sz="600" dirty="0"/>
          </a:p>
        </p:txBody>
      </p:sp>
      <p:sp>
        <p:nvSpPr>
          <p:cNvPr id="53" name="Text 21.52"/>
          <p:cNvSpPr txBox="1"/>
          <p:nvPr/>
        </p:nvSpPr>
        <p:spPr>
          <a:xfrm>
            <a:off x="736582" y="2952676"/>
            <a:ext cx="203899" cy="95248"/>
          </a:xfrm>
          <a:prstGeom prst="rect">
            <a:avLst/>
          </a:prstGeom>
          <a:noFill/>
          <a:ln/>
        </p:spPr>
        <p:txBody>
          <a:bodyPr wrap="square" lIns="0" tIns="0" rIns="0" bIns="0" rtlCol="0" anchor="t"/>
          <a:lstStyle/>
          <a:p>
            <a:pPr algn="l" indent="0" marL="0">
              <a:lnSpc>
                <a:spcPts val="750"/>
              </a:lnSpc>
              <a:buNone/>
            </a:pPr>
            <a:r>
              <a:rPr lang="en-US" sz="750" dirty="0">
                <a:solidFill>
                  <a:srgbClr val="6E7D9A"/>
                </a:solidFill>
                <a:latin typeface="Arial" pitchFamily="34" charset="0"/>
                <a:ea typeface="Arial" pitchFamily="34" charset="-122"/>
                <a:cs typeface="Arial" pitchFamily="34" charset="-120"/>
              </a:rPr>
              <a:t>3.4</a:t>
            </a:r>
            <a:endParaRPr lang="en-US" sz="750" dirty="0"/>
          </a:p>
        </p:txBody>
      </p:sp>
      <p:sp>
        <p:nvSpPr>
          <p:cNvPr id="54" name="Text 21.53"/>
          <p:cNvSpPr txBox="1"/>
          <p:nvPr/>
        </p:nvSpPr>
        <p:spPr>
          <a:xfrm>
            <a:off x="1142971" y="2952676"/>
            <a:ext cx="2578036" cy="107947"/>
          </a:xfrm>
          <a:prstGeom prst="rect">
            <a:avLst/>
          </a:prstGeom>
          <a:noFill/>
          <a:ln/>
        </p:spPr>
        <p:txBody>
          <a:bodyPr wrap="square" lIns="0" tIns="0" rIns="0" bIns="0" rtlCol="0" anchor="t"/>
          <a:lstStyle/>
          <a:p>
            <a:pPr algn="l" indent="0" marL="0">
              <a:lnSpc>
                <a:spcPts val="850"/>
              </a:lnSpc>
              <a:buNone/>
            </a:pPr>
            <a:r>
              <a:rPr lang="en-US" sz="850" dirty="0">
                <a:solidFill>
                  <a:srgbClr val="16233F"/>
                </a:solidFill>
                <a:latin typeface="Arial" pitchFamily="34" charset="0"/>
                <a:ea typeface="Arial" pitchFamily="34" charset="-122"/>
                <a:cs typeface="Arial" pitchFamily="34" charset="-120"/>
              </a:rPr>
              <a:t>Networked projectiles &amp; hits</a:t>
            </a:r>
            <a:endParaRPr lang="en-US" sz="850" dirty="0"/>
          </a:p>
        </p:txBody>
      </p:sp>
      <p:sp>
        <p:nvSpPr>
          <p:cNvPr id="55" name="Text 21.54"/>
          <p:cNvSpPr txBox="1"/>
          <p:nvPr/>
        </p:nvSpPr>
        <p:spPr>
          <a:xfrm>
            <a:off x="3746406" y="2920927"/>
            <a:ext cx="838179" cy="152396"/>
          </a:xfrm>
          <a:prstGeom prst="rect">
            <a:avLst/>
          </a:prstGeom>
          <a:noFill/>
          <a:ln/>
        </p:spPr>
        <p:txBody>
          <a:bodyPr wrap="square" lIns="0" tIns="0" rIns="0" bIns="0" rtlCol="0" anchor="ctr"/>
          <a:lstStyle/>
          <a:p>
            <a:pPr algn="ctr" indent="0" marL="0">
              <a:lnSpc>
                <a:spcPts val="650"/>
              </a:lnSpc>
              <a:buNone/>
            </a:pPr>
            <a:r>
              <a:rPr lang="en-US" sz="650" b="1" spc="13" kern="0" dirty="0">
                <a:solidFill>
                  <a:srgbClr val="FF6B1F"/>
                </a:solidFill>
                <a:latin typeface="Arial" pitchFamily="34" charset="0"/>
                <a:ea typeface="Arial" pitchFamily="34" charset="-122"/>
                <a:cs typeface="Arial" pitchFamily="34" charset="-120"/>
              </a:rPr>
              <a:t>Ezel</a:t>
            </a:r>
            <a:endParaRPr lang="en-US" sz="650" dirty="0"/>
          </a:p>
        </p:txBody>
      </p:sp>
      <p:sp>
        <p:nvSpPr>
          <p:cNvPr id="56" name="Text 21.55"/>
          <p:cNvSpPr txBox="1"/>
          <p:nvPr/>
        </p:nvSpPr>
        <p:spPr>
          <a:xfrm>
            <a:off x="4762381" y="2952676"/>
            <a:ext cx="457189" cy="95248"/>
          </a:xfrm>
          <a:prstGeom prst="rect">
            <a:avLst/>
          </a:prstGeom>
          <a:noFill/>
          <a:ln/>
        </p:spPr>
        <p:txBody>
          <a:bodyPr wrap="square" lIns="0" tIns="0" rIns="0" bIns="0" rtlCol="0" anchor="t"/>
          <a:lstStyle/>
          <a:p>
            <a:pPr algn="ctr" indent="0" marL="0">
              <a:lnSpc>
                <a:spcPts val="750"/>
              </a:lnSpc>
              <a:buNone/>
            </a:pPr>
            <a:r>
              <a:rPr lang="en-US" sz="750" dirty="0">
                <a:solidFill>
                  <a:srgbClr val="3B4A66"/>
                </a:solidFill>
                <a:latin typeface="Arial" pitchFamily="34" charset="0"/>
                <a:ea typeface="Arial" pitchFamily="34" charset="-122"/>
                <a:cs typeface="Arial" pitchFamily="34" charset="-120"/>
              </a:rPr>
              <a:t>3 wk</a:t>
            </a:r>
            <a:endParaRPr lang="en-US" sz="750" dirty="0"/>
          </a:p>
        </p:txBody>
      </p:sp>
      <p:sp>
        <p:nvSpPr>
          <p:cNvPr id="57" name="Text 21.56"/>
          <p:cNvSpPr txBox="1"/>
          <p:nvPr/>
        </p:nvSpPr>
        <p:spPr>
          <a:xfrm>
            <a:off x="5371966" y="2920927"/>
            <a:ext cx="482588" cy="152396"/>
          </a:xfrm>
          <a:prstGeom prst="rect">
            <a:avLst/>
          </a:prstGeom>
          <a:noFill/>
          <a:ln/>
        </p:spPr>
        <p:txBody>
          <a:bodyPr wrap="square" lIns="0" tIns="0" rIns="0" bIns="0" rtlCol="0" anchor="ctr"/>
          <a:lstStyle/>
          <a:p>
            <a:pPr algn="ctr" indent="0" marL="0">
              <a:lnSpc>
                <a:spcPts val="600"/>
              </a:lnSpc>
              <a:buNone/>
            </a:pPr>
            <a:r>
              <a:rPr lang="en-US" sz="600" b="1" spc="48" kern="0" dirty="0">
                <a:solidFill>
                  <a:srgbClr val="6E7D9A"/>
                </a:solidFill>
                <a:latin typeface="Arial" pitchFamily="34" charset="0"/>
                <a:ea typeface="Arial" pitchFamily="34" charset="-122"/>
                <a:cs typeface="Arial" pitchFamily="34" charset="-120"/>
              </a:rPr>
              <a:t>0%</a:t>
            </a:r>
            <a:endParaRPr lang="en-US" sz="600" dirty="0"/>
          </a:p>
        </p:txBody>
      </p:sp>
      <p:sp>
        <p:nvSpPr>
          <p:cNvPr id="58" name="Text 21.57"/>
          <p:cNvSpPr txBox="1"/>
          <p:nvPr/>
        </p:nvSpPr>
        <p:spPr>
          <a:xfrm>
            <a:off x="736582" y="3155871"/>
            <a:ext cx="203899" cy="95248"/>
          </a:xfrm>
          <a:prstGeom prst="rect">
            <a:avLst/>
          </a:prstGeom>
          <a:noFill/>
          <a:ln/>
        </p:spPr>
        <p:txBody>
          <a:bodyPr wrap="square" lIns="0" tIns="0" rIns="0" bIns="0" rtlCol="0" anchor="t"/>
          <a:lstStyle/>
          <a:p>
            <a:pPr algn="l" indent="0" marL="0">
              <a:lnSpc>
                <a:spcPts val="750"/>
              </a:lnSpc>
              <a:buNone/>
            </a:pPr>
            <a:r>
              <a:rPr lang="en-US" sz="750" dirty="0">
                <a:solidFill>
                  <a:srgbClr val="6E7D9A"/>
                </a:solidFill>
                <a:latin typeface="Arial" pitchFamily="34" charset="0"/>
                <a:ea typeface="Arial" pitchFamily="34" charset="-122"/>
                <a:cs typeface="Arial" pitchFamily="34" charset="-120"/>
              </a:rPr>
              <a:t>3.5</a:t>
            </a:r>
            <a:endParaRPr lang="en-US" sz="750" dirty="0"/>
          </a:p>
        </p:txBody>
      </p:sp>
      <p:sp>
        <p:nvSpPr>
          <p:cNvPr id="59" name="Text 21.58"/>
          <p:cNvSpPr txBox="1"/>
          <p:nvPr/>
        </p:nvSpPr>
        <p:spPr>
          <a:xfrm>
            <a:off x="1142971" y="3155871"/>
            <a:ext cx="2578036" cy="107947"/>
          </a:xfrm>
          <a:prstGeom prst="rect">
            <a:avLst/>
          </a:prstGeom>
          <a:noFill/>
          <a:ln/>
        </p:spPr>
        <p:txBody>
          <a:bodyPr wrap="square" lIns="0" tIns="0" rIns="0" bIns="0" rtlCol="0" anchor="t"/>
          <a:lstStyle/>
          <a:p>
            <a:pPr algn="l" indent="0" marL="0">
              <a:lnSpc>
                <a:spcPts val="850"/>
              </a:lnSpc>
              <a:buNone/>
            </a:pPr>
            <a:r>
              <a:rPr lang="en-US" sz="850" dirty="0">
                <a:solidFill>
                  <a:srgbClr val="16233F"/>
                </a:solidFill>
                <a:latin typeface="Arial" pitchFamily="34" charset="0"/>
                <a:ea typeface="Arial" pitchFamily="34" charset="-122"/>
                <a:cs typeface="Arial" pitchFamily="34" charset="-120"/>
              </a:rPr>
              <a:t>Mass Knockout arena</a:t>
            </a:r>
            <a:endParaRPr lang="en-US" sz="850" dirty="0"/>
          </a:p>
        </p:txBody>
      </p:sp>
      <p:sp>
        <p:nvSpPr>
          <p:cNvPr id="60" name="Text 21.59"/>
          <p:cNvSpPr txBox="1"/>
          <p:nvPr/>
        </p:nvSpPr>
        <p:spPr>
          <a:xfrm>
            <a:off x="3746406" y="3124122"/>
            <a:ext cx="838179" cy="152396"/>
          </a:xfrm>
          <a:prstGeom prst="rect">
            <a:avLst/>
          </a:prstGeom>
          <a:noFill/>
          <a:ln/>
        </p:spPr>
        <p:txBody>
          <a:bodyPr wrap="square" lIns="0" tIns="0" rIns="0" bIns="0" rtlCol="0" anchor="ctr"/>
          <a:lstStyle/>
          <a:p>
            <a:pPr algn="ctr" indent="0" marL="0">
              <a:lnSpc>
                <a:spcPts val="650"/>
              </a:lnSpc>
              <a:buNone/>
            </a:pPr>
            <a:r>
              <a:rPr lang="en-US" sz="650" b="1" spc="13" kern="0" dirty="0">
                <a:solidFill>
                  <a:srgbClr val="8F55F5"/>
                </a:solidFill>
                <a:latin typeface="Arial" pitchFamily="34" charset="0"/>
                <a:ea typeface="Arial" pitchFamily="34" charset="-122"/>
                <a:cs typeface="Arial" pitchFamily="34" charset="-120"/>
              </a:rPr>
              <a:t>Ardıl</a:t>
            </a:r>
            <a:endParaRPr lang="en-US" sz="650" dirty="0"/>
          </a:p>
        </p:txBody>
      </p:sp>
      <p:sp>
        <p:nvSpPr>
          <p:cNvPr id="61" name="Text 21.60"/>
          <p:cNvSpPr txBox="1"/>
          <p:nvPr/>
        </p:nvSpPr>
        <p:spPr>
          <a:xfrm>
            <a:off x="4762381" y="3155871"/>
            <a:ext cx="457189" cy="95248"/>
          </a:xfrm>
          <a:prstGeom prst="rect">
            <a:avLst/>
          </a:prstGeom>
          <a:noFill/>
          <a:ln/>
        </p:spPr>
        <p:txBody>
          <a:bodyPr wrap="square" lIns="0" tIns="0" rIns="0" bIns="0" rtlCol="0" anchor="t"/>
          <a:lstStyle/>
          <a:p>
            <a:pPr algn="ctr" indent="0" marL="0">
              <a:lnSpc>
                <a:spcPts val="750"/>
              </a:lnSpc>
              <a:buNone/>
            </a:pPr>
            <a:r>
              <a:rPr lang="en-US" sz="750" dirty="0">
                <a:solidFill>
                  <a:srgbClr val="3B4A66"/>
                </a:solidFill>
                <a:latin typeface="Arial" pitchFamily="34" charset="0"/>
                <a:ea typeface="Arial" pitchFamily="34" charset="-122"/>
                <a:cs typeface="Arial" pitchFamily="34" charset="-120"/>
              </a:rPr>
              <a:t>2 wk</a:t>
            </a:r>
            <a:endParaRPr lang="en-US" sz="750" dirty="0"/>
          </a:p>
        </p:txBody>
      </p:sp>
      <p:sp>
        <p:nvSpPr>
          <p:cNvPr id="62" name="Text 21.61"/>
          <p:cNvSpPr txBox="1"/>
          <p:nvPr/>
        </p:nvSpPr>
        <p:spPr>
          <a:xfrm>
            <a:off x="5371966" y="3124122"/>
            <a:ext cx="482588" cy="152396"/>
          </a:xfrm>
          <a:prstGeom prst="rect">
            <a:avLst/>
          </a:prstGeom>
          <a:noFill/>
          <a:ln/>
        </p:spPr>
        <p:txBody>
          <a:bodyPr wrap="square" lIns="0" tIns="0" rIns="0" bIns="0" rtlCol="0" anchor="ctr"/>
          <a:lstStyle/>
          <a:p>
            <a:pPr algn="ctr" indent="0" marL="0">
              <a:lnSpc>
                <a:spcPts val="600"/>
              </a:lnSpc>
              <a:buNone/>
            </a:pPr>
            <a:r>
              <a:rPr lang="en-US" sz="600" b="1" spc="48" kern="0" dirty="0">
                <a:solidFill>
                  <a:srgbClr val="6E7D9A"/>
                </a:solidFill>
                <a:latin typeface="Arial" pitchFamily="34" charset="0"/>
                <a:ea typeface="Arial" pitchFamily="34" charset="-122"/>
                <a:cs typeface="Arial" pitchFamily="34" charset="-120"/>
              </a:rPr>
              <a:t>0%</a:t>
            </a:r>
            <a:endParaRPr lang="en-US" sz="600" dirty="0"/>
          </a:p>
        </p:txBody>
      </p:sp>
      <p:sp>
        <p:nvSpPr>
          <p:cNvPr id="63" name="Text 21.62"/>
          <p:cNvSpPr txBox="1"/>
          <p:nvPr/>
        </p:nvSpPr>
        <p:spPr>
          <a:xfrm>
            <a:off x="736582" y="3359066"/>
            <a:ext cx="203899" cy="95248"/>
          </a:xfrm>
          <a:prstGeom prst="rect">
            <a:avLst/>
          </a:prstGeom>
          <a:noFill/>
          <a:ln/>
        </p:spPr>
        <p:txBody>
          <a:bodyPr wrap="square" lIns="0" tIns="0" rIns="0" bIns="0" rtlCol="0" anchor="t"/>
          <a:lstStyle/>
          <a:p>
            <a:pPr algn="l" indent="0" marL="0">
              <a:lnSpc>
                <a:spcPts val="750"/>
              </a:lnSpc>
              <a:buNone/>
            </a:pPr>
            <a:r>
              <a:rPr lang="en-US" sz="750" dirty="0">
                <a:solidFill>
                  <a:srgbClr val="6E7D9A"/>
                </a:solidFill>
                <a:latin typeface="Arial" pitchFamily="34" charset="0"/>
                <a:ea typeface="Arial" pitchFamily="34" charset="-122"/>
                <a:cs typeface="Arial" pitchFamily="34" charset="-120"/>
              </a:rPr>
              <a:t>3.6</a:t>
            </a:r>
            <a:endParaRPr lang="en-US" sz="750" dirty="0"/>
          </a:p>
        </p:txBody>
      </p:sp>
      <p:sp>
        <p:nvSpPr>
          <p:cNvPr id="64" name="Text 21.63"/>
          <p:cNvSpPr txBox="1"/>
          <p:nvPr/>
        </p:nvSpPr>
        <p:spPr>
          <a:xfrm>
            <a:off x="1142971" y="3359066"/>
            <a:ext cx="2578036" cy="107947"/>
          </a:xfrm>
          <a:prstGeom prst="rect">
            <a:avLst/>
          </a:prstGeom>
          <a:noFill/>
          <a:ln/>
        </p:spPr>
        <p:txBody>
          <a:bodyPr wrap="square" lIns="0" tIns="0" rIns="0" bIns="0" rtlCol="0" anchor="t"/>
          <a:lstStyle/>
          <a:p>
            <a:pPr algn="l" indent="0" marL="0">
              <a:lnSpc>
                <a:spcPts val="850"/>
              </a:lnSpc>
              <a:buNone/>
            </a:pPr>
            <a:r>
              <a:rPr lang="en-US" sz="850" dirty="0">
                <a:solidFill>
                  <a:srgbClr val="16233F"/>
                </a:solidFill>
                <a:latin typeface="Arial" pitchFamily="34" charset="0"/>
                <a:ea typeface="Arial" pitchFamily="34" charset="-122"/>
                <a:cs typeface="Arial" pitchFamily="34" charset="-120"/>
              </a:rPr>
              <a:t>Ice Race finish &amp; placement</a:t>
            </a:r>
            <a:endParaRPr lang="en-US" sz="850" dirty="0"/>
          </a:p>
        </p:txBody>
      </p:sp>
      <p:sp>
        <p:nvSpPr>
          <p:cNvPr id="65" name="Text 21.64"/>
          <p:cNvSpPr txBox="1"/>
          <p:nvPr/>
        </p:nvSpPr>
        <p:spPr>
          <a:xfrm>
            <a:off x="3746406" y="3327317"/>
            <a:ext cx="838179" cy="152396"/>
          </a:xfrm>
          <a:prstGeom prst="rect">
            <a:avLst/>
          </a:prstGeom>
          <a:noFill/>
          <a:ln/>
        </p:spPr>
        <p:txBody>
          <a:bodyPr wrap="square" lIns="0" tIns="0" rIns="0" bIns="0" rtlCol="0" anchor="ctr"/>
          <a:lstStyle/>
          <a:p>
            <a:pPr algn="ctr" indent="0" marL="0">
              <a:lnSpc>
                <a:spcPts val="650"/>
              </a:lnSpc>
              <a:buNone/>
            </a:pPr>
            <a:r>
              <a:rPr lang="en-US" sz="650" b="1" spc="13" kern="0" dirty="0">
                <a:solidFill>
                  <a:srgbClr val="43B832"/>
                </a:solidFill>
                <a:latin typeface="Arial" pitchFamily="34" charset="0"/>
                <a:ea typeface="Arial" pitchFamily="34" charset="-122"/>
                <a:cs typeface="Arial" pitchFamily="34" charset="-120"/>
              </a:rPr>
              <a:t>Kürşat</a:t>
            </a:r>
            <a:endParaRPr lang="en-US" sz="650" dirty="0"/>
          </a:p>
        </p:txBody>
      </p:sp>
      <p:sp>
        <p:nvSpPr>
          <p:cNvPr id="66" name="Text 21.65"/>
          <p:cNvSpPr txBox="1"/>
          <p:nvPr/>
        </p:nvSpPr>
        <p:spPr>
          <a:xfrm>
            <a:off x="4762381" y="3359066"/>
            <a:ext cx="457189" cy="95248"/>
          </a:xfrm>
          <a:prstGeom prst="rect">
            <a:avLst/>
          </a:prstGeom>
          <a:noFill/>
          <a:ln/>
        </p:spPr>
        <p:txBody>
          <a:bodyPr wrap="square" lIns="0" tIns="0" rIns="0" bIns="0" rtlCol="0" anchor="t"/>
          <a:lstStyle/>
          <a:p>
            <a:pPr algn="ctr" indent="0" marL="0">
              <a:lnSpc>
                <a:spcPts val="750"/>
              </a:lnSpc>
              <a:buNone/>
            </a:pPr>
            <a:r>
              <a:rPr lang="en-US" sz="750" dirty="0">
                <a:solidFill>
                  <a:srgbClr val="3B4A66"/>
                </a:solidFill>
                <a:latin typeface="Arial" pitchFamily="34" charset="0"/>
                <a:ea typeface="Arial" pitchFamily="34" charset="-122"/>
                <a:cs typeface="Arial" pitchFamily="34" charset="-120"/>
              </a:rPr>
              <a:t>2 wk</a:t>
            </a:r>
            <a:endParaRPr lang="en-US" sz="750" dirty="0"/>
          </a:p>
        </p:txBody>
      </p:sp>
      <p:sp>
        <p:nvSpPr>
          <p:cNvPr id="67" name="Text 21.66"/>
          <p:cNvSpPr txBox="1"/>
          <p:nvPr/>
        </p:nvSpPr>
        <p:spPr>
          <a:xfrm>
            <a:off x="5371966" y="3327317"/>
            <a:ext cx="482588" cy="152396"/>
          </a:xfrm>
          <a:prstGeom prst="rect">
            <a:avLst/>
          </a:prstGeom>
          <a:noFill/>
          <a:ln/>
        </p:spPr>
        <p:txBody>
          <a:bodyPr wrap="square" lIns="0" tIns="0" rIns="0" bIns="0" rtlCol="0" anchor="ctr"/>
          <a:lstStyle/>
          <a:p>
            <a:pPr algn="ctr" indent="0" marL="0">
              <a:lnSpc>
                <a:spcPts val="600"/>
              </a:lnSpc>
              <a:buNone/>
            </a:pPr>
            <a:r>
              <a:rPr lang="en-US" sz="600" b="1" spc="48" kern="0" dirty="0">
                <a:solidFill>
                  <a:srgbClr val="6E7D9A"/>
                </a:solidFill>
                <a:latin typeface="Arial" pitchFamily="34" charset="0"/>
                <a:ea typeface="Arial" pitchFamily="34" charset="-122"/>
                <a:cs typeface="Arial" pitchFamily="34" charset="-120"/>
              </a:rPr>
              <a:t>0%</a:t>
            </a:r>
            <a:endParaRPr lang="en-US" sz="600" dirty="0"/>
          </a:p>
        </p:txBody>
      </p:sp>
      <p:sp>
        <p:nvSpPr>
          <p:cNvPr id="68" name="Text 21.67"/>
          <p:cNvSpPr txBox="1"/>
          <p:nvPr/>
        </p:nvSpPr>
        <p:spPr>
          <a:xfrm>
            <a:off x="736582" y="3562261"/>
            <a:ext cx="203899" cy="95248"/>
          </a:xfrm>
          <a:prstGeom prst="rect">
            <a:avLst/>
          </a:prstGeom>
          <a:noFill/>
          <a:ln/>
        </p:spPr>
        <p:txBody>
          <a:bodyPr wrap="square" lIns="0" tIns="0" rIns="0" bIns="0" rtlCol="0" anchor="t"/>
          <a:lstStyle/>
          <a:p>
            <a:pPr algn="l" indent="0" marL="0">
              <a:lnSpc>
                <a:spcPts val="750"/>
              </a:lnSpc>
              <a:buNone/>
            </a:pPr>
            <a:r>
              <a:rPr lang="en-US" sz="750" dirty="0">
                <a:solidFill>
                  <a:srgbClr val="6E7D9A"/>
                </a:solidFill>
                <a:latin typeface="Arial" pitchFamily="34" charset="0"/>
                <a:ea typeface="Arial" pitchFamily="34" charset="-122"/>
                <a:cs typeface="Arial" pitchFamily="34" charset="-120"/>
              </a:rPr>
              <a:t>3.7</a:t>
            </a:r>
            <a:endParaRPr lang="en-US" sz="750" dirty="0"/>
          </a:p>
        </p:txBody>
      </p:sp>
      <p:sp>
        <p:nvSpPr>
          <p:cNvPr id="69" name="Text 21.68"/>
          <p:cNvSpPr txBox="1"/>
          <p:nvPr/>
        </p:nvSpPr>
        <p:spPr>
          <a:xfrm>
            <a:off x="1142971" y="3562261"/>
            <a:ext cx="2578036" cy="107947"/>
          </a:xfrm>
          <a:prstGeom prst="rect">
            <a:avLst/>
          </a:prstGeom>
          <a:noFill/>
          <a:ln/>
        </p:spPr>
        <p:txBody>
          <a:bodyPr wrap="square" lIns="0" tIns="0" rIns="0" bIns="0" rtlCol="0" anchor="t"/>
          <a:lstStyle/>
          <a:p>
            <a:pPr algn="l" indent="0" marL="0">
              <a:lnSpc>
                <a:spcPts val="850"/>
              </a:lnSpc>
              <a:buNone/>
            </a:pPr>
            <a:r>
              <a:rPr lang="en-US" sz="850" dirty="0">
                <a:solidFill>
                  <a:srgbClr val="16233F"/>
                </a:solidFill>
                <a:latin typeface="Arial" pitchFamily="34" charset="0"/>
                <a:ea typeface="Arial" pitchFamily="34" charset="-122"/>
                <a:cs typeface="Arial" pitchFamily="34" charset="-120"/>
              </a:rPr>
              <a:t>Round state machine &amp; rotation</a:t>
            </a:r>
            <a:endParaRPr lang="en-US" sz="850" dirty="0"/>
          </a:p>
        </p:txBody>
      </p:sp>
      <p:sp>
        <p:nvSpPr>
          <p:cNvPr id="70" name="Text 21.69"/>
          <p:cNvSpPr txBox="1"/>
          <p:nvPr/>
        </p:nvSpPr>
        <p:spPr>
          <a:xfrm>
            <a:off x="3746406" y="3530512"/>
            <a:ext cx="838179" cy="152396"/>
          </a:xfrm>
          <a:prstGeom prst="rect">
            <a:avLst/>
          </a:prstGeom>
          <a:noFill/>
          <a:ln/>
        </p:spPr>
        <p:txBody>
          <a:bodyPr wrap="square" lIns="0" tIns="0" rIns="0" bIns="0" rtlCol="0" anchor="ctr"/>
          <a:lstStyle/>
          <a:p>
            <a:pPr algn="ctr" indent="0" marL="0">
              <a:lnSpc>
                <a:spcPts val="650"/>
              </a:lnSpc>
              <a:buNone/>
            </a:pPr>
            <a:r>
              <a:rPr lang="en-US" sz="650" b="1" spc="13" kern="0" dirty="0">
                <a:solidFill>
                  <a:srgbClr val="43B832"/>
                </a:solidFill>
                <a:latin typeface="Arial" pitchFamily="34" charset="0"/>
                <a:ea typeface="Arial" pitchFamily="34" charset="-122"/>
                <a:cs typeface="Arial" pitchFamily="34" charset="-120"/>
              </a:rPr>
              <a:t>Kürşat</a:t>
            </a:r>
            <a:endParaRPr lang="en-US" sz="650" dirty="0"/>
          </a:p>
        </p:txBody>
      </p:sp>
      <p:sp>
        <p:nvSpPr>
          <p:cNvPr id="71" name="Text 21.70"/>
          <p:cNvSpPr txBox="1"/>
          <p:nvPr/>
        </p:nvSpPr>
        <p:spPr>
          <a:xfrm>
            <a:off x="4762381" y="3562261"/>
            <a:ext cx="457189" cy="95248"/>
          </a:xfrm>
          <a:prstGeom prst="rect">
            <a:avLst/>
          </a:prstGeom>
          <a:noFill/>
          <a:ln/>
        </p:spPr>
        <p:txBody>
          <a:bodyPr wrap="square" lIns="0" tIns="0" rIns="0" bIns="0" rtlCol="0" anchor="t"/>
          <a:lstStyle/>
          <a:p>
            <a:pPr algn="ctr" indent="0" marL="0">
              <a:lnSpc>
                <a:spcPts val="750"/>
              </a:lnSpc>
              <a:buNone/>
            </a:pPr>
            <a:r>
              <a:rPr lang="en-US" sz="750" dirty="0">
                <a:solidFill>
                  <a:srgbClr val="3B4A66"/>
                </a:solidFill>
                <a:latin typeface="Arial" pitchFamily="34" charset="0"/>
                <a:ea typeface="Arial" pitchFamily="34" charset="-122"/>
                <a:cs typeface="Arial" pitchFamily="34" charset="-120"/>
              </a:rPr>
              <a:t>2 wk</a:t>
            </a:r>
            <a:endParaRPr lang="en-US" sz="750" dirty="0"/>
          </a:p>
        </p:txBody>
      </p:sp>
      <p:sp>
        <p:nvSpPr>
          <p:cNvPr id="72" name="Text 21.71"/>
          <p:cNvSpPr txBox="1"/>
          <p:nvPr/>
        </p:nvSpPr>
        <p:spPr>
          <a:xfrm>
            <a:off x="5371966" y="3530512"/>
            <a:ext cx="482588" cy="152396"/>
          </a:xfrm>
          <a:prstGeom prst="rect">
            <a:avLst/>
          </a:prstGeom>
          <a:noFill/>
          <a:ln/>
        </p:spPr>
        <p:txBody>
          <a:bodyPr wrap="square" lIns="0" tIns="0" rIns="0" bIns="0" rtlCol="0" anchor="ctr"/>
          <a:lstStyle/>
          <a:p>
            <a:pPr algn="ctr" indent="0" marL="0">
              <a:lnSpc>
                <a:spcPts val="600"/>
              </a:lnSpc>
              <a:buNone/>
            </a:pPr>
            <a:r>
              <a:rPr lang="en-US" sz="600" b="1" spc="48" kern="0" dirty="0">
                <a:solidFill>
                  <a:srgbClr val="6E7D9A"/>
                </a:solidFill>
                <a:latin typeface="Arial" pitchFamily="34" charset="0"/>
                <a:ea typeface="Arial" pitchFamily="34" charset="-122"/>
                <a:cs typeface="Arial" pitchFamily="34" charset="-120"/>
              </a:rPr>
              <a:t>0%</a:t>
            </a:r>
            <a:endParaRPr lang="en-US" sz="600" dirty="0"/>
          </a:p>
        </p:txBody>
      </p:sp>
      <p:sp>
        <p:nvSpPr>
          <p:cNvPr id="73" name="Text 21.72"/>
          <p:cNvSpPr txBox="1"/>
          <p:nvPr/>
        </p:nvSpPr>
        <p:spPr>
          <a:xfrm>
            <a:off x="736582" y="3765456"/>
            <a:ext cx="203899" cy="95248"/>
          </a:xfrm>
          <a:prstGeom prst="rect">
            <a:avLst/>
          </a:prstGeom>
          <a:noFill/>
          <a:ln/>
        </p:spPr>
        <p:txBody>
          <a:bodyPr wrap="square" lIns="0" tIns="0" rIns="0" bIns="0" rtlCol="0" anchor="t"/>
          <a:lstStyle/>
          <a:p>
            <a:pPr algn="l" indent="0" marL="0">
              <a:lnSpc>
                <a:spcPts val="750"/>
              </a:lnSpc>
              <a:buNone/>
            </a:pPr>
            <a:r>
              <a:rPr lang="en-US" sz="750" dirty="0">
                <a:solidFill>
                  <a:srgbClr val="6E7D9A"/>
                </a:solidFill>
                <a:latin typeface="Arial" pitchFamily="34" charset="0"/>
                <a:ea typeface="Arial" pitchFamily="34" charset="-122"/>
                <a:cs typeface="Arial" pitchFamily="34" charset="-120"/>
              </a:rPr>
              <a:t>3.8</a:t>
            </a:r>
            <a:endParaRPr lang="en-US" sz="750" dirty="0"/>
          </a:p>
        </p:txBody>
      </p:sp>
      <p:sp>
        <p:nvSpPr>
          <p:cNvPr id="74" name="Text 21.73"/>
          <p:cNvSpPr txBox="1"/>
          <p:nvPr/>
        </p:nvSpPr>
        <p:spPr>
          <a:xfrm>
            <a:off x="1142971" y="3765456"/>
            <a:ext cx="2578036" cy="107947"/>
          </a:xfrm>
          <a:prstGeom prst="rect">
            <a:avLst/>
          </a:prstGeom>
          <a:noFill/>
          <a:ln/>
        </p:spPr>
        <p:txBody>
          <a:bodyPr wrap="square" lIns="0" tIns="0" rIns="0" bIns="0" rtlCol="0" anchor="t"/>
          <a:lstStyle/>
          <a:p>
            <a:pPr algn="l" indent="0" marL="0">
              <a:lnSpc>
                <a:spcPts val="850"/>
              </a:lnSpc>
              <a:buNone/>
            </a:pPr>
            <a:r>
              <a:rPr lang="en-US" sz="850" dirty="0">
                <a:solidFill>
                  <a:srgbClr val="16233F"/>
                </a:solidFill>
                <a:latin typeface="Arial" pitchFamily="34" charset="0"/>
                <a:ea typeface="Arial" pitchFamily="34" charset="-122"/>
                <a:cs typeface="Arial" pitchFamily="34" charset="-120"/>
              </a:rPr>
              <a:t>Scoreboard &amp; catch-up scoring</a:t>
            </a:r>
            <a:endParaRPr lang="en-US" sz="850" dirty="0"/>
          </a:p>
        </p:txBody>
      </p:sp>
      <p:sp>
        <p:nvSpPr>
          <p:cNvPr id="75" name="Text 21.74"/>
          <p:cNvSpPr txBox="1"/>
          <p:nvPr/>
        </p:nvSpPr>
        <p:spPr>
          <a:xfrm>
            <a:off x="3746406" y="3733707"/>
            <a:ext cx="838179" cy="152396"/>
          </a:xfrm>
          <a:prstGeom prst="rect">
            <a:avLst/>
          </a:prstGeom>
          <a:noFill/>
          <a:ln/>
        </p:spPr>
        <p:txBody>
          <a:bodyPr wrap="square" lIns="0" tIns="0" rIns="0" bIns="0" rtlCol="0" anchor="ctr"/>
          <a:lstStyle/>
          <a:p>
            <a:pPr algn="ctr" indent="0" marL="0">
              <a:lnSpc>
                <a:spcPts val="650"/>
              </a:lnSpc>
              <a:buNone/>
            </a:pPr>
            <a:r>
              <a:rPr lang="en-US" sz="650" b="1" spc="13" kern="0" dirty="0">
                <a:solidFill>
                  <a:srgbClr val="8F55F5"/>
                </a:solidFill>
                <a:latin typeface="Arial" pitchFamily="34" charset="0"/>
                <a:ea typeface="Arial" pitchFamily="34" charset="-122"/>
                <a:cs typeface="Arial" pitchFamily="34" charset="-120"/>
              </a:rPr>
              <a:t>Ardıl</a:t>
            </a:r>
            <a:endParaRPr lang="en-US" sz="650" dirty="0"/>
          </a:p>
        </p:txBody>
      </p:sp>
      <p:sp>
        <p:nvSpPr>
          <p:cNvPr id="76" name="Text 21.75"/>
          <p:cNvSpPr txBox="1"/>
          <p:nvPr/>
        </p:nvSpPr>
        <p:spPr>
          <a:xfrm>
            <a:off x="4762381" y="3765456"/>
            <a:ext cx="457189" cy="95248"/>
          </a:xfrm>
          <a:prstGeom prst="rect">
            <a:avLst/>
          </a:prstGeom>
          <a:noFill/>
          <a:ln/>
        </p:spPr>
        <p:txBody>
          <a:bodyPr wrap="square" lIns="0" tIns="0" rIns="0" bIns="0" rtlCol="0" anchor="t"/>
          <a:lstStyle/>
          <a:p>
            <a:pPr algn="ctr" indent="0" marL="0">
              <a:lnSpc>
                <a:spcPts val="750"/>
              </a:lnSpc>
              <a:buNone/>
            </a:pPr>
            <a:r>
              <a:rPr lang="en-US" sz="750" dirty="0">
                <a:solidFill>
                  <a:srgbClr val="3B4A66"/>
                </a:solidFill>
                <a:latin typeface="Arial" pitchFamily="34" charset="0"/>
                <a:ea typeface="Arial" pitchFamily="34" charset="-122"/>
                <a:cs typeface="Arial" pitchFamily="34" charset="-120"/>
              </a:rPr>
              <a:t>2 wk</a:t>
            </a:r>
            <a:endParaRPr lang="en-US" sz="750" dirty="0"/>
          </a:p>
        </p:txBody>
      </p:sp>
      <p:sp>
        <p:nvSpPr>
          <p:cNvPr id="77" name="Text 21.76"/>
          <p:cNvSpPr txBox="1"/>
          <p:nvPr/>
        </p:nvSpPr>
        <p:spPr>
          <a:xfrm>
            <a:off x="5371966" y="3733707"/>
            <a:ext cx="482588" cy="152396"/>
          </a:xfrm>
          <a:prstGeom prst="rect">
            <a:avLst/>
          </a:prstGeom>
          <a:noFill/>
          <a:ln/>
        </p:spPr>
        <p:txBody>
          <a:bodyPr wrap="square" lIns="0" tIns="0" rIns="0" bIns="0" rtlCol="0" anchor="ctr"/>
          <a:lstStyle/>
          <a:p>
            <a:pPr algn="ctr" indent="0" marL="0">
              <a:lnSpc>
                <a:spcPts val="600"/>
              </a:lnSpc>
              <a:buNone/>
            </a:pPr>
            <a:r>
              <a:rPr lang="en-US" sz="600" b="1" spc="48" kern="0" dirty="0">
                <a:solidFill>
                  <a:srgbClr val="6E7D9A"/>
                </a:solidFill>
                <a:latin typeface="Arial" pitchFamily="34" charset="0"/>
                <a:ea typeface="Arial" pitchFamily="34" charset="-122"/>
                <a:cs typeface="Arial" pitchFamily="34" charset="-120"/>
              </a:rPr>
              <a:t>0%</a:t>
            </a:r>
            <a:endParaRPr lang="en-US" sz="600" dirty="0"/>
          </a:p>
        </p:txBody>
      </p:sp>
      <p:sp>
        <p:nvSpPr>
          <p:cNvPr id="78" name="Text 21.77"/>
          <p:cNvSpPr txBox="1"/>
          <p:nvPr/>
        </p:nvSpPr>
        <p:spPr>
          <a:xfrm>
            <a:off x="736582" y="3968651"/>
            <a:ext cx="203899" cy="95248"/>
          </a:xfrm>
          <a:prstGeom prst="rect">
            <a:avLst/>
          </a:prstGeom>
          <a:noFill/>
          <a:ln/>
        </p:spPr>
        <p:txBody>
          <a:bodyPr wrap="square" lIns="0" tIns="0" rIns="0" bIns="0" rtlCol="0" anchor="t"/>
          <a:lstStyle/>
          <a:p>
            <a:pPr algn="l" indent="0" marL="0">
              <a:lnSpc>
                <a:spcPts val="750"/>
              </a:lnSpc>
              <a:buNone/>
            </a:pPr>
            <a:r>
              <a:rPr lang="en-US" sz="750" dirty="0">
                <a:solidFill>
                  <a:srgbClr val="6E7D9A"/>
                </a:solidFill>
                <a:latin typeface="Arial" pitchFamily="34" charset="0"/>
                <a:ea typeface="Arial" pitchFamily="34" charset="-122"/>
                <a:cs typeface="Arial" pitchFamily="34" charset="-120"/>
              </a:rPr>
              <a:t>3.9</a:t>
            </a:r>
            <a:endParaRPr lang="en-US" sz="750" dirty="0"/>
          </a:p>
        </p:txBody>
      </p:sp>
      <p:sp>
        <p:nvSpPr>
          <p:cNvPr id="79" name="Text 21.78"/>
          <p:cNvSpPr txBox="1"/>
          <p:nvPr/>
        </p:nvSpPr>
        <p:spPr>
          <a:xfrm>
            <a:off x="1142971" y="3968651"/>
            <a:ext cx="2578036" cy="107947"/>
          </a:xfrm>
          <a:prstGeom prst="rect">
            <a:avLst/>
          </a:prstGeom>
          <a:noFill/>
          <a:ln/>
        </p:spPr>
        <p:txBody>
          <a:bodyPr wrap="square" lIns="0" tIns="0" rIns="0" bIns="0" rtlCol="0" anchor="t"/>
          <a:lstStyle/>
          <a:p>
            <a:pPr algn="l" indent="0" marL="0">
              <a:lnSpc>
                <a:spcPts val="850"/>
              </a:lnSpc>
              <a:buNone/>
            </a:pPr>
            <a:r>
              <a:rPr lang="en-US" sz="850" dirty="0">
                <a:solidFill>
                  <a:srgbClr val="16233F"/>
                </a:solidFill>
                <a:latin typeface="Arial" pitchFamily="34" charset="0"/>
                <a:ea typeface="Arial" pitchFamily="34" charset="-122"/>
                <a:cs typeface="Arial" pitchFamily="34" charset="-120"/>
              </a:rPr>
              <a:t>First full-session playtest</a:t>
            </a:r>
            <a:endParaRPr lang="en-US" sz="850" dirty="0"/>
          </a:p>
        </p:txBody>
      </p:sp>
      <p:sp>
        <p:nvSpPr>
          <p:cNvPr id="80" name="Text 21.79"/>
          <p:cNvSpPr txBox="1"/>
          <p:nvPr/>
        </p:nvSpPr>
        <p:spPr>
          <a:xfrm>
            <a:off x="3746406" y="3936902"/>
            <a:ext cx="838179" cy="152396"/>
          </a:xfrm>
          <a:prstGeom prst="rect">
            <a:avLst/>
          </a:prstGeom>
          <a:noFill/>
          <a:ln/>
        </p:spPr>
        <p:txBody>
          <a:bodyPr wrap="square" lIns="0" tIns="0" rIns="0" bIns="0" rtlCol="0" anchor="ctr"/>
          <a:lstStyle/>
          <a:p>
            <a:pPr algn="ctr" indent="0" marL="0">
              <a:lnSpc>
                <a:spcPts val="650"/>
              </a:lnSpc>
              <a:buNone/>
            </a:pPr>
            <a:r>
              <a:rPr lang="en-US" sz="650" b="1" spc="13" kern="0" dirty="0">
                <a:solidFill>
                  <a:srgbClr val="3B4A66"/>
                </a:solidFill>
                <a:latin typeface="Arial" pitchFamily="34" charset="0"/>
                <a:ea typeface="Arial" pitchFamily="34" charset="-122"/>
                <a:cs typeface="Arial" pitchFamily="34" charset="-120"/>
              </a:rPr>
              <a:t>Team</a:t>
            </a:r>
            <a:endParaRPr lang="en-US" sz="650" dirty="0"/>
          </a:p>
        </p:txBody>
      </p:sp>
      <p:sp>
        <p:nvSpPr>
          <p:cNvPr id="81" name="Text 21.80"/>
          <p:cNvSpPr txBox="1"/>
          <p:nvPr/>
        </p:nvSpPr>
        <p:spPr>
          <a:xfrm>
            <a:off x="4762381" y="3968651"/>
            <a:ext cx="457189" cy="95248"/>
          </a:xfrm>
          <a:prstGeom prst="rect">
            <a:avLst/>
          </a:prstGeom>
          <a:noFill/>
          <a:ln/>
        </p:spPr>
        <p:txBody>
          <a:bodyPr wrap="square" lIns="0" tIns="0" rIns="0" bIns="0" rtlCol="0" anchor="t"/>
          <a:lstStyle/>
          <a:p>
            <a:pPr algn="ctr" indent="0" marL="0">
              <a:lnSpc>
                <a:spcPts val="750"/>
              </a:lnSpc>
              <a:buNone/>
            </a:pPr>
            <a:r>
              <a:rPr lang="en-US" sz="750" dirty="0">
                <a:solidFill>
                  <a:srgbClr val="3B4A66"/>
                </a:solidFill>
                <a:latin typeface="Arial" pitchFamily="34" charset="0"/>
                <a:ea typeface="Arial" pitchFamily="34" charset="-122"/>
                <a:cs typeface="Arial" pitchFamily="34" charset="-120"/>
              </a:rPr>
              <a:t>1 wk</a:t>
            </a:r>
            <a:endParaRPr lang="en-US" sz="750" dirty="0"/>
          </a:p>
        </p:txBody>
      </p:sp>
      <p:sp>
        <p:nvSpPr>
          <p:cNvPr id="82" name="Text 21.81"/>
          <p:cNvSpPr txBox="1"/>
          <p:nvPr/>
        </p:nvSpPr>
        <p:spPr>
          <a:xfrm>
            <a:off x="5371966" y="3936902"/>
            <a:ext cx="482588" cy="152396"/>
          </a:xfrm>
          <a:prstGeom prst="rect">
            <a:avLst/>
          </a:prstGeom>
          <a:noFill/>
          <a:ln/>
        </p:spPr>
        <p:txBody>
          <a:bodyPr wrap="square" lIns="0" tIns="0" rIns="0" bIns="0" rtlCol="0" anchor="ctr"/>
          <a:lstStyle/>
          <a:p>
            <a:pPr algn="ctr" indent="0" marL="0">
              <a:lnSpc>
                <a:spcPts val="600"/>
              </a:lnSpc>
              <a:buNone/>
            </a:pPr>
            <a:r>
              <a:rPr lang="en-US" sz="600" b="1" spc="48" kern="0" dirty="0">
                <a:solidFill>
                  <a:srgbClr val="6E7D9A"/>
                </a:solidFill>
                <a:latin typeface="Arial" pitchFamily="34" charset="0"/>
                <a:ea typeface="Arial" pitchFamily="34" charset="-122"/>
                <a:cs typeface="Arial" pitchFamily="34" charset="-120"/>
              </a:rPr>
              <a:t>0%</a:t>
            </a:r>
            <a:endParaRPr lang="en-US" sz="600" dirty="0"/>
          </a:p>
        </p:txBody>
      </p:sp>
      <p:sp>
        <p:nvSpPr>
          <p:cNvPr id="83" name="Text 21.82"/>
          <p:cNvSpPr txBox="1"/>
          <p:nvPr/>
        </p:nvSpPr>
        <p:spPr>
          <a:xfrm>
            <a:off x="736582" y="4171846"/>
            <a:ext cx="260060" cy="95248"/>
          </a:xfrm>
          <a:prstGeom prst="rect">
            <a:avLst/>
          </a:prstGeom>
          <a:noFill/>
          <a:ln/>
        </p:spPr>
        <p:txBody>
          <a:bodyPr wrap="square" lIns="0" tIns="0" rIns="0" bIns="0" rtlCol="0" anchor="t"/>
          <a:lstStyle/>
          <a:p>
            <a:pPr algn="l" indent="0" marL="0">
              <a:lnSpc>
                <a:spcPts val="750"/>
              </a:lnSpc>
              <a:buNone/>
            </a:pPr>
            <a:r>
              <a:rPr lang="en-US" sz="750" dirty="0">
                <a:solidFill>
                  <a:srgbClr val="6E7D9A"/>
                </a:solidFill>
                <a:latin typeface="Arial" pitchFamily="34" charset="0"/>
                <a:ea typeface="Arial" pitchFamily="34" charset="-122"/>
                <a:cs typeface="Arial" pitchFamily="34" charset="-120"/>
              </a:rPr>
              <a:t>3.10</a:t>
            </a:r>
            <a:endParaRPr lang="en-US" sz="750" dirty="0"/>
          </a:p>
        </p:txBody>
      </p:sp>
      <p:sp>
        <p:nvSpPr>
          <p:cNvPr id="84" name="Text 21.83"/>
          <p:cNvSpPr txBox="1"/>
          <p:nvPr/>
        </p:nvSpPr>
        <p:spPr>
          <a:xfrm>
            <a:off x="1142971" y="4171846"/>
            <a:ext cx="2578036" cy="107947"/>
          </a:xfrm>
          <a:prstGeom prst="rect">
            <a:avLst/>
          </a:prstGeom>
          <a:noFill/>
          <a:ln/>
        </p:spPr>
        <p:txBody>
          <a:bodyPr wrap="square" lIns="0" tIns="0" rIns="0" bIns="0" rtlCol="0" anchor="t"/>
          <a:lstStyle/>
          <a:p>
            <a:pPr algn="l" indent="0" marL="0">
              <a:lnSpc>
                <a:spcPts val="850"/>
              </a:lnSpc>
              <a:buNone/>
            </a:pPr>
            <a:r>
              <a:rPr lang="en-US" sz="850" dirty="0">
                <a:solidFill>
                  <a:srgbClr val="16233F"/>
                </a:solidFill>
                <a:latin typeface="Arial" pitchFamily="34" charset="0"/>
                <a:ea typeface="Arial" pitchFamily="34" charset="-122"/>
                <a:cs typeface="Arial" pitchFamily="34" charset="-120"/>
              </a:rPr>
              <a:t>Demo 2 build &amp; presentation</a:t>
            </a:r>
            <a:endParaRPr lang="en-US" sz="850" dirty="0"/>
          </a:p>
        </p:txBody>
      </p:sp>
      <p:sp>
        <p:nvSpPr>
          <p:cNvPr id="85" name="Text 21.84"/>
          <p:cNvSpPr txBox="1"/>
          <p:nvPr/>
        </p:nvSpPr>
        <p:spPr>
          <a:xfrm>
            <a:off x="3746406" y="4140096"/>
            <a:ext cx="838179" cy="152396"/>
          </a:xfrm>
          <a:prstGeom prst="rect">
            <a:avLst/>
          </a:prstGeom>
          <a:noFill/>
          <a:ln/>
        </p:spPr>
        <p:txBody>
          <a:bodyPr wrap="square" lIns="0" tIns="0" rIns="0" bIns="0" rtlCol="0" anchor="ctr"/>
          <a:lstStyle/>
          <a:p>
            <a:pPr algn="ctr" indent="0" marL="0">
              <a:lnSpc>
                <a:spcPts val="650"/>
              </a:lnSpc>
              <a:buNone/>
            </a:pPr>
            <a:r>
              <a:rPr lang="en-US" sz="650" b="1" spc="13" kern="0" dirty="0">
                <a:solidFill>
                  <a:srgbClr val="3B4A66"/>
                </a:solidFill>
                <a:latin typeface="Arial" pitchFamily="34" charset="0"/>
                <a:ea typeface="Arial" pitchFamily="34" charset="-122"/>
                <a:cs typeface="Arial" pitchFamily="34" charset="-120"/>
              </a:rPr>
              <a:t>Team</a:t>
            </a:r>
            <a:endParaRPr lang="en-US" sz="650" dirty="0"/>
          </a:p>
        </p:txBody>
      </p:sp>
      <p:sp>
        <p:nvSpPr>
          <p:cNvPr id="86" name="Text 21.85"/>
          <p:cNvSpPr txBox="1"/>
          <p:nvPr/>
        </p:nvSpPr>
        <p:spPr>
          <a:xfrm>
            <a:off x="4762381" y="4171846"/>
            <a:ext cx="457189" cy="95248"/>
          </a:xfrm>
          <a:prstGeom prst="rect">
            <a:avLst/>
          </a:prstGeom>
          <a:noFill/>
          <a:ln/>
        </p:spPr>
        <p:txBody>
          <a:bodyPr wrap="square" lIns="0" tIns="0" rIns="0" bIns="0" rtlCol="0" anchor="t"/>
          <a:lstStyle/>
          <a:p>
            <a:pPr algn="ctr" indent="0" marL="0">
              <a:lnSpc>
                <a:spcPts val="750"/>
              </a:lnSpc>
              <a:buNone/>
            </a:pPr>
            <a:r>
              <a:rPr lang="en-US" sz="750" dirty="0">
                <a:solidFill>
                  <a:srgbClr val="3B4A66"/>
                </a:solidFill>
                <a:latin typeface="Arial" pitchFamily="34" charset="0"/>
                <a:ea typeface="Arial" pitchFamily="34" charset="-122"/>
                <a:cs typeface="Arial" pitchFamily="34" charset="-120"/>
              </a:rPr>
              <a:t>1 wk</a:t>
            </a:r>
            <a:endParaRPr lang="en-US" sz="750" dirty="0"/>
          </a:p>
        </p:txBody>
      </p:sp>
      <p:sp>
        <p:nvSpPr>
          <p:cNvPr id="87" name="Text 21.86"/>
          <p:cNvSpPr txBox="1"/>
          <p:nvPr/>
        </p:nvSpPr>
        <p:spPr>
          <a:xfrm>
            <a:off x="5371966" y="4140096"/>
            <a:ext cx="482588" cy="152396"/>
          </a:xfrm>
          <a:prstGeom prst="rect">
            <a:avLst/>
          </a:prstGeom>
          <a:noFill/>
          <a:ln/>
        </p:spPr>
        <p:txBody>
          <a:bodyPr wrap="square" lIns="0" tIns="0" rIns="0" bIns="0" rtlCol="0" anchor="ctr"/>
          <a:lstStyle/>
          <a:p>
            <a:pPr algn="ctr" indent="0" marL="0">
              <a:lnSpc>
                <a:spcPts val="600"/>
              </a:lnSpc>
              <a:buNone/>
            </a:pPr>
            <a:r>
              <a:rPr lang="en-US" sz="600" b="1" spc="48" kern="0" dirty="0">
                <a:solidFill>
                  <a:srgbClr val="6E7D9A"/>
                </a:solidFill>
                <a:latin typeface="Arial" pitchFamily="34" charset="0"/>
                <a:ea typeface="Arial" pitchFamily="34" charset="-122"/>
                <a:cs typeface="Arial" pitchFamily="34" charset="-120"/>
              </a:rPr>
              <a:t>0%</a:t>
            </a:r>
            <a:endParaRPr lang="en-US" sz="600" dirty="0"/>
          </a:p>
        </p:txBody>
      </p:sp>
      <p:sp>
        <p:nvSpPr>
          <p:cNvPr id="88" name="Text 21.87"/>
          <p:cNvSpPr txBox="1"/>
          <p:nvPr/>
        </p:nvSpPr>
        <p:spPr>
          <a:xfrm>
            <a:off x="736582" y="4876678"/>
            <a:ext cx="380990" cy="91438"/>
          </a:xfrm>
          <a:prstGeom prst="rect">
            <a:avLst/>
          </a:prstGeom>
          <a:noFill/>
          <a:ln/>
        </p:spPr>
        <p:txBody>
          <a:bodyPr wrap="square" lIns="0" tIns="0" rIns="0" bIns="0" rtlCol="0" anchor="t"/>
          <a:lstStyle/>
          <a:p>
            <a:pPr algn="l" indent="0" marL="0">
              <a:lnSpc>
                <a:spcPts val="720"/>
              </a:lnSpc>
              <a:buNone/>
            </a:pPr>
            <a:r>
              <a:rPr lang="en-US" sz="600" b="1" spc="72" kern="0" dirty="0">
                <a:solidFill>
                  <a:srgbClr val="6E7D9A"/>
                </a:solidFill>
                <a:latin typeface="Arial" pitchFamily="34" charset="0"/>
                <a:ea typeface="Arial" pitchFamily="34" charset="-122"/>
                <a:cs typeface="Arial" pitchFamily="34" charset="-120"/>
              </a:rPr>
              <a:t>WBS</a:t>
            </a:r>
            <a:endParaRPr lang="en-US" sz="600" dirty="0"/>
          </a:p>
        </p:txBody>
      </p:sp>
      <p:sp>
        <p:nvSpPr>
          <p:cNvPr id="89" name="Text 21.88"/>
          <p:cNvSpPr txBox="1"/>
          <p:nvPr/>
        </p:nvSpPr>
        <p:spPr>
          <a:xfrm>
            <a:off x="1142971" y="4876678"/>
            <a:ext cx="2578036" cy="91438"/>
          </a:xfrm>
          <a:prstGeom prst="rect">
            <a:avLst/>
          </a:prstGeom>
          <a:noFill/>
          <a:ln/>
        </p:spPr>
        <p:txBody>
          <a:bodyPr wrap="square" lIns="0" tIns="0" rIns="0" bIns="0" rtlCol="0" anchor="t"/>
          <a:lstStyle/>
          <a:p>
            <a:pPr algn="l" indent="0" marL="0">
              <a:lnSpc>
                <a:spcPts val="720"/>
              </a:lnSpc>
              <a:buNone/>
            </a:pPr>
            <a:r>
              <a:rPr lang="en-US" sz="600" b="1" spc="72" kern="0" dirty="0">
                <a:solidFill>
                  <a:srgbClr val="6E7D9A"/>
                </a:solidFill>
                <a:latin typeface="Arial" pitchFamily="34" charset="0"/>
                <a:ea typeface="Arial" pitchFamily="34" charset="-122"/>
                <a:cs typeface="Arial" pitchFamily="34" charset="-120"/>
              </a:rPr>
              <a:t>TASK TITLE</a:t>
            </a:r>
            <a:endParaRPr lang="en-US" sz="600" dirty="0"/>
          </a:p>
        </p:txBody>
      </p:sp>
      <p:sp>
        <p:nvSpPr>
          <p:cNvPr id="90" name="Text 21.89"/>
          <p:cNvSpPr txBox="1"/>
          <p:nvPr/>
        </p:nvSpPr>
        <p:spPr>
          <a:xfrm>
            <a:off x="3746406" y="4876678"/>
            <a:ext cx="990575" cy="91438"/>
          </a:xfrm>
          <a:prstGeom prst="rect">
            <a:avLst/>
          </a:prstGeom>
          <a:noFill/>
          <a:ln/>
        </p:spPr>
        <p:txBody>
          <a:bodyPr wrap="square" lIns="0" tIns="0" rIns="0" bIns="0" rtlCol="0" anchor="t"/>
          <a:lstStyle/>
          <a:p>
            <a:pPr algn="l" indent="0" marL="0">
              <a:lnSpc>
                <a:spcPts val="720"/>
              </a:lnSpc>
              <a:buNone/>
            </a:pPr>
            <a:r>
              <a:rPr lang="en-US" sz="600" b="1" spc="72" kern="0" dirty="0">
                <a:solidFill>
                  <a:srgbClr val="6E7D9A"/>
                </a:solidFill>
                <a:latin typeface="Arial" pitchFamily="34" charset="0"/>
                <a:ea typeface="Arial" pitchFamily="34" charset="-122"/>
                <a:cs typeface="Arial" pitchFamily="34" charset="-120"/>
              </a:rPr>
              <a:t>OWNER</a:t>
            </a:r>
            <a:endParaRPr lang="en-US" sz="600" dirty="0"/>
          </a:p>
        </p:txBody>
      </p:sp>
      <p:sp>
        <p:nvSpPr>
          <p:cNvPr id="91" name="Text 21.90"/>
          <p:cNvSpPr txBox="1"/>
          <p:nvPr/>
        </p:nvSpPr>
        <p:spPr>
          <a:xfrm>
            <a:off x="4762381" y="4876678"/>
            <a:ext cx="584185" cy="91438"/>
          </a:xfrm>
          <a:prstGeom prst="rect">
            <a:avLst/>
          </a:prstGeom>
          <a:noFill/>
          <a:ln/>
        </p:spPr>
        <p:txBody>
          <a:bodyPr wrap="square" lIns="0" tIns="0" rIns="0" bIns="0" rtlCol="0" anchor="t"/>
          <a:lstStyle/>
          <a:p>
            <a:pPr algn="l" indent="0" marL="0">
              <a:lnSpc>
                <a:spcPts val="720"/>
              </a:lnSpc>
              <a:buNone/>
            </a:pPr>
            <a:r>
              <a:rPr lang="en-US" sz="600" b="1" spc="72" kern="0" dirty="0">
                <a:solidFill>
                  <a:srgbClr val="6E7D9A"/>
                </a:solidFill>
                <a:latin typeface="Arial" pitchFamily="34" charset="0"/>
                <a:ea typeface="Arial" pitchFamily="34" charset="-122"/>
                <a:cs typeface="Arial" pitchFamily="34" charset="-120"/>
              </a:rPr>
              <a:t>DURATION</a:t>
            </a:r>
            <a:endParaRPr lang="en-US" sz="600" dirty="0"/>
          </a:p>
        </p:txBody>
      </p:sp>
      <p:sp>
        <p:nvSpPr>
          <p:cNvPr id="92" name="Text 21.91"/>
          <p:cNvSpPr txBox="1"/>
          <p:nvPr/>
        </p:nvSpPr>
        <p:spPr>
          <a:xfrm>
            <a:off x="5371966" y="4876678"/>
            <a:ext cx="634984" cy="91438"/>
          </a:xfrm>
          <a:prstGeom prst="rect">
            <a:avLst/>
          </a:prstGeom>
          <a:noFill/>
          <a:ln/>
        </p:spPr>
        <p:txBody>
          <a:bodyPr wrap="square" lIns="0" tIns="0" rIns="0" bIns="0" rtlCol="0" anchor="t"/>
          <a:lstStyle/>
          <a:p>
            <a:pPr algn="l" indent="0" marL="0">
              <a:lnSpc>
                <a:spcPts val="720"/>
              </a:lnSpc>
              <a:buNone/>
            </a:pPr>
            <a:r>
              <a:rPr lang="en-US" sz="600" b="1" spc="72" kern="0" dirty="0">
                <a:solidFill>
                  <a:srgbClr val="6E7D9A"/>
                </a:solidFill>
                <a:latin typeface="Arial" pitchFamily="34" charset="0"/>
                <a:ea typeface="Arial" pitchFamily="34" charset="-122"/>
                <a:cs typeface="Arial" pitchFamily="34" charset="-120"/>
              </a:rPr>
              <a:t>COMPLETE</a:t>
            </a:r>
            <a:endParaRPr lang="en-US" sz="600" dirty="0"/>
          </a:p>
        </p:txBody>
      </p:sp>
      <p:sp>
        <p:nvSpPr>
          <p:cNvPr id="93" name="Text 21.92"/>
          <p:cNvSpPr txBox="1"/>
          <p:nvPr/>
        </p:nvSpPr>
        <p:spPr>
          <a:xfrm>
            <a:off x="6095848" y="4635384"/>
            <a:ext cx="1339817" cy="106677"/>
          </a:xfrm>
          <a:prstGeom prst="rect">
            <a:avLst/>
          </a:prstGeom>
          <a:noFill/>
          <a:ln/>
        </p:spPr>
        <p:txBody>
          <a:bodyPr wrap="square" lIns="0" tIns="0" rIns="0" bIns="0" rtlCol="0" anchor="t"/>
          <a:lstStyle/>
          <a:p>
            <a:pPr algn="ctr" indent="0" marL="0">
              <a:lnSpc>
                <a:spcPts val="840"/>
              </a:lnSpc>
              <a:buNone/>
            </a:pPr>
            <a:r>
              <a:rPr lang="en-US" sz="700" b="1" dirty="0">
                <a:solidFill>
                  <a:srgbClr val="16233F"/>
                </a:solidFill>
                <a:latin typeface="Arial" pitchFamily="34" charset="0"/>
                <a:ea typeface="Arial" pitchFamily="34" charset="-122"/>
                <a:cs typeface="Arial" pitchFamily="34" charset="-120"/>
              </a:rPr>
              <a:t>14–18 Dec</a:t>
            </a:r>
            <a:endParaRPr lang="en-US" sz="700" dirty="0"/>
          </a:p>
        </p:txBody>
      </p:sp>
      <p:sp>
        <p:nvSpPr>
          <p:cNvPr id="94" name="Text 21.93"/>
          <p:cNvSpPr txBox="1"/>
          <p:nvPr/>
        </p:nvSpPr>
        <p:spPr>
          <a:xfrm>
            <a:off x="6114897" y="4787780"/>
            <a:ext cx="1301717" cy="165096"/>
          </a:xfrm>
          <a:prstGeom prst="rect">
            <a:avLst/>
          </a:prstGeom>
          <a:noFill/>
          <a:ln/>
        </p:spPr>
        <p:txBody>
          <a:bodyPr wrap="square" lIns="0" tIns="0" rIns="0" bIns="0" rtlCol="0" anchor="ctr"/>
          <a:lstStyle/>
          <a:p>
            <a:pPr algn="ctr" indent="0" marL="0">
              <a:lnSpc>
                <a:spcPts val="650"/>
              </a:lnSpc>
              <a:buNone/>
            </a:pPr>
            <a:r>
              <a:rPr lang="en-US" sz="650" b="1" spc="65" kern="0" dirty="0">
                <a:solidFill>
                  <a:srgbClr val="FFFFFF"/>
                </a:solidFill>
                <a:latin typeface="Arial" pitchFamily="34" charset="0"/>
                <a:ea typeface="Arial" pitchFamily="34" charset="-122"/>
                <a:cs typeface="Arial" pitchFamily="34" charset="-120"/>
              </a:rPr>
              <a:t>WEEK 11</a:t>
            </a:r>
            <a:endParaRPr lang="en-US" sz="650" dirty="0"/>
          </a:p>
        </p:txBody>
      </p:sp>
      <p:sp>
        <p:nvSpPr>
          <p:cNvPr id="95" name="Text 21.94"/>
          <p:cNvSpPr txBox="1"/>
          <p:nvPr/>
        </p:nvSpPr>
        <p:spPr>
          <a:xfrm>
            <a:off x="6095848" y="4978276"/>
            <a:ext cx="267884"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M</a:t>
            </a:r>
            <a:endParaRPr lang="en-US" sz="600" dirty="0"/>
          </a:p>
        </p:txBody>
      </p:sp>
      <p:sp>
        <p:nvSpPr>
          <p:cNvPr id="96" name="Text 21.95"/>
          <p:cNvSpPr txBox="1"/>
          <p:nvPr/>
        </p:nvSpPr>
        <p:spPr>
          <a:xfrm>
            <a:off x="6363732" y="4978276"/>
            <a:ext cx="267884"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T</a:t>
            </a:r>
            <a:endParaRPr lang="en-US" sz="600" dirty="0"/>
          </a:p>
        </p:txBody>
      </p:sp>
      <p:sp>
        <p:nvSpPr>
          <p:cNvPr id="97" name="Text 21.96"/>
          <p:cNvSpPr txBox="1"/>
          <p:nvPr/>
        </p:nvSpPr>
        <p:spPr>
          <a:xfrm>
            <a:off x="6631715" y="4978276"/>
            <a:ext cx="267884"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W</a:t>
            </a:r>
            <a:endParaRPr lang="en-US" sz="600" dirty="0"/>
          </a:p>
        </p:txBody>
      </p:sp>
      <p:sp>
        <p:nvSpPr>
          <p:cNvPr id="98" name="Text 21.97"/>
          <p:cNvSpPr txBox="1"/>
          <p:nvPr/>
        </p:nvSpPr>
        <p:spPr>
          <a:xfrm>
            <a:off x="6899698" y="4978276"/>
            <a:ext cx="267884"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T</a:t>
            </a:r>
            <a:endParaRPr lang="en-US" sz="600" dirty="0"/>
          </a:p>
        </p:txBody>
      </p:sp>
      <p:sp>
        <p:nvSpPr>
          <p:cNvPr id="99" name="Text 21.98"/>
          <p:cNvSpPr txBox="1"/>
          <p:nvPr/>
        </p:nvSpPr>
        <p:spPr>
          <a:xfrm>
            <a:off x="7167681" y="4978276"/>
            <a:ext cx="267884"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F</a:t>
            </a:r>
            <a:endParaRPr lang="en-US" sz="600" dirty="0"/>
          </a:p>
        </p:txBody>
      </p:sp>
      <p:sp>
        <p:nvSpPr>
          <p:cNvPr id="100" name="Text 21.99"/>
          <p:cNvSpPr txBox="1"/>
          <p:nvPr/>
        </p:nvSpPr>
        <p:spPr>
          <a:xfrm>
            <a:off x="7435664" y="4635384"/>
            <a:ext cx="1339817" cy="106677"/>
          </a:xfrm>
          <a:prstGeom prst="rect">
            <a:avLst/>
          </a:prstGeom>
          <a:noFill/>
          <a:ln/>
        </p:spPr>
        <p:txBody>
          <a:bodyPr wrap="square" lIns="0" tIns="0" rIns="0" bIns="0" rtlCol="0" anchor="t"/>
          <a:lstStyle/>
          <a:p>
            <a:pPr algn="ctr" indent="0" marL="0">
              <a:lnSpc>
                <a:spcPts val="840"/>
              </a:lnSpc>
              <a:buNone/>
            </a:pPr>
            <a:r>
              <a:rPr lang="en-US" sz="700" b="1" dirty="0">
                <a:solidFill>
                  <a:srgbClr val="16233F"/>
                </a:solidFill>
                <a:latin typeface="Arial" pitchFamily="34" charset="0"/>
                <a:ea typeface="Arial" pitchFamily="34" charset="-122"/>
                <a:cs typeface="Arial" pitchFamily="34" charset="-120"/>
              </a:rPr>
              <a:t>21–25 Dec</a:t>
            </a:r>
            <a:endParaRPr lang="en-US" sz="700" dirty="0"/>
          </a:p>
        </p:txBody>
      </p:sp>
      <p:sp>
        <p:nvSpPr>
          <p:cNvPr id="101" name="Text 21.100"/>
          <p:cNvSpPr txBox="1"/>
          <p:nvPr/>
        </p:nvSpPr>
        <p:spPr>
          <a:xfrm>
            <a:off x="7454714" y="4787780"/>
            <a:ext cx="1301717" cy="165096"/>
          </a:xfrm>
          <a:prstGeom prst="rect">
            <a:avLst/>
          </a:prstGeom>
          <a:noFill/>
          <a:ln/>
        </p:spPr>
        <p:txBody>
          <a:bodyPr wrap="square" lIns="0" tIns="0" rIns="0" bIns="0" rtlCol="0" anchor="ctr"/>
          <a:lstStyle/>
          <a:p>
            <a:pPr algn="ctr" indent="0" marL="0">
              <a:lnSpc>
                <a:spcPts val="650"/>
              </a:lnSpc>
              <a:buNone/>
            </a:pPr>
            <a:r>
              <a:rPr lang="en-US" sz="650" b="1" spc="65" kern="0" dirty="0">
                <a:solidFill>
                  <a:srgbClr val="FFFFFF"/>
                </a:solidFill>
                <a:latin typeface="Arial" pitchFamily="34" charset="0"/>
                <a:ea typeface="Arial" pitchFamily="34" charset="-122"/>
                <a:cs typeface="Arial" pitchFamily="34" charset="-120"/>
              </a:rPr>
              <a:t>WEEK 12</a:t>
            </a:r>
            <a:endParaRPr lang="en-US" sz="650" dirty="0"/>
          </a:p>
        </p:txBody>
      </p:sp>
      <p:sp>
        <p:nvSpPr>
          <p:cNvPr id="102" name="Text 21.101"/>
          <p:cNvSpPr txBox="1"/>
          <p:nvPr/>
        </p:nvSpPr>
        <p:spPr>
          <a:xfrm>
            <a:off x="7435664" y="4978276"/>
            <a:ext cx="267884"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M</a:t>
            </a:r>
            <a:endParaRPr lang="en-US" sz="600" dirty="0"/>
          </a:p>
        </p:txBody>
      </p:sp>
      <p:sp>
        <p:nvSpPr>
          <p:cNvPr id="103" name="Text 21.102"/>
          <p:cNvSpPr txBox="1"/>
          <p:nvPr/>
        </p:nvSpPr>
        <p:spPr>
          <a:xfrm>
            <a:off x="7703548" y="4978276"/>
            <a:ext cx="267884"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T</a:t>
            </a:r>
            <a:endParaRPr lang="en-US" sz="600" dirty="0"/>
          </a:p>
        </p:txBody>
      </p:sp>
      <p:sp>
        <p:nvSpPr>
          <p:cNvPr id="104" name="Text 21.103"/>
          <p:cNvSpPr txBox="1"/>
          <p:nvPr/>
        </p:nvSpPr>
        <p:spPr>
          <a:xfrm>
            <a:off x="7971531" y="4978276"/>
            <a:ext cx="267884"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W</a:t>
            </a:r>
            <a:endParaRPr lang="en-US" sz="600" dirty="0"/>
          </a:p>
        </p:txBody>
      </p:sp>
      <p:sp>
        <p:nvSpPr>
          <p:cNvPr id="105" name="Text 21.104"/>
          <p:cNvSpPr txBox="1"/>
          <p:nvPr/>
        </p:nvSpPr>
        <p:spPr>
          <a:xfrm>
            <a:off x="8239514" y="4978276"/>
            <a:ext cx="267884"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T</a:t>
            </a:r>
            <a:endParaRPr lang="en-US" sz="600" dirty="0"/>
          </a:p>
        </p:txBody>
      </p:sp>
      <p:sp>
        <p:nvSpPr>
          <p:cNvPr id="106" name="Text 21.105"/>
          <p:cNvSpPr txBox="1"/>
          <p:nvPr/>
        </p:nvSpPr>
        <p:spPr>
          <a:xfrm>
            <a:off x="8507497" y="4978276"/>
            <a:ext cx="267884"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F</a:t>
            </a:r>
            <a:endParaRPr lang="en-US" sz="600" dirty="0"/>
          </a:p>
        </p:txBody>
      </p:sp>
      <p:sp>
        <p:nvSpPr>
          <p:cNvPr id="107" name="Text 21.106"/>
          <p:cNvSpPr txBox="1"/>
          <p:nvPr/>
        </p:nvSpPr>
        <p:spPr>
          <a:xfrm>
            <a:off x="8775481" y="4635384"/>
            <a:ext cx="1339817" cy="106677"/>
          </a:xfrm>
          <a:prstGeom prst="rect">
            <a:avLst/>
          </a:prstGeom>
          <a:noFill/>
          <a:ln/>
        </p:spPr>
        <p:txBody>
          <a:bodyPr wrap="square" lIns="0" tIns="0" rIns="0" bIns="0" rtlCol="0" anchor="t"/>
          <a:lstStyle/>
          <a:p>
            <a:pPr algn="ctr" indent="0" marL="0">
              <a:lnSpc>
                <a:spcPts val="840"/>
              </a:lnSpc>
              <a:buNone/>
            </a:pPr>
            <a:r>
              <a:rPr lang="en-US" sz="700" b="1" dirty="0">
                <a:solidFill>
                  <a:srgbClr val="16233F"/>
                </a:solidFill>
                <a:latin typeface="Arial" pitchFamily="34" charset="0"/>
                <a:ea typeface="Arial" pitchFamily="34" charset="-122"/>
                <a:cs typeface="Arial" pitchFamily="34" charset="-120"/>
              </a:rPr>
              <a:t>28 Dec–1 Jan</a:t>
            </a:r>
            <a:endParaRPr lang="en-US" sz="700" dirty="0"/>
          </a:p>
        </p:txBody>
      </p:sp>
      <p:sp>
        <p:nvSpPr>
          <p:cNvPr id="108" name="Text 21.107"/>
          <p:cNvSpPr txBox="1"/>
          <p:nvPr/>
        </p:nvSpPr>
        <p:spPr>
          <a:xfrm>
            <a:off x="8794530" y="4787780"/>
            <a:ext cx="1301717" cy="165096"/>
          </a:xfrm>
          <a:prstGeom prst="rect">
            <a:avLst/>
          </a:prstGeom>
          <a:noFill/>
          <a:ln/>
        </p:spPr>
        <p:txBody>
          <a:bodyPr wrap="square" lIns="0" tIns="0" rIns="0" bIns="0" rtlCol="0" anchor="ctr"/>
          <a:lstStyle/>
          <a:p>
            <a:pPr algn="ctr" indent="0" marL="0">
              <a:lnSpc>
                <a:spcPts val="650"/>
              </a:lnSpc>
              <a:buNone/>
            </a:pPr>
            <a:r>
              <a:rPr lang="en-US" sz="650" b="1" spc="65" kern="0" dirty="0">
                <a:solidFill>
                  <a:srgbClr val="FFFFFF"/>
                </a:solidFill>
                <a:latin typeface="Arial" pitchFamily="34" charset="0"/>
                <a:ea typeface="Arial" pitchFamily="34" charset="-122"/>
                <a:cs typeface="Arial" pitchFamily="34" charset="-120"/>
              </a:rPr>
              <a:t>WEEK 13</a:t>
            </a:r>
            <a:endParaRPr lang="en-US" sz="650" dirty="0"/>
          </a:p>
        </p:txBody>
      </p:sp>
      <p:sp>
        <p:nvSpPr>
          <p:cNvPr id="109" name="Text 21.108"/>
          <p:cNvSpPr txBox="1"/>
          <p:nvPr/>
        </p:nvSpPr>
        <p:spPr>
          <a:xfrm>
            <a:off x="8775481" y="4978276"/>
            <a:ext cx="267884"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M</a:t>
            </a:r>
            <a:endParaRPr lang="en-US" sz="600" dirty="0"/>
          </a:p>
        </p:txBody>
      </p:sp>
      <p:sp>
        <p:nvSpPr>
          <p:cNvPr id="110" name="Text 21.109"/>
          <p:cNvSpPr txBox="1"/>
          <p:nvPr/>
        </p:nvSpPr>
        <p:spPr>
          <a:xfrm>
            <a:off x="9043365" y="4978276"/>
            <a:ext cx="267884"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T</a:t>
            </a:r>
            <a:endParaRPr lang="en-US" sz="600" dirty="0"/>
          </a:p>
        </p:txBody>
      </p:sp>
      <p:sp>
        <p:nvSpPr>
          <p:cNvPr id="111" name="Text 21.110"/>
          <p:cNvSpPr txBox="1"/>
          <p:nvPr/>
        </p:nvSpPr>
        <p:spPr>
          <a:xfrm>
            <a:off x="9311348" y="4978276"/>
            <a:ext cx="267884"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W</a:t>
            </a:r>
            <a:endParaRPr lang="en-US" sz="600" dirty="0"/>
          </a:p>
        </p:txBody>
      </p:sp>
      <p:sp>
        <p:nvSpPr>
          <p:cNvPr id="112" name="Text 21.111"/>
          <p:cNvSpPr txBox="1"/>
          <p:nvPr/>
        </p:nvSpPr>
        <p:spPr>
          <a:xfrm>
            <a:off x="9579331" y="4978276"/>
            <a:ext cx="267884"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T</a:t>
            </a:r>
            <a:endParaRPr lang="en-US" sz="600" dirty="0"/>
          </a:p>
        </p:txBody>
      </p:sp>
      <p:sp>
        <p:nvSpPr>
          <p:cNvPr id="113" name="Text 21.112"/>
          <p:cNvSpPr txBox="1"/>
          <p:nvPr/>
        </p:nvSpPr>
        <p:spPr>
          <a:xfrm>
            <a:off x="9847314" y="4978276"/>
            <a:ext cx="267884"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F</a:t>
            </a:r>
            <a:endParaRPr lang="en-US" sz="600" dirty="0"/>
          </a:p>
        </p:txBody>
      </p:sp>
      <p:sp>
        <p:nvSpPr>
          <p:cNvPr id="114" name="Text 21.113"/>
          <p:cNvSpPr txBox="1"/>
          <p:nvPr/>
        </p:nvSpPr>
        <p:spPr>
          <a:xfrm>
            <a:off x="10115297" y="4635384"/>
            <a:ext cx="1339817" cy="106677"/>
          </a:xfrm>
          <a:prstGeom prst="rect">
            <a:avLst/>
          </a:prstGeom>
          <a:noFill/>
          <a:ln/>
        </p:spPr>
        <p:txBody>
          <a:bodyPr wrap="square" lIns="0" tIns="0" rIns="0" bIns="0" rtlCol="0" anchor="t"/>
          <a:lstStyle/>
          <a:p>
            <a:pPr algn="ctr" indent="0" marL="0">
              <a:lnSpc>
                <a:spcPts val="840"/>
              </a:lnSpc>
              <a:buNone/>
            </a:pPr>
            <a:r>
              <a:rPr lang="en-US" sz="700" b="1" dirty="0">
                <a:solidFill>
                  <a:srgbClr val="16233F"/>
                </a:solidFill>
                <a:latin typeface="Arial" pitchFamily="34" charset="0"/>
                <a:ea typeface="Arial" pitchFamily="34" charset="-122"/>
                <a:cs typeface="Arial" pitchFamily="34" charset="-120"/>
              </a:rPr>
              <a:t>4–8 Jan</a:t>
            </a:r>
            <a:endParaRPr lang="en-US" sz="700" dirty="0"/>
          </a:p>
        </p:txBody>
      </p:sp>
      <p:sp>
        <p:nvSpPr>
          <p:cNvPr id="115" name="Text 21.114"/>
          <p:cNvSpPr txBox="1"/>
          <p:nvPr/>
        </p:nvSpPr>
        <p:spPr>
          <a:xfrm>
            <a:off x="10134347" y="4787780"/>
            <a:ext cx="1301717" cy="165096"/>
          </a:xfrm>
          <a:prstGeom prst="rect">
            <a:avLst/>
          </a:prstGeom>
          <a:noFill/>
          <a:ln/>
        </p:spPr>
        <p:txBody>
          <a:bodyPr wrap="square" lIns="0" tIns="0" rIns="0" bIns="0" rtlCol="0" anchor="ctr"/>
          <a:lstStyle/>
          <a:p>
            <a:pPr algn="ctr" indent="0" marL="0">
              <a:lnSpc>
                <a:spcPts val="650"/>
              </a:lnSpc>
              <a:buNone/>
            </a:pPr>
            <a:r>
              <a:rPr lang="en-US" sz="650" b="1" spc="65" kern="0" dirty="0">
                <a:solidFill>
                  <a:srgbClr val="FFFFFF"/>
                </a:solidFill>
                <a:latin typeface="Arial" pitchFamily="34" charset="0"/>
                <a:ea typeface="Arial" pitchFamily="34" charset="-122"/>
                <a:cs typeface="Arial" pitchFamily="34" charset="-120"/>
              </a:rPr>
              <a:t>WEEK 14</a:t>
            </a:r>
            <a:endParaRPr lang="en-US" sz="650" dirty="0"/>
          </a:p>
        </p:txBody>
      </p:sp>
      <p:sp>
        <p:nvSpPr>
          <p:cNvPr id="116" name="Text 21.115"/>
          <p:cNvSpPr txBox="1"/>
          <p:nvPr/>
        </p:nvSpPr>
        <p:spPr>
          <a:xfrm>
            <a:off x="10115297" y="4978276"/>
            <a:ext cx="267884"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M</a:t>
            </a:r>
            <a:endParaRPr lang="en-US" sz="600" dirty="0"/>
          </a:p>
        </p:txBody>
      </p:sp>
      <p:sp>
        <p:nvSpPr>
          <p:cNvPr id="117" name="Text 21.116"/>
          <p:cNvSpPr txBox="1"/>
          <p:nvPr/>
        </p:nvSpPr>
        <p:spPr>
          <a:xfrm>
            <a:off x="10383181" y="4978276"/>
            <a:ext cx="267884"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T</a:t>
            </a:r>
            <a:endParaRPr lang="en-US" sz="600" dirty="0"/>
          </a:p>
        </p:txBody>
      </p:sp>
      <p:sp>
        <p:nvSpPr>
          <p:cNvPr id="118" name="Text 21.117"/>
          <p:cNvSpPr txBox="1"/>
          <p:nvPr/>
        </p:nvSpPr>
        <p:spPr>
          <a:xfrm>
            <a:off x="10651164" y="4978276"/>
            <a:ext cx="267884"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W</a:t>
            </a:r>
            <a:endParaRPr lang="en-US" sz="600" dirty="0"/>
          </a:p>
        </p:txBody>
      </p:sp>
      <p:sp>
        <p:nvSpPr>
          <p:cNvPr id="119" name="Text 21.118"/>
          <p:cNvSpPr txBox="1"/>
          <p:nvPr/>
        </p:nvSpPr>
        <p:spPr>
          <a:xfrm>
            <a:off x="10919147" y="4978276"/>
            <a:ext cx="267884"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T</a:t>
            </a:r>
            <a:endParaRPr lang="en-US" sz="600" dirty="0"/>
          </a:p>
        </p:txBody>
      </p:sp>
      <p:sp>
        <p:nvSpPr>
          <p:cNvPr id="120" name="Text 21.119"/>
          <p:cNvSpPr txBox="1"/>
          <p:nvPr/>
        </p:nvSpPr>
        <p:spPr>
          <a:xfrm>
            <a:off x="11187130" y="4978276"/>
            <a:ext cx="267884" cy="165096"/>
          </a:xfrm>
          <a:prstGeom prst="rect">
            <a:avLst/>
          </a:prstGeom>
          <a:noFill/>
          <a:ln/>
        </p:spPr>
        <p:txBody>
          <a:bodyPr wrap="square" lIns="0" tIns="0" rIns="0" bIns="0" rtlCol="0" anchor="ctr"/>
          <a:lstStyle/>
          <a:p>
            <a:pPr algn="ctr" indent="0" marL="0">
              <a:lnSpc>
                <a:spcPts val="600"/>
              </a:lnSpc>
              <a:buNone/>
            </a:pPr>
            <a:r>
              <a:rPr lang="en-US" sz="600" b="1" dirty="0">
                <a:solidFill>
                  <a:srgbClr val="6E7D9A"/>
                </a:solidFill>
                <a:latin typeface="Arial" pitchFamily="34" charset="0"/>
                <a:ea typeface="Arial" pitchFamily="34" charset="-122"/>
                <a:cs typeface="Arial" pitchFamily="34" charset="-120"/>
              </a:rPr>
              <a:t>F</a:t>
            </a:r>
            <a:endParaRPr lang="en-US" sz="600" dirty="0"/>
          </a:p>
        </p:txBody>
      </p:sp>
      <p:sp>
        <p:nvSpPr>
          <p:cNvPr id="121" name="Text 21.120"/>
          <p:cNvSpPr txBox="1"/>
          <p:nvPr/>
        </p:nvSpPr>
        <p:spPr>
          <a:xfrm>
            <a:off x="736582" y="5187820"/>
            <a:ext cx="139536" cy="120647"/>
          </a:xfrm>
          <a:prstGeom prst="rect">
            <a:avLst/>
          </a:prstGeom>
          <a:noFill/>
          <a:ln/>
        </p:spPr>
        <p:txBody>
          <a:bodyPr wrap="square" lIns="0" tIns="0" rIns="0" bIns="0" rtlCol="0" anchor="t"/>
          <a:lstStyle/>
          <a:p>
            <a:pPr algn="l" indent="0" marL="0">
              <a:lnSpc>
                <a:spcPts val="950"/>
              </a:lnSpc>
              <a:buNone/>
            </a:pPr>
            <a:r>
              <a:rPr lang="en-US" sz="950" dirty="0">
                <a:solidFill>
                  <a:srgbClr val="16233F"/>
                </a:solidFill>
                <a:latin typeface="Arial Rounded MT Bold" pitchFamily="34" charset="0"/>
                <a:ea typeface="Arial Rounded MT Bold" pitchFamily="34" charset="-122"/>
                <a:cs typeface="Arial Rounded MT Bold" pitchFamily="34" charset="-120"/>
              </a:rPr>
              <a:t>4</a:t>
            </a:r>
            <a:endParaRPr lang="en-US" sz="950" dirty="0"/>
          </a:p>
        </p:txBody>
      </p:sp>
      <p:sp>
        <p:nvSpPr>
          <p:cNvPr id="122" name="Text 21.121"/>
          <p:cNvSpPr txBox="1"/>
          <p:nvPr/>
        </p:nvSpPr>
        <p:spPr>
          <a:xfrm>
            <a:off x="1142971" y="5187820"/>
            <a:ext cx="878665" cy="120647"/>
          </a:xfrm>
          <a:prstGeom prst="rect">
            <a:avLst/>
          </a:prstGeom>
          <a:noFill/>
          <a:ln/>
        </p:spPr>
        <p:txBody>
          <a:bodyPr wrap="square" lIns="0" tIns="0" rIns="0" bIns="0" rtlCol="0" anchor="t"/>
          <a:lstStyle/>
          <a:p>
            <a:pPr algn="l" indent="0" marL="0">
              <a:lnSpc>
                <a:spcPts val="950"/>
              </a:lnSpc>
              <a:buNone/>
            </a:pPr>
            <a:r>
              <a:rPr lang="en-US" sz="950" dirty="0">
                <a:solidFill>
                  <a:srgbClr val="16233F"/>
                </a:solidFill>
                <a:latin typeface="Arial Rounded MT Bold" pitchFamily="34" charset="0"/>
                <a:ea typeface="Arial Rounded MT Bold" pitchFamily="34" charset="-122"/>
                <a:cs typeface="Arial Rounded MT Bold" pitchFamily="34" charset="-120"/>
              </a:rPr>
              <a:t>Final · 11 Jan</a:t>
            </a:r>
            <a:endParaRPr lang="en-US" sz="950" dirty="0"/>
          </a:p>
        </p:txBody>
      </p:sp>
      <p:sp>
        <p:nvSpPr>
          <p:cNvPr id="123" name="Text 21.122"/>
          <p:cNvSpPr txBox="1"/>
          <p:nvPr/>
        </p:nvSpPr>
        <p:spPr>
          <a:xfrm>
            <a:off x="736582" y="5403715"/>
            <a:ext cx="203899" cy="95248"/>
          </a:xfrm>
          <a:prstGeom prst="rect">
            <a:avLst/>
          </a:prstGeom>
          <a:noFill/>
          <a:ln/>
        </p:spPr>
        <p:txBody>
          <a:bodyPr wrap="square" lIns="0" tIns="0" rIns="0" bIns="0" rtlCol="0" anchor="t"/>
          <a:lstStyle/>
          <a:p>
            <a:pPr algn="l" indent="0" marL="0">
              <a:lnSpc>
                <a:spcPts val="750"/>
              </a:lnSpc>
              <a:buNone/>
            </a:pPr>
            <a:r>
              <a:rPr lang="en-US" sz="750" dirty="0">
                <a:solidFill>
                  <a:srgbClr val="6E7D9A"/>
                </a:solidFill>
                <a:latin typeface="Arial" pitchFamily="34" charset="0"/>
                <a:ea typeface="Arial" pitchFamily="34" charset="-122"/>
                <a:cs typeface="Arial" pitchFamily="34" charset="-120"/>
              </a:rPr>
              <a:t>4.1</a:t>
            </a:r>
            <a:endParaRPr lang="en-US" sz="750" dirty="0"/>
          </a:p>
        </p:txBody>
      </p:sp>
      <p:sp>
        <p:nvSpPr>
          <p:cNvPr id="124" name="Text 21.123"/>
          <p:cNvSpPr txBox="1"/>
          <p:nvPr/>
        </p:nvSpPr>
        <p:spPr>
          <a:xfrm>
            <a:off x="1142971" y="5403715"/>
            <a:ext cx="2578036" cy="107947"/>
          </a:xfrm>
          <a:prstGeom prst="rect">
            <a:avLst/>
          </a:prstGeom>
          <a:noFill/>
          <a:ln/>
        </p:spPr>
        <p:txBody>
          <a:bodyPr wrap="square" lIns="0" tIns="0" rIns="0" bIns="0" rtlCol="0" anchor="t"/>
          <a:lstStyle/>
          <a:p>
            <a:pPr algn="l" indent="0" marL="0">
              <a:lnSpc>
                <a:spcPts val="850"/>
              </a:lnSpc>
              <a:buNone/>
            </a:pPr>
            <a:r>
              <a:rPr lang="en-US" sz="850" dirty="0">
                <a:solidFill>
                  <a:srgbClr val="16233F"/>
                </a:solidFill>
                <a:latin typeface="Arial" pitchFamily="34" charset="0"/>
                <a:ea typeface="Arial" pitchFamily="34" charset="-122"/>
                <a:cs typeface="Arial" pitchFamily="34" charset="-120"/>
              </a:rPr>
              <a:t>Balance tuning from playtests</a:t>
            </a:r>
            <a:endParaRPr lang="en-US" sz="850" dirty="0"/>
          </a:p>
        </p:txBody>
      </p:sp>
      <p:sp>
        <p:nvSpPr>
          <p:cNvPr id="125" name="Text 21.124"/>
          <p:cNvSpPr txBox="1"/>
          <p:nvPr/>
        </p:nvSpPr>
        <p:spPr>
          <a:xfrm>
            <a:off x="3746406" y="5371966"/>
            <a:ext cx="838179" cy="152396"/>
          </a:xfrm>
          <a:prstGeom prst="rect">
            <a:avLst/>
          </a:prstGeom>
          <a:noFill/>
          <a:ln/>
        </p:spPr>
        <p:txBody>
          <a:bodyPr wrap="square" lIns="0" tIns="0" rIns="0" bIns="0" rtlCol="0" anchor="ctr"/>
          <a:lstStyle/>
          <a:p>
            <a:pPr algn="ctr" indent="0" marL="0">
              <a:lnSpc>
                <a:spcPts val="650"/>
              </a:lnSpc>
              <a:buNone/>
            </a:pPr>
            <a:r>
              <a:rPr lang="en-US" sz="650" b="1" spc="13" kern="0" dirty="0">
                <a:solidFill>
                  <a:srgbClr val="3B4A66"/>
                </a:solidFill>
                <a:latin typeface="Arial" pitchFamily="34" charset="0"/>
                <a:ea typeface="Arial" pitchFamily="34" charset="-122"/>
                <a:cs typeface="Arial" pitchFamily="34" charset="-120"/>
              </a:rPr>
              <a:t>Team</a:t>
            </a:r>
            <a:endParaRPr lang="en-US" sz="650" dirty="0"/>
          </a:p>
        </p:txBody>
      </p:sp>
      <p:sp>
        <p:nvSpPr>
          <p:cNvPr id="126" name="Text 21.125"/>
          <p:cNvSpPr txBox="1"/>
          <p:nvPr/>
        </p:nvSpPr>
        <p:spPr>
          <a:xfrm>
            <a:off x="4762381" y="5403715"/>
            <a:ext cx="457189" cy="95248"/>
          </a:xfrm>
          <a:prstGeom prst="rect">
            <a:avLst/>
          </a:prstGeom>
          <a:noFill/>
          <a:ln/>
        </p:spPr>
        <p:txBody>
          <a:bodyPr wrap="square" lIns="0" tIns="0" rIns="0" bIns="0" rtlCol="0" anchor="t"/>
          <a:lstStyle/>
          <a:p>
            <a:pPr algn="ctr" indent="0" marL="0">
              <a:lnSpc>
                <a:spcPts val="750"/>
              </a:lnSpc>
              <a:buNone/>
            </a:pPr>
            <a:r>
              <a:rPr lang="en-US" sz="750" dirty="0">
                <a:solidFill>
                  <a:srgbClr val="3B4A66"/>
                </a:solidFill>
                <a:latin typeface="Arial" pitchFamily="34" charset="0"/>
                <a:ea typeface="Arial" pitchFamily="34" charset="-122"/>
                <a:cs typeface="Arial" pitchFamily="34" charset="-120"/>
              </a:rPr>
              <a:t>2 wk</a:t>
            </a:r>
            <a:endParaRPr lang="en-US" sz="750" dirty="0"/>
          </a:p>
        </p:txBody>
      </p:sp>
      <p:sp>
        <p:nvSpPr>
          <p:cNvPr id="127" name="Text 21.126"/>
          <p:cNvSpPr txBox="1"/>
          <p:nvPr/>
        </p:nvSpPr>
        <p:spPr>
          <a:xfrm>
            <a:off x="5371966" y="5371966"/>
            <a:ext cx="482588" cy="152396"/>
          </a:xfrm>
          <a:prstGeom prst="rect">
            <a:avLst/>
          </a:prstGeom>
          <a:noFill/>
          <a:ln/>
        </p:spPr>
        <p:txBody>
          <a:bodyPr wrap="square" lIns="0" tIns="0" rIns="0" bIns="0" rtlCol="0" anchor="ctr"/>
          <a:lstStyle/>
          <a:p>
            <a:pPr algn="ctr" indent="0" marL="0">
              <a:lnSpc>
                <a:spcPts val="600"/>
              </a:lnSpc>
              <a:buNone/>
            </a:pPr>
            <a:r>
              <a:rPr lang="en-US" sz="600" b="1" spc="48" kern="0" dirty="0">
                <a:solidFill>
                  <a:srgbClr val="6E7D9A"/>
                </a:solidFill>
                <a:latin typeface="Arial" pitchFamily="34" charset="0"/>
                <a:ea typeface="Arial" pitchFamily="34" charset="-122"/>
                <a:cs typeface="Arial" pitchFamily="34" charset="-120"/>
              </a:rPr>
              <a:t>0%</a:t>
            </a:r>
            <a:endParaRPr lang="en-US" sz="600" dirty="0"/>
          </a:p>
        </p:txBody>
      </p:sp>
      <p:sp>
        <p:nvSpPr>
          <p:cNvPr id="128" name="Text 21.127"/>
          <p:cNvSpPr txBox="1"/>
          <p:nvPr/>
        </p:nvSpPr>
        <p:spPr>
          <a:xfrm>
            <a:off x="736582" y="5606910"/>
            <a:ext cx="203899" cy="95248"/>
          </a:xfrm>
          <a:prstGeom prst="rect">
            <a:avLst/>
          </a:prstGeom>
          <a:noFill/>
          <a:ln/>
        </p:spPr>
        <p:txBody>
          <a:bodyPr wrap="square" lIns="0" tIns="0" rIns="0" bIns="0" rtlCol="0" anchor="t"/>
          <a:lstStyle/>
          <a:p>
            <a:pPr algn="l" indent="0" marL="0">
              <a:lnSpc>
                <a:spcPts val="750"/>
              </a:lnSpc>
              <a:buNone/>
            </a:pPr>
            <a:r>
              <a:rPr lang="en-US" sz="750" dirty="0">
                <a:solidFill>
                  <a:srgbClr val="6E7D9A"/>
                </a:solidFill>
                <a:latin typeface="Arial" pitchFamily="34" charset="0"/>
                <a:ea typeface="Arial" pitchFamily="34" charset="-122"/>
                <a:cs typeface="Arial" pitchFamily="34" charset="-120"/>
              </a:rPr>
              <a:t>4.2</a:t>
            </a:r>
            <a:endParaRPr lang="en-US" sz="750" dirty="0"/>
          </a:p>
        </p:txBody>
      </p:sp>
      <p:sp>
        <p:nvSpPr>
          <p:cNvPr id="129" name="Text 21.128"/>
          <p:cNvSpPr txBox="1"/>
          <p:nvPr/>
        </p:nvSpPr>
        <p:spPr>
          <a:xfrm>
            <a:off x="1142971" y="5606910"/>
            <a:ext cx="2578036" cy="107947"/>
          </a:xfrm>
          <a:prstGeom prst="rect">
            <a:avLst/>
          </a:prstGeom>
          <a:noFill/>
          <a:ln/>
        </p:spPr>
        <p:txBody>
          <a:bodyPr wrap="square" lIns="0" tIns="0" rIns="0" bIns="0" rtlCol="0" anchor="t"/>
          <a:lstStyle/>
          <a:p>
            <a:pPr algn="l" indent="0" marL="0">
              <a:lnSpc>
                <a:spcPts val="850"/>
              </a:lnSpc>
              <a:buNone/>
            </a:pPr>
            <a:r>
              <a:rPr lang="en-US" sz="850" dirty="0">
                <a:solidFill>
                  <a:srgbClr val="16233F"/>
                </a:solidFill>
                <a:latin typeface="Arial" pitchFamily="34" charset="0"/>
                <a:ea typeface="Arial" pitchFamily="34" charset="-122"/>
                <a:cs typeface="Arial" pitchFamily="34" charset="-120"/>
              </a:rPr>
              <a:t>VFX: trails, hit flash, splashes</a:t>
            </a:r>
            <a:endParaRPr lang="en-US" sz="850" dirty="0"/>
          </a:p>
        </p:txBody>
      </p:sp>
      <p:sp>
        <p:nvSpPr>
          <p:cNvPr id="130" name="Text 21.129"/>
          <p:cNvSpPr txBox="1"/>
          <p:nvPr/>
        </p:nvSpPr>
        <p:spPr>
          <a:xfrm>
            <a:off x="3746406" y="5575161"/>
            <a:ext cx="838179" cy="152396"/>
          </a:xfrm>
          <a:prstGeom prst="rect">
            <a:avLst/>
          </a:prstGeom>
          <a:noFill/>
          <a:ln/>
        </p:spPr>
        <p:txBody>
          <a:bodyPr wrap="square" lIns="0" tIns="0" rIns="0" bIns="0" rtlCol="0" anchor="ctr"/>
          <a:lstStyle/>
          <a:p>
            <a:pPr algn="ctr" indent="0" marL="0">
              <a:lnSpc>
                <a:spcPts val="650"/>
              </a:lnSpc>
              <a:buNone/>
            </a:pPr>
            <a:r>
              <a:rPr lang="en-US" sz="650" b="1" spc="13" kern="0" dirty="0">
                <a:solidFill>
                  <a:srgbClr val="1FA9EA"/>
                </a:solidFill>
                <a:latin typeface="Arial" pitchFamily="34" charset="0"/>
                <a:ea typeface="Arial" pitchFamily="34" charset="-122"/>
                <a:cs typeface="Arial" pitchFamily="34" charset="-120"/>
              </a:rPr>
              <a:t>Abdurrahim</a:t>
            </a:r>
            <a:endParaRPr lang="en-US" sz="650" dirty="0"/>
          </a:p>
        </p:txBody>
      </p:sp>
      <p:sp>
        <p:nvSpPr>
          <p:cNvPr id="131" name="Text 21.130"/>
          <p:cNvSpPr txBox="1"/>
          <p:nvPr/>
        </p:nvSpPr>
        <p:spPr>
          <a:xfrm>
            <a:off x="4762381" y="5606910"/>
            <a:ext cx="457189" cy="95248"/>
          </a:xfrm>
          <a:prstGeom prst="rect">
            <a:avLst/>
          </a:prstGeom>
          <a:noFill/>
          <a:ln/>
        </p:spPr>
        <p:txBody>
          <a:bodyPr wrap="square" lIns="0" tIns="0" rIns="0" bIns="0" rtlCol="0" anchor="t"/>
          <a:lstStyle/>
          <a:p>
            <a:pPr algn="ctr" indent="0" marL="0">
              <a:lnSpc>
                <a:spcPts val="750"/>
              </a:lnSpc>
              <a:buNone/>
            </a:pPr>
            <a:r>
              <a:rPr lang="en-US" sz="750" dirty="0">
                <a:solidFill>
                  <a:srgbClr val="3B4A66"/>
                </a:solidFill>
                <a:latin typeface="Arial" pitchFamily="34" charset="0"/>
                <a:ea typeface="Arial" pitchFamily="34" charset="-122"/>
                <a:cs typeface="Arial" pitchFamily="34" charset="-120"/>
              </a:rPr>
              <a:t>2 wk</a:t>
            </a:r>
            <a:endParaRPr lang="en-US" sz="750" dirty="0"/>
          </a:p>
        </p:txBody>
      </p:sp>
      <p:sp>
        <p:nvSpPr>
          <p:cNvPr id="132" name="Text 21.131"/>
          <p:cNvSpPr txBox="1"/>
          <p:nvPr/>
        </p:nvSpPr>
        <p:spPr>
          <a:xfrm>
            <a:off x="5371966" y="5575161"/>
            <a:ext cx="482588" cy="152396"/>
          </a:xfrm>
          <a:prstGeom prst="rect">
            <a:avLst/>
          </a:prstGeom>
          <a:noFill/>
          <a:ln/>
        </p:spPr>
        <p:txBody>
          <a:bodyPr wrap="square" lIns="0" tIns="0" rIns="0" bIns="0" rtlCol="0" anchor="ctr"/>
          <a:lstStyle/>
          <a:p>
            <a:pPr algn="ctr" indent="0" marL="0">
              <a:lnSpc>
                <a:spcPts val="600"/>
              </a:lnSpc>
              <a:buNone/>
            </a:pPr>
            <a:r>
              <a:rPr lang="en-US" sz="600" b="1" spc="48" kern="0" dirty="0">
                <a:solidFill>
                  <a:srgbClr val="6E7D9A"/>
                </a:solidFill>
                <a:latin typeface="Arial" pitchFamily="34" charset="0"/>
                <a:ea typeface="Arial" pitchFamily="34" charset="-122"/>
                <a:cs typeface="Arial" pitchFamily="34" charset="-120"/>
              </a:rPr>
              <a:t>0%</a:t>
            </a:r>
            <a:endParaRPr lang="en-US" sz="600" dirty="0"/>
          </a:p>
        </p:txBody>
      </p:sp>
      <p:sp>
        <p:nvSpPr>
          <p:cNvPr id="133" name="Text 21.132"/>
          <p:cNvSpPr txBox="1"/>
          <p:nvPr/>
        </p:nvSpPr>
        <p:spPr>
          <a:xfrm>
            <a:off x="736582" y="5810105"/>
            <a:ext cx="203899" cy="95248"/>
          </a:xfrm>
          <a:prstGeom prst="rect">
            <a:avLst/>
          </a:prstGeom>
          <a:noFill/>
          <a:ln/>
        </p:spPr>
        <p:txBody>
          <a:bodyPr wrap="square" lIns="0" tIns="0" rIns="0" bIns="0" rtlCol="0" anchor="t"/>
          <a:lstStyle/>
          <a:p>
            <a:pPr algn="l" indent="0" marL="0">
              <a:lnSpc>
                <a:spcPts val="750"/>
              </a:lnSpc>
              <a:buNone/>
            </a:pPr>
            <a:r>
              <a:rPr lang="en-US" sz="750" dirty="0">
                <a:solidFill>
                  <a:srgbClr val="6E7D9A"/>
                </a:solidFill>
                <a:latin typeface="Arial" pitchFamily="34" charset="0"/>
                <a:ea typeface="Arial" pitchFamily="34" charset="-122"/>
                <a:cs typeface="Arial" pitchFamily="34" charset="-120"/>
              </a:rPr>
              <a:t>4.3</a:t>
            </a:r>
            <a:endParaRPr lang="en-US" sz="750" dirty="0"/>
          </a:p>
        </p:txBody>
      </p:sp>
      <p:sp>
        <p:nvSpPr>
          <p:cNvPr id="134" name="Text 21.133"/>
          <p:cNvSpPr txBox="1"/>
          <p:nvPr/>
        </p:nvSpPr>
        <p:spPr>
          <a:xfrm>
            <a:off x="1142971" y="5810105"/>
            <a:ext cx="2578036" cy="107947"/>
          </a:xfrm>
          <a:prstGeom prst="rect">
            <a:avLst/>
          </a:prstGeom>
          <a:noFill/>
          <a:ln/>
        </p:spPr>
        <p:txBody>
          <a:bodyPr wrap="square" lIns="0" tIns="0" rIns="0" bIns="0" rtlCol="0" anchor="t"/>
          <a:lstStyle/>
          <a:p>
            <a:pPr algn="l" indent="0" marL="0">
              <a:lnSpc>
                <a:spcPts val="850"/>
              </a:lnSpc>
              <a:buNone/>
            </a:pPr>
            <a:r>
              <a:rPr lang="en-US" sz="850" dirty="0">
                <a:solidFill>
                  <a:srgbClr val="16233F"/>
                </a:solidFill>
                <a:latin typeface="Arial" pitchFamily="34" charset="0"/>
                <a:ea typeface="Arial" pitchFamily="34" charset="-122"/>
                <a:cs typeface="Arial" pitchFamily="34" charset="-120"/>
              </a:rPr>
              <a:t>Sound effects &amp; music</a:t>
            </a:r>
            <a:endParaRPr lang="en-US" sz="850" dirty="0"/>
          </a:p>
        </p:txBody>
      </p:sp>
      <p:sp>
        <p:nvSpPr>
          <p:cNvPr id="135" name="Text 21.134"/>
          <p:cNvSpPr txBox="1"/>
          <p:nvPr/>
        </p:nvSpPr>
        <p:spPr>
          <a:xfrm>
            <a:off x="3746406" y="5778356"/>
            <a:ext cx="838179" cy="152396"/>
          </a:xfrm>
          <a:prstGeom prst="rect">
            <a:avLst/>
          </a:prstGeom>
          <a:noFill/>
          <a:ln/>
        </p:spPr>
        <p:txBody>
          <a:bodyPr wrap="square" lIns="0" tIns="0" rIns="0" bIns="0" rtlCol="0" anchor="ctr"/>
          <a:lstStyle/>
          <a:p>
            <a:pPr algn="ctr" indent="0" marL="0">
              <a:lnSpc>
                <a:spcPts val="650"/>
              </a:lnSpc>
              <a:buNone/>
            </a:pPr>
            <a:r>
              <a:rPr lang="en-US" sz="650" b="1" spc="13" kern="0" dirty="0">
                <a:solidFill>
                  <a:srgbClr val="43B832"/>
                </a:solidFill>
                <a:latin typeface="Arial" pitchFamily="34" charset="0"/>
                <a:ea typeface="Arial" pitchFamily="34" charset="-122"/>
                <a:cs typeface="Arial" pitchFamily="34" charset="-120"/>
              </a:rPr>
              <a:t>Kürşat</a:t>
            </a:r>
            <a:endParaRPr lang="en-US" sz="650" dirty="0"/>
          </a:p>
        </p:txBody>
      </p:sp>
      <p:sp>
        <p:nvSpPr>
          <p:cNvPr id="136" name="Text 21.135"/>
          <p:cNvSpPr txBox="1"/>
          <p:nvPr/>
        </p:nvSpPr>
        <p:spPr>
          <a:xfrm>
            <a:off x="4762381" y="5810105"/>
            <a:ext cx="457189" cy="95248"/>
          </a:xfrm>
          <a:prstGeom prst="rect">
            <a:avLst/>
          </a:prstGeom>
          <a:noFill/>
          <a:ln/>
        </p:spPr>
        <p:txBody>
          <a:bodyPr wrap="square" lIns="0" tIns="0" rIns="0" bIns="0" rtlCol="0" anchor="t"/>
          <a:lstStyle/>
          <a:p>
            <a:pPr algn="ctr" indent="0" marL="0">
              <a:lnSpc>
                <a:spcPts val="750"/>
              </a:lnSpc>
              <a:buNone/>
            </a:pPr>
            <a:r>
              <a:rPr lang="en-US" sz="750" dirty="0">
                <a:solidFill>
                  <a:srgbClr val="3B4A66"/>
                </a:solidFill>
                <a:latin typeface="Arial" pitchFamily="34" charset="0"/>
                <a:ea typeface="Arial" pitchFamily="34" charset="-122"/>
                <a:cs typeface="Arial" pitchFamily="34" charset="-120"/>
              </a:rPr>
              <a:t>2 wk</a:t>
            </a:r>
            <a:endParaRPr lang="en-US" sz="750" dirty="0"/>
          </a:p>
        </p:txBody>
      </p:sp>
      <p:sp>
        <p:nvSpPr>
          <p:cNvPr id="137" name="Text 21.136"/>
          <p:cNvSpPr txBox="1"/>
          <p:nvPr/>
        </p:nvSpPr>
        <p:spPr>
          <a:xfrm>
            <a:off x="5371966" y="5778356"/>
            <a:ext cx="482588" cy="152396"/>
          </a:xfrm>
          <a:prstGeom prst="rect">
            <a:avLst/>
          </a:prstGeom>
          <a:noFill/>
          <a:ln/>
        </p:spPr>
        <p:txBody>
          <a:bodyPr wrap="square" lIns="0" tIns="0" rIns="0" bIns="0" rtlCol="0" anchor="ctr"/>
          <a:lstStyle/>
          <a:p>
            <a:pPr algn="ctr" indent="0" marL="0">
              <a:lnSpc>
                <a:spcPts val="600"/>
              </a:lnSpc>
              <a:buNone/>
            </a:pPr>
            <a:r>
              <a:rPr lang="en-US" sz="600" b="1" spc="48" kern="0" dirty="0">
                <a:solidFill>
                  <a:srgbClr val="6E7D9A"/>
                </a:solidFill>
                <a:latin typeface="Arial" pitchFamily="34" charset="0"/>
                <a:ea typeface="Arial" pitchFamily="34" charset="-122"/>
                <a:cs typeface="Arial" pitchFamily="34" charset="-120"/>
              </a:rPr>
              <a:t>0%</a:t>
            </a:r>
            <a:endParaRPr lang="en-US" sz="600" dirty="0"/>
          </a:p>
        </p:txBody>
      </p:sp>
      <p:sp>
        <p:nvSpPr>
          <p:cNvPr id="138" name="Text 21.137"/>
          <p:cNvSpPr txBox="1"/>
          <p:nvPr/>
        </p:nvSpPr>
        <p:spPr>
          <a:xfrm>
            <a:off x="736582" y="6013300"/>
            <a:ext cx="203899" cy="95248"/>
          </a:xfrm>
          <a:prstGeom prst="rect">
            <a:avLst/>
          </a:prstGeom>
          <a:noFill/>
          <a:ln/>
        </p:spPr>
        <p:txBody>
          <a:bodyPr wrap="square" lIns="0" tIns="0" rIns="0" bIns="0" rtlCol="0" anchor="t"/>
          <a:lstStyle/>
          <a:p>
            <a:pPr algn="l" indent="0" marL="0">
              <a:lnSpc>
                <a:spcPts val="750"/>
              </a:lnSpc>
              <a:buNone/>
            </a:pPr>
            <a:r>
              <a:rPr lang="en-US" sz="750" dirty="0">
                <a:solidFill>
                  <a:srgbClr val="6E7D9A"/>
                </a:solidFill>
                <a:latin typeface="Arial" pitchFamily="34" charset="0"/>
                <a:ea typeface="Arial" pitchFamily="34" charset="-122"/>
                <a:cs typeface="Arial" pitchFamily="34" charset="-120"/>
              </a:rPr>
              <a:t>4.4</a:t>
            </a:r>
            <a:endParaRPr lang="en-US" sz="750" dirty="0"/>
          </a:p>
        </p:txBody>
      </p:sp>
      <p:sp>
        <p:nvSpPr>
          <p:cNvPr id="139" name="Text 21.138"/>
          <p:cNvSpPr txBox="1"/>
          <p:nvPr/>
        </p:nvSpPr>
        <p:spPr>
          <a:xfrm>
            <a:off x="1142971" y="6013300"/>
            <a:ext cx="2578036" cy="107947"/>
          </a:xfrm>
          <a:prstGeom prst="rect">
            <a:avLst/>
          </a:prstGeom>
          <a:noFill/>
          <a:ln/>
        </p:spPr>
        <p:txBody>
          <a:bodyPr wrap="square" lIns="0" tIns="0" rIns="0" bIns="0" rtlCol="0" anchor="t"/>
          <a:lstStyle/>
          <a:p>
            <a:pPr algn="l" indent="0" marL="0">
              <a:lnSpc>
                <a:spcPts val="850"/>
              </a:lnSpc>
              <a:buNone/>
            </a:pPr>
            <a:r>
              <a:rPr lang="en-US" sz="850" dirty="0">
                <a:solidFill>
                  <a:srgbClr val="16233F"/>
                </a:solidFill>
                <a:latin typeface="Arial" pitchFamily="34" charset="0"/>
                <a:ea typeface="Arial" pitchFamily="34" charset="-122"/>
                <a:cs typeface="Arial" pitchFamily="34" charset="-120"/>
              </a:rPr>
              <a:t>Art &amp; UI polish</a:t>
            </a:r>
            <a:endParaRPr lang="en-US" sz="850" dirty="0"/>
          </a:p>
        </p:txBody>
      </p:sp>
      <p:sp>
        <p:nvSpPr>
          <p:cNvPr id="140" name="Text 21.139"/>
          <p:cNvSpPr txBox="1"/>
          <p:nvPr/>
        </p:nvSpPr>
        <p:spPr>
          <a:xfrm>
            <a:off x="3746406" y="5981550"/>
            <a:ext cx="838179" cy="152396"/>
          </a:xfrm>
          <a:prstGeom prst="rect">
            <a:avLst/>
          </a:prstGeom>
          <a:noFill/>
          <a:ln/>
        </p:spPr>
        <p:txBody>
          <a:bodyPr wrap="square" lIns="0" tIns="0" rIns="0" bIns="0" rtlCol="0" anchor="ctr"/>
          <a:lstStyle/>
          <a:p>
            <a:pPr algn="ctr" indent="0" marL="0">
              <a:lnSpc>
                <a:spcPts val="650"/>
              </a:lnSpc>
              <a:buNone/>
            </a:pPr>
            <a:r>
              <a:rPr lang="en-US" sz="650" b="1" spc="13" kern="0" dirty="0">
                <a:solidFill>
                  <a:srgbClr val="8F55F5"/>
                </a:solidFill>
                <a:latin typeface="Arial" pitchFamily="34" charset="0"/>
                <a:ea typeface="Arial" pitchFamily="34" charset="-122"/>
                <a:cs typeface="Arial" pitchFamily="34" charset="-120"/>
              </a:rPr>
              <a:t>Ardıl</a:t>
            </a:r>
            <a:endParaRPr lang="en-US" sz="650" dirty="0"/>
          </a:p>
        </p:txBody>
      </p:sp>
      <p:sp>
        <p:nvSpPr>
          <p:cNvPr id="141" name="Text 21.140"/>
          <p:cNvSpPr txBox="1"/>
          <p:nvPr/>
        </p:nvSpPr>
        <p:spPr>
          <a:xfrm>
            <a:off x="4762381" y="6013300"/>
            <a:ext cx="457189" cy="95248"/>
          </a:xfrm>
          <a:prstGeom prst="rect">
            <a:avLst/>
          </a:prstGeom>
          <a:noFill/>
          <a:ln/>
        </p:spPr>
        <p:txBody>
          <a:bodyPr wrap="square" lIns="0" tIns="0" rIns="0" bIns="0" rtlCol="0" anchor="t"/>
          <a:lstStyle/>
          <a:p>
            <a:pPr algn="ctr" indent="0" marL="0">
              <a:lnSpc>
                <a:spcPts val="750"/>
              </a:lnSpc>
              <a:buNone/>
            </a:pPr>
            <a:r>
              <a:rPr lang="en-US" sz="750" dirty="0">
                <a:solidFill>
                  <a:srgbClr val="3B4A66"/>
                </a:solidFill>
                <a:latin typeface="Arial" pitchFamily="34" charset="0"/>
                <a:ea typeface="Arial" pitchFamily="34" charset="-122"/>
                <a:cs typeface="Arial" pitchFamily="34" charset="-120"/>
              </a:rPr>
              <a:t>3 wk</a:t>
            </a:r>
            <a:endParaRPr lang="en-US" sz="750" dirty="0"/>
          </a:p>
        </p:txBody>
      </p:sp>
      <p:sp>
        <p:nvSpPr>
          <p:cNvPr id="142" name="Text 21.141"/>
          <p:cNvSpPr txBox="1"/>
          <p:nvPr/>
        </p:nvSpPr>
        <p:spPr>
          <a:xfrm>
            <a:off x="5371966" y="5981550"/>
            <a:ext cx="482588" cy="152396"/>
          </a:xfrm>
          <a:prstGeom prst="rect">
            <a:avLst/>
          </a:prstGeom>
          <a:noFill/>
          <a:ln/>
        </p:spPr>
        <p:txBody>
          <a:bodyPr wrap="square" lIns="0" tIns="0" rIns="0" bIns="0" rtlCol="0" anchor="ctr"/>
          <a:lstStyle/>
          <a:p>
            <a:pPr algn="ctr" indent="0" marL="0">
              <a:lnSpc>
                <a:spcPts val="600"/>
              </a:lnSpc>
              <a:buNone/>
            </a:pPr>
            <a:r>
              <a:rPr lang="en-US" sz="600" b="1" spc="48" kern="0" dirty="0">
                <a:solidFill>
                  <a:srgbClr val="6E7D9A"/>
                </a:solidFill>
                <a:latin typeface="Arial" pitchFamily="34" charset="0"/>
                <a:ea typeface="Arial" pitchFamily="34" charset="-122"/>
                <a:cs typeface="Arial" pitchFamily="34" charset="-120"/>
              </a:rPr>
              <a:t>0%</a:t>
            </a:r>
            <a:endParaRPr lang="en-US" sz="600" dirty="0"/>
          </a:p>
        </p:txBody>
      </p:sp>
      <p:sp>
        <p:nvSpPr>
          <p:cNvPr id="143" name="Text 21.142"/>
          <p:cNvSpPr txBox="1"/>
          <p:nvPr/>
        </p:nvSpPr>
        <p:spPr>
          <a:xfrm>
            <a:off x="736582" y="6216495"/>
            <a:ext cx="203899" cy="95248"/>
          </a:xfrm>
          <a:prstGeom prst="rect">
            <a:avLst/>
          </a:prstGeom>
          <a:noFill/>
          <a:ln/>
        </p:spPr>
        <p:txBody>
          <a:bodyPr wrap="square" lIns="0" tIns="0" rIns="0" bIns="0" rtlCol="0" anchor="t"/>
          <a:lstStyle/>
          <a:p>
            <a:pPr algn="l" indent="0" marL="0">
              <a:lnSpc>
                <a:spcPts val="750"/>
              </a:lnSpc>
              <a:buNone/>
            </a:pPr>
            <a:r>
              <a:rPr lang="en-US" sz="750" dirty="0">
                <a:solidFill>
                  <a:srgbClr val="6E7D9A"/>
                </a:solidFill>
                <a:latin typeface="Arial" pitchFamily="34" charset="0"/>
                <a:ea typeface="Arial" pitchFamily="34" charset="-122"/>
                <a:cs typeface="Arial" pitchFamily="34" charset="-120"/>
              </a:rPr>
              <a:t>4.5</a:t>
            </a:r>
            <a:endParaRPr lang="en-US" sz="750" dirty="0"/>
          </a:p>
        </p:txBody>
      </p:sp>
      <p:sp>
        <p:nvSpPr>
          <p:cNvPr id="144" name="Text 21.143"/>
          <p:cNvSpPr txBox="1"/>
          <p:nvPr/>
        </p:nvSpPr>
        <p:spPr>
          <a:xfrm>
            <a:off x="1142971" y="6216495"/>
            <a:ext cx="2578036" cy="107947"/>
          </a:xfrm>
          <a:prstGeom prst="rect">
            <a:avLst/>
          </a:prstGeom>
          <a:noFill/>
          <a:ln/>
        </p:spPr>
        <p:txBody>
          <a:bodyPr wrap="square" lIns="0" tIns="0" rIns="0" bIns="0" rtlCol="0" anchor="t"/>
          <a:lstStyle/>
          <a:p>
            <a:pPr algn="l" indent="0" marL="0">
              <a:lnSpc>
                <a:spcPts val="850"/>
              </a:lnSpc>
              <a:buNone/>
            </a:pPr>
            <a:r>
              <a:rPr lang="en-US" sz="850" dirty="0">
                <a:solidFill>
                  <a:srgbClr val="16233F"/>
                </a:solidFill>
                <a:latin typeface="Arial" pitchFamily="34" charset="0"/>
                <a:ea typeface="Arial" pitchFamily="34" charset="-122"/>
                <a:cs typeface="Arial" pitchFamily="34" charset="-120"/>
              </a:rPr>
              <a:t>LAN stress test &amp; final build</a:t>
            </a:r>
            <a:endParaRPr lang="en-US" sz="850" dirty="0"/>
          </a:p>
        </p:txBody>
      </p:sp>
      <p:sp>
        <p:nvSpPr>
          <p:cNvPr id="145" name="Text 21.144"/>
          <p:cNvSpPr txBox="1"/>
          <p:nvPr/>
        </p:nvSpPr>
        <p:spPr>
          <a:xfrm>
            <a:off x="3746406" y="6184745"/>
            <a:ext cx="838179" cy="152396"/>
          </a:xfrm>
          <a:prstGeom prst="rect">
            <a:avLst/>
          </a:prstGeom>
          <a:noFill/>
          <a:ln/>
        </p:spPr>
        <p:txBody>
          <a:bodyPr wrap="square" lIns="0" tIns="0" rIns="0" bIns="0" rtlCol="0" anchor="ctr"/>
          <a:lstStyle/>
          <a:p>
            <a:pPr algn="ctr" indent="0" marL="0">
              <a:lnSpc>
                <a:spcPts val="650"/>
              </a:lnSpc>
              <a:buNone/>
            </a:pPr>
            <a:r>
              <a:rPr lang="en-US" sz="650" b="1" spc="13" kern="0" dirty="0">
                <a:solidFill>
                  <a:srgbClr val="FF6B1F"/>
                </a:solidFill>
                <a:latin typeface="Arial" pitchFamily="34" charset="0"/>
                <a:ea typeface="Arial" pitchFamily="34" charset="-122"/>
                <a:cs typeface="Arial" pitchFamily="34" charset="-120"/>
              </a:rPr>
              <a:t>Ezel</a:t>
            </a:r>
            <a:endParaRPr lang="en-US" sz="650" dirty="0"/>
          </a:p>
        </p:txBody>
      </p:sp>
      <p:sp>
        <p:nvSpPr>
          <p:cNvPr id="146" name="Text 21.145"/>
          <p:cNvSpPr txBox="1"/>
          <p:nvPr/>
        </p:nvSpPr>
        <p:spPr>
          <a:xfrm>
            <a:off x="4762381" y="6216495"/>
            <a:ext cx="457189" cy="95248"/>
          </a:xfrm>
          <a:prstGeom prst="rect">
            <a:avLst/>
          </a:prstGeom>
          <a:noFill/>
          <a:ln/>
        </p:spPr>
        <p:txBody>
          <a:bodyPr wrap="square" lIns="0" tIns="0" rIns="0" bIns="0" rtlCol="0" anchor="t"/>
          <a:lstStyle/>
          <a:p>
            <a:pPr algn="ctr" indent="0" marL="0">
              <a:lnSpc>
                <a:spcPts val="750"/>
              </a:lnSpc>
              <a:buNone/>
            </a:pPr>
            <a:r>
              <a:rPr lang="en-US" sz="750" dirty="0">
                <a:solidFill>
                  <a:srgbClr val="3B4A66"/>
                </a:solidFill>
                <a:latin typeface="Arial" pitchFamily="34" charset="0"/>
                <a:ea typeface="Arial" pitchFamily="34" charset="-122"/>
                <a:cs typeface="Arial" pitchFamily="34" charset="-120"/>
              </a:rPr>
              <a:t>1 wk</a:t>
            </a:r>
            <a:endParaRPr lang="en-US" sz="750" dirty="0"/>
          </a:p>
        </p:txBody>
      </p:sp>
      <p:sp>
        <p:nvSpPr>
          <p:cNvPr id="147" name="Text 21.146"/>
          <p:cNvSpPr txBox="1"/>
          <p:nvPr/>
        </p:nvSpPr>
        <p:spPr>
          <a:xfrm>
            <a:off x="5371966" y="6184745"/>
            <a:ext cx="482588" cy="152396"/>
          </a:xfrm>
          <a:prstGeom prst="rect">
            <a:avLst/>
          </a:prstGeom>
          <a:noFill/>
          <a:ln/>
        </p:spPr>
        <p:txBody>
          <a:bodyPr wrap="square" lIns="0" tIns="0" rIns="0" bIns="0" rtlCol="0" anchor="ctr"/>
          <a:lstStyle/>
          <a:p>
            <a:pPr algn="ctr" indent="0" marL="0">
              <a:lnSpc>
                <a:spcPts val="600"/>
              </a:lnSpc>
              <a:buNone/>
            </a:pPr>
            <a:r>
              <a:rPr lang="en-US" sz="600" b="1" spc="48" kern="0" dirty="0">
                <a:solidFill>
                  <a:srgbClr val="6E7D9A"/>
                </a:solidFill>
                <a:latin typeface="Arial" pitchFamily="34" charset="0"/>
                <a:ea typeface="Arial" pitchFamily="34" charset="-122"/>
                <a:cs typeface="Arial" pitchFamily="34" charset="-120"/>
              </a:rPr>
              <a:t>0%</a:t>
            </a:r>
            <a:endParaRPr lang="en-US" sz="600" dirty="0"/>
          </a:p>
        </p:txBody>
      </p:sp>
      <p:sp>
        <p:nvSpPr>
          <p:cNvPr id="148" name="Text 21.147"/>
          <p:cNvSpPr txBox="1"/>
          <p:nvPr/>
        </p:nvSpPr>
        <p:spPr>
          <a:xfrm>
            <a:off x="736582" y="6419690"/>
            <a:ext cx="203899" cy="95248"/>
          </a:xfrm>
          <a:prstGeom prst="rect">
            <a:avLst/>
          </a:prstGeom>
          <a:noFill/>
          <a:ln/>
        </p:spPr>
        <p:txBody>
          <a:bodyPr wrap="square" lIns="0" tIns="0" rIns="0" bIns="0" rtlCol="0" anchor="t"/>
          <a:lstStyle/>
          <a:p>
            <a:pPr algn="l" indent="0" marL="0">
              <a:lnSpc>
                <a:spcPts val="750"/>
              </a:lnSpc>
              <a:buNone/>
            </a:pPr>
            <a:r>
              <a:rPr lang="en-US" sz="750" dirty="0">
                <a:solidFill>
                  <a:srgbClr val="6E7D9A"/>
                </a:solidFill>
                <a:latin typeface="Arial" pitchFamily="34" charset="0"/>
                <a:ea typeface="Arial" pitchFamily="34" charset="-122"/>
                <a:cs typeface="Arial" pitchFamily="34" charset="-120"/>
              </a:rPr>
              <a:t>4.6</a:t>
            </a:r>
            <a:endParaRPr lang="en-US" sz="750" dirty="0"/>
          </a:p>
        </p:txBody>
      </p:sp>
      <p:sp>
        <p:nvSpPr>
          <p:cNvPr id="149" name="Text 21.148"/>
          <p:cNvSpPr txBox="1"/>
          <p:nvPr/>
        </p:nvSpPr>
        <p:spPr>
          <a:xfrm>
            <a:off x="1142971" y="6419690"/>
            <a:ext cx="2578036" cy="107947"/>
          </a:xfrm>
          <a:prstGeom prst="rect">
            <a:avLst/>
          </a:prstGeom>
          <a:noFill/>
          <a:ln/>
        </p:spPr>
        <p:txBody>
          <a:bodyPr wrap="square" lIns="0" tIns="0" rIns="0" bIns="0" rtlCol="0" anchor="t"/>
          <a:lstStyle/>
          <a:p>
            <a:pPr algn="l" indent="0" marL="0">
              <a:lnSpc>
                <a:spcPts val="850"/>
              </a:lnSpc>
              <a:buNone/>
            </a:pPr>
            <a:r>
              <a:rPr lang="en-US" sz="850" dirty="0">
                <a:solidFill>
                  <a:srgbClr val="16233F"/>
                </a:solidFill>
                <a:latin typeface="Arial" pitchFamily="34" charset="0"/>
                <a:ea typeface="Arial" pitchFamily="34" charset="-122"/>
                <a:cs typeface="Arial" pitchFamily="34" charset="-120"/>
              </a:rPr>
              <a:t>Promo video &amp; final deck</a:t>
            </a:r>
            <a:endParaRPr lang="en-US" sz="850" dirty="0"/>
          </a:p>
        </p:txBody>
      </p:sp>
      <p:sp>
        <p:nvSpPr>
          <p:cNvPr id="150" name="Text 21.149"/>
          <p:cNvSpPr txBox="1"/>
          <p:nvPr/>
        </p:nvSpPr>
        <p:spPr>
          <a:xfrm>
            <a:off x="3746406" y="6387940"/>
            <a:ext cx="838179" cy="152396"/>
          </a:xfrm>
          <a:prstGeom prst="rect">
            <a:avLst/>
          </a:prstGeom>
          <a:noFill/>
          <a:ln/>
        </p:spPr>
        <p:txBody>
          <a:bodyPr wrap="square" lIns="0" tIns="0" rIns="0" bIns="0" rtlCol="0" anchor="ctr"/>
          <a:lstStyle/>
          <a:p>
            <a:pPr algn="ctr" indent="0" marL="0">
              <a:lnSpc>
                <a:spcPts val="650"/>
              </a:lnSpc>
              <a:buNone/>
            </a:pPr>
            <a:r>
              <a:rPr lang="en-US" sz="650" b="1" spc="13" kern="0" dirty="0">
                <a:solidFill>
                  <a:srgbClr val="3B4A66"/>
                </a:solidFill>
                <a:latin typeface="Arial" pitchFamily="34" charset="0"/>
                <a:ea typeface="Arial" pitchFamily="34" charset="-122"/>
                <a:cs typeface="Arial" pitchFamily="34" charset="-120"/>
              </a:rPr>
              <a:t>Team</a:t>
            </a:r>
            <a:endParaRPr lang="en-US" sz="650" dirty="0"/>
          </a:p>
        </p:txBody>
      </p:sp>
      <p:sp>
        <p:nvSpPr>
          <p:cNvPr id="151" name="Text 21.150"/>
          <p:cNvSpPr txBox="1"/>
          <p:nvPr/>
        </p:nvSpPr>
        <p:spPr>
          <a:xfrm>
            <a:off x="4762381" y="6419690"/>
            <a:ext cx="457189" cy="95248"/>
          </a:xfrm>
          <a:prstGeom prst="rect">
            <a:avLst/>
          </a:prstGeom>
          <a:noFill/>
          <a:ln/>
        </p:spPr>
        <p:txBody>
          <a:bodyPr wrap="square" lIns="0" tIns="0" rIns="0" bIns="0" rtlCol="0" anchor="t"/>
          <a:lstStyle/>
          <a:p>
            <a:pPr algn="ctr" indent="0" marL="0">
              <a:lnSpc>
                <a:spcPts val="750"/>
              </a:lnSpc>
              <a:buNone/>
            </a:pPr>
            <a:r>
              <a:rPr lang="en-US" sz="750" dirty="0">
                <a:solidFill>
                  <a:srgbClr val="3B4A66"/>
                </a:solidFill>
                <a:latin typeface="Arial" pitchFamily="34" charset="0"/>
                <a:ea typeface="Arial" pitchFamily="34" charset="-122"/>
                <a:cs typeface="Arial" pitchFamily="34" charset="-120"/>
              </a:rPr>
              <a:t>1 wk</a:t>
            </a:r>
            <a:endParaRPr lang="en-US" sz="750" dirty="0"/>
          </a:p>
        </p:txBody>
      </p:sp>
      <p:sp>
        <p:nvSpPr>
          <p:cNvPr id="152" name="Text 21.151"/>
          <p:cNvSpPr txBox="1"/>
          <p:nvPr/>
        </p:nvSpPr>
        <p:spPr>
          <a:xfrm>
            <a:off x="5371966" y="6387940"/>
            <a:ext cx="482588" cy="152396"/>
          </a:xfrm>
          <a:prstGeom prst="rect">
            <a:avLst/>
          </a:prstGeom>
          <a:noFill/>
          <a:ln/>
        </p:spPr>
        <p:txBody>
          <a:bodyPr wrap="square" lIns="0" tIns="0" rIns="0" bIns="0" rtlCol="0" anchor="ctr"/>
          <a:lstStyle/>
          <a:p>
            <a:pPr algn="ctr" indent="0" marL="0">
              <a:lnSpc>
                <a:spcPts val="600"/>
              </a:lnSpc>
              <a:buNone/>
            </a:pPr>
            <a:r>
              <a:rPr lang="en-US" sz="600" b="1" spc="48" kern="0" dirty="0">
                <a:solidFill>
                  <a:srgbClr val="6E7D9A"/>
                </a:solidFill>
                <a:latin typeface="Arial" pitchFamily="34" charset="0"/>
                <a:ea typeface="Arial" pitchFamily="34" charset="-122"/>
                <a:cs typeface="Arial" pitchFamily="34" charset="-120"/>
              </a:rPr>
              <a:t>0%</a:t>
            </a:r>
            <a:endParaRPr lang="en-US" sz="600" dirty="0"/>
          </a:p>
        </p:txBody>
      </p:sp>
      <p:sp>
        <p:nvSpPr>
          <p:cNvPr id="153" name="Text 21.152"/>
          <p:cNvSpPr txBox="1"/>
          <p:nvPr/>
        </p:nvSpPr>
        <p:spPr>
          <a:xfrm>
            <a:off x="927077" y="355591"/>
            <a:ext cx="1326055" cy="107947"/>
          </a:xfrm>
          <a:prstGeom prst="rect">
            <a:avLst/>
          </a:prstGeom>
          <a:noFill/>
          <a:ln/>
        </p:spPr>
        <p:txBody>
          <a:bodyPr wrap="square" lIns="0" tIns="0" rIns="0" bIns="0" rtlCol="0" anchor="t"/>
          <a:lstStyle/>
          <a:p>
            <a:pPr algn="l" indent="0" marL="0">
              <a:lnSpc>
                <a:spcPts val="850"/>
              </a:lnSpc>
              <a:buNone/>
            </a:pPr>
            <a:r>
              <a:rPr lang="en-US" sz="850" b="1" spc="17" kern="0" dirty="0">
                <a:solidFill>
                  <a:srgbClr val="16233F"/>
                </a:solidFill>
                <a:latin typeface="Arial" pitchFamily="34" charset="0"/>
                <a:ea typeface="Arial" pitchFamily="34" charset="-122"/>
                <a:cs typeface="Arial" pitchFamily="34" charset="-120"/>
              </a:rPr>
              <a:t>06 · Development plan</a:t>
            </a:r>
            <a:endParaRPr lang="en-US" sz="850" dirty="0"/>
          </a:p>
        </p:txBody>
      </p:sp>
      <p:sp>
        <p:nvSpPr>
          <p:cNvPr id="154" name="Text 21.153"/>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21</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23</a:t>
            </a:r>
            <a:endParaRPr lang="en-US" sz="1000" dirty="0"/>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22.1"/>
          <p:cNvSpPr txBox="1"/>
          <p:nvPr/>
        </p:nvSpPr>
        <p:spPr>
          <a:xfrm>
            <a:off x="609585" y="444489"/>
            <a:ext cx="1155786" cy="114297"/>
          </a:xfrm>
          <a:prstGeom prst="rect">
            <a:avLst/>
          </a:prstGeom>
          <a:noFill/>
          <a:ln/>
        </p:spPr>
        <p:txBody>
          <a:bodyPr wrap="square" lIns="0" tIns="0" rIns="0" bIns="0" rtlCol="0" anchor="t"/>
          <a:lstStyle/>
          <a:p>
            <a:pPr algn="l" indent="0" marL="0">
              <a:lnSpc>
                <a:spcPts val="900"/>
              </a:lnSpc>
              <a:buNone/>
            </a:pPr>
            <a:r>
              <a:rPr lang="en-US" sz="750" b="1" spc="90" kern="0" dirty="0">
                <a:solidFill>
                  <a:srgbClr val="6E7D9A"/>
                </a:solidFill>
                <a:latin typeface="Arial" pitchFamily="34" charset="0"/>
                <a:ea typeface="Arial" pitchFamily="34" charset="-122"/>
                <a:cs typeface="Arial" pitchFamily="34" charset="-120"/>
              </a:rPr>
              <a:t>FINAL STANDINGS</a:t>
            </a:r>
            <a:endParaRPr lang="en-US" sz="750" dirty="0"/>
          </a:p>
        </p:txBody>
      </p:sp>
      <p:sp>
        <p:nvSpPr>
          <p:cNvPr id="3" name="Text 22.2"/>
          <p:cNvSpPr txBox="1"/>
          <p:nvPr/>
        </p:nvSpPr>
        <p:spPr>
          <a:xfrm>
            <a:off x="584185" y="825479"/>
            <a:ext cx="4798849" cy="825479"/>
          </a:xfrm>
          <a:prstGeom prst="rect">
            <a:avLst/>
          </a:prstGeom>
          <a:noFill/>
          <a:ln/>
        </p:spPr>
        <p:txBody>
          <a:bodyPr wrap="square" lIns="0" tIns="0" rIns="0" bIns="0" rtlCol="0" anchor="t"/>
          <a:lstStyle/>
          <a:p>
            <a:pPr algn="l" indent="0" marL="0">
              <a:lnSpc>
                <a:spcPts val="6500"/>
              </a:lnSpc>
              <a:buNone/>
            </a:pPr>
            <a:r>
              <a:rPr lang="en-US" sz="6500" dirty="0">
                <a:solidFill>
                  <a:srgbClr val="1FA9EA"/>
                </a:solidFill>
                <a:latin typeface="Arial Rounded MT Bold" pitchFamily="34" charset="0"/>
                <a:ea typeface="Arial Rounded MT Bold" pitchFamily="34" charset="-122"/>
                <a:cs typeface="Arial Rounded MT Bold" pitchFamily="34" charset="-120"/>
              </a:rPr>
              <a:t>Ice </a:t>
            </a:r>
            <a:pPr algn="l" indent="0" marL="0">
              <a:lnSpc>
                <a:spcPts val="6500"/>
              </a:lnSpc>
              <a:buNone/>
            </a:pPr>
            <a:r>
              <a:rPr lang="en-US" sz="6500" dirty="0">
                <a:solidFill>
                  <a:srgbClr val="16233F"/>
                </a:solidFill>
                <a:latin typeface="Arial Rounded MT Bold" pitchFamily="34" charset="0"/>
                <a:ea typeface="Arial Rounded MT Bold" pitchFamily="34" charset="-122"/>
                <a:cs typeface="Arial Rounded MT Bold" pitchFamily="34" charset="-120"/>
              </a:rPr>
              <a:t>Rumble</a:t>
            </a:r>
            <a:endParaRPr lang="en-US" sz="6500" dirty="0"/>
          </a:p>
        </p:txBody>
      </p:sp>
      <p:sp>
        <p:nvSpPr>
          <p:cNvPr id="4" name="Text 22.3"/>
          <p:cNvSpPr txBox="1"/>
          <p:nvPr/>
        </p:nvSpPr>
        <p:spPr>
          <a:xfrm>
            <a:off x="761981" y="2273243"/>
            <a:ext cx="546086" cy="304792"/>
          </a:xfrm>
          <a:prstGeom prst="rect">
            <a:avLst/>
          </a:prstGeom>
          <a:noFill/>
          <a:ln/>
        </p:spPr>
        <p:txBody>
          <a:bodyPr wrap="square" lIns="0" tIns="0" rIns="0" bIns="0" rtlCol="0" anchor="ctr"/>
          <a:lstStyle/>
          <a:p>
            <a:pPr algn="ctr" indent="0" marL="0">
              <a:lnSpc>
                <a:spcPts val="1300"/>
              </a:lnSpc>
              <a:buNone/>
            </a:pPr>
            <a:r>
              <a:rPr lang="en-US" sz="1300" dirty="0">
                <a:solidFill>
                  <a:srgbClr val="FFFFFF"/>
                </a:solidFill>
                <a:latin typeface="Arial Rounded MT Bold" pitchFamily="34" charset="0"/>
                <a:ea typeface="Arial Rounded MT Bold" pitchFamily="34" charset="-122"/>
                <a:cs typeface="Arial Rounded MT Bold" pitchFamily="34" charset="-120"/>
              </a:rPr>
              <a:t>1st</a:t>
            </a:r>
            <a:endParaRPr lang="en-US" sz="1300" dirty="0"/>
          </a:p>
        </p:txBody>
      </p:sp>
      <p:sp>
        <p:nvSpPr>
          <p:cNvPr id="5" name="Text 22.4"/>
          <p:cNvSpPr txBox="1"/>
          <p:nvPr/>
        </p:nvSpPr>
        <p:spPr>
          <a:xfrm>
            <a:off x="1473163" y="2235144"/>
            <a:ext cx="4482988" cy="380990"/>
          </a:xfrm>
          <a:prstGeom prst="rect">
            <a:avLst/>
          </a:prstGeom>
          <a:noFill/>
          <a:ln/>
        </p:spPr>
        <p:txBody>
          <a:bodyPr wrap="square" lIns="0" tIns="0" rIns="0" bIns="0" rtlCol="0" anchor="ctr"/>
          <a:lstStyle/>
          <a:p>
            <a:pPr algn="l" indent="0" marL="0">
              <a:lnSpc>
                <a:spcPts val="1650"/>
              </a:lnSpc>
              <a:buNone/>
            </a:pPr>
            <a:r>
              <a:rPr lang="en-US" sz="1250" dirty="0">
                <a:solidFill>
                  <a:srgbClr val="16233F"/>
                </a:solidFill>
                <a:latin typeface="Arial" pitchFamily="34" charset="0"/>
                <a:ea typeface="Arial" pitchFamily="34" charset="-122"/>
                <a:cs typeface="Arial" pitchFamily="34" charset="-120"/>
              </a:rPr>
              <a:t>2–4 players, one LAN, no internet.</a:t>
            </a:r>
            <a:endParaRPr lang="en-US" sz="1250" dirty="0"/>
          </a:p>
        </p:txBody>
      </p:sp>
      <p:sp>
        <p:nvSpPr>
          <p:cNvPr id="6" name="Text 22.5"/>
          <p:cNvSpPr txBox="1"/>
          <p:nvPr/>
        </p:nvSpPr>
        <p:spPr>
          <a:xfrm>
            <a:off x="761981" y="3073323"/>
            <a:ext cx="546086" cy="304792"/>
          </a:xfrm>
          <a:prstGeom prst="rect">
            <a:avLst/>
          </a:prstGeom>
          <a:noFill/>
          <a:ln/>
        </p:spPr>
        <p:txBody>
          <a:bodyPr wrap="square" lIns="0" tIns="0" rIns="0" bIns="0" rtlCol="0" anchor="ctr"/>
          <a:lstStyle/>
          <a:p>
            <a:pPr algn="ctr" indent="0" marL="0">
              <a:lnSpc>
                <a:spcPts val="1300"/>
              </a:lnSpc>
              <a:buNone/>
            </a:pPr>
            <a:r>
              <a:rPr lang="en-US" sz="1300" dirty="0">
                <a:solidFill>
                  <a:srgbClr val="FFFFFF"/>
                </a:solidFill>
                <a:latin typeface="Arial Rounded MT Bold" pitchFamily="34" charset="0"/>
                <a:ea typeface="Arial Rounded MT Bold" pitchFamily="34" charset="-122"/>
                <a:cs typeface="Arial Rounded MT Bold" pitchFamily="34" charset="-120"/>
              </a:rPr>
              <a:t>2nd</a:t>
            </a:r>
            <a:endParaRPr lang="en-US" sz="1300" dirty="0"/>
          </a:p>
        </p:txBody>
      </p:sp>
      <p:sp>
        <p:nvSpPr>
          <p:cNvPr id="7" name="Text 22.6"/>
          <p:cNvSpPr txBox="1"/>
          <p:nvPr/>
        </p:nvSpPr>
        <p:spPr>
          <a:xfrm>
            <a:off x="1473163" y="3035224"/>
            <a:ext cx="4482988" cy="380990"/>
          </a:xfrm>
          <a:prstGeom prst="rect">
            <a:avLst/>
          </a:prstGeom>
          <a:noFill/>
          <a:ln/>
        </p:spPr>
        <p:txBody>
          <a:bodyPr wrap="square" lIns="0" tIns="0" rIns="0" bIns="0" rtlCol="0" anchor="ctr"/>
          <a:lstStyle/>
          <a:p>
            <a:pPr algn="l" indent="0" marL="0">
              <a:lnSpc>
                <a:spcPts val="1650"/>
              </a:lnSpc>
              <a:buNone/>
            </a:pPr>
            <a:r>
              <a:rPr lang="en-US" sz="1250" dirty="0">
                <a:solidFill>
                  <a:srgbClr val="16233F"/>
                </a:solidFill>
                <a:latin typeface="Arial" pitchFamily="34" charset="0"/>
                <a:ea typeface="Arial" pitchFamily="34" charset="-122"/>
                <a:cs typeface="Arial" pitchFamily="34" charset="-120"/>
              </a:rPr>
              <a:t>Two mini-games on one shared Unity core.</a:t>
            </a:r>
            <a:endParaRPr lang="en-US" sz="1250" dirty="0"/>
          </a:p>
        </p:txBody>
      </p:sp>
      <p:sp>
        <p:nvSpPr>
          <p:cNvPr id="8" name="Text 22.7"/>
          <p:cNvSpPr txBox="1"/>
          <p:nvPr/>
        </p:nvSpPr>
        <p:spPr>
          <a:xfrm>
            <a:off x="761981" y="3873403"/>
            <a:ext cx="546086" cy="304792"/>
          </a:xfrm>
          <a:prstGeom prst="rect">
            <a:avLst/>
          </a:prstGeom>
          <a:noFill/>
          <a:ln/>
        </p:spPr>
        <p:txBody>
          <a:bodyPr wrap="square" lIns="0" tIns="0" rIns="0" bIns="0" rtlCol="0" anchor="ctr"/>
          <a:lstStyle/>
          <a:p>
            <a:pPr algn="ctr" indent="0" marL="0">
              <a:lnSpc>
                <a:spcPts val="1300"/>
              </a:lnSpc>
              <a:buNone/>
            </a:pPr>
            <a:r>
              <a:rPr lang="en-US" sz="1300" dirty="0">
                <a:solidFill>
                  <a:srgbClr val="FFFFFF"/>
                </a:solidFill>
                <a:latin typeface="Arial Rounded MT Bold" pitchFamily="34" charset="0"/>
                <a:ea typeface="Arial Rounded MT Bold" pitchFamily="34" charset="-122"/>
                <a:cs typeface="Arial Rounded MT Bold" pitchFamily="34" charset="-120"/>
              </a:rPr>
              <a:t>3rd</a:t>
            </a:r>
            <a:endParaRPr lang="en-US" sz="1300" dirty="0"/>
          </a:p>
        </p:txBody>
      </p:sp>
      <p:sp>
        <p:nvSpPr>
          <p:cNvPr id="9" name="Text 22.8"/>
          <p:cNvSpPr txBox="1"/>
          <p:nvPr/>
        </p:nvSpPr>
        <p:spPr>
          <a:xfrm>
            <a:off x="1473163" y="3835304"/>
            <a:ext cx="4482988" cy="380990"/>
          </a:xfrm>
          <a:prstGeom prst="rect">
            <a:avLst/>
          </a:prstGeom>
          <a:noFill/>
          <a:ln/>
        </p:spPr>
        <p:txBody>
          <a:bodyPr wrap="square" lIns="0" tIns="0" rIns="0" bIns="0" rtlCol="0" anchor="ctr"/>
          <a:lstStyle/>
          <a:p>
            <a:pPr algn="l" indent="0" marL="0">
              <a:lnSpc>
                <a:spcPts val="1650"/>
              </a:lnSpc>
              <a:buNone/>
            </a:pPr>
            <a:r>
              <a:rPr lang="en-US" sz="1250" dirty="0">
                <a:solidFill>
                  <a:srgbClr val="16233F"/>
                </a:solidFill>
                <a:latin typeface="Arial" pitchFamily="34" charset="0"/>
                <a:ea typeface="Arial" pitchFamily="34" charset="-122"/>
                <a:cs typeface="Arial" pitchFamily="34" charset="-120"/>
              </a:rPr>
              <a:t>Every shot costs the shooter mass, so aim matters more than volume.</a:t>
            </a:r>
            <a:endParaRPr lang="en-US" sz="1250" dirty="0"/>
          </a:p>
        </p:txBody>
      </p:sp>
      <p:sp>
        <p:nvSpPr>
          <p:cNvPr id="10" name="Text 22.9"/>
          <p:cNvSpPr txBox="1"/>
          <p:nvPr/>
        </p:nvSpPr>
        <p:spPr>
          <a:xfrm>
            <a:off x="596885" y="4889378"/>
            <a:ext cx="3899862" cy="660383"/>
          </a:xfrm>
          <a:prstGeom prst="rect">
            <a:avLst/>
          </a:prstGeom>
          <a:noFill/>
          <a:ln/>
        </p:spPr>
        <p:txBody>
          <a:bodyPr wrap="square" lIns="0" tIns="0" rIns="0" bIns="0" rtlCol="0" anchor="t"/>
          <a:lstStyle/>
          <a:p>
            <a:pPr algn="l" indent="0" marL="0">
              <a:lnSpc>
                <a:spcPts val="5200"/>
              </a:lnSpc>
              <a:buNone/>
            </a:pPr>
            <a:r>
              <a:rPr lang="en-US" sz="5200" dirty="0">
                <a:solidFill>
                  <a:srgbClr val="FF6B1F"/>
                </a:solidFill>
                <a:latin typeface="Arial Rounded MT Bold" pitchFamily="34" charset="0"/>
                <a:ea typeface="Arial Rounded MT Bold" pitchFamily="34" charset="-122"/>
                <a:cs typeface="Arial Rounded MT Bold" pitchFamily="34" charset="-120"/>
              </a:rPr>
              <a:t>Questions?</a:t>
            </a:r>
            <a:endParaRPr lang="en-US" sz="5200" dirty="0"/>
          </a:p>
        </p:txBody>
      </p:sp>
      <p:sp>
        <p:nvSpPr>
          <p:cNvPr id="11" name="Text 22.10"/>
          <p:cNvSpPr txBox="1"/>
          <p:nvPr/>
        </p:nvSpPr>
        <p:spPr>
          <a:xfrm>
            <a:off x="609585" y="5968851"/>
            <a:ext cx="7022924" cy="177796"/>
          </a:xfrm>
          <a:prstGeom prst="rect">
            <a:avLst/>
          </a:prstGeom>
          <a:noFill/>
          <a:ln/>
        </p:spPr>
        <p:txBody>
          <a:bodyPr wrap="square" lIns="0" tIns="0" rIns="0" bIns="0" rtlCol="0" anchor="t"/>
          <a:lstStyle/>
          <a:p>
            <a:pPr algn="l" indent="0" marL="0">
              <a:lnSpc>
                <a:spcPts val="1400"/>
              </a:lnSpc>
              <a:buNone/>
            </a:pPr>
            <a:r>
              <a:rPr lang="en-US" sz="1000" dirty="0">
                <a:solidFill>
                  <a:srgbClr val="6E7D9A"/>
                </a:solidFill>
                <a:latin typeface="Arial" pitchFamily="34" charset="0"/>
                <a:ea typeface="Arial" pitchFamily="34" charset="-122"/>
                <a:cs typeface="Arial" pitchFamily="34" charset="-120"/>
              </a:rPr>
              <a:t>Ezel Bayraktar · Abdurrahim Özağaç · Kürşat Hürkan Aydın · Ardıl Bilal Ülkü</a:t>
            </a:r>
            <a:endParaRPr lang="en-US" sz="1000" dirty="0"/>
          </a:p>
        </p:txBody>
      </p:sp>
      <p:sp>
        <p:nvSpPr>
          <p:cNvPr id="12" name="Text 22.11"/>
          <p:cNvSpPr txBox="1"/>
          <p:nvPr/>
        </p:nvSpPr>
        <p:spPr>
          <a:xfrm>
            <a:off x="9494314" y="6533987"/>
            <a:ext cx="2087796" cy="133347"/>
          </a:xfrm>
          <a:prstGeom prst="rect">
            <a:avLst/>
          </a:prstGeom>
          <a:noFill/>
          <a:ln/>
        </p:spPr>
        <p:txBody>
          <a:bodyPr wrap="square" lIns="0" tIns="0" rIns="0" bIns="0" rtlCol="0" anchor="t"/>
          <a:lstStyle/>
          <a:p>
            <a:pPr algn="r" indent="0" marL="0">
              <a:lnSpc>
                <a:spcPts val="1050"/>
              </a:lnSpc>
              <a:buNone/>
            </a:pPr>
            <a:r>
              <a:rPr lang="en-US" sz="750" dirty="0">
                <a:solidFill>
                  <a:srgbClr val="FFFFFF"/>
                </a:solidFill>
                <a:latin typeface="Arial" pitchFamily="34" charset="0"/>
                <a:ea typeface="Arial" pitchFamily="34" charset="-122"/>
                <a:cs typeface="Arial" pitchFamily="34" charset="-120"/>
              </a:rPr>
              <a:t>Concept render, AI-generated. Not gameplay.</a:t>
            </a:r>
            <a:endParaRPr lang="en-US" sz="75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23.1"/>
          <p:cNvSpPr txBox="1"/>
          <p:nvPr/>
        </p:nvSpPr>
        <p:spPr>
          <a:xfrm>
            <a:off x="609585" y="761981"/>
            <a:ext cx="11371296" cy="384038"/>
          </a:xfrm>
          <a:prstGeom prst="rect">
            <a:avLst/>
          </a:prstGeom>
          <a:noFill/>
          <a:ln/>
        </p:spPr>
        <p:txBody>
          <a:bodyPr wrap="square" lIns="0" tIns="0" rIns="0" bIns="0" rtlCol="0" anchor="t"/>
          <a:lstStyle/>
          <a:p>
            <a:pPr algn="l" indent="0" marL="0">
              <a:lnSpc>
                <a:spcPts val="3020"/>
              </a:lnSpc>
              <a:buNone/>
            </a:pPr>
            <a:r>
              <a:rPr lang="en-US" sz="2700" spc="-27" kern="0" dirty="0">
                <a:solidFill>
                  <a:srgbClr val="16233F"/>
                </a:solidFill>
                <a:latin typeface="Arial Rounded MT Bold" pitchFamily="34" charset="0"/>
                <a:ea typeface="Arial Rounded MT Bold" pitchFamily="34" charset="-122"/>
                <a:cs typeface="Arial Rounded MT Bold" pitchFamily="34" charset="-120"/>
              </a:rPr>
              <a:t>Sources</a:t>
            </a:r>
            <a:endParaRPr lang="en-US" sz="2700" dirty="0"/>
          </a:p>
        </p:txBody>
      </p:sp>
      <p:sp>
        <p:nvSpPr>
          <p:cNvPr id="3" name="Text 23.2"/>
          <p:cNvSpPr txBox="1"/>
          <p:nvPr/>
        </p:nvSpPr>
        <p:spPr>
          <a:xfrm>
            <a:off x="863578" y="1714457"/>
            <a:ext cx="10515337" cy="168906"/>
          </a:xfrm>
          <a:prstGeom prst="rect">
            <a:avLst/>
          </a:prstGeom>
          <a:noFill/>
          <a:ln/>
        </p:spPr>
        <p:txBody>
          <a:bodyPr wrap="square" lIns="0" tIns="0" rIns="0" bIns="0" rtlCol="0" anchor="t"/>
          <a:lstStyle/>
          <a:p>
            <a:pPr algn="l" indent="0" marL="0">
              <a:lnSpc>
                <a:spcPts val="1330"/>
              </a:lnSpc>
              <a:buNone/>
            </a:pPr>
            <a:r>
              <a:rPr lang="en-US" sz="950" dirty="0">
                <a:solidFill>
                  <a:srgbClr val="3B4A66"/>
                </a:solidFill>
                <a:latin typeface="Arial" pitchFamily="34" charset="0"/>
                <a:ea typeface="Arial" pitchFamily="34" charset="-122"/>
                <a:cs typeface="Arial" pitchFamily="34" charset="-120"/>
              </a:rPr>
              <a:t>[1] Newzoo final 2025 figures, via GameDev Reports, 2026-06-26. gamedevreports.substack.com/p/newzoo-gaming-market-surpassed-200</a:t>
            </a:r>
            <a:endParaRPr lang="en-US" sz="950" dirty="0"/>
          </a:p>
        </p:txBody>
      </p:sp>
      <p:sp>
        <p:nvSpPr>
          <p:cNvPr id="4" name="Text 23.3"/>
          <p:cNvSpPr txBox="1"/>
          <p:nvPr/>
        </p:nvSpPr>
        <p:spPr>
          <a:xfrm>
            <a:off x="863578" y="2108147"/>
            <a:ext cx="10515337" cy="168906"/>
          </a:xfrm>
          <a:prstGeom prst="rect">
            <a:avLst/>
          </a:prstGeom>
          <a:noFill/>
          <a:ln/>
        </p:spPr>
        <p:txBody>
          <a:bodyPr wrap="square" lIns="0" tIns="0" rIns="0" bIns="0" rtlCol="0" anchor="t"/>
          <a:lstStyle/>
          <a:p>
            <a:pPr algn="l" indent="0" marL="0">
              <a:lnSpc>
                <a:spcPts val="1330"/>
              </a:lnSpc>
              <a:buNone/>
            </a:pPr>
            <a:r>
              <a:rPr lang="en-US" sz="950" dirty="0">
                <a:solidFill>
                  <a:srgbClr val="3B4A66"/>
                </a:solidFill>
                <a:latin typeface="Arial" pitchFamily="34" charset="0"/>
                <a:ea typeface="Arial" pitchFamily="34" charset="-122"/>
                <a:cs typeface="Arial" pitchFamily="34" charset="-120"/>
              </a:rPr>
              <a:t>[2] Alinea Analytics, games with co-op on Steam, H1 2025 (proprietary estimates). alineaanalytics.substack.com/p/games-with-co-op-generated-over-4</a:t>
            </a:r>
            <a:endParaRPr lang="en-US" sz="950" dirty="0"/>
          </a:p>
        </p:txBody>
      </p:sp>
      <p:sp>
        <p:nvSpPr>
          <p:cNvPr id="5" name="Text 23.4"/>
          <p:cNvSpPr txBox="1"/>
          <p:nvPr/>
        </p:nvSpPr>
        <p:spPr>
          <a:xfrm>
            <a:off x="863578" y="2501837"/>
            <a:ext cx="10515337" cy="168906"/>
          </a:xfrm>
          <a:prstGeom prst="rect">
            <a:avLst/>
          </a:prstGeom>
          <a:noFill/>
          <a:ln/>
        </p:spPr>
        <p:txBody>
          <a:bodyPr wrap="square" lIns="0" tIns="0" rIns="0" bIns="0" rtlCol="0" anchor="t"/>
          <a:lstStyle/>
          <a:p>
            <a:pPr algn="l" indent="0" marL="0">
              <a:lnSpc>
                <a:spcPts val="1330"/>
              </a:lnSpc>
              <a:buNone/>
            </a:pPr>
            <a:r>
              <a:rPr lang="en-US" sz="950" dirty="0">
                <a:solidFill>
                  <a:srgbClr val="3B4A66"/>
                </a:solidFill>
                <a:latin typeface="Arial" pitchFamily="34" charset="0"/>
                <a:ea typeface="Arial" pitchFamily="34" charset="-122"/>
                <a:cs typeface="Arial" pitchFamily="34" charset="-120"/>
              </a:rPr>
              <a:t>[3] ESA Essential Facts 2026 (survey Feb 2026, n=13,545). theesa.com</a:t>
            </a:r>
            <a:endParaRPr lang="en-US" sz="950" dirty="0"/>
          </a:p>
        </p:txBody>
      </p:sp>
      <p:sp>
        <p:nvSpPr>
          <p:cNvPr id="6" name="Text 23.5"/>
          <p:cNvSpPr txBox="1"/>
          <p:nvPr/>
        </p:nvSpPr>
        <p:spPr>
          <a:xfrm>
            <a:off x="863578" y="2895528"/>
            <a:ext cx="10515337" cy="168906"/>
          </a:xfrm>
          <a:prstGeom prst="rect">
            <a:avLst/>
          </a:prstGeom>
          <a:noFill/>
          <a:ln/>
        </p:spPr>
        <p:txBody>
          <a:bodyPr wrap="square" lIns="0" tIns="0" rIns="0" bIns="0" rtlCol="0" anchor="t"/>
          <a:lstStyle/>
          <a:p>
            <a:pPr algn="l" indent="0" marL="0">
              <a:lnSpc>
                <a:spcPts val="1330"/>
              </a:lnSpc>
              <a:buNone/>
            </a:pPr>
            <a:r>
              <a:rPr lang="en-US" sz="950" dirty="0">
                <a:solidFill>
                  <a:srgbClr val="3B4A66"/>
                </a:solidFill>
                <a:latin typeface="Arial" pitchFamily="34" charset="0"/>
                <a:ea typeface="Arial" pitchFamily="34" charset="-122"/>
                <a:cs typeface="Arial" pitchFamily="34" charset="-120"/>
              </a:rPr>
              <a:t>[4] Steam store search, tag “Party Game” × LAN PvP / Online PvP / Shared-Split-screen PvP, 2026-10-17. Tags are user-applied.</a:t>
            </a:r>
            <a:endParaRPr lang="en-US" sz="950" dirty="0"/>
          </a:p>
        </p:txBody>
      </p:sp>
      <p:sp>
        <p:nvSpPr>
          <p:cNvPr id="7" name="Text 23.6"/>
          <p:cNvSpPr txBox="1"/>
          <p:nvPr/>
        </p:nvSpPr>
        <p:spPr>
          <a:xfrm>
            <a:off x="863578" y="3289218"/>
            <a:ext cx="10515337" cy="168906"/>
          </a:xfrm>
          <a:prstGeom prst="rect">
            <a:avLst/>
          </a:prstGeom>
          <a:noFill/>
          <a:ln/>
        </p:spPr>
        <p:txBody>
          <a:bodyPr wrap="square" lIns="0" tIns="0" rIns="0" bIns="0" rtlCol="0" anchor="t"/>
          <a:lstStyle/>
          <a:p>
            <a:pPr algn="l" indent="0" marL="0">
              <a:lnSpc>
                <a:spcPts val="1330"/>
              </a:lnSpc>
              <a:buNone/>
            </a:pPr>
            <a:r>
              <a:rPr lang="en-US" sz="950" dirty="0">
                <a:solidFill>
                  <a:srgbClr val="3B4A66"/>
                </a:solidFill>
                <a:latin typeface="Arial" pitchFamily="34" charset="0"/>
                <a:ea typeface="Arial" pitchFamily="34" charset="-122"/>
                <a:cs typeface="Arial" pitchFamily="34" charset="-120"/>
              </a:rPr>
              <a:t>[5] Game Developers, 2025 Steam revenue distribution (Gamalytic estimates), 2026-08-21. game-developers.org/2025-steam-game-revenue-distribution</a:t>
            </a:r>
            <a:endParaRPr lang="en-US" sz="950" dirty="0"/>
          </a:p>
        </p:txBody>
      </p:sp>
      <p:sp>
        <p:nvSpPr>
          <p:cNvPr id="8" name="Text 23.7"/>
          <p:cNvSpPr txBox="1"/>
          <p:nvPr/>
        </p:nvSpPr>
        <p:spPr>
          <a:xfrm>
            <a:off x="863578" y="3682908"/>
            <a:ext cx="10515337" cy="168906"/>
          </a:xfrm>
          <a:prstGeom prst="rect">
            <a:avLst/>
          </a:prstGeom>
          <a:noFill/>
          <a:ln/>
        </p:spPr>
        <p:txBody>
          <a:bodyPr wrap="square" lIns="0" tIns="0" rIns="0" bIns="0" rtlCol="0" anchor="t"/>
          <a:lstStyle/>
          <a:p>
            <a:pPr algn="l" indent="0" marL="0">
              <a:lnSpc>
                <a:spcPts val="1330"/>
              </a:lnSpc>
              <a:buNone/>
            </a:pPr>
            <a:r>
              <a:rPr lang="en-US" sz="950" dirty="0">
                <a:solidFill>
                  <a:srgbClr val="3B4A66"/>
                </a:solidFill>
                <a:latin typeface="Arial" pitchFamily="34" charset="0"/>
                <a:ea typeface="Arial" pitchFamily="34" charset="-122"/>
                <a:cs typeface="Arial" pitchFamily="34" charset="-120"/>
              </a:rPr>
              <a:t>[6] PC Gamer, Valve at GDC 2026: 5,863 games over $100K on Steam in 2025. pcgamer.com</a:t>
            </a:r>
            <a:endParaRPr lang="en-US" sz="950" dirty="0"/>
          </a:p>
        </p:txBody>
      </p:sp>
      <p:sp>
        <p:nvSpPr>
          <p:cNvPr id="9" name="Text 23.8"/>
          <p:cNvSpPr txBox="1"/>
          <p:nvPr/>
        </p:nvSpPr>
        <p:spPr>
          <a:xfrm>
            <a:off x="863578" y="4076598"/>
            <a:ext cx="10515337" cy="168906"/>
          </a:xfrm>
          <a:prstGeom prst="rect">
            <a:avLst/>
          </a:prstGeom>
          <a:noFill/>
          <a:ln/>
        </p:spPr>
        <p:txBody>
          <a:bodyPr wrap="square" lIns="0" tIns="0" rIns="0" bIns="0" rtlCol="0" anchor="t"/>
          <a:lstStyle/>
          <a:p>
            <a:pPr algn="l" indent="0" marL="0">
              <a:lnSpc>
                <a:spcPts val="1330"/>
              </a:lnSpc>
              <a:buNone/>
            </a:pPr>
            <a:r>
              <a:rPr lang="en-US" sz="950" dirty="0">
                <a:solidFill>
                  <a:srgbClr val="3B4A66"/>
                </a:solidFill>
                <a:latin typeface="Arial" pitchFamily="34" charset="0"/>
                <a:ea typeface="Arial" pitchFamily="34" charset="-122"/>
                <a:cs typeface="Arial" pitchFamily="34" charset="-120"/>
              </a:rPr>
              <a:t>[7] Steam store pages and SteamDB charts, apps 1260320, 285900, 1097150, 880940, 1858400: prices, peaks, reviews, owner estimates. 2026-10-17.</a:t>
            </a:r>
            <a:endParaRPr lang="en-US" sz="950" dirty="0"/>
          </a:p>
        </p:txBody>
      </p:sp>
      <p:sp>
        <p:nvSpPr>
          <p:cNvPr id="10" name="Text 23.9"/>
          <p:cNvSpPr txBox="1"/>
          <p:nvPr/>
        </p:nvSpPr>
        <p:spPr>
          <a:xfrm>
            <a:off x="863578" y="4470288"/>
            <a:ext cx="10515337" cy="168906"/>
          </a:xfrm>
          <a:prstGeom prst="rect">
            <a:avLst/>
          </a:prstGeom>
          <a:noFill/>
          <a:ln/>
        </p:spPr>
        <p:txBody>
          <a:bodyPr wrap="square" lIns="0" tIns="0" rIns="0" bIns="0" rtlCol="0" anchor="t"/>
          <a:lstStyle/>
          <a:p>
            <a:pPr algn="l" indent="0" marL="0">
              <a:lnSpc>
                <a:spcPts val="1330"/>
              </a:lnSpc>
              <a:buNone/>
            </a:pPr>
            <a:r>
              <a:rPr lang="en-US" sz="950" dirty="0">
                <a:solidFill>
                  <a:srgbClr val="3B4A66"/>
                </a:solidFill>
                <a:latin typeface="Arial" pitchFamily="34" charset="0"/>
                <a:ea typeface="Arial" pitchFamily="34" charset="-122"/>
                <a:cs typeface="Arial" pitchFamily="34" charset="-120"/>
              </a:rPr>
              <a:t>[8] GameRevolution / Prima Games: Party Animals requires an internet connection, including split-screen.</a:t>
            </a:r>
            <a:endParaRPr lang="en-US" sz="950" dirty="0"/>
          </a:p>
        </p:txBody>
      </p:sp>
      <p:sp>
        <p:nvSpPr>
          <p:cNvPr id="11" name="Text 23.10"/>
          <p:cNvSpPr txBox="1"/>
          <p:nvPr/>
        </p:nvSpPr>
        <p:spPr>
          <a:xfrm>
            <a:off x="863578" y="4863978"/>
            <a:ext cx="10515337" cy="168906"/>
          </a:xfrm>
          <a:prstGeom prst="rect">
            <a:avLst/>
          </a:prstGeom>
          <a:noFill/>
          <a:ln/>
        </p:spPr>
        <p:txBody>
          <a:bodyPr wrap="square" lIns="0" tIns="0" rIns="0" bIns="0" rtlCol="0" anchor="t"/>
          <a:lstStyle/>
          <a:p>
            <a:pPr algn="l" indent="0" marL="0">
              <a:lnSpc>
                <a:spcPts val="1330"/>
              </a:lnSpc>
              <a:buNone/>
            </a:pPr>
            <a:r>
              <a:rPr lang="en-US" sz="950" dirty="0">
                <a:solidFill>
                  <a:srgbClr val="3B4A66"/>
                </a:solidFill>
                <a:latin typeface="Arial" pitchFamily="34" charset="0"/>
                <a:ea typeface="Arial" pitchFamily="34" charset="-122"/>
                <a:cs typeface="Arial" pitchFamily="34" charset="-120"/>
              </a:rPr>
              <a:t>[9] Osmos official site, osmos-game.com. [10] Squarena on Steam (app 1858400); codeaclysmgames.com/squarena-details.</a:t>
            </a:r>
            <a:endParaRPr lang="en-US" sz="950" dirty="0"/>
          </a:p>
        </p:txBody>
      </p:sp>
      <p:sp>
        <p:nvSpPr>
          <p:cNvPr id="12" name="Text 23.11"/>
          <p:cNvSpPr txBox="1"/>
          <p:nvPr/>
        </p:nvSpPr>
        <p:spPr>
          <a:xfrm>
            <a:off x="863578" y="5257669"/>
            <a:ext cx="10515337" cy="168906"/>
          </a:xfrm>
          <a:prstGeom prst="rect">
            <a:avLst/>
          </a:prstGeom>
          <a:noFill/>
          <a:ln/>
        </p:spPr>
        <p:txBody>
          <a:bodyPr wrap="square" lIns="0" tIns="0" rIns="0" bIns="0" rtlCol="0" anchor="t"/>
          <a:lstStyle/>
          <a:p>
            <a:pPr algn="l" indent="0" marL="0">
              <a:lnSpc>
                <a:spcPts val="1330"/>
              </a:lnSpc>
              <a:buNone/>
            </a:pPr>
            <a:r>
              <a:rPr lang="en-US" sz="950" dirty="0">
                <a:solidFill>
                  <a:srgbClr val="3B4A66"/>
                </a:solidFill>
                <a:latin typeface="Arial" pitchFamily="34" charset="0"/>
                <a:ea typeface="Arial" pitchFamily="34" charset="-122"/>
                <a:cs typeface="Arial" pitchFamily="34" charset="-120"/>
              </a:rPr>
              <a:t>[11] Morphies Law official site, morphieslaw.com/game. [12] Crisol: Theater of Idols, Blumhouse Games and Steam (app 1790930).</a:t>
            </a:r>
            <a:endParaRPr lang="en-US" sz="950" dirty="0"/>
          </a:p>
        </p:txBody>
      </p:sp>
      <p:sp>
        <p:nvSpPr>
          <p:cNvPr id="13" name="Text 23.12"/>
          <p:cNvSpPr txBox="1"/>
          <p:nvPr/>
        </p:nvSpPr>
        <p:spPr>
          <a:xfrm>
            <a:off x="863578" y="5651359"/>
            <a:ext cx="10515337" cy="337732"/>
          </a:xfrm>
          <a:prstGeom prst="rect">
            <a:avLst/>
          </a:prstGeom>
          <a:noFill/>
          <a:ln/>
        </p:spPr>
        <p:txBody>
          <a:bodyPr wrap="square" lIns="0" tIns="0" rIns="0" bIns="0" rtlCol="0" anchor="t"/>
          <a:lstStyle/>
          <a:p>
            <a:pPr algn="l" indent="0" marL="0">
              <a:lnSpc>
                <a:spcPts val="1330"/>
              </a:lnSpc>
              <a:buNone/>
            </a:pPr>
            <a:r>
              <a:rPr lang="en-US" sz="950" dirty="0">
                <a:solidFill>
                  <a:srgbClr val="6E7D9A"/>
                </a:solidFill>
                <a:latin typeface="Arial" pitchFamily="34" charset="0"/>
                <a:ea typeface="Arial" pitchFamily="34" charset="-122"/>
                <a:cs typeface="Arial" pitchFamily="34" charset="-120"/>
              </a:rPr>
              <a:t>Images: all game visuals are AI concept renders (GPT Image via Higgsfield; MiniMax H3) from our own reference art, except competitor screenshots (official Steam media). Logo and level drafts made for this proposal.</a:t>
            </a:r>
            <a:endParaRPr lang="en-US" sz="950" dirty="0"/>
          </a:p>
        </p:txBody>
      </p:sp>
      <p:sp>
        <p:nvSpPr>
          <p:cNvPr id="14" name="Text 23.13"/>
          <p:cNvSpPr txBox="1"/>
          <p:nvPr/>
        </p:nvSpPr>
        <p:spPr>
          <a:xfrm>
            <a:off x="927077" y="355591"/>
            <a:ext cx="603122" cy="107947"/>
          </a:xfrm>
          <a:prstGeom prst="rect">
            <a:avLst/>
          </a:prstGeom>
          <a:noFill/>
          <a:ln/>
        </p:spPr>
        <p:txBody>
          <a:bodyPr wrap="square" lIns="0" tIns="0" rIns="0" bIns="0" rtlCol="0" anchor="t"/>
          <a:lstStyle/>
          <a:p>
            <a:pPr algn="l" indent="0" marL="0">
              <a:lnSpc>
                <a:spcPts val="850"/>
              </a:lnSpc>
              <a:buNone/>
            </a:pPr>
            <a:r>
              <a:rPr lang="en-US" sz="850" b="1" spc="17" kern="0" dirty="0">
                <a:solidFill>
                  <a:srgbClr val="16233F"/>
                </a:solidFill>
                <a:latin typeface="Arial" pitchFamily="34" charset="0"/>
                <a:ea typeface="Arial" pitchFamily="34" charset="-122"/>
                <a:cs typeface="Arial" pitchFamily="34" charset="-120"/>
              </a:rPr>
              <a:t>Appendix</a:t>
            </a:r>
            <a:endParaRPr lang="en-US" sz="850" dirty="0"/>
          </a:p>
        </p:txBody>
      </p:sp>
      <p:sp>
        <p:nvSpPr>
          <p:cNvPr id="15" name="Text 23.14"/>
          <p:cNvSpPr txBox="1"/>
          <p:nvPr/>
        </p:nvSpPr>
        <p:spPr>
          <a:xfrm>
            <a:off x="11180979" y="342891"/>
            <a:ext cx="488698" cy="126997"/>
          </a:xfrm>
          <a:prstGeom prst="rect">
            <a:avLst/>
          </a:prstGeom>
          <a:noFill/>
          <a:ln/>
        </p:spPr>
        <p:txBody>
          <a:bodyPr wrap="square" lIns="0" tIns="0" rIns="0" bIns="0" rtlCol="0" anchor="t"/>
          <a:lstStyle/>
          <a:p>
            <a:pPr algn="l" indent="0" marL="0">
              <a:lnSpc>
                <a:spcPts val="1000"/>
              </a:lnSpc>
              <a:buNone/>
            </a:pPr>
            <a:r>
              <a:rPr lang="en-US" sz="1000" dirty="0">
                <a:solidFill>
                  <a:srgbClr val="16233F"/>
                </a:solidFill>
                <a:latin typeface="Arial Rounded MT Bold" pitchFamily="34" charset="0"/>
                <a:ea typeface="Arial Rounded MT Bold" pitchFamily="34" charset="-122"/>
                <a:cs typeface="Arial Rounded MT Bold" pitchFamily="34" charset="-120"/>
              </a:rPr>
              <a:t>23</a:t>
            </a:r>
            <a:pPr algn="l" indent="0" marL="0">
              <a:lnSpc>
                <a:spcPts val="1000"/>
              </a:lnSpc>
              <a:buNone/>
            </a:pPr>
            <a:r>
              <a:rPr lang="en-US" sz="1000" dirty="0">
                <a:solidFill>
                  <a:srgbClr val="A9B6CC"/>
                </a:solidFill>
                <a:latin typeface="Arial Rounded MT Bold" pitchFamily="34" charset="0"/>
                <a:ea typeface="Arial Rounded MT Bold" pitchFamily="34" charset="-122"/>
                <a:cs typeface="Arial Rounded MT Bold" pitchFamily="34" charset="-120"/>
              </a:rPr>
              <a:t> / 23</a:t>
            </a:r>
            <a:endParaRPr lang="en-US" sz="10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Rounded MT 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Ice Rumble — Game Proposal</dc:title>
  <dc:subject>PptxGenJS Presentation</dc:subject>
  <dc:creator>Ezel Bayraktar, Abdurrahim Özağaç, Kürşat Hürkan Aydın, Ardıl Bilal Ülkü</dc:creator>
  <cp:lastModifiedBy>Ezel Bayraktar, Abdurrahim Özağaç, Kürşat Hürkan Aydın, Ardıl Bilal Ülkü</cp:lastModifiedBy>
  <cp:revision>1</cp:revision>
  <dcterms:created xsi:type="dcterms:W3CDTF">2026-10-17T09:36:46Z</dcterms:created>
  <dcterms:modified xsi:type="dcterms:W3CDTF">2026-10-17T09:36:46Z</dcterms:modified>
</cp:coreProperties>
</file>