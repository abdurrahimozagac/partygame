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4700cfb-1467-e9b0-8ac3-54260513fc5e}">
          <p14:sldIdLst>
            <p14:sldId id="256"/>
            <p14:sldId id="257"/>
          </p14:sldIdLst>
        </p14:section>
        <p14:section name="Gameplay and tech" id="{390c6649-07d2-4504-b734-d389cdaf7bf1}">
          <p14:sldIdLst>
            <p14:sldId id="258"/>
            <p14:sldId id="259"/>
            <p14:sldId id="260"/>
            <p14:sldId id="261"/>
            <p14:sldId id="262"/>
            <p14:sldId id="263"/>
          </p14:sldIdLst>
        </p14:section>
        <p14:section name="Market" id="{6033e6e3-a460-fd7b-f4ff-ecf11e57ba04}">
          <p14:sldIdLst>
            <p14:sldId id="264"/>
            <p14:sldId id="265"/>
            <p14:sldId id="266"/>
          </p14:sldIdLst>
        </p14:section>
        <p14:section name="Innovation" id="{c26ccf42-2cba-5a63-5f38-f3a4ab756aab}">
          <p14:sldIdLst>
            <p14:sldId id="267"/>
            <p14:sldId id="268"/>
            <p14:sldId id="269"/>
          </p14:sldIdLst>
        </p14:section>
        <p14:section name="Drafts and prototypes" id="{7e49cf70-fcc9-3727-3f77-e3828ab9360b}">
          <p14:sldIdLst>
            <p14:sldId id="270"/>
            <p14:sldId id="271"/>
            <p14:sldId id="272"/>
            <p14:sldId id="273"/>
          </p14:sldIdLst>
        </p14:section>
        <p14:section name="Plan" id="{6a840dc7-27c6-2822-8ff1-48652930ba4a}">
          <p14:sldIdLst>
            <p14:sldId id="274"/>
            <p14:sldId id="275"/>
            <p14:sldId id="276"/>
            <p14:sldId id="277"/>
          </p14:sldIdLst>
        </p14:section>
        <p14:section name="Close" id="{f83c2f2c-a774-104d-98ab-601bac1e4dfe}">
          <p14:sldIdLst>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 Rumble is a working title. It is a party game for two to four players on one local network: short physics mini-games, with points carried on one scoreboard. The four of us are the four players at the bottom. All game images in this deck are AI concept renders made from our own reference art; none of them is gameplay.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Plain-language summary first: two to four friends, each on a PC, in the same room; one PC hosts. Everyone plays the same cube in one of four colours. The session loop. The host owns the lobby and the round order. Only points carry over between rounds; mass and position reset, so a bad round never makes the next one harder. We also plan catch-up scoring: whoever won the last round earns slightly fewer points in the next one, and whoever came last earns slightly more, so trailing players stay in contention until the final. Placement points 4, 3, 2, 1 and the size of the adjustment are proposals we will tune in playtests.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resource does three jobs. Shooting spends it: the cube spits out a piece of its own body, hit or miss. Getting hit loses it and pushes you back. And the less you have, the further the same hit sends you; off the edge is a knockout. We present the rule, not the numbers: the exact costs are tuning values we will set in playtests.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rule charges both sides. If only the shooter paid, shooting would be pure loss and hiding would win. If only the target paid, shooting would be free and spamming would win. Charging both makes each shot a trade: a hit should take more from the target than the shot cost you, and a miss costs only you. So aim and timing become the skill. The obvious objection, why not just wait and stay heavy, is answered by scoring: points come from knockouts, not survival, so a cube that never shoots scores nothing. Respawn at full mass and a round timer handle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Mass Knockout. One flat platform with open edges. Spitting costs you mass; hits cost the target mass and push it; lighter cubes fly further. The last cube to hit someone gets the knockout. Rounds are timed and ranked by knockouts. Respawns are at full 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 Race. No shooting here; the skill is momentum. Input sets acceleration, not velocity, and sideways grip is low, so you have to set up corners early. Braking restores grip. Falling sends you back to the last checkpoint: you lose time, not the race. Finish order gives placement, and anyone unfinished at the timeout is ranked by track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The mini-games sit on top of a shared core. Each one implements the same small contract: set up with the players, run, report placement. Below that sit the character, camera, round state machine, scoreboard and lobby, then the LAN layer, where the host is authoritative. Unity Netcode for GameObjects is our candidate library, not a final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shot end to end. The client only sends intent. The host checks the cooldown, takes mass from the shooter, simulates the glob, applies the hit and knockback, and sends one snapshot to everyone. Clients interpolate. Own movement is predicted locally for feel; anything that decides a result lives on the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potential. PC is a 43.6 billion dollar market that grew 12 percent in 2025; games with co-op made an estimated 4.1 billion on Steam in the first half of 2025; most players play with others. Only about 8 percent of Steam party games list LAN. Revenue is very uneven: most releases earn little, but thousands pass 100 thousand dollars. LAN is how we stand out, not why people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comparables, each chosen for one reason. Party Animals and Gang Beasts share our audience and physics comedy. Fall Guys and Pummel Party share our session format of short rounds. Squarena is the closest mechanic: it shrinks you as you lose health, in 2D. Owner numbers are third-party estimates and we label them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Each competitor covers part of this table. Squarena is the only one where damage changes your size, and none ties knockback to lost mass. None advertises official LAN. The Ice Rumble column is our plan, not shipped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rule is that losing mass makes the next incoming hit launch you further. Spend your body to shoot, lose body when hit, that body is your size, ammunition and health, and less of it means you fly further. We searched for the last link and did not find it in any shipped game. The next slide shows the closest prior art for each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links have relatives, and we name them: Osmos and Agar.io spend body mass, but to move; Squarena shrinks you as you lose health, in 2D; Morphies Law moves mass between robots; Crisol spends your blood as ammunition. Smash Bros. raises knockback with a percentage counter, not with mass. Lighter-means-launched-further, and all four links in one 3D party game, we did not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framework, not a finished design. Characters can differ in starting mass and speed. Weight classes are common in the genre; what is different here is that mass is also ammunition, so a heavy build has more shots and a light build fewer. We would tune this after the two MVP mini-games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Drafts and prototypes. This is a real prototype: a deterministic physics simulation of the Mass Knockout rule, written in Three.js and rendered frame by frame. Over three shots the target shrinks and flies further each time, and you can follow that without any UI. It is the reference for our first Unity test of Mass Knockout in Demo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art-direction drafts for the same character: vinyl toy, building blocks, glossy toy and jelly. We generated them to choose a direction before anyone models anything. We chose C, the glossy toy; every concept render in this deck uses it. The four player colours stay the same whatever look we pick.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logo drafts for the working title. A is a wordmark for the title screen and this deck. B stacks the name under the cube for square formats like a store capsule. C is a small icon for the taskbar and the build. None is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level drafts, seen from above. Mass Knockout: one flat square platform with open edges and no walls, so every edge is a knockout line; players spawn near the corners. Ice Race: a closed loop with a start-finish line and checkpoints; corners are where low grip matters, and a fall puts you back at the last checkpoint. These are drafts for the blockout, not final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gives us four checkpoints: the proposal on 19 October, progress presentations on 16 November and 14 December, and the final on 11 January, which may still move. Each one has a playable goal. Demo 1: the shared core, LAN and a blockout of Ice Race. Demo 2: Mass Knockout over LAN and a full session with the scoreboard. Final: a tuned, polished build and the promo video. Below, the three main risks and how the design contains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breakdown up to the first progress presentation on 16 November. We build the shared core first: project setup, character and camera, then LAN host and join and host authority. Ice Race comes first because it reuses most of the core; Mass Knockout's mass state and spit start in parallel. Owners are a proposed split by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on 14 December, completes Mass Knockout: hits, knockback scaled by mass, knockout credit and respawn, all synchronised over the LAN, plus the round state machine and scoreboard. It ends with our first full-session playtest.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phase, up to 11 January, is tuning from playtests, effects, sound, art and UI polish, a LAN stress test and the promo video. The final date may still change; we will shift the last weeks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a LAN party game, two mini-games on one shared core, and one rule that makes every shot a trade.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research notes with all sources are in research/market-research.md.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jp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jp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image" Target="../media/image-11-21.png"/><Relationship Id="rId22" Type="http://schemas.openxmlformats.org/officeDocument/2006/relationships/image" Target="../media/image-11-22.png"/><Relationship Id="rId23" Type="http://schemas.openxmlformats.org/officeDocument/2006/relationships/image" Target="../media/image-11-23.png"/><Relationship Id="rId24" Type="http://schemas.openxmlformats.org/officeDocument/2006/relationships/image" Target="../media/image-11-24.png"/><Relationship Id="rId25" Type="http://schemas.openxmlformats.org/officeDocument/2006/relationships/image" Target="../media/image-11-25.png"/><Relationship Id="rId26" Type="http://schemas.openxmlformats.org/officeDocument/2006/relationships/image" Target="../media/image-11-26.png"/><Relationship Id="rId27" Type="http://schemas.openxmlformats.org/officeDocument/2006/relationships/image" Target="../media/image-11-27.png"/><Relationship Id="rId28" Type="http://schemas.openxmlformats.org/officeDocument/2006/relationships/image" Target="../media/image-11-28.png"/><Relationship Id="rId29" Type="http://schemas.openxmlformats.org/officeDocument/2006/relationships/image" Target="../media/image-11-29.png"/><Relationship Id="rId30" Type="http://schemas.openxmlformats.org/officeDocument/2006/relationships/image" Target="../media/image-11-30.png"/><Relationship Id="rId31" Type="http://schemas.openxmlformats.org/officeDocument/2006/relationships/image" Target="../media/image-11-31.png"/><Relationship Id="rId32" Type="http://schemas.openxmlformats.org/officeDocument/2006/relationships/image" Target="../media/image-11-32.png"/><Relationship Id="rId33" Type="http://schemas.openxmlformats.org/officeDocument/2006/relationships/image" Target="../media/image-11-33.png"/><Relationship Id="rId34" Type="http://schemas.openxmlformats.org/officeDocument/2006/relationships/image" Target="../media/image-11-34.png"/><Relationship Id="rId35" Type="http://schemas.openxmlformats.org/officeDocument/2006/relationships/image" Target="../media/image-11-35.png"/><Relationship Id="rId36" Type="http://schemas.openxmlformats.org/officeDocument/2006/relationships/image" Target="../media/image-11-36.png"/><Relationship Id="rId37" Type="http://schemas.openxmlformats.org/officeDocument/2006/relationships/image" Target="../media/image-11-37.png"/><Relationship Id="rId38" Type="http://schemas.openxmlformats.org/officeDocument/2006/relationships/image" Target="../media/image-11-38.png"/><Relationship Id="rId39" Type="http://schemas.openxmlformats.org/officeDocument/2006/relationships/image" Target="../media/image-11-39.png"/><Relationship Id="rId40" Type="http://schemas.openxmlformats.org/officeDocument/2006/relationships/image" Target="../media/image-11-40.png"/><Relationship Id="rId41" Type="http://schemas.openxmlformats.org/officeDocument/2006/relationships/image" Target="../media/image-11-41.png"/><Relationship Id="rId42" Type="http://schemas.openxmlformats.org/officeDocument/2006/relationships/image" Target="../media/image-11-42.png"/><Relationship Id="rId43" Type="http://schemas.openxmlformats.org/officeDocument/2006/relationships/image" Target="../media/image-11-43.png"/><Relationship Id="rId44" Type="http://schemas.openxmlformats.org/officeDocument/2006/relationships/image" Target="../media/image-11-44.png"/><Relationship Id="rId45" Type="http://schemas.openxmlformats.org/officeDocument/2006/relationships/slideLayout" Target="../slideLayouts/slideLayout1.xml"/><Relationship Id="rId4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jp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image" Target="../media/image-15-5.jp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image" Target="../media/image-16-4.jpg"/><Relationship Id="rId5" Type="http://schemas.openxmlformats.org/officeDocument/2006/relationships/image" Target="../media/image-16-5.jp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jp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1.1" descr="ko_spit_full.png">    </p:cNvPr>
          <p:cNvPicPr>
            <a:picLocks noChangeAspect="1"/>
          </p:cNvPicPr>
          <p:nvPr/>
        </p:nvPicPr>
        <p:blipFill>
          <a:blip r:embed="rId2"/>
          <a:stretch>
            <a:fillRect/>
          </a:stretch>
        </p:blipFill>
        <p:spPr>
          <a:xfrm>
            <a:off x="3555911" y="0"/>
            <a:ext cx="8635784" cy="6857829"/>
          </a:xfrm>
          <a:prstGeom prst="rect">
            <a:avLst/>
          </a:prstGeom>
        </p:spPr>
      </p:pic>
      <p:pic>
        <p:nvPicPr>
          <p:cNvPr id="3" name="raster 1.2" descr="diagram">    </p:cNvPr>
          <p:cNvPicPr>
            <a:picLocks noChangeAspect="1"/>
          </p:cNvPicPr>
          <p:nvPr/>
        </p:nvPicPr>
        <p:blipFill>
          <a:blip r:embed="rId3"/>
          <a:stretch>
            <a:fillRect/>
          </a:stretch>
        </p:blipFill>
        <p:spPr>
          <a:xfrm>
            <a:off x="0" y="0"/>
            <a:ext cx="12191695" cy="6857829"/>
          </a:xfrm>
          <a:prstGeom prst="rect">
            <a:avLst/>
          </a:prstGeom>
        </p:spPr>
      </p:pic>
      <p:sp>
        <p:nvSpPr>
          <p:cNvPr id="4" name="shape 1.3"/>
          <p:cNvSpPr/>
          <p:nvPr/>
        </p:nvSpPr>
        <p:spPr>
          <a:xfrm>
            <a:off x="609585" y="5460863"/>
            <a:ext cx="2641534" cy="736582"/>
          </a:xfrm>
          <a:prstGeom prst="roundRect">
            <a:avLst>
              <a:gd name="adj" fmla="val 17241"/>
            </a:avLst>
          </a:prstGeom>
          <a:solidFill>
            <a:srgbClr val="FFFFFF">
              <a:alpha val="95000"/>
            </a:srgbClr>
          </a:solidFill>
          <a:ln/>
          <a:effectLst>
            <a:outerShdw sx="100000" sy="100000" kx="0" ky="0" algn="bl" rotWithShape="0" blurRad="203200" dist="76200" dir="5400000">
              <a:srgbClr val="1E468C">
                <a:alpha val="16000"/>
              </a:srgbClr>
            </a:outerShdw>
          </a:effectLst>
        </p:spPr>
      </p:sp>
      <p:sp>
        <p:nvSpPr>
          <p:cNvPr id="5" name="shape 1.4"/>
          <p:cNvSpPr/>
          <p:nvPr/>
        </p:nvSpPr>
        <p:spPr>
          <a:xfrm>
            <a:off x="3403515" y="5460863"/>
            <a:ext cx="2641534" cy="736582"/>
          </a:xfrm>
          <a:prstGeom prst="roundRect">
            <a:avLst>
              <a:gd name="adj" fmla="val 17241"/>
            </a:avLst>
          </a:prstGeom>
          <a:solidFill>
            <a:srgbClr val="FFFFFF">
              <a:alpha val="95000"/>
            </a:srgbClr>
          </a:solidFill>
          <a:ln/>
          <a:effectLst>
            <a:outerShdw sx="100000" sy="100000" kx="0" ky="0" algn="bl" rotWithShape="0" blurRad="203200" dist="76200" dir="5400000">
              <a:srgbClr val="1E468C">
                <a:alpha val="16000"/>
              </a:srgbClr>
            </a:outerShdw>
          </a:effectLst>
        </p:spPr>
      </p:sp>
      <p:sp>
        <p:nvSpPr>
          <p:cNvPr id="6" name="shape 1.5"/>
          <p:cNvSpPr/>
          <p:nvPr/>
        </p:nvSpPr>
        <p:spPr>
          <a:xfrm>
            <a:off x="6197445" y="5460863"/>
            <a:ext cx="2641534" cy="736582"/>
          </a:xfrm>
          <a:prstGeom prst="roundRect">
            <a:avLst>
              <a:gd name="adj" fmla="val 17241"/>
            </a:avLst>
          </a:prstGeom>
          <a:solidFill>
            <a:srgbClr val="FFFFFF">
              <a:alpha val="95000"/>
            </a:srgbClr>
          </a:solidFill>
          <a:ln/>
          <a:effectLst>
            <a:outerShdw sx="100000" sy="100000" kx="0" ky="0" algn="bl" rotWithShape="0" blurRad="203200" dist="76200" dir="5400000">
              <a:srgbClr val="1E468C">
                <a:alpha val="16000"/>
              </a:srgbClr>
            </a:outerShdw>
          </a:effectLst>
        </p:spPr>
      </p:sp>
      <p:sp>
        <p:nvSpPr>
          <p:cNvPr id="7" name="shape 1.6"/>
          <p:cNvSpPr/>
          <p:nvPr/>
        </p:nvSpPr>
        <p:spPr>
          <a:xfrm>
            <a:off x="8991375" y="5460863"/>
            <a:ext cx="2641534" cy="736582"/>
          </a:xfrm>
          <a:prstGeom prst="roundRect">
            <a:avLst>
              <a:gd name="adj" fmla="val 17241"/>
            </a:avLst>
          </a:prstGeom>
          <a:solidFill>
            <a:srgbClr val="FFFFFF">
              <a:alpha val="95000"/>
            </a:srgbClr>
          </a:solidFill>
          <a:ln/>
          <a:effectLst>
            <a:outerShdw sx="100000" sy="100000" kx="0" ky="0" algn="bl" rotWithShape="0" blurRad="203200" dist="76200" dir="5400000">
              <a:srgbClr val="1E468C">
                <a:alpha val="16000"/>
              </a:srgbClr>
            </a:outerShdw>
          </a:effectLst>
        </p:spPr>
      </p:sp>
      <p:sp>
        <p:nvSpPr>
          <p:cNvPr id="8" name="text 1.7"/>
          <p:cNvSpPr txBox="1"/>
          <p:nvPr/>
        </p:nvSpPr>
        <p:spPr>
          <a:xfrm>
            <a:off x="609585" y="444489"/>
            <a:ext cx="3576572"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6E7D9A"/>
                </a:solidFill>
                <a:latin typeface="Arial" pitchFamily="34" charset="0"/>
                <a:ea typeface="Arial" pitchFamily="34" charset="-122"/>
                <a:cs typeface="Arial" pitchFamily="34" charset="-120"/>
              </a:rPr>
              <a:t>CMP406 GAMETECH · FALL 2026 · GAME PROPOSAL</a:t>
            </a:r>
            <a:endParaRPr lang="en-US" sz="850" dirty="0"/>
          </a:p>
        </p:txBody>
      </p:sp>
      <p:sp>
        <p:nvSpPr>
          <p:cNvPr id="9" name="text 1.8"/>
          <p:cNvSpPr txBox="1"/>
          <p:nvPr/>
        </p:nvSpPr>
        <p:spPr>
          <a:xfrm>
            <a:off x="571486" y="1269968"/>
            <a:ext cx="2084746" cy="1269968"/>
          </a:xfrm>
          <a:prstGeom prst="rect">
            <a:avLst/>
          </a:prstGeom>
          <a:noFill/>
          <a:ln/>
        </p:spPr>
        <p:txBody>
          <a:bodyPr wrap="square" lIns="0" tIns="0" rIns="0" bIns="0" rtlCol="0" anchor="t"/>
          <a:lstStyle/>
          <a:p>
            <a:pPr algn="l" indent="0" marL="0">
              <a:lnSpc>
                <a:spcPts val="10000"/>
              </a:lnSpc>
              <a:buNone/>
            </a:pPr>
            <a:r>
              <a:rPr lang="en-US" sz="10000" dirty="0">
                <a:solidFill>
                  <a:srgbClr val="1FA9EA"/>
                </a:solidFill>
                <a:latin typeface="Arial Rounded MT Bold" pitchFamily="34" charset="0"/>
                <a:ea typeface="Arial Rounded MT Bold" pitchFamily="34" charset="-122"/>
                <a:cs typeface="Arial Rounded MT Bold" pitchFamily="34" charset="-120"/>
              </a:rPr>
              <a:t>Ice</a:t>
            </a:r>
            <a:endParaRPr lang="en-US" sz="10000" dirty="0"/>
          </a:p>
        </p:txBody>
      </p:sp>
      <p:sp>
        <p:nvSpPr>
          <p:cNvPr id="10" name="text 1.9"/>
          <p:cNvSpPr txBox="1"/>
          <p:nvPr/>
        </p:nvSpPr>
        <p:spPr>
          <a:xfrm>
            <a:off x="571486" y="2539937"/>
            <a:ext cx="4990678" cy="1269968"/>
          </a:xfrm>
          <a:prstGeom prst="rect">
            <a:avLst/>
          </a:prstGeom>
          <a:noFill/>
          <a:ln/>
        </p:spPr>
        <p:txBody>
          <a:bodyPr wrap="square" lIns="0" tIns="0" rIns="0" bIns="0" rtlCol="0" anchor="t"/>
          <a:lstStyle/>
          <a:p>
            <a:pPr algn="l" indent="0" marL="0">
              <a:lnSpc>
                <a:spcPts val="10000"/>
              </a:lnSpc>
              <a:buNone/>
            </a:pPr>
            <a:r>
              <a:rPr lang="en-US" sz="10000" dirty="0">
                <a:solidFill>
                  <a:srgbClr val="16233F"/>
                </a:solidFill>
                <a:latin typeface="Arial Rounded MT Bold" pitchFamily="34" charset="0"/>
                <a:ea typeface="Arial Rounded MT Bold" pitchFamily="34" charset="-122"/>
                <a:cs typeface="Arial Rounded MT Bold" pitchFamily="34" charset="-120"/>
              </a:rPr>
              <a:t>Rumble</a:t>
            </a:r>
            <a:endParaRPr lang="en-US" sz="10000" dirty="0"/>
          </a:p>
        </p:txBody>
      </p:sp>
      <p:sp>
        <p:nvSpPr>
          <p:cNvPr id="11" name="shape 1.10"/>
          <p:cNvSpPr/>
          <p:nvPr/>
        </p:nvSpPr>
        <p:spPr>
          <a:xfrm>
            <a:off x="609585" y="4038499"/>
            <a:ext cx="1269968" cy="253994"/>
          </a:xfrm>
          <a:prstGeom prst="roundRect">
            <a:avLst>
              <a:gd name="adj" fmla="val 50000"/>
            </a:avLst>
          </a:prstGeom>
          <a:solidFill>
            <a:srgbClr val="FF6B1F"/>
          </a:solidFill>
          <a:ln/>
        </p:spPr>
      </p:sp>
      <p:sp>
        <p:nvSpPr>
          <p:cNvPr id="12" name="text 1.11"/>
          <p:cNvSpPr txBox="1"/>
          <p:nvPr/>
        </p:nvSpPr>
        <p:spPr>
          <a:xfrm>
            <a:off x="609585" y="4038499"/>
            <a:ext cx="1269968" cy="2539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WORKING TITLE</a:t>
            </a:r>
            <a:endParaRPr lang="en-US" sz="700" dirty="0"/>
          </a:p>
        </p:txBody>
      </p:sp>
      <p:sp>
        <p:nvSpPr>
          <p:cNvPr id="13" name="text 1.12"/>
          <p:cNvSpPr txBox="1"/>
          <p:nvPr/>
        </p:nvSpPr>
        <p:spPr>
          <a:xfrm>
            <a:off x="609585" y="4444889"/>
            <a:ext cx="4863978" cy="525648"/>
          </a:xfrm>
          <a:prstGeom prst="rect">
            <a:avLst/>
          </a:prstGeom>
          <a:noFill/>
          <a:ln/>
        </p:spPr>
        <p:txBody>
          <a:bodyPr wrap="square" lIns="0" tIns="0" rIns="0" bIns="0" rtlCol="0" anchor="t"/>
          <a:lstStyle/>
          <a:p>
            <a:pPr algn="l" indent="0" marL="0">
              <a:lnSpc>
                <a:spcPts val="2070"/>
              </a:lnSpc>
              <a:buNone/>
            </a:pPr>
            <a:r>
              <a:rPr lang="en-US" sz="1500" dirty="0">
                <a:solidFill>
                  <a:srgbClr val="16233F"/>
                </a:solidFill>
                <a:latin typeface="Arial" pitchFamily="34" charset="0"/>
                <a:ea typeface="Arial" pitchFamily="34" charset="-122"/>
                <a:cs typeface="Arial" pitchFamily="34" charset="-120"/>
              </a:rPr>
              <a:t>A LAN party game for 2–4 players: short physics mini-games, one shared scoreboard.</a:t>
            </a:r>
            <a:endParaRPr lang="en-US" sz="1500" dirty="0"/>
          </a:p>
        </p:txBody>
      </p:sp>
      <p:pic>
        <p:nvPicPr>
          <p:cNvPr id="14" name="raster 1.13" descr="diagram">    </p:cNvPr>
          <p:cNvPicPr>
            <a:picLocks noChangeAspect="1"/>
          </p:cNvPicPr>
          <p:nvPr/>
        </p:nvPicPr>
        <p:blipFill>
          <a:blip r:embed="rId4"/>
          <a:stretch>
            <a:fillRect/>
          </a:stretch>
        </p:blipFill>
        <p:spPr>
          <a:xfrm>
            <a:off x="736582" y="5600560"/>
            <a:ext cx="457189" cy="457189"/>
          </a:xfrm>
          <a:prstGeom prst="rect">
            <a:avLst/>
          </a:prstGeom>
        </p:spPr>
      </p:pic>
      <p:sp>
        <p:nvSpPr>
          <p:cNvPr id="15" name="text 1.14"/>
          <p:cNvSpPr txBox="1"/>
          <p:nvPr/>
        </p:nvSpPr>
        <p:spPr>
          <a:xfrm>
            <a:off x="1308067" y="5651359"/>
            <a:ext cx="1879553"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Ezel Bayraktar</a:t>
            </a:r>
            <a:endParaRPr lang="en-US" sz="1100" dirty="0"/>
          </a:p>
        </p:txBody>
      </p:sp>
      <p:sp>
        <p:nvSpPr>
          <p:cNvPr id="16" name="text 1.15"/>
          <p:cNvSpPr txBox="1"/>
          <p:nvPr/>
        </p:nvSpPr>
        <p:spPr>
          <a:xfrm>
            <a:off x="1308067" y="5854554"/>
            <a:ext cx="699878"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2220356197</a:t>
            </a:r>
            <a:endParaRPr lang="en-US" sz="850" dirty="0"/>
          </a:p>
        </p:txBody>
      </p:sp>
      <p:pic>
        <p:nvPicPr>
          <p:cNvPr id="17" name="raster 1.16" descr="diagram">    </p:cNvPr>
          <p:cNvPicPr>
            <a:picLocks noChangeAspect="1"/>
          </p:cNvPicPr>
          <p:nvPr/>
        </p:nvPicPr>
        <p:blipFill>
          <a:blip r:embed="rId5"/>
          <a:stretch>
            <a:fillRect/>
          </a:stretch>
        </p:blipFill>
        <p:spPr>
          <a:xfrm>
            <a:off x="3530512" y="5600560"/>
            <a:ext cx="457189" cy="457189"/>
          </a:xfrm>
          <a:prstGeom prst="rect">
            <a:avLst/>
          </a:prstGeom>
        </p:spPr>
      </p:pic>
      <p:sp>
        <p:nvSpPr>
          <p:cNvPr id="18" name="text 1.17"/>
          <p:cNvSpPr txBox="1"/>
          <p:nvPr/>
        </p:nvSpPr>
        <p:spPr>
          <a:xfrm>
            <a:off x="4101997" y="5651359"/>
            <a:ext cx="1879553"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Abdurrahim Özağaç</a:t>
            </a:r>
            <a:endParaRPr lang="en-US" sz="1100" dirty="0"/>
          </a:p>
        </p:txBody>
      </p:sp>
      <p:sp>
        <p:nvSpPr>
          <p:cNvPr id="19" name="text 1.18"/>
          <p:cNvSpPr txBox="1"/>
          <p:nvPr/>
        </p:nvSpPr>
        <p:spPr>
          <a:xfrm>
            <a:off x="4101997" y="5854554"/>
            <a:ext cx="699878"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2220356033</a:t>
            </a:r>
            <a:endParaRPr lang="en-US" sz="850" dirty="0"/>
          </a:p>
        </p:txBody>
      </p:sp>
      <p:pic>
        <p:nvPicPr>
          <p:cNvPr id="20" name="raster 1.19" descr="diagram">    </p:cNvPr>
          <p:cNvPicPr>
            <a:picLocks noChangeAspect="1"/>
          </p:cNvPicPr>
          <p:nvPr/>
        </p:nvPicPr>
        <p:blipFill>
          <a:blip r:embed="rId6"/>
          <a:stretch>
            <a:fillRect/>
          </a:stretch>
        </p:blipFill>
        <p:spPr>
          <a:xfrm>
            <a:off x="6324442" y="5600560"/>
            <a:ext cx="457189" cy="457189"/>
          </a:xfrm>
          <a:prstGeom prst="rect">
            <a:avLst/>
          </a:prstGeom>
        </p:spPr>
      </p:pic>
      <p:sp>
        <p:nvSpPr>
          <p:cNvPr id="21" name="text 1.20"/>
          <p:cNvSpPr txBox="1"/>
          <p:nvPr/>
        </p:nvSpPr>
        <p:spPr>
          <a:xfrm>
            <a:off x="6895928" y="5651359"/>
            <a:ext cx="1879553"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Kürşat Hürkan Aydın</a:t>
            </a:r>
            <a:endParaRPr lang="en-US" sz="1100" dirty="0"/>
          </a:p>
        </p:txBody>
      </p:sp>
      <p:sp>
        <p:nvSpPr>
          <p:cNvPr id="22" name="text 1.21"/>
          <p:cNvSpPr txBox="1"/>
          <p:nvPr/>
        </p:nvSpPr>
        <p:spPr>
          <a:xfrm>
            <a:off x="6895928" y="5854554"/>
            <a:ext cx="699878"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2230356008</a:t>
            </a:r>
            <a:endParaRPr lang="en-US" sz="850" dirty="0"/>
          </a:p>
        </p:txBody>
      </p:sp>
      <p:pic>
        <p:nvPicPr>
          <p:cNvPr id="23" name="raster 1.22" descr="diagram">    </p:cNvPr>
          <p:cNvPicPr>
            <a:picLocks noChangeAspect="1"/>
          </p:cNvPicPr>
          <p:nvPr/>
        </p:nvPicPr>
        <p:blipFill>
          <a:blip r:embed="rId7"/>
          <a:stretch>
            <a:fillRect/>
          </a:stretch>
        </p:blipFill>
        <p:spPr>
          <a:xfrm>
            <a:off x="9118372" y="5600560"/>
            <a:ext cx="457189" cy="457189"/>
          </a:xfrm>
          <a:prstGeom prst="rect">
            <a:avLst/>
          </a:prstGeom>
        </p:spPr>
      </p:pic>
      <p:sp>
        <p:nvSpPr>
          <p:cNvPr id="24" name="text 1.23"/>
          <p:cNvSpPr txBox="1"/>
          <p:nvPr/>
        </p:nvSpPr>
        <p:spPr>
          <a:xfrm>
            <a:off x="9689858" y="5651359"/>
            <a:ext cx="1879553"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Ardıl Bilal Ülkü</a:t>
            </a:r>
            <a:endParaRPr lang="en-US" sz="1100" dirty="0"/>
          </a:p>
        </p:txBody>
      </p:sp>
      <p:sp>
        <p:nvSpPr>
          <p:cNvPr id="25" name="text 1.24"/>
          <p:cNvSpPr txBox="1"/>
          <p:nvPr/>
        </p:nvSpPr>
        <p:spPr>
          <a:xfrm>
            <a:off x="9689858" y="5854554"/>
            <a:ext cx="699878"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2230356051</a:t>
            </a:r>
            <a:endParaRPr lang="en-US" sz="850" dirty="0"/>
          </a:p>
        </p:txBody>
      </p:sp>
      <p:sp>
        <p:nvSpPr>
          <p:cNvPr id="26" name="text 1.25"/>
          <p:cNvSpPr txBox="1"/>
          <p:nvPr/>
        </p:nvSpPr>
        <p:spPr>
          <a:xfrm>
            <a:off x="9224450" y="6516227"/>
            <a:ext cx="2357660" cy="151126"/>
          </a:xfrm>
          <a:prstGeom prst="rect">
            <a:avLst/>
          </a:prstGeom>
          <a:noFill/>
          <a:ln/>
        </p:spPr>
        <p:txBody>
          <a:bodyPr wrap="square" lIns="0" tIns="0" rIns="0" bIns="0" rtlCol="0" anchor="t"/>
          <a:lstStyle/>
          <a:p>
            <a:pPr algn="r" indent="0" marL="0">
              <a:lnSpc>
                <a:spcPts val="1190"/>
              </a:lnSpc>
              <a:buNone/>
            </a:pPr>
            <a:r>
              <a:rPr lang="en-US" sz="850" dirty="0">
                <a:solidFill>
                  <a:srgbClr val="FFFFFF"/>
                </a:solidFill>
                <a:latin typeface="Arial" pitchFamily="34" charset="0"/>
                <a:ea typeface="Arial" pitchFamily="34" charset="-122"/>
                <a:cs typeface="Arial" pitchFamily="34" charset="-120"/>
              </a:rPr>
              <a:t>Concept render, AI-generated. Not gameplay.</a:t>
            </a:r>
            <a:endParaRPr lang="en-US" sz="8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1"/>
          <p:cNvSpPr/>
          <p:nvPr/>
        </p:nvSpPr>
        <p:spPr>
          <a:xfrm>
            <a:off x="609585" y="2031949"/>
            <a:ext cx="2006550" cy="1308067"/>
          </a:xfrm>
          <a:prstGeom prst="roundRect">
            <a:avLst>
              <a:gd name="adj" fmla="val 13592"/>
            </a:avLst>
          </a:prstGeom>
          <a:solidFill>
            <a:srgbClr val="FFFFFF"/>
          </a:solidFill>
          <a:ln/>
          <a:effectLst>
            <a:outerShdw sx="100000" sy="100000" kx="0" ky="0" algn="bl" rotWithShape="0" blurRad="203200" dist="76200" dir="5400000">
              <a:srgbClr val="1E468C">
                <a:alpha val="16000"/>
              </a:srgbClr>
            </a:outerShdw>
          </a:effectLst>
        </p:spPr>
      </p:sp>
      <p:sp>
        <p:nvSpPr>
          <p:cNvPr id="3" name="shape 2.2"/>
          <p:cNvSpPr/>
          <p:nvPr/>
        </p:nvSpPr>
        <p:spPr>
          <a:xfrm>
            <a:off x="2876478" y="2031949"/>
            <a:ext cx="2006550" cy="1308067"/>
          </a:xfrm>
          <a:prstGeom prst="roundRect">
            <a:avLst>
              <a:gd name="adj" fmla="val 13592"/>
            </a:avLst>
          </a:prstGeom>
          <a:solidFill>
            <a:srgbClr val="FFFFFF"/>
          </a:solidFill>
          <a:ln/>
          <a:effectLst>
            <a:outerShdw sx="100000" sy="100000" kx="0" ky="0" algn="bl" rotWithShape="0" blurRad="203200" dist="76200" dir="5400000">
              <a:srgbClr val="1E468C">
                <a:alpha val="16000"/>
              </a:srgbClr>
            </a:outerShdw>
          </a:effectLst>
        </p:spPr>
      </p:sp>
      <p:sp>
        <p:nvSpPr>
          <p:cNvPr id="4" name="shape 2.3"/>
          <p:cNvSpPr/>
          <p:nvPr/>
        </p:nvSpPr>
        <p:spPr>
          <a:xfrm>
            <a:off x="5143371" y="2031949"/>
            <a:ext cx="2006550" cy="1308067"/>
          </a:xfrm>
          <a:prstGeom prst="roundRect">
            <a:avLst>
              <a:gd name="adj" fmla="val 13592"/>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sp>
        <p:nvSpPr>
          <p:cNvPr id="5" name="shape 2.4"/>
          <p:cNvSpPr/>
          <p:nvPr/>
        </p:nvSpPr>
        <p:spPr>
          <a:xfrm>
            <a:off x="7410265" y="2031949"/>
            <a:ext cx="2006550" cy="1308067"/>
          </a:xfrm>
          <a:prstGeom prst="roundRect">
            <a:avLst>
              <a:gd name="adj" fmla="val 13592"/>
            </a:avLst>
          </a:prstGeom>
          <a:solidFill>
            <a:srgbClr val="FFFFFF"/>
          </a:solidFill>
          <a:ln/>
          <a:effectLst>
            <a:outerShdw sx="100000" sy="100000" kx="0" ky="0" algn="bl" rotWithShape="0" blurRad="203200" dist="76200" dir="5400000">
              <a:srgbClr val="1E468C">
                <a:alpha val="16000"/>
              </a:srgbClr>
            </a:outerShdw>
          </a:effectLst>
        </p:spPr>
      </p:sp>
      <p:sp>
        <p:nvSpPr>
          <p:cNvPr id="6" name="shape 2.5"/>
          <p:cNvSpPr/>
          <p:nvPr/>
        </p:nvSpPr>
        <p:spPr>
          <a:xfrm>
            <a:off x="9677158" y="2031949"/>
            <a:ext cx="2006550" cy="1308067"/>
          </a:xfrm>
          <a:prstGeom prst="roundRect">
            <a:avLst>
              <a:gd name="adj" fmla="val 13592"/>
            </a:avLst>
          </a:prstGeom>
          <a:solidFill>
            <a:srgbClr val="FFFFFF"/>
          </a:solidFill>
          <a:ln/>
          <a:effectLst>
            <a:outerShdw sx="100000" sy="100000" kx="0" ky="0" algn="bl" rotWithShape="0" blurRad="203200" dist="76200" dir="5400000">
              <a:srgbClr val="1E468C">
                <a:alpha val="16000"/>
              </a:srgbClr>
            </a:outerShdw>
          </a:effectLst>
        </p:spPr>
      </p:sp>
      <p:sp>
        <p:nvSpPr>
          <p:cNvPr id="7" name="shape 2.6"/>
          <p:cNvSpPr/>
          <p:nvPr/>
        </p:nvSpPr>
        <p:spPr>
          <a:xfrm>
            <a:off x="609585" y="4127397"/>
            <a:ext cx="5206870" cy="2158946"/>
          </a:xfrm>
          <a:prstGeom prst="roundRect">
            <a:avLst>
              <a:gd name="adj" fmla="val 8235"/>
            </a:avLst>
          </a:prstGeom>
          <a:solidFill>
            <a:srgbClr val="FFFFFF"/>
          </a:solidFill>
          <a:ln/>
          <a:effectLst>
            <a:outerShdw sx="100000" sy="100000" kx="0" ky="0" algn="bl" rotWithShape="0" blurRad="203200" dist="76200" dir="5400000">
              <a:srgbClr val="1E468C">
                <a:alpha val="16000"/>
              </a:srgbClr>
            </a:outerShdw>
          </a:effectLst>
        </p:spPr>
      </p:sp>
      <p:sp>
        <p:nvSpPr>
          <p:cNvPr id="8" name="shape 2.7"/>
          <p:cNvSpPr/>
          <p:nvPr/>
        </p:nvSpPr>
        <p:spPr>
          <a:xfrm>
            <a:off x="6070448" y="4127397"/>
            <a:ext cx="5511662" cy="2158946"/>
          </a:xfrm>
          <a:prstGeom prst="roundRect">
            <a:avLst>
              <a:gd name="adj" fmla="val 8235"/>
            </a:avLst>
          </a:prstGeom>
          <a:solidFill>
            <a:srgbClr val="FFFFFF"/>
          </a:solidFill>
          <a:ln/>
          <a:effectLst>
            <a:outerShdw sx="100000" sy="100000" kx="0" ky="0" algn="bl" rotWithShape="0" blurRad="203200" dist="76200" dir="5400000">
              <a:srgbClr val="1E468C">
                <a:alpha val="16000"/>
              </a:srgbClr>
            </a:outerShdw>
          </a:effectLst>
        </p:spPr>
      </p:sp>
      <p:pic>
        <p:nvPicPr>
          <p:cNvPr id="9" name="raster 2.8" descr="diagram">    </p:cNvPr>
          <p:cNvPicPr>
            <a:picLocks noChangeAspect="1"/>
          </p:cNvPicPr>
          <p:nvPr/>
        </p:nvPicPr>
        <p:blipFill>
          <a:blip r:embed="rId2"/>
          <a:stretch>
            <a:fillRect/>
          </a:stretch>
        </p:blipFill>
        <p:spPr>
          <a:xfrm>
            <a:off x="2616135" y="2590735"/>
            <a:ext cx="165096" cy="190495"/>
          </a:xfrm>
          <a:prstGeom prst="rect">
            <a:avLst/>
          </a:prstGeom>
        </p:spPr>
      </p:pic>
      <p:pic>
        <p:nvPicPr>
          <p:cNvPr id="10" name="raster 2.9" descr="diagram">    </p:cNvPr>
          <p:cNvPicPr>
            <a:picLocks noChangeAspect="1"/>
          </p:cNvPicPr>
          <p:nvPr/>
        </p:nvPicPr>
        <p:blipFill>
          <a:blip r:embed="rId3"/>
          <a:stretch>
            <a:fillRect/>
          </a:stretch>
        </p:blipFill>
        <p:spPr>
          <a:xfrm>
            <a:off x="4883028" y="2590735"/>
            <a:ext cx="165096" cy="190495"/>
          </a:xfrm>
          <a:prstGeom prst="rect">
            <a:avLst/>
          </a:prstGeom>
        </p:spPr>
      </p:pic>
      <p:pic>
        <p:nvPicPr>
          <p:cNvPr id="11" name="raster 2.10" descr="diagram">    </p:cNvPr>
          <p:cNvPicPr>
            <a:picLocks noChangeAspect="1"/>
          </p:cNvPicPr>
          <p:nvPr/>
        </p:nvPicPr>
        <p:blipFill>
          <a:blip r:embed="rId4"/>
          <a:stretch>
            <a:fillRect/>
          </a:stretch>
        </p:blipFill>
        <p:spPr>
          <a:xfrm>
            <a:off x="7149921" y="2590735"/>
            <a:ext cx="165096" cy="190495"/>
          </a:xfrm>
          <a:prstGeom prst="rect">
            <a:avLst/>
          </a:prstGeom>
        </p:spPr>
      </p:pic>
      <p:pic>
        <p:nvPicPr>
          <p:cNvPr id="12" name="raster 2.11" descr="diagram">    </p:cNvPr>
          <p:cNvPicPr>
            <a:picLocks noChangeAspect="1"/>
          </p:cNvPicPr>
          <p:nvPr/>
        </p:nvPicPr>
        <p:blipFill>
          <a:blip r:embed="rId5"/>
          <a:stretch>
            <a:fillRect/>
          </a:stretch>
        </p:blipFill>
        <p:spPr>
          <a:xfrm>
            <a:off x="9416815" y="2590735"/>
            <a:ext cx="165096" cy="190495"/>
          </a:xfrm>
          <a:prstGeom prst="rect">
            <a:avLst/>
          </a:prstGeom>
        </p:spPr>
      </p:pic>
      <p:pic>
        <p:nvPicPr>
          <p:cNvPr id="13" name="raster 2.12" descr="diagram">    </p:cNvPr>
          <p:cNvPicPr>
            <a:picLocks noChangeAspect="1"/>
          </p:cNvPicPr>
          <p:nvPr/>
        </p:nvPicPr>
        <p:blipFill>
          <a:blip r:embed="rId6"/>
          <a:stretch>
            <a:fillRect/>
          </a:stretch>
        </p:blipFill>
        <p:spPr>
          <a:xfrm>
            <a:off x="3765456" y="3289218"/>
            <a:ext cx="6965776" cy="444489"/>
          </a:xfrm>
          <a:prstGeom prst="rect">
            <a:avLst/>
          </a:prstGeom>
        </p:spPr>
      </p:pic>
      <p:sp>
        <p:nvSpPr>
          <p:cNvPr id="14" name="shape 2.13"/>
          <p:cNvSpPr/>
          <p:nvPr/>
        </p:nvSpPr>
        <p:spPr>
          <a:xfrm>
            <a:off x="6324442" y="4940176"/>
            <a:ext cx="5003675" cy="12700"/>
          </a:xfrm>
          <a:prstGeom prst="roundRect">
            <a:avLst>
              <a:gd name="adj" fmla="val 49999"/>
            </a:avLst>
          </a:prstGeom>
          <a:solidFill>
            <a:srgbClr val="DCE6F3"/>
          </a:solidFill>
          <a:ln/>
        </p:spPr>
      </p:sp>
      <p:sp>
        <p:nvSpPr>
          <p:cNvPr id="15" name="shape 2.14"/>
          <p:cNvSpPr/>
          <p:nvPr/>
        </p:nvSpPr>
        <p:spPr>
          <a:xfrm>
            <a:off x="6324442" y="5600560"/>
            <a:ext cx="5003675" cy="12700"/>
          </a:xfrm>
          <a:prstGeom prst="roundRect">
            <a:avLst>
              <a:gd name="adj" fmla="val 49999"/>
            </a:avLst>
          </a:prstGeom>
          <a:solidFill>
            <a:srgbClr val="DCE6F3"/>
          </a:solidFill>
          <a:ln/>
        </p:spPr>
      </p:sp>
      <p:sp>
        <p:nvSpPr>
          <p:cNvPr id="16" name="text 2.15"/>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How it plays: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one room</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short rounds, one scoreboard</a:t>
            </a:r>
            <a:endParaRPr lang="en-US" sz="2700" dirty="0"/>
          </a:p>
        </p:txBody>
      </p:sp>
      <p:sp>
        <p:nvSpPr>
          <p:cNvPr id="17" name="text 2.16"/>
          <p:cNvSpPr txBox="1"/>
          <p:nvPr/>
        </p:nvSpPr>
        <p:spPr>
          <a:xfrm>
            <a:off x="609585" y="1409665"/>
            <a:ext cx="11010625" cy="497074"/>
          </a:xfrm>
          <a:prstGeom prst="rect">
            <a:avLst/>
          </a:prstGeom>
          <a:noFill/>
          <a:ln/>
        </p:spPr>
        <p:txBody>
          <a:bodyPr wrap="square" lIns="0" tIns="0" rIns="0" bIns="0" rtlCol="0" anchor="t"/>
          <a:lstStyle/>
          <a:p>
            <a:pPr algn="l" indent="0" marL="0">
              <a:lnSpc>
                <a:spcPts val="1960"/>
              </a:lnSpc>
              <a:buNone/>
            </a:pPr>
            <a:r>
              <a:rPr lang="en-US" sz="1350" dirty="0">
                <a:solidFill>
                  <a:srgbClr val="3B4A66"/>
                </a:solidFill>
                <a:latin typeface="Arial" pitchFamily="34" charset="0"/>
                <a:ea typeface="Arial" pitchFamily="34" charset="-122"/>
                <a:cs typeface="Arial" pitchFamily="34" charset="-120"/>
              </a:rPr>
              <a:t>2–4 friends in one room, each at their own PC. One PC hosts; the others join over the local network. </a:t>
            </a:r>
            <a:pPr algn="l" indent="0" marL="0">
              <a:lnSpc>
                <a:spcPts val="1960"/>
              </a:lnSpc>
              <a:buNone/>
            </a:pPr>
            <a:r>
              <a:rPr lang="en-US" sz="1350" b="1" dirty="0">
                <a:solidFill>
                  <a:srgbClr val="16233F"/>
                </a:solidFill>
                <a:latin typeface="Arial" pitchFamily="34" charset="0"/>
                <a:ea typeface="Arial" pitchFamily="34" charset="-122"/>
                <a:cs typeface="Arial" pitchFamily="34" charset="-120"/>
              </a:rPr>
              <a:t>Everyone plays the same cube, in one of four colours.</a:t>
            </a:r>
            <a:endParaRPr lang="en-US" sz="1350" dirty="0"/>
          </a:p>
        </p:txBody>
      </p:sp>
      <p:sp>
        <p:nvSpPr>
          <p:cNvPr id="18" name="shape 2.17"/>
          <p:cNvSpPr/>
          <p:nvPr/>
        </p:nvSpPr>
        <p:spPr>
          <a:xfrm>
            <a:off x="761981" y="2184345"/>
            <a:ext cx="279393" cy="279393"/>
          </a:xfrm>
          <a:prstGeom prst="roundRect">
            <a:avLst>
              <a:gd name="adj" fmla="val 50000"/>
            </a:avLst>
          </a:prstGeom>
          <a:solidFill>
            <a:srgbClr val="E2F4FD"/>
          </a:solidFill>
          <a:ln/>
        </p:spPr>
      </p:sp>
      <p:sp>
        <p:nvSpPr>
          <p:cNvPr id="19" name="text 2.18"/>
          <p:cNvSpPr txBox="1"/>
          <p:nvPr/>
        </p:nvSpPr>
        <p:spPr>
          <a:xfrm>
            <a:off x="761981" y="2184345"/>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1FA9EA"/>
                </a:solidFill>
                <a:latin typeface="Arial Rounded MT Bold" pitchFamily="34" charset="0"/>
                <a:ea typeface="Arial Rounded MT Bold" pitchFamily="34" charset="-122"/>
                <a:cs typeface="Arial Rounded MT Bold" pitchFamily="34" charset="-120"/>
              </a:rPr>
              <a:t>1</a:t>
            </a:r>
            <a:endParaRPr lang="en-US" sz="1100" dirty="0"/>
          </a:p>
        </p:txBody>
      </p:sp>
      <p:sp>
        <p:nvSpPr>
          <p:cNvPr id="20" name="text 2.19"/>
          <p:cNvSpPr txBox="1"/>
          <p:nvPr/>
        </p:nvSpPr>
        <p:spPr>
          <a:xfrm>
            <a:off x="1130272" y="2235144"/>
            <a:ext cx="623945"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Lobby</a:t>
            </a:r>
            <a:endParaRPr lang="en-US" sz="1400" dirty="0"/>
          </a:p>
        </p:txBody>
      </p:sp>
      <p:sp>
        <p:nvSpPr>
          <p:cNvPr id="21" name="text 2.20"/>
          <p:cNvSpPr txBox="1"/>
          <p:nvPr/>
        </p:nvSpPr>
        <p:spPr>
          <a:xfrm>
            <a:off x="761981" y="2590735"/>
            <a:ext cx="1790655" cy="362536"/>
          </a:xfrm>
          <a:prstGeom prst="rect">
            <a:avLst/>
          </a:prstGeom>
          <a:noFill/>
          <a:ln/>
        </p:spPr>
        <p:txBody>
          <a:bodyPr wrap="square" lIns="0" tIns="0" rIns="0" bIns="0" rtlCol="0" anchor="t"/>
          <a:lstStyle/>
          <a:p>
            <a:pPr algn="l" indent="0" marL="0">
              <a:lnSpc>
                <a:spcPts val="1430"/>
              </a:lnSpc>
              <a:buNone/>
            </a:pPr>
            <a:r>
              <a:rPr lang="en-US" sz="1050" dirty="0">
                <a:solidFill>
                  <a:srgbClr val="3B4A66"/>
                </a:solidFill>
                <a:latin typeface="Arial" pitchFamily="34" charset="0"/>
                <a:ea typeface="Arial" pitchFamily="34" charset="-122"/>
                <a:cs typeface="Arial" pitchFamily="34" charset="-120"/>
              </a:rPr>
              <a:t>Host starts a session. Others join with the host’s local IP.</a:t>
            </a:r>
            <a:endParaRPr lang="en-US" sz="1050" dirty="0"/>
          </a:p>
        </p:txBody>
      </p:sp>
      <p:sp>
        <p:nvSpPr>
          <p:cNvPr id="22" name="shape 2.21"/>
          <p:cNvSpPr/>
          <p:nvPr/>
        </p:nvSpPr>
        <p:spPr>
          <a:xfrm>
            <a:off x="3028874" y="2184345"/>
            <a:ext cx="279393" cy="279393"/>
          </a:xfrm>
          <a:prstGeom prst="roundRect">
            <a:avLst>
              <a:gd name="adj" fmla="val 50000"/>
            </a:avLst>
          </a:prstGeom>
          <a:solidFill>
            <a:srgbClr val="E2F4FD"/>
          </a:solidFill>
          <a:ln/>
        </p:spPr>
      </p:sp>
      <p:sp>
        <p:nvSpPr>
          <p:cNvPr id="23" name="text 2.22"/>
          <p:cNvSpPr txBox="1"/>
          <p:nvPr/>
        </p:nvSpPr>
        <p:spPr>
          <a:xfrm>
            <a:off x="3028874" y="2184345"/>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1FA9EA"/>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text 2.23"/>
          <p:cNvSpPr txBox="1"/>
          <p:nvPr/>
        </p:nvSpPr>
        <p:spPr>
          <a:xfrm>
            <a:off x="3397165" y="2235144"/>
            <a:ext cx="653708"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Round</a:t>
            </a:r>
            <a:endParaRPr lang="en-US" sz="1400" dirty="0"/>
          </a:p>
        </p:txBody>
      </p:sp>
      <p:sp>
        <p:nvSpPr>
          <p:cNvPr id="25" name="text 2.24"/>
          <p:cNvSpPr txBox="1"/>
          <p:nvPr/>
        </p:nvSpPr>
        <p:spPr>
          <a:xfrm>
            <a:off x="3028874" y="2590735"/>
            <a:ext cx="1790655" cy="543804"/>
          </a:xfrm>
          <a:prstGeom prst="rect">
            <a:avLst/>
          </a:prstGeom>
          <a:noFill/>
          <a:ln/>
        </p:spPr>
        <p:txBody>
          <a:bodyPr wrap="square" lIns="0" tIns="0" rIns="0" bIns="0" rtlCol="0" anchor="t"/>
          <a:lstStyle/>
          <a:p>
            <a:pPr algn="l" indent="0" marL="0">
              <a:lnSpc>
                <a:spcPts val="1430"/>
              </a:lnSpc>
              <a:buNone/>
            </a:pPr>
            <a:r>
              <a:rPr lang="en-US" sz="1050" dirty="0">
                <a:solidFill>
                  <a:srgbClr val="3B4A66"/>
                </a:solidFill>
                <a:latin typeface="Arial" pitchFamily="34" charset="0"/>
                <a:ea typeface="Arial" pitchFamily="34" charset="-122"/>
                <a:cs typeface="Arial" pitchFamily="34" charset="-120"/>
              </a:rPr>
              <a:t>Host picks the next mini-game. Everyone loads the same arena.</a:t>
            </a:r>
            <a:endParaRPr lang="en-US" sz="1050" dirty="0"/>
          </a:p>
        </p:txBody>
      </p:sp>
      <p:sp>
        <p:nvSpPr>
          <p:cNvPr id="26" name="shape 2.25"/>
          <p:cNvSpPr/>
          <p:nvPr/>
        </p:nvSpPr>
        <p:spPr>
          <a:xfrm>
            <a:off x="5295768" y="2184345"/>
            <a:ext cx="279393" cy="279393"/>
          </a:xfrm>
          <a:prstGeom prst="roundRect">
            <a:avLst>
              <a:gd name="adj" fmla="val 50000"/>
            </a:avLst>
          </a:prstGeom>
          <a:solidFill>
            <a:srgbClr val="FF6B1F"/>
          </a:solidFill>
          <a:ln/>
        </p:spPr>
      </p:sp>
      <p:sp>
        <p:nvSpPr>
          <p:cNvPr id="27" name="text 2.26"/>
          <p:cNvSpPr txBox="1"/>
          <p:nvPr/>
        </p:nvSpPr>
        <p:spPr>
          <a:xfrm>
            <a:off x="5295768" y="2184345"/>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text 2.27"/>
          <p:cNvSpPr txBox="1"/>
          <p:nvPr/>
        </p:nvSpPr>
        <p:spPr>
          <a:xfrm>
            <a:off x="5664058" y="2235144"/>
            <a:ext cx="451994"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Play</a:t>
            </a:r>
            <a:endParaRPr lang="en-US" sz="1400" dirty="0"/>
          </a:p>
        </p:txBody>
      </p:sp>
      <p:sp>
        <p:nvSpPr>
          <p:cNvPr id="29" name="text 2.28"/>
          <p:cNvSpPr txBox="1"/>
          <p:nvPr/>
        </p:nvSpPr>
        <p:spPr>
          <a:xfrm>
            <a:off x="5295768" y="2590735"/>
            <a:ext cx="1790655" cy="543804"/>
          </a:xfrm>
          <a:prstGeom prst="rect">
            <a:avLst/>
          </a:prstGeom>
          <a:noFill/>
          <a:ln/>
        </p:spPr>
        <p:txBody>
          <a:bodyPr wrap="square" lIns="0" tIns="0" rIns="0" bIns="0" rtlCol="0" anchor="t"/>
          <a:lstStyle/>
          <a:p>
            <a:pPr algn="l" indent="0" marL="0">
              <a:lnSpc>
                <a:spcPts val="1430"/>
              </a:lnSpc>
              <a:buNone/>
            </a:pPr>
            <a:r>
              <a:rPr lang="en-US" sz="1050" dirty="0">
                <a:solidFill>
                  <a:srgbClr val="3B4A66"/>
                </a:solidFill>
                <a:latin typeface="Arial" pitchFamily="34" charset="0"/>
                <a:ea typeface="Arial" pitchFamily="34" charset="-122"/>
                <a:cs typeface="Arial" pitchFamily="34" charset="-120"/>
              </a:rPr>
              <a:t>Host runs the physics. Clients send input and draw the result.</a:t>
            </a:r>
            <a:endParaRPr lang="en-US" sz="1050" dirty="0"/>
          </a:p>
        </p:txBody>
      </p:sp>
      <p:sp>
        <p:nvSpPr>
          <p:cNvPr id="30" name="shape 2.29"/>
          <p:cNvSpPr/>
          <p:nvPr/>
        </p:nvSpPr>
        <p:spPr>
          <a:xfrm>
            <a:off x="7562661" y="2184345"/>
            <a:ext cx="279393" cy="279393"/>
          </a:xfrm>
          <a:prstGeom prst="roundRect">
            <a:avLst>
              <a:gd name="adj" fmla="val 50000"/>
            </a:avLst>
          </a:prstGeom>
          <a:solidFill>
            <a:srgbClr val="E2F4FD"/>
          </a:solidFill>
          <a:ln/>
        </p:spPr>
      </p:sp>
      <p:sp>
        <p:nvSpPr>
          <p:cNvPr id="31" name="text 2.30"/>
          <p:cNvSpPr txBox="1"/>
          <p:nvPr/>
        </p:nvSpPr>
        <p:spPr>
          <a:xfrm>
            <a:off x="7562661" y="2184345"/>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1FA9EA"/>
                </a:solidFill>
                <a:latin typeface="Arial Rounded MT Bold" pitchFamily="34" charset="0"/>
                <a:ea typeface="Arial Rounded MT Bold" pitchFamily="34" charset="-122"/>
                <a:cs typeface="Arial Rounded MT Bold" pitchFamily="34" charset="-120"/>
              </a:rPr>
              <a:t>4</a:t>
            </a:r>
            <a:endParaRPr lang="en-US" sz="1100" dirty="0"/>
          </a:p>
        </p:txBody>
      </p:sp>
      <p:sp>
        <p:nvSpPr>
          <p:cNvPr id="32" name="text 2.31"/>
          <p:cNvSpPr txBox="1"/>
          <p:nvPr/>
        </p:nvSpPr>
        <p:spPr>
          <a:xfrm>
            <a:off x="7930952" y="2235144"/>
            <a:ext cx="576304"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Place</a:t>
            </a:r>
            <a:endParaRPr lang="en-US" sz="1400" dirty="0"/>
          </a:p>
        </p:txBody>
      </p:sp>
      <p:sp>
        <p:nvSpPr>
          <p:cNvPr id="33" name="text 2.32"/>
          <p:cNvSpPr txBox="1"/>
          <p:nvPr/>
        </p:nvSpPr>
        <p:spPr>
          <a:xfrm>
            <a:off x="7562661" y="2590735"/>
            <a:ext cx="1790655" cy="362536"/>
          </a:xfrm>
          <a:prstGeom prst="rect">
            <a:avLst/>
          </a:prstGeom>
          <a:noFill/>
          <a:ln/>
        </p:spPr>
        <p:txBody>
          <a:bodyPr wrap="square" lIns="0" tIns="0" rIns="0" bIns="0" rtlCol="0" anchor="t"/>
          <a:lstStyle/>
          <a:p>
            <a:pPr algn="l" indent="0" marL="0">
              <a:lnSpc>
                <a:spcPts val="1430"/>
              </a:lnSpc>
              <a:buNone/>
            </a:pPr>
            <a:r>
              <a:rPr lang="en-US" sz="1050" dirty="0">
                <a:solidFill>
                  <a:srgbClr val="3B4A66"/>
                </a:solidFill>
                <a:latin typeface="Arial" pitchFamily="34" charset="0"/>
                <a:ea typeface="Arial" pitchFamily="34" charset="-122"/>
                <a:cs typeface="Arial" pitchFamily="34" charset="-120"/>
              </a:rPr>
              <a:t>Round ends. Placement becomes points.</a:t>
            </a:r>
            <a:endParaRPr lang="en-US" sz="1050" dirty="0"/>
          </a:p>
        </p:txBody>
      </p:sp>
      <p:sp>
        <p:nvSpPr>
          <p:cNvPr id="34" name="shape 2.33"/>
          <p:cNvSpPr/>
          <p:nvPr/>
        </p:nvSpPr>
        <p:spPr>
          <a:xfrm>
            <a:off x="9829554" y="2184345"/>
            <a:ext cx="279393" cy="279393"/>
          </a:xfrm>
          <a:prstGeom prst="roundRect">
            <a:avLst>
              <a:gd name="adj" fmla="val 50000"/>
            </a:avLst>
          </a:prstGeom>
          <a:solidFill>
            <a:srgbClr val="E2F4FD"/>
          </a:solidFill>
          <a:ln/>
        </p:spPr>
      </p:sp>
      <p:sp>
        <p:nvSpPr>
          <p:cNvPr id="35" name="text 2.34"/>
          <p:cNvSpPr txBox="1"/>
          <p:nvPr/>
        </p:nvSpPr>
        <p:spPr>
          <a:xfrm>
            <a:off x="9829554" y="2184345"/>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1FA9EA"/>
                </a:solidFill>
                <a:latin typeface="Arial Rounded MT Bold" pitchFamily="34" charset="0"/>
                <a:ea typeface="Arial Rounded MT Bold" pitchFamily="34" charset="-122"/>
                <a:cs typeface="Arial Rounded MT Bold" pitchFamily="34" charset="-120"/>
              </a:rPr>
              <a:t>5</a:t>
            </a:r>
            <a:endParaRPr lang="en-US" sz="1100" dirty="0"/>
          </a:p>
        </p:txBody>
      </p:sp>
      <p:sp>
        <p:nvSpPr>
          <p:cNvPr id="36" name="text 2.35"/>
          <p:cNvSpPr txBox="1"/>
          <p:nvPr/>
        </p:nvSpPr>
        <p:spPr>
          <a:xfrm>
            <a:off x="10197845" y="2235144"/>
            <a:ext cx="984465"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Standings</a:t>
            </a:r>
            <a:endParaRPr lang="en-US" sz="1400" dirty="0"/>
          </a:p>
        </p:txBody>
      </p:sp>
      <p:sp>
        <p:nvSpPr>
          <p:cNvPr id="37" name="text 2.36"/>
          <p:cNvSpPr txBox="1"/>
          <p:nvPr/>
        </p:nvSpPr>
        <p:spPr>
          <a:xfrm>
            <a:off x="9829554" y="2590735"/>
            <a:ext cx="1790655" cy="362536"/>
          </a:xfrm>
          <a:prstGeom prst="rect">
            <a:avLst/>
          </a:prstGeom>
          <a:noFill/>
          <a:ln/>
        </p:spPr>
        <p:txBody>
          <a:bodyPr wrap="square" lIns="0" tIns="0" rIns="0" bIns="0" rtlCol="0" anchor="t"/>
          <a:lstStyle/>
          <a:p>
            <a:pPr algn="l" indent="0" marL="0">
              <a:lnSpc>
                <a:spcPts val="1430"/>
              </a:lnSpc>
              <a:buNone/>
            </a:pPr>
            <a:r>
              <a:rPr lang="en-US" sz="1050" dirty="0">
                <a:solidFill>
                  <a:srgbClr val="3B4A66"/>
                </a:solidFill>
                <a:latin typeface="Arial" pitchFamily="34" charset="0"/>
                <a:ea typeface="Arial" pitchFamily="34" charset="-122"/>
                <a:cs typeface="Arial" pitchFamily="34" charset="-120"/>
              </a:rPr>
              <a:t>Scoreboard updates. After the last round: overall winner.</a:t>
            </a:r>
            <a:endParaRPr lang="en-US" sz="1050" dirty="0"/>
          </a:p>
        </p:txBody>
      </p:sp>
      <p:sp>
        <p:nvSpPr>
          <p:cNvPr id="38" name="shape 2.37"/>
          <p:cNvSpPr/>
          <p:nvPr/>
        </p:nvSpPr>
        <p:spPr>
          <a:xfrm>
            <a:off x="5384665" y="3568611"/>
            <a:ext cx="1523962" cy="241294"/>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39" name="text 2.38"/>
          <p:cNvSpPr txBox="1"/>
          <p:nvPr/>
        </p:nvSpPr>
        <p:spPr>
          <a:xfrm>
            <a:off x="5384665" y="3568611"/>
            <a:ext cx="1523962" cy="2412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6B1F"/>
                </a:solidFill>
                <a:latin typeface="Arial" pitchFamily="34" charset="0"/>
                <a:ea typeface="Arial" pitchFamily="34" charset="-122"/>
                <a:cs typeface="Arial" pitchFamily="34" charset="-120"/>
              </a:rPr>
              <a:t>NEXT MINI-GAME</a:t>
            </a:r>
            <a:endParaRPr lang="en-US" sz="700" dirty="0"/>
          </a:p>
        </p:txBody>
      </p:sp>
      <p:sp>
        <p:nvSpPr>
          <p:cNvPr id="40" name="text 2.39"/>
          <p:cNvSpPr txBox="1"/>
          <p:nvPr/>
        </p:nvSpPr>
        <p:spPr>
          <a:xfrm>
            <a:off x="863578" y="4330592"/>
            <a:ext cx="2354190"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FF6B1F"/>
                </a:solidFill>
                <a:latin typeface="Arial" pitchFamily="34" charset="0"/>
                <a:ea typeface="Arial" pitchFamily="34" charset="-122"/>
                <a:cs typeface="Arial" pitchFamily="34" charset="-120"/>
              </a:rPr>
              <a:t>PLACEMENT POINTS · PROPOSED</a:t>
            </a:r>
            <a:endParaRPr lang="en-US" sz="850" dirty="0"/>
          </a:p>
        </p:txBody>
      </p:sp>
      <p:sp>
        <p:nvSpPr>
          <p:cNvPr id="41" name="text 2.40"/>
          <p:cNvSpPr txBox="1"/>
          <p:nvPr/>
        </p:nvSpPr>
        <p:spPr>
          <a:xfrm>
            <a:off x="863578" y="4622684"/>
            <a:ext cx="404562" cy="215895"/>
          </a:xfrm>
          <a:prstGeom prst="rect">
            <a:avLst/>
          </a:prstGeom>
          <a:noFill/>
          <a:ln/>
        </p:spPr>
        <p:txBody>
          <a:bodyPr wrap="square" lIns="0" tIns="0" rIns="0" bIns="0" rtlCol="0" anchor="t"/>
          <a:lstStyle/>
          <a:p>
            <a:pPr algn="l" indent="0" marL="0">
              <a:lnSpc>
                <a:spcPts val="1700"/>
              </a:lnSpc>
              <a:buNone/>
            </a:pPr>
            <a:r>
              <a:rPr lang="en-US" sz="1700" dirty="0">
                <a:solidFill>
                  <a:srgbClr val="FF6B1F"/>
                </a:solidFill>
                <a:latin typeface="Arial Rounded MT Bold" pitchFamily="34" charset="0"/>
                <a:ea typeface="Arial Rounded MT Bold" pitchFamily="34" charset="-122"/>
                <a:cs typeface="Arial Rounded MT Bold" pitchFamily="34" charset="-120"/>
              </a:rPr>
              <a:t>1st</a:t>
            </a:r>
            <a:endParaRPr lang="en-US" sz="1700" dirty="0"/>
          </a:p>
        </p:txBody>
      </p:sp>
      <p:sp>
        <p:nvSpPr>
          <p:cNvPr id="42" name="shape 2.41"/>
          <p:cNvSpPr/>
          <p:nvPr/>
        </p:nvSpPr>
        <p:spPr>
          <a:xfrm>
            <a:off x="1587460" y="4673483"/>
            <a:ext cx="2666933" cy="139697"/>
          </a:xfrm>
          <a:prstGeom prst="roundRect">
            <a:avLst>
              <a:gd name="adj" fmla="val 50000"/>
            </a:avLst>
          </a:prstGeom>
          <a:solidFill>
            <a:srgbClr val="E4EDF9"/>
          </a:solidFill>
          <a:ln/>
        </p:spPr>
      </p:sp>
      <p:sp>
        <p:nvSpPr>
          <p:cNvPr id="43" name="shape 2.42"/>
          <p:cNvSpPr/>
          <p:nvPr/>
        </p:nvSpPr>
        <p:spPr>
          <a:xfrm>
            <a:off x="1587460" y="4673483"/>
            <a:ext cx="2666933" cy="139697"/>
          </a:xfrm>
          <a:prstGeom prst="roundRect">
            <a:avLst>
              <a:gd name="adj" fmla="val 50000"/>
            </a:avLst>
          </a:prstGeom>
          <a:solidFill>
            <a:srgbClr val="FF6B1F"/>
          </a:solidFill>
          <a:ln/>
        </p:spPr>
      </p:sp>
      <p:sp>
        <p:nvSpPr>
          <p:cNvPr id="44" name="text 2.43"/>
          <p:cNvSpPr txBox="1"/>
          <p:nvPr/>
        </p:nvSpPr>
        <p:spPr>
          <a:xfrm>
            <a:off x="4444889" y="4622684"/>
            <a:ext cx="483544"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4 </a:t>
            </a:r>
            <a:pPr algn="l" indent="0" marL="0">
              <a:lnSpc>
                <a:spcPts val="1700"/>
              </a:lnSpc>
              <a:buNone/>
            </a:pPr>
            <a:r>
              <a:rPr lang="en-US" sz="750" b="1" spc="75" kern="0" dirty="0">
                <a:solidFill>
                  <a:srgbClr val="6E7D9A"/>
                </a:solidFill>
                <a:latin typeface="Arial" pitchFamily="34" charset="0"/>
                <a:ea typeface="Arial" pitchFamily="34" charset="-122"/>
                <a:cs typeface="Arial" pitchFamily="34" charset="-120"/>
              </a:rPr>
              <a:t>PTS</a:t>
            </a:r>
            <a:endParaRPr lang="en-US" sz="1700" dirty="0"/>
          </a:p>
        </p:txBody>
      </p:sp>
      <p:sp>
        <p:nvSpPr>
          <p:cNvPr id="45" name="text 2.44"/>
          <p:cNvSpPr txBox="1"/>
          <p:nvPr/>
        </p:nvSpPr>
        <p:spPr>
          <a:xfrm>
            <a:off x="863578" y="5016375"/>
            <a:ext cx="480810"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2nd</a:t>
            </a:r>
            <a:endParaRPr lang="en-US" sz="1700" dirty="0"/>
          </a:p>
        </p:txBody>
      </p:sp>
      <p:sp>
        <p:nvSpPr>
          <p:cNvPr id="46" name="shape 2.45"/>
          <p:cNvSpPr/>
          <p:nvPr/>
        </p:nvSpPr>
        <p:spPr>
          <a:xfrm>
            <a:off x="1587460" y="5067173"/>
            <a:ext cx="2666933" cy="139697"/>
          </a:xfrm>
          <a:prstGeom prst="roundRect">
            <a:avLst>
              <a:gd name="adj" fmla="val 50000"/>
            </a:avLst>
          </a:prstGeom>
          <a:solidFill>
            <a:srgbClr val="E4EDF9"/>
          </a:solidFill>
          <a:ln/>
        </p:spPr>
      </p:sp>
      <p:sp>
        <p:nvSpPr>
          <p:cNvPr id="47" name="shape 2.46"/>
          <p:cNvSpPr/>
          <p:nvPr/>
        </p:nvSpPr>
        <p:spPr>
          <a:xfrm>
            <a:off x="1587460" y="5067173"/>
            <a:ext cx="2000200" cy="139697"/>
          </a:xfrm>
          <a:prstGeom prst="roundRect">
            <a:avLst>
              <a:gd name="adj" fmla="val 50000"/>
            </a:avLst>
          </a:prstGeom>
          <a:solidFill>
            <a:srgbClr val="1FA9EA"/>
          </a:solidFill>
          <a:ln/>
        </p:spPr>
      </p:sp>
      <p:sp>
        <p:nvSpPr>
          <p:cNvPr id="48" name="text 2.47"/>
          <p:cNvSpPr txBox="1"/>
          <p:nvPr/>
        </p:nvSpPr>
        <p:spPr>
          <a:xfrm>
            <a:off x="4444889" y="5016375"/>
            <a:ext cx="483544"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3 </a:t>
            </a:r>
            <a:pPr algn="l" indent="0" marL="0">
              <a:lnSpc>
                <a:spcPts val="1700"/>
              </a:lnSpc>
              <a:buNone/>
            </a:pPr>
            <a:r>
              <a:rPr lang="en-US" sz="750" b="1" spc="75" kern="0" dirty="0">
                <a:solidFill>
                  <a:srgbClr val="6E7D9A"/>
                </a:solidFill>
                <a:latin typeface="Arial" pitchFamily="34" charset="0"/>
                <a:ea typeface="Arial" pitchFamily="34" charset="-122"/>
                <a:cs typeface="Arial" pitchFamily="34" charset="-120"/>
              </a:rPr>
              <a:t>PTS</a:t>
            </a:r>
            <a:endParaRPr lang="en-US" sz="1700" dirty="0"/>
          </a:p>
        </p:txBody>
      </p:sp>
      <p:sp>
        <p:nvSpPr>
          <p:cNvPr id="49" name="text 2.48"/>
          <p:cNvSpPr txBox="1"/>
          <p:nvPr/>
        </p:nvSpPr>
        <p:spPr>
          <a:xfrm>
            <a:off x="863578" y="5410065"/>
            <a:ext cx="436849"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3rd</a:t>
            </a:r>
            <a:endParaRPr lang="en-US" sz="1700" dirty="0"/>
          </a:p>
        </p:txBody>
      </p:sp>
      <p:sp>
        <p:nvSpPr>
          <p:cNvPr id="50" name="shape 2.49"/>
          <p:cNvSpPr/>
          <p:nvPr/>
        </p:nvSpPr>
        <p:spPr>
          <a:xfrm>
            <a:off x="1587460" y="5460863"/>
            <a:ext cx="2666933" cy="139697"/>
          </a:xfrm>
          <a:prstGeom prst="roundRect">
            <a:avLst>
              <a:gd name="adj" fmla="val 50000"/>
            </a:avLst>
          </a:prstGeom>
          <a:solidFill>
            <a:srgbClr val="E4EDF9"/>
          </a:solidFill>
          <a:ln/>
        </p:spPr>
      </p:sp>
      <p:sp>
        <p:nvSpPr>
          <p:cNvPr id="51" name="shape 2.50"/>
          <p:cNvSpPr/>
          <p:nvPr/>
        </p:nvSpPr>
        <p:spPr>
          <a:xfrm>
            <a:off x="1587460" y="5460863"/>
            <a:ext cx="1333467" cy="139697"/>
          </a:xfrm>
          <a:prstGeom prst="roundRect">
            <a:avLst>
              <a:gd name="adj" fmla="val 50000"/>
            </a:avLst>
          </a:prstGeom>
          <a:solidFill>
            <a:srgbClr val="1FA9EA"/>
          </a:solidFill>
          <a:ln/>
        </p:spPr>
      </p:sp>
      <p:sp>
        <p:nvSpPr>
          <p:cNvPr id="52" name="text 2.51"/>
          <p:cNvSpPr txBox="1"/>
          <p:nvPr/>
        </p:nvSpPr>
        <p:spPr>
          <a:xfrm>
            <a:off x="4444889" y="5410065"/>
            <a:ext cx="483544"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2 </a:t>
            </a:r>
            <a:pPr algn="l" indent="0" marL="0">
              <a:lnSpc>
                <a:spcPts val="1700"/>
              </a:lnSpc>
              <a:buNone/>
            </a:pPr>
            <a:r>
              <a:rPr lang="en-US" sz="750" b="1" spc="75" kern="0" dirty="0">
                <a:solidFill>
                  <a:srgbClr val="6E7D9A"/>
                </a:solidFill>
                <a:latin typeface="Arial" pitchFamily="34" charset="0"/>
                <a:ea typeface="Arial" pitchFamily="34" charset="-122"/>
                <a:cs typeface="Arial" pitchFamily="34" charset="-120"/>
              </a:rPr>
              <a:t>PTS</a:t>
            </a:r>
            <a:endParaRPr lang="en-US" sz="1700" dirty="0"/>
          </a:p>
        </p:txBody>
      </p:sp>
      <p:sp>
        <p:nvSpPr>
          <p:cNvPr id="53" name="text 2.52"/>
          <p:cNvSpPr txBox="1"/>
          <p:nvPr/>
        </p:nvSpPr>
        <p:spPr>
          <a:xfrm>
            <a:off x="863578" y="5803755"/>
            <a:ext cx="418760"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4th</a:t>
            </a:r>
            <a:endParaRPr lang="en-US" sz="1700" dirty="0"/>
          </a:p>
        </p:txBody>
      </p:sp>
      <p:sp>
        <p:nvSpPr>
          <p:cNvPr id="54" name="shape 2.53"/>
          <p:cNvSpPr/>
          <p:nvPr/>
        </p:nvSpPr>
        <p:spPr>
          <a:xfrm>
            <a:off x="1587460" y="5854554"/>
            <a:ext cx="2666933" cy="139697"/>
          </a:xfrm>
          <a:prstGeom prst="roundRect">
            <a:avLst>
              <a:gd name="adj" fmla="val 50000"/>
            </a:avLst>
          </a:prstGeom>
          <a:solidFill>
            <a:srgbClr val="E4EDF9"/>
          </a:solidFill>
          <a:ln/>
        </p:spPr>
      </p:sp>
      <p:sp>
        <p:nvSpPr>
          <p:cNvPr id="55" name="shape 2.54"/>
          <p:cNvSpPr/>
          <p:nvPr/>
        </p:nvSpPr>
        <p:spPr>
          <a:xfrm>
            <a:off x="1587460" y="5854554"/>
            <a:ext cx="666733" cy="139697"/>
          </a:xfrm>
          <a:prstGeom prst="roundRect">
            <a:avLst>
              <a:gd name="adj" fmla="val 50000"/>
            </a:avLst>
          </a:prstGeom>
          <a:solidFill>
            <a:srgbClr val="1FA9EA"/>
          </a:solidFill>
          <a:ln/>
        </p:spPr>
      </p:sp>
      <p:sp>
        <p:nvSpPr>
          <p:cNvPr id="56" name="text 2.55"/>
          <p:cNvSpPr txBox="1"/>
          <p:nvPr/>
        </p:nvSpPr>
        <p:spPr>
          <a:xfrm>
            <a:off x="4444889" y="5803755"/>
            <a:ext cx="483544"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1 </a:t>
            </a:r>
            <a:pPr algn="l" indent="0" marL="0">
              <a:lnSpc>
                <a:spcPts val="1700"/>
              </a:lnSpc>
              <a:buNone/>
            </a:pPr>
            <a:r>
              <a:rPr lang="en-US" sz="750" b="1" spc="75" kern="0" dirty="0">
                <a:solidFill>
                  <a:srgbClr val="6E7D9A"/>
                </a:solidFill>
                <a:latin typeface="Arial" pitchFamily="34" charset="0"/>
                <a:ea typeface="Arial" pitchFamily="34" charset="-122"/>
                <a:cs typeface="Arial" pitchFamily="34" charset="-120"/>
              </a:rPr>
              <a:t>PTS</a:t>
            </a:r>
            <a:endParaRPr lang="en-US" sz="1700" dirty="0"/>
          </a:p>
        </p:txBody>
      </p:sp>
      <p:sp>
        <p:nvSpPr>
          <p:cNvPr id="57" name="text 2.56"/>
          <p:cNvSpPr txBox="1"/>
          <p:nvPr/>
        </p:nvSpPr>
        <p:spPr>
          <a:xfrm>
            <a:off x="6324442" y="4330592"/>
            <a:ext cx="1355503"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FA9EA"/>
                </a:solidFill>
                <a:latin typeface="Arial" pitchFamily="34" charset="0"/>
                <a:ea typeface="Arial" pitchFamily="34" charset="-122"/>
                <a:cs typeface="Arial" pitchFamily="34" charset="-120"/>
              </a:rPr>
              <a:t>BETWEEN ROUNDS</a:t>
            </a:r>
            <a:endParaRPr lang="en-US" sz="850" dirty="0"/>
          </a:p>
        </p:txBody>
      </p:sp>
      <p:sp>
        <p:nvSpPr>
          <p:cNvPr id="58" name="text 2.57"/>
          <p:cNvSpPr txBox="1"/>
          <p:nvPr/>
        </p:nvSpPr>
        <p:spPr>
          <a:xfrm>
            <a:off x="6324442" y="4648084"/>
            <a:ext cx="977524"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CARRIES OVER</a:t>
            </a:r>
            <a:endParaRPr lang="en-US" sz="750" dirty="0"/>
          </a:p>
        </p:txBody>
      </p:sp>
      <p:sp>
        <p:nvSpPr>
          <p:cNvPr id="59" name="text 2.58"/>
          <p:cNvSpPr txBox="1"/>
          <p:nvPr/>
        </p:nvSpPr>
        <p:spPr>
          <a:xfrm>
            <a:off x="7848404" y="4609985"/>
            <a:ext cx="3530512" cy="193353"/>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Points. Nothing else accumulates.</a:t>
            </a:r>
            <a:endParaRPr lang="en-US" sz="1050" dirty="0"/>
          </a:p>
        </p:txBody>
      </p:sp>
      <p:sp>
        <p:nvSpPr>
          <p:cNvPr id="60" name="text 2.59"/>
          <p:cNvSpPr txBox="1"/>
          <p:nvPr/>
        </p:nvSpPr>
        <p:spPr>
          <a:xfrm>
            <a:off x="6324442" y="5092573"/>
            <a:ext cx="680211"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CATCH-UP</a:t>
            </a:r>
            <a:endParaRPr lang="en-US" sz="750" dirty="0"/>
          </a:p>
        </p:txBody>
      </p:sp>
      <p:sp>
        <p:nvSpPr>
          <p:cNvPr id="61" name="text 2.60"/>
          <p:cNvSpPr txBox="1"/>
          <p:nvPr/>
        </p:nvSpPr>
        <p:spPr>
          <a:xfrm>
            <a:off x="7848404" y="5054474"/>
            <a:ext cx="3530512" cy="386547"/>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The last round's winner earns slightly fewer points next round; last place earns slightly more.</a:t>
            </a:r>
            <a:endParaRPr lang="en-US" sz="1050" dirty="0"/>
          </a:p>
        </p:txBody>
      </p:sp>
      <p:sp>
        <p:nvSpPr>
          <p:cNvPr id="62" name="text 2.61"/>
          <p:cNvSpPr txBox="1"/>
          <p:nvPr/>
        </p:nvSpPr>
        <p:spPr>
          <a:xfrm>
            <a:off x="6324442" y="5752956"/>
            <a:ext cx="540231"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RESETS</a:t>
            </a:r>
            <a:endParaRPr lang="en-US" sz="750" dirty="0"/>
          </a:p>
        </p:txBody>
      </p:sp>
      <p:sp>
        <p:nvSpPr>
          <p:cNvPr id="63" name="text 2.62"/>
          <p:cNvSpPr txBox="1"/>
          <p:nvPr/>
        </p:nvSpPr>
        <p:spPr>
          <a:xfrm>
            <a:off x="7848404" y="5714857"/>
            <a:ext cx="3530512" cy="193353"/>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Mass and position, so one bad round does not snowball.</a:t>
            </a:r>
            <a:endParaRPr lang="en-US" sz="1050" dirty="0"/>
          </a:p>
        </p:txBody>
      </p:sp>
      <p:sp>
        <p:nvSpPr>
          <p:cNvPr id="64" name="shape 2.63"/>
          <p:cNvSpPr/>
          <p:nvPr/>
        </p:nvSpPr>
        <p:spPr>
          <a:xfrm>
            <a:off x="609585" y="266693"/>
            <a:ext cx="1311838"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65" name="shape 2.64"/>
          <p:cNvSpPr/>
          <p:nvPr/>
        </p:nvSpPr>
        <p:spPr>
          <a:xfrm>
            <a:off x="711182" y="355591"/>
            <a:ext cx="114297" cy="114297"/>
          </a:xfrm>
          <a:prstGeom prst="roundRect">
            <a:avLst>
              <a:gd name="adj" fmla="val 33333"/>
            </a:avLst>
          </a:prstGeom>
          <a:solidFill>
            <a:srgbClr val="1FA9EA"/>
          </a:solidFill>
          <a:ln/>
        </p:spPr>
      </p:sp>
      <p:sp>
        <p:nvSpPr>
          <p:cNvPr id="66" name="shape 2.65"/>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67" name="shape 2.66"/>
          <p:cNvSpPr/>
          <p:nvPr/>
        </p:nvSpPr>
        <p:spPr>
          <a:xfrm>
            <a:off x="10058149" y="368291"/>
            <a:ext cx="101597" cy="101597"/>
          </a:xfrm>
          <a:prstGeom prst="roundRect">
            <a:avLst>
              <a:gd name="adj" fmla="val 31250"/>
            </a:avLst>
          </a:prstGeom>
          <a:solidFill>
            <a:srgbClr val="1FA9EA"/>
          </a:solidFill>
          <a:ln/>
        </p:spPr>
      </p:sp>
      <p:sp>
        <p:nvSpPr>
          <p:cNvPr id="68" name="shape 2.67"/>
          <p:cNvSpPr/>
          <p:nvPr/>
        </p:nvSpPr>
        <p:spPr>
          <a:xfrm>
            <a:off x="10223244" y="368291"/>
            <a:ext cx="101597" cy="101597"/>
          </a:xfrm>
          <a:prstGeom prst="roundRect">
            <a:avLst>
              <a:gd name="adj" fmla="val 31250"/>
            </a:avLst>
          </a:prstGeom>
          <a:solidFill>
            <a:srgbClr val="C7D4E8"/>
          </a:solidFill>
          <a:ln/>
        </p:spPr>
      </p:sp>
      <p:sp>
        <p:nvSpPr>
          <p:cNvPr id="69" name="shape 2.68"/>
          <p:cNvSpPr/>
          <p:nvPr/>
        </p:nvSpPr>
        <p:spPr>
          <a:xfrm>
            <a:off x="10388340" y="368291"/>
            <a:ext cx="101597" cy="101597"/>
          </a:xfrm>
          <a:prstGeom prst="roundRect">
            <a:avLst>
              <a:gd name="adj" fmla="val 31250"/>
            </a:avLst>
          </a:prstGeom>
          <a:solidFill>
            <a:srgbClr val="C7D4E8"/>
          </a:solidFill>
          <a:ln/>
        </p:spPr>
      </p:sp>
      <p:sp>
        <p:nvSpPr>
          <p:cNvPr id="70" name="shape 2.69"/>
          <p:cNvSpPr/>
          <p:nvPr/>
        </p:nvSpPr>
        <p:spPr>
          <a:xfrm>
            <a:off x="10553436" y="368291"/>
            <a:ext cx="101597" cy="101597"/>
          </a:xfrm>
          <a:prstGeom prst="roundRect">
            <a:avLst>
              <a:gd name="adj" fmla="val 31250"/>
            </a:avLst>
          </a:prstGeom>
          <a:solidFill>
            <a:srgbClr val="C7D4E8"/>
          </a:solidFill>
          <a:ln/>
        </p:spPr>
      </p:sp>
      <p:sp>
        <p:nvSpPr>
          <p:cNvPr id="71" name="shape 2.70"/>
          <p:cNvSpPr/>
          <p:nvPr/>
        </p:nvSpPr>
        <p:spPr>
          <a:xfrm>
            <a:off x="10718532" y="368291"/>
            <a:ext cx="101597" cy="101597"/>
          </a:xfrm>
          <a:prstGeom prst="roundRect">
            <a:avLst>
              <a:gd name="adj" fmla="val 31250"/>
            </a:avLst>
          </a:prstGeom>
          <a:solidFill>
            <a:srgbClr val="C7D4E8"/>
          </a:solidFill>
          <a:ln/>
        </p:spPr>
      </p:sp>
      <p:sp>
        <p:nvSpPr>
          <p:cNvPr id="72" name="shape 2.71"/>
          <p:cNvSpPr/>
          <p:nvPr/>
        </p:nvSpPr>
        <p:spPr>
          <a:xfrm>
            <a:off x="10883628" y="368291"/>
            <a:ext cx="101597" cy="101597"/>
          </a:xfrm>
          <a:prstGeom prst="roundRect">
            <a:avLst>
              <a:gd name="adj" fmla="val 31250"/>
            </a:avLst>
          </a:prstGeom>
          <a:solidFill>
            <a:srgbClr val="C7D4E8"/>
          </a:solidFill>
          <a:ln/>
        </p:spPr>
      </p:sp>
      <p:sp>
        <p:nvSpPr>
          <p:cNvPr id="73" name="text 2.72"/>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02</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74" name="text 2.73"/>
          <p:cNvSpPr txBox="1"/>
          <p:nvPr/>
        </p:nvSpPr>
        <p:spPr>
          <a:xfrm>
            <a:off x="927077" y="349241"/>
            <a:ext cx="903065"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01 · The game</a:t>
            </a:r>
            <a:endParaRPr lang="en-US" sz="9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3.1"/>
          <p:cNvSpPr/>
          <p:nvPr/>
        </p:nvSpPr>
        <p:spPr>
          <a:xfrm>
            <a:off x="609585" y="1663658"/>
            <a:ext cx="3555911" cy="2095448"/>
          </a:xfrm>
          <a:prstGeom prst="roundRect">
            <a:avLst>
              <a:gd name="adj" fmla="val 9091"/>
            </a:avLst>
          </a:prstGeom>
          <a:solidFill>
            <a:srgbClr val="FFFFFF"/>
          </a:solidFill>
          <a:ln w="57150">
            <a:solidFill>
              <a:srgbClr val="FFFFFF"/>
            </a:solidFill>
            <a:prstDash val="solid"/>
          </a:ln>
          <a:effectLst>
            <a:outerShdw sx="100000" sy="100000" kx="0" ky="0" algn="bl" rotWithShape="0" blurRad="203200" dist="76200" dir="5400000">
              <a:srgbClr val="1E468C">
                <a:alpha val="16000"/>
              </a:srgbClr>
            </a:outerShdw>
          </a:effectLst>
        </p:spPr>
      </p:sp>
      <p:pic>
        <p:nvPicPr>
          <p:cNvPr id="3" name="img 3.2 adj6731" descr="ko_spit_full.png">    </p:cNvPr>
          <p:cNvPicPr>
            <a:picLocks noChangeAspect="1"/>
          </p:cNvPicPr>
          <p:nvPr/>
        </p:nvPicPr>
        <p:blipFill>
          <a:blip r:embed="rId2"/>
          <a:stretch>
            <a:fillRect/>
          </a:stretch>
        </p:blipFill>
        <p:spPr>
          <a:xfrm>
            <a:off x="666733" y="1720807"/>
            <a:ext cx="3441614" cy="1981150"/>
          </a:xfrm>
          <a:prstGeom prst="roundRect">
            <a:avLst>
              <a:gd name="adj" fmla="val 6731"/>
            </a:avLst>
          </a:prstGeom>
        </p:spPr>
      </p:pic>
      <p:sp>
        <p:nvSpPr>
          <p:cNvPr id="4" name="shape 3.3"/>
          <p:cNvSpPr/>
          <p:nvPr/>
        </p:nvSpPr>
        <p:spPr>
          <a:xfrm>
            <a:off x="4317892" y="1663658"/>
            <a:ext cx="3555911" cy="2095448"/>
          </a:xfrm>
          <a:prstGeom prst="roundRect">
            <a:avLst>
              <a:gd name="adj" fmla="val 9091"/>
            </a:avLst>
          </a:prstGeom>
          <a:solidFill>
            <a:srgbClr val="FFFFFF"/>
          </a:solidFill>
          <a:ln w="57150">
            <a:solidFill>
              <a:srgbClr val="FFFFFF"/>
            </a:solidFill>
            <a:prstDash val="solid"/>
          </a:ln>
          <a:effectLst>
            <a:outerShdw sx="100000" sy="100000" kx="0" ky="0" algn="bl" rotWithShape="0" blurRad="203200" dist="76200" dir="5400000">
              <a:srgbClr val="1E468C">
                <a:alpha val="16000"/>
              </a:srgbClr>
            </a:outerShdw>
          </a:effectLst>
        </p:spPr>
      </p:sp>
      <p:pic>
        <p:nvPicPr>
          <p:cNvPr id="5" name="img 3.4 adj6731" descr="ko_hit_full.png">    </p:cNvPr>
          <p:cNvPicPr>
            <a:picLocks noChangeAspect="1"/>
          </p:cNvPicPr>
          <p:nvPr/>
        </p:nvPicPr>
        <p:blipFill>
          <a:blip r:embed="rId3"/>
          <a:stretch>
            <a:fillRect/>
          </a:stretch>
        </p:blipFill>
        <p:spPr>
          <a:xfrm>
            <a:off x="4375041" y="1720807"/>
            <a:ext cx="3441614" cy="1981150"/>
          </a:xfrm>
          <a:prstGeom prst="roundRect">
            <a:avLst>
              <a:gd name="adj" fmla="val 6731"/>
            </a:avLst>
          </a:prstGeom>
        </p:spPr>
      </p:pic>
      <p:sp>
        <p:nvSpPr>
          <p:cNvPr id="6" name="shape 3.5"/>
          <p:cNvSpPr/>
          <p:nvPr/>
        </p:nvSpPr>
        <p:spPr>
          <a:xfrm>
            <a:off x="8026199" y="1663658"/>
            <a:ext cx="3555911" cy="2095448"/>
          </a:xfrm>
          <a:prstGeom prst="roundRect">
            <a:avLst>
              <a:gd name="adj" fmla="val 9091"/>
            </a:avLst>
          </a:prstGeom>
          <a:solidFill>
            <a:srgbClr val="FFFFFF"/>
          </a:solidFill>
          <a:ln w="57150">
            <a:solidFill>
              <a:srgbClr val="FFFFFF"/>
            </a:solidFill>
            <a:prstDash val="solid"/>
          </a:ln>
          <a:effectLst>
            <a:outerShdw sx="100000" sy="100000" kx="0" ky="0" algn="bl" rotWithShape="0" blurRad="203200" dist="76200" dir="5400000">
              <a:srgbClr val="1E468C">
                <a:alpha val="16000"/>
              </a:srgbClr>
            </a:outerShdw>
          </a:effectLst>
        </p:spPr>
      </p:sp>
      <p:pic>
        <p:nvPicPr>
          <p:cNvPr id="7" name="img 3.6 adj6731" descr="launch_full.png">    </p:cNvPr>
          <p:cNvPicPr>
            <a:picLocks noChangeAspect="1"/>
          </p:cNvPicPr>
          <p:nvPr/>
        </p:nvPicPr>
        <p:blipFill>
          <a:blip r:embed="rId4"/>
          <a:stretch>
            <a:fillRect/>
          </a:stretch>
        </p:blipFill>
        <p:spPr>
          <a:xfrm>
            <a:off x="8083348" y="1720807"/>
            <a:ext cx="3441614" cy="1981150"/>
          </a:xfrm>
          <a:prstGeom prst="roundRect">
            <a:avLst>
              <a:gd name="adj" fmla="val 6731"/>
            </a:avLst>
          </a:prstGeom>
        </p:spPr>
      </p:pic>
      <p:sp>
        <p:nvSpPr>
          <p:cNvPr id="8" name="shape 3.7"/>
          <p:cNvSpPr/>
          <p:nvPr/>
        </p:nvSpPr>
        <p:spPr>
          <a:xfrm>
            <a:off x="609585" y="5537062"/>
            <a:ext cx="10972526" cy="634984"/>
          </a:xfrm>
          <a:prstGeom prst="roundRect">
            <a:avLst>
              <a:gd name="adj" fmla="val 28000"/>
            </a:avLst>
          </a:prstGeom>
          <a:solidFill>
            <a:srgbClr val="FFF0E6"/>
          </a:solidFill>
          <a:ln/>
          <a:effectLst>
            <a:outerShdw sx="100000" sy="100000" kx="0" ky="0" algn="bl" rotWithShape="0" blurRad="203200" dist="76200" dir="5400000">
              <a:srgbClr val="1E468C">
                <a:alpha val="16000"/>
              </a:srgbClr>
            </a:outerShdw>
          </a:effectLst>
        </p:spPr>
      </p:sp>
      <p:sp>
        <p:nvSpPr>
          <p:cNvPr id="9" name="text 3.8"/>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One value is your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health</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your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ammunition</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and your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weight</a:t>
            </a:r>
            <a:endParaRPr lang="en-US" sz="2700" dirty="0"/>
          </a:p>
        </p:txBody>
      </p:sp>
      <p:sp>
        <p:nvSpPr>
          <p:cNvPr id="10" name="shape 3.9"/>
          <p:cNvSpPr/>
          <p:nvPr/>
        </p:nvSpPr>
        <p:spPr>
          <a:xfrm>
            <a:off x="761981" y="1816055"/>
            <a:ext cx="863578" cy="266693"/>
          </a:xfrm>
          <a:prstGeom prst="roundRect">
            <a:avLst>
              <a:gd name="adj" fmla="val 50000"/>
            </a:avLst>
          </a:prstGeom>
          <a:solidFill>
            <a:srgbClr val="FF6B1F"/>
          </a:solidFill>
          <a:ln/>
        </p:spPr>
      </p:sp>
      <p:sp>
        <p:nvSpPr>
          <p:cNvPr id="11" name="text 3.10"/>
          <p:cNvSpPr txBox="1"/>
          <p:nvPr/>
        </p:nvSpPr>
        <p:spPr>
          <a:xfrm>
            <a:off x="761981" y="1816055"/>
            <a:ext cx="863578" cy="266693"/>
          </a:xfrm>
          <a:prstGeom prst="rect">
            <a:avLst/>
          </a:prstGeom>
          <a:noFill/>
          <a:ln/>
        </p:spPr>
        <p:txBody>
          <a:bodyPr wrap="square" lIns="0" tIns="0" rIns="0" bIns="0" rtlCol="0" anchor="ctr"/>
          <a:lstStyle/>
          <a:p>
            <a:pPr algn="ctr" indent="0" marL="0">
              <a:lnSpc>
                <a:spcPts val="1000"/>
              </a:lnSpc>
              <a:buNone/>
            </a:pPr>
            <a:r>
              <a:rPr lang="en-US" sz="1000" dirty="0">
                <a:solidFill>
                  <a:srgbClr val="FFFFFF"/>
                </a:solidFill>
                <a:latin typeface="Arial Rounded MT Bold" pitchFamily="34" charset="0"/>
                <a:ea typeface="Arial Rounded MT Bold" pitchFamily="34" charset="-122"/>
                <a:cs typeface="Arial Rounded MT Bold" pitchFamily="34" charset="-120"/>
              </a:rPr>
              <a:t>1 · Shoot</a:t>
            </a:r>
            <a:endParaRPr lang="en-US" sz="1000" dirty="0"/>
          </a:p>
        </p:txBody>
      </p:sp>
      <p:sp>
        <p:nvSpPr>
          <p:cNvPr id="12" name="text 3.11"/>
          <p:cNvSpPr txBox="1"/>
          <p:nvPr/>
        </p:nvSpPr>
        <p:spPr>
          <a:xfrm>
            <a:off x="609585" y="3898803"/>
            <a:ext cx="3467013" cy="378609"/>
          </a:xfrm>
          <a:prstGeom prst="rect">
            <a:avLst/>
          </a:prstGeom>
          <a:noFill/>
          <a:ln/>
        </p:spPr>
        <p:txBody>
          <a:bodyPr wrap="square" lIns="0" tIns="0" rIns="0" bIns="0" rtlCol="0" anchor="t"/>
          <a:lstStyle/>
          <a:p>
            <a:pPr algn="l" indent="0" marL="0">
              <a:lnSpc>
                <a:spcPts val="1490"/>
              </a:lnSpc>
              <a:buNone/>
            </a:pPr>
            <a:r>
              <a:rPr lang="en-US" sz="1050" dirty="0">
                <a:solidFill>
                  <a:srgbClr val="3B4A66"/>
                </a:solidFill>
                <a:latin typeface="Arial" pitchFamily="34" charset="0"/>
                <a:ea typeface="Arial" pitchFamily="34" charset="-122"/>
                <a:cs typeface="Arial" pitchFamily="34" charset="-120"/>
              </a:rPr>
              <a:t>A cube spits out a piece of its own body. Every shot makes it smaller, hit or miss.</a:t>
            </a:r>
            <a:endParaRPr lang="en-US" sz="1050" dirty="0"/>
          </a:p>
        </p:txBody>
      </p:sp>
      <p:sp>
        <p:nvSpPr>
          <p:cNvPr id="13" name="text 3.12"/>
          <p:cNvSpPr txBox="1"/>
          <p:nvPr/>
        </p:nvSpPr>
        <p:spPr>
          <a:xfrm>
            <a:off x="609585" y="4584585"/>
            <a:ext cx="102790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SHOOTER MASS</a:t>
            </a:r>
            <a:endParaRPr lang="en-US" sz="750" dirty="0"/>
          </a:p>
        </p:txBody>
      </p:sp>
      <p:sp>
        <p:nvSpPr>
          <p:cNvPr id="14" name="shape 3.13"/>
          <p:cNvSpPr/>
          <p:nvPr/>
        </p:nvSpPr>
        <p:spPr>
          <a:xfrm>
            <a:off x="609585" y="4762381"/>
            <a:ext cx="3555911" cy="126997"/>
          </a:xfrm>
          <a:prstGeom prst="roundRect">
            <a:avLst>
              <a:gd name="adj" fmla="val 50000"/>
            </a:avLst>
          </a:prstGeom>
          <a:solidFill>
            <a:srgbClr val="E4EDF9"/>
          </a:solidFill>
          <a:ln/>
        </p:spPr>
      </p:sp>
      <p:sp>
        <p:nvSpPr>
          <p:cNvPr id="15" name="shape 3.14"/>
          <p:cNvSpPr/>
          <p:nvPr/>
        </p:nvSpPr>
        <p:spPr>
          <a:xfrm>
            <a:off x="609585" y="4762381"/>
            <a:ext cx="2773591" cy="126997"/>
          </a:xfrm>
          <a:prstGeom prst="roundRect">
            <a:avLst>
              <a:gd name="adj" fmla="val 50000"/>
            </a:avLst>
          </a:prstGeom>
          <a:solidFill>
            <a:srgbClr val="FF6B1F"/>
          </a:solidFill>
          <a:ln/>
        </p:spPr>
      </p:sp>
      <p:sp>
        <p:nvSpPr>
          <p:cNvPr id="16" name="shape 3.15"/>
          <p:cNvSpPr/>
          <p:nvPr/>
        </p:nvSpPr>
        <p:spPr>
          <a:xfrm>
            <a:off x="3312038" y="4762381"/>
            <a:ext cx="497768" cy="126997"/>
          </a:xfrm>
          <a:prstGeom prst="rect">
            <a:avLst/>
          </a:prstGeom>
          <a:solidFill>
            <a:srgbClr val="FF6B1F">
              <a:alpha val="28000"/>
            </a:srgbClr>
          </a:solidFill>
          <a:ln/>
        </p:spPr>
      </p:sp>
      <p:sp>
        <p:nvSpPr>
          <p:cNvPr id="17" name="text 3.16"/>
          <p:cNvSpPr txBox="1"/>
          <p:nvPr/>
        </p:nvSpPr>
        <p:spPr>
          <a:xfrm>
            <a:off x="609585" y="4978276"/>
            <a:ext cx="1717285"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Faded part: lost in this exchange</a:t>
            </a:r>
            <a:endParaRPr lang="en-US" sz="850" dirty="0"/>
          </a:p>
        </p:txBody>
      </p:sp>
      <p:sp>
        <p:nvSpPr>
          <p:cNvPr id="18" name="shape 3.17"/>
          <p:cNvSpPr/>
          <p:nvPr/>
        </p:nvSpPr>
        <p:spPr>
          <a:xfrm>
            <a:off x="4470288" y="1816055"/>
            <a:ext cx="863578" cy="266693"/>
          </a:xfrm>
          <a:prstGeom prst="roundRect">
            <a:avLst>
              <a:gd name="adj" fmla="val 50000"/>
            </a:avLst>
          </a:prstGeom>
          <a:solidFill>
            <a:srgbClr val="1FA9EA"/>
          </a:solidFill>
          <a:ln/>
        </p:spPr>
      </p:sp>
      <p:sp>
        <p:nvSpPr>
          <p:cNvPr id="19" name="text 3.18"/>
          <p:cNvSpPr txBox="1"/>
          <p:nvPr/>
        </p:nvSpPr>
        <p:spPr>
          <a:xfrm>
            <a:off x="4470288" y="1816055"/>
            <a:ext cx="863578" cy="266693"/>
          </a:xfrm>
          <a:prstGeom prst="rect">
            <a:avLst/>
          </a:prstGeom>
          <a:noFill/>
          <a:ln/>
        </p:spPr>
        <p:txBody>
          <a:bodyPr wrap="square" lIns="0" tIns="0" rIns="0" bIns="0" rtlCol="0" anchor="ctr"/>
          <a:lstStyle/>
          <a:p>
            <a:pPr algn="ctr" indent="0" marL="0">
              <a:lnSpc>
                <a:spcPts val="1000"/>
              </a:lnSpc>
              <a:buNone/>
            </a:pPr>
            <a:r>
              <a:rPr lang="en-US" sz="1000" dirty="0">
                <a:solidFill>
                  <a:srgbClr val="FFFFFF"/>
                </a:solidFill>
                <a:latin typeface="Arial Rounded MT Bold" pitchFamily="34" charset="0"/>
                <a:ea typeface="Arial Rounded MT Bold" pitchFamily="34" charset="-122"/>
                <a:cs typeface="Arial Rounded MT Bold" pitchFamily="34" charset="-120"/>
              </a:rPr>
              <a:t>2 · Hit</a:t>
            </a:r>
            <a:endParaRPr lang="en-US" sz="1000" dirty="0"/>
          </a:p>
        </p:txBody>
      </p:sp>
      <p:sp>
        <p:nvSpPr>
          <p:cNvPr id="20" name="text 3.19"/>
          <p:cNvSpPr txBox="1"/>
          <p:nvPr/>
        </p:nvSpPr>
        <p:spPr>
          <a:xfrm>
            <a:off x="4317892" y="3898803"/>
            <a:ext cx="3467013" cy="378609"/>
          </a:xfrm>
          <a:prstGeom prst="rect">
            <a:avLst/>
          </a:prstGeom>
          <a:noFill/>
          <a:ln/>
        </p:spPr>
        <p:txBody>
          <a:bodyPr wrap="square" lIns="0" tIns="0" rIns="0" bIns="0" rtlCol="0" anchor="t"/>
          <a:lstStyle/>
          <a:p>
            <a:pPr algn="l" indent="0" marL="0">
              <a:lnSpc>
                <a:spcPts val="1490"/>
              </a:lnSpc>
              <a:buNone/>
            </a:pPr>
            <a:r>
              <a:rPr lang="en-US" sz="1050" dirty="0">
                <a:solidFill>
                  <a:srgbClr val="3B4A66"/>
                </a:solidFill>
                <a:latin typeface="Arial" pitchFamily="34" charset="0"/>
                <a:ea typeface="Arial" pitchFamily="34" charset="-122"/>
                <a:cs typeface="Arial" pitchFamily="34" charset="-120"/>
              </a:rPr>
              <a:t>The target loses mass on impact and is pushed back along the line of the shot.</a:t>
            </a:r>
            <a:endParaRPr lang="en-US" sz="1050" dirty="0"/>
          </a:p>
        </p:txBody>
      </p:sp>
      <p:sp>
        <p:nvSpPr>
          <p:cNvPr id="21" name="text 3.20"/>
          <p:cNvSpPr txBox="1"/>
          <p:nvPr/>
        </p:nvSpPr>
        <p:spPr>
          <a:xfrm>
            <a:off x="4317892" y="4584585"/>
            <a:ext cx="924098"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TARGET MASS</a:t>
            </a:r>
            <a:endParaRPr lang="en-US" sz="750" dirty="0"/>
          </a:p>
        </p:txBody>
      </p:sp>
      <p:sp>
        <p:nvSpPr>
          <p:cNvPr id="22" name="shape 3.21"/>
          <p:cNvSpPr/>
          <p:nvPr/>
        </p:nvSpPr>
        <p:spPr>
          <a:xfrm>
            <a:off x="4317892" y="4762381"/>
            <a:ext cx="3555911" cy="126997"/>
          </a:xfrm>
          <a:prstGeom prst="roundRect">
            <a:avLst>
              <a:gd name="adj" fmla="val 50000"/>
            </a:avLst>
          </a:prstGeom>
          <a:solidFill>
            <a:srgbClr val="E4EDF9"/>
          </a:solidFill>
          <a:ln/>
        </p:spPr>
      </p:sp>
      <p:sp>
        <p:nvSpPr>
          <p:cNvPr id="23" name="shape 3.22"/>
          <p:cNvSpPr/>
          <p:nvPr/>
        </p:nvSpPr>
        <p:spPr>
          <a:xfrm>
            <a:off x="4317892" y="4762381"/>
            <a:ext cx="1991271" cy="126997"/>
          </a:xfrm>
          <a:prstGeom prst="roundRect">
            <a:avLst>
              <a:gd name="adj" fmla="val 50000"/>
            </a:avLst>
          </a:prstGeom>
          <a:solidFill>
            <a:srgbClr val="1FA9EA"/>
          </a:solidFill>
          <a:ln/>
        </p:spPr>
      </p:sp>
      <p:sp>
        <p:nvSpPr>
          <p:cNvPr id="24" name="shape 3.23"/>
          <p:cNvSpPr/>
          <p:nvPr/>
        </p:nvSpPr>
        <p:spPr>
          <a:xfrm>
            <a:off x="6238025" y="4762381"/>
            <a:ext cx="853359" cy="126997"/>
          </a:xfrm>
          <a:prstGeom prst="rect">
            <a:avLst/>
          </a:prstGeom>
          <a:solidFill>
            <a:srgbClr val="1FA9EA">
              <a:alpha val="28000"/>
            </a:srgbClr>
          </a:solidFill>
          <a:ln/>
        </p:spPr>
      </p:sp>
      <p:sp>
        <p:nvSpPr>
          <p:cNvPr id="25" name="text 3.24"/>
          <p:cNvSpPr txBox="1"/>
          <p:nvPr/>
        </p:nvSpPr>
        <p:spPr>
          <a:xfrm>
            <a:off x="4317892" y="4978276"/>
            <a:ext cx="1717285"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Faded part: lost in this exchange</a:t>
            </a:r>
            <a:endParaRPr lang="en-US" sz="850" dirty="0"/>
          </a:p>
        </p:txBody>
      </p:sp>
      <p:sp>
        <p:nvSpPr>
          <p:cNvPr id="26" name="shape 3.25"/>
          <p:cNvSpPr/>
          <p:nvPr/>
        </p:nvSpPr>
        <p:spPr>
          <a:xfrm>
            <a:off x="8178596" y="1816055"/>
            <a:ext cx="863578" cy="266693"/>
          </a:xfrm>
          <a:prstGeom prst="roundRect">
            <a:avLst>
              <a:gd name="adj" fmla="val 50000"/>
            </a:avLst>
          </a:prstGeom>
          <a:solidFill>
            <a:srgbClr val="FF6B1F"/>
          </a:solidFill>
          <a:ln/>
        </p:spPr>
      </p:sp>
      <p:sp>
        <p:nvSpPr>
          <p:cNvPr id="27" name="text 3.26"/>
          <p:cNvSpPr txBox="1"/>
          <p:nvPr/>
        </p:nvSpPr>
        <p:spPr>
          <a:xfrm>
            <a:off x="8178596" y="1816055"/>
            <a:ext cx="863578" cy="266693"/>
          </a:xfrm>
          <a:prstGeom prst="rect">
            <a:avLst/>
          </a:prstGeom>
          <a:noFill/>
          <a:ln/>
        </p:spPr>
        <p:txBody>
          <a:bodyPr wrap="square" lIns="0" tIns="0" rIns="0" bIns="0" rtlCol="0" anchor="ctr"/>
          <a:lstStyle/>
          <a:p>
            <a:pPr algn="ctr" indent="0" marL="0">
              <a:lnSpc>
                <a:spcPts val="1000"/>
              </a:lnSpc>
              <a:buNone/>
            </a:pPr>
            <a:r>
              <a:rPr lang="en-US" sz="1000" dirty="0">
                <a:solidFill>
                  <a:srgbClr val="FFFFFF"/>
                </a:solidFill>
                <a:latin typeface="Arial Rounded MT Bold" pitchFamily="34" charset="0"/>
                <a:ea typeface="Arial Rounded MT Bold" pitchFamily="34" charset="-122"/>
                <a:cs typeface="Arial Rounded MT Bold" pitchFamily="34" charset="-120"/>
              </a:rPr>
              <a:t>3 · Fall</a:t>
            </a:r>
            <a:endParaRPr lang="en-US" sz="1000" dirty="0"/>
          </a:p>
        </p:txBody>
      </p:sp>
      <p:sp>
        <p:nvSpPr>
          <p:cNvPr id="28" name="text 3.27"/>
          <p:cNvSpPr txBox="1"/>
          <p:nvPr/>
        </p:nvSpPr>
        <p:spPr>
          <a:xfrm>
            <a:off x="8026199" y="3898803"/>
            <a:ext cx="3467013" cy="378609"/>
          </a:xfrm>
          <a:prstGeom prst="rect">
            <a:avLst/>
          </a:prstGeom>
          <a:noFill/>
          <a:ln/>
        </p:spPr>
        <p:txBody>
          <a:bodyPr wrap="square" lIns="0" tIns="0" rIns="0" bIns="0" rtlCol="0" anchor="t"/>
          <a:lstStyle/>
          <a:p>
            <a:pPr algn="l" indent="0" marL="0">
              <a:lnSpc>
                <a:spcPts val="1490"/>
              </a:lnSpc>
              <a:buNone/>
            </a:pPr>
            <a:r>
              <a:rPr lang="en-US" sz="1050" dirty="0">
                <a:solidFill>
                  <a:srgbClr val="3B4A66"/>
                </a:solidFill>
                <a:latin typeface="Arial" pitchFamily="34" charset="0"/>
                <a:ea typeface="Arial" pitchFamily="34" charset="-122"/>
                <a:cs typeface="Arial" pitchFamily="34" charset="-120"/>
              </a:rPr>
              <a:t>Less mass means the same hit pushes further. Off the edge is a knockout.</a:t>
            </a:r>
            <a:endParaRPr lang="en-US" sz="1050" dirty="0"/>
          </a:p>
        </p:txBody>
      </p:sp>
      <p:sp>
        <p:nvSpPr>
          <p:cNvPr id="29" name="text 3.28"/>
          <p:cNvSpPr txBox="1"/>
          <p:nvPr/>
        </p:nvSpPr>
        <p:spPr>
          <a:xfrm>
            <a:off x="8026199" y="4584585"/>
            <a:ext cx="149401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KNOCKBACK, SAME HIT</a:t>
            </a:r>
            <a:endParaRPr lang="en-US" sz="750" dirty="0"/>
          </a:p>
        </p:txBody>
      </p:sp>
      <p:sp>
        <p:nvSpPr>
          <p:cNvPr id="30" name="shape 3.29"/>
          <p:cNvSpPr/>
          <p:nvPr/>
        </p:nvSpPr>
        <p:spPr>
          <a:xfrm>
            <a:off x="8026199" y="4762381"/>
            <a:ext cx="3555911" cy="126997"/>
          </a:xfrm>
          <a:prstGeom prst="roundRect">
            <a:avLst>
              <a:gd name="adj" fmla="val 50000"/>
            </a:avLst>
          </a:prstGeom>
          <a:solidFill>
            <a:srgbClr val="E4EDF9"/>
          </a:solidFill>
          <a:ln/>
        </p:spPr>
      </p:sp>
      <p:sp>
        <p:nvSpPr>
          <p:cNvPr id="31" name="shape 3.30"/>
          <p:cNvSpPr/>
          <p:nvPr/>
        </p:nvSpPr>
        <p:spPr>
          <a:xfrm>
            <a:off x="8026199" y="4762381"/>
            <a:ext cx="3271359" cy="126997"/>
          </a:xfrm>
          <a:prstGeom prst="roundRect">
            <a:avLst>
              <a:gd name="adj" fmla="val 50000"/>
            </a:avLst>
          </a:prstGeom>
          <a:solidFill>
            <a:srgbClr val="FF6B1F"/>
          </a:solidFill>
          <a:ln/>
        </p:spPr>
      </p:sp>
      <p:sp>
        <p:nvSpPr>
          <p:cNvPr id="32" name="text 3.31"/>
          <p:cNvSpPr txBox="1"/>
          <p:nvPr/>
        </p:nvSpPr>
        <p:spPr>
          <a:xfrm>
            <a:off x="8026199" y="4978276"/>
            <a:ext cx="1169984"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Grows as mass drops</a:t>
            </a:r>
            <a:endParaRPr lang="en-US" sz="850" dirty="0"/>
          </a:p>
        </p:txBody>
      </p:sp>
      <p:sp>
        <p:nvSpPr>
          <p:cNvPr id="33" name="text 3.32"/>
          <p:cNvSpPr txBox="1"/>
          <p:nvPr/>
        </p:nvSpPr>
        <p:spPr>
          <a:xfrm>
            <a:off x="863578" y="5727557"/>
            <a:ext cx="10451839" cy="257804"/>
          </a:xfrm>
          <a:prstGeom prst="rect">
            <a:avLst/>
          </a:prstGeom>
          <a:noFill/>
          <a:ln/>
        </p:spPr>
        <p:txBody>
          <a:bodyPr wrap="square" lIns="0" tIns="0" rIns="0" bIns="0" rtlCol="0" anchor="t"/>
          <a:lstStyle/>
          <a:p>
            <a:pPr algn="l" indent="0" marL="0">
              <a:lnSpc>
                <a:spcPts val="2030"/>
              </a:lnSpc>
              <a:buNone/>
            </a:pPr>
            <a:r>
              <a:rPr lang="en-US" sz="1400" dirty="0">
                <a:solidFill>
                  <a:srgbClr val="16233F"/>
                </a:solidFill>
                <a:latin typeface="Arial" pitchFamily="34" charset="0"/>
                <a:ea typeface="Arial" pitchFamily="34" charset="-122"/>
                <a:cs typeface="Arial" pitchFamily="34" charset="-120"/>
              </a:rPr>
              <a:t>Shooting, getting hit and getting launched all read from one number the player can see: </a:t>
            </a:r>
            <a:pPr algn="l" indent="0" marL="0">
              <a:lnSpc>
                <a:spcPts val="2030"/>
              </a:lnSpc>
              <a:buNone/>
            </a:pPr>
            <a:r>
              <a:rPr lang="en-US" sz="1400" b="1" dirty="0">
                <a:solidFill>
                  <a:srgbClr val="FF6B1F"/>
                </a:solidFill>
                <a:latin typeface="Arial" pitchFamily="34" charset="0"/>
                <a:ea typeface="Arial" pitchFamily="34" charset="-122"/>
                <a:cs typeface="Arial" pitchFamily="34" charset="-120"/>
              </a:rPr>
              <a:t>the cube's size.</a:t>
            </a:r>
            <a:endParaRPr lang="en-US" sz="1400" dirty="0"/>
          </a:p>
        </p:txBody>
      </p:sp>
      <p:sp>
        <p:nvSpPr>
          <p:cNvPr id="34" name="text 3.33"/>
          <p:cNvSpPr txBox="1"/>
          <p:nvPr/>
        </p:nvSpPr>
        <p:spPr>
          <a:xfrm>
            <a:off x="609585" y="6579725"/>
            <a:ext cx="1150591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Bars show direction only. Costs and knockback values are set in playtests.</a:t>
            </a:r>
            <a:endParaRPr lang="en-US" sz="850" dirty="0"/>
          </a:p>
        </p:txBody>
      </p:sp>
      <p:sp>
        <p:nvSpPr>
          <p:cNvPr id="35" name="shape 3.34"/>
          <p:cNvSpPr/>
          <p:nvPr/>
        </p:nvSpPr>
        <p:spPr>
          <a:xfrm>
            <a:off x="609585" y="266693"/>
            <a:ext cx="1765256"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36" name="shape 3.35"/>
          <p:cNvSpPr/>
          <p:nvPr/>
        </p:nvSpPr>
        <p:spPr>
          <a:xfrm>
            <a:off x="711182" y="355591"/>
            <a:ext cx="114297" cy="114297"/>
          </a:xfrm>
          <a:prstGeom prst="roundRect">
            <a:avLst>
              <a:gd name="adj" fmla="val 33333"/>
            </a:avLst>
          </a:prstGeom>
          <a:solidFill>
            <a:srgbClr val="FF6B1F"/>
          </a:solidFill>
          <a:ln/>
        </p:spPr>
      </p:sp>
      <p:sp>
        <p:nvSpPr>
          <p:cNvPr id="37" name="shape 3.36"/>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38" name="shape 3.37"/>
          <p:cNvSpPr/>
          <p:nvPr/>
        </p:nvSpPr>
        <p:spPr>
          <a:xfrm>
            <a:off x="10058149" y="368291"/>
            <a:ext cx="101597" cy="101597"/>
          </a:xfrm>
          <a:prstGeom prst="roundRect">
            <a:avLst>
              <a:gd name="adj" fmla="val 31250"/>
            </a:avLst>
          </a:prstGeom>
          <a:solidFill>
            <a:srgbClr val="16233F"/>
          </a:solidFill>
          <a:ln/>
        </p:spPr>
      </p:sp>
      <p:sp>
        <p:nvSpPr>
          <p:cNvPr id="39" name="shape 3.38"/>
          <p:cNvSpPr/>
          <p:nvPr/>
        </p:nvSpPr>
        <p:spPr>
          <a:xfrm>
            <a:off x="10223244" y="368291"/>
            <a:ext cx="101597" cy="101597"/>
          </a:xfrm>
          <a:prstGeom prst="roundRect">
            <a:avLst>
              <a:gd name="adj" fmla="val 31250"/>
            </a:avLst>
          </a:prstGeom>
          <a:solidFill>
            <a:srgbClr val="FF6B1F"/>
          </a:solidFill>
          <a:ln/>
        </p:spPr>
      </p:sp>
      <p:sp>
        <p:nvSpPr>
          <p:cNvPr id="40" name="shape 3.39"/>
          <p:cNvSpPr/>
          <p:nvPr/>
        </p:nvSpPr>
        <p:spPr>
          <a:xfrm>
            <a:off x="10388340" y="368291"/>
            <a:ext cx="101597" cy="101597"/>
          </a:xfrm>
          <a:prstGeom prst="roundRect">
            <a:avLst>
              <a:gd name="adj" fmla="val 31250"/>
            </a:avLst>
          </a:prstGeom>
          <a:solidFill>
            <a:srgbClr val="C7D4E8"/>
          </a:solidFill>
          <a:ln/>
        </p:spPr>
      </p:sp>
      <p:sp>
        <p:nvSpPr>
          <p:cNvPr id="41" name="shape 3.40"/>
          <p:cNvSpPr/>
          <p:nvPr/>
        </p:nvSpPr>
        <p:spPr>
          <a:xfrm>
            <a:off x="10553436" y="368291"/>
            <a:ext cx="101597" cy="101597"/>
          </a:xfrm>
          <a:prstGeom prst="roundRect">
            <a:avLst>
              <a:gd name="adj" fmla="val 31250"/>
            </a:avLst>
          </a:prstGeom>
          <a:solidFill>
            <a:srgbClr val="C7D4E8"/>
          </a:solidFill>
          <a:ln/>
        </p:spPr>
      </p:sp>
      <p:sp>
        <p:nvSpPr>
          <p:cNvPr id="42" name="shape 3.41"/>
          <p:cNvSpPr/>
          <p:nvPr/>
        </p:nvSpPr>
        <p:spPr>
          <a:xfrm>
            <a:off x="10718532" y="368291"/>
            <a:ext cx="101597" cy="101597"/>
          </a:xfrm>
          <a:prstGeom prst="roundRect">
            <a:avLst>
              <a:gd name="adj" fmla="val 31250"/>
            </a:avLst>
          </a:prstGeom>
          <a:solidFill>
            <a:srgbClr val="C7D4E8"/>
          </a:solidFill>
          <a:ln/>
        </p:spPr>
      </p:sp>
      <p:sp>
        <p:nvSpPr>
          <p:cNvPr id="43" name="shape 3.42"/>
          <p:cNvSpPr/>
          <p:nvPr/>
        </p:nvSpPr>
        <p:spPr>
          <a:xfrm>
            <a:off x="10883628" y="368291"/>
            <a:ext cx="101597" cy="101597"/>
          </a:xfrm>
          <a:prstGeom prst="roundRect">
            <a:avLst>
              <a:gd name="adj" fmla="val 31250"/>
            </a:avLst>
          </a:prstGeom>
          <a:solidFill>
            <a:srgbClr val="C7D4E8"/>
          </a:solidFill>
          <a:ln/>
        </p:spPr>
      </p:sp>
      <p:sp>
        <p:nvSpPr>
          <p:cNvPr id="44" name="text 3.43"/>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03</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45" name="text 3.44"/>
          <p:cNvSpPr txBox="1"/>
          <p:nvPr/>
        </p:nvSpPr>
        <p:spPr>
          <a:xfrm>
            <a:off x="927077" y="349241"/>
            <a:ext cx="1337519"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02 · Gameplay &amp; tech</a:t>
            </a:r>
            <a:endParaRPr lang="en-US" sz="9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4.1"/>
          <p:cNvSpPr/>
          <p:nvPr/>
        </p:nvSpPr>
        <p:spPr>
          <a:xfrm>
            <a:off x="609585" y="1663658"/>
            <a:ext cx="3555911" cy="3619410"/>
          </a:xfrm>
          <a:prstGeom prst="roundRect">
            <a:avLst>
              <a:gd name="adj" fmla="val 5000"/>
            </a:avLst>
          </a:prstGeom>
          <a:solidFill>
            <a:srgbClr val="FFFFFF"/>
          </a:solidFill>
          <a:ln/>
          <a:effectLst>
            <a:outerShdw sx="100000" sy="100000" kx="0" ky="0" algn="bl" rotWithShape="0" blurRad="203200" dist="76200" dir="5400000">
              <a:srgbClr val="1E468C">
                <a:alpha val="16000"/>
              </a:srgbClr>
            </a:outerShdw>
          </a:effectLst>
        </p:spPr>
      </p:sp>
      <p:sp>
        <p:nvSpPr>
          <p:cNvPr id="3" name="shape 4.2"/>
          <p:cNvSpPr/>
          <p:nvPr/>
        </p:nvSpPr>
        <p:spPr>
          <a:xfrm>
            <a:off x="4317892" y="1663658"/>
            <a:ext cx="3555911" cy="3619410"/>
          </a:xfrm>
          <a:prstGeom prst="roundRect">
            <a:avLst>
              <a:gd name="adj" fmla="val 5000"/>
            </a:avLst>
          </a:prstGeom>
          <a:solidFill>
            <a:srgbClr val="FFFFFF"/>
          </a:solidFill>
          <a:ln/>
          <a:effectLst>
            <a:outerShdw sx="100000" sy="100000" kx="0" ky="0" algn="bl" rotWithShape="0" blurRad="203200" dist="76200" dir="5400000">
              <a:srgbClr val="1E468C">
                <a:alpha val="16000"/>
              </a:srgbClr>
            </a:outerShdw>
          </a:effectLst>
        </p:spPr>
      </p:sp>
      <p:sp>
        <p:nvSpPr>
          <p:cNvPr id="4" name="shape 4.3"/>
          <p:cNvSpPr/>
          <p:nvPr/>
        </p:nvSpPr>
        <p:spPr>
          <a:xfrm>
            <a:off x="8026199" y="1663658"/>
            <a:ext cx="3555911" cy="3619410"/>
          </a:xfrm>
          <a:prstGeom prst="roundRect">
            <a:avLst>
              <a:gd name="adj" fmla="val 5000"/>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pic>
        <p:nvPicPr>
          <p:cNvPr id="5" name="raster 4.4" descr="diagram">    </p:cNvPr>
          <p:cNvPicPr>
            <a:picLocks noChangeAspect="1"/>
          </p:cNvPicPr>
          <p:nvPr/>
        </p:nvPicPr>
        <p:blipFill>
          <a:blip r:embed="rId2"/>
          <a:stretch>
            <a:fillRect/>
          </a:stretch>
        </p:blipFill>
        <p:spPr>
          <a:xfrm>
            <a:off x="1676358" y="2698683"/>
            <a:ext cx="1422364" cy="266693"/>
          </a:xfrm>
          <a:prstGeom prst="rect">
            <a:avLst/>
          </a:prstGeom>
        </p:spPr>
      </p:pic>
      <p:pic>
        <p:nvPicPr>
          <p:cNvPr id="6" name="raster 4.5" descr="diagram">    </p:cNvPr>
          <p:cNvPicPr>
            <a:picLocks noChangeAspect="1"/>
          </p:cNvPicPr>
          <p:nvPr/>
        </p:nvPicPr>
        <p:blipFill>
          <a:blip r:embed="rId3"/>
          <a:stretch>
            <a:fillRect/>
          </a:stretch>
        </p:blipFill>
        <p:spPr>
          <a:xfrm>
            <a:off x="5384665" y="2698683"/>
            <a:ext cx="1422364" cy="266693"/>
          </a:xfrm>
          <a:prstGeom prst="rect">
            <a:avLst/>
          </a:prstGeom>
        </p:spPr>
      </p:pic>
      <p:pic>
        <p:nvPicPr>
          <p:cNvPr id="7" name="raster 4.6" descr="diagram">    </p:cNvPr>
          <p:cNvPicPr>
            <a:picLocks noChangeAspect="1"/>
          </p:cNvPicPr>
          <p:nvPr/>
        </p:nvPicPr>
        <p:blipFill>
          <a:blip r:embed="rId4"/>
          <a:stretch>
            <a:fillRect/>
          </a:stretch>
        </p:blipFill>
        <p:spPr>
          <a:xfrm>
            <a:off x="9092973" y="2698683"/>
            <a:ext cx="1422364" cy="266693"/>
          </a:xfrm>
          <a:prstGeom prst="rect">
            <a:avLst/>
          </a:prstGeom>
        </p:spPr>
      </p:pic>
      <p:sp>
        <p:nvSpPr>
          <p:cNvPr id="8" name="text 4.7"/>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Why both the shooter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and</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the target lose mass</a:t>
            </a:r>
            <a:endParaRPr lang="en-US" sz="2700" dirty="0"/>
          </a:p>
        </p:txBody>
      </p:sp>
      <p:sp>
        <p:nvSpPr>
          <p:cNvPr id="9" name="text 4.8"/>
          <p:cNvSpPr txBox="1"/>
          <p:nvPr/>
        </p:nvSpPr>
        <p:spPr>
          <a:xfrm>
            <a:off x="838179" y="1892253"/>
            <a:ext cx="711025"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VARIANT A</a:t>
            </a:r>
            <a:endParaRPr lang="en-US" sz="750" dirty="0"/>
          </a:p>
        </p:txBody>
      </p:sp>
      <p:sp>
        <p:nvSpPr>
          <p:cNvPr id="10" name="text 4.9"/>
          <p:cNvSpPr txBox="1"/>
          <p:nvPr/>
        </p:nvSpPr>
        <p:spPr>
          <a:xfrm>
            <a:off x="838179" y="2070048"/>
            <a:ext cx="3149521"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Only the shooter pays</a:t>
            </a:r>
            <a:endParaRPr lang="en-US" sz="1400" dirty="0"/>
          </a:p>
        </p:txBody>
      </p:sp>
      <p:pic>
        <p:nvPicPr>
          <p:cNvPr id="11" name="raster 4.10" descr="diagram">    </p:cNvPr>
          <p:cNvPicPr>
            <a:picLocks noChangeAspect="1"/>
          </p:cNvPicPr>
          <p:nvPr/>
        </p:nvPicPr>
        <p:blipFill>
          <a:blip r:embed="rId5"/>
          <a:stretch>
            <a:fillRect/>
          </a:stretch>
        </p:blipFill>
        <p:spPr>
          <a:xfrm>
            <a:off x="1015975" y="2527237"/>
            <a:ext cx="609585" cy="609585"/>
          </a:xfrm>
          <a:prstGeom prst="rect">
            <a:avLst/>
          </a:prstGeom>
        </p:spPr>
      </p:pic>
      <p:pic>
        <p:nvPicPr>
          <p:cNvPr id="12" name="raster 4.11" descr="diagram">    </p:cNvPr>
          <p:cNvPicPr>
            <a:picLocks noChangeAspect="1"/>
          </p:cNvPicPr>
          <p:nvPr/>
        </p:nvPicPr>
        <p:blipFill>
          <a:blip r:embed="rId6"/>
          <a:stretch>
            <a:fillRect/>
          </a:stretch>
        </p:blipFill>
        <p:spPr>
          <a:xfrm>
            <a:off x="3149521" y="2527237"/>
            <a:ext cx="609585" cy="609585"/>
          </a:xfrm>
          <a:prstGeom prst="rect">
            <a:avLst/>
          </a:prstGeom>
        </p:spPr>
      </p:pic>
      <p:sp>
        <p:nvSpPr>
          <p:cNvPr id="13" name="shape 4.12"/>
          <p:cNvSpPr/>
          <p:nvPr/>
        </p:nvSpPr>
        <p:spPr>
          <a:xfrm>
            <a:off x="1003275" y="3225719"/>
            <a:ext cx="634984" cy="215895"/>
          </a:xfrm>
          <a:prstGeom prst="roundRect">
            <a:avLst>
              <a:gd name="adj" fmla="val 50000"/>
            </a:avLst>
          </a:prstGeom>
          <a:solidFill>
            <a:srgbClr val="FF6B1F"/>
          </a:solidFill>
          <a:ln/>
        </p:spPr>
      </p:sp>
      <p:sp>
        <p:nvSpPr>
          <p:cNvPr id="14" name="text 4.13"/>
          <p:cNvSpPr txBox="1"/>
          <p:nvPr/>
        </p:nvSpPr>
        <p:spPr>
          <a:xfrm>
            <a:off x="1003275" y="3225719"/>
            <a:ext cx="634984" cy="215895"/>
          </a:xfrm>
          <a:prstGeom prst="rect">
            <a:avLst/>
          </a:prstGeom>
          <a:noFill/>
          <a:ln/>
        </p:spPr>
        <p:txBody>
          <a:bodyPr wrap="square" lIns="0" tIns="0" rIns="0" bIns="0" rtlCol="0" anchor="ctr"/>
          <a:lstStyle/>
          <a:p>
            <a:pPr algn="ctr" indent="0" marL="0">
              <a:lnSpc>
                <a:spcPts val="750"/>
              </a:lnSpc>
              <a:buNone/>
            </a:pPr>
            <a:r>
              <a:rPr lang="en-US" sz="750" b="1" spc="60" kern="0" dirty="0">
                <a:solidFill>
                  <a:srgbClr val="FFFFFF"/>
                </a:solidFill>
                <a:latin typeface="Arial" pitchFamily="34" charset="0"/>
                <a:ea typeface="Arial" pitchFamily="34" charset="-122"/>
                <a:cs typeface="Arial" pitchFamily="34" charset="-120"/>
              </a:rPr>
              <a:t>− MASS</a:t>
            </a:r>
            <a:endParaRPr lang="en-US" sz="750" dirty="0"/>
          </a:p>
        </p:txBody>
      </p:sp>
      <p:sp>
        <p:nvSpPr>
          <p:cNvPr id="15" name="shape 4.14"/>
          <p:cNvSpPr/>
          <p:nvPr/>
        </p:nvSpPr>
        <p:spPr>
          <a:xfrm>
            <a:off x="3136822" y="3225719"/>
            <a:ext cx="634984" cy="215895"/>
          </a:xfrm>
          <a:prstGeom prst="roundRect">
            <a:avLst>
              <a:gd name="adj" fmla="val 50000"/>
            </a:avLst>
          </a:prstGeom>
          <a:solidFill>
            <a:srgbClr val="E9EFF8"/>
          </a:solidFill>
          <a:ln/>
        </p:spPr>
      </p:sp>
      <p:sp>
        <p:nvSpPr>
          <p:cNvPr id="16" name="text 4.15"/>
          <p:cNvSpPr txBox="1"/>
          <p:nvPr/>
        </p:nvSpPr>
        <p:spPr>
          <a:xfrm>
            <a:off x="3136822" y="3225719"/>
            <a:ext cx="634984" cy="215895"/>
          </a:xfrm>
          <a:prstGeom prst="rect">
            <a:avLst/>
          </a:prstGeom>
          <a:noFill/>
          <a:ln/>
        </p:spPr>
        <p:txBody>
          <a:bodyPr wrap="square" lIns="0" tIns="0" rIns="0" bIns="0" rtlCol="0" anchor="ctr"/>
          <a:lstStyle/>
          <a:p>
            <a:pPr algn="ctr" indent="0" marL="0">
              <a:lnSpc>
                <a:spcPts val="750"/>
              </a:lnSpc>
              <a:buNone/>
            </a:pPr>
            <a:r>
              <a:rPr lang="en-US" sz="750" b="1" spc="60" kern="0" dirty="0">
                <a:solidFill>
                  <a:srgbClr val="6E7D9A"/>
                </a:solidFill>
                <a:latin typeface="Arial" pitchFamily="34" charset="0"/>
                <a:ea typeface="Arial" pitchFamily="34" charset="-122"/>
                <a:cs typeface="Arial" pitchFamily="34" charset="-120"/>
              </a:rPr>
              <a:t>FREE</a:t>
            </a:r>
            <a:endParaRPr lang="en-US" sz="750" dirty="0"/>
          </a:p>
        </p:txBody>
      </p:sp>
      <p:sp>
        <p:nvSpPr>
          <p:cNvPr id="17" name="text 4.16"/>
          <p:cNvSpPr txBox="1"/>
          <p:nvPr/>
        </p:nvSpPr>
        <p:spPr>
          <a:xfrm>
            <a:off x="838179" y="3695608"/>
            <a:ext cx="729956"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BEST PLAY</a:t>
            </a:r>
            <a:endParaRPr lang="en-US" sz="750" dirty="0"/>
          </a:p>
        </p:txBody>
      </p:sp>
      <p:sp>
        <p:nvSpPr>
          <p:cNvPr id="18" name="text 4.17"/>
          <p:cNvSpPr txBox="1"/>
          <p:nvPr/>
        </p:nvSpPr>
        <p:spPr>
          <a:xfrm>
            <a:off x="838179" y="3860703"/>
            <a:ext cx="3149521" cy="378609"/>
          </a:xfrm>
          <a:prstGeom prst="rect">
            <a:avLst/>
          </a:prstGeom>
          <a:noFill/>
          <a:ln/>
        </p:spPr>
        <p:txBody>
          <a:bodyPr wrap="square" lIns="0" tIns="0" rIns="0" bIns="0" rtlCol="0" anchor="t"/>
          <a:lstStyle/>
          <a:p>
            <a:pPr algn="l" indent="0" marL="0">
              <a:lnSpc>
                <a:spcPts val="1490"/>
              </a:lnSpc>
              <a:buNone/>
            </a:pPr>
            <a:r>
              <a:rPr lang="en-US" sz="1050" dirty="0">
                <a:solidFill>
                  <a:srgbClr val="3B4A66"/>
                </a:solidFill>
                <a:latin typeface="Arial" pitchFamily="34" charset="0"/>
                <a:ea typeface="Arial" pitchFamily="34" charset="-122"/>
                <a:cs typeface="Arial" pitchFamily="34" charset="-120"/>
              </a:rPr>
              <a:t>Shooting is pure loss. The best play is to never shoot and wait for the others to weaken each other.</a:t>
            </a:r>
            <a:endParaRPr lang="en-US" sz="1050" dirty="0"/>
          </a:p>
        </p:txBody>
      </p:sp>
      <p:sp>
        <p:nvSpPr>
          <p:cNvPr id="19" name="shape 4.18"/>
          <p:cNvSpPr/>
          <p:nvPr/>
        </p:nvSpPr>
        <p:spPr>
          <a:xfrm>
            <a:off x="838179" y="4800480"/>
            <a:ext cx="1396965" cy="279393"/>
          </a:xfrm>
          <a:prstGeom prst="roundRect">
            <a:avLst>
              <a:gd name="adj" fmla="val 50000"/>
            </a:avLst>
          </a:prstGeom>
          <a:solidFill>
            <a:srgbClr val="E9EFF8"/>
          </a:solidFill>
          <a:ln/>
        </p:spPr>
      </p:sp>
      <p:sp>
        <p:nvSpPr>
          <p:cNvPr id="20" name="text 4.19"/>
          <p:cNvSpPr txBox="1"/>
          <p:nvPr/>
        </p:nvSpPr>
        <p:spPr>
          <a:xfrm>
            <a:off x="838179" y="4800480"/>
            <a:ext cx="1396965" cy="2793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6E7D9A"/>
                </a:solidFill>
                <a:latin typeface="Arial" pitchFamily="34" charset="0"/>
                <a:ea typeface="Arial" pitchFamily="34" charset="-122"/>
                <a:cs typeface="Arial" pitchFamily="34" charset="-120"/>
              </a:rPr>
              <a:t>✕ REWARDS HIDING</a:t>
            </a:r>
            <a:endParaRPr lang="en-US" sz="700" dirty="0"/>
          </a:p>
        </p:txBody>
      </p:sp>
      <p:sp>
        <p:nvSpPr>
          <p:cNvPr id="21" name="text 4.20"/>
          <p:cNvSpPr txBox="1"/>
          <p:nvPr/>
        </p:nvSpPr>
        <p:spPr>
          <a:xfrm>
            <a:off x="4546486" y="1892253"/>
            <a:ext cx="714812"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VARIANT B</a:t>
            </a:r>
            <a:endParaRPr lang="en-US" sz="750" dirty="0"/>
          </a:p>
        </p:txBody>
      </p:sp>
      <p:sp>
        <p:nvSpPr>
          <p:cNvPr id="22" name="text 4.21"/>
          <p:cNvSpPr txBox="1"/>
          <p:nvPr/>
        </p:nvSpPr>
        <p:spPr>
          <a:xfrm>
            <a:off x="4546486" y="2070048"/>
            <a:ext cx="3149521"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Only the target pays</a:t>
            </a:r>
            <a:endParaRPr lang="en-US" sz="1400" dirty="0"/>
          </a:p>
        </p:txBody>
      </p:sp>
      <p:pic>
        <p:nvPicPr>
          <p:cNvPr id="23" name="raster 4.22" descr="diagram">    </p:cNvPr>
          <p:cNvPicPr>
            <a:picLocks noChangeAspect="1"/>
          </p:cNvPicPr>
          <p:nvPr/>
        </p:nvPicPr>
        <p:blipFill>
          <a:blip r:embed="rId7"/>
          <a:stretch>
            <a:fillRect/>
          </a:stretch>
        </p:blipFill>
        <p:spPr>
          <a:xfrm>
            <a:off x="4724282" y="2527237"/>
            <a:ext cx="609585" cy="609585"/>
          </a:xfrm>
          <a:prstGeom prst="rect">
            <a:avLst/>
          </a:prstGeom>
        </p:spPr>
      </p:pic>
      <p:pic>
        <p:nvPicPr>
          <p:cNvPr id="24" name="raster 4.23" descr="diagram">    </p:cNvPr>
          <p:cNvPicPr>
            <a:picLocks noChangeAspect="1"/>
          </p:cNvPicPr>
          <p:nvPr/>
        </p:nvPicPr>
        <p:blipFill>
          <a:blip r:embed="rId8"/>
          <a:stretch>
            <a:fillRect/>
          </a:stretch>
        </p:blipFill>
        <p:spPr>
          <a:xfrm>
            <a:off x="6857829" y="2527237"/>
            <a:ext cx="609585" cy="609585"/>
          </a:xfrm>
          <a:prstGeom prst="rect">
            <a:avLst/>
          </a:prstGeom>
        </p:spPr>
      </p:pic>
      <p:sp>
        <p:nvSpPr>
          <p:cNvPr id="25" name="shape 4.24"/>
          <p:cNvSpPr/>
          <p:nvPr/>
        </p:nvSpPr>
        <p:spPr>
          <a:xfrm>
            <a:off x="4711582" y="3225719"/>
            <a:ext cx="634984" cy="215895"/>
          </a:xfrm>
          <a:prstGeom prst="roundRect">
            <a:avLst>
              <a:gd name="adj" fmla="val 50000"/>
            </a:avLst>
          </a:prstGeom>
          <a:solidFill>
            <a:srgbClr val="E9EFF8"/>
          </a:solidFill>
          <a:ln/>
        </p:spPr>
      </p:sp>
      <p:sp>
        <p:nvSpPr>
          <p:cNvPr id="26" name="text 4.25"/>
          <p:cNvSpPr txBox="1"/>
          <p:nvPr/>
        </p:nvSpPr>
        <p:spPr>
          <a:xfrm>
            <a:off x="4711582" y="3225719"/>
            <a:ext cx="634984" cy="215895"/>
          </a:xfrm>
          <a:prstGeom prst="rect">
            <a:avLst/>
          </a:prstGeom>
          <a:noFill/>
          <a:ln/>
        </p:spPr>
        <p:txBody>
          <a:bodyPr wrap="square" lIns="0" tIns="0" rIns="0" bIns="0" rtlCol="0" anchor="ctr"/>
          <a:lstStyle/>
          <a:p>
            <a:pPr algn="ctr" indent="0" marL="0">
              <a:lnSpc>
                <a:spcPts val="750"/>
              </a:lnSpc>
              <a:buNone/>
            </a:pPr>
            <a:r>
              <a:rPr lang="en-US" sz="750" b="1" spc="60" kern="0" dirty="0">
                <a:solidFill>
                  <a:srgbClr val="6E7D9A"/>
                </a:solidFill>
                <a:latin typeface="Arial" pitchFamily="34" charset="0"/>
                <a:ea typeface="Arial" pitchFamily="34" charset="-122"/>
                <a:cs typeface="Arial" pitchFamily="34" charset="-120"/>
              </a:rPr>
              <a:t>FREE</a:t>
            </a:r>
            <a:endParaRPr lang="en-US" sz="750" dirty="0"/>
          </a:p>
        </p:txBody>
      </p:sp>
      <p:sp>
        <p:nvSpPr>
          <p:cNvPr id="27" name="shape 4.26"/>
          <p:cNvSpPr/>
          <p:nvPr/>
        </p:nvSpPr>
        <p:spPr>
          <a:xfrm>
            <a:off x="6845129" y="3225719"/>
            <a:ext cx="634984" cy="215895"/>
          </a:xfrm>
          <a:prstGeom prst="roundRect">
            <a:avLst>
              <a:gd name="adj" fmla="val 50000"/>
            </a:avLst>
          </a:prstGeom>
          <a:solidFill>
            <a:srgbClr val="1FA9EA"/>
          </a:solidFill>
          <a:ln/>
        </p:spPr>
      </p:sp>
      <p:sp>
        <p:nvSpPr>
          <p:cNvPr id="28" name="text 4.27"/>
          <p:cNvSpPr txBox="1"/>
          <p:nvPr/>
        </p:nvSpPr>
        <p:spPr>
          <a:xfrm>
            <a:off x="6845129" y="3225719"/>
            <a:ext cx="634984" cy="215895"/>
          </a:xfrm>
          <a:prstGeom prst="rect">
            <a:avLst/>
          </a:prstGeom>
          <a:noFill/>
          <a:ln/>
        </p:spPr>
        <p:txBody>
          <a:bodyPr wrap="square" lIns="0" tIns="0" rIns="0" bIns="0" rtlCol="0" anchor="ctr"/>
          <a:lstStyle/>
          <a:p>
            <a:pPr algn="ctr" indent="0" marL="0">
              <a:lnSpc>
                <a:spcPts val="750"/>
              </a:lnSpc>
              <a:buNone/>
            </a:pPr>
            <a:r>
              <a:rPr lang="en-US" sz="750" b="1" spc="60" kern="0" dirty="0">
                <a:solidFill>
                  <a:srgbClr val="FFFFFF"/>
                </a:solidFill>
                <a:latin typeface="Arial" pitchFamily="34" charset="0"/>
                <a:ea typeface="Arial" pitchFamily="34" charset="-122"/>
                <a:cs typeface="Arial" pitchFamily="34" charset="-120"/>
              </a:rPr>
              <a:t>− MASS</a:t>
            </a:r>
            <a:endParaRPr lang="en-US" sz="750" dirty="0"/>
          </a:p>
        </p:txBody>
      </p:sp>
      <p:sp>
        <p:nvSpPr>
          <p:cNvPr id="29" name="text 4.28"/>
          <p:cNvSpPr txBox="1"/>
          <p:nvPr/>
        </p:nvSpPr>
        <p:spPr>
          <a:xfrm>
            <a:off x="4546486" y="3695608"/>
            <a:ext cx="729956"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BEST PLAY</a:t>
            </a:r>
            <a:endParaRPr lang="en-US" sz="750" dirty="0"/>
          </a:p>
        </p:txBody>
      </p:sp>
      <p:sp>
        <p:nvSpPr>
          <p:cNvPr id="30" name="text 4.29"/>
          <p:cNvSpPr txBox="1"/>
          <p:nvPr/>
        </p:nvSpPr>
        <p:spPr>
          <a:xfrm>
            <a:off x="4546486" y="3860703"/>
            <a:ext cx="3149521" cy="378609"/>
          </a:xfrm>
          <a:prstGeom prst="rect">
            <a:avLst/>
          </a:prstGeom>
          <a:noFill/>
          <a:ln/>
        </p:spPr>
        <p:txBody>
          <a:bodyPr wrap="square" lIns="0" tIns="0" rIns="0" bIns="0" rtlCol="0" anchor="t"/>
          <a:lstStyle/>
          <a:p>
            <a:pPr algn="l" indent="0" marL="0">
              <a:lnSpc>
                <a:spcPts val="1490"/>
              </a:lnSpc>
              <a:buNone/>
            </a:pPr>
            <a:r>
              <a:rPr lang="en-US" sz="1050" dirty="0">
                <a:solidFill>
                  <a:srgbClr val="3B4A66"/>
                </a:solidFill>
                <a:latin typeface="Arial" pitchFamily="34" charset="0"/>
                <a:ea typeface="Arial" pitchFamily="34" charset="-122"/>
                <a:cs typeface="Arial" pitchFamily="34" charset="-120"/>
              </a:rPr>
              <a:t>Shooting is free. The best play is to shoot nonstop in every direction.</a:t>
            </a:r>
            <a:endParaRPr lang="en-US" sz="1050" dirty="0"/>
          </a:p>
        </p:txBody>
      </p:sp>
      <p:sp>
        <p:nvSpPr>
          <p:cNvPr id="31" name="shape 4.30"/>
          <p:cNvSpPr/>
          <p:nvPr/>
        </p:nvSpPr>
        <p:spPr>
          <a:xfrm>
            <a:off x="4546486" y="4800480"/>
            <a:ext cx="1396965" cy="279393"/>
          </a:xfrm>
          <a:prstGeom prst="roundRect">
            <a:avLst>
              <a:gd name="adj" fmla="val 50000"/>
            </a:avLst>
          </a:prstGeom>
          <a:solidFill>
            <a:srgbClr val="E9EFF8"/>
          </a:solidFill>
          <a:ln/>
        </p:spPr>
      </p:sp>
      <p:sp>
        <p:nvSpPr>
          <p:cNvPr id="32" name="text 4.31"/>
          <p:cNvSpPr txBox="1"/>
          <p:nvPr/>
        </p:nvSpPr>
        <p:spPr>
          <a:xfrm>
            <a:off x="4546486" y="4800480"/>
            <a:ext cx="1396965" cy="2793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6E7D9A"/>
                </a:solidFill>
                <a:latin typeface="Arial" pitchFamily="34" charset="0"/>
                <a:ea typeface="Arial" pitchFamily="34" charset="-122"/>
                <a:cs typeface="Arial" pitchFamily="34" charset="-120"/>
              </a:rPr>
              <a:t>✕ REWARDS SPAM</a:t>
            </a:r>
            <a:endParaRPr lang="en-US" sz="700" dirty="0"/>
          </a:p>
        </p:txBody>
      </p:sp>
      <p:sp>
        <p:nvSpPr>
          <p:cNvPr id="33" name="text 4.32"/>
          <p:cNvSpPr txBox="1"/>
          <p:nvPr/>
        </p:nvSpPr>
        <p:spPr>
          <a:xfrm>
            <a:off x="8254794" y="1892253"/>
            <a:ext cx="714812"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VARIANT C</a:t>
            </a:r>
            <a:endParaRPr lang="en-US" sz="750" dirty="0"/>
          </a:p>
        </p:txBody>
      </p:sp>
      <p:sp>
        <p:nvSpPr>
          <p:cNvPr id="34" name="text 4.33"/>
          <p:cNvSpPr txBox="1"/>
          <p:nvPr/>
        </p:nvSpPr>
        <p:spPr>
          <a:xfrm>
            <a:off x="8254794" y="2070048"/>
            <a:ext cx="3149521"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Both pay: our rule</a:t>
            </a:r>
            <a:endParaRPr lang="en-US" sz="1400" dirty="0"/>
          </a:p>
        </p:txBody>
      </p:sp>
      <p:pic>
        <p:nvPicPr>
          <p:cNvPr id="35" name="raster 4.34" descr="diagram">    </p:cNvPr>
          <p:cNvPicPr>
            <a:picLocks noChangeAspect="1"/>
          </p:cNvPicPr>
          <p:nvPr/>
        </p:nvPicPr>
        <p:blipFill>
          <a:blip r:embed="rId9"/>
          <a:stretch>
            <a:fillRect/>
          </a:stretch>
        </p:blipFill>
        <p:spPr>
          <a:xfrm>
            <a:off x="8432589" y="2527237"/>
            <a:ext cx="609585" cy="609585"/>
          </a:xfrm>
          <a:prstGeom prst="rect">
            <a:avLst/>
          </a:prstGeom>
        </p:spPr>
      </p:pic>
      <p:pic>
        <p:nvPicPr>
          <p:cNvPr id="36" name="raster 4.35" descr="diagram">    </p:cNvPr>
          <p:cNvPicPr>
            <a:picLocks noChangeAspect="1"/>
          </p:cNvPicPr>
          <p:nvPr/>
        </p:nvPicPr>
        <p:blipFill>
          <a:blip r:embed="rId10"/>
          <a:stretch>
            <a:fillRect/>
          </a:stretch>
        </p:blipFill>
        <p:spPr>
          <a:xfrm>
            <a:off x="10566136" y="2527237"/>
            <a:ext cx="609585" cy="609585"/>
          </a:xfrm>
          <a:prstGeom prst="rect">
            <a:avLst/>
          </a:prstGeom>
        </p:spPr>
      </p:pic>
      <p:sp>
        <p:nvSpPr>
          <p:cNvPr id="37" name="shape 4.36"/>
          <p:cNvSpPr/>
          <p:nvPr/>
        </p:nvSpPr>
        <p:spPr>
          <a:xfrm>
            <a:off x="8419889" y="3225719"/>
            <a:ext cx="634984" cy="215895"/>
          </a:xfrm>
          <a:prstGeom prst="roundRect">
            <a:avLst>
              <a:gd name="adj" fmla="val 50000"/>
            </a:avLst>
          </a:prstGeom>
          <a:solidFill>
            <a:srgbClr val="FF6B1F"/>
          </a:solidFill>
          <a:ln/>
        </p:spPr>
      </p:sp>
      <p:sp>
        <p:nvSpPr>
          <p:cNvPr id="38" name="text 4.37"/>
          <p:cNvSpPr txBox="1"/>
          <p:nvPr/>
        </p:nvSpPr>
        <p:spPr>
          <a:xfrm>
            <a:off x="8419889" y="3225719"/>
            <a:ext cx="634984" cy="215895"/>
          </a:xfrm>
          <a:prstGeom prst="rect">
            <a:avLst/>
          </a:prstGeom>
          <a:noFill/>
          <a:ln/>
        </p:spPr>
        <p:txBody>
          <a:bodyPr wrap="square" lIns="0" tIns="0" rIns="0" bIns="0" rtlCol="0" anchor="ctr"/>
          <a:lstStyle/>
          <a:p>
            <a:pPr algn="ctr" indent="0" marL="0">
              <a:lnSpc>
                <a:spcPts val="750"/>
              </a:lnSpc>
              <a:buNone/>
            </a:pPr>
            <a:r>
              <a:rPr lang="en-US" sz="750" b="1" spc="60" kern="0" dirty="0">
                <a:solidFill>
                  <a:srgbClr val="FFFFFF"/>
                </a:solidFill>
                <a:latin typeface="Arial" pitchFamily="34" charset="0"/>
                <a:ea typeface="Arial" pitchFamily="34" charset="-122"/>
                <a:cs typeface="Arial" pitchFamily="34" charset="-120"/>
              </a:rPr>
              <a:t>− MASS</a:t>
            </a:r>
            <a:endParaRPr lang="en-US" sz="750" dirty="0"/>
          </a:p>
        </p:txBody>
      </p:sp>
      <p:sp>
        <p:nvSpPr>
          <p:cNvPr id="39" name="shape 4.38"/>
          <p:cNvSpPr/>
          <p:nvPr/>
        </p:nvSpPr>
        <p:spPr>
          <a:xfrm>
            <a:off x="10553436" y="3225719"/>
            <a:ext cx="634984" cy="215895"/>
          </a:xfrm>
          <a:prstGeom prst="roundRect">
            <a:avLst>
              <a:gd name="adj" fmla="val 50000"/>
            </a:avLst>
          </a:prstGeom>
          <a:solidFill>
            <a:srgbClr val="1FA9EA"/>
          </a:solidFill>
          <a:ln/>
        </p:spPr>
      </p:sp>
      <p:sp>
        <p:nvSpPr>
          <p:cNvPr id="40" name="text 4.39"/>
          <p:cNvSpPr txBox="1"/>
          <p:nvPr/>
        </p:nvSpPr>
        <p:spPr>
          <a:xfrm>
            <a:off x="10553436" y="3225719"/>
            <a:ext cx="634984" cy="215895"/>
          </a:xfrm>
          <a:prstGeom prst="rect">
            <a:avLst/>
          </a:prstGeom>
          <a:noFill/>
          <a:ln/>
        </p:spPr>
        <p:txBody>
          <a:bodyPr wrap="square" lIns="0" tIns="0" rIns="0" bIns="0" rtlCol="0" anchor="ctr"/>
          <a:lstStyle/>
          <a:p>
            <a:pPr algn="ctr" indent="0" marL="0">
              <a:lnSpc>
                <a:spcPts val="750"/>
              </a:lnSpc>
              <a:buNone/>
            </a:pPr>
            <a:r>
              <a:rPr lang="en-US" sz="750" b="1" spc="60" kern="0" dirty="0">
                <a:solidFill>
                  <a:srgbClr val="FFFFFF"/>
                </a:solidFill>
                <a:latin typeface="Arial" pitchFamily="34" charset="0"/>
                <a:ea typeface="Arial" pitchFamily="34" charset="-122"/>
                <a:cs typeface="Arial" pitchFamily="34" charset="-120"/>
              </a:rPr>
              <a:t>− MASS</a:t>
            </a:r>
            <a:endParaRPr lang="en-US" sz="750" dirty="0"/>
          </a:p>
        </p:txBody>
      </p:sp>
      <p:sp>
        <p:nvSpPr>
          <p:cNvPr id="41" name="text 4.40"/>
          <p:cNvSpPr txBox="1"/>
          <p:nvPr/>
        </p:nvSpPr>
        <p:spPr>
          <a:xfrm>
            <a:off x="8254794" y="3695608"/>
            <a:ext cx="729956"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BEST PLAY</a:t>
            </a:r>
            <a:endParaRPr lang="en-US" sz="750" dirty="0"/>
          </a:p>
        </p:txBody>
      </p:sp>
      <p:sp>
        <p:nvSpPr>
          <p:cNvPr id="42" name="text 4.41"/>
          <p:cNvSpPr txBox="1"/>
          <p:nvPr/>
        </p:nvSpPr>
        <p:spPr>
          <a:xfrm>
            <a:off x="8254794" y="3860703"/>
            <a:ext cx="3149521" cy="567914"/>
          </a:xfrm>
          <a:prstGeom prst="rect">
            <a:avLst/>
          </a:prstGeom>
          <a:noFill/>
          <a:ln/>
        </p:spPr>
        <p:txBody>
          <a:bodyPr wrap="square" lIns="0" tIns="0" rIns="0" bIns="0" rtlCol="0" anchor="t"/>
          <a:lstStyle/>
          <a:p>
            <a:pPr algn="l" indent="0" marL="0">
              <a:lnSpc>
                <a:spcPts val="1490"/>
              </a:lnSpc>
              <a:buNone/>
            </a:pPr>
            <a:r>
              <a:rPr lang="en-US" sz="1050" dirty="0">
                <a:solidFill>
                  <a:srgbClr val="3B4A66"/>
                </a:solidFill>
                <a:latin typeface="Arial" pitchFamily="34" charset="0"/>
                <a:ea typeface="Arial" pitchFamily="34" charset="-122"/>
                <a:cs typeface="Arial" pitchFamily="34" charset="-120"/>
              </a:rPr>
              <a:t>Every shot is a trade. A hit should take more from the target than the shot cost you, and a miss costs only you.</a:t>
            </a:r>
            <a:endParaRPr lang="en-US" sz="1050" dirty="0"/>
          </a:p>
        </p:txBody>
      </p:sp>
      <p:sp>
        <p:nvSpPr>
          <p:cNvPr id="43" name="shape 4.42"/>
          <p:cNvSpPr/>
          <p:nvPr/>
        </p:nvSpPr>
        <p:spPr>
          <a:xfrm>
            <a:off x="8254794" y="4800480"/>
            <a:ext cx="1968451" cy="279393"/>
          </a:xfrm>
          <a:prstGeom prst="roundRect">
            <a:avLst>
              <a:gd name="adj" fmla="val 50000"/>
            </a:avLst>
          </a:prstGeom>
          <a:solidFill>
            <a:srgbClr val="FF6B1F"/>
          </a:solidFill>
          <a:ln/>
        </p:spPr>
      </p:sp>
      <p:sp>
        <p:nvSpPr>
          <p:cNvPr id="44" name="text 4.43"/>
          <p:cNvSpPr txBox="1"/>
          <p:nvPr/>
        </p:nvSpPr>
        <p:spPr>
          <a:xfrm>
            <a:off x="8254794" y="4800480"/>
            <a:ext cx="1968451" cy="2793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 REWARDS AIM AND TIMING</a:t>
            </a:r>
            <a:endParaRPr lang="en-US" sz="700" dirty="0"/>
          </a:p>
        </p:txBody>
      </p:sp>
      <p:sp>
        <p:nvSpPr>
          <p:cNvPr id="45" name="text 4.44"/>
          <p:cNvSpPr txBox="1"/>
          <p:nvPr/>
        </p:nvSpPr>
        <p:spPr>
          <a:xfrm>
            <a:off x="609585" y="5511662"/>
            <a:ext cx="11010625" cy="504812"/>
          </a:xfrm>
          <a:prstGeom prst="rect">
            <a:avLst/>
          </a:prstGeom>
          <a:noFill/>
          <a:ln/>
        </p:spPr>
        <p:txBody>
          <a:bodyPr wrap="square" lIns="0" tIns="0" rIns="0" bIns="0" rtlCol="0" anchor="t"/>
          <a:lstStyle/>
          <a:p>
            <a:pPr algn="l" indent="0" marL="0">
              <a:lnSpc>
                <a:spcPts val="1990"/>
              </a:lnSpc>
              <a:buNone/>
            </a:pPr>
            <a:r>
              <a:rPr lang="en-US" sz="1400" dirty="0">
                <a:solidFill>
                  <a:srgbClr val="16233F"/>
                </a:solidFill>
                <a:latin typeface="Arial" pitchFamily="34" charset="0"/>
                <a:ea typeface="Arial" pitchFamily="34" charset="-122"/>
                <a:cs typeface="Arial" pitchFamily="34" charset="-120"/>
              </a:rPr>
              <a:t>A shot only pays off when it lands, so </a:t>
            </a:r>
            <a:pPr algn="l" indent="0" marL="0">
              <a:lnSpc>
                <a:spcPts val="1990"/>
              </a:lnSpc>
              <a:buNone/>
            </a:pPr>
            <a:r>
              <a:rPr lang="en-US" sz="1400" b="1" dirty="0">
                <a:solidFill>
                  <a:srgbClr val="FF6B1F"/>
                </a:solidFill>
                <a:latin typeface="Arial" pitchFamily="34" charset="0"/>
                <a:ea typeface="Arial" pitchFamily="34" charset="-122"/>
                <a:cs typeface="Arial" pitchFamily="34" charset="-120"/>
              </a:rPr>
              <a:t>accuracy becomes the skill.</a:t>
            </a:r>
            <a:pPr algn="l" indent="0" marL="0">
              <a:lnSpc>
                <a:spcPts val="1990"/>
              </a:lnSpc>
              <a:buNone/>
            </a:pPr>
            <a:r>
              <a:rPr lang="en-US" sz="1400" dirty="0">
                <a:solidFill>
                  <a:srgbClr val="16233F"/>
                </a:solidFill>
                <a:latin typeface="Arial" pitchFamily="34" charset="0"/>
                <a:ea typeface="Arial" pitchFamily="34" charset="-122"/>
                <a:cs typeface="Arial" pitchFamily="34" charset="-120"/>
              </a:rPr>
              <a:t> And never shooting scores nothing: points come from knockouts, not survival.</a:t>
            </a:r>
            <a:endParaRPr lang="en-US" sz="1400" dirty="0"/>
          </a:p>
        </p:txBody>
      </p:sp>
      <p:sp>
        <p:nvSpPr>
          <p:cNvPr id="46" name="text 4.45"/>
          <p:cNvSpPr txBox="1"/>
          <p:nvPr/>
        </p:nvSpPr>
        <p:spPr>
          <a:xfrm>
            <a:off x="609585" y="6554326"/>
            <a:ext cx="1150591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Exact costs are tuning values. We fix them in playtests, not on paper.</a:t>
            </a:r>
            <a:endParaRPr lang="en-US" sz="850" dirty="0"/>
          </a:p>
        </p:txBody>
      </p:sp>
      <p:sp>
        <p:nvSpPr>
          <p:cNvPr id="47" name="shape 4.46"/>
          <p:cNvSpPr/>
          <p:nvPr/>
        </p:nvSpPr>
        <p:spPr>
          <a:xfrm>
            <a:off x="609585" y="266693"/>
            <a:ext cx="1765256"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8" name="shape 4.47"/>
          <p:cNvSpPr/>
          <p:nvPr/>
        </p:nvSpPr>
        <p:spPr>
          <a:xfrm>
            <a:off x="711182" y="355591"/>
            <a:ext cx="114297" cy="114297"/>
          </a:xfrm>
          <a:prstGeom prst="roundRect">
            <a:avLst>
              <a:gd name="adj" fmla="val 33333"/>
            </a:avLst>
          </a:prstGeom>
          <a:solidFill>
            <a:srgbClr val="FF6B1F"/>
          </a:solidFill>
          <a:ln/>
        </p:spPr>
      </p:sp>
      <p:sp>
        <p:nvSpPr>
          <p:cNvPr id="49" name="shape 4.48"/>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50" name="shape 4.49"/>
          <p:cNvSpPr/>
          <p:nvPr/>
        </p:nvSpPr>
        <p:spPr>
          <a:xfrm>
            <a:off x="10058149" y="368291"/>
            <a:ext cx="101597" cy="101597"/>
          </a:xfrm>
          <a:prstGeom prst="roundRect">
            <a:avLst>
              <a:gd name="adj" fmla="val 31250"/>
            </a:avLst>
          </a:prstGeom>
          <a:solidFill>
            <a:srgbClr val="16233F"/>
          </a:solidFill>
          <a:ln/>
        </p:spPr>
      </p:sp>
      <p:sp>
        <p:nvSpPr>
          <p:cNvPr id="51" name="shape 4.50"/>
          <p:cNvSpPr/>
          <p:nvPr/>
        </p:nvSpPr>
        <p:spPr>
          <a:xfrm>
            <a:off x="10223244" y="368291"/>
            <a:ext cx="101597" cy="101597"/>
          </a:xfrm>
          <a:prstGeom prst="roundRect">
            <a:avLst>
              <a:gd name="adj" fmla="val 31250"/>
            </a:avLst>
          </a:prstGeom>
          <a:solidFill>
            <a:srgbClr val="FF6B1F"/>
          </a:solidFill>
          <a:ln/>
        </p:spPr>
      </p:sp>
      <p:sp>
        <p:nvSpPr>
          <p:cNvPr id="52" name="shape 4.51"/>
          <p:cNvSpPr/>
          <p:nvPr/>
        </p:nvSpPr>
        <p:spPr>
          <a:xfrm>
            <a:off x="10388340" y="368291"/>
            <a:ext cx="101597" cy="101597"/>
          </a:xfrm>
          <a:prstGeom prst="roundRect">
            <a:avLst>
              <a:gd name="adj" fmla="val 31250"/>
            </a:avLst>
          </a:prstGeom>
          <a:solidFill>
            <a:srgbClr val="C7D4E8"/>
          </a:solidFill>
          <a:ln/>
        </p:spPr>
      </p:sp>
      <p:sp>
        <p:nvSpPr>
          <p:cNvPr id="53" name="shape 4.52"/>
          <p:cNvSpPr/>
          <p:nvPr/>
        </p:nvSpPr>
        <p:spPr>
          <a:xfrm>
            <a:off x="10553436" y="368291"/>
            <a:ext cx="101597" cy="101597"/>
          </a:xfrm>
          <a:prstGeom prst="roundRect">
            <a:avLst>
              <a:gd name="adj" fmla="val 31250"/>
            </a:avLst>
          </a:prstGeom>
          <a:solidFill>
            <a:srgbClr val="C7D4E8"/>
          </a:solidFill>
          <a:ln/>
        </p:spPr>
      </p:sp>
      <p:sp>
        <p:nvSpPr>
          <p:cNvPr id="54" name="shape 4.53"/>
          <p:cNvSpPr/>
          <p:nvPr/>
        </p:nvSpPr>
        <p:spPr>
          <a:xfrm>
            <a:off x="10718532" y="368291"/>
            <a:ext cx="101597" cy="101597"/>
          </a:xfrm>
          <a:prstGeom prst="roundRect">
            <a:avLst>
              <a:gd name="adj" fmla="val 31250"/>
            </a:avLst>
          </a:prstGeom>
          <a:solidFill>
            <a:srgbClr val="C7D4E8"/>
          </a:solidFill>
          <a:ln/>
        </p:spPr>
      </p:sp>
      <p:sp>
        <p:nvSpPr>
          <p:cNvPr id="55" name="shape 4.54"/>
          <p:cNvSpPr/>
          <p:nvPr/>
        </p:nvSpPr>
        <p:spPr>
          <a:xfrm>
            <a:off x="10883628" y="368291"/>
            <a:ext cx="101597" cy="101597"/>
          </a:xfrm>
          <a:prstGeom prst="roundRect">
            <a:avLst>
              <a:gd name="adj" fmla="val 31250"/>
            </a:avLst>
          </a:prstGeom>
          <a:solidFill>
            <a:srgbClr val="C7D4E8"/>
          </a:solidFill>
          <a:ln/>
        </p:spPr>
      </p:sp>
      <p:sp>
        <p:nvSpPr>
          <p:cNvPr id="56" name="text 4.55"/>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04</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57" name="text 4.56"/>
          <p:cNvSpPr txBox="1"/>
          <p:nvPr/>
        </p:nvSpPr>
        <p:spPr>
          <a:xfrm>
            <a:off x="927077" y="349241"/>
            <a:ext cx="1337519"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02 · Gameplay &amp; tech</a:t>
            </a:r>
            <a:endParaRPr lang="en-US" sz="9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5.1" descr="ko_hit_full.png">    </p:cNvPr>
          <p:cNvPicPr>
            <a:picLocks noChangeAspect="1"/>
          </p:cNvPicPr>
          <p:nvPr/>
        </p:nvPicPr>
        <p:blipFill>
          <a:blip r:embed="rId2"/>
          <a:stretch>
            <a:fillRect/>
          </a:stretch>
        </p:blipFill>
        <p:spPr>
          <a:xfrm>
            <a:off x="0" y="0"/>
            <a:ext cx="7937302" cy="6857829"/>
          </a:xfrm>
          <a:prstGeom prst="rect">
            <a:avLst/>
          </a:prstGeom>
        </p:spPr>
      </p:pic>
      <p:pic>
        <p:nvPicPr>
          <p:cNvPr id="3" name="raster 5.2" descr="diagram">    </p:cNvPr>
          <p:cNvPicPr>
            <a:picLocks noChangeAspect="1"/>
          </p:cNvPicPr>
          <p:nvPr/>
        </p:nvPicPr>
        <p:blipFill>
          <a:blip r:embed="rId3"/>
          <a:stretch>
            <a:fillRect/>
          </a:stretch>
        </p:blipFill>
        <p:spPr>
          <a:xfrm>
            <a:off x="0" y="0"/>
            <a:ext cx="12191695" cy="6857829"/>
          </a:xfrm>
          <a:prstGeom prst="rect">
            <a:avLst/>
          </a:prstGeom>
        </p:spPr>
      </p:pic>
      <p:sp>
        <p:nvSpPr>
          <p:cNvPr id="4" name="shape 5.3"/>
          <p:cNvSpPr/>
          <p:nvPr/>
        </p:nvSpPr>
        <p:spPr>
          <a:xfrm>
            <a:off x="7492813" y="749281"/>
            <a:ext cx="4089298" cy="5600560"/>
          </a:xfrm>
          <a:prstGeom prst="roundRect">
            <a:avLst>
              <a:gd name="adj" fmla="val 4348"/>
            </a:avLst>
          </a:prstGeom>
          <a:solidFill>
            <a:srgbClr val="FFFFFF">
              <a:alpha val="95000"/>
            </a:srgbClr>
          </a:solidFill>
          <a:ln/>
          <a:effectLst>
            <a:outerShdw sx="100000" sy="100000" kx="0" ky="0" algn="bl" rotWithShape="0" blurRad="203200" dist="76200" dir="5400000">
              <a:srgbClr val="1E468C">
                <a:alpha val="16000"/>
              </a:srgbClr>
            </a:outerShdw>
          </a:effectLst>
        </p:spPr>
      </p:sp>
      <p:sp>
        <p:nvSpPr>
          <p:cNvPr id="5" name="shape 5.4"/>
          <p:cNvSpPr/>
          <p:nvPr/>
        </p:nvSpPr>
        <p:spPr>
          <a:xfrm>
            <a:off x="7772206" y="2730432"/>
            <a:ext cx="3530512" cy="12700"/>
          </a:xfrm>
          <a:prstGeom prst="roundRect">
            <a:avLst>
              <a:gd name="adj" fmla="val 49999"/>
            </a:avLst>
          </a:prstGeom>
          <a:solidFill>
            <a:srgbClr val="DCE6F3"/>
          </a:solidFill>
          <a:ln/>
        </p:spPr>
      </p:sp>
      <p:sp>
        <p:nvSpPr>
          <p:cNvPr id="6" name="shape 5.5"/>
          <p:cNvSpPr/>
          <p:nvPr/>
        </p:nvSpPr>
        <p:spPr>
          <a:xfrm>
            <a:off x="7772206" y="3390815"/>
            <a:ext cx="3530512" cy="12700"/>
          </a:xfrm>
          <a:prstGeom prst="roundRect">
            <a:avLst>
              <a:gd name="adj" fmla="val 49999"/>
            </a:avLst>
          </a:prstGeom>
          <a:solidFill>
            <a:srgbClr val="DCE6F3"/>
          </a:solidFill>
          <a:ln/>
        </p:spPr>
      </p:sp>
      <p:sp>
        <p:nvSpPr>
          <p:cNvPr id="7" name="shape 5.6"/>
          <p:cNvSpPr/>
          <p:nvPr/>
        </p:nvSpPr>
        <p:spPr>
          <a:xfrm>
            <a:off x="7772206" y="4051199"/>
            <a:ext cx="3530512" cy="12700"/>
          </a:xfrm>
          <a:prstGeom prst="roundRect">
            <a:avLst>
              <a:gd name="adj" fmla="val 49999"/>
            </a:avLst>
          </a:prstGeom>
          <a:solidFill>
            <a:srgbClr val="DCE6F3"/>
          </a:solidFill>
          <a:ln/>
        </p:spPr>
      </p:sp>
      <p:sp>
        <p:nvSpPr>
          <p:cNvPr id="8" name="shape 5.7"/>
          <p:cNvSpPr/>
          <p:nvPr/>
        </p:nvSpPr>
        <p:spPr>
          <a:xfrm>
            <a:off x="7772206" y="4711582"/>
            <a:ext cx="3530512" cy="12700"/>
          </a:xfrm>
          <a:prstGeom prst="roundRect">
            <a:avLst>
              <a:gd name="adj" fmla="val 49999"/>
            </a:avLst>
          </a:prstGeom>
          <a:solidFill>
            <a:srgbClr val="DCE6F3"/>
          </a:solidFill>
          <a:ln/>
        </p:spPr>
      </p:sp>
      <p:sp>
        <p:nvSpPr>
          <p:cNvPr id="9" name="shape 5.8"/>
          <p:cNvSpPr/>
          <p:nvPr/>
        </p:nvSpPr>
        <p:spPr>
          <a:xfrm>
            <a:off x="7772206" y="5371966"/>
            <a:ext cx="3530512" cy="12700"/>
          </a:xfrm>
          <a:prstGeom prst="roundRect">
            <a:avLst>
              <a:gd name="adj" fmla="val 49999"/>
            </a:avLst>
          </a:prstGeom>
          <a:solidFill>
            <a:srgbClr val="DCE6F3"/>
          </a:solidFill>
          <a:ln/>
        </p:spPr>
      </p:sp>
      <p:sp>
        <p:nvSpPr>
          <p:cNvPr id="10" name="shape 5.9"/>
          <p:cNvSpPr/>
          <p:nvPr/>
        </p:nvSpPr>
        <p:spPr>
          <a:xfrm>
            <a:off x="7772206" y="1015975"/>
            <a:ext cx="1079473" cy="228594"/>
          </a:xfrm>
          <a:prstGeom prst="roundRect">
            <a:avLst>
              <a:gd name="adj" fmla="val 50000"/>
            </a:avLst>
          </a:prstGeom>
          <a:solidFill>
            <a:srgbClr val="FF6B1F"/>
          </a:solidFill>
          <a:ln/>
        </p:spPr>
      </p:sp>
      <p:sp>
        <p:nvSpPr>
          <p:cNvPr id="11" name="text 5.10"/>
          <p:cNvSpPr txBox="1"/>
          <p:nvPr/>
        </p:nvSpPr>
        <p:spPr>
          <a:xfrm>
            <a:off x="7772206" y="1015975"/>
            <a:ext cx="1079473" cy="2285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MINI-GAME 01</a:t>
            </a:r>
            <a:endParaRPr lang="en-US" sz="700" dirty="0"/>
          </a:p>
        </p:txBody>
      </p:sp>
      <p:sp>
        <p:nvSpPr>
          <p:cNvPr id="12" name="text 5.11"/>
          <p:cNvSpPr txBox="1"/>
          <p:nvPr/>
        </p:nvSpPr>
        <p:spPr>
          <a:xfrm>
            <a:off x="7759506" y="1371566"/>
            <a:ext cx="2665175" cy="1088006"/>
          </a:xfrm>
          <a:prstGeom prst="rect">
            <a:avLst/>
          </a:prstGeom>
          <a:noFill/>
          <a:ln/>
        </p:spPr>
        <p:txBody>
          <a:bodyPr wrap="square" lIns="0" tIns="0" rIns="0" bIns="0" rtlCol="0" anchor="t"/>
          <a:lstStyle/>
          <a:p>
            <a:pPr algn="l" indent="0" marL="0">
              <a:lnSpc>
                <a:spcPts val="4280"/>
              </a:lnSpc>
              <a:buNone/>
            </a:pPr>
            <a:r>
              <a:rPr lang="en-US" sz="4200" dirty="0">
                <a:solidFill>
                  <a:srgbClr val="16233F"/>
                </a:solidFill>
                <a:latin typeface="Arial Rounded MT Bold" pitchFamily="34" charset="0"/>
                <a:ea typeface="Arial Rounded MT Bold" pitchFamily="34" charset="-122"/>
                <a:cs typeface="Arial Rounded MT Bold" pitchFamily="34" charset="-120"/>
              </a:rPr>
              <a:t>Mass</a:t>
            </a:r>
            <a:endParaRPr lang="en-US" sz="4200" dirty="0"/>
          </a:p>
          <a:p>
            <a:pPr algn="l" indent="0" marL="0">
              <a:lnSpc>
                <a:spcPts val="4280"/>
              </a:lnSpc>
              <a:buNone/>
            </a:pPr>
            <a:r>
              <a:rPr lang="en-US" sz="4200" dirty="0">
                <a:solidFill>
                  <a:srgbClr val="16233F"/>
                </a:solidFill>
                <a:latin typeface="Arial Rounded MT Bold" pitchFamily="34" charset="0"/>
                <a:ea typeface="Arial Rounded MT Bold" pitchFamily="34" charset="-122"/>
                <a:cs typeface="Arial Rounded MT Bold" pitchFamily="34" charset="-120"/>
              </a:rPr>
              <a:t>Knockout</a:t>
            </a:r>
            <a:endParaRPr lang="en-US" sz="4200" dirty="0"/>
          </a:p>
        </p:txBody>
      </p:sp>
      <p:sp>
        <p:nvSpPr>
          <p:cNvPr id="13" name="text 5.12"/>
          <p:cNvSpPr txBox="1"/>
          <p:nvPr/>
        </p:nvSpPr>
        <p:spPr>
          <a:xfrm>
            <a:off x="7772206" y="2844729"/>
            <a:ext cx="403616"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GOAL</a:t>
            </a:r>
            <a:endParaRPr lang="en-US" sz="750" dirty="0"/>
          </a:p>
        </p:txBody>
      </p:sp>
      <p:sp>
        <p:nvSpPr>
          <p:cNvPr id="14" name="text 5.13"/>
          <p:cNvSpPr txBox="1"/>
          <p:nvPr/>
        </p:nvSpPr>
        <p:spPr>
          <a:xfrm>
            <a:off x="7772206" y="3009825"/>
            <a:ext cx="3594010" cy="192781"/>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Knock other cubes off the floating platform.</a:t>
            </a:r>
            <a:endParaRPr lang="en-US" sz="1100" dirty="0"/>
          </a:p>
        </p:txBody>
      </p:sp>
      <p:sp>
        <p:nvSpPr>
          <p:cNvPr id="15" name="text 5.14"/>
          <p:cNvSpPr txBox="1"/>
          <p:nvPr/>
        </p:nvSpPr>
        <p:spPr>
          <a:xfrm>
            <a:off x="7772206" y="3505112"/>
            <a:ext cx="726906"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CONTROLS</a:t>
            </a:r>
            <a:endParaRPr lang="en-US" sz="750" dirty="0"/>
          </a:p>
        </p:txBody>
      </p:sp>
      <p:sp>
        <p:nvSpPr>
          <p:cNvPr id="16" name="text 5.15"/>
          <p:cNvSpPr txBox="1"/>
          <p:nvPr/>
        </p:nvSpPr>
        <p:spPr>
          <a:xfrm>
            <a:off x="7772206" y="3670208"/>
            <a:ext cx="3594010" cy="192781"/>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Move, aim, spit. A short cooldown between shots.</a:t>
            </a:r>
            <a:endParaRPr lang="en-US" sz="1100" dirty="0"/>
          </a:p>
        </p:txBody>
      </p:sp>
      <p:sp>
        <p:nvSpPr>
          <p:cNvPr id="17" name="text 5.16"/>
          <p:cNvSpPr txBox="1"/>
          <p:nvPr/>
        </p:nvSpPr>
        <p:spPr>
          <a:xfrm>
            <a:off x="7772206" y="4165496"/>
            <a:ext cx="619528"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SCORING</a:t>
            </a:r>
            <a:endParaRPr lang="en-US" sz="750" dirty="0"/>
          </a:p>
        </p:txBody>
      </p:sp>
      <p:sp>
        <p:nvSpPr>
          <p:cNvPr id="18" name="text 5.17"/>
          <p:cNvSpPr txBox="1"/>
          <p:nvPr/>
        </p:nvSpPr>
        <p:spPr>
          <a:xfrm>
            <a:off x="7772206" y="4330592"/>
            <a:ext cx="3594010" cy="385554"/>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A knockout goes to the last cube that hit the one that fell. Most knockouts at the timer wins.</a:t>
            </a:r>
            <a:endParaRPr lang="en-US" sz="1100" dirty="0"/>
          </a:p>
        </p:txBody>
      </p:sp>
      <p:sp>
        <p:nvSpPr>
          <p:cNvPr id="19" name="text 5.18"/>
          <p:cNvSpPr txBox="1"/>
          <p:nvPr/>
        </p:nvSpPr>
        <p:spPr>
          <a:xfrm>
            <a:off x="7772206" y="4825879"/>
            <a:ext cx="651394"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RESPAWN</a:t>
            </a:r>
            <a:endParaRPr lang="en-US" sz="750" dirty="0"/>
          </a:p>
        </p:txBody>
      </p:sp>
      <p:sp>
        <p:nvSpPr>
          <p:cNvPr id="20" name="text 5.19"/>
          <p:cNvSpPr txBox="1"/>
          <p:nvPr/>
        </p:nvSpPr>
        <p:spPr>
          <a:xfrm>
            <a:off x="7772206" y="4990975"/>
            <a:ext cx="3594010" cy="192781"/>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After a short delay, at full mass.</a:t>
            </a:r>
            <a:endParaRPr lang="en-US" sz="1100" dirty="0"/>
          </a:p>
        </p:txBody>
      </p:sp>
      <p:sp>
        <p:nvSpPr>
          <p:cNvPr id="21" name="text 5.20"/>
          <p:cNvSpPr txBox="1"/>
          <p:nvPr/>
        </p:nvSpPr>
        <p:spPr>
          <a:xfrm>
            <a:off x="7772206" y="5486263"/>
            <a:ext cx="483124"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ARENA</a:t>
            </a:r>
            <a:endParaRPr lang="en-US" sz="750" dirty="0"/>
          </a:p>
        </p:txBody>
      </p:sp>
      <p:sp>
        <p:nvSpPr>
          <p:cNvPr id="22" name="text 5.21"/>
          <p:cNvSpPr txBox="1"/>
          <p:nvPr/>
        </p:nvSpPr>
        <p:spPr>
          <a:xfrm>
            <a:off x="7772206" y="5651359"/>
            <a:ext cx="3594010" cy="192781"/>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One flat square platform. Open edges, no walls.</a:t>
            </a:r>
            <a:endParaRPr lang="en-US" sz="1100" dirty="0"/>
          </a:p>
        </p:txBody>
      </p:sp>
      <p:sp>
        <p:nvSpPr>
          <p:cNvPr id="23" name="shape 5.22"/>
          <p:cNvSpPr/>
          <p:nvPr/>
        </p:nvSpPr>
        <p:spPr>
          <a:xfrm>
            <a:off x="609585" y="6095848"/>
            <a:ext cx="5587860" cy="253994"/>
          </a:xfrm>
          <a:prstGeom prst="roundRect">
            <a:avLst>
              <a:gd name="adj" fmla="val 50000"/>
            </a:avLst>
          </a:prstGeom>
          <a:solidFill>
            <a:srgbClr val="FFFFFF">
              <a:alpha val="92000"/>
            </a:srgbClr>
          </a:solidFill>
          <a:ln/>
        </p:spPr>
      </p:sp>
      <p:sp>
        <p:nvSpPr>
          <p:cNvPr id="24" name="text 5.23"/>
          <p:cNvSpPr txBox="1"/>
          <p:nvPr/>
        </p:nvSpPr>
        <p:spPr>
          <a:xfrm>
            <a:off x="609585" y="6095848"/>
            <a:ext cx="5587860" cy="253994"/>
          </a:xfrm>
          <a:prstGeom prst="rect">
            <a:avLst/>
          </a:prstGeom>
          <a:noFill/>
          <a:ln/>
        </p:spPr>
        <p:txBody>
          <a:bodyPr wrap="square" lIns="0" tIns="0" rIns="0" bIns="0" rtlCol="0" anchor="ctr"/>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FIG 2 · Orange spits a piece of itself; Cyan is hit near the edge. Concept render, AI-generated.</a:t>
            </a:r>
            <a:endParaRPr lang="en-US" sz="750" dirty="0"/>
          </a:p>
        </p:txBody>
      </p:sp>
      <p:sp>
        <p:nvSpPr>
          <p:cNvPr id="25" name="shape 5.24"/>
          <p:cNvSpPr/>
          <p:nvPr/>
        </p:nvSpPr>
        <p:spPr>
          <a:xfrm>
            <a:off x="609585" y="266693"/>
            <a:ext cx="1765256"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6" name="shape 5.25"/>
          <p:cNvSpPr/>
          <p:nvPr/>
        </p:nvSpPr>
        <p:spPr>
          <a:xfrm>
            <a:off x="711182" y="355591"/>
            <a:ext cx="114297" cy="114297"/>
          </a:xfrm>
          <a:prstGeom prst="roundRect">
            <a:avLst>
              <a:gd name="adj" fmla="val 33333"/>
            </a:avLst>
          </a:prstGeom>
          <a:solidFill>
            <a:srgbClr val="FF6B1F"/>
          </a:solidFill>
          <a:ln/>
        </p:spPr>
      </p:sp>
      <p:sp>
        <p:nvSpPr>
          <p:cNvPr id="27" name="shape 5.26"/>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8" name="shape 5.27"/>
          <p:cNvSpPr/>
          <p:nvPr/>
        </p:nvSpPr>
        <p:spPr>
          <a:xfrm>
            <a:off x="10058149" y="368291"/>
            <a:ext cx="101597" cy="101597"/>
          </a:xfrm>
          <a:prstGeom prst="roundRect">
            <a:avLst>
              <a:gd name="adj" fmla="val 31250"/>
            </a:avLst>
          </a:prstGeom>
          <a:solidFill>
            <a:srgbClr val="16233F"/>
          </a:solidFill>
          <a:ln/>
        </p:spPr>
      </p:sp>
      <p:sp>
        <p:nvSpPr>
          <p:cNvPr id="29" name="shape 5.28"/>
          <p:cNvSpPr/>
          <p:nvPr/>
        </p:nvSpPr>
        <p:spPr>
          <a:xfrm>
            <a:off x="10223244" y="368291"/>
            <a:ext cx="101597" cy="101597"/>
          </a:xfrm>
          <a:prstGeom prst="roundRect">
            <a:avLst>
              <a:gd name="adj" fmla="val 31250"/>
            </a:avLst>
          </a:prstGeom>
          <a:solidFill>
            <a:srgbClr val="FF6B1F"/>
          </a:solidFill>
          <a:ln/>
        </p:spPr>
      </p:sp>
      <p:sp>
        <p:nvSpPr>
          <p:cNvPr id="30" name="shape 5.29"/>
          <p:cNvSpPr/>
          <p:nvPr/>
        </p:nvSpPr>
        <p:spPr>
          <a:xfrm>
            <a:off x="10388340" y="368291"/>
            <a:ext cx="101597" cy="101597"/>
          </a:xfrm>
          <a:prstGeom prst="roundRect">
            <a:avLst>
              <a:gd name="adj" fmla="val 31250"/>
            </a:avLst>
          </a:prstGeom>
          <a:solidFill>
            <a:srgbClr val="C7D4E8"/>
          </a:solidFill>
          <a:ln/>
        </p:spPr>
      </p:sp>
      <p:sp>
        <p:nvSpPr>
          <p:cNvPr id="31" name="shape 5.30"/>
          <p:cNvSpPr/>
          <p:nvPr/>
        </p:nvSpPr>
        <p:spPr>
          <a:xfrm>
            <a:off x="10553436" y="368291"/>
            <a:ext cx="101597" cy="101597"/>
          </a:xfrm>
          <a:prstGeom prst="roundRect">
            <a:avLst>
              <a:gd name="adj" fmla="val 31250"/>
            </a:avLst>
          </a:prstGeom>
          <a:solidFill>
            <a:srgbClr val="C7D4E8"/>
          </a:solidFill>
          <a:ln/>
        </p:spPr>
      </p:sp>
      <p:sp>
        <p:nvSpPr>
          <p:cNvPr id="32" name="shape 5.31"/>
          <p:cNvSpPr/>
          <p:nvPr/>
        </p:nvSpPr>
        <p:spPr>
          <a:xfrm>
            <a:off x="10718532" y="368291"/>
            <a:ext cx="101597" cy="101597"/>
          </a:xfrm>
          <a:prstGeom prst="roundRect">
            <a:avLst>
              <a:gd name="adj" fmla="val 31250"/>
            </a:avLst>
          </a:prstGeom>
          <a:solidFill>
            <a:srgbClr val="C7D4E8"/>
          </a:solidFill>
          <a:ln/>
        </p:spPr>
      </p:sp>
      <p:sp>
        <p:nvSpPr>
          <p:cNvPr id="33" name="shape 5.32"/>
          <p:cNvSpPr/>
          <p:nvPr/>
        </p:nvSpPr>
        <p:spPr>
          <a:xfrm>
            <a:off x="10883628" y="368291"/>
            <a:ext cx="101597" cy="101597"/>
          </a:xfrm>
          <a:prstGeom prst="roundRect">
            <a:avLst>
              <a:gd name="adj" fmla="val 31250"/>
            </a:avLst>
          </a:prstGeom>
          <a:solidFill>
            <a:srgbClr val="C7D4E8"/>
          </a:solidFill>
          <a:ln/>
        </p:spPr>
      </p:sp>
      <p:sp>
        <p:nvSpPr>
          <p:cNvPr id="34" name="text 5.33"/>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05</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35" name="text 5.34"/>
          <p:cNvSpPr txBox="1"/>
          <p:nvPr/>
        </p:nvSpPr>
        <p:spPr>
          <a:xfrm>
            <a:off x="927077" y="349241"/>
            <a:ext cx="1337519"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02 · Gameplay &amp; tech</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6.1" descr="race1.png">    </p:cNvPr>
          <p:cNvPicPr>
            <a:picLocks noChangeAspect="1"/>
          </p:cNvPicPr>
          <p:nvPr/>
        </p:nvPicPr>
        <p:blipFill>
          <a:blip r:embed="rId2"/>
          <a:stretch>
            <a:fillRect/>
          </a:stretch>
        </p:blipFill>
        <p:spPr>
          <a:xfrm>
            <a:off x="3555911" y="0"/>
            <a:ext cx="8635784" cy="6857829"/>
          </a:xfrm>
          <a:prstGeom prst="rect">
            <a:avLst/>
          </a:prstGeom>
        </p:spPr>
      </p:pic>
      <p:pic>
        <p:nvPicPr>
          <p:cNvPr id="3" name="raster 6.2" descr="diagram">    </p:cNvPr>
          <p:cNvPicPr>
            <a:picLocks noChangeAspect="1"/>
          </p:cNvPicPr>
          <p:nvPr/>
        </p:nvPicPr>
        <p:blipFill>
          <a:blip r:embed="rId3"/>
          <a:stretch>
            <a:fillRect/>
          </a:stretch>
        </p:blipFill>
        <p:spPr>
          <a:xfrm>
            <a:off x="0" y="0"/>
            <a:ext cx="12191695" cy="6857829"/>
          </a:xfrm>
          <a:prstGeom prst="rect">
            <a:avLst/>
          </a:prstGeom>
        </p:spPr>
      </p:pic>
      <p:sp>
        <p:nvSpPr>
          <p:cNvPr id="4" name="shape 6.3"/>
          <p:cNvSpPr/>
          <p:nvPr/>
        </p:nvSpPr>
        <p:spPr>
          <a:xfrm>
            <a:off x="609585" y="749281"/>
            <a:ext cx="4089298" cy="5600560"/>
          </a:xfrm>
          <a:prstGeom prst="roundRect">
            <a:avLst>
              <a:gd name="adj" fmla="val 4348"/>
            </a:avLst>
          </a:prstGeom>
          <a:solidFill>
            <a:srgbClr val="FFFFFF">
              <a:alpha val="95000"/>
            </a:srgbClr>
          </a:solidFill>
          <a:ln/>
          <a:effectLst>
            <a:outerShdw sx="100000" sy="100000" kx="0" ky="0" algn="bl" rotWithShape="0" blurRad="203200" dist="76200" dir="5400000">
              <a:srgbClr val="1E468C">
                <a:alpha val="16000"/>
              </a:srgbClr>
            </a:outerShdw>
          </a:effectLst>
        </p:spPr>
      </p:sp>
      <p:sp>
        <p:nvSpPr>
          <p:cNvPr id="5" name="shape 6.4"/>
          <p:cNvSpPr/>
          <p:nvPr/>
        </p:nvSpPr>
        <p:spPr>
          <a:xfrm>
            <a:off x="888978" y="2730432"/>
            <a:ext cx="3530512" cy="12700"/>
          </a:xfrm>
          <a:prstGeom prst="roundRect">
            <a:avLst>
              <a:gd name="adj" fmla="val 49999"/>
            </a:avLst>
          </a:prstGeom>
          <a:solidFill>
            <a:srgbClr val="DCE6F3"/>
          </a:solidFill>
          <a:ln/>
        </p:spPr>
      </p:sp>
      <p:sp>
        <p:nvSpPr>
          <p:cNvPr id="6" name="shape 6.5"/>
          <p:cNvSpPr/>
          <p:nvPr/>
        </p:nvSpPr>
        <p:spPr>
          <a:xfrm>
            <a:off x="888978" y="3390815"/>
            <a:ext cx="3530512" cy="12700"/>
          </a:xfrm>
          <a:prstGeom prst="roundRect">
            <a:avLst>
              <a:gd name="adj" fmla="val 49999"/>
            </a:avLst>
          </a:prstGeom>
          <a:solidFill>
            <a:srgbClr val="DCE6F3"/>
          </a:solidFill>
          <a:ln/>
        </p:spPr>
      </p:sp>
      <p:sp>
        <p:nvSpPr>
          <p:cNvPr id="7" name="shape 6.6"/>
          <p:cNvSpPr/>
          <p:nvPr/>
        </p:nvSpPr>
        <p:spPr>
          <a:xfrm>
            <a:off x="888978" y="4051199"/>
            <a:ext cx="3530512" cy="12700"/>
          </a:xfrm>
          <a:prstGeom prst="roundRect">
            <a:avLst>
              <a:gd name="adj" fmla="val 49999"/>
            </a:avLst>
          </a:prstGeom>
          <a:solidFill>
            <a:srgbClr val="DCE6F3"/>
          </a:solidFill>
          <a:ln/>
        </p:spPr>
      </p:sp>
      <p:sp>
        <p:nvSpPr>
          <p:cNvPr id="8" name="shape 6.7"/>
          <p:cNvSpPr/>
          <p:nvPr/>
        </p:nvSpPr>
        <p:spPr>
          <a:xfrm>
            <a:off x="888978" y="4711582"/>
            <a:ext cx="3530512" cy="12700"/>
          </a:xfrm>
          <a:prstGeom prst="roundRect">
            <a:avLst>
              <a:gd name="adj" fmla="val 49999"/>
            </a:avLst>
          </a:prstGeom>
          <a:solidFill>
            <a:srgbClr val="DCE6F3"/>
          </a:solidFill>
          <a:ln/>
        </p:spPr>
      </p:sp>
      <p:sp>
        <p:nvSpPr>
          <p:cNvPr id="9" name="shape 6.8"/>
          <p:cNvSpPr/>
          <p:nvPr/>
        </p:nvSpPr>
        <p:spPr>
          <a:xfrm>
            <a:off x="888978" y="5371966"/>
            <a:ext cx="3530512" cy="12700"/>
          </a:xfrm>
          <a:prstGeom prst="roundRect">
            <a:avLst>
              <a:gd name="adj" fmla="val 49999"/>
            </a:avLst>
          </a:prstGeom>
          <a:solidFill>
            <a:srgbClr val="DCE6F3"/>
          </a:solidFill>
          <a:ln/>
        </p:spPr>
      </p:sp>
      <p:sp>
        <p:nvSpPr>
          <p:cNvPr id="10" name="shape 6.9"/>
          <p:cNvSpPr/>
          <p:nvPr/>
        </p:nvSpPr>
        <p:spPr>
          <a:xfrm>
            <a:off x="888978" y="1015975"/>
            <a:ext cx="1079473" cy="228594"/>
          </a:xfrm>
          <a:prstGeom prst="roundRect">
            <a:avLst>
              <a:gd name="adj" fmla="val 50000"/>
            </a:avLst>
          </a:prstGeom>
          <a:solidFill>
            <a:srgbClr val="1FA9EA"/>
          </a:solidFill>
          <a:ln/>
        </p:spPr>
      </p:sp>
      <p:sp>
        <p:nvSpPr>
          <p:cNvPr id="11" name="text 6.10"/>
          <p:cNvSpPr txBox="1"/>
          <p:nvPr/>
        </p:nvSpPr>
        <p:spPr>
          <a:xfrm>
            <a:off x="888978" y="1015975"/>
            <a:ext cx="1079473" cy="2285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MINI-GAME 02</a:t>
            </a:r>
            <a:endParaRPr lang="en-US" sz="700" dirty="0"/>
          </a:p>
        </p:txBody>
      </p:sp>
      <p:sp>
        <p:nvSpPr>
          <p:cNvPr id="12" name="text 6.11"/>
          <p:cNvSpPr txBox="1"/>
          <p:nvPr/>
        </p:nvSpPr>
        <p:spPr>
          <a:xfrm>
            <a:off x="876278" y="1371566"/>
            <a:ext cx="1470663" cy="1088006"/>
          </a:xfrm>
          <a:prstGeom prst="rect">
            <a:avLst/>
          </a:prstGeom>
          <a:noFill/>
          <a:ln/>
        </p:spPr>
        <p:txBody>
          <a:bodyPr wrap="square" lIns="0" tIns="0" rIns="0" bIns="0" rtlCol="0" anchor="t"/>
          <a:lstStyle/>
          <a:p>
            <a:pPr algn="l" indent="0" marL="0">
              <a:lnSpc>
                <a:spcPts val="4280"/>
              </a:lnSpc>
              <a:buNone/>
            </a:pPr>
            <a:r>
              <a:rPr lang="en-US" sz="4200" dirty="0">
                <a:solidFill>
                  <a:srgbClr val="16233F"/>
                </a:solidFill>
                <a:latin typeface="Arial Rounded MT Bold" pitchFamily="34" charset="0"/>
                <a:ea typeface="Arial Rounded MT Bold" pitchFamily="34" charset="-122"/>
                <a:cs typeface="Arial Rounded MT Bold" pitchFamily="34" charset="-120"/>
              </a:rPr>
              <a:t>Ice</a:t>
            </a:r>
            <a:endParaRPr lang="en-US" sz="4200" dirty="0"/>
          </a:p>
          <a:p>
            <a:pPr algn="l" indent="0" marL="0">
              <a:lnSpc>
                <a:spcPts val="4280"/>
              </a:lnSpc>
              <a:buNone/>
            </a:pPr>
            <a:r>
              <a:rPr lang="en-US" sz="4200" dirty="0">
                <a:solidFill>
                  <a:srgbClr val="16233F"/>
                </a:solidFill>
                <a:latin typeface="Arial Rounded MT Bold" pitchFamily="34" charset="0"/>
                <a:ea typeface="Arial Rounded MT Bold" pitchFamily="34" charset="-122"/>
                <a:cs typeface="Arial Rounded MT Bold" pitchFamily="34" charset="-120"/>
              </a:rPr>
              <a:t>Race</a:t>
            </a:r>
            <a:endParaRPr lang="en-US" sz="4200" dirty="0"/>
          </a:p>
        </p:txBody>
      </p:sp>
      <p:sp>
        <p:nvSpPr>
          <p:cNvPr id="13" name="text 6.12"/>
          <p:cNvSpPr txBox="1"/>
          <p:nvPr/>
        </p:nvSpPr>
        <p:spPr>
          <a:xfrm>
            <a:off x="888978" y="2844729"/>
            <a:ext cx="403616"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GOAL</a:t>
            </a:r>
            <a:endParaRPr lang="en-US" sz="750" dirty="0"/>
          </a:p>
        </p:txBody>
      </p:sp>
      <p:sp>
        <p:nvSpPr>
          <p:cNvPr id="14" name="text 6.13"/>
          <p:cNvSpPr txBox="1"/>
          <p:nvPr/>
        </p:nvSpPr>
        <p:spPr>
          <a:xfrm>
            <a:off x="888978" y="3009825"/>
            <a:ext cx="3594010" cy="192781"/>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Finish the laps first on a floating ice track.</a:t>
            </a:r>
            <a:endParaRPr lang="en-US" sz="1100" dirty="0"/>
          </a:p>
        </p:txBody>
      </p:sp>
      <p:sp>
        <p:nvSpPr>
          <p:cNvPr id="15" name="text 6.14"/>
          <p:cNvSpPr txBox="1"/>
          <p:nvPr/>
        </p:nvSpPr>
        <p:spPr>
          <a:xfrm>
            <a:off x="888978" y="3505112"/>
            <a:ext cx="726906"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CONTROLS</a:t>
            </a:r>
            <a:endParaRPr lang="en-US" sz="750" dirty="0"/>
          </a:p>
        </p:txBody>
      </p:sp>
      <p:sp>
        <p:nvSpPr>
          <p:cNvPr id="16" name="text 6.15"/>
          <p:cNvSpPr txBox="1"/>
          <p:nvPr/>
        </p:nvSpPr>
        <p:spPr>
          <a:xfrm>
            <a:off x="888978" y="3670208"/>
            <a:ext cx="3594010" cy="385554"/>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Steering changes acceleration, not velocity. Braking restores grip.</a:t>
            </a:r>
            <a:endParaRPr lang="en-US" sz="1100" dirty="0"/>
          </a:p>
        </p:txBody>
      </p:sp>
      <p:sp>
        <p:nvSpPr>
          <p:cNvPr id="17" name="text 6.16"/>
          <p:cNvSpPr txBox="1"/>
          <p:nvPr/>
        </p:nvSpPr>
        <p:spPr>
          <a:xfrm>
            <a:off x="888978" y="4165496"/>
            <a:ext cx="415815"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SKILL</a:t>
            </a:r>
            <a:endParaRPr lang="en-US" sz="750" dirty="0"/>
          </a:p>
        </p:txBody>
      </p:sp>
      <p:sp>
        <p:nvSpPr>
          <p:cNvPr id="18" name="text 6.17"/>
          <p:cNvSpPr txBox="1"/>
          <p:nvPr/>
        </p:nvSpPr>
        <p:spPr>
          <a:xfrm>
            <a:off x="888978" y="4330592"/>
            <a:ext cx="3594010" cy="385554"/>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Low sideways grip: carry speed through corners without sliding off.</a:t>
            </a:r>
            <a:endParaRPr lang="en-US" sz="1100" dirty="0"/>
          </a:p>
        </p:txBody>
      </p:sp>
      <p:sp>
        <p:nvSpPr>
          <p:cNvPr id="19" name="text 6.18"/>
          <p:cNvSpPr txBox="1"/>
          <p:nvPr/>
        </p:nvSpPr>
        <p:spPr>
          <a:xfrm>
            <a:off x="888978" y="4825879"/>
            <a:ext cx="44379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FALLS</a:t>
            </a:r>
            <a:endParaRPr lang="en-US" sz="750" dirty="0"/>
          </a:p>
        </p:txBody>
      </p:sp>
      <p:sp>
        <p:nvSpPr>
          <p:cNvPr id="20" name="text 6.19"/>
          <p:cNvSpPr txBox="1"/>
          <p:nvPr/>
        </p:nvSpPr>
        <p:spPr>
          <a:xfrm>
            <a:off x="888978" y="4990975"/>
            <a:ext cx="3594010" cy="385554"/>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Respawn at the last checkpoint. You lose time, not the race.</a:t>
            </a:r>
            <a:endParaRPr lang="en-US" sz="1100" dirty="0"/>
          </a:p>
        </p:txBody>
      </p:sp>
      <p:sp>
        <p:nvSpPr>
          <p:cNvPr id="21" name="text 6.20"/>
          <p:cNvSpPr txBox="1"/>
          <p:nvPr/>
        </p:nvSpPr>
        <p:spPr>
          <a:xfrm>
            <a:off x="888978" y="5486263"/>
            <a:ext cx="80084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PLACEMENT</a:t>
            </a:r>
            <a:endParaRPr lang="en-US" sz="750" dirty="0"/>
          </a:p>
        </p:txBody>
      </p:sp>
      <p:sp>
        <p:nvSpPr>
          <p:cNvPr id="22" name="text 6.21"/>
          <p:cNvSpPr txBox="1"/>
          <p:nvPr/>
        </p:nvSpPr>
        <p:spPr>
          <a:xfrm>
            <a:off x="888978" y="5651359"/>
            <a:ext cx="3594010" cy="385554"/>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Finish order. Unfinished players ranked by track progress.</a:t>
            </a:r>
            <a:endParaRPr lang="en-US" sz="1100" dirty="0"/>
          </a:p>
        </p:txBody>
      </p:sp>
      <p:sp>
        <p:nvSpPr>
          <p:cNvPr id="23" name="shape 6.22"/>
          <p:cNvSpPr/>
          <p:nvPr/>
        </p:nvSpPr>
        <p:spPr>
          <a:xfrm>
            <a:off x="5714857" y="6095848"/>
            <a:ext cx="5867253" cy="253994"/>
          </a:xfrm>
          <a:prstGeom prst="roundRect">
            <a:avLst>
              <a:gd name="adj" fmla="val 50000"/>
            </a:avLst>
          </a:prstGeom>
          <a:solidFill>
            <a:srgbClr val="FFFFFF">
              <a:alpha val="92000"/>
            </a:srgbClr>
          </a:solidFill>
          <a:ln/>
        </p:spPr>
      </p:sp>
      <p:sp>
        <p:nvSpPr>
          <p:cNvPr id="24" name="text 6.23"/>
          <p:cNvSpPr txBox="1"/>
          <p:nvPr/>
        </p:nvSpPr>
        <p:spPr>
          <a:xfrm>
            <a:off x="5714857" y="6095848"/>
            <a:ext cx="5867253" cy="253994"/>
          </a:xfrm>
          <a:prstGeom prst="rect">
            <a:avLst/>
          </a:prstGeom>
          <a:noFill/>
          <a:ln/>
        </p:spPr>
        <p:txBody>
          <a:bodyPr wrap="square" lIns="0" tIns="0" rIns="0" bIns="0" rtlCol="0" anchor="ctr"/>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FIG 3 · Racing a floating ice track; the HUD is part of the render. Concept render, AI-generated.</a:t>
            </a:r>
            <a:endParaRPr lang="en-US" sz="750" dirty="0"/>
          </a:p>
        </p:txBody>
      </p:sp>
      <p:sp>
        <p:nvSpPr>
          <p:cNvPr id="25" name="shape 6.24"/>
          <p:cNvSpPr/>
          <p:nvPr/>
        </p:nvSpPr>
        <p:spPr>
          <a:xfrm>
            <a:off x="609585" y="266693"/>
            <a:ext cx="1765256"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6" name="shape 6.25"/>
          <p:cNvSpPr/>
          <p:nvPr/>
        </p:nvSpPr>
        <p:spPr>
          <a:xfrm>
            <a:off x="711182" y="355591"/>
            <a:ext cx="114297" cy="114297"/>
          </a:xfrm>
          <a:prstGeom prst="roundRect">
            <a:avLst>
              <a:gd name="adj" fmla="val 33333"/>
            </a:avLst>
          </a:prstGeom>
          <a:solidFill>
            <a:srgbClr val="FF6B1F"/>
          </a:solidFill>
          <a:ln/>
        </p:spPr>
      </p:sp>
      <p:sp>
        <p:nvSpPr>
          <p:cNvPr id="27" name="shape 6.26"/>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8" name="shape 6.27"/>
          <p:cNvSpPr/>
          <p:nvPr/>
        </p:nvSpPr>
        <p:spPr>
          <a:xfrm>
            <a:off x="10058149" y="368291"/>
            <a:ext cx="101597" cy="101597"/>
          </a:xfrm>
          <a:prstGeom prst="roundRect">
            <a:avLst>
              <a:gd name="adj" fmla="val 31250"/>
            </a:avLst>
          </a:prstGeom>
          <a:solidFill>
            <a:srgbClr val="16233F"/>
          </a:solidFill>
          <a:ln/>
        </p:spPr>
      </p:sp>
      <p:sp>
        <p:nvSpPr>
          <p:cNvPr id="29" name="shape 6.28"/>
          <p:cNvSpPr/>
          <p:nvPr/>
        </p:nvSpPr>
        <p:spPr>
          <a:xfrm>
            <a:off x="10223244" y="368291"/>
            <a:ext cx="101597" cy="101597"/>
          </a:xfrm>
          <a:prstGeom prst="roundRect">
            <a:avLst>
              <a:gd name="adj" fmla="val 31250"/>
            </a:avLst>
          </a:prstGeom>
          <a:solidFill>
            <a:srgbClr val="FF6B1F"/>
          </a:solidFill>
          <a:ln/>
        </p:spPr>
      </p:sp>
      <p:sp>
        <p:nvSpPr>
          <p:cNvPr id="30" name="shape 6.29"/>
          <p:cNvSpPr/>
          <p:nvPr/>
        </p:nvSpPr>
        <p:spPr>
          <a:xfrm>
            <a:off x="10388340" y="368291"/>
            <a:ext cx="101597" cy="101597"/>
          </a:xfrm>
          <a:prstGeom prst="roundRect">
            <a:avLst>
              <a:gd name="adj" fmla="val 31250"/>
            </a:avLst>
          </a:prstGeom>
          <a:solidFill>
            <a:srgbClr val="C7D4E8"/>
          </a:solidFill>
          <a:ln/>
        </p:spPr>
      </p:sp>
      <p:sp>
        <p:nvSpPr>
          <p:cNvPr id="31" name="shape 6.30"/>
          <p:cNvSpPr/>
          <p:nvPr/>
        </p:nvSpPr>
        <p:spPr>
          <a:xfrm>
            <a:off x="10553436" y="368291"/>
            <a:ext cx="101597" cy="101597"/>
          </a:xfrm>
          <a:prstGeom prst="roundRect">
            <a:avLst>
              <a:gd name="adj" fmla="val 31250"/>
            </a:avLst>
          </a:prstGeom>
          <a:solidFill>
            <a:srgbClr val="C7D4E8"/>
          </a:solidFill>
          <a:ln/>
        </p:spPr>
      </p:sp>
      <p:sp>
        <p:nvSpPr>
          <p:cNvPr id="32" name="shape 6.31"/>
          <p:cNvSpPr/>
          <p:nvPr/>
        </p:nvSpPr>
        <p:spPr>
          <a:xfrm>
            <a:off x="10718532" y="368291"/>
            <a:ext cx="101597" cy="101597"/>
          </a:xfrm>
          <a:prstGeom prst="roundRect">
            <a:avLst>
              <a:gd name="adj" fmla="val 31250"/>
            </a:avLst>
          </a:prstGeom>
          <a:solidFill>
            <a:srgbClr val="C7D4E8"/>
          </a:solidFill>
          <a:ln/>
        </p:spPr>
      </p:sp>
      <p:sp>
        <p:nvSpPr>
          <p:cNvPr id="33" name="shape 6.32"/>
          <p:cNvSpPr/>
          <p:nvPr/>
        </p:nvSpPr>
        <p:spPr>
          <a:xfrm>
            <a:off x="10883628" y="368291"/>
            <a:ext cx="101597" cy="101597"/>
          </a:xfrm>
          <a:prstGeom prst="roundRect">
            <a:avLst>
              <a:gd name="adj" fmla="val 31250"/>
            </a:avLst>
          </a:prstGeom>
          <a:solidFill>
            <a:srgbClr val="C7D4E8"/>
          </a:solidFill>
          <a:ln/>
        </p:spPr>
      </p:sp>
      <p:sp>
        <p:nvSpPr>
          <p:cNvPr id="34" name="text 6.33"/>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06</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35" name="text 6.34"/>
          <p:cNvSpPr txBox="1"/>
          <p:nvPr/>
        </p:nvSpPr>
        <p:spPr>
          <a:xfrm>
            <a:off x="927077" y="349241"/>
            <a:ext cx="1337519"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02 · Gameplay &amp; tech</a:t>
            </a:r>
            <a:endParaRPr lang="en-US" sz="9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7.1"/>
          <p:cNvSpPr/>
          <p:nvPr/>
        </p:nvSpPr>
        <p:spPr>
          <a:xfrm>
            <a:off x="609585" y="1892253"/>
            <a:ext cx="2285943" cy="673083"/>
          </a:xfrm>
          <a:prstGeom prst="roundRect">
            <a:avLst>
              <a:gd name="adj" fmla="val 18868"/>
            </a:avLst>
          </a:prstGeom>
          <a:solidFill>
            <a:srgbClr val="FFF0E6"/>
          </a:solidFill>
          <a:ln/>
          <a:effectLst>
            <a:outerShdw sx="100000" sy="100000" kx="0" ky="0" algn="bl" rotWithShape="0" blurRad="203200" dist="76200" dir="5400000">
              <a:srgbClr val="1E468C">
                <a:alpha val="16000"/>
              </a:srgbClr>
            </a:outerShdw>
          </a:effectLst>
        </p:spPr>
      </p:sp>
      <p:sp>
        <p:nvSpPr>
          <p:cNvPr id="3" name="shape 7.2"/>
          <p:cNvSpPr/>
          <p:nvPr/>
        </p:nvSpPr>
        <p:spPr>
          <a:xfrm>
            <a:off x="3022524" y="1892253"/>
            <a:ext cx="2285943" cy="673083"/>
          </a:xfrm>
          <a:prstGeom prst="roundRect">
            <a:avLst>
              <a:gd name="adj" fmla="val 18868"/>
            </a:avLst>
          </a:prstGeom>
          <a:solidFill>
            <a:srgbClr val="E2F4FD"/>
          </a:solidFill>
          <a:ln/>
          <a:effectLst>
            <a:outerShdw sx="100000" sy="100000" kx="0" ky="0" algn="bl" rotWithShape="0" blurRad="203200" dist="76200" dir="5400000">
              <a:srgbClr val="1E468C">
                <a:alpha val="16000"/>
              </a:srgbClr>
            </a:outerShdw>
          </a:effectLst>
        </p:spPr>
      </p:sp>
      <p:sp>
        <p:nvSpPr>
          <p:cNvPr id="4" name="shape 7.3"/>
          <p:cNvSpPr/>
          <p:nvPr/>
        </p:nvSpPr>
        <p:spPr>
          <a:xfrm>
            <a:off x="5435464" y="1892253"/>
            <a:ext cx="2285943" cy="673083"/>
          </a:xfrm>
          <a:prstGeom prst="roundRect">
            <a:avLst>
              <a:gd name="adj" fmla="val 18868"/>
            </a:avLst>
          </a:prstGeom>
          <a:solidFill>
            <a:srgbClr val="FFFFFF">
              <a:alpha val="50000"/>
            </a:srgbClr>
          </a:solidFill>
          <a:ln w="12700">
            <a:solidFill>
              <a:srgbClr val="C7D4E8"/>
            </a:solidFill>
            <a:prstDash val="solid"/>
          </a:ln>
        </p:spPr>
      </p:sp>
      <p:sp>
        <p:nvSpPr>
          <p:cNvPr id="5" name="shape 7.4"/>
          <p:cNvSpPr/>
          <p:nvPr/>
        </p:nvSpPr>
        <p:spPr>
          <a:xfrm>
            <a:off x="609585" y="2946326"/>
            <a:ext cx="7111822" cy="419090"/>
          </a:xfrm>
          <a:prstGeom prst="roundRect">
            <a:avLst>
              <a:gd name="adj" fmla="val 30303"/>
            </a:avLst>
          </a:prstGeom>
          <a:solidFill>
            <a:srgbClr val="FFF6D9"/>
          </a:solidFill>
          <a:ln/>
          <a:effectLst>
            <a:outerShdw sx="100000" sy="100000" kx="0" ky="0" algn="bl" rotWithShape="0" blurRad="203200" dist="76200" dir="5400000">
              <a:srgbClr val="1E468C">
                <a:alpha val="16000"/>
              </a:srgbClr>
            </a:outerShdw>
          </a:effectLst>
        </p:spPr>
      </p:sp>
      <p:sp>
        <p:nvSpPr>
          <p:cNvPr id="6" name="shape 7.5"/>
          <p:cNvSpPr/>
          <p:nvPr/>
        </p:nvSpPr>
        <p:spPr>
          <a:xfrm>
            <a:off x="609585" y="3733707"/>
            <a:ext cx="1142971" cy="419090"/>
          </a:xfrm>
          <a:prstGeom prst="roundRect">
            <a:avLst>
              <a:gd name="adj" fmla="val 30303"/>
            </a:avLst>
          </a:prstGeom>
          <a:solidFill>
            <a:srgbClr val="FFFFFF"/>
          </a:solidFill>
          <a:ln/>
          <a:effectLst>
            <a:outerShdw sx="100000" sy="100000" kx="0" ky="0" algn="bl" rotWithShape="0" blurRad="203200" dist="76200" dir="5400000">
              <a:srgbClr val="1E468C">
                <a:alpha val="16000"/>
              </a:srgbClr>
            </a:outerShdw>
          </a:effectLst>
        </p:spPr>
      </p:sp>
      <p:sp>
        <p:nvSpPr>
          <p:cNvPr id="7" name="shape 7.6"/>
          <p:cNvSpPr/>
          <p:nvPr/>
        </p:nvSpPr>
        <p:spPr>
          <a:xfrm>
            <a:off x="1854154" y="3733707"/>
            <a:ext cx="1079473" cy="419090"/>
          </a:xfrm>
          <a:prstGeom prst="roundRect">
            <a:avLst>
              <a:gd name="adj" fmla="val 30303"/>
            </a:avLst>
          </a:prstGeom>
          <a:solidFill>
            <a:srgbClr val="FFFFFF"/>
          </a:solidFill>
          <a:ln/>
          <a:effectLst>
            <a:outerShdw sx="100000" sy="100000" kx="0" ky="0" algn="bl" rotWithShape="0" blurRad="203200" dist="76200" dir="5400000">
              <a:srgbClr val="1E468C">
                <a:alpha val="16000"/>
              </a:srgbClr>
            </a:outerShdw>
          </a:effectLst>
        </p:spPr>
      </p:sp>
      <p:sp>
        <p:nvSpPr>
          <p:cNvPr id="8" name="shape 7.7"/>
          <p:cNvSpPr/>
          <p:nvPr/>
        </p:nvSpPr>
        <p:spPr>
          <a:xfrm>
            <a:off x="3035224" y="3733707"/>
            <a:ext cx="1904952" cy="419090"/>
          </a:xfrm>
          <a:prstGeom prst="roundRect">
            <a:avLst>
              <a:gd name="adj" fmla="val 30303"/>
            </a:avLst>
          </a:prstGeom>
          <a:solidFill>
            <a:srgbClr val="FFFFFF"/>
          </a:solidFill>
          <a:ln/>
          <a:effectLst>
            <a:outerShdw sx="100000" sy="100000" kx="0" ky="0" algn="bl" rotWithShape="0" blurRad="203200" dist="76200" dir="5400000">
              <a:srgbClr val="1E468C">
                <a:alpha val="16000"/>
              </a:srgbClr>
            </a:outerShdw>
          </a:effectLst>
        </p:spPr>
      </p:sp>
      <p:sp>
        <p:nvSpPr>
          <p:cNvPr id="9" name="shape 7.8"/>
          <p:cNvSpPr/>
          <p:nvPr/>
        </p:nvSpPr>
        <p:spPr>
          <a:xfrm>
            <a:off x="5041774" y="3733707"/>
            <a:ext cx="1333467" cy="419090"/>
          </a:xfrm>
          <a:prstGeom prst="roundRect">
            <a:avLst>
              <a:gd name="adj" fmla="val 30303"/>
            </a:avLst>
          </a:prstGeom>
          <a:solidFill>
            <a:srgbClr val="FFFFFF"/>
          </a:solidFill>
          <a:ln/>
          <a:effectLst>
            <a:outerShdw sx="100000" sy="100000" kx="0" ky="0" algn="bl" rotWithShape="0" blurRad="203200" dist="76200" dir="5400000">
              <a:srgbClr val="1E468C">
                <a:alpha val="16000"/>
              </a:srgbClr>
            </a:outerShdw>
          </a:effectLst>
        </p:spPr>
      </p:sp>
      <p:sp>
        <p:nvSpPr>
          <p:cNvPr id="10" name="shape 7.9"/>
          <p:cNvSpPr/>
          <p:nvPr/>
        </p:nvSpPr>
        <p:spPr>
          <a:xfrm>
            <a:off x="6476838" y="3733707"/>
            <a:ext cx="1244569" cy="419090"/>
          </a:xfrm>
          <a:prstGeom prst="roundRect">
            <a:avLst>
              <a:gd name="adj" fmla="val 30303"/>
            </a:avLst>
          </a:prstGeom>
          <a:solidFill>
            <a:srgbClr val="FFFFFF"/>
          </a:solidFill>
          <a:ln/>
          <a:effectLst>
            <a:outerShdw sx="100000" sy="100000" kx="0" ky="0" algn="bl" rotWithShape="0" blurRad="203200" dist="76200" dir="5400000">
              <a:srgbClr val="1E468C">
                <a:alpha val="16000"/>
              </a:srgbClr>
            </a:outerShdw>
          </a:effectLst>
        </p:spPr>
      </p:sp>
      <p:sp>
        <p:nvSpPr>
          <p:cNvPr id="11" name="shape 7.10"/>
          <p:cNvSpPr/>
          <p:nvPr/>
        </p:nvSpPr>
        <p:spPr>
          <a:xfrm>
            <a:off x="609585" y="4521087"/>
            <a:ext cx="7111822" cy="419090"/>
          </a:xfrm>
          <a:prstGeom prst="roundRect">
            <a:avLst>
              <a:gd name="adj" fmla="val 30303"/>
            </a:avLst>
          </a:prstGeom>
          <a:solidFill>
            <a:srgbClr val="F0E8FF"/>
          </a:solidFill>
          <a:ln/>
          <a:effectLst>
            <a:outerShdw sx="100000" sy="100000" kx="0" ky="0" algn="bl" rotWithShape="0" blurRad="203200" dist="76200" dir="5400000">
              <a:srgbClr val="1E468C">
                <a:alpha val="16000"/>
              </a:srgbClr>
            </a:outerShdw>
          </a:effectLst>
        </p:spPr>
      </p:sp>
      <p:sp>
        <p:nvSpPr>
          <p:cNvPr id="12" name="shape 7.11"/>
          <p:cNvSpPr/>
          <p:nvPr/>
        </p:nvSpPr>
        <p:spPr>
          <a:xfrm>
            <a:off x="609585" y="5308467"/>
            <a:ext cx="7111822" cy="419090"/>
          </a:xfrm>
          <a:prstGeom prst="roundRect">
            <a:avLst>
              <a:gd name="adj" fmla="val 30303"/>
            </a:avLst>
          </a:prstGeom>
          <a:solidFill>
            <a:srgbClr val="FFFFFF"/>
          </a:solidFill>
          <a:ln/>
          <a:effectLst>
            <a:outerShdw sx="100000" sy="100000" kx="0" ky="0" algn="bl" rotWithShape="0" blurRad="203200" dist="76200" dir="5400000">
              <a:srgbClr val="1E468C">
                <a:alpha val="16000"/>
              </a:srgbClr>
            </a:outerShdw>
          </a:effectLst>
        </p:spPr>
      </p:sp>
      <p:sp>
        <p:nvSpPr>
          <p:cNvPr id="13" name="shape 7.12"/>
          <p:cNvSpPr/>
          <p:nvPr/>
        </p:nvSpPr>
        <p:spPr>
          <a:xfrm>
            <a:off x="8153196" y="1714457"/>
            <a:ext cx="3428914" cy="4190895"/>
          </a:xfrm>
          <a:prstGeom prst="roundRect">
            <a:avLst>
              <a:gd name="adj" fmla="val 5185"/>
            </a:avLst>
          </a:prstGeom>
          <a:solidFill>
            <a:srgbClr val="FFFFFF"/>
          </a:solidFill>
          <a:ln/>
          <a:effectLst>
            <a:outerShdw sx="100000" sy="100000" kx="0" ky="0" algn="bl" rotWithShape="0" blurRad="203200" dist="76200" dir="5400000">
              <a:srgbClr val="1E468C">
                <a:alpha val="16000"/>
              </a:srgbClr>
            </a:outerShdw>
          </a:effectLst>
        </p:spPr>
      </p:sp>
      <p:sp>
        <p:nvSpPr>
          <p:cNvPr id="14" name="text 7.13"/>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One shared core; each mini-game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plugs into it</a:t>
            </a:r>
            <a:endParaRPr lang="en-US" sz="2700" dirty="0"/>
          </a:p>
        </p:txBody>
      </p:sp>
      <p:sp>
        <p:nvSpPr>
          <p:cNvPr id="15" name="text 7.14"/>
          <p:cNvSpPr txBox="1"/>
          <p:nvPr/>
        </p:nvSpPr>
        <p:spPr>
          <a:xfrm>
            <a:off x="609585" y="1714457"/>
            <a:ext cx="801681"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MINI-GAMES</a:t>
            </a:r>
            <a:endParaRPr lang="en-US" sz="750" dirty="0"/>
          </a:p>
        </p:txBody>
      </p:sp>
      <p:sp>
        <p:nvSpPr>
          <p:cNvPr id="16" name="text 7.15"/>
          <p:cNvSpPr txBox="1"/>
          <p:nvPr/>
        </p:nvSpPr>
        <p:spPr>
          <a:xfrm>
            <a:off x="774681" y="2031949"/>
            <a:ext cx="2070048" cy="189860"/>
          </a:xfrm>
          <a:prstGeom prst="rect">
            <a:avLst/>
          </a:prstGeom>
          <a:noFill/>
          <a:ln/>
        </p:spPr>
        <p:txBody>
          <a:bodyPr wrap="square" lIns="0" tIns="0" rIns="0" bIns="0" rtlCol="0" anchor="t"/>
          <a:lstStyle/>
          <a:p>
            <a:pPr algn="l" indent="0" marL="0">
              <a:lnSpc>
                <a:spcPts val="1490"/>
              </a:lnSpc>
              <a:buNone/>
            </a:pPr>
            <a:r>
              <a:rPr lang="en-US" sz="1300" dirty="0">
                <a:solidFill>
                  <a:srgbClr val="FF6B1F"/>
                </a:solidFill>
                <a:latin typeface="Arial Rounded MT Bold" pitchFamily="34" charset="0"/>
                <a:ea typeface="Arial Rounded MT Bold" pitchFamily="34" charset="-122"/>
                <a:cs typeface="Arial Rounded MT Bold" pitchFamily="34" charset="-120"/>
              </a:rPr>
              <a:t>Mass Knockout</a:t>
            </a:r>
            <a:endParaRPr lang="en-US" sz="1300" dirty="0"/>
          </a:p>
        </p:txBody>
      </p:sp>
      <p:sp>
        <p:nvSpPr>
          <p:cNvPr id="17" name="text 7.16"/>
          <p:cNvSpPr txBox="1"/>
          <p:nvPr/>
        </p:nvSpPr>
        <p:spPr>
          <a:xfrm>
            <a:off x="774681" y="2285943"/>
            <a:ext cx="1538813" cy="151126"/>
          </a:xfrm>
          <a:prstGeom prst="rect">
            <a:avLst/>
          </a:prstGeom>
          <a:noFill/>
          <a:ln/>
        </p:spPr>
        <p:txBody>
          <a:bodyPr wrap="square" lIns="0" tIns="0" rIns="0" bIns="0" rtlCol="0" anchor="t"/>
          <a:lstStyle/>
          <a:p>
            <a:pPr algn="l" indent="0" marL="0">
              <a:lnSpc>
                <a:spcPts val="1190"/>
              </a:lnSpc>
              <a:buNone/>
            </a:pPr>
            <a:r>
              <a:rPr lang="en-US" sz="850" dirty="0">
                <a:solidFill>
                  <a:srgbClr val="3B4A66"/>
                </a:solidFill>
                <a:latin typeface="Arial" pitchFamily="34" charset="0"/>
                <a:ea typeface="Arial" pitchFamily="34" charset="-122"/>
                <a:cs typeface="Arial" pitchFamily="34" charset="-120"/>
              </a:rPr>
              <a:t>mass state · spit · knockback</a:t>
            </a:r>
            <a:endParaRPr lang="en-US" sz="850" dirty="0"/>
          </a:p>
        </p:txBody>
      </p:sp>
      <p:sp>
        <p:nvSpPr>
          <p:cNvPr id="18" name="text 7.17"/>
          <p:cNvSpPr txBox="1"/>
          <p:nvPr/>
        </p:nvSpPr>
        <p:spPr>
          <a:xfrm>
            <a:off x="3187620" y="2031949"/>
            <a:ext cx="2070048" cy="189860"/>
          </a:xfrm>
          <a:prstGeom prst="rect">
            <a:avLst/>
          </a:prstGeom>
          <a:noFill/>
          <a:ln/>
        </p:spPr>
        <p:txBody>
          <a:bodyPr wrap="square" lIns="0" tIns="0" rIns="0" bIns="0" rtlCol="0" anchor="t"/>
          <a:lstStyle/>
          <a:p>
            <a:pPr algn="l" indent="0" marL="0">
              <a:lnSpc>
                <a:spcPts val="1490"/>
              </a:lnSpc>
              <a:buNone/>
            </a:pPr>
            <a:r>
              <a:rPr lang="en-US" sz="1300" dirty="0">
                <a:solidFill>
                  <a:srgbClr val="1FA9EA"/>
                </a:solidFill>
                <a:latin typeface="Arial Rounded MT Bold" pitchFamily="34" charset="0"/>
                <a:ea typeface="Arial Rounded MT Bold" pitchFamily="34" charset="-122"/>
                <a:cs typeface="Arial Rounded MT Bold" pitchFamily="34" charset="-120"/>
              </a:rPr>
              <a:t>Ice Race</a:t>
            </a:r>
            <a:endParaRPr lang="en-US" sz="1300" dirty="0"/>
          </a:p>
        </p:txBody>
      </p:sp>
      <p:sp>
        <p:nvSpPr>
          <p:cNvPr id="19" name="text 7.18"/>
          <p:cNvSpPr txBox="1"/>
          <p:nvPr/>
        </p:nvSpPr>
        <p:spPr>
          <a:xfrm>
            <a:off x="3187620" y="2285943"/>
            <a:ext cx="1608855" cy="151126"/>
          </a:xfrm>
          <a:prstGeom prst="rect">
            <a:avLst/>
          </a:prstGeom>
          <a:noFill/>
          <a:ln/>
        </p:spPr>
        <p:txBody>
          <a:bodyPr wrap="square" lIns="0" tIns="0" rIns="0" bIns="0" rtlCol="0" anchor="t"/>
          <a:lstStyle/>
          <a:p>
            <a:pPr algn="l" indent="0" marL="0">
              <a:lnSpc>
                <a:spcPts val="1190"/>
              </a:lnSpc>
              <a:buNone/>
            </a:pPr>
            <a:r>
              <a:rPr lang="en-US" sz="850" dirty="0">
                <a:solidFill>
                  <a:srgbClr val="3B4A66"/>
                </a:solidFill>
                <a:latin typeface="Arial" pitchFamily="34" charset="0"/>
                <a:ea typeface="Arial" pitchFamily="34" charset="-122"/>
                <a:cs typeface="Arial" pitchFamily="34" charset="-120"/>
              </a:rPr>
              <a:t>ice profile · track · checkpoints</a:t>
            </a:r>
            <a:endParaRPr lang="en-US" sz="850" dirty="0"/>
          </a:p>
        </p:txBody>
      </p:sp>
      <p:sp>
        <p:nvSpPr>
          <p:cNvPr id="20" name="text 7.19"/>
          <p:cNvSpPr txBox="1"/>
          <p:nvPr/>
        </p:nvSpPr>
        <p:spPr>
          <a:xfrm>
            <a:off x="5600560" y="2031949"/>
            <a:ext cx="2070048" cy="189860"/>
          </a:xfrm>
          <a:prstGeom prst="rect">
            <a:avLst/>
          </a:prstGeom>
          <a:noFill/>
          <a:ln/>
        </p:spPr>
        <p:txBody>
          <a:bodyPr wrap="square" lIns="0" tIns="0" rIns="0" bIns="0" rtlCol="0" anchor="t"/>
          <a:lstStyle/>
          <a:p>
            <a:pPr algn="l" indent="0" marL="0">
              <a:lnSpc>
                <a:spcPts val="1490"/>
              </a:lnSpc>
              <a:buNone/>
            </a:pPr>
            <a:r>
              <a:rPr lang="en-US" sz="1300" dirty="0">
                <a:solidFill>
                  <a:srgbClr val="A9B6CC"/>
                </a:solidFill>
                <a:latin typeface="Arial Rounded MT Bold" pitchFamily="34" charset="0"/>
                <a:ea typeface="Arial Rounded MT Bold" pitchFamily="34" charset="-122"/>
                <a:cs typeface="Arial Rounded MT Bold" pitchFamily="34" charset="-120"/>
              </a:rPr>
              <a:t>Next mini-game</a:t>
            </a:r>
            <a:endParaRPr lang="en-US" sz="1300" dirty="0"/>
          </a:p>
        </p:txBody>
      </p:sp>
      <p:sp>
        <p:nvSpPr>
          <p:cNvPr id="21" name="text 7.20"/>
          <p:cNvSpPr txBox="1"/>
          <p:nvPr/>
        </p:nvSpPr>
        <p:spPr>
          <a:xfrm>
            <a:off x="5600560" y="2285943"/>
            <a:ext cx="1199011" cy="151126"/>
          </a:xfrm>
          <a:prstGeom prst="rect">
            <a:avLst/>
          </a:prstGeom>
          <a:noFill/>
          <a:ln/>
        </p:spPr>
        <p:txBody>
          <a:bodyPr wrap="square" lIns="0" tIns="0" rIns="0" bIns="0" rtlCol="0" anchor="t"/>
          <a:lstStyle/>
          <a:p>
            <a:pPr algn="l" indent="0" marL="0">
              <a:lnSpc>
                <a:spcPts val="1190"/>
              </a:lnSpc>
              <a:buNone/>
            </a:pPr>
            <a:r>
              <a:rPr lang="en-US" sz="850" dirty="0">
                <a:solidFill>
                  <a:srgbClr val="3B4A66"/>
                </a:solidFill>
                <a:latin typeface="Arial" pitchFamily="34" charset="0"/>
                <a:ea typeface="Arial" pitchFamily="34" charset="-122"/>
                <a:cs typeface="Arial" pitchFamily="34" charset="-120"/>
              </a:rPr>
              <a:t>new rules + one arena</a:t>
            </a:r>
            <a:endParaRPr lang="en-US" sz="850" dirty="0"/>
          </a:p>
        </p:txBody>
      </p:sp>
      <p:sp>
        <p:nvSpPr>
          <p:cNvPr id="22" name="text 7.21"/>
          <p:cNvSpPr txBox="1"/>
          <p:nvPr/>
        </p:nvSpPr>
        <p:spPr>
          <a:xfrm>
            <a:off x="609585" y="2768531"/>
            <a:ext cx="1425756"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MINI-GAME CONTRACT</a:t>
            </a:r>
            <a:endParaRPr lang="en-US" sz="750" dirty="0"/>
          </a:p>
        </p:txBody>
      </p:sp>
      <p:sp>
        <p:nvSpPr>
          <p:cNvPr id="23" name="text 7.22"/>
          <p:cNvSpPr txBox="1"/>
          <p:nvPr/>
        </p:nvSpPr>
        <p:spPr>
          <a:xfrm>
            <a:off x="609585" y="2946326"/>
            <a:ext cx="7111822" cy="419090"/>
          </a:xfrm>
          <a:prstGeom prst="rect">
            <a:avLst/>
          </a:prstGeom>
          <a:noFill/>
          <a:ln/>
        </p:spPr>
        <p:txBody>
          <a:bodyPr wrap="square" lIns="0" tIns="0" rIns="0" bIns="0" rtlCol="0" anchor="ctr"/>
          <a:lstStyle/>
          <a:p>
            <a:pPr algn="ctr" indent="0" marL="0">
              <a:lnSpc>
                <a:spcPts val="1150"/>
              </a:lnSpc>
              <a:buNone/>
            </a:pPr>
            <a:r>
              <a:rPr lang="en-US" sz="1000" b="1" dirty="0">
                <a:solidFill>
                  <a:srgbClr val="8A6200"/>
                </a:solidFill>
                <a:latin typeface="Arial" pitchFamily="34" charset="0"/>
                <a:ea typeface="Arial" pitchFamily="34" charset="-122"/>
                <a:cs typeface="Arial" pitchFamily="34" charset="-120"/>
              </a:rPr>
              <a:t>Setup(players) → Run() → Results() : placement</a:t>
            </a:r>
            <a:endParaRPr lang="en-US" sz="1000" dirty="0"/>
          </a:p>
        </p:txBody>
      </p:sp>
      <p:sp>
        <p:nvSpPr>
          <p:cNvPr id="24" name="text 7.23"/>
          <p:cNvSpPr txBox="1"/>
          <p:nvPr/>
        </p:nvSpPr>
        <p:spPr>
          <a:xfrm>
            <a:off x="609585" y="3555911"/>
            <a:ext cx="126253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SHARED GAMEPLAY</a:t>
            </a:r>
            <a:endParaRPr lang="en-US" sz="750" dirty="0"/>
          </a:p>
        </p:txBody>
      </p:sp>
      <p:sp>
        <p:nvSpPr>
          <p:cNvPr id="25" name="text 7.24"/>
          <p:cNvSpPr txBox="1"/>
          <p:nvPr/>
        </p:nvSpPr>
        <p:spPr>
          <a:xfrm>
            <a:off x="609585" y="3733707"/>
            <a:ext cx="1142971" cy="419090"/>
          </a:xfrm>
          <a:prstGeom prst="rect">
            <a:avLst/>
          </a:prstGeom>
          <a:noFill/>
          <a:ln/>
        </p:spPr>
        <p:txBody>
          <a:bodyPr wrap="square" lIns="0" tIns="0" rIns="0" bIns="0" rtlCol="0" anchor="ctr"/>
          <a:lstStyle/>
          <a:p>
            <a:pPr algn="ctr" indent="0" marL="0">
              <a:lnSpc>
                <a:spcPts val="1150"/>
              </a:lnSpc>
              <a:buNone/>
            </a:pPr>
            <a:r>
              <a:rPr lang="en-US" sz="1000" b="1" dirty="0">
                <a:solidFill>
                  <a:srgbClr val="16233F"/>
                </a:solidFill>
                <a:latin typeface="Arial" pitchFamily="34" charset="0"/>
                <a:ea typeface="Arial" pitchFamily="34" charset="-122"/>
                <a:cs typeface="Arial" pitchFamily="34" charset="-120"/>
              </a:rPr>
              <a:t>Character</a:t>
            </a:r>
            <a:endParaRPr lang="en-US" sz="1000" dirty="0"/>
          </a:p>
        </p:txBody>
      </p:sp>
      <p:sp>
        <p:nvSpPr>
          <p:cNvPr id="26" name="text 7.25"/>
          <p:cNvSpPr txBox="1"/>
          <p:nvPr/>
        </p:nvSpPr>
        <p:spPr>
          <a:xfrm>
            <a:off x="1854154" y="3733707"/>
            <a:ext cx="1079473" cy="419090"/>
          </a:xfrm>
          <a:prstGeom prst="rect">
            <a:avLst/>
          </a:prstGeom>
          <a:noFill/>
          <a:ln/>
        </p:spPr>
        <p:txBody>
          <a:bodyPr wrap="square" lIns="0" tIns="0" rIns="0" bIns="0" rtlCol="0" anchor="ctr"/>
          <a:lstStyle/>
          <a:p>
            <a:pPr algn="ctr" indent="0" marL="0">
              <a:lnSpc>
                <a:spcPts val="1150"/>
              </a:lnSpc>
              <a:buNone/>
            </a:pPr>
            <a:r>
              <a:rPr lang="en-US" sz="1000" b="1" dirty="0">
                <a:solidFill>
                  <a:srgbClr val="16233F"/>
                </a:solidFill>
                <a:latin typeface="Arial" pitchFamily="34" charset="0"/>
                <a:ea typeface="Arial" pitchFamily="34" charset="-122"/>
                <a:cs typeface="Arial" pitchFamily="34" charset="-120"/>
              </a:rPr>
              <a:t>Camera</a:t>
            </a:r>
            <a:endParaRPr lang="en-US" sz="1000" dirty="0"/>
          </a:p>
        </p:txBody>
      </p:sp>
      <p:sp>
        <p:nvSpPr>
          <p:cNvPr id="27" name="text 7.26"/>
          <p:cNvSpPr txBox="1"/>
          <p:nvPr/>
        </p:nvSpPr>
        <p:spPr>
          <a:xfrm>
            <a:off x="3035224" y="3733707"/>
            <a:ext cx="1904952" cy="419090"/>
          </a:xfrm>
          <a:prstGeom prst="rect">
            <a:avLst/>
          </a:prstGeom>
          <a:noFill/>
          <a:ln/>
        </p:spPr>
        <p:txBody>
          <a:bodyPr wrap="square" lIns="0" tIns="0" rIns="0" bIns="0" rtlCol="0" anchor="ctr"/>
          <a:lstStyle/>
          <a:p>
            <a:pPr algn="ctr" indent="0" marL="0">
              <a:lnSpc>
                <a:spcPts val="1150"/>
              </a:lnSpc>
              <a:buNone/>
            </a:pPr>
            <a:r>
              <a:rPr lang="en-US" sz="1000" b="1" dirty="0">
                <a:solidFill>
                  <a:srgbClr val="16233F"/>
                </a:solidFill>
                <a:latin typeface="Arial" pitchFamily="34" charset="0"/>
                <a:ea typeface="Arial" pitchFamily="34" charset="-122"/>
                <a:cs typeface="Arial" pitchFamily="34" charset="-120"/>
              </a:rPr>
              <a:t>Round state machine</a:t>
            </a:r>
            <a:endParaRPr lang="en-US" sz="1000" dirty="0"/>
          </a:p>
        </p:txBody>
      </p:sp>
      <p:sp>
        <p:nvSpPr>
          <p:cNvPr id="28" name="text 7.27"/>
          <p:cNvSpPr txBox="1"/>
          <p:nvPr/>
        </p:nvSpPr>
        <p:spPr>
          <a:xfrm>
            <a:off x="5041774" y="3733707"/>
            <a:ext cx="1333467" cy="419090"/>
          </a:xfrm>
          <a:prstGeom prst="rect">
            <a:avLst/>
          </a:prstGeom>
          <a:noFill/>
          <a:ln/>
        </p:spPr>
        <p:txBody>
          <a:bodyPr wrap="square" lIns="0" tIns="0" rIns="0" bIns="0" rtlCol="0" anchor="ctr"/>
          <a:lstStyle/>
          <a:p>
            <a:pPr algn="ctr" indent="0" marL="0">
              <a:lnSpc>
                <a:spcPts val="1150"/>
              </a:lnSpc>
              <a:buNone/>
            </a:pPr>
            <a:r>
              <a:rPr lang="en-US" sz="1000" b="1" dirty="0">
                <a:solidFill>
                  <a:srgbClr val="16233F"/>
                </a:solidFill>
                <a:latin typeface="Arial" pitchFamily="34" charset="0"/>
                <a:ea typeface="Arial" pitchFamily="34" charset="-122"/>
                <a:cs typeface="Arial" pitchFamily="34" charset="-120"/>
              </a:rPr>
              <a:t>Scoreboard</a:t>
            </a:r>
            <a:endParaRPr lang="en-US" sz="1000" dirty="0"/>
          </a:p>
        </p:txBody>
      </p:sp>
      <p:sp>
        <p:nvSpPr>
          <p:cNvPr id="29" name="text 7.28"/>
          <p:cNvSpPr txBox="1"/>
          <p:nvPr/>
        </p:nvSpPr>
        <p:spPr>
          <a:xfrm>
            <a:off x="6476838" y="3733707"/>
            <a:ext cx="1244569" cy="419090"/>
          </a:xfrm>
          <a:prstGeom prst="rect">
            <a:avLst/>
          </a:prstGeom>
          <a:noFill/>
          <a:ln/>
        </p:spPr>
        <p:txBody>
          <a:bodyPr wrap="square" lIns="0" tIns="0" rIns="0" bIns="0" rtlCol="0" anchor="ctr"/>
          <a:lstStyle/>
          <a:p>
            <a:pPr algn="ctr" indent="0" marL="0">
              <a:lnSpc>
                <a:spcPts val="1150"/>
              </a:lnSpc>
              <a:buNone/>
            </a:pPr>
            <a:r>
              <a:rPr lang="en-US" sz="1000" b="1" dirty="0">
                <a:solidFill>
                  <a:srgbClr val="16233F"/>
                </a:solidFill>
                <a:latin typeface="Arial" pitchFamily="34" charset="0"/>
                <a:ea typeface="Arial" pitchFamily="34" charset="-122"/>
                <a:cs typeface="Arial" pitchFamily="34" charset="-120"/>
              </a:rPr>
              <a:t>Lobby &amp; UI</a:t>
            </a:r>
            <a:endParaRPr lang="en-US" sz="1000" dirty="0"/>
          </a:p>
        </p:txBody>
      </p:sp>
      <p:sp>
        <p:nvSpPr>
          <p:cNvPr id="30" name="text 7.29"/>
          <p:cNvSpPr txBox="1"/>
          <p:nvPr/>
        </p:nvSpPr>
        <p:spPr>
          <a:xfrm>
            <a:off x="609585" y="4343291"/>
            <a:ext cx="669904"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NETWORK</a:t>
            </a:r>
            <a:endParaRPr lang="en-US" sz="750" dirty="0"/>
          </a:p>
        </p:txBody>
      </p:sp>
      <p:sp>
        <p:nvSpPr>
          <p:cNvPr id="31" name="text 7.30"/>
          <p:cNvSpPr txBox="1"/>
          <p:nvPr/>
        </p:nvSpPr>
        <p:spPr>
          <a:xfrm>
            <a:off x="609585" y="4521087"/>
            <a:ext cx="7111822" cy="419090"/>
          </a:xfrm>
          <a:prstGeom prst="rect">
            <a:avLst/>
          </a:prstGeom>
          <a:noFill/>
          <a:ln/>
        </p:spPr>
        <p:txBody>
          <a:bodyPr wrap="square" lIns="0" tIns="0" rIns="0" bIns="0" rtlCol="0" anchor="ctr"/>
          <a:lstStyle/>
          <a:p>
            <a:pPr algn="ctr" indent="0" marL="0">
              <a:lnSpc>
                <a:spcPts val="1150"/>
              </a:lnSpc>
              <a:buNone/>
            </a:pPr>
            <a:r>
              <a:rPr lang="en-US" sz="1000" b="1" dirty="0">
                <a:solidFill>
                  <a:srgbClr val="8F55F5"/>
                </a:solidFill>
                <a:latin typeface="Arial" pitchFamily="34" charset="0"/>
                <a:ea typeface="Arial" pitchFamily="34" charset="-122"/>
                <a:cs typeface="Arial" pitchFamily="34" charset="-120"/>
              </a:rPr>
              <a:t>Host-authoritative LAN · Unity Netcode for GameObjects (candidate)</a:t>
            </a:r>
            <a:endParaRPr lang="en-US" sz="1000" dirty="0"/>
          </a:p>
        </p:txBody>
      </p:sp>
      <p:sp>
        <p:nvSpPr>
          <p:cNvPr id="32" name="text 7.31"/>
          <p:cNvSpPr txBox="1"/>
          <p:nvPr/>
        </p:nvSpPr>
        <p:spPr>
          <a:xfrm>
            <a:off x="609585" y="5130672"/>
            <a:ext cx="523298"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ENGINE</a:t>
            </a:r>
            <a:endParaRPr lang="en-US" sz="750" dirty="0"/>
          </a:p>
        </p:txBody>
      </p:sp>
      <p:sp>
        <p:nvSpPr>
          <p:cNvPr id="33" name="text 7.32"/>
          <p:cNvSpPr txBox="1"/>
          <p:nvPr/>
        </p:nvSpPr>
        <p:spPr>
          <a:xfrm>
            <a:off x="609585" y="5308467"/>
            <a:ext cx="7111822" cy="419090"/>
          </a:xfrm>
          <a:prstGeom prst="rect">
            <a:avLst/>
          </a:prstGeom>
          <a:noFill/>
          <a:ln/>
        </p:spPr>
        <p:txBody>
          <a:bodyPr wrap="square" lIns="0" tIns="0" rIns="0" bIns="0" rtlCol="0" anchor="ctr"/>
          <a:lstStyle/>
          <a:p>
            <a:pPr algn="ctr" indent="0" marL="0">
              <a:lnSpc>
                <a:spcPts val="1150"/>
              </a:lnSpc>
              <a:buNone/>
            </a:pPr>
            <a:r>
              <a:rPr lang="en-US" sz="1000" b="1" dirty="0">
                <a:solidFill>
                  <a:srgbClr val="6E7D9A"/>
                </a:solidFill>
                <a:latin typeface="Arial" pitchFamily="34" charset="0"/>
                <a:ea typeface="Arial" pitchFamily="34" charset="-122"/>
                <a:cs typeface="Arial" pitchFamily="34" charset="-120"/>
              </a:rPr>
              <a:t>Unity · built-in rigidbody physics</a:t>
            </a:r>
            <a:endParaRPr lang="en-US" sz="1000" dirty="0"/>
          </a:p>
        </p:txBody>
      </p:sp>
      <p:sp>
        <p:nvSpPr>
          <p:cNvPr id="34" name="text 7.33"/>
          <p:cNvSpPr txBox="1"/>
          <p:nvPr/>
        </p:nvSpPr>
        <p:spPr>
          <a:xfrm>
            <a:off x="8407190" y="1930352"/>
            <a:ext cx="1169143"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6233F"/>
                </a:solidFill>
                <a:latin typeface="Arial" pitchFamily="34" charset="0"/>
                <a:ea typeface="Arial" pitchFamily="34" charset="-122"/>
                <a:cs typeface="Arial" pitchFamily="34" charset="-120"/>
              </a:rPr>
              <a:t>WHY THIS SPLIT</a:t>
            </a:r>
            <a:endParaRPr lang="en-US" sz="850" dirty="0"/>
          </a:p>
        </p:txBody>
      </p:sp>
      <p:sp>
        <p:nvSpPr>
          <p:cNvPr id="35" name="text 7.34"/>
          <p:cNvSpPr txBox="1"/>
          <p:nvPr/>
        </p:nvSpPr>
        <p:spPr>
          <a:xfrm>
            <a:off x="8407190" y="2260543"/>
            <a:ext cx="634357" cy="204465"/>
          </a:xfrm>
          <a:prstGeom prst="rect">
            <a:avLst/>
          </a:prstGeom>
          <a:noFill/>
          <a:ln/>
        </p:spPr>
        <p:txBody>
          <a:bodyPr wrap="square" lIns="0" tIns="0" rIns="0" bIns="0" rtlCol="0" anchor="t"/>
          <a:lstStyle/>
          <a:p>
            <a:pPr algn="l" indent="0" marL="0">
              <a:lnSpc>
                <a:spcPts val="1610"/>
              </a:lnSpc>
              <a:buNone/>
            </a:pPr>
            <a:r>
              <a:rPr lang="en-US" sz="1400" dirty="0">
                <a:solidFill>
                  <a:srgbClr val="FF6B1F"/>
                </a:solidFill>
                <a:latin typeface="Arial Rounded MT Bold" pitchFamily="34" charset="0"/>
                <a:ea typeface="Arial Rounded MT Bold" pitchFamily="34" charset="-122"/>
                <a:cs typeface="Arial Rounded MT Bold" pitchFamily="34" charset="-120"/>
              </a:rPr>
              <a:t>Reuse</a:t>
            </a:r>
            <a:endParaRPr lang="en-US" sz="1400" dirty="0"/>
          </a:p>
        </p:txBody>
      </p:sp>
      <p:sp>
        <p:nvSpPr>
          <p:cNvPr id="36" name="text 7.35"/>
          <p:cNvSpPr txBox="1"/>
          <p:nvPr/>
        </p:nvSpPr>
        <p:spPr>
          <a:xfrm>
            <a:off x="8407190" y="2514537"/>
            <a:ext cx="2959026" cy="579820"/>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A new mini-game is new rules plus one arena. Character, camera, network and scores already exist.</a:t>
            </a:r>
            <a:endParaRPr lang="en-US" sz="1050" dirty="0"/>
          </a:p>
        </p:txBody>
      </p:sp>
      <p:sp>
        <p:nvSpPr>
          <p:cNvPr id="37" name="text 7.36"/>
          <p:cNvSpPr txBox="1"/>
          <p:nvPr/>
        </p:nvSpPr>
        <p:spPr>
          <a:xfrm>
            <a:off x="8407190" y="3594010"/>
            <a:ext cx="1686470" cy="204465"/>
          </a:xfrm>
          <a:prstGeom prst="rect">
            <a:avLst/>
          </a:prstGeom>
          <a:noFill/>
          <a:ln/>
        </p:spPr>
        <p:txBody>
          <a:bodyPr wrap="square" lIns="0" tIns="0" rIns="0" bIns="0" rtlCol="0" anchor="t"/>
          <a:lstStyle/>
          <a:p>
            <a:pPr algn="l" indent="0" marL="0">
              <a:lnSpc>
                <a:spcPts val="1610"/>
              </a:lnSpc>
              <a:buNone/>
            </a:pPr>
            <a:r>
              <a:rPr lang="en-US" sz="1400" dirty="0">
                <a:solidFill>
                  <a:srgbClr val="1FA9EA"/>
                </a:solidFill>
                <a:latin typeface="Arial Rounded MT Bold" pitchFamily="34" charset="0"/>
                <a:ea typeface="Arial Rounded MT Bold" pitchFamily="34" charset="-122"/>
                <a:cs typeface="Arial Rounded MT Bold" pitchFamily="34" charset="-120"/>
              </a:rPr>
              <a:t>Per-game physics</a:t>
            </a:r>
            <a:endParaRPr lang="en-US" sz="1400" dirty="0"/>
          </a:p>
        </p:txBody>
      </p:sp>
      <p:sp>
        <p:nvSpPr>
          <p:cNvPr id="38" name="text 7.37"/>
          <p:cNvSpPr txBox="1"/>
          <p:nvPr/>
        </p:nvSpPr>
        <p:spPr>
          <a:xfrm>
            <a:off x="8407190" y="3848004"/>
            <a:ext cx="2959026" cy="386547"/>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Each mini-game sets its own profile: low grip on ice, firm grip in Knockout.</a:t>
            </a:r>
            <a:endParaRPr lang="en-US" sz="1050" dirty="0"/>
          </a:p>
        </p:txBody>
      </p:sp>
      <p:sp>
        <p:nvSpPr>
          <p:cNvPr id="39" name="text 7.38"/>
          <p:cNvSpPr txBox="1"/>
          <p:nvPr/>
        </p:nvSpPr>
        <p:spPr>
          <a:xfrm>
            <a:off x="8407190" y="4736982"/>
            <a:ext cx="924729" cy="204465"/>
          </a:xfrm>
          <a:prstGeom prst="rect">
            <a:avLst/>
          </a:prstGeom>
          <a:noFill/>
          <a:ln/>
        </p:spPr>
        <p:txBody>
          <a:bodyPr wrap="square" lIns="0" tIns="0" rIns="0" bIns="0" rtlCol="0" anchor="t"/>
          <a:lstStyle/>
          <a:p>
            <a:pPr algn="l" indent="0" marL="0">
              <a:lnSpc>
                <a:spcPts val="1610"/>
              </a:lnSpc>
              <a:buNone/>
            </a:pPr>
            <a:r>
              <a:rPr lang="en-US" sz="1400" dirty="0">
                <a:solidFill>
                  <a:srgbClr val="43B832"/>
                </a:solidFill>
                <a:latin typeface="Arial Rounded MT Bold" pitchFamily="34" charset="0"/>
                <a:ea typeface="Arial Rounded MT Bold" pitchFamily="34" charset="-122"/>
                <a:cs typeface="Arial Rounded MT Bold" pitchFamily="34" charset="-120"/>
              </a:rPr>
              <a:t>One truth</a:t>
            </a:r>
            <a:endParaRPr lang="en-US" sz="1400" dirty="0"/>
          </a:p>
        </p:txBody>
      </p:sp>
      <p:sp>
        <p:nvSpPr>
          <p:cNvPr id="40" name="text 7.39"/>
          <p:cNvSpPr txBox="1"/>
          <p:nvPr/>
        </p:nvSpPr>
        <p:spPr>
          <a:xfrm>
            <a:off x="8407190" y="4990975"/>
            <a:ext cx="2959026" cy="386547"/>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Everything that decides a result runs on the host, so every screen agrees.</a:t>
            </a:r>
            <a:endParaRPr lang="en-US" sz="1050" dirty="0"/>
          </a:p>
        </p:txBody>
      </p:sp>
      <p:sp>
        <p:nvSpPr>
          <p:cNvPr id="41" name="shape 7.40"/>
          <p:cNvSpPr/>
          <p:nvPr/>
        </p:nvSpPr>
        <p:spPr>
          <a:xfrm>
            <a:off x="609585" y="266693"/>
            <a:ext cx="1765256"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2" name="shape 7.41"/>
          <p:cNvSpPr/>
          <p:nvPr/>
        </p:nvSpPr>
        <p:spPr>
          <a:xfrm>
            <a:off x="711182" y="355591"/>
            <a:ext cx="114297" cy="114297"/>
          </a:xfrm>
          <a:prstGeom prst="roundRect">
            <a:avLst>
              <a:gd name="adj" fmla="val 33333"/>
            </a:avLst>
          </a:prstGeom>
          <a:solidFill>
            <a:srgbClr val="FF6B1F"/>
          </a:solidFill>
          <a:ln/>
        </p:spPr>
      </p:sp>
      <p:sp>
        <p:nvSpPr>
          <p:cNvPr id="43" name="shape 7.42"/>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4" name="shape 7.43"/>
          <p:cNvSpPr/>
          <p:nvPr/>
        </p:nvSpPr>
        <p:spPr>
          <a:xfrm>
            <a:off x="10058149" y="368291"/>
            <a:ext cx="101597" cy="101597"/>
          </a:xfrm>
          <a:prstGeom prst="roundRect">
            <a:avLst>
              <a:gd name="adj" fmla="val 31250"/>
            </a:avLst>
          </a:prstGeom>
          <a:solidFill>
            <a:srgbClr val="16233F"/>
          </a:solidFill>
          <a:ln/>
        </p:spPr>
      </p:sp>
      <p:sp>
        <p:nvSpPr>
          <p:cNvPr id="45" name="shape 7.44"/>
          <p:cNvSpPr/>
          <p:nvPr/>
        </p:nvSpPr>
        <p:spPr>
          <a:xfrm>
            <a:off x="10223244" y="368291"/>
            <a:ext cx="101597" cy="101597"/>
          </a:xfrm>
          <a:prstGeom prst="roundRect">
            <a:avLst>
              <a:gd name="adj" fmla="val 31250"/>
            </a:avLst>
          </a:prstGeom>
          <a:solidFill>
            <a:srgbClr val="FF6B1F"/>
          </a:solidFill>
          <a:ln/>
        </p:spPr>
      </p:sp>
      <p:sp>
        <p:nvSpPr>
          <p:cNvPr id="46" name="shape 7.45"/>
          <p:cNvSpPr/>
          <p:nvPr/>
        </p:nvSpPr>
        <p:spPr>
          <a:xfrm>
            <a:off x="10388340" y="368291"/>
            <a:ext cx="101597" cy="101597"/>
          </a:xfrm>
          <a:prstGeom prst="roundRect">
            <a:avLst>
              <a:gd name="adj" fmla="val 31250"/>
            </a:avLst>
          </a:prstGeom>
          <a:solidFill>
            <a:srgbClr val="C7D4E8"/>
          </a:solidFill>
          <a:ln/>
        </p:spPr>
      </p:sp>
      <p:sp>
        <p:nvSpPr>
          <p:cNvPr id="47" name="shape 7.46"/>
          <p:cNvSpPr/>
          <p:nvPr/>
        </p:nvSpPr>
        <p:spPr>
          <a:xfrm>
            <a:off x="10553436" y="368291"/>
            <a:ext cx="101597" cy="101597"/>
          </a:xfrm>
          <a:prstGeom prst="roundRect">
            <a:avLst>
              <a:gd name="adj" fmla="val 31250"/>
            </a:avLst>
          </a:prstGeom>
          <a:solidFill>
            <a:srgbClr val="C7D4E8"/>
          </a:solidFill>
          <a:ln/>
        </p:spPr>
      </p:sp>
      <p:sp>
        <p:nvSpPr>
          <p:cNvPr id="48" name="shape 7.47"/>
          <p:cNvSpPr/>
          <p:nvPr/>
        </p:nvSpPr>
        <p:spPr>
          <a:xfrm>
            <a:off x="10718532" y="368291"/>
            <a:ext cx="101597" cy="101597"/>
          </a:xfrm>
          <a:prstGeom prst="roundRect">
            <a:avLst>
              <a:gd name="adj" fmla="val 31250"/>
            </a:avLst>
          </a:prstGeom>
          <a:solidFill>
            <a:srgbClr val="C7D4E8"/>
          </a:solidFill>
          <a:ln/>
        </p:spPr>
      </p:sp>
      <p:sp>
        <p:nvSpPr>
          <p:cNvPr id="49" name="shape 7.48"/>
          <p:cNvSpPr/>
          <p:nvPr/>
        </p:nvSpPr>
        <p:spPr>
          <a:xfrm>
            <a:off x="10883628" y="368291"/>
            <a:ext cx="101597" cy="101597"/>
          </a:xfrm>
          <a:prstGeom prst="roundRect">
            <a:avLst>
              <a:gd name="adj" fmla="val 31250"/>
            </a:avLst>
          </a:prstGeom>
          <a:solidFill>
            <a:srgbClr val="C7D4E8"/>
          </a:solidFill>
          <a:ln/>
        </p:spPr>
      </p:sp>
      <p:sp>
        <p:nvSpPr>
          <p:cNvPr id="50" name="text 7.49"/>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07</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51" name="text 7.50"/>
          <p:cNvSpPr txBox="1"/>
          <p:nvPr/>
        </p:nvSpPr>
        <p:spPr>
          <a:xfrm>
            <a:off x="927077" y="349241"/>
            <a:ext cx="1337519"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02 · Gameplay &amp; tech</a:t>
            </a:r>
            <a:endParaRPr lang="en-US" sz="9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8.1"/>
          <p:cNvSpPr/>
          <p:nvPr/>
        </p:nvSpPr>
        <p:spPr>
          <a:xfrm>
            <a:off x="1015975" y="1663658"/>
            <a:ext cx="2158946" cy="584185"/>
          </a:xfrm>
          <a:prstGeom prst="roundRect">
            <a:avLst>
              <a:gd name="adj" fmla="val 21739"/>
            </a:avLst>
          </a:prstGeom>
          <a:solidFill>
            <a:srgbClr val="FFFFFF"/>
          </a:solidFill>
          <a:ln/>
          <a:effectLst>
            <a:outerShdw sx="100000" sy="100000" kx="0" ky="0" algn="bl" rotWithShape="0" blurRad="203200" dist="76200" dir="5400000">
              <a:srgbClr val="1E468C">
                <a:alpha val="16000"/>
              </a:srgbClr>
            </a:outerShdw>
          </a:effectLst>
        </p:spPr>
      </p:sp>
      <p:sp>
        <p:nvSpPr>
          <p:cNvPr id="3" name="shape 8.2"/>
          <p:cNvSpPr/>
          <p:nvPr/>
        </p:nvSpPr>
        <p:spPr>
          <a:xfrm>
            <a:off x="5016375" y="1663658"/>
            <a:ext cx="2158946" cy="584185"/>
          </a:xfrm>
          <a:prstGeom prst="roundRect">
            <a:avLst>
              <a:gd name="adj" fmla="val 21739"/>
            </a:avLst>
          </a:prstGeom>
          <a:solidFill>
            <a:srgbClr val="FFFFFF"/>
          </a:solidFill>
          <a:ln/>
          <a:effectLst>
            <a:outerShdw sx="100000" sy="100000" kx="0" ky="0" algn="bl" rotWithShape="0" blurRad="203200" dist="76200" dir="5400000">
              <a:srgbClr val="1E468C">
                <a:alpha val="16000"/>
              </a:srgbClr>
            </a:outerShdw>
          </a:effectLst>
        </p:spPr>
      </p:sp>
      <p:sp>
        <p:nvSpPr>
          <p:cNvPr id="4" name="shape 8.3"/>
          <p:cNvSpPr/>
          <p:nvPr/>
        </p:nvSpPr>
        <p:spPr>
          <a:xfrm>
            <a:off x="9016775" y="1663658"/>
            <a:ext cx="2158946" cy="584185"/>
          </a:xfrm>
          <a:prstGeom prst="roundRect">
            <a:avLst>
              <a:gd name="adj" fmla="val 21739"/>
            </a:avLst>
          </a:prstGeom>
          <a:solidFill>
            <a:srgbClr val="FFFFFF"/>
          </a:solidFill>
          <a:ln/>
          <a:effectLst>
            <a:outerShdw sx="100000" sy="100000" kx="0" ky="0" algn="bl" rotWithShape="0" blurRad="203200" dist="76200" dir="5400000">
              <a:srgbClr val="1E468C">
                <a:alpha val="16000"/>
              </a:srgbClr>
            </a:outerShdw>
          </a:effectLst>
        </p:spPr>
      </p:sp>
      <p:sp>
        <p:nvSpPr>
          <p:cNvPr id="5" name="shape 8.4"/>
          <p:cNvSpPr/>
          <p:nvPr/>
        </p:nvSpPr>
        <p:spPr>
          <a:xfrm>
            <a:off x="609585" y="5562461"/>
            <a:ext cx="10972526" cy="736582"/>
          </a:xfrm>
          <a:prstGeom prst="roundRect">
            <a:avLst>
              <a:gd name="adj" fmla="val 24138"/>
            </a:avLst>
          </a:prstGeom>
          <a:solidFill>
            <a:srgbClr val="E2F4FD"/>
          </a:solidFill>
          <a:ln/>
          <a:effectLst>
            <a:outerShdw sx="100000" sy="100000" kx="0" ky="0" algn="bl" rotWithShape="0" blurRad="203200" dist="76200" dir="5400000">
              <a:srgbClr val="1E468C">
                <a:alpha val="16000"/>
              </a:srgbClr>
            </a:outerShdw>
          </a:effectLst>
        </p:spPr>
      </p:sp>
      <p:sp>
        <p:nvSpPr>
          <p:cNvPr id="6" name="shape 8.5"/>
          <p:cNvSpPr/>
          <p:nvPr/>
        </p:nvSpPr>
        <p:spPr>
          <a:xfrm>
            <a:off x="2089098" y="2247844"/>
            <a:ext cx="12700" cy="3149521"/>
          </a:xfrm>
          <a:prstGeom prst="roundRect">
            <a:avLst>
              <a:gd name="adj" fmla="val 49999"/>
            </a:avLst>
          </a:prstGeom>
          <a:solidFill>
            <a:srgbClr val="C7D4E8"/>
          </a:solidFill>
          <a:ln/>
        </p:spPr>
      </p:sp>
      <p:sp>
        <p:nvSpPr>
          <p:cNvPr id="7" name="shape 8.6"/>
          <p:cNvSpPr/>
          <p:nvPr/>
        </p:nvSpPr>
        <p:spPr>
          <a:xfrm>
            <a:off x="6089498" y="2247844"/>
            <a:ext cx="12700" cy="3149521"/>
          </a:xfrm>
          <a:prstGeom prst="roundRect">
            <a:avLst>
              <a:gd name="adj" fmla="val 49999"/>
            </a:avLst>
          </a:prstGeom>
          <a:solidFill>
            <a:srgbClr val="C7D4E8"/>
          </a:solidFill>
          <a:ln/>
        </p:spPr>
      </p:sp>
      <p:sp>
        <p:nvSpPr>
          <p:cNvPr id="8" name="shape 8.7"/>
          <p:cNvSpPr/>
          <p:nvPr/>
        </p:nvSpPr>
        <p:spPr>
          <a:xfrm>
            <a:off x="10089898" y="2247844"/>
            <a:ext cx="12700" cy="3149521"/>
          </a:xfrm>
          <a:prstGeom prst="roundRect">
            <a:avLst>
              <a:gd name="adj" fmla="val 49999"/>
            </a:avLst>
          </a:prstGeom>
          <a:solidFill>
            <a:srgbClr val="C7D4E8"/>
          </a:solidFill>
          <a:ln/>
        </p:spPr>
      </p:sp>
      <p:pic>
        <p:nvPicPr>
          <p:cNvPr id="9" name="raster 8.8" descr="diagram">    </p:cNvPr>
          <p:cNvPicPr>
            <a:picLocks noChangeAspect="1"/>
          </p:cNvPicPr>
          <p:nvPr/>
        </p:nvPicPr>
        <p:blipFill>
          <a:blip r:embed="rId2"/>
          <a:stretch>
            <a:fillRect/>
          </a:stretch>
        </p:blipFill>
        <p:spPr>
          <a:xfrm>
            <a:off x="2044649" y="2495488"/>
            <a:ext cx="4101997" cy="215895"/>
          </a:xfrm>
          <a:prstGeom prst="rect">
            <a:avLst/>
          </a:prstGeom>
        </p:spPr>
      </p:pic>
      <p:pic>
        <p:nvPicPr>
          <p:cNvPr id="10" name="raster 8.9" descr="diagram">    </p:cNvPr>
          <p:cNvPicPr>
            <a:picLocks noChangeAspect="1"/>
          </p:cNvPicPr>
          <p:nvPr/>
        </p:nvPicPr>
        <p:blipFill>
          <a:blip r:embed="rId3"/>
          <a:stretch>
            <a:fillRect/>
          </a:stretch>
        </p:blipFill>
        <p:spPr>
          <a:xfrm>
            <a:off x="2044649" y="4590935"/>
            <a:ext cx="4101997" cy="215895"/>
          </a:xfrm>
          <a:prstGeom prst="rect">
            <a:avLst/>
          </a:prstGeom>
        </p:spPr>
      </p:pic>
      <p:pic>
        <p:nvPicPr>
          <p:cNvPr id="11" name="raster 8.10" descr="diagram">    </p:cNvPr>
          <p:cNvPicPr>
            <a:picLocks noChangeAspect="1"/>
          </p:cNvPicPr>
          <p:nvPr/>
        </p:nvPicPr>
        <p:blipFill>
          <a:blip r:embed="rId4"/>
          <a:stretch>
            <a:fillRect/>
          </a:stretch>
        </p:blipFill>
        <p:spPr>
          <a:xfrm>
            <a:off x="6045049" y="4590935"/>
            <a:ext cx="4101997" cy="215895"/>
          </a:xfrm>
          <a:prstGeom prst="rect">
            <a:avLst/>
          </a:prstGeom>
        </p:spPr>
      </p:pic>
      <p:sp>
        <p:nvSpPr>
          <p:cNvPr id="12" name="text 8.1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One shot over the LAN,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step by step</a:t>
            </a:r>
            <a:endParaRPr lang="en-US" sz="2700" dirty="0"/>
          </a:p>
        </p:txBody>
      </p:sp>
      <p:pic>
        <p:nvPicPr>
          <p:cNvPr id="13" name="raster 8.12" descr="diagram">    </p:cNvPr>
          <p:cNvPicPr>
            <a:picLocks noChangeAspect="1"/>
          </p:cNvPicPr>
          <p:nvPr/>
        </p:nvPicPr>
        <p:blipFill>
          <a:blip r:embed="rId5"/>
          <a:stretch>
            <a:fillRect/>
          </a:stretch>
        </p:blipFill>
        <p:spPr>
          <a:xfrm>
            <a:off x="1142971" y="1777956"/>
            <a:ext cx="342891" cy="342891"/>
          </a:xfrm>
          <a:prstGeom prst="rect">
            <a:avLst/>
          </a:prstGeom>
        </p:spPr>
      </p:pic>
      <p:sp>
        <p:nvSpPr>
          <p:cNvPr id="14" name="text 8.13"/>
          <p:cNvSpPr txBox="1"/>
          <p:nvPr/>
        </p:nvSpPr>
        <p:spPr>
          <a:xfrm>
            <a:off x="1574761" y="1777956"/>
            <a:ext cx="1562061" cy="190495"/>
          </a:xfrm>
          <a:prstGeom prst="rect">
            <a:avLst/>
          </a:prstGeom>
          <a:noFill/>
          <a:ln/>
        </p:spPr>
        <p:txBody>
          <a:bodyPr wrap="square" lIns="0" tIns="0" rIns="0" bIns="0" rtlCol="0" anchor="t"/>
          <a:lstStyle/>
          <a:p>
            <a:pPr algn="l" indent="0" marL="0">
              <a:lnSpc>
                <a:spcPts val="1500"/>
              </a:lnSpc>
              <a:buNone/>
            </a:pPr>
            <a:r>
              <a:rPr lang="en-US" sz="1500" dirty="0">
                <a:solidFill>
                  <a:srgbClr val="FF6B1F"/>
                </a:solidFill>
                <a:latin typeface="Arial Rounded MT Bold" pitchFamily="34" charset="0"/>
                <a:ea typeface="Arial Rounded MT Bold" pitchFamily="34" charset="-122"/>
                <a:cs typeface="Arial Rounded MT Bold" pitchFamily="34" charset="-120"/>
              </a:rPr>
              <a:t>Client A</a:t>
            </a:r>
            <a:endParaRPr lang="en-US" sz="1500" dirty="0"/>
          </a:p>
        </p:txBody>
      </p:sp>
      <p:sp>
        <p:nvSpPr>
          <p:cNvPr id="15" name="text 8.14"/>
          <p:cNvSpPr txBox="1"/>
          <p:nvPr/>
        </p:nvSpPr>
        <p:spPr>
          <a:xfrm>
            <a:off x="1574761" y="2019250"/>
            <a:ext cx="1562061"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shooter</a:t>
            </a:r>
            <a:endParaRPr lang="en-US" sz="850" dirty="0"/>
          </a:p>
        </p:txBody>
      </p:sp>
      <p:sp>
        <p:nvSpPr>
          <p:cNvPr id="16" name="text 8.15"/>
          <p:cNvSpPr txBox="1"/>
          <p:nvPr/>
        </p:nvSpPr>
        <p:spPr>
          <a:xfrm>
            <a:off x="5016375" y="1777956"/>
            <a:ext cx="2158946" cy="190495"/>
          </a:xfrm>
          <a:prstGeom prst="rect">
            <a:avLst/>
          </a:prstGeom>
          <a:noFill/>
          <a:ln/>
        </p:spPr>
        <p:txBody>
          <a:bodyPr wrap="square" lIns="0" tIns="0" rIns="0" bIns="0" rtlCol="0" anchor="t"/>
          <a:lstStyle/>
          <a:p>
            <a:pPr algn="ctr" indent="0" marL="0">
              <a:lnSpc>
                <a:spcPts val="1500"/>
              </a:lnSpc>
              <a:buNone/>
            </a:pPr>
            <a:r>
              <a:rPr lang="en-US" sz="1500" dirty="0">
                <a:solidFill>
                  <a:srgbClr val="16233F"/>
                </a:solidFill>
                <a:latin typeface="Arial Rounded MT Bold" pitchFamily="34" charset="0"/>
                <a:ea typeface="Arial Rounded MT Bold" pitchFamily="34" charset="-122"/>
                <a:cs typeface="Arial Rounded MT Bold" pitchFamily="34" charset="-120"/>
              </a:rPr>
              <a:t>Host</a:t>
            </a:r>
            <a:endParaRPr lang="en-US" sz="1500" dirty="0"/>
          </a:p>
        </p:txBody>
      </p:sp>
      <p:sp>
        <p:nvSpPr>
          <p:cNvPr id="17" name="text 8.16"/>
          <p:cNvSpPr txBox="1"/>
          <p:nvPr/>
        </p:nvSpPr>
        <p:spPr>
          <a:xfrm>
            <a:off x="5016375" y="2019250"/>
            <a:ext cx="2158946" cy="151126"/>
          </a:xfrm>
          <a:prstGeom prst="rect">
            <a:avLst/>
          </a:prstGeom>
          <a:noFill/>
          <a:ln/>
        </p:spPr>
        <p:txBody>
          <a:bodyPr wrap="square" lIns="0" tIns="0" rIns="0" bIns="0" rtlCol="0" anchor="t"/>
          <a:lstStyle/>
          <a:p>
            <a:pPr algn="ctr" indent="0" marL="0">
              <a:lnSpc>
                <a:spcPts val="1190"/>
              </a:lnSpc>
              <a:buNone/>
            </a:pPr>
            <a:r>
              <a:rPr lang="en-US" sz="850" dirty="0">
                <a:solidFill>
                  <a:srgbClr val="6E7D9A"/>
                </a:solidFill>
                <a:latin typeface="Arial" pitchFamily="34" charset="0"/>
                <a:ea typeface="Arial" pitchFamily="34" charset="-122"/>
                <a:cs typeface="Arial" pitchFamily="34" charset="-120"/>
              </a:rPr>
              <a:t>authority: runs the physics</a:t>
            </a:r>
            <a:endParaRPr lang="en-US" sz="850" dirty="0"/>
          </a:p>
        </p:txBody>
      </p:sp>
      <p:pic>
        <p:nvPicPr>
          <p:cNvPr id="18" name="raster 8.17" descr="diagram">    </p:cNvPr>
          <p:cNvPicPr>
            <a:picLocks noChangeAspect="1"/>
          </p:cNvPicPr>
          <p:nvPr/>
        </p:nvPicPr>
        <p:blipFill>
          <a:blip r:embed="rId6"/>
          <a:stretch>
            <a:fillRect/>
          </a:stretch>
        </p:blipFill>
        <p:spPr>
          <a:xfrm>
            <a:off x="9143771" y="1777956"/>
            <a:ext cx="342891" cy="342891"/>
          </a:xfrm>
          <a:prstGeom prst="rect">
            <a:avLst/>
          </a:prstGeom>
        </p:spPr>
      </p:pic>
      <p:sp>
        <p:nvSpPr>
          <p:cNvPr id="19" name="text 8.18"/>
          <p:cNvSpPr txBox="1"/>
          <p:nvPr/>
        </p:nvSpPr>
        <p:spPr>
          <a:xfrm>
            <a:off x="9575561" y="1777956"/>
            <a:ext cx="1562061" cy="190495"/>
          </a:xfrm>
          <a:prstGeom prst="rect">
            <a:avLst/>
          </a:prstGeom>
          <a:noFill/>
          <a:ln/>
        </p:spPr>
        <p:txBody>
          <a:bodyPr wrap="square" lIns="0" tIns="0" rIns="0" bIns="0" rtlCol="0" anchor="t"/>
          <a:lstStyle/>
          <a:p>
            <a:pPr algn="l" indent="0" marL="0">
              <a:lnSpc>
                <a:spcPts val="1500"/>
              </a:lnSpc>
              <a:buNone/>
            </a:pPr>
            <a:r>
              <a:rPr lang="en-US" sz="1500" dirty="0">
                <a:solidFill>
                  <a:srgbClr val="1FA9EA"/>
                </a:solidFill>
                <a:latin typeface="Arial Rounded MT Bold" pitchFamily="34" charset="0"/>
                <a:ea typeface="Arial Rounded MT Bold" pitchFamily="34" charset="-122"/>
                <a:cs typeface="Arial Rounded MT Bold" pitchFamily="34" charset="-120"/>
              </a:rPr>
              <a:t>Client B</a:t>
            </a:r>
            <a:endParaRPr lang="en-US" sz="1500" dirty="0"/>
          </a:p>
        </p:txBody>
      </p:sp>
      <p:sp>
        <p:nvSpPr>
          <p:cNvPr id="20" name="text 8.19"/>
          <p:cNvSpPr txBox="1"/>
          <p:nvPr/>
        </p:nvSpPr>
        <p:spPr>
          <a:xfrm>
            <a:off x="9575561" y="2019250"/>
            <a:ext cx="1562061"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target</a:t>
            </a:r>
            <a:endParaRPr lang="en-US" sz="850" dirty="0"/>
          </a:p>
        </p:txBody>
      </p:sp>
      <p:sp>
        <p:nvSpPr>
          <p:cNvPr id="21" name="shape 8.20"/>
          <p:cNvSpPr/>
          <p:nvPr/>
        </p:nvSpPr>
        <p:spPr>
          <a:xfrm>
            <a:off x="2355791" y="2482788"/>
            <a:ext cx="241294" cy="241294"/>
          </a:xfrm>
          <a:prstGeom prst="roundRect">
            <a:avLst>
              <a:gd name="adj" fmla="val 50000"/>
            </a:avLst>
          </a:prstGeom>
          <a:solidFill>
            <a:srgbClr val="FF6B1F"/>
          </a:solidFill>
          <a:ln/>
          <a:effectLst>
            <a:outerShdw sx="100000" sy="100000" kx="0" ky="0" algn="bl" rotWithShape="0" blurRad="203200" dist="76200" dir="5400000">
              <a:srgbClr val="1E468C">
                <a:alpha val="16000"/>
              </a:srgbClr>
            </a:outerShdw>
          </a:effectLst>
        </p:spPr>
      </p:sp>
      <p:sp>
        <p:nvSpPr>
          <p:cNvPr id="22" name="text 8.21"/>
          <p:cNvSpPr txBox="1"/>
          <p:nvPr/>
        </p:nvSpPr>
        <p:spPr>
          <a:xfrm>
            <a:off x="2355791" y="2482788"/>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FFFFFF"/>
                </a:solidFill>
                <a:latin typeface="Arial Rounded MT Bold" pitchFamily="34" charset="0"/>
                <a:ea typeface="Arial Rounded MT Bold" pitchFamily="34" charset="-122"/>
                <a:cs typeface="Arial Rounded MT Bold" pitchFamily="34" charset="-120"/>
              </a:rPr>
              <a:t>1</a:t>
            </a:r>
            <a:endParaRPr lang="en-US" sz="950" dirty="0"/>
          </a:p>
        </p:txBody>
      </p:sp>
      <p:sp>
        <p:nvSpPr>
          <p:cNvPr id="23" name="text 8.22"/>
          <p:cNvSpPr txBox="1"/>
          <p:nvPr/>
        </p:nvSpPr>
        <p:spPr>
          <a:xfrm>
            <a:off x="2679633" y="2362141"/>
            <a:ext cx="1667960"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Fire input + aim direction</a:t>
            </a:r>
            <a:endParaRPr lang="en-US" sz="1000" dirty="0"/>
          </a:p>
        </p:txBody>
      </p:sp>
      <p:sp>
        <p:nvSpPr>
          <p:cNvPr id="24" name="shape 8.23"/>
          <p:cNvSpPr/>
          <p:nvPr/>
        </p:nvSpPr>
        <p:spPr>
          <a:xfrm>
            <a:off x="6025999" y="2793930"/>
            <a:ext cx="139697" cy="1587460"/>
          </a:xfrm>
          <a:prstGeom prst="roundRect">
            <a:avLst>
              <a:gd name="adj" fmla="val 50000"/>
            </a:avLst>
          </a:prstGeom>
          <a:solidFill>
            <a:srgbClr val="FF6B1F"/>
          </a:solidFill>
          <a:ln/>
        </p:spPr>
      </p:sp>
      <p:sp>
        <p:nvSpPr>
          <p:cNvPr id="25" name="shape 8.24"/>
          <p:cNvSpPr/>
          <p:nvPr/>
        </p:nvSpPr>
        <p:spPr>
          <a:xfrm>
            <a:off x="6305392" y="2876478"/>
            <a:ext cx="241294" cy="241294"/>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6" name="text 8.25"/>
          <p:cNvSpPr txBox="1"/>
          <p:nvPr/>
        </p:nvSpPr>
        <p:spPr>
          <a:xfrm>
            <a:off x="6305392" y="2876478"/>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2</a:t>
            </a:r>
            <a:endParaRPr lang="en-US" sz="950" dirty="0"/>
          </a:p>
        </p:txBody>
      </p:sp>
      <p:sp>
        <p:nvSpPr>
          <p:cNvPr id="27" name="text 8.26"/>
          <p:cNvSpPr txBox="1"/>
          <p:nvPr/>
        </p:nvSpPr>
        <p:spPr>
          <a:xfrm>
            <a:off x="6629234" y="2914577"/>
            <a:ext cx="3086023" cy="165096"/>
          </a:xfrm>
          <a:prstGeom prst="rect">
            <a:avLst/>
          </a:prstGeom>
          <a:noFill/>
          <a:ln/>
        </p:spPr>
        <p:txBody>
          <a:bodyPr wrap="square" lIns="0" tIns="0" rIns="0" bIns="0" rtlCol="0" anchor="t"/>
          <a:lstStyle/>
          <a:p>
            <a:pPr algn="l" indent="0" marL="0">
              <a:lnSpc>
                <a:spcPts val="1300"/>
              </a:lnSpc>
              <a:buNone/>
            </a:pPr>
            <a:r>
              <a:rPr lang="en-US" sz="1000" dirty="0">
                <a:solidFill>
                  <a:srgbClr val="16233F"/>
                </a:solidFill>
                <a:latin typeface="Arial" pitchFamily="34" charset="0"/>
                <a:ea typeface="Arial" pitchFamily="34" charset="-122"/>
                <a:cs typeface="Arial" pitchFamily="34" charset="-120"/>
              </a:rPr>
              <a:t>Check cooldown; shrink A; spawn the glob</a:t>
            </a:r>
            <a:endParaRPr lang="en-US" sz="1000" dirty="0"/>
          </a:p>
        </p:txBody>
      </p:sp>
      <p:sp>
        <p:nvSpPr>
          <p:cNvPr id="28" name="shape 8.27"/>
          <p:cNvSpPr/>
          <p:nvPr/>
        </p:nvSpPr>
        <p:spPr>
          <a:xfrm>
            <a:off x="6305392" y="3384465"/>
            <a:ext cx="241294" cy="241294"/>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9" name="text 8.28"/>
          <p:cNvSpPr txBox="1"/>
          <p:nvPr/>
        </p:nvSpPr>
        <p:spPr>
          <a:xfrm>
            <a:off x="6305392" y="3384465"/>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3</a:t>
            </a:r>
            <a:endParaRPr lang="en-US" sz="950" dirty="0"/>
          </a:p>
        </p:txBody>
      </p:sp>
      <p:sp>
        <p:nvSpPr>
          <p:cNvPr id="30" name="text 8.29"/>
          <p:cNvSpPr txBox="1"/>
          <p:nvPr/>
        </p:nvSpPr>
        <p:spPr>
          <a:xfrm>
            <a:off x="6629234" y="3422564"/>
            <a:ext cx="3086023" cy="165096"/>
          </a:xfrm>
          <a:prstGeom prst="rect">
            <a:avLst/>
          </a:prstGeom>
          <a:noFill/>
          <a:ln/>
        </p:spPr>
        <p:txBody>
          <a:bodyPr wrap="square" lIns="0" tIns="0" rIns="0" bIns="0" rtlCol="0" anchor="t"/>
          <a:lstStyle/>
          <a:p>
            <a:pPr algn="l" indent="0" marL="0">
              <a:lnSpc>
                <a:spcPts val="1300"/>
              </a:lnSpc>
              <a:buNone/>
            </a:pPr>
            <a:r>
              <a:rPr lang="en-US" sz="1000" dirty="0">
                <a:solidFill>
                  <a:srgbClr val="16233F"/>
                </a:solidFill>
                <a:latin typeface="Arial" pitchFamily="34" charset="0"/>
                <a:ea typeface="Arial" pitchFamily="34" charset="-122"/>
                <a:cs typeface="Arial" pitchFamily="34" charset="-120"/>
              </a:rPr>
              <a:t>Physics step: the glob reaches B</a:t>
            </a:r>
            <a:endParaRPr lang="en-US" sz="1000" dirty="0"/>
          </a:p>
        </p:txBody>
      </p:sp>
      <p:sp>
        <p:nvSpPr>
          <p:cNvPr id="31" name="shape 8.30"/>
          <p:cNvSpPr/>
          <p:nvPr/>
        </p:nvSpPr>
        <p:spPr>
          <a:xfrm>
            <a:off x="6305392" y="3892453"/>
            <a:ext cx="241294" cy="241294"/>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32" name="text 8.31"/>
          <p:cNvSpPr txBox="1"/>
          <p:nvPr/>
        </p:nvSpPr>
        <p:spPr>
          <a:xfrm>
            <a:off x="6305392" y="3892453"/>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4</a:t>
            </a:r>
            <a:endParaRPr lang="en-US" sz="950" dirty="0"/>
          </a:p>
        </p:txBody>
      </p:sp>
      <p:sp>
        <p:nvSpPr>
          <p:cNvPr id="33" name="text 8.32"/>
          <p:cNvSpPr txBox="1"/>
          <p:nvPr/>
        </p:nvSpPr>
        <p:spPr>
          <a:xfrm>
            <a:off x="6629234" y="3930552"/>
            <a:ext cx="3086023" cy="165096"/>
          </a:xfrm>
          <a:prstGeom prst="rect">
            <a:avLst/>
          </a:prstGeom>
          <a:noFill/>
          <a:ln/>
        </p:spPr>
        <p:txBody>
          <a:bodyPr wrap="square" lIns="0" tIns="0" rIns="0" bIns="0" rtlCol="0" anchor="t"/>
          <a:lstStyle/>
          <a:p>
            <a:pPr algn="l" indent="0" marL="0">
              <a:lnSpc>
                <a:spcPts val="1300"/>
              </a:lnSpc>
              <a:buNone/>
            </a:pPr>
            <a:r>
              <a:rPr lang="en-US" sz="1000" dirty="0">
                <a:solidFill>
                  <a:srgbClr val="16233F"/>
                </a:solidFill>
                <a:latin typeface="Arial" pitchFamily="34" charset="0"/>
                <a:ea typeface="Arial" pitchFamily="34" charset="-122"/>
                <a:cs typeface="Arial" pitchFamily="34" charset="-120"/>
              </a:rPr>
              <a:t>B loses mass; push scaled by B’s new mass</a:t>
            </a:r>
            <a:endParaRPr lang="en-US" sz="1000" dirty="0"/>
          </a:p>
        </p:txBody>
      </p:sp>
      <p:sp>
        <p:nvSpPr>
          <p:cNvPr id="34" name="shape 8.33"/>
          <p:cNvSpPr/>
          <p:nvPr/>
        </p:nvSpPr>
        <p:spPr>
          <a:xfrm>
            <a:off x="5581510" y="4578236"/>
            <a:ext cx="241294" cy="241294"/>
          </a:xfrm>
          <a:prstGeom prst="roundRect">
            <a:avLst>
              <a:gd name="adj" fmla="val 50000"/>
            </a:avLst>
          </a:prstGeom>
          <a:solidFill>
            <a:srgbClr val="1FA9EA"/>
          </a:solidFill>
          <a:ln/>
          <a:effectLst>
            <a:outerShdw sx="100000" sy="100000" kx="0" ky="0" algn="bl" rotWithShape="0" blurRad="203200" dist="76200" dir="5400000">
              <a:srgbClr val="1E468C">
                <a:alpha val="16000"/>
              </a:srgbClr>
            </a:outerShdw>
          </a:effectLst>
        </p:spPr>
      </p:sp>
      <p:sp>
        <p:nvSpPr>
          <p:cNvPr id="35" name="text 8.34"/>
          <p:cNvSpPr txBox="1"/>
          <p:nvPr/>
        </p:nvSpPr>
        <p:spPr>
          <a:xfrm>
            <a:off x="5581510" y="4578236"/>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FFFFFF"/>
                </a:solidFill>
                <a:latin typeface="Arial Rounded MT Bold" pitchFamily="34" charset="0"/>
                <a:ea typeface="Arial Rounded MT Bold" pitchFamily="34" charset="-122"/>
                <a:cs typeface="Arial Rounded MT Bold" pitchFamily="34" charset="-120"/>
              </a:rPr>
              <a:t>5</a:t>
            </a:r>
            <a:endParaRPr lang="en-US" sz="950" dirty="0"/>
          </a:p>
        </p:txBody>
      </p:sp>
      <p:sp>
        <p:nvSpPr>
          <p:cNvPr id="36" name="shape 8.35"/>
          <p:cNvSpPr/>
          <p:nvPr/>
        </p:nvSpPr>
        <p:spPr>
          <a:xfrm>
            <a:off x="6368891" y="4578236"/>
            <a:ext cx="241294" cy="241294"/>
          </a:xfrm>
          <a:prstGeom prst="roundRect">
            <a:avLst>
              <a:gd name="adj" fmla="val 50000"/>
            </a:avLst>
          </a:prstGeom>
          <a:solidFill>
            <a:srgbClr val="1FA9EA"/>
          </a:solidFill>
          <a:ln/>
          <a:effectLst>
            <a:outerShdw sx="100000" sy="100000" kx="0" ky="0" algn="bl" rotWithShape="0" blurRad="203200" dist="76200" dir="5400000">
              <a:srgbClr val="1E468C">
                <a:alpha val="16000"/>
              </a:srgbClr>
            </a:outerShdw>
          </a:effectLst>
        </p:spPr>
      </p:sp>
      <p:sp>
        <p:nvSpPr>
          <p:cNvPr id="37" name="text 8.36"/>
          <p:cNvSpPr txBox="1"/>
          <p:nvPr/>
        </p:nvSpPr>
        <p:spPr>
          <a:xfrm>
            <a:off x="6368891" y="4578236"/>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FFFFFF"/>
                </a:solidFill>
                <a:latin typeface="Arial Rounded MT Bold" pitchFamily="34" charset="0"/>
                <a:ea typeface="Arial Rounded MT Bold" pitchFamily="34" charset="-122"/>
                <a:cs typeface="Arial Rounded MT Bold" pitchFamily="34" charset="-120"/>
              </a:rPr>
              <a:t>5</a:t>
            </a:r>
            <a:endParaRPr lang="en-US" sz="950" dirty="0"/>
          </a:p>
        </p:txBody>
      </p:sp>
      <p:sp>
        <p:nvSpPr>
          <p:cNvPr id="38" name="text 8.37"/>
          <p:cNvSpPr txBox="1"/>
          <p:nvPr/>
        </p:nvSpPr>
        <p:spPr>
          <a:xfrm>
            <a:off x="2349441" y="4457589"/>
            <a:ext cx="3340016"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Snapshot: positions, sizes, scores</a:t>
            </a:r>
            <a:endParaRPr lang="en-US" sz="1000" dirty="0"/>
          </a:p>
        </p:txBody>
      </p:sp>
      <p:sp>
        <p:nvSpPr>
          <p:cNvPr id="39" name="text 8.38"/>
          <p:cNvSpPr txBox="1"/>
          <p:nvPr/>
        </p:nvSpPr>
        <p:spPr>
          <a:xfrm>
            <a:off x="6743531" y="4457589"/>
            <a:ext cx="3340016"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Same snapshot to every client</a:t>
            </a:r>
            <a:endParaRPr lang="en-US" sz="1000" dirty="0"/>
          </a:p>
        </p:txBody>
      </p:sp>
      <p:sp>
        <p:nvSpPr>
          <p:cNvPr id="40" name="shape 8.39"/>
          <p:cNvSpPr/>
          <p:nvPr/>
        </p:nvSpPr>
        <p:spPr>
          <a:xfrm>
            <a:off x="1974801" y="5035424"/>
            <a:ext cx="241294" cy="241294"/>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1" name="text 8.40"/>
          <p:cNvSpPr txBox="1"/>
          <p:nvPr/>
        </p:nvSpPr>
        <p:spPr>
          <a:xfrm>
            <a:off x="1974801" y="5035424"/>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6</a:t>
            </a:r>
            <a:endParaRPr lang="en-US" sz="950" dirty="0"/>
          </a:p>
        </p:txBody>
      </p:sp>
      <p:sp>
        <p:nvSpPr>
          <p:cNvPr id="42" name="shape 8.41"/>
          <p:cNvSpPr/>
          <p:nvPr/>
        </p:nvSpPr>
        <p:spPr>
          <a:xfrm>
            <a:off x="9975601" y="5035424"/>
            <a:ext cx="241294" cy="241294"/>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3" name="text 8.42"/>
          <p:cNvSpPr txBox="1"/>
          <p:nvPr/>
        </p:nvSpPr>
        <p:spPr>
          <a:xfrm>
            <a:off x="9975601" y="5035424"/>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6</a:t>
            </a:r>
            <a:endParaRPr lang="en-US" sz="950" dirty="0"/>
          </a:p>
        </p:txBody>
      </p:sp>
      <p:sp>
        <p:nvSpPr>
          <p:cNvPr id="44" name="text 8.43"/>
          <p:cNvSpPr txBox="1"/>
          <p:nvPr/>
        </p:nvSpPr>
        <p:spPr>
          <a:xfrm>
            <a:off x="2324042" y="5073523"/>
            <a:ext cx="3594010" cy="165096"/>
          </a:xfrm>
          <a:prstGeom prst="rect">
            <a:avLst/>
          </a:prstGeom>
          <a:noFill/>
          <a:ln/>
        </p:spPr>
        <p:txBody>
          <a:bodyPr wrap="square" lIns="0" tIns="0" rIns="0" bIns="0" rtlCol="0" anchor="t"/>
          <a:lstStyle/>
          <a:p>
            <a:pPr algn="l" indent="0" marL="0">
              <a:lnSpc>
                <a:spcPts val="1300"/>
              </a:lnSpc>
              <a:buNone/>
            </a:pPr>
            <a:r>
              <a:rPr lang="en-US" sz="1000" dirty="0">
                <a:solidFill>
                  <a:srgbClr val="3B4A66"/>
                </a:solidFill>
                <a:latin typeface="Arial" pitchFamily="34" charset="0"/>
                <a:ea typeface="Arial" pitchFamily="34" charset="-122"/>
                <a:cs typeface="Arial" pitchFamily="34" charset="-120"/>
              </a:rPr>
              <a:t>Clients interpolate between snapshots and draw.</a:t>
            </a:r>
            <a:endParaRPr lang="en-US" sz="1000" dirty="0"/>
          </a:p>
        </p:txBody>
      </p:sp>
      <p:sp>
        <p:nvSpPr>
          <p:cNvPr id="45" name="text 8.44"/>
          <p:cNvSpPr txBox="1"/>
          <p:nvPr/>
        </p:nvSpPr>
        <p:spPr>
          <a:xfrm>
            <a:off x="863578" y="5727557"/>
            <a:ext cx="10515337" cy="386547"/>
          </a:xfrm>
          <a:prstGeom prst="rect">
            <a:avLst/>
          </a:prstGeom>
          <a:noFill/>
          <a:ln/>
        </p:spPr>
        <p:txBody>
          <a:bodyPr wrap="square" lIns="0" tIns="0" rIns="0" bIns="0" rtlCol="0" anchor="t"/>
          <a:lstStyle/>
          <a:p>
            <a:pPr algn="l" indent="0" marL="0">
              <a:lnSpc>
                <a:spcPts val="1520"/>
              </a:lnSpc>
              <a:buNone/>
            </a:pPr>
            <a:r>
              <a:rPr lang="en-US" sz="1050" b="1" dirty="0">
                <a:solidFill>
                  <a:srgbClr val="16233F"/>
                </a:solidFill>
                <a:latin typeface="Arial" pitchFamily="34" charset="0"/>
                <a:ea typeface="Arial" pitchFamily="34" charset="-122"/>
                <a:cs typeface="Arial" pitchFamily="34" charset="-120"/>
              </a:rPr>
              <a:t>Your own movement is predicted locally, so it feels instant.</a:t>
            </a:r>
            <a:pPr algn="l" indent="0" marL="0">
              <a:lnSpc>
                <a:spcPts val="1520"/>
              </a:lnSpc>
              <a:buNone/>
            </a:pPr>
            <a:r>
              <a:rPr lang="en-US" sz="1050" dirty="0">
                <a:solidFill>
                  <a:srgbClr val="3B4A66"/>
                </a:solidFill>
                <a:latin typeface="Arial" pitchFamily="34" charset="0"/>
                <a:ea typeface="Arial" pitchFamily="34" charset="-122"/>
                <a:cs typeface="Arial" pitchFamily="34" charset="-120"/>
              </a:rPr>
              <a:t> Hits, mass changes and knockouts are decided only on the host. </a:t>
            </a:r>
            <a:pPr algn="l" indent="0" marL="0">
              <a:lnSpc>
                <a:spcPts val="1520"/>
              </a:lnSpc>
              <a:buNone/>
            </a:pPr>
            <a:r>
              <a:rPr lang="en-US" sz="1050" b="1" dirty="0">
                <a:solidFill>
                  <a:srgbClr val="FF6B1F"/>
                </a:solidFill>
                <a:latin typeface="Arial" pitchFamily="34" charset="0"/>
                <a:ea typeface="Arial" pitchFamily="34" charset="-122"/>
                <a:cs typeface="Arial" pitchFamily="34" charset="-120"/>
              </a:rPr>
              <a:t>Main risk:</a:t>
            </a:r>
            <a:pPr algn="l" indent="0" marL="0">
              <a:lnSpc>
                <a:spcPts val="1520"/>
              </a:lnSpc>
              <a:buNone/>
            </a:pPr>
            <a:r>
              <a:rPr lang="en-US" sz="1050" dirty="0">
                <a:solidFill>
                  <a:srgbClr val="3B4A66"/>
                </a:solidFill>
                <a:latin typeface="Arial" pitchFamily="34" charset="0"/>
                <a:ea typeface="Arial" pitchFamily="34" charset="-122"/>
                <a:cs typeface="Arial" pitchFamily="34" charset="-120"/>
              </a:rPr>
              <a:t> keeping physics smooth on clients. LAN latency is low, and we tune the snapshot rate.</a:t>
            </a:r>
            <a:endParaRPr lang="en-US" sz="1050" dirty="0"/>
          </a:p>
        </p:txBody>
      </p:sp>
      <p:sp>
        <p:nvSpPr>
          <p:cNvPr id="46" name="shape 8.45"/>
          <p:cNvSpPr/>
          <p:nvPr/>
        </p:nvSpPr>
        <p:spPr>
          <a:xfrm>
            <a:off x="609585" y="266693"/>
            <a:ext cx="1765256"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7" name="shape 8.46"/>
          <p:cNvSpPr/>
          <p:nvPr/>
        </p:nvSpPr>
        <p:spPr>
          <a:xfrm>
            <a:off x="711182" y="355591"/>
            <a:ext cx="114297" cy="114297"/>
          </a:xfrm>
          <a:prstGeom prst="roundRect">
            <a:avLst>
              <a:gd name="adj" fmla="val 33333"/>
            </a:avLst>
          </a:prstGeom>
          <a:solidFill>
            <a:srgbClr val="FF6B1F"/>
          </a:solidFill>
          <a:ln/>
        </p:spPr>
      </p:sp>
      <p:sp>
        <p:nvSpPr>
          <p:cNvPr id="48" name="shape 8.47"/>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9" name="shape 8.48"/>
          <p:cNvSpPr/>
          <p:nvPr/>
        </p:nvSpPr>
        <p:spPr>
          <a:xfrm>
            <a:off x="10058149" y="368291"/>
            <a:ext cx="101597" cy="101597"/>
          </a:xfrm>
          <a:prstGeom prst="roundRect">
            <a:avLst>
              <a:gd name="adj" fmla="val 31250"/>
            </a:avLst>
          </a:prstGeom>
          <a:solidFill>
            <a:srgbClr val="16233F"/>
          </a:solidFill>
          <a:ln/>
        </p:spPr>
      </p:sp>
      <p:sp>
        <p:nvSpPr>
          <p:cNvPr id="50" name="shape 8.49"/>
          <p:cNvSpPr/>
          <p:nvPr/>
        </p:nvSpPr>
        <p:spPr>
          <a:xfrm>
            <a:off x="10223244" y="368291"/>
            <a:ext cx="101597" cy="101597"/>
          </a:xfrm>
          <a:prstGeom prst="roundRect">
            <a:avLst>
              <a:gd name="adj" fmla="val 31250"/>
            </a:avLst>
          </a:prstGeom>
          <a:solidFill>
            <a:srgbClr val="FF6B1F"/>
          </a:solidFill>
          <a:ln/>
        </p:spPr>
      </p:sp>
      <p:sp>
        <p:nvSpPr>
          <p:cNvPr id="51" name="shape 8.50"/>
          <p:cNvSpPr/>
          <p:nvPr/>
        </p:nvSpPr>
        <p:spPr>
          <a:xfrm>
            <a:off x="10388340" y="368291"/>
            <a:ext cx="101597" cy="101597"/>
          </a:xfrm>
          <a:prstGeom prst="roundRect">
            <a:avLst>
              <a:gd name="adj" fmla="val 31250"/>
            </a:avLst>
          </a:prstGeom>
          <a:solidFill>
            <a:srgbClr val="C7D4E8"/>
          </a:solidFill>
          <a:ln/>
        </p:spPr>
      </p:sp>
      <p:sp>
        <p:nvSpPr>
          <p:cNvPr id="52" name="shape 8.51"/>
          <p:cNvSpPr/>
          <p:nvPr/>
        </p:nvSpPr>
        <p:spPr>
          <a:xfrm>
            <a:off x="10553436" y="368291"/>
            <a:ext cx="101597" cy="101597"/>
          </a:xfrm>
          <a:prstGeom prst="roundRect">
            <a:avLst>
              <a:gd name="adj" fmla="val 31250"/>
            </a:avLst>
          </a:prstGeom>
          <a:solidFill>
            <a:srgbClr val="C7D4E8"/>
          </a:solidFill>
          <a:ln/>
        </p:spPr>
      </p:sp>
      <p:sp>
        <p:nvSpPr>
          <p:cNvPr id="53" name="shape 8.52"/>
          <p:cNvSpPr/>
          <p:nvPr/>
        </p:nvSpPr>
        <p:spPr>
          <a:xfrm>
            <a:off x="10718532" y="368291"/>
            <a:ext cx="101597" cy="101597"/>
          </a:xfrm>
          <a:prstGeom prst="roundRect">
            <a:avLst>
              <a:gd name="adj" fmla="val 31250"/>
            </a:avLst>
          </a:prstGeom>
          <a:solidFill>
            <a:srgbClr val="C7D4E8"/>
          </a:solidFill>
          <a:ln/>
        </p:spPr>
      </p:sp>
      <p:sp>
        <p:nvSpPr>
          <p:cNvPr id="54" name="shape 8.53"/>
          <p:cNvSpPr/>
          <p:nvPr/>
        </p:nvSpPr>
        <p:spPr>
          <a:xfrm>
            <a:off x="10883628" y="368291"/>
            <a:ext cx="101597" cy="101597"/>
          </a:xfrm>
          <a:prstGeom prst="roundRect">
            <a:avLst>
              <a:gd name="adj" fmla="val 31250"/>
            </a:avLst>
          </a:prstGeom>
          <a:solidFill>
            <a:srgbClr val="C7D4E8"/>
          </a:solidFill>
          <a:ln/>
        </p:spPr>
      </p:sp>
      <p:sp>
        <p:nvSpPr>
          <p:cNvPr id="55" name="text 8.54"/>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08</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56" name="text 8.55"/>
          <p:cNvSpPr txBox="1"/>
          <p:nvPr/>
        </p:nvSpPr>
        <p:spPr>
          <a:xfrm>
            <a:off x="927077" y="349241"/>
            <a:ext cx="1337519"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02 · Gameplay &amp; tech</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9.1"/>
          <p:cNvSpPr/>
          <p:nvPr/>
        </p:nvSpPr>
        <p:spPr>
          <a:xfrm>
            <a:off x="609585" y="1714457"/>
            <a:ext cx="2971726" cy="1625559"/>
          </a:xfrm>
          <a:prstGeom prst="roundRect">
            <a:avLst>
              <a:gd name="adj" fmla="val 10938"/>
            </a:avLst>
          </a:prstGeom>
          <a:solidFill>
            <a:srgbClr val="FFFFFF"/>
          </a:solidFill>
          <a:ln/>
          <a:effectLst>
            <a:outerShdw sx="100000" sy="100000" kx="0" ky="0" algn="bl" rotWithShape="0" blurRad="203200" dist="76200" dir="5400000">
              <a:srgbClr val="1E468C">
                <a:alpha val="16000"/>
              </a:srgbClr>
            </a:outerShdw>
          </a:effectLst>
        </p:spPr>
      </p:sp>
      <p:sp>
        <p:nvSpPr>
          <p:cNvPr id="3" name="shape 9.2"/>
          <p:cNvSpPr/>
          <p:nvPr/>
        </p:nvSpPr>
        <p:spPr>
          <a:xfrm>
            <a:off x="3733707" y="1714457"/>
            <a:ext cx="2971726" cy="1625559"/>
          </a:xfrm>
          <a:prstGeom prst="roundRect">
            <a:avLst>
              <a:gd name="adj" fmla="val 10938"/>
            </a:avLst>
          </a:prstGeom>
          <a:solidFill>
            <a:srgbClr val="FFFFFF"/>
          </a:solidFill>
          <a:ln/>
          <a:effectLst>
            <a:outerShdw sx="100000" sy="100000" kx="0" ky="0" algn="bl" rotWithShape="0" blurRad="203200" dist="76200" dir="5400000">
              <a:srgbClr val="1E468C">
                <a:alpha val="16000"/>
              </a:srgbClr>
            </a:outerShdw>
          </a:effectLst>
        </p:spPr>
      </p:sp>
      <p:sp>
        <p:nvSpPr>
          <p:cNvPr id="4" name="shape 9.3"/>
          <p:cNvSpPr/>
          <p:nvPr/>
        </p:nvSpPr>
        <p:spPr>
          <a:xfrm>
            <a:off x="609585" y="3492413"/>
            <a:ext cx="2971726" cy="1625559"/>
          </a:xfrm>
          <a:prstGeom prst="roundRect">
            <a:avLst>
              <a:gd name="adj" fmla="val 10938"/>
            </a:avLst>
          </a:prstGeom>
          <a:solidFill>
            <a:srgbClr val="FFFFFF"/>
          </a:solidFill>
          <a:ln/>
          <a:effectLst>
            <a:outerShdw sx="100000" sy="100000" kx="0" ky="0" algn="bl" rotWithShape="0" blurRad="203200" dist="76200" dir="5400000">
              <a:srgbClr val="1E468C">
                <a:alpha val="16000"/>
              </a:srgbClr>
            </a:outerShdw>
          </a:effectLst>
        </p:spPr>
      </p:sp>
      <p:sp>
        <p:nvSpPr>
          <p:cNvPr id="5" name="shape 9.4"/>
          <p:cNvSpPr/>
          <p:nvPr/>
        </p:nvSpPr>
        <p:spPr>
          <a:xfrm>
            <a:off x="3733707" y="3492413"/>
            <a:ext cx="2971726" cy="1625559"/>
          </a:xfrm>
          <a:prstGeom prst="roundRect">
            <a:avLst>
              <a:gd name="adj" fmla="val 10938"/>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sp>
        <p:nvSpPr>
          <p:cNvPr id="6" name="shape 9.5"/>
          <p:cNvSpPr/>
          <p:nvPr/>
        </p:nvSpPr>
        <p:spPr>
          <a:xfrm>
            <a:off x="6730832" y="1714457"/>
            <a:ext cx="4851279" cy="3428914"/>
          </a:xfrm>
          <a:prstGeom prst="roundRect">
            <a:avLst>
              <a:gd name="adj" fmla="val 5185"/>
            </a:avLst>
          </a:prstGeom>
          <a:solidFill>
            <a:srgbClr val="FFFFFF"/>
          </a:solidFill>
          <a:ln/>
          <a:effectLst>
            <a:outerShdw sx="100000" sy="100000" kx="0" ky="0" algn="bl" rotWithShape="0" blurRad="203200" dist="76200" dir="5400000">
              <a:srgbClr val="1E468C">
                <a:alpha val="16000"/>
              </a:srgbClr>
            </a:outerShdw>
          </a:effectLst>
        </p:spPr>
      </p:sp>
      <p:sp>
        <p:nvSpPr>
          <p:cNvPr id="7" name="shape 9.6"/>
          <p:cNvSpPr/>
          <p:nvPr/>
        </p:nvSpPr>
        <p:spPr>
          <a:xfrm>
            <a:off x="609585" y="5371966"/>
            <a:ext cx="10972526" cy="850879"/>
          </a:xfrm>
          <a:prstGeom prst="roundRect">
            <a:avLst>
              <a:gd name="adj" fmla="val 20896"/>
            </a:avLst>
          </a:prstGeom>
          <a:solidFill>
            <a:srgbClr val="FFF6D9"/>
          </a:solidFill>
          <a:ln/>
          <a:effectLst>
            <a:outerShdw sx="100000" sy="100000" kx="0" ky="0" algn="bl" rotWithShape="0" blurRad="203200" dist="76200" dir="5400000">
              <a:srgbClr val="1E468C">
                <a:alpha val="16000"/>
              </a:srgbClr>
            </a:outerShdw>
          </a:effectLst>
        </p:spPr>
      </p:sp>
      <p:sp>
        <p:nvSpPr>
          <p:cNvPr id="8" name="text 9.7"/>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Social PC play is growing; </a:t>
            </a:r>
            <a:pPr algn="l" indent="0" marL="0">
              <a:lnSpc>
                <a:spcPts val="3020"/>
              </a:lnSpc>
              <a:buNone/>
            </a:pPr>
            <a:r>
              <a:rPr lang="en-US" sz="2700" spc="-27" kern="0" dirty="0">
                <a:solidFill>
                  <a:srgbClr val="8F55F5"/>
                </a:solidFill>
                <a:latin typeface="Arial Rounded MT Bold" pitchFamily="34" charset="0"/>
                <a:ea typeface="Arial Rounded MT Bold" pitchFamily="34" charset="-122"/>
                <a:cs typeface="Arial Rounded MT Bold" pitchFamily="34" charset="-120"/>
              </a:rPr>
              <a:t>LAN party games are rare</a:t>
            </a:r>
            <a:endParaRPr lang="en-US" sz="2700" dirty="0"/>
          </a:p>
        </p:txBody>
      </p:sp>
      <p:sp>
        <p:nvSpPr>
          <p:cNvPr id="9" name="text 9.8"/>
          <p:cNvSpPr txBox="1"/>
          <p:nvPr/>
        </p:nvSpPr>
        <p:spPr>
          <a:xfrm>
            <a:off x="812780" y="1930352"/>
            <a:ext cx="1991040" cy="533387"/>
          </a:xfrm>
          <a:prstGeom prst="rect">
            <a:avLst/>
          </a:prstGeom>
          <a:noFill/>
          <a:ln/>
        </p:spPr>
        <p:txBody>
          <a:bodyPr wrap="square" lIns="0" tIns="0" rIns="0" bIns="0" rtlCol="0" anchor="t"/>
          <a:lstStyle/>
          <a:p>
            <a:pPr algn="l" indent="0" marL="0">
              <a:lnSpc>
                <a:spcPts val="4200"/>
              </a:lnSpc>
              <a:buNone/>
            </a:pPr>
            <a:r>
              <a:rPr lang="en-US" sz="4200" dirty="0">
                <a:solidFill>
                  <a:srgbClr val="1FA9EA"/>
                </a:solidFill>
                <a:latin typeface="Arial Rounded MT Bold" pitchFamily="34" charset="0"/>
                <a:ea typeface="Arial Rounded MT Bold" pitchFamily="34" charset="-122"/>
                <a:cs typeface="Arial Rounded MT Bold" pitchFamily="34" charset="-120"/>
              </a:rPr>
              <a:t>$43.6B</a:t>
            </a:r>
            <a:endParaRPr lang="en-US" sz="4200" dirty="0"/>
          </a:p>
        </p:txBody>
      </p:sp>
      <p:sp>
        <p:nvSpPr>
          <p:cNvPr id="10" name="text 9.9"/>
          <p:cNvSpPr txBox="1"/>
          <p:nvPr/>
        </p:nvSpPr>
        <p:spPr>
          <a:xfrm>
            <a:off x="812780" y="2578036"/>
            <a:ext cx="2603435" cy="350432"/>
          </a:xfrm>
          <a:prstGeom prst="rect">
            <a:avLst/>
          </a:prstGeom>
          <a:noFill/>
          <a:ln/>
        </p:spPr>
        <p:txBody>
          <a:bodyPr wrap="square" lIns="0" tIns="0" rIns="0" bIns="0" rtlCol="0" anchor="t"/>
          <a:lstStyle/>
          <a:p>
            <a:pPr algn="l" indent="0" marL="0">
              <a:lnSpc>
                <a:spcPts val="1380"/>
              </a:lnSpc>
              <a:buNone/>
            </a:pPr>
            <a:r>
              <a:rPr lang="en-US" sz="1000" dirty="0">
                <a:solidFill>
                  <a:srgbClr val="3B4A66"/>
                </a:solidFill>
                <a:latin typeface="Arial" pitchFamily="34" charset="0"/>
                <a:ea typeface="Arial" pitchFamily="34" charset="-122"/>
                <a:cs typeface="Arial" pitchFamily="34" charset="-120"/>
              </a:rPr>
              <a:t>PC games revenue in 2025, up 12% year on year.</a:t>
            </a:r>
            <a:endParaRPr lang="en-US" sz="1000" dirty="0"/>
          </a:p>
        </p:txBody>
      </p:sp>
      <p:sp>
        <p:nvSpPr>
          <p:cNvPr id="11" name="text 9.10"/>
          <p:cNvSpPr txBox="1"/>
          <p:nvPr/>
        </p:nvSpPr>
        <p:spPr>
          <a:xfrm>
            <a:off x="812780" y="3047924"/>
            <a:ext cx="635935"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Newzoo [1]</a:t>
            </a:r>
            <a:endParaRPr lang="en-US" sz="850" dirty="0"/>
          </a:p>
        </p:txBody>
      </p:sp>
      <p:sp>
        <p:nvSpPr>
          <p:cNvPr id="12" name="text 9.11"/>
          <p:cNvSpPr txBox="1"/>
          <p:nvPr/>
        </p:nvSpPr>
        <p:spPr>
          <a:xfrm>
            <a:off x="3936902" y="1930352"/>
            <a:ext cx="1655130" cy="533387"/>
          </a:xfrm>
          <a:prstGeom prst="rect">
            <a:avLst/>
          </a:prstGeom>
          <a:noFill/>
          <a:ln/>
        </p:spPr>
        <p:txBody>
          <a:bodyPr wrap="square" lIns="0" tIns="0" rIns="0" bIns="0" rtlCol="0" anchor="t"/>
          <a:lstStyle/>
          <a:p>
            <a:pPr algn="l" indent="0" marL="0">
              <a:lnSpc>
                <a:spcPts val="4200"/>
              </a:lnSpc>
              <a:buNone/>
            </a:pPr>
            <a:r>
              <a:rPr lang="en-US" sz="4200" dirty="0">
                <a:solidFill>
                  <a:srgbClr val="43B832"/>
                </a:solidFill>
                <a:latin typeface="Arial Rounded MT Bold" pitchFamily="34" charset="0"/>
                <a:ea typeface="Arial Rounded MT Bold" pitchFamily="34" charset="-122"/>
                <a:cs typeface="Arial Rounded MT Bold" pitchFamily="34" charset="-120"/>
              </a:rPr>
              <a:t>$4.1B</a:t>
            </a:r>
            <a:endParaRPr lang="en-US" sz="4200" dirty="0"/>
          </a:p>
        </p:txBody>
      </p:sp>
      <p:sp>
        <p:nvSpPr>
          <p:cNvPr id="13" name="text 9.12"/>
          <p:cNvSpPr txBox="1"/>
          <p:nvPr/>
        </p:nvSpPr>
        <p:spPr>
          <a:xfrm>
            <a:off x="3936902" y="2578036"/>
            <a:ext cx="2603435" cy="350432"/>
          </a:xfrm>
          <a:prstGeom prst="rect">
            <a:avLst/>
          </a:prstGeom>
          <a:noFill/>
          <a:ln/>
        </p:spPr>
        <p:txBody>
          <a:bodyPr wrap="square" lIns="0" tIns="0" rIns="0" bIns="0" rtlCol="0" anchor="t"/>
          <a:lstStyle/>
          <a:p>
            <a:pPr algn="l" indent="0" marL="0">
              <a:lnSpc>
                <a:spcPts val="1380"/>
              </a:lnSpc>
              <a:buNone/>
            </a:pPr>
            <a:r>
              <a:rPr lang="en-US" sz="1000" dirty="0">
                <a:solidFill>
                  <a:srgbClr val="3B4A66"/>
                </a:solidFill>
                <a:latin typeface="Arial" pitchFamily="34" charset="0"/>
                <a:ea typeface="Arial" pitchFamily="34" charset="-122"/>
                <a:cs typeface="Arial" pitchFamily="34" charset="-120"/>
              </a:rPr>
              <a:t>Steam revenue of games with co-op in H1 2025, an all-time high (estimate).</a:t>
            </a:r>
            <a:endParaRPr lang="en-US" sz="1000" dirty="0"/>
          </a:p>
        </p:txBody>
      </p:sp>
      <p:sp>
        <p:nvSpPr>
          <p:cNvPr id="14" name="text 9.13"/>
          <p:cNvSpPr txBox="1"/>
          <p:nvPr/>
        </p:nvSpPr>
        <p:spPr>
          <a:xfrm>
            <a:off x="3936902" y="3047924"/>
            <a:ext cx="540651"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Alinea [2]</a:t>
            </a:r>
            <a:endParaRPr lang="en-US" sz="850" dirty="0"/>
          </a:p>
        </p:txBody>
      </p:sp>
      <p:sp>
        <p:nvSpPr>
          <p:cNvPr id="15" name="text 9.14"/>
          <p:cNvSpPr txBox="1"/>
          <p:nvPr/>
        </p:nvSpPr>
        <p:spPr>
          <a:xfrm>
            <a:off x="812780" y="3708307"/>
            <a:ext cx="1218362" cy="533387"/>
          </a:xfrm>
          <a:prstGeom prst="rect">
            <a:avLst/>
          </a:prstGeom>
          <a:noFill/>
          <a:ln/>
        </p:spPr>
        <p:txBody>
          <a:bodyPr wrap="square" lIns="0" tIns="0" rIns="0" bIns="0" rtlCol="0" anchor="t"/>
          <a:lstStyle/>
          <a:p>
            <a:pPr algn="l" indent="0" marL="0">
              <a:lnSpc>
                <a:spcPts val="4200"/>
              </a:lnSpc>
              <a:buNone/>
            </a:pPr>
            <a:r>
              <a:rPr lang="en-US" sz="4200" dirty="0">
                <a:solidFill>
                  <a:srgbClr val="8F55F5"/>
                </a:solidFill>
                <a:latin typeface="Arial Rounded MT Bold" pitchFamily="34" charset="0"/>
                <a:ea typeface="Arial Rounded MT Bold" pitchFamily="34" charset="-122"/>
                <a:cs typeface="Arial Rounded MT Bold" pitchFamily="34" charset="-120"/>
              </a:rPr>
              <a:t>70%</a:t>
            </a:r>
            <a:endParaRPr lang="en-US" sz="4200" dirty="0"/>
          </a:p>
        </p:txBody>
      </p:sp>
      <p:sp>
        <p:nvSpPr>
          <p:cNvPr id="16" name="text 9.15"/>
          <p:cNvSpPr txBox="1"/>
          <p:nvPr/>
        </p:nvSpPr>
        <p:spPr>
          <a:xfrm>
            <a:off x="812780" y="4355991"/>
            <a:ext cx="2603435" cy="350432"/>
          </a:xfrm>
          <a:prstGeom prst="rect">
            <a:avLst/>
          </a:prstGeom>
          <a:noFill/>
          <a:ln/>
        </p:spPr>
        <p:txBody>
          <a:bodyPr wrap="square" lIns="0" tIns="0" rIns="0" bIns="0" rtlCol="0" anchor="t"/>
          <a:lstStyle/>
          <a:p>
            <a:pPr algn="l" indent="0" marL="0">
              <a:lnSpc>
                <a:spcPts val="1380"/>
              </a:lnSpc>
              <a:buNone/>
            </a:pPr>
            <a:r>
              <a:rPr lang="en-US" sz="1000" dirty="0">
                <a:solidFill>
                  <a:srgbClr val="3B4A66"/>
                </a:solidFill>
                <a:latin typeface="Arial" pitchFamily="34" charset="0"/>
                <a:ea typeface="Arial" pitchFamily="34" charset="-122"/>
                <a:cs typeface="Arial" pitchFamily="34" charset="-120"/>
              </a:rPr>
              <a:t>of US players aged 8+ play with other people.</a:t>
            </a:r>
            <a:endParaRPr lang="en-US" sz="1000" dirty="0"/>
          </a:p>
        </p:txBody>
      </p:sp>
      <p:sp>
        <p:nvSpPr>
          <p:cNvPr id="17" name="text 9.16"/>
          <p:cNvSpPr txBox="1"/>
          <p:nvPr/>
        </p:nvSpPr>
        <p:spPr>
          <a:xfrm>
            <a:off x="812780" y="4825879"/>
            <a:ext cx="731533"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ESA 2026 [3]</a:t>
            </a:r>
            <a:endParaRPr lang="en-US" sz="850" dirty="0"/>
          </a:p>
        </p:txBody>
      </p:sp>
      <p:sp>
        <p:nvSpPr>
          <p:cNvPr id="18" name="text 9.17"/>
          <p:cNvSpPr txBox="1"/>
          <p:nvPr/>
        </p:nvSpPr>
        <p:spPr>
          <a:xfrm>
            <a:off x="3936902" y="3708307"/>
            <a:ext cx="1192701" cy="533387"/>
          </a:xfrm>
          <a:prstGeom prst="rect">
            <a:avLst/>
          </a:prstGeom>
          <a:noFill/>
          <a:ln/>
        </p:spPr>
        <p:txBody>
          <a:bodyPr wrap="square" lIns="0" tIns="0" rIns="0" bIns="0" rtlCol="0" anchor="t"/>
          <a:lstStyle/>
          <a:p>
            <a:pPr algn="l" indent="0" marL="0">
              <a:lnSpc>
                <a:spcPts val="4200"/>
              </a:lnSpc>
              <a:buNone/>
            </a:pPr>
            <a:r>
              <a:rPr lang="en-US" sz="4200" dirty="0">
                <a:solidFill>
                  <a:srgbClr val="FF6B1F"/>
                </a:solidFill>
                <a:latin typeface="Arial Rounded MT Bold" pitchFamily="34" charset="0"/>
                <a:ea typeface="Arial Rounded MT Bold" pitchFamily="34" charset="-122"/>
                <a:cs typeface="Arial Rounded MT Bold" pitchFamily="34" charset="-120"/>
              </a:rPr>
              <a:t>≈8%</a:t>
            </a:r>
            <a:endParaRPr lang="en-US" sz="4200" dirty="0"/>
          </a:p>
        </p:txBody>
      </p:sp>
      <p:sp>
        <p:nvSpPr>
          <p:cNvPr id="19" name="text 9.18"/>
          <p:cNvSpPr txBox="1"/>
          <p:nvPr/>
        </p:nvSpPr>
        <p:spPr>
          <a:xfrm>
            <a:off x="3936902" y="4355991"/>
            <a:ext cx="2603435" cy="350432"/>
          </a:xfrm>
          <a:prstGeom prst="rect">
            <a:avLst/>
          </a:prstGeom>
          <a:noFill/>
          <a:ln/>
        </p:spPr>
        <p:txBody>
          <a:bodyPr wrap="square" lIns="0" tIns="0" rIns="0" bIns="0" rtlCol="0" anchor="t"/>
          <a:lstStyle/>
          <a:p>
            <a:pPr algn="l" indent="0" marL="0">
              <a:lnSpc>
                <a:spcPts val="1380"/>
              </a:lnSpc>
              <a:buNone/>
            </a:pPr>
            <a:r>
              <a:rPr lang="en-US" sz="1000" dirty="0">
                <a:solidFill>
                  <a:srgbClr val="3B4A66"/>
                </a:solidFill>
                <a:latin typeface="Arial" pitchFamily="34" charset="0"/>
                <a:ea typeface="Arial" pitchFamily="34" charset="-122"/>
                <a:cs typeface="Arial" pitchFamily="34" charset="-120"/>
              </a:rPr>
              <a:t>of ~3,490 Steam “Party Game” titles list LAN PvP.</a:t>
            </a:r>
            <a:endParaRPr lang="en-US" sz="1000" dirty="0"/>
          </a:p>
        </p:txBody>
      </p:sp>
      <p:sp>
        <p:nvSpPr>
          <p:cNvPr id="20" name="text 9.19"/>
          <p:cNvSpPr txBox="1"/>
          <p:nvPr/>
        </p:nvSpPr>
        <p:spPr>
          <a:xfrm>
            <a:off x="3936902" y="4825879"/>
            <a:ext cx="1081221"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Steam, Oct 2026 [4]</a:t>
            </a:r>
            <a:endParaRPr lang="en-US" sz="850" dirty="0"/>
          </a:p>
        </p:txBody>
      </p:sp>
      <p:sp>
        <p:nvSpPr>
          <p:cNvPr id="21" name="text 9.20"/>
          <p:cNvSpPr txBox="1"/>
          <p:nvPr/>
        </p:nvSpPr>
        <p:spPr>
          <a:xfrm>
            <a:off x="6984825" y="1930352"/>
            <a:ext cx="3672591"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6233F"/>
                </a:solidFill>
                <a:latin typeface="Arial" pitchFamily="34" charset="0"/>
                <a:ea typeface="Arial" pitchFamily="34" charset="-122"/>
                <a:cs typeface="Arial" pitchFamily="34" charset="-120"/>
              </a:rPr>
              <a:t>STEAM “PARTY GAME” TITLES BY MULTIPLAYER TAG</a:t>
            </a:r>
            <a:endParaRPr lang="en-US" sz="850" dirty="0"/>
          </a:p>
        </p:txBody>
      </p:sp>
      <p:sp>
        <p:nvSpPr>
          <p:cNvPr id="22" name="text 9.21"/>
          <p:cNvSpPr txBox="1"/>
          <p:nvPr/>
        </p:nvSpPr>
        <p:spPr>
          <a:xfrm>
            <a:off x="6984825" y="2476438"/>
            <a:ext cx="79621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ONLINE PVP</a:t>
            </a:r>
            <a:endParaRPr lang="en-US" sz="750" dirty="0"/>
          </a:p>
        </p:txBody>
      </p:sp>
      <p:sp>
        <p:nvSpPr>
          <p:cNvPr id="23" name="shape 9.22"/>
          <p:cNvSpPr/>
          <p:nvPr/>
        </p:nvSpPr>
        <p:spPr>
          <a:xfrm>
            <a:off x="6984825" y="2666933"/>
            <a:ext cx="3530512" cy="215895"/>
          </a:xfrm>
          <a:prstGeom prst="roundRect">
            <a:avLst>
              <a:gd name="adj" fmla="val 50000"/>
            </a:avLst>
          </a:prstGeom>
          <a:solidFill>
            <a:srgbClr val="E4EDF9"/>
          </a:solidFill>
          <a:ln/>
        </p:spPr>
      </p:sp>
      <p:sp>
        <p:nvSpPr>
          <p:cNvPr id="24" name="shape 9.23"/>
          <p:cNvSpPr/>
          <p:nvPr/>
        </p:nvSpPr>
        <p:spPr>
          <a:xfrm>
            <a:off x="6984825" y="2666933"/>
            <a:ext cx="3530512" cy="215895"/>
          </a:xfrm>
          <a:prstGeom prst="roundRect">
            <a:avLst>
              <a:gd name="adj" fmla="val 50000"/>
            </a:avLst>
          </a:prstGeom>
          <a:solidFill>
            <a:srgbClr val="1FA9EA"/>
          </a:solidFill>
          <a:ln/>
        </p:spPr>
      </p:sp>
      <p:sp>
        <p:nvSpPr>
          <p:cNvPr id="25" name="text 9.24"/>
          <p:cNvSpPr txBox="1"/>
          <p:nvPr/>
        </p:nvSpPr>
        <p:spPr>
          <a:xfrm>
            <a:off x="10566136" y="2654234"/>
            <a:ext cx="761981" cy="228594"/>
          </a:xfrm>
          <a:prstGeom prst="rect">
            <a:avLst/>
          </a:prstGeom>
          <a:noFill/>
          <a:ln/>
        </p:spPr>
        <p:txBody>
          <a:bodyPr wrap="square" lIns="0" tIns="0" rIns="0" bIns="0" rtlCol="0" anchor="t"/>
          <a:lstStyle/>
          <a:p>
            <a:pPr algn="r" indent="0" marL="0">
              <a:lnSpc>
                <a:spcPts val="1800"/>
              </a:lnSpc>
              <a:buNone/>
            </a:pPr>
            <a:r>
              <a:rPr lang="en-US" sz="1800" dirty="0">
                <a:solidFill>
                  <a:srgbClr val="1FA9EA"/>
                </a:solidFill>
                <a:latin typeface="Arial Rounded MT Bold" pitchFamily="34" charset="0"/>
                <a:ea typeface="Arial Rounded MT Bold" pitchFamily="34" charset="-122"/>
                <a:cs typeface="Arial Rounded MT Bold" pitchFamily="34" charset="-120"/>
              </a:rPr>
              <a:t>1,870</a:t>
            </a:r>
            <a:endParaRPr lang="en-US" sz="1800" dirty="0"/>
          </a:p>
        </p:txBody>
      </p:sp>
      <p:sp>
        <p:nvSpPr>
          <p:cNvPr id="26" name="text 9.25"/>
          <p:cNvSpPr txBox="1"/>
          <p:nvPr/>
        </p:nvSpPr>
        <p:spPr>
          <a:xfrm>
            <a:off x="6984825" y="3251119"/>
            <a:ext cx="184191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SHARED / SPLIT-SCREEN PVP</a:t>
            </a:r>
            <a:endParaRPr lang="en-US" sz="750" dirty="0"/>
          </a:p>
        </p:txBody>
      </p:sp>
      <p:sp>
        <p:nvSpPr>
          <p:cNvPr id="27" name="shape 9.26"/>
          <p:cNvSpPr/>
          <p:nvPr/>
        </p:nvSpPr>
        <p:spPr>
          <a:xfrm>
            <a:off x="6984825" y="3441614"/>
            <a:ext cx="3530512" cy="215895"/>
          </a:xfrm>
          <a:prstGeom prst="roundRect">
            <a:avLst>
              <a:gd name="adj" fmla="val 50000"/>
            </a:avLst>
          </a:prstGeom>
          <a:solidFill>
            <a:srgbClr val="E4EDF9"/>
          </a:solidFill>
          <a:ln/>
        </p:spPr>
      </p:sp>
      <p:sp>
        <p:nvSpPr>
          <p:cNvPr id="28" name="shape 9.27"/>
          <p:cNvSpPr/>
          <p:nvPr/>
        </p:nvSpPr>
        <p:spPr>
          <a:xfrm>
            <a:off x="6984825" y="3441614"/>
            <a:ext cx="1917652" cy="215895"/>
          </a:xfrm>
          <a:prstGeom prst="roundRect">
            <a:avLst>
              <a:gd name="adj" fmla="val 50000"/>
            </a:avLst>
          </a:prstGeom>
          <a:solidFill>
            <a:srgbClr val="8F55F5"/>
          </a:solidFill>
          <a:ln/>
        </p:spPr>
      </p:sp>
      <p:sp>
        <p:nvSpPr>
          <p:cNvPr id="29" name="text 9.28"/>
          <p:cNvSpPr txBox="1"/>
          <p:nvPr/>
        </p:nvSpPr>
        <p:spPr>
          <a:xfrm>
            <a:off x="10566136" y="3428914"/>
            <a:ext cx="761981" cy="228594"/>
          </a:xfrm>
          <a:prstGeom prst="rect">
            <a:avLst/>
          </a:prstGeom>
          <a:noFill/>
          <a:ln/>
        </p:spPr>
        <p:txBody>
          <a:bodyPr wrap="square" lIns="0" tIns="0" rIns="0" bIns="0" rtlCol="0" anchor="t"/>
          <a:lstStyle/>
          <a:p>
            <a:pPr algn="r" indent="0" marL="0">
              <a:lnSpc>
                <a:spcPts val="1800"/>
              </a:lnSpc>
              <a:buNone/>
            </a:pPr>
            <a:r>
              <a:rPr lang="en-US" sz="1800" dirty="0">
                <a:solidFill>
                  <a:srgbClr val="8F55F5"/>
                </a:solidFill>
                <a:latin typeface="Arial Rounded MT Bold" pitchFamily="34" charset="0"/>
                <a:ea typeface="Arial Rounded MT Bold" pitchFamily="34" charset="-122"/>
                <a:cs typeface="Arial Rounded MT Bold" pitchFamily="34" charset="-120"/>
              </a:rPr>
              <a:t>1,017</a:t>
            </a:r>
            <a:endParaRPr lang="en-US" sz="1800" dirty="0"/>
          </a:p>
        </p:txBody>
      </p:sp>
      <p:sp>
        <p:nvSpPr>
          <p:cNvPr id="30" name="text 9.29"/>
          <p:cNvSpPr txBox="1"/>
          <p:nvPr/>
        </p:nvSpPr>
        <p:spPr>
          <a:xfrm>
            <a:off x="6984825" y="4025799"/>
            <a:ext cx="585979"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LAN PVP</a:t>
            </a:r>
            <a:endParaRPr lang="en-US" sz="750" dirty="0"/>
          </a:p>
        </p:txBody>
      </p:sp>
      <p:sp>
        <p:nvSpPr>
          <p:cNvPr id="31" name="shape 9.30"/>
          <p:cNvSpPr/>
          <p:nvPr/>
        </p:nvSpPr>
        <p:spPr>
          <a:xfrm>
            <a:off x="6984825" y="4216295"/>
            <a:ext cx="3530512" cy="215895"/>
          </a:xfrm>
          <a:prstGeom prst="roundRect">
            <a:avLst>
              <a:gd name="adj" fmla="val 50000"/>
            </a:avLst>
          </a:prstGeom>
          <a:solidFill>
            <a:srgbClr val="E4EDF9"/>
          </a:solidFill>
          <a:ln/>
        </p:spPr>
      </p:sp>
      <p:sp>
        <p:nvSpPr>
          <p:cNvPr id="32" name="shape 9.31"/>
          <p:cNvSpPr/>
          <p:nvPr/>
        </p:nvSpPr>
        <p:spPr>
          <a:xfrm>
            <a:off x="6984825" y="4216295"/>
            <a:ext cx="552436" cy="215895"/>
          </a:xfrm>
          <a:prstGeom prst="roundRect">
            <a:avLst>
              <a:gd name="adj" fmla="val 50000"/>
            </a:avLst>
          </a:prstGeom>
          <a:solidFill>
            <a:srgbClr val="FF6B1F"/>
          </a:solidFill>
          <a:ln/>
        </p:spPr>
      </p:sp>
      <p:sp>
        <p:nvSpPr>
          <p:cNvPr id="33" name="text 9.32"/>
          <p:cNvSpPr txBox="1"/>
          <p:nvPr/>
        </p:nvSpPr>
        <p:spPr>
          <a:xfrm>
            <a:off x="10566136" y="4203595"/>
            <a:ext cx="761981" cy="228594"/>
          </a:xfrm>
          <a:prstGeom prst="rect">
            <a:avLst/>
          </a:prstGeom>
          <a:noFill/>
          <a:ln/>
        </p:spPr>
        <p:txBody>
          <a:bodyPr wrap="square" lIns="0" tIns="0" rIns="0" bIns="0" rtlCol="0" anchor="t"/>
          <a:lstStyle/>
          <a:p>
            <a:pPr algn="r" indent="0" marL="0">
              <a:lnSpc>
                <a:spcPts val="1800"/>
              </a:lnSpc>
              <a:buNone/>
            </a:pPr>
            <a:r>
              <a:rPr lang="en-US" sz="1800" dirty="0">
                <a:solidFill>
                  <a:srgbClr val="FF6B1F"/>
                </a:solidFill>
                <a:latin typeface="Arial Rounded MT Bold" pitchFamily="34" charset="0"/>
                <a:ea typeface="Arial Rounded MT Bold" pitchFamily="34" charset="-122"/>
                <a:cs typeface="Arial Rounded MT Bold" pitchFamily="34" charset="-120"/>
              </a:rPr>
              <a:t>292</a:t>
            </a:r>
            <a:endParaRPr lang="en-US" sz="1800" dirty="0"/>
          </a:p>
        </p:txBody>
      </p:sp>
      <p:sp>
        <p:nvSpPr>
          <p:cNvPr id="34" name="text 9.33"/>
          <p:cNvSpPr txBox="1"/>
          <p:nvPr/>
        </p:nvSpPr>
        <p:spPr>
          <a:xfrm>
            <a:off x="6984825" y="4838579"/>
            <a:ext cx="293630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Steam store search, Oct 2026 [4]. Tags are user-applied.</a:t>
            </a:r>
            <a:endParaRPr lang="en-US" sz="850" dirty="0"/>
          </a:p>
        </p:txBody>
      </p:sp>
      <p:sp>
        <p:nvSpPr>
          <p:cNvPr id="35" name="text 9.34"/>
          <p:cNvSpPr txBox="1"/>
          <p:nvPr/>
        </p:nvSpPr>
        <p:spPr>
          <a:xfrm>
            <a:off x="863578" y="5549761"/>
            <a:ext cx="1626629"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B07D00"/>
                </a:solidFill>
                <a:latin typeface="Arial" pitchFamily="34" charset="0"/>
                <a:ea typeface="Arial" pitchFamily="34" charset="-122"/>
                <a:cs typeface="Arial" pitchFamily="34" charset="-120"/>
              </a:rPr>
              <a:t>RISK, STATED PLAINLY</a:t>
            </a:r>
            <a:endParaRPr lang="en-US" sz="850" dirty="0"/>
          </a:p>
        </p:txBody>
      </p:sp>
      <p:sp>
        <p:nvSpPr>
          <p:cNvPr id="36" name="text 9.35"/>
          <p:cNvSpPr txBox="1"/>
          <p:nvPr/>
        </p:nvSpPr>
        <p:spPr>
          <a:xfrm>
            <a:off x="863578" y="5752956"/>
            <a:ext cx="10515337" cy="193353"/>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An estimated 65.9% of 2025 Steam releases earned under $1,000 [5], while 5,863 games passed $100K in 2025 (Valve) [6]. </a:t>
            </a:r>
            <a:pPr algn="l" indent="0" marL="0">
              <a:lnSpc>
                <a:spcPts val="1520"/>
              </a:lnSpc>
              <a:buNone/>
            </a:pPr>
            <a:r>
              <a:rPr lang="en-US" sz="1050" b="1" dirty="0">
                <a:solidFill>
                  <a:srgbClr val="16233F"/>
                </a:solidFill>
                <a:latin typeface="Arial" pitchFamily="34" charset="0"/>
                <a:ea typeface="Arial" pitchFamily="34" charset="-122"/>
                <a:cs typeface="Arial" pitchFamily="34" charset="-120"/>
              </a:rPr>
              <a:t>LAN is our differentiator, not a demand driver.</a:t>
            </a:r>
            <a:endParaRPr lang="en-US" sz="1050" dirty="0"/>
          </a:p>
        </p:txBody>
      </p:sp>
      <p:sp>
        <p:nvSpPr>
          <p:cNvPr id="37" name="shape 9.36"/>
          <p:cNvSpPr/>
          <p:nvPr/>
        </p:nvSpPr>
        <p:spPr>
          <a:xfrm>
            <a:off x="609585" y="266693"/>
            <a:ext cx="1182261"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38" name="shape 9.37"/>
          <p:cNvSpPr/>
          <p:nvPr/>
        </p:nvSpPr>
        <p:spPr>
          <a:xfrm>
            <a:off x="711182" y="355591"/>
            <a:ext cx="114297" cy="114297"/>
          </a:xfrm>
          <a:prstGeom prst="roundRect">
            <a:avLst>
              <a:gd name="adj" fmla="val 33333"/>
            </a:avLst>
          </a:prstGeom>
          <a:solidFill>
            <a:srgbClr val="8F55F5"/>
          </a:solidFill>
          <a:ln/>
        </p:spPr>
      </p:sp>
      <p:sp>
        <p:nvSpPr>
          <p:cNvPr id="39" name="shape 9.38"/>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0" name="shape 9.39"/>
          <p:cNvSpPr/>
          <p:nvPr/>
        </p:nvSpPr>
        <p:spPr>
          <a:xfrm>
            <a:off x="10058149" y="368291"/>
            <a:ext cx="101597" cy="101597"/>
          </a:xfrm>
          <a:prstGeom prst="roundRect">
            <a:avLst>
              <a:gd name="adj" fmla="val 31250"/>
            </a:avLst>
          </a:prstGeom>
          <a:solidFill>
            <a:srgbClr val="16233F"/>
          </a:solidFill>
          <a:ln/>
        </p:spPr>
      </p:sp>
      <p:sp>
        <p:nvSpPr>
          <p:cNvPr id="41" name="shape 9.40"/>
          <p:cNvSpPr/>
          <p:nvPr/>
        </p:nvSpPr>
        <p:spPr>
          <a:xfrm>
            <a:off x="10223244" y="368291"/>
            <a:ext cx="101597" cy="101597"/>
          </a:xfrm>
          <a:prstGeom prst="roundRect">
            <a:avLst>
              <a:gd name="adj" fmla="val 31250"/>
            </a:avLst>
          </a:prstGeom>
          <a:solidFill>
            <a:srgbClr val="16233F"/>
          </a:solidFill>
          <a:ln/>
        </p:spPr>
      </p:sp>
      <p:sp>
        <p:nvSpPr>
          <p:cNvPr id="42" name="shape 9.41"/>
          <p:cNvSpPr/>
          <p:nvPr/>
        </p:nvSpPr>
        <p:spPr>
          <a:xfrm>
            <a:off x="10388340" y="368291"/>
            <a:ext cx="101597" cy="101597"/>
          </a:xfrm>
          <a:prstGeom prst="roundRect">
            <a:avLst>
              <a:gd name="adj" fmla="val 31250"/>
            </a:avLst>
          </a:prstGeom>
          <a:solidFill>
            <a:srgbClr val="8F55F5"/>
          </a:solidFill>
          <a:ln/>
        </p:spPr>
      </p:sp>
      <p:sp>
        <p:nvSpPr>
          <p:cNvPr id="43" name="shape 9.42"/>
          <p:cNvSpPr/>
          <p:nvPr/>
        </p:nvSpPr>
        <p:spPr>
          <a:xfrm>
            <a:off x="10553436" y="368291"/>
            <a:ext cx="101597" cy="101597"/>
          </a:xfrm>
          <a:prstGeom prst="roundRect">
            <a:avLst>
              <a:gd name="adj" fmla="val 31250"/>
            </a:avLst>
          </a:prstGeom>
          <a:solidFill>
            <a:srgbClr val="C7D4E8"/>
          </a:solidFill>
          <a:ln/>
        </p:spPr>
      </p:sp>
      <p:sp>
        <p:nvSpPr>
          <p:cNvPr id="44" name="shape 9.43"/>
          <p:cNvSpPr/>
          <p:nvPr/>
        </p:nvSpPr>
        <p:spPr>
          <a:xfrm>
            <a:off x="10718532" y="368291"/>
            <a:ext cx="101597" cy="101597"/>
          </a:xfrm>
          <a:prstGeom prst="roundRect">
            <a:avLst>
              <a:gd name="adj" fmla="val 31250"/>
            </a:avLst>
          </a:prstGeom>
          <a:solidFill>
            <a:srgbClr val="C7D4E8"/>
          </a:solidFill>
          <a:ln/>
        </p:spPr>
      </p:sp>
      <p:sp>
        <p:nvSpPr>
          <p:cNvPr id="45" name="shape 9.44"/>
          <p:cNvSpPr/>
          <p:nvPr/>
        </p:nvSpPr>
        <p:spPr>
          <a:xfrm>
            <a:off x="10883628" y="368291"/>
            <a:ext cx="101597" cy="101597"/>
          </a:xfrm>
          <a:prstGeom prst="roundRect">
            <a:avLst>
              <a:gd name="adj" fmla="val 31250"/>
            </a:avLst>
          </a:prstGeom>
          <a:solidFill>
            <a:srgbClr val="C7D4E8"/>
          </a:solidFill>
          <a:ln/>
        </p:spPr>
      </p:sp>
      <p:sp>
        <p:nvSpPr>
          <p:cNvPr id="46" name="text 9.45"/>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09</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47" name="text 9.46"/>
          <p:cNvSpPr txBox="1"/>
          <p:nvPr/>
        </p:nvSpPr>
        <p:spPr>
          <a:xfrm>
            <a:off x="927077" y="349241"/>
            <a:ext cx="723225"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03 · Market</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0.1"/>
          <p:cNvSpPr/>
          <p:nvPr/>
        </p:nvSpPr>
        <p:spPr>
          <a:xfrm>
            <a:off x="609585" y="1638259"/>
            <a:ext cx="2095448" cy="4660783"/>
          </a:xfrm>
          <a:prstGeom prst="roundRect">
            <a:avLst>
              <a:gd name="adj" fmla="val 8485"/>
            </a:avLst>
          </a:prstGeom>
          <a:solidFill>
            <a:srgbClr val="FFFFFF"/>
          </a:solidFill>
          <a:ln/>
          <a:effectLst>
            <a:outerShdw sx="100000" sy="100000" kx="0" ky="0" algn="bl" rotWithShape="0" blurRad="203200" dist="76200" dir="5400000">
              <a:srgbClr val="1E468C">
                <a:alpha val="16000"/>
              </a:srgbClr>
            </a:outerShdw>
          </a:effectLst>
        </p:spPr>
      </p:sp>
      <p:sp>
        <p:nvSpPr>
          <p:cNvPr id="3" name="shape 10.2"/>
          <p:cNvSpPr/>
          <p:nvPr/>
        </p:nvSpPr>
        <p:spPr>
          <a:xfrm>
            <a:off x="2832029" y="1638259"/>
            <a:ext cx="2095448" cy="4660783"/>
          </a:xfrm>
          <a:prstGeom prst="roundRect">
            <a:avLst>
              <a:gd name="adj" fmla="val 8485"/>
            </a:avLst>
          </a:prstGeom>
          <a:solidFill>
            <a:srgbClr val="FFFFFF"/>
          </a:solidFill>
          <a:ln/>
          <a:effectLst>
            <a:outerShdw sx="100000" sy="100000" kx="0" ky="0" algn="bl" rotWithShape="0" blurRad="203200" dist="76200" dir="5400000">
              <a:srgbClr val="1E468C">
                <a:alpha val="16000"/>
              </a:srgbClr>
            </a:outerShdw>
          </a:effectLst>
        </p:spPr>
      </p:sp>
      <p:sp>
        <p:nvSpPr>
          <p:cNvPr id="4" name="shape 10.3"/>
          <p:cNvSpPr/>
          <p:nvPr/>
        </p:nvSpPr>
        <p:spPr>
          <a:xfrm>
            <a:off x="5054474" y="1638259"/>
            <a:ext cx="2095448" cy="4660783"/>
          </a:xfrm>
          <a:prstGeom prst="roundRect">
            <a:avLst>
              <a:gd name="adj" fmla="val 8485"/>
            </a:avLst>
          </a:prstGeom>
          <a:solidFill>
            <a:srgbClr val="FFFFFF"/>
          </a:solidFill>
          <a:ln/>
          <a:effectLst>
            <a:outerShdw sx="100000" sy="100000" kx="0" ky="0" algn="bl" rotWithShape="0" blurRad="203200" dist="76200" dir="5400000">
              <a:srgbClr val="1E468C">
                <a:alpha val="16000"/>
              </a:srgbClr>
            </a:outerShdw>
          </a:effectLst>
        </p:spPr>
      </p:sp>
      <p:sp>
        <p:nvSpPr>
          <p:cNvPr id="5" name="shape 10.4"/>
          <p:cNvSpPr/>
          <p:nvPr/>
        </p:nvSpPr>
        <p:spPr>
          <a:xfrm>
            <a:off x="7276918" y="1638259"/>
            <a:ext cx="2095448" cy="4660783"/>
          </a:xfrm>
          <a:prstGeom prst="roundRect">
            <a:avLst>
              <a:gd name="adj" fmla="val 8485"/>
            </a:avLst>
          </a:prstGeom>
          <a:solidFill>
            <a:srgbClr val="FFFFFF"/>
          </a:solidFill>
          <a:ln/>
          <a:effectLst>
            <a:outerShdw sx="100000" sy="100000" kx="0" ky="0" algn="bl" rotWithShape="0" blurRad="203200" dist="76200" dir="5400000">
              <a:srgbClr val="1E468C">
                <a:alpha val="16000"/>
              </a:srgbClr>
            </a:outerShdw>
          </a:effectLst>
        </p:spPr>
      </p:sp>
      <p:sp>
        <p:nvSpPr>
          <p:cNvPr id="6" name="shape 10.5"/>
          <p:cNvSpPr/>
          <p:nvPr/>
        </p:nvSpPr>
        <p:spPr>
          <a:xfrm>
            <a:off x="9499363" y="1638259"/>
            <a:ext cx="2095448" cy="4660783"/>
          </a:xfrm>
          <a:prstGeom prst="roundRect">
            <a:avLst>
              <a:gd name="adj" fmla="val 8485"/>
            </a:avLst>
          </a:prstGeom>
          <a:solidFill>
            <a:srgbClr val="FFFFFF"/>
          </a:solidFill>
          <a:ln/>
          <a:effectLst>
            <a:outerShdw sx="100000" sy="100000" kx="0" ky="0" algn="bl" rotWithShape="0" blurRad="203200" dist="76200" dir="5400000">
              <a:srgbClr val="1E468C">
                <a:alpha val="16000"/>
              </a:srgbClr>
            </a:outerShdw>
          </a:effectLst>
        </p:spPr>
      </p:sp>
      <p:pic>
        <p:nvPicPr>
          <p:cNvPr id="7" name="img 10.6 adj11364" descr="1260320_3.jpg">    </p:cNvPr>
          <p:cNvPicPr>
            <a:picLocks noChangeAspect="1"/>
          </p:cNvPicPr>
          <p:nvPr/>
        </p:nvPicPr>
        <p:blipFill>
          <a:blip r:embed="rId2"/>
          <a:stretch>
            <a:fillRect/>
          </a:stretch>
        </p:blipFill>
        <p:spPr>
          <a:xfrm>
            <a:off x="673083" y="1701757"/>
            <a:ext cx="1968451" cy="1117572"/>
          </a:xfrm>
          <a:prstGeom prst="roundRect">
            <a:avLst>
              <a:gd name="adj" fmla="val 11364"/>
            </a:avLst>
          </a:prstGeom>
        </p:spPr>
      </p:pic>
      <p:pic>
        <p:nvPicPr>
          <p:cNvPr id="8" name="img 10.7 adj11364" descr="285900_1.jpg">    </p:cNvPr>
          <p:cNvPicPr>
            <a:picLocks noChangeAspect="1"/>
          </p:cNvPicPr>
          <p:nvPr/>
        </p:nvPicPr>
        <p:blipFill>
          <a:blip r:embed="rId3"/>
          <a:stretch>
            <a:fillRect/>
          </a:stretch>
        </p:blipFill>
        <p:spPr>
          <a:xfrm>
            <a:off x="2895528" y="1701757"/>
            <a:ext cx="1968451" cy="1117572"/>
          </a:xfrm>
          <a:prstGeom prst="roundRect">
            <a:avLst>
              <a:gd name="adj" fmla="val 11364"/>
            </a:avLst>
          </a:prstGeom>
        </p:spPr>
      </p:pic>
      <p:pic>
        <p:nvPicPr>
          <p:cNvPr id="9" name="img 10.8 adj11364" descr="1097150_2.jpg">    </p:cNvPr>
          <p:cNvPicPr>
            <a:picLocks noChangeAspect="1"/>
          </p:cNvPicPr>
          <p:nvPr/>
        </p:nvPicPr>
        <p:blipFill>
          <a:blip r:embed="rId4"/>
          <a:stretch>
            <a:fillRect/>
          </a:stretch>
        </p:blipFill>
        <p:spPr>
          <a:xfrm>
            <a:off x="5117972" y="1701757"/>
            <a:ext cx="1968451" cy="1117572"/>
          </a:xfrm>
          <a:prstGeom prst="roundRect">
            <a:avLst>
              <a:gd name="adj" fmla="val 11364"/>
            </a:avLst>
          </a:prstGeom>
        </p:spPr>
      </p:pic>
      <p:pic>
        <p:nvPicPr>
          <p:cNvPr id="10" name="img 10.9 adj11364" descr="880940_1.jpg">    </p:cNvPr>
          <p:cNvPicPr>
            <a:picLocks noChangeAspect="1"/>
          </p:cNvPicPr>
          <p:nvPr/>
        </p:nvPicPr>
        <p:blipFill>
          <a:blip r:embed="rId5"/>
          <a:stretch>
            <a:fillRect/>
          </a:stretch>
        </p:blipFill>
        <p:spPr>
          <a:xfrm>
            <a:off x="7340416" y="1701757"/>
            <a:ext cx="1968451" cy="1117572"/>
          </a:xfrm>
          <a:prstGeom prst="roundRect">
            <a:avLst>
              <a:gd name="adj" fmla="val 11364"/>
            </a:avLst>
          </a:prstGeom>
        </p:spPr>
      </p:pic>
      <p:pic>
        <p:nvPicPr>
          <p:cNvPr id="11" name="img 10.10 adj11364" descr="1858400_2.jpg">    </p:cNvPr>
          <p:cNvPicPr>
            <a:picLocks noChangeAspect="1"/>
          </p:cNvPicPr>
          <p:nvPr/>
        </p:nvPicPr>
        <p:blipFill>
          <a:blip r:embed="rId6"/>
          <a:stretch>
            <a:fillRect/>
          </a:stretch>
        </p:blipFill>
        <p:spPr>
          <a:xfrm>
            <a:off x="9562861" y="1701757"/>
            <a:ext cx="1968451" cy="1117572"/>
          </a:xfrm>
          <a:prstGeom prst="roundRect">
            <a:avLst>
              <a:gd name="adj" fmla="val 11364"/>
            </a:avLst>
          </a:prstGeom>
        </p:spPr>
      </p:pic>
      <p:sp>
        <p:nvSpPr>
          <p:cNvPr id="12" name="text 10.1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Five games we are measured against</a:t>
            </a:r>
            <a:endParaRPr lang="en-US" sz="2700" dirty="0"/>
          </a:p>
        </p:txBody>
      </p:sp>
      <p:sp>
        <p:nvSpPr>
          <p:cNvPr id="13" name="shape 10.12"/>
          <p:cNvSpPr/>
          <p:nvPr/>
        </p:nvSpPr>
        <p:spPr>
          <a:xfrm>
            <a:off x="749281" y="1777956"/>
            <a:ext cx="825479" cy="203195"/>
          </a:xfrm>
          <a:prstGeom prst="roundRect">
            <a:avLst>
              <a:gd name="adj" fmla="val 50000"/>
            </a:avLst>
          </a:prstGeom>
          <a:solidFill>
            <a:srgbClr val="FF6B1F"/>
          </a:solidFill>
          <a:ln/>
        </p:spPr>
      </p:sp>
      <p:sp>
        <p:nvSpPr>
          <p:cNvPr id="14" name="text 10.13"/>
          <p:cNvSpPr txBox="1"/>
          <p:nvPr/>
        </p:nvSpPr>
        <p:spPr>
          <a:xfrm>
            <a:off x="749281" y="1777956"/>
            <a:ext cx="825479"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FFFF"/>
                </a:solidFill>
                <a:latin typeface="Arial" pitchFamily="34" charset="0"/>
                <a:ea typeface="Arial" pitchFamily="34" charset="-122"/>
                <a:cs typeface="Arial" pitchFamily="34" charset="-120"/>
              </a:rPr>
              <a:t>AUDIENCE</a:t>
            </a:r>
            <a:endParaRPr lang="en-US" sz="650" dirty="0"/>
          </a:p>
        </p:txBody>
      </p:sp>
      <p:sp>
        <p:nvSpPr>
          <p:cNvPr id="15" name="text 10.14"/>
          <p:cNvSpPr txBox="1"/>
          <p:nvPr/>
        </p:nvSpPr>
        <p:spPr>
          <a:xfrm>
            <a:off x="761981" y="2933627"/>
            <a:ext cx="1191859" cy="182558"/>
          </a:xfrm>
          <a:prstGeom prst="rect">
            <a:avLst/>
          </a:prstGeom>
          <a:noFill/>
          <a:ln/>
        </p:spPr>
        <p:txBody>
          <a:bodyPr wrap="square" lIns="0" tIns="0" rIns="0" bIns="0" rtlCol="0" anchor="t"/>
          <a:lstStyle/>
          <a:p>
            <a:pPr algn="l" indent="0" marL="0">
              <a:lnSpc>
                <a:spcPts val="1440"/>
              </a:lnSpc>
              <a:buNone/>
            </a:pPr>
            <a:r>
              <a:rPr lang="en-US" sz="1250" dirty="0">
                <a:solidFill>
                  <a:srgbClr val="16233F"/>
                </a:solidFill>
                <a:latin typeface="Arial Rounded MT Bold" pitchFamily="34" charset="0"/>
                <a:ea typeface="Arial Rounded MT Bold" pitchFamily="34" charset="-122"/>
                <a:cs typeface="Arial Rounded MT Bold" pitchFamily="34" charset="-120"/>
              </a:rPr>
              <a:t>Party Animals</a:t>
            </a:r>
            <a:endParaRPr lang="en-US" sz="1250" dirty="0"/>
          </a:p>
        </p:txBody>
      </p:sp>
      <p:sp>
        <p:nvSpPr>
          <p:cNvPr id="16" name="text 10.15"/>
          <p:cNvSpPr txBox="1"/>
          <p:nvPr/>
        </p:nvSpPr>
        <p:spPr>
          <a:xfrm>
            <a:off x="761981" y="3162221"/>
            <a:ext cx="1212788" cy="142236"/>
          </a:xfrm>
          <a:prstGeom prst="rect">
            <a:avLst/>
          </a:prstGeom>
          <a:noFill/>
          <a:ln/>
        </p:spPr>
        <p:txBody>
          <a:bodyPr wrap="square" lIns="0" tIns="0" rIns="0" bIns="0" rtlCol="0" anchor="t"/>
          <a:lstStyle/>
          <a:p>
            <a:pPr algn="l" indent="0" marL="0">
              <a:lnSpc>
                <a:spcPts val="1120"/>
              </a:lnSpc>
              <a:buNone/>
            </a:pPr>
            <a:r>
              <a:rPr lang="en-US" sz="800" dirty="0">
                <a:solidFill>
                  <a:srgbClr val="6E7D9A"/>
                </a:solidFill>
                <a:latin typeface="Arial" pitchFamily="34" charset="0"/>
                <a:ea typeface="Arial" pitchFamily="34" charset="-122"/>
                <a:cs typeface="Arial" pitchFamily="34" charset="-120"/>
              </a:rPr>
              <a:t>Recreate Games · 2023</a:t>
            </a:r>
            <a:endParaRPr lang="en-US" sz="800" dirty="0"/>
          </a:p>
        </p:txBody>
      </p:sp>
      <p:sp>
        <p:nvSpPr>
          <p:cNvPr id="17" name="text 10.16"/>
          <p:cNvSpPr txBox="1"/>
          <p:nvPr/>
        </p:nvSpPr>
        <p:spPr>
          <a:xfrm>
            <a:off x="761981" y="3454314"/>
            <a:ext cx="47691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VISUAL</a:t>
            </a:r>
            <a:endParaRPr lang="en-US" sz="700" dirty="0"/>
          </a:p>
        </p:txBody>
      </p:sp>
      <p:sp>
        <p:nvSpPr>
          <p:cNvPr id="18" name="text 10.17"/>
          <p:cNvSpPr txBox="1"/>
          <p:nvPr/>
        </p:nvSpPr>
        <p:spPr>
          <a:xfrm>
            <a:off x="761981" y="3594010"/>
            <a:ext cx="1879553" cy="15925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Plush 3D animals, toy-like arenas.</a:t>
            </a:r>
            <a:endParaRPr lang="en-US" sz="950" dirty="0"/>
          </a:p>
        </p:txBody>
      </p:sp>
      <p:sp>
        <p:nvSpPr>
          <p:cNvPr id="19" name="text 10.18"/>
          <p:cNvSpPr txBox="1"/>
          <p:nvPr/>
        </p:nvSpPr>
        <p:spPr>
          <a:xfrm>
            <a:off x="761981" y="4152796"/>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MECHANIC</a:t>
            </a:r>
            <a:endParaRPr lang="en-US" sz="700" dirty="0"/>
          </a:p>
        </p:txBody>
      </p:sp>
      <p:sp>
        <p:nvSpPr>
          <p:cNvPr id="20" name="text 10.19"/>
          <p:cNvSpPr txBox="1"/>
          <p:nvPr/>
        </p:nvSpPr>
        <p:spPr>
          <a:xfrm>
            <a:off x="761981" y="4292493"/>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Physics brawling: grab, punch, throw rivals out.</a:t>
            </a:r>
            <a:endParaRPr lang="en-US" sz="950" dirty="0"/>
          </a:p>
        </p:txBody>
      </p:sp>
      <p:sp>
        <p:nvSpPr>
          <p:cNvPr id="21" name="text 10.20"/>
          <p:cNvSpPr txBox="1"/>
          <p:nvPr/>
        </p:nvSpPr>
        <p:spPr>
          <a:xfrm>
            <a:off x="761981" y="4851279"/>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MULTIPLAYER</a:t>
            </a:r>
            <a:endParaRPr lang="en-US" sz="700" dirty="0"/>
          </a:p>
        </p:txBody>
      </p:sp>
      <p:sp>
        <p:nvSpPr>
          <p:cNvPr id="22" name="text 10.21"/>
          <p:cNvSpPr txBox="1"/>
          <p:nvPr/>
        </p:nvSpPr>
        <p:spPr>
          <a:xfrm>
            <a:off x="761981" y="4990975"/>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Online and same-screen. No LAN listed.</a:t>
            </a:r>
            <a:endParaRPr lang="en-US" sz="950" dirty="0"/>
          </a:p>
        </p:txBody>
      </p:sp>
      <p:sp>
        <p:nvSpPr>
          <p:cNvPr id="23" name="text 10.22"/>
          <p:cNvSpPr txBox="1"/>
          <p:nvPr/>
        </p:nvSpPr>
        <p:spPr>
          <a:xfrm>
            <a:off x="761981" y="5549761"/>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FINANCIALS</a:t>
            </a:r>
            <a:endParaRPr lang="en-US" sz="700" dirty="0"/>
          </a:p>
        </p:txBody>
      </p:sp>
      <p:sp>
        <p:nvSpPr>
          <p:cNvPr id="24" name="text 10.23"/>
          <p:cNvSpPr txBox="1"/>
          <p:nvPr/>
        </p:nvSpPr>
        <p:spPr>
          <a:xfrm>
            <a:off x="761981" y="5689458"/>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Launch peak 104,174 players. Owner est. 2.5M–6.0M.</a:t>
            </a:r>
            <a:endParaRPr lang="en-US" sz="950" dirty="0"/>
          </a:p>
        </p:txBody>
      </p:sp>
      <p:sp>
        <p:nvSpPr>
          <p:cNvPr id="25" name="shape 10.24"/>
          <p:cNvSpPr/>
          <p:nvPr/>
        </p:nvSpPr>
        <p:spPr>
          <a:xfrm>
            <a:off x="2971726" y="1777956"/>
            <a:ext cx="825479" cy="203195"/>
          </a:xfrm>
          <a:prstGeom prst="roundRect">
            <a:avLst>
              <a:gd name="adj" fmla="val 50000"/>
            </a:avLst>
          </a:prstGeom>
          <a:solidFill>
            <a:srgbClr val="1FA9EA"/>
          </a:solidFill>
          <a:ln/>
        </p:spPr>
      </p:sp>
      <p:sp>
        <p:nvSpPr>
          <p:cNvPr id="26" name="text 10.25"/>
          <p:cNvSpPr txBox="1"/>
          <p:nvPr/>
        </p:nvSpPr>
        <p:spPr>
          <a:xfrm>
            <a:off x="2971726" y="1777956"/>
            <a:ext cx="825479"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FFFF"/>
                </a:solidFill>
                <a:latin typeface="Arial" pitchFamily="34" charset="0"/>
                <a:ea typeface="Arial" pitchFamily="34" charset="-122"/>
                <a:cs typeface="Arial" pitchFamily="34" charset="-120"/>
              </a:rPr>
              <a:t>PHYSICS</a:t>
            </a:r>
            <a:endParaRPr lang="en-US" sz="650" dirty="0"/>
          </a:p>
        </p:txBody>
      </p:sp>
      <p:sp>
        <p:nvSpPr>
          <p:cNvPr id="27" name="text 10.26"/>
          <p:cNvSpPr txBox="1"/>
          <p:nvPr/>
        </p:nvSpPr>
        <p:spPr>
          <a:xfrm>
            <a:off x="2984425" y="2933627"/>
            <a:ext cx="1108670" cy="182558"/>
          </a:xfrm>
          <a:prstGeom prst="rect">
            <a:avLst/>
          </a:prstGeom>
          <a:noFill/>
          <a:ln/>
        </p:spPr>
        <p:txBody>
          <a:bodyPr wrap="square" lIns="0" tIns="0" rIns="0" bIns="0" rtlCol="0" anchor="t"/>
          <a:lstStyle/>
          <a:p>
            <a:pPr algn="l" indent="0" marL="0">
              <a:lnSpc>
                <a:spcPts val="1440"/>
              </a:lnSpc>
              <a:buNone/>
            </a:pPr>
            <a:r>
              <a:rPr lang="en-US" sz="1250" dirty="0">
                <a:solidFill>
                  <a:srgbClr val="16233F"/>
                </a:solidFill>
                <a:latin typeface="Arial Rounded MT Bold" pitchFamily="34" charset="0"/>
                <a:ea typeface="Arial Rounded MT Bold" pitchFamily="34" charset="-122"/>
                <a:cs typeface="Arial Rounded MT Bold" pitchFamily="34" charset="-120"/>
              </a:rPr>
              <a:t>Gang Beasts</a:t>
            </a:r>
            <a:endParaRPr lang="en-US" sz="1250" dirty="0"/>
          </a:p>
        </p:txBody>
      </p:sp>
      <p:sp>
        <p:nvSpPr>
          <p:cNvPr id="28" name="text 10.27"/>
          <p:cNvSpPr txBox="1"/>
          <p:nvPr/>
        </p:nvSpPr>
        <p:spPr>
          <a:xfrm>
            <a:off x="2984425" y="3162221"/>
            <a:ext cx="823977" cy="142236"/>
          </a:xfrm>
          <a:prstGeom prst="rect">
            <a:avLst/>
          </a:prstGeom>
          <a:noFill/>
          <a:ln/>
        </p:spPr>
        <p:txBody>
          <a:bodyPr wrap="square" lIns="0" tIns="0" rIns="0" bIns="0" rtlCol="0" anchor="t"/>
          <a:lstStyle/>
          <a:p>
            <a:pPr algn="l" indent="0" marL="0">
              <a:lnSpc>
                <a:spcPts val="1120"/>
              </a:lnSpc>
              <a:buNone/>
            </a:pPr>
            <a:r>
              <a:rPr lang="en-US" sz="800" dirty="0">
                <a:solidFill>
                  <a:srgbClr val="6E7D9A"/>
                </a:solidFill>
                <a:latin typeface="Arial" pitchFamily="34" charset="0"/>
                <a:ea typeface="Arial" pitchFamily="34" charset="-122"/>
                <a:cs typeface="Arial" pitchFamily="34" charset="-120"/>
              </a:rPr>
              <a:t>Boneloaf · 2017</a:t>
            </a:r>
            <a:endParaRPr lang="en-US" sz="800" dirty="0"/>
          </a:p>
        </p:txBody>
      </p:sp>
      <p:sp>
        <p:nvSpPr>
          <p:cNvPr id="29" name="text 10.28"/>
          <p:cNvSpPr txBox="1"/>
          <p:nvPr/>
        </p:nvSpPr>
        <p:spPr>
          <a:xfrm>
            <a:off x="2984425" y="3454314"/>
            <a:ext cx="47691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VISUAL</a:t>
            </a:r>
            <a:endParaRPr lang="en-US" sz="700" dirty="0"/>
          </a:p>
        </p:txBody>
      </p:sp>
      <p:sp>
        <p:nvSpPr>
          <p:cNvPr id="30" name="text 10.29"/>
          <p:cNvSpPr txBox="1"/>
          <p:nvPr/>
        </p:nvSpPr>
        <p:spPr>
          <a:xfrm>
            <a:off x="2984425" y="3594010"/>
            <a:ext cx="1879553" cy="15925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Soft, gelatinous 3D people.</a:t>
            </a:r>
            <a:endParaRPr lang="en-US" sz="950" dirty="0"/>
          </a:p>
        </p:txBody>
      </p:sp>
      <p:sp>
        <p:nvSpPr>
          <p:cNvPr id="31" name="text 10.30"/>
          <p:cNvSpPr txBox="1"/>
          <p:nvPr/>
        </p:nvSpPr>
        <p:spPr>
          <a:xfrm>
            <a:off x="2984425" y="4152796"/>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MECHANIC</a:t>
            </a:r>
            <a:endParaRPr lang="en-US" sz="700" dirty="0"/>
          </a:p>
        </p:txBody>
      </p:sp>
      <p:sp>
        <p:nvSpPr>
          <p:cNvPr id="32" name="text 10.31"/>
          <p:cNvSpPr txBox="1"/>
          <p:nvPr/>
        </p:nvSpPr>
        <p:spPr>
          <a:xfrm>
            <a:off x="2984425" y="4292493"/>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Ragdoll brawling into stage hazards.</a:t>
            </a:r>
            <a:endParaRPr lang="en-US" sz="950" dirty="0"/>
          </a:p>
        </p:txBody>
      </p:sp>
      <p:sp>
        <p:nvSpPr>
          <p:cNvPr id="33" name="text 10.32"/>
          <p:cNvSpPr txBox="1"/>
          <p:nvPr/>
        </p:nvSpPr>
        <p:spPr>
          <a:xfrm>
            <a:off x="2984425" y="4851279"/>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MULTIPLAYER</a:t>
            </a:r>
            <a:endParaRPr lang="en-US" sz="700" dirty="0"/>
          </a:p>
        </p:txBody>
      </p:sp>
      <p:sp>
        <p:nvSpPr>
          <p:cNvPr id="34" name="text 10.33"/>
          <p:cNvSpPr txBox="1"/>
          <p:nvPr/>
        </p:nvSpPr>
        <p:spPr>
          <a:xfrm>
            <a:off x="2984425" y="4990975"/>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Same-screen and online. No LAN listed.</a:t>
            </a:r>
            <a:endParaRPr lang="en-US" sz="950" dirty="0"/>
          </a:p>
        </p:txBody>
      </p:sp>
      <p:sp>
        <p:nvSpPr>
          <p:cNvPr id="35" name="text 10.34"/>
          <p:cNvSpPr txBox="1"/>
          <p:nvPr/>
        </p:nvSpPr>
        <p:spPr>
          <a:xfrm>
            <a:off x="2984425" y="5549761"/>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FINANCIALS</a:t>
            </a:r>
            <a:endParaRPr lang="en-US" sz="700" dirty="0"/>
          </a:p>
        </p:txBody>
      </p:sp>
      <p:sp>
        <p:nvSpPr>
          <p:cNvPr id="36" name="text 10.35"/>
          <p:cNvSpPr txBox="1"/>
          <p:nvPr/>
        </p:nvSpPr>
        <p:spPr>
          <a:xfrm>
            <a:off x="2984425" y="5689458"/>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85% positive. Owner est. 4.6M–5.8M.</a:t>
            </a:r>
            <a:endParaRPr lang="en-US" sz="950" dirty="0"/>
          </a:p>
        </p:txBody>
      </p:sp>
      <p:sp>
        <p:nvSpPr>
          <p:cNvPr id="37" name="shape 10.36"/>
          <p:cNvSpPr/>
          <p:nvPr/>
        </p:nvSpPr>
        <p:spPr>
          <a:xfrm>
            <a:off x="5194170" y="1777956"/>
            <a:ext cx="825479" cy="203195"/>
          </a:xfrm>
          <a:prstGeom prst="roundRect">
            <a:avLst>
              <a:gd name="adj" fmla="val 50000"/>
            </a:avLst>
          </a:prstGeom>
          <a:solidFill>
            <a:srgbClr val="43B832"/>
          </a:solidFill>
          <a:ln/>
        </p:spPr>
      </p:sp>
      <p:sp>
        <p:nvSpPr>
          <p:cNvPr id="38" name="text 10.37"/>
          <p:cNvSpPr txBox="1"/>
          <p:nvPr/>
        </p:nvSpPr>
        <p:spPr>
          <a:xfrm>
            <a:off x="5194170" y="1777956"/>
            <a:ext cx="825479"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FFFF"/>
                </a:solidFill>
                <a:latin typeface="Arial" pitchFamily="34" charset="0"/>
                <a:ea typeface="Arial" pitchFamily="34" charset="-122"/>
                <a:cs typeface="Arial" pitchFamily="34" charset="-120"/>
              </a:rPr>
              <a:t>FORMAT</a:t>
            </a:r>
            <a:endParaRPr lang="en-US" sz="650" dirty="0"/>
          </a:p>
        </p:txBody>
      </p:sp>
      <p:sp>
        <p:nvSpPr>
          <p:cNvPr id="39" name="text 10.38"/>
          <p:cNvSpPr txBox="1"/>
          <p:nvPr/>
        </p:nvSpPr>
        <p:spPr>
          <a:xfrm>
            <a:off x="5206870" y="2933627"/>
            <a:ext cx="809359" cy="182558"/>
          </a:xfrm>
          <a:prstGeom prst="rect">
            <a:avLst/>
          </a:prstGeom>
          <a:noFill/>
          <a:ln/>
        </p:spPr>
        <p:txBody>
          <a:bodyPr wrap="square" lIns="0" tIns="0" rIns="0" bIns="0" rtlCol="0" anchor="t"/>
          <a:lstStyle/>
          <a:p>
            <a:pPr algn="l" indent="0" marL="0">
              <a:lnSpc>
                <a:spcPts val="1440"/>
              </a:lnSpc>
              <a:buNone/>
            </a:pPr>
            <a:r>
              <a:rPr lang="en-US" sz="1250" dirty="0">
                <a:solidFill>
                  <a:srgbClr val="16233F"/>
                </a:solidFill>
                <a:latin typeface="Arial Rounded MT Bold" pitchFamily="34" charset="0"/>
                <a:ea typeface="Arial Rounded MT Bold" pitchFamily="34" charset="-122"/>
                <a:cs typeface="Arial Rounded MT Bold" pitchFamily="34" charset="-120"/>
              </a:rPr>
              <a:t>Fall Guys</a:t>
            </a:r>
            <a:endParaRPr lang="en-US" sz="1250" dirty="0"/>
          </a:p>
        </p:txBody>
      </p:sp>
      <p:sp>
        <p:nvSpPr>
          <p:cNvPr id="40" name="text 10.39"/>
          <p:cNvSpPr txBox="1"/>
          <p:nvPr/>
        </p:nvSpPr>
        <p:spPr>
          <a:xfrm>
            <a:off x="5206870" y="3162221"/>
            <a:ext cx="1218888" cy="142236"/>
          </a:xfrm>
          <a:prstGeom prst="rect">
            <a:avLst/>
          </a:prstGeom>
          <a:noFill/>
          <a:ln/>
        </p:spPr>
        <p:txBody>
          <a:bodyPr wrap="square" lIns="0" tIns="0" rIns="0" bIns="0" rtlCol="0" anchor="t"/>
          <a:lstStyle/>
          <a:p>
            <a:pPr algn="l" indent="0" marL="0">
              <a:lnSpc>
                <a:spcPts val="1120"/>
              </a:lnSpc>
              <a:buNone/>
            </a:pPr>
            <a:r>
              <a:rPr lang="en-US" sz="800" dirty="0">
                <a:solidFill>
                  <a:srgbClr val="6E7D9A"/>
                </a:solidFill>
                <a:latin typeface="Arial" pitchFamily="34" charset="0"/>
                <a:ea typeface="Arial" pitchFamily="34" charset="-122"/>
                <a:cs typeface="Arial" pitchFamily="34" charset="-120"/>
              </a:rPr>
              <a:t>Mediatonic / Epic · 2020</a:t>
            </a:r>
            <a:endParaRPr lang="en-US" sz="800" dirty="0"/>
          </a:p>
        </p:txBody>
      </p:sp>
      <p:sp>
        <p:nvSpPr>
          <p:cNvPr id="41" name="text 10.40"/>
          <p:cNvSpPr txBox="1"/>
          <p:nvPr/>
        </p:nvSpPr>
        <p:spPr>
          <a:xfrm>
            <a:off x="5206870" y="3454314"/>
            <a:ext cx="47691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VISUAL</a:t>
            </a:r>
            <a:endParaRPr lang="en-US" sz="700" dirty="0"/>
          </a:p>
        </p:txBody>
      </p:sp>
      <p:sp>
        <p:nvSpPr>
          <p:cNvPr id="42" name="text 10.41"/>
          <p:cNvSpPr txBox="1"/>
          <p:nvPr/>
        </p:nvSpPr>
        <p:spPr>
          <a:xfrm>
            <a:off x="5206870" y="3594010"/>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Candy-coloured beans, obstacle courses.</a:t>
            </a:r>
            <a:endParaRPr lang="en-US" sz="950" dirty="0"/>
          </a:p>
        </p:txBody>
      </p:sp>
      <p:sp>
        <p:nvSpPr>
          <p:cNvPr id="43" name="text 10.42"/>
          <p:cNvSpPr txBox="1"/>
          <p:nvPr/>
        </p:nvSpPr>
        <p:spPr>
          <a:xfrm>
            <a:off x="5206870" y="4152796"/>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MECHANIC</a:t>
            </a:r>
            <a:endParaRPr lang="en-US" sz="700" dirty="0"/>
          </a:p>
        </p:txBody>
      </p:sp>
      <p:sp>
        <p:nvSpPr>
          <p:cNvPr id="44" name="text 10.43"/>
          <p:cNvSpPr txBox="1"/>
          <p:nvPr/>
        </p:nvSpPr>
        <p:spPr>
          <a:xfrm>
            <a:off x="5206870" y="4292493"/>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Short race and survival rounds in a playlist.</a:t>
            </a:r>
            <a:endParaRPr lang="en-US" sz="950" dirty="0"/>
          </a:p>
        </p:txBody>
      </p:sp>
      <p:sp>
        <p:nvSpPr>
          <p:cNvPr id="45" name="text 10.44"/>
          <p:cNvSpPr txBox="1"/>
          <p:nvPr/>
        </p:nvSpPr>
        <p:spPr>
          <a:xfrm>
            <a:off x="5206870" y="4851279"/>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MULTIPLAYER</a:t>
            </a:r>
            <a:endParaRPr lang="en-US" sz="700" dirty="0"/>
          </a:p>
        </p:txBody>
      </p:sp>
      <p:sp>
        <p:nvSpPr>
          <p:cNvPr id="46" name="text 10.45"/>
          <p:cNvSpPr txBox="1"/>
          <p:nvPr/>
        </p:nvSpPr>
        <p:spPr>
          <a:xfrm>
            <a:off x="5206870" y="4990975"/>
            <a:ext cx="1879553" cy="15925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Online, cross-platform only.</a:t>
            </a:r>
            <a:endParaRPr lang="en-US" sz="950" dirty="0"/>
          </a:p>
        </p:txBody>
      </p:sp>
      <p:sp>
        <p:nvSpPr>
          <p:cNvPr id="47" name="text 10.46"/>
          <p:cNvSpPr txBox="1"/>
          <p:nvPr/>
        </p:nvSpPr>
        <p:spPr>
          <a:xfrm>
            <a:off x="5206870" y="5549761"/>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FINANCIALS</a:t>
            </a:r>
            <a:endParaRPr lang="en-US" sz="700" dirty="0"/>
          </a:p>
        </p:txBody>
      </p:sp>
      <p:sp>
        <p:nvSpPr>
          <p:cNvPr id="48" name="text 10.47"/>
          <p:cNvSpPr txBox="1"/>
          <p:nvPr/>
        </p:nvSpPr>
        <p:spPr>
          <a:xfrm>
            <a:off x="5206870" y="5689458"/>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Free-to-play. Legacy Steam peak 172,213. Metacritic 80.</a:t>
            </a:r>
            <a:endParaRPr lang="en-US" sz="950" dirty="0"/>
          </a:p>
        </p:txBody>
      </p:sp>
      <p:sp>
        <p:nvSpPr>
          <p:cNvPr id="49" name="shape 10.48"/>
          <p:cNvSpPr/>
          <p:nvPr/>
        </p:nvSpPr>
        <p:spPr>
          <a:xfrm>
            <a:off x="7416615" y="1777956"/>
            <a:ext cx="825479" cy="203195"/>
          </a:xfrm>
          <a:prstGeom prst="roundRect">
            <a:avLst>
              <a:gd name="adj" fmla="val 50000"/>
            </a:avLst>
          </a:prstGeom>
          <a:solidFill>
            <a:srgbClr val="43B832"/>
          </a:solidFill>
          <a:ln/>
        </p:spPr>
      </p:sp>
      <p:sp>
        <p:nvSpPr>
          <p:cNvPr id="50" name="text 10.49"/>
          <p:cNvSpPr txBox="1"/>
          <p:nvPr/>
        </p:nvSpPr>
        <p:spPr>
          <a:xfrm>
            <a:off x="7416615" y="1777956"/>
            <a:ext cx="825479"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FFFF"/>
                </a:solidFill>
                <a:latin typeface="Arial" pitchFamily="34" charset="0"/>
                <a:ea typeface="Arial" pitchFamily="34" charset="-122"/>
                <a:cs typeface="Arial" pitchFamily="34" charset="-120"/>
              </a:rPr>
              <a:t>FORMAT</a:t>
            </a:r>
            <a:endParaRPr lang="en-US" sz="650" dirty="0"/>
          </a:p>
        </p:txBody>
      </p:sp>
      <p:sp>
        <p:nvSpPr>
          <p:cNvPr id="51" name="text 10.50"/>
          <p:cNvSpPr txBox="1"/>
          <p:nvPr/>
        </p:nvSpPr>
        <p:spPr>
          <a:xfrm>
            <a:off x="7429314" y="2933627"/>
            <a:ext cx="1195225" cy="182558"/>
          </a:xfrm>
          <a:prstGeom prst="rect">
            <a:avLst/>
          </a:prstGeom>
          <a:noFill/>
          <a:ln/>
        </p:spPr>
        <p:txBody>
          <a:bodyPr wrap="square" lIns="0" tIns="0" rIns="0" bIns="0" rtlCol="0" anchor="t"/>
          <a:lstStyle/>
          <a:p>
            <a:pPr algn="l" indent="0" marL="0">
              <a:lnSpc>
                <a:spcPts val="1440"/>
              </a:lnSpc>
              <a:buNone/>
            </a:pPr>
            <a:r>
              <a:rPr lang="en-US" sz="1250" dirty="0">
                <a:solidFill>
                  <a:srgbClr val="16233F"/>
                </a:solidFill>
                <a:latin typeface="Arial Rounded MT Bold" pitchFamily="34" charset="0"/>
                <a:ea typeface="Arial Rounded MT Bold" pitchFamily="34" charset="-122"/>
                <a:cs typeface="Arial Rounded MT Bold" pitchFamily="34" charset="-120"/>
              </a:rPr>
              <a:t>Pummel Party</a:t>
            </a:r>
            <a:endParaRPr lang="en-US" sz="1250" dirty="0"/>
          </a:p>
        </p:txBody>
      </p:sp>
      <p:sp>
        <p:nvSpPr>
          <p:cNvPr id="52" name="text 10.51"/>
          <p:cNvSpPr txBox="1"/>
          <p:nvPr/>
        </p:nvSpPr>
        <p:spPr>
          <a:xfrm>
            <a:off x="7429314" y="3162221"/>
            <a:ext cx="1111089" cy="142236"/>
          </a:xfrm>
          <a:prstGeom prst="rect">
            <a:avLst/>
          </a:prstGeom>
          <a:noFill/>
          <a:ln/>
        </p:spPr>
        <p:txBody>
          <a:bodyPr wrap="square" lIns="0" tIns="0" rIns="0" bIns="0" rtlCol="0" anchor="t"/>
          <a:lstStyle/>
          <a:p>
            <a:pPr algn="l" indent="0" marL="0">
              <a:lnSpc>
                <a:spcPts val="1120"/>
              </a:lnSpc>
              <a:buNone/>
            </a:pPr>
            <a:r>
              <a:rPr lang="en-US" sz="800" dirty="0">
                <a:solidFill>
                  <a:srgbClr val="6E7D9A"/>
                </a:solidFill>
                <a:latin typeface="Arial" pitchFamily="34" charset="0"/>
                <a:ea typeface="Arial" pitchFamily="34" charset="-122"/>
                <a:cs typeface="Arial" pitchFamily="34" charset="-120"/>
              </a:rPr>
              <a:t>Rebuilt Games · 2018</a:t>
            </a:r>
            <a:endParaRPr lang="en-US" sz="800" dirty="0"/>
          </a:p>
        </p:txBody>
      </p:sp>
      <p:sp>
        <p:nvSpPr>
          <p:cNvPr id="53" name="text 10.52"/>
          <p:cNvSpPr txBox="1"/>
          <p:nvPr/>
        </p:nvSpPr>
        <p:spPr>
          <a:xfrm>
            <a:off x="7429314" y="3454314"/>
            <a:ext cx="47691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VISUAL</a:t>
            </a:r>
            <a:endParaRPr lang="en-US" sz="700" dirty="0"/>
          </a:p>
        </p:txBody>
      </p:sp>
      <p:sp>
        <p:nvSpPr>
          <p:cNvPr id="54" name="text 10.53"/>
          <p:cNvSpPr txBox="1"/>
          <p:nvPr/>
        </p:nvSpPr>
        <p:spPr>
          <a:xfrm>
            <a:off x="7429314" y="3594010"/>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Colourful low-poly 3D, slapstick items.</a:t>
            </a:r>
            <a:endParaRPr lang="en-US" sz="950" dirty="0"/>
          </a:p>
        </p:txBody>
      </p:sp>
      <p:sp>
        <p:nvSpPr>
          <p:cNvPr id="55" name="text 10.54"/>
          <p:cNvSpPr txBox="1"/>
          <p:nvPr/>
        </p:nvSpPr>
        <p:spPr>
          <a:xfrm>
            <a:off x="7429314" y="4152796"/>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MECHANIC</a:t>
            </a:r>
            <a:endParaRPr lang="en-US" sz="700" dirty="0"/>
          </a:p>
        </p:txBody>
      </p:sp>
      <p:sp>
        <p:nvSpPr>
          <p:cNvPr id="56" name="text 10.55"/>
          <p:cNvSpPr txBox="1"/>
          <p:nvPr/>
        </p:nvSpPr>
        <p:spPr>
          <a:xfrm>
            <a:off x="7429314" y="4292493"/>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Board game with short competitive mini-games.</a:t>
            </a:r>
            <a:endParaRPr lang="en-US" sz="950" dirty="0"/>
          </a:p>
        </p:txBody>
      </p:sp>
      <p:sp>
        <p:nvSpPr>
          <p:cNvPr id="57" name="text 10.56"/>
          <p:cNvSpPr txBox="1"/>
          <p:nvPr/>
        </p:nvSpPr>
        <p:spPr>
          <a:xfrm>
            <a:off x="7429314" y="4851279"/>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MULTIPLAYER</a:t>
            </a:r>
            <a:endParaRPr lang="en-US" sz="700" dirty="0"/>
          </a:p>
        </p:txBody>
      </p:sp>
      <p:sp>
        <p:nvSpPr>
          <p:cNvPr id="58" name="text 10.57"/>
          <p:cNvSpPr txBox="1"/>
          <p:nvPr/>
        </p:nvSpPr>
        <p:spPr>
          <a:xfrm>
            <a:off x="7429314" y="4990975"/>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4–8 online and local. No LAN listed.</a:t>
            </a:r>
            <a:endParaRPr lang="en-US" sz="950" dirty="0"/>
          </a:p>
        </p:txBody>
      </p:sp>
      <p:sp>
        <p:nvSpPr>
          <p:cNvPr id="59" name="text 10.58"/>
          <p:cNvSpPr txBox="1"/>
          <p:nvPr/>
        </p:nvSpPr>
        <p:spPr>
          <a:xfrm>
            <a:off x="7429314" y="5549761"/>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FINANCIALS</a:t>
            </a:r>
            <a:endParaRPr lang="en-US" sz="700" dirty="0"/>
          </a:p>
        </p:txBody>
      </p:sp>
      <p:sp>
        <p:nvSpPr>
          <p:cNvPr id="60" name="text 10.59"/>
          <p:cNvSpPr txBox="1"/>
          <p:nvPr/>
        </p:nvSpPr>
        <p:spPr>
          <a:xfrm>
            <a:off x="7429314" y="5689458"/>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$14.99. Peak 20,957. Owner est. 1.5M–7.6M.</a:t>
            </a:r>
            <a:endParaRPr lang="en-US" sz="950" dirty="0"/>
          </a:p>
        </p:txBody>
      </p:sp>
      <p:sp>
        <p:nvSpPr>
          <p:cNvPr id="61" name="shape 10.60"/>
          <p:cNvSpPr/>
          <p:nvPr/>
        </p:nvSpPr>
        <p:spPr>
          <a:xfrm>
            <a:off x="9639059" y="1777956"/>
            <a:ext cx="825479" cy="203195"/>
          </a:xfrm>
          <a:prstGeom prst="roundRect">
            <a:avLst>
              <a:gd name="adj" fmla="val 50000"/>
            </a:avLst>
          </a:prstGeom>
          <a:solidFill>
            <a:srgbClr val="8F55F5"/>
          </a:solidFill>
          <a:ln/>
        </p:spPr>
      </p:sp>
      <p:sp>
        <p:nvSpPr>
          <p:cNvPr id="62" name="text 10.61"/>
          <p:cNvSpPr txBox="1"/>
          <p:nvPr/>
        </p:nvSpPr>
        <p:spPr>
          <a:xfrm>
            <a:off x="9639059" y="1777956"/>
            <a:ext cx="825479"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FFFF"/>
                </a:solidFill>
                <a:latin typeface="Arial" pitchFamily="34" charset="0"/>
                <a:ea typeface="Arial" pitchFamily="34" charset="-122"/>
                <a:cs typeface="Arial" pitchFamily="34" charset="-120"/>
              </a:rPr>
              <a:t>MECHANIC</a:t>
            </a:r>
            <a:endParaRPr lang="en-US" sz="650" dirty="0"/>
          </a:p>
        </p:txBody>
      </p:sp>
      <p:sp>
        <p:nvSpPr>
          <p:cNvPr id="63" name="text 10.62"/>
          <p:cNvSpPr txBox="1"/>
          <p:nvPr/>
        </p:nvSpPr>
        <p:spPr>
          <a:xfrm>
            <a:off x="9651759" y="2933627"/>
            <a:ext cx="853740" cy="182558"/>
          </a:xfrm>
          <a:prstGeom prst="rect">
            <a:avLst/>
          </a:prstGeom>
          <a:noFill/>
          <a:ln/>
        </p:spPr>
        <p:txBody>
          <a:bodyPr wrap="square" lIns="0" tIns="0" rIns="0" bIns="0" rtlCol="0" anchor="t"/>
          <a:lstStyle/>
          <a:p>
            <a:pPr algn="l" indent="0" marL="0">
              <a:lnSpc>
                <a:spcPts val="1440"/>
              </a:lnSpc>
              <a:buNone/>
            </a:pPr>
            <a:r>
              <a:rPr lang="en-US" sz="1250" dirty="0">
                <a:solidFill>
                  <a:srgbClr val="16233F"/>
                </a:solidFill>
                <a:latin typeface="Arial Rounded MT Bold" pitchFamily="34" charset="0"/>
                <a:ea typeface="Arial Rounded MT Bold" pitchFamily="34" charset="-122"/>
                <a:cs typeface="Arial Rounded MT Bold" pitchFamily="34" charset="-120"/>
              </a:rPr>
              <a:t>Squarena</a:t>
            </a:r>
            <a:endParaRPr lang="en-US" sz="1250" dirty="0"/>
          </a:p>
        </p:txBody>
      </p:sp>
      <p:sp>
        <p:nvSpPr>
          <p:cNvPr id="64" name="text 10.63"/>
          <p:cNvSpPr txBox="1"/>
          <p:nvPr/>
        </p:nvSpPr>
        <p:spPr>
          <a:xfrm>
            <a:off x="9651759" y="3162221"/>
            <a:ext cx="991301" cy="142236"/>
          </a:xfrm>
          <a:prstGeom prst="rect">
            <a:avLst/>
          </a:prstGeom>
          <a:noFill/>
          <a:ln/>
        </p:spPr>
        <p:txBody>
          <a:bodyPr wrap="square" lIns="0" tIns="0" rIns="0" bIns="0" rtlCol="0" anchor="t"/>
          <a:lstStyle/>
          <a:p>
            <a:pPr algn="l" indent="0" marL="0">
              <a:lnSpc>
                <a:spcPts val="1120"/>
              </a:lnSpc>
              <a:buNone/>
            </a:pPr>
            <a:r>
              <a:rPr lang="en-US" sz="800" dirty="0">
                <a:solidFill>
                  <a:srgbClr val="6E7D9A"/>
                </a:solidFill>
                <a:latin typeface="Arial" pitchFamily="34" charset="0"/>
                <a:ea typeface="Arial" pitchFamily="34" charset="-122"/>
                <a:cs typeface="Arial" pitchFamily="34" charset="-120"/>
              </a:rPr>
              <a:t>Codeaclysm · 2022</a:t>
            </a:r>
            <a:endParaRPr lang="en-US" sz="800" dirty="0"/>
          </a:p>
        </p:txBody>
      </p:sp>
      <p:sp>
        <p:nvSpPr>
          <p:cNvPr id="65" name="text 10.64"/>
          <p:cNvSpPr txBox="1"/>
          <p:nvPr/>
        </p:nvSpPr>
        <p:spPr>
          <a:xfrm>
            <a:off x="9651759" y="3454314"/>
            <a:ext cx="47691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8F55F5"/>
                </a:solidFill>
                <a:latin typeface="Arial" pitchFamily="34" charset="0"/>
                <a:ea typeface="Arial" pitchFamily="34" charset="-122"/>
                <a:cs typeface="Arial" pitchFamily="34" charset="-120"/>
              </a:rPr>
              <a:t>VISUAL</a:t>
            </a:r>
            <a:endParaRPr lang="en-US" sz="700" dirty="0"/>
          </a:p>
        </p:txBody>
      </p:sp>
      <p:sp>
        <p:nvSpPr>
          <p:cNvPr id="66" name="text 10.65"/>
          <p:cNvSpPr txBox="1"/>
          <p:nvPr/>
        </p:nvSpPr>
        <p:spPr>
          <a:xfrm>
            <a:off x="9651759" y="3594010"/>
            <a:ext cx="1879553" cy="15925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Minimal flat 2D squares.</a:t>
            </a:r>
            <a:endParaRPr lang="en-US" sz="950" dirty="0"/>
          </a:p>
        </p:txBody>
      </p:sp>
      <p:sp>
        <p:nvSpPr>
          <p:cNvPr id="67" name="text 10.66"/>
          <p:cNvSpPr txBox="1"/>
          <p:nvPr/>
        </p:nvSpPr>
        <p:spPr>
          <a:xfrm>
            <a:off x="9651759" y="4152796"/>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8F55F5"/>
                </a:solidFill>
                <a:latin typeface="Arial" pitchFamily="34" charset="0"/>
                <a:ea typeface="Arial" pitchFamily="34" charset="-122"/>
                <a:cs typeface="Arial" pitchFamily="34" charset="-120"/>
              </a:rPr>
              <a:t>MECHANIC</a:t>
            </a:r>
            <a:endParaRPr lang="en-US" sz="700" dirty="0"/>
          </a:p>
        </p:txBody>
      </p:sp>
      <p:sp>
        <p:nvSpPr>
          <p:cNvPr id="68" name="text 10.67"/>
          <p:cNvSpPr txBox="1"/>
          <p:nvPr/>
        </p:nvSpPr>
        <p:spPr>
          <a:xfrm>
            <a:off x="9651759" y="4292493"/>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Arena shooter: low health shrinks you; small bodies feel more recoil.</a:t>
            </a:r>
            <a:endParaRPr lang="en-US" sz="950" dirty="0"/>
          </a:p>
        </p:txBody>
      </p:sp>
      <p:sp>
        <p:nvSpPr>
          <p:cNvPr id="69" name="text 10.68"/>
          <p:cNvSpPr txBox="1"/>
          <p:nvPr/>
        </p:nvSpPr>
        <p:spPr>
          <a:xfrm>
            <a:off x="9651759" y="4851279"/>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8F55F5"/>
                </a:solidFill>
                <a:latin typeface="Arial" pitchFamily="34" charset="0"/>
                <a:ea typeface="Arial" pitchFamily="34" charset="-122"/>
                <a:cs typeface="Arial" pitchFamily="34" charset="-120"/>
              </a:rPr>
              <a:t>MULTIPLAYER</a:t>
            </a:r>
            <a:endParaRPr lang="en-US" sz="700" dirty="0"/>
          </a:p>
        </p:txBody>
      </p:sp>
      <p:sp>
        <p:nvSpPr>
          <p:cNvPr id="70" name="text 10.69"/>
          <p:cNvSpPr txBox="1"/>
          <p:nvPr/>
        </p:nvSpPr>
        <p:spPr>
          <a:xfrm>
            <a:off x="9651759" y="4990975"/>
            <a:ext cx="1879553" cy="15925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Up to 6 local. No LAN listed.</a:t>
            </a:r>
            <a:endParaRPr lang="en-US" sz="950" dirty="0"/>
          </a:p>
        </p:txBody>
      </p:sp>
      <p:sp>
        <p:nvSpPr>
          <p:cNvPr id="71" name="text 10.70"/>
          <p:cNvSpPr txBox="1"/>
          <p:nvPr/>
        </p:nvSpPr>
        <p:spPr>
          <a:xfrm>
            <a:off x="9651759" y="5549761"/>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8F55F5"/>
                </a:solidFill>
                <a:latin typeface="Arial" pitchFamily="34" charset="0"/>
                <a:ea typeface="Arial" pitchFamily="34" charset="-122"/>
                <a:cs typeface="Arial" pitchFamily="34" charset="-120"/>
              </a:rPr>
              <a:t>FINANCIALS</a:t>
            </a:r>
            <a:endParaRPr lang="en-US" sz="700" dirty="0"/>
          </a:p>
        </p:txBody>
      </p:sp>
      <p:sp>
        <p:nvSpPr>
          <p:cNvPr id="72" name="text 10.71"/>
          <p:cNvSpPr txBox="1"/>
          <p:nvPr/>
        </p:nvSpPr>
        <p:spPr>
          <a:xfrm>
            <a:off x="9651759" y="5689458"/>
            <a:ext cx="1879553" cy="15925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$4.99. Sales not disclosed.</a:t>
            </a:r>
            <a:endParaRPr lang="en-US" sz="950" dirty="0"/>
          </a:p>
        </p:txBody>
      </p:sp>
      <p:sp>
        <p:nvSpPr>
          <p:cNvPr id="73" name="text 10.72"/>
          <p:cNvSpPr txBox="1"/>
          <p:nvPr/>
        </p:nvSpPr>
        <p:spPr>
          <a:xfrm>
            <a:off x="609585" y="6554326"/>
            <a:ext cx="1150591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Screenshots: official Steam media, © publishers. “Owner est.” = third-party estimates via SteamDB, not sales. 2026-10-17 [7].</a:t>
            </a:r>
            <a:endParaRPr lang="en-US" sz="850" dirty="0"/>
          </a:p>
        </p:txBody>
      </p:sp>
      <p:sp>
        <p:nvSpPr>
          <p:cNvPr id="74" name="shape 10.73"/>
          <p:cNvSpPr/>
          <p:nvPr/>
        </p:nvSpPr>
        <p:spPr>
          <a:xfrm>
            <a:off x="609585" y="266693"/>
            <a:ext cx="1182261"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75" name="shape 10.74"/>
          <p:cNvSpPr/>
          <p:nvPr/>
        </p:nvSpPr>
        <p:spPr>
          <a:xfrm>
            <a:off x="711182" y="355591"/>
            <a:ext cx="114297" cy="114297"/>
          </a:xfrm>
          <a:prstGeom prst="roundRect">
            <a:avLst>
              <a:gd name="adj" fmla="val 33333"/>
            </a:avLst>
          </a:prstGeom>
          <a:solidFill>
            <a:srgbClr val="8F55F5"/>
          </a:solidFill>
          <a:ln/>
        </p:spPr>
      </p:sp>
      <p:sp>
        <p:nvSpPr>
          <p:cNvPr id="76" name="shape 10.75"/>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77" name="shape 10.76"/>
          <p:cNvSpPr/>
          <p:nvPr/>
        </p:nvSpPr>
        <p:spPr>
          <a:xfrm>
            <a:off x="10058149" y="368291"/>
            <a:ext cx="101597" cy="101597"/>
          </a:xfrm>
          <a:prstGeom prst="roundRect">
            <a:avLst>
              <a:gd name="adj" fmla="val 31250"/>
            </a:avLst>
          </a:prstGeom>
          <a:solidFill>
            <a:srgbClr val="16233F"/>
          </a:solidFill>
          <a:ln/>
        </p:spPr>
      </p:sp>
      <p:sp>
        <p:nvSpPr>
          <p:cNvPr id="78" name="shape 10.77"/>
          <p:cNvSpPr/>
          <p:nvPr/>
        </p:nvSpPr>
        <p:spPr>
          <a:xfrm>
            <a:off x="10223244" y="368291"/>
            <a:ext cx="101597" cy="101597"/>
          </a:xfrm>
          <a:prstGeom prst="roundRect">
            <a:avLst>
              <a:gd name="adj" fmla="val 31250"/>
            </a:avLst>
          </a:prstGeom>
          <a:solidFill>
            <a:srgbClr val="16233F"/>
          </a:solidFill>
          <a:ln/>
        </p:spPr>
      </p:sp>
      <p:sp>
        <p:nvSpPr>
          <p:cNvPr id="79" name="shape 10.78"/>
          <p:cNvSpPr/>
          <p:nvPr/>
        </p:nvSpPr>
        <p:spPr>
          <a:xfrm>
            <a:off x="10388340" y="368291"/>
            <a:ext cx="101597" cy="101597"/>
          </a:xfrm>
          <a:prstGeom prst="roundRect">
            <a:avLst>
              <a:gd name="adj" fmla="val 31250"/>
            </a:avLst>
          </a:prstGeom>
          <a:solidFill>
            <a:srgbClr val="8F55F5"/>
          </a:solidFill>
          <a:ln/>
        </p:spPr>
      </p:sp>
      <p:sp>
        <p:nvSpPr>
          <p:cNvPr id="80" name="shape 10.79"/>
          <p:cNvSpPr/>
          <p:nvPr/>
        </p:nvSpPr>
        <p:spPr>
          <a:xfrm>
            <a:off x="10553436" y="368291"/>
            <a:ext cx="101597" cy="101597"/>
          </a:xfrm>
          <a:prstGeom prst="roundRect">
            <a:avLst>
              <a:gd name="adj" fmla="val 31250"/>
            </a:avLst>
          </a:prstGeom>
          <a:solidFill>
            <a:srgbClr val="C7D4E8"/>
          </a:solidFill>
          <a:ln/>
        </p:spPr>
      </p:sp>
      <p:sp>
        <p:nvSpPr>
          <p:cNvPr id="81" name="shape 10.80"/>
          <p:cNvSpPr/>
          <p:nvPr/>
        </p:nvSpPr>
        <p:spPr>
          <a:xfrm>
            <a:off x="10718532" y="368291"/>
            <a:ext cx="101597" cy="101597"/>
          </a:xfrm>
          <a:prstGeom prst="roundRect">
            <a:avLst>
              <a:gd name="adj" fmla="val 31250"/>
            </a:avLst>
          </a:prstGeom>
          <a:solidFill>
            <a:srgbClr val="C7D4E8"/>
          </a:solidFill>
          <a:ln/>
        </p:spPr>
      </p:sp>
      <p:sp>
        <p:nvSpPr>
          <p:cNvPr id="82" name="shape 10.81"/>
          <p:cNvSpPr/>
          <p:nvPr/>
        </p:nvSpPr>
        <p:spPr>
          <a:xfrm>
            <a:off x="10883628" y="368291"/>
            <a:ext cx="101597" cy="101597"/>
          </a:xfrm>
          <a:prstGeom prst="roundRect">
            <a:avLst>
              <a:gd name="adj" fmla="val 31250"/>
            </a:avLst>
          </a:prstGeom>
          <a:solidFill>
            <a:srgbClr val="C7D4E8"/>
          </a:solidFill>
          <a:ln/>
        </p:spPr>
      </p:sp>
      <p:sp>
        <p:nvSpPr>
          <p:cNvPr id="83" name="text 10.82"/>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10</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84" name="text 10.83"/>
          <p:cNvSpPr txBox="1"/>
          <p:nvPr/>
        </p:nvSpPr>
        <p:spPr>
          <a:xfrm>
            <a:off x="927077" y="349241"/>
            <a:ext cx="723225"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03 · Market</a:t>
            </a:r>
            <a:endParaRPr lang="en-US"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1.1"/>
          <p:cNvSpPr/>
          <p:nvPr/>
        </p:nvSpPr>
        <p:spPr>
          <a:xfrm>
            <a:off x="609585" y="1587460"/>
            <a:ext cx="9708907" cy="4178196"/>
          </a:xfrm>
          <a:prstGeom prst="roundRect">
            <a:avLst>
              <a:gd name="adj" fmla="val 4255"/>
            </a:avLst>
          </a:prstGeom>
          <a:solidFill>
            <a:srgbClr val="FFFFFF"/>
          </a:solidFill>
          <a:ln/>
          <a:effectLst>
            <a:outerShdw sx="100000" sy="100000" kx="0" ky="0" algn="bl" rotWithShape="0" blurRad="203200" dist="76200" dir="5400000">
              <a:srgbClr val="1E468C">
                <a:alpha val="16000"/>
              </a:srgbClr>
            </a:outerShdw>
          </a:effectLst>
        </p:spPr>
      </p:sp>
      <p:sp>
        <p:nvSpPr>
          <p:cNvPr id="3" name="shape 11.2"/>
          <p:cNvSpPr/>
          <p:nvPr/>
        </p:nvSpPr>
        <p:spPr>
          <a:xfrm>
            <a:off x="10381990" y="1498563"/>
            <a:ext cx="1187420" cy="4355991"/>
          </a:xfrm>
          <a:prstGeom prst="roundRect">
            <a:avLst>
              <a:gd name="adj" fmla="val 14973"/>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pic>
        <p:nvPicPr>
          <p:cNvPr id="4" name="raster 11.3" descr="diagram">    </p:cNvPr>
          <p:cNvPicPr>
            <a:picLocks noChangeAspect="1"/>
          </p:cNvPicPr>
          <p:nvPr/>
        </p:nvPicPr>
        <p:blipFill>
          <a:blip r:embed="rId2"/>
          <a:stretch>
            <a:fillRect/>
          </a:stretch>
        </p:blipFill>
        <p:spPr>
          <a:xfrm>
            <a:off x="4886203" y="2139897"/>
            <a:ext cx="304792" cy="304792"/>
          </a:xfrm>
          <a:prstGeom prst="rect">
            <a:avLst/>
          </a:prstGeom>
        </p:spPr>
      </p:pic>
      <p:pic>
        <p:nvPicPr>
          <p:cNvPr id="5" name="raster 11.4" descr="diagram">    </p:cNvPr>
          <p:cNvPicPr>
            <a:picLocks noChangeAspect="1"/>
          </p:cNvPicPr>
          <p:nvPr/>
        </p:nvPicPr>
        <p:blipFill>
          <a:blip r:embed="rId3"/>
          <a:stretch>
            <a:fillRect/>
          </a:stretch>
        </p:blipFill>
        <p:spPr>
          <a:xfrm>
            <a:off x="6073623" y="2139897"/>
            <a:ext cx="304792" cy="304792"/>
          </a:xfrm>
          <a:prstGeom prst="rect">
            <a:avLst/>
          </a:prstGeom>
        </p:spPr>
      </p:pic>
      <p:pic>
        <p:nvPicPr>
          <p:cNvPr id="6" name="raster 11.5" descr="diagram">    </p:cNvPr>
          <p:cNvPicPr>
            <a:picLocks noChangeAspect="1"/>
          </p:cNvPicPr>
          <p:nvPr/>
        </p:nvPicPr>
        <p:blipFill>
          <a:blip r:embed="rId4"/>
          <a:stretch>
            <a:fillRect/>
          </a:stretch>
        </p:blipFill>
        <p:spPr>
          <a:xfrm>
            <a:off x="7261043" y="2139897"/>
            <a:ext cx="304792" cy="304792"/>
          </a:xfrm>
          <a:prstGeom prst="rect">
            <a:avLst/>
          </a:prstGeom>
        </p:spPr>
      </p:pic>
      <p:pic>
        <p:nvPicPr>
          <p:cNvPr id="7" name="raster 11.6" descr="diagram">    </p:cNvPr>
          <p:cNvPicPr>
            <a:picLocks noChangeAspect="1"/>
          </p:cNvPicPr>
          <p:nvPr/>
        </p:nvPicPr>
        <p:blipFill>
          <a:blip r:embed="rId5"/>
          <a:stretch>
            <a:fillRect/>
          </a:stretch>
        </p:blipFill>
        <p:spPr>
          <a:xfrm>
            <a:off x="8448464" y="2139897"/>
            <a:ext cx="304792" cy="304792"/>
          </a:xfrm>
          <a:prstGeom prst="rect">
            <a:avLst/>
          </a:prstGeom>
        </p:spPr>
      </p:pic>
      <p:pic>
        <p:nvPicPr>
          <p:cNvPr id="8" name="raster 11.7" descr="diagram">    </p:cNvPr>
          <p:cNvPicPr>
            <a:picLocks noChangeAspect="1"/>
          </p:cNvPicPr>
          <p:nvPr/>
        </p:nvPicPr>
        <p:blipFill>
          <a:blip r:embed="rId6"/>
          <a:stretch>
            <a:fillRect/>
          </a:stretch>
        </p:blipFill>
        <p:spPr>
          <a:xfrm>
            <a:off x="9642234" y="2146246"/>
            <a:ext cx="292093" cy="292093"/>
          </a:xfrm>
          <a:prstGeom prst="rect">
            <a:avLst/>
          </a:prstGeom>
        </p:spPr>
      </p:pic>
      <p:pic>
        <p:nvPicPr>
          <p:cNvPr id="9" name="raster 11.8" descr="diagram">    </p:cNvPr>
          <p:cNvPicPr>
            <a:picLocks noChangeAspect="1"/>
          </p:cNvPicPr>
          <p:nvPr/>
        </p:nvPicPr>
        <p:blipFill>
          <a:blip r:embed="rId7"/>
          <a:stretch>
            <a:fillRect/>
          </a:stretch>
        </p:blipFill>
        <p:spPr>
          <a:xfrm>
            <a:off x="10823304" y="2139897"/>
            <a:ext cx="304792" cy="304792"/>
          </a:xfrm>
          <a:prstGeom prst="rect">
            <a:avLst/>
          </a:prstGeom>
        </p:spPr>
      </p:pic>
      <p:sp>
        <p:nvSpPr>
          <p:cNvPr id="10" name="shape 11.9"/>
          <p:cNvSpPr/>
          <p:nvPr/>
        </p:nvSpPr>
        <p:spPr>
          <a:xfrm>
            <a:off x="800080" y="2552636"/>
            <a:ext cx="9327917" cy="12700"/>
          </a:xfrm>
          <a:prstGeom prst="roundRect">
            <a:avLst>
              <a:gd name="adj" fmla="val 49999"/>
            </a:avLst>
          </a:prstGeom>
          <a:solidFill>
            <a:srgbClr val="DCE6F3"/>
          </a:solidFill>
          <a:ln/>
        </p:spPr>
      </p:sp>
      <p:pic>
        <p:nvPicPr>
          <p:cNvPr id="11" name="raster 11.10" descr="diagram">    </p:cNvPr>
          <p:cNvPicPr>
            <a:picLocks noChangeAspect="1"/>
          </p:cNvPicPr>
          <p:nvPr/>
        </p:nvPicPr>
        <p:blipFill>
          <a:blip r:embed="rId8"/>
          <a:stretch>
            <a:fillRect/>
          </a:stretch>
        </p:blipFill>
        <p:spPr>
          <a:xfrm>
            <a:off x="4886203" y="2660583"/>
            <a:ext cx="304792" cy="304792"/>
          </a:xfrm>
          <a:prstGeom prst="rect">
            <a:avLst/>
          </a:prstGeom>
        </p:spPr>
      </p:pic>
      <p:pic>
        <p:nvPicPr>
          <p:cNvPr id="12" name="raster 11.11" descr="diagram">    </p:cNvPr>
          <p:cNvPicPr>
            <a:picLocks noChangeAspect="1"/>
          </p:cNvPicPr>
          <p:nvPr/>
        </p:nvPicPr>
        <p:blipFill>
          <a:blip r:embed="rId9"/>
          <a:stretch>
            <a:fillRect/>
          </a:stretch>
        </p:blipFill>
        <p:spPr>
          <a:xfrm>
            <a:off x="6079973" y="2666933"/>
            <a:ext cx="292093" cy="292093"/>
          </a:xfrm>
          <a:prstGeom prst="rect">
            <a:avLst/>
          </a:prstGeom>
        </p:spPr>
      </p:pic>
      <p:pic>
        <p:nvPicPr>
          <p:cNvPr id="13" name="raster 11.12" descr="diagram">    </p:cNvPr>
          <p:cNvPicPr>
            <a:picLocks noChangeAspect="1"/>
          </p:cNvPicPr>
          <p:nvPr/>
        </p:nvPicPr>
        <p:blipFill>
          <a:blip r:embed="rId10"/>
          <a:stretch>
            <a:fillRect/>
          </a:stretch>
        </p:blipFill>
        <p:spPr>
          <a:xfrm>
            <a:off x="7267393" y="2666933"/>
            <a:ext cx="292093" cy="292093"/>
          </a:xfrm>
          <a:prstGeom prst="rect">
            <a:avLst/>
          </a:prstGeom>
        </p:spPr>
      </p:pic>
      <p:pic>
        <p:nvPicPr>
          <p:cNvPr id="14" name="raster 11.13" descr="diagram">    </p:cNvPr>
          <p:cNvPicPr>
            <a:picLocks noChangeAspect="1"/>
          </p:cNvPicPr>
          <p:nvPr/>
        </p:nvPicPr>
        <p:blipFill>
          <a:blip r:embed="rId11"/>
          <a:stretch>
            <a:fillRect/>
          </a:stretch>
        </p:blipFill>
        <p:spPr>
          <a:xfrm>
            <a:off x="8448464" y="2660583"/>
            <a:ext cx="304792" cy="304792"/>
          </a:xfrm>
          <a:prstGeom prst="rect">
            <a:avLst/>
          </a:prstGeom>
        </p:spPr>
      </p:pic>
      <p:pic>
        <p:nvPicPr>
          <p:cNvPr id="15" name="raster 11.14" descr="diagram">    </p:cNvPr>
          <p:cNvPicPr>
            <a:picLocks noChangeAspect="1"/>
          </p:cNvPicPr>
          <p:nvPr/>
        </p:nvPicPr>
        <p:blipFill>
          <a:blip r:embed="rId12"/>
          <a:stretch>
            <a:fillRect/>
          </a:stretch>
        </p:blipFill>
        <p:spPr>
          <a:xfrm>
            <a:off x="9635884" y="2660583"/>
            <a:ext cx="304792" cy="304792"/>
          </a:xfrm>
          <a:prstGeom prst="rect">
            <a:avLst/>
          </a:prstGeom>
        </p:spPr>
      </p:pic>
      <p:pic>
        <p:nvPicPr>
          <p:cNvPr id="16" name="raster 11.15" descr="diagram">    </p:cNvPr>
          <p:cNvPicPr>
            <a:picLocks noChangeAspect="1"/>
          </p:cNvPicPr>
          <p:nvPr/>
        </p:nvPicPr>
        <p:blipFill>
          <a:blip r:embed="rId13"/>
          <a:stretch>
            <a:fillRect/>
          </a:stretch>
        </p:blipFill>
        <p:spPr>
          <a:xfrm>
            <a:off x="10823304" y="2660583"/>
            <a:ext cx="304792" cy="304792"/>
          </a:xfrm>
          <a:prstGeom prst="rect">
            <a:avLst/>
          </a:prstGeom>
        </p:spPr>
      </p:pic>
      <p:sp>
        <p:nvSpPr>
          <p:cNvPr id="17" name="shape 11.16"/>
          <p:cNvSpPr/>
          <p:nvPr/>
        </p:nvSpPr>
        <p:spPr>
          <a:xfrm>
            <a:off x="800080" y="3073323"/>
            <a:ext cx="9327917" cy="12700"/>
          </a:xfrm>
          <a:prstGeom prst="roundRect">
            <a:avLst>
              <a:gd name="adj" fmla="val 49999"/>
            </a:avLst>
          </a:prstGeom>
          <a:solidFill>
            <a:srgbClr val="DCE6F3"/>
          </a:solidFill>
          <a:ln/>
        </p:spPr>
      </p:sp>
      <p:pic>
        <p:nvPicPr>
          <p:cNvPr id="18" name="raster 11.17" descr="diagram">    </p:cNvPr>
          <p:cNvPicPr>
            <a:picLocks noChangeAspect="1"/>
          </p:cNvPicPr>
          <p:nvPr/>
        </p:nvPicPr>
        <p:blipFill>
          <a:blip r:embed="rId14"/>
          <a:stretch>
            <a:fillRect/>
          </a:stretch>
        </p:blipFill>
        <p:spPr>
          <a:xfrm>
            <a:off x="4892553" y="3187620"/>
            <a:ext cx="292093" cy="292093"/>
          </a:xfrm>
          <a:prstGeom prst="rect">
            <a:avLst/>
          </a:prstGeom>
        </p:spPr>
      </p:pic>
      <p:pic>
        <p:nvPicPr>
          <p:cNvPr id="19" name="raster 11.18" descr="diagram">    </p:cNvPr>
          <p:cNvPicPr>
            <a:picLocks noChangeAspect="1"/>
          </p:cNvPicPr>
          <p:nvPr/>
        </p:nvPicPr>
        <p:blipFill>
          <a:blip r:embed="rId15"/>
          <a:stretch>
            <a:fillRect/>
          </a:stretch>
        </p:blipFill>
        <p:spPr>
          <a:xfrm>
            <a:off x="6079973" y="3187620"/>
            <a:ext cx="292093" cy="292093"/>
          </a:xfrm>
          <a:prstGeom prst="rect">
            <a:avLst/>
          </a:prstGeom>
        </p:spPr>
      </p:pic>
      <p:pic>
        <p:nvPicPr>
          <p:cNvPr id="20" name="raster 11.19" descr="diagram">    </p:cNvPr>
          <p:cNvPicPr>
            <a:picLocks noChangeAspect="1"/>
          </p:cNvPicPr>
          <p:nvPr/>
        </p:nvPicPr>
        <p:blipFill>
          <a:blip r:embed="rId16"/>
          <a:stretch>
            <a:fillRect/>
          </a:stretch>
        </p:blipFill>
        <p:spPr>
          <a:xfrm>
            <a:off x="7267393" y="3187620"/>
            <a:ext cx="292093" cy="292093"/>
          </a:xfrm>
          <a:prstGeom prst="rect">
            <a:avLst/>
          </a:prstGeom>
        </p:spPr>
      </p:pic>
      <p:pic>
        <p:nvPicPr>
          <p:cNvPr id="21" name="raster 11.20" descr="diagram">    </p:cNvPr>
          <p:cNvPicPr>
            <a:picLocks noChangeAspect="1"/>
          </p:cNvPicPr>
          <p:nvPr/>
        </p:nvPicPr>
        <p:blipFill>
          <a:blip r:embed="rId17"/>
          <a:stretch>
            <a:fillRect/>
          </a:stretch>
        </p:blipFill>
        <p:spPr>
          <a:xfrm>
            <a:off x="8454814" y="3187620"/>
            <a:ext cx="292093" cy="292093"/>
          </a:xfrm>
          <a:prstGeom prst="rect">
            <a:avLst/>
          </a:prstGeom>
        </p:spPr>
      </p:pic>
      <p:pic>
        <p:nvPicPr>
          <p:cNvPr id="22" name="raster 11.21" descr="diagram">    </p:cNvPr>
          <p:cNvPicPr>
            <a:picLocks noChangeAspect="1"/>
          </p:cNvPicPr>
          <p:nvPr/>
        </p:nvPicPr>
        <p:blipFill>
          <a:blip r:embed="rId18"/>
          <a:stretch>
            <a:fillRect/>
          </a:stretch>
        </p:blipFill>
        <p:spPr>
          <a:xfrm>
            <a:off x="9635884" y="3181270"/>
            <a:ext cx="304792" cy="304792"/>
          </a:xfrm>
          <a:prstGeom prst="rect">
            <a:avLst/>
          </a:prstGeom>
        </p:spPr>
      </p:pic>
      <p:pic>
        <p:nvPicPr>
          <p:cNvPr id="23" name="raster 11.22" descr="diagram">    </p:cNvPr>
          <p:cNvPicPr>
            <a:picLocks noChangeAspect="1"/>
          </p:cNvPicPr>
          <p:nvPr/>
        </p:nvPicPr>
        <p:blipFill>
          <a:blip r:embed="rId19"/>
          <a:stretch>
            <a:fillRect/>
          </a:stretch>
        </p:blipFill>
        <p:spPr>
          <a:xfrm>
            <a:off x="10823304" y="3181270"/>
            <a:ext cx="304792" cy="304792"/>
          </a:xfrm>
          <a:prstGeom prst="rect">
            <a:avLst/>
          </a:prstGeom>
        </p:spPr>
      </p:pic>
      <p:sp>
        <p:nvSpPr>
          <p:cNvPr id="24" name="shape 11.23"/>
          <p:cNvSpPr/>
          <p:nvPr/>
        </p:nvSpPr>
        <p:spPr>
          <a:xfrm>
            <a:off x="800080" y="3594010"/>
            <a:ext cx="9327917" cy="12700"/>
          </a:xfrm>
          <a:prstGeom prst="roundRect">
            <a:avLst>
              <a:gd name="adj" fmla="val 49999"/>
            </a:avLst>
          </a:prstGeom>
          <a:solidFill>
            <a:srgbClr val="DCE6F3"/>
          </a:solidFill>
          <a:ln/>
        </p:spPr>
      </p:sp>
      <p:pic>
        <p:nvPicPr>
          <p:cNvPr id="25" name="raster 11.24" descr="diagram">    </p:cNvPr>
          <p:cNvPicPr>
            <a:picLocks noChangeAspect="1"/>
          </p:cNvPicPr>
          <p:nvPr/>
        </p:nvPicPr>
        <p:blipFill>
          <a:blip r:embed="rId20"/>
          <a:stretch>
            <a:fillRect/>
          </a:stretch>
        </p:blipFill>
        <p:spPr>
          <a:xfrm>
            <a:off x="4892553" y="3708307"/>
            <a:ext cx="292093" cy="292093"/>
          </a:xfrm>
          <a:prstGeom prst="rect">
            <a:avLst/>
          </a:prstGeom>
        </p:spPr>
      </p:pic>
      <p:pic>
        <p:nvPicPr>
          <p:cNvPr id="26" name="raster 11.25" descr="diagram">    </p:cNvPr>
          <p:cNvPicPr>
            <a:picLocks noChangeAspect="1"/>
          </p:cNvPicPr>
          <p:nvPr/>
        </p:nvPicPr>
        <p:blipFill>
          <a:blip r:embed="rId21"/>
          <a:stretch>
            <a:fillRect/>
          </a:stretch>
        </p:blipFill>
        <p:spPr>
          <a:xfrm>
            <a:off x="6079973" y="3708307"/>
            <a:ext cx="292093" cy="292093"/>
          </a:xfrm>
          <a:prstGeom prst="rect">
            <a:avLst/>
          </a:prstGeom>
        </p:spPr>
      </p:pic>
      <p:pic>
        <p:nvPicPr>
          <p:cNvPr id="27" name="raster 11.26" descr="diagram">    </p:cNvPr>
          <p:cNvPicPr>
            <a:picLocks noChangeAspect="1"/>
          </p:cNvPicPr>
          <p:nvPr/>
        </p:nvPicPr>
        <p:blipFill>
          <a:blip r:embed="rId22"/>
          <a:stretch>
            <a:fillRect/>
          </a:stretch>
        </p:blipFill>
        <p:spPr>
          <a:xfrm>
            <a:off x="7267393" y="3708307"/>
            <a:ext cx="292093" cy="292093"/>
          </a:xfrm>
          <a:prstGeom prst="rect">
            <a:avLst/>
          </a:prstGeom>
        </p:spPr>
      </p:pic>
      <p:pic>
        <p:nvPicPr>
          <p:cNvPr id="28" name="raster 11.27" descr="diagram">    </p:cNvPr>
          <p:cNvPicPr>
            <a:picLocks noChangeAspect="1"/>
          </p:cNvPicPr>
          <p:nvPr/>
        </p:nvPicPr>
        <p:blipFill>
          <a:blip r:embed="rId23"/>
          <a:stretch>
            <a:fillRect/>
          </a:stretch>
        </p:blipFill>
        <p:spPr>
          <a:xfrm>
            <a:off x="8454814" y="3708307"/>
            <a:ext cx="292093" cy="292093"/>
          </a:xfrm>
          <a:prstGeom prst="rect">
            <a:avLst/>
          </a:prstGeom>
        </p:spPr>
      </p:pic>
      <p:pic>
        <p:nvPicPr>
          <p:cNvPr id="29" name="raster 11.28" descr="diagram">    </p:cNvPr>
          <p:cNvPicPr>
            <a:picLocks noChangeAspect="1"/>
          </p:cNvPicPr>
          <p:nvPr/>
        </p:nvPicPr>
        <p:blipFill>
          <a:blip r:embed="rId24"/>
          <a:stretch>
            <a:fillRect/>
          </a:stretch>
        </p:blipFill>
        <p:spPr>
          <a:xfrm>
            <a:off x="9642234" y="3708307"/>
            <a:ext cx="292093" cy="292093"/>
          </a:xfrm>
          <a:prstGeom prst="rect">
            <a:avLst/>
          </a:prstGeom>
        </p:spPr>
      </p:pic>
      <p:pic>
        <p:nvPicPr>
          <p:cNvPr id="30" name="raster 11.29" descr="diagram">    </p:cNvPr>
          <p:cNvPicPr>
            <a:picLocks noChangeAspect="1"/>
          </p:cNvPicPr>
          <p:nvPr/>
        </p:nvPicPr>
        <p:blipFill>
          <a:blip r:embed="rId25"/>
          <a:stretch>
            <a:fillRect/>
          </a:stretch>
        </p:blipFill>
        <p:spPr>
          <a:xfrm>
            <a:off x="10823304" y="3701957"/>
            <a:ext cx="304792" cy="304792"/>
          </a:xfrm>
          <a:prstGeom prst="rect">
            <a:avLst/>
          </a:prstGeom>
        </p:spPr>
      </p:pic>
      <p:sp>
        <p:nvSpPr>
          <p:cNvPr id="31" name="shape 11.30"/>
          <p:cNvSpPr/>
          <p:nvPr/>
        </p:nvSpPr>
        <p:spPr>
          <a:xfrm>
            <a:off x="800080" y="4114697"/>
            <a:ext cx="9327917" cy="12700"/>
          </a:xfrm>
          <a:prstGeom prst="roundRect">
            <a:avLst>
              <a:gd name="adj" fmla="val 49999"/>
            </a:avLst>
          </a:prstGeom>
          <a:solidFill>
            <a:srgbClr val="DCE6F3"/>
          </a:solidFill>
          <a:ln/>
        </p:spPr>
      </p:sp>
      <p:pic>
        <p:nvPicPr>
          <p:cNvPr id="32" name="raster 11.31" descr="diagram">    </p:cNvPr>
          <p:cNvPicPr>
            <a:picLocks noChangeAspect="1"/>
          </p:cNvPicPr>
          <p:nvPr/>
        </p:nvPicPr>
        <p:blipFill>
          <a:blip r:embed="rId26"/>
          <a:stretch>
            <a:fillRect/>
          </a:stretch>
        </p:blipFill>
        <p:spPr>
          <a:xfrm>
            <a:off x="4892553" y="4228994"/>
            <a:ext cx="292093" cy="292093"/>
          </a:xfrm>
          <a:prstGeom prst="rect">
            <a:avLst/>
          </a:prstGeom>
        </p:spPr>
      </p:pic>
      <p:pic>
        <p:nvPicPr>
          <p:cNvPr id="33" name="raster 11.32" descr="diagram">    </p:cNvPr>
          <p:cNvPicPr>
            <a:picLocks noChangeAspect="1"/>
          </p:cNvPicPr>
          <p:nvPr/>
        </p:nvPicPr>
        <p:blipFill>
          <a:blip r:embed="rId27"/>
          <a:stretch>
            <a:fillRect/>
          </a:stretch>
        </p:blipFill>
        <p:spPr>
          <a:xfrm>
            <a:off x="6079973" y="4228994"/>
            <a:ext cx="292093" cy="292093"/>
          </a:xfrm>
          <a:prstGeom prst="rect">
            <a:avLst/>
          </a:prstGeom>
        </p:spPr>
      </p:pic>
      <p:pic>
        <p:nvPicPr>
          <p:cNvPr id="34" name="raster 11.33" descr="diagram">    </p:cNvPr>
          <p:cNvPicPr>
            <a:picLocks noChangeAspect="1"/>
          </p:cNvPicPr>
          <p:nvPr/>
        </p:nvPicPr>
        <p:blipFill>
          <a:blip r:embed="rId28"/>
          <a:stretch>
            <a:fillRect/>
          </a:stretch>
        </p:blipFill>
        <p:spPr>
          <a:xfrm>
            <a:off x="7261043" y="4222644"/>
            <a:ext cx="304792" cy="304792"/>
          </a:xfrm>
          <a:prstGeom prst="rect">
            <a:avLst/>
          </a:prstGeom>
        </p:spPr>
      </p:pic>
      <p:pic>
        <p:nvPicPr>
          <p:cNvPr id="35" name="raster 11.34" descr="diagram">    </p:cNvPr>
          <p:cNvPicPr>
            <a:picLocks noChangeAspect="1"/>
          </p:cNvPicPr>
          <p:nvPr/>
        </p:nvPicPr>
        <p:blipFill>
          <a:blip r:embed="rId29"/>
          <a:stretch>
            <a:fillRect/>
          </a:stretch>
        </p:blipFill>
        <p:spPr>
          <a:xfrm>
            <a:off x="8448464" y="4222644"/>
            <a:ext cx="304792" cy="304792"/>
          </a:xfrm>
          <a:prstGeom prst="rect">
            <a:avLst/>
          </a:prstGeom>
        </p:spPr>
      </p:pic>
      <p:pic>
        <p:nvPicPr>
          <p:cNvPr id="36" name="raster 11.35" descr="diagram">    </p:cNvPr>
          <p:cNvPicPr>
            <a:picLocks noChangeAspect="1"/>
          </p:cNvPicPr>
          <p:nvPr/>
        </p:nvPicPr>
        <p:blipFill>
          <a:blip r:embed="rId30"/>
          <a:stretch>
            <a:fillRect/>
          </a:stretch>
        </p:blipFill>
        <p:spPr>
          <a:xfrm>
            <a:off x="9642234" y="4228994"/>
            <a:ext cx="292093" cy="292093"/>
          </a:xfrm>
          <a:prstGeom prst="rect">
            <a:avLst/>
          </a:prstGeom>
        </p:spPr>
      </p:pic>
      <p:pic>
        <p:nvPicPr>
          <p:cNvPr id="37" name="raster 11.36" descr="diagram">    </p:cNvPr>
          <p:cNvPicPr>
            <a:picLocks noChangeAspect="1"/>
          </p:cNvPicPr>
          <p:nvPr/>
        </p:nvPicPr>
        <p:blipFill>
          <a:blip r:embed="rId31"/>
          <a:stretch>
            <a:fillRect/>
          </a:stretch>
        </p:blipFill>
        <p:spPr>
          <a:xfrm>
            <a:off x="10823304" y="4222644"/>
            <a:ext cx="304792" cy="304792"/>
          </a:xfrm>
          <a:prstGeom prst="rect">
            <a:avLst/>
          </a:prstGeom>
        </p:spPr>
      </p:pic>
      <p:sp>
        <p:nvSpPr>
          <p:cNvPr id="38" name="shape 11.37"/>
          <p:cNvSpPr/>
          <p:nvPr/>
        </p:nvSpPr>
        <p:spPr>
          <a:xfrm>
            <a:off x="800080" y="4635384"/>
            <a:ext cx="9327917" cy="12700"/>
          </a:xfrm>
          <a:prstGeom prst="roundRect">
            <a:avLst>
              <a:gd name="adj" fmla="val 49999"/>
            </a:avLst>
          </a:prstGeom>
          <a:solidFill>
            <a:srgbClr val="DCE6F3"/>
          </a:solidFill>
          <a:ln/>
        </p:spPr>
      </p:sp>
      <p:pic>
        <p:nvPicPr>
          <p:cNvPr id="39" name="raster 11.38" descr="diagram">    </p:cNvPr>
          <p:cNvPicPr>
            <a:picLocks noChangeAspect="1"/>
          </p:cNvPicPr>
          <p:nvPr/>
        </p:nvPicPr>
        <p:blipFill>
          <a:blip r:embed="rId32"/>
          <a:stretch>
            <a:fillRect/>
          </a:stretch>
        </p:blipFill>
        <p:spPr>
          <a:xfrm>
            <a:off x="4892553" y="4749681"/>
            <a:ext cx="292093" cy="292093"/>
          </a:xfrm>
          <a:prstGeom prst="rect">
            <a:avLst/>
          </a:prstGeom>
        </p:spPr>
      </p:pic>
      <p:pic>
        <p:nvPicPr>
          <p:cNvPr id="40" name="raster 11.39" descr="diagram">    </p:cNvPr>
          <p:cNvPicPr>
            <a:picLocks noChangeAspect="1"/>
          </p:cNvPicPr>
          <p:nvPr/>
        </p:nvPicPr>
        <p:blipFill>
          <a:blip r:embed="rId33"/>
          <a:stretch>
            <a:fillRect/>
          </a:stretch>
        </p:blipFill>
        <p:spPr>
          <a:xfrm>
            <a:off x="6079973" y="4749681"/>
            <a:ext cx="292093" cy="292093"/>
          </a:xfrm>
          <a:prstGeom prst="rect">
            <a:avLst/>
          </a:prstGeom>
        </p:spPr>
      </p:pic>
      <p:pic>
        <p:nvPicPr>
          <p:cNvPr id="41" name="raster 11.40" descr="diagram">    </p:cNvPr>
          <p:cNvPicPr>
            <a:picLocks noChangeAspect="1"/>
          </p:cNvPicPr>
          <p:nvPr/>
        </p:nvPicPr>
        <p:blipFill>
          <a:blip r:embed="rId34"/>
          <a:stretch>
            <a:fillRect/>
          </a:stretch>
        </p:blipFill>
        <p:spPr>
          <a:xfrm>
            <a:off x="7267393" y="4749681"/>
            <a:ext cx="292093" cy="292093"/>
          </a:xfrm>
          <a:prstGeom prst="rect">
            <a:avLst/>
          </a:prstGeom>
        </p:spPr>
      </p:pic>
      <p:pic>
        <p:nvPicPr>
          <p:cNvPr id="42" name="raster 11.41" descr="diagram">    </p:cNvPr>
          <p:cNvPicPr>
            <a:picLocks noChangeAspect="1"/>
          </p:cNvPicPr>
          <p:nvPr/>
        </p:nvPicPr>
        <p:blipFill>
          <a:blip r:embed="rId35"/>
          <a:stretch>
            <a:fillRect/>
          </a:stretch>
        </p:blipFill>
        <p:spPr>
          <a:xfrm>
            <a:off x="8454814" y="4749681"/>
            <a:ext cx="292093" cy="292093"/>
          </a:xfrm>
          <a:prstGeom prst="rect">
            <a:avLst/>
          </a:prstGeom>
        </p:spPr>
      </p:pic>
      <p:pic>
        <p:nvPicPr>
          <p:cNvPr id="43" name="raster 11.42" descr="diagram">    </p:cNvPr>
          <p:cNvPicPr>
            <a:picLocks noChangeAspect="1"/>
          </p:cNvPicPr>
          <p:nvPr/>
        </p:nvPicPr>
        <p:blipFill>
          <a:blip r:embed="rId36"/>
          <a:stretch>
            <a:fillRect/>
          </a:stretch>
        </p:blipFill>
        <p:spPr>
          <a:xfrm>
            <a:off x="9642234" y="4749681"/>
            <a:ext cx="292093" cy="292093"/>
          </a:xfrm>
          <a:prstGeom prst="rect">
            <a:avLst/>
          </a:prstGeom>
        </p:spPr>
      </p:pic>
      <p:pic>
        <p:nvPicPr>
          <p:cNvPr id="44" name="raster 11.43" descr="diagram">    </p:cNvPr>
          <p:cNvPicPr>
            <a:picLocks noChangeAspect="1"/>
          </p:cNvPicPr>
          <p:nvPr/>
        </p:nvPicPr>
        <p:blipFill>
          <a:blip r:embed="rId37"/>
          <a:stretch>
            <a:fillRect/>
          </a:stretch>
        </p:blipFill>
        <p:spPr>
          <a:xfrm>
            <a:off x="10823304" y="4743331"/>
            <a:ext cx="304792" cy="304792"/>
          </a:xfrm>
          <a:prstGeom prst="rect">
            <a:avLst/>
          </a:prstGeom>
        </p:spPr>
      </p:pic>
      <p:sp>
        <p:nvSpPr>
          <p:cNvPr id="45" name="shape 11.44"/>
          <p:cNvSpPr/>
          <p:nvPr/>
        </p:nvSpPr>
        <p:spPr>
          <a:xfrm>
            <a:off x="800080" y="5156071"/>
            <a:ext cx="9327917" cy="12700"/>
          </a:xfrm>
          <a:prstGeom prst="roundRect">
            <a:avLst>
              <a:gd name="adj" fmla="val 49999"/>
            </a:avLst>
          </a:prstGeom>
          <a:solidFill>
            <a:srgbClr val="DCE6F3"/>
          </a:solidFill>
          <a:ln/>
        </p:spPr>
      </p:sp>
      <p:pic>
        <p:nvPicPr>
          <p:cNvPr id="46" name="raster 11.45" descr="diagram">    </p:cNvPr>
          <p:cNvPicPr>
            <a:picLocks noChangeAspect="1"/>
          </p:cNvPicPr>
          <p:nvPr/>
        </p:nvPicPr>
        <p:blipFill>
          <a:blip r:embed="rId38"/>
          <a:stretch>
            <a:fillRect/>
          </a:stretch>
        </p:blipFill>
        <p:spPr>
          <a:xfrm>
            <a:off x="4892553" y="5270368"/>
            <a:ext cx="292093" cy="292093"/>
          </a:xfrm>
          <a:prstGeom prst="rect">
            <a:avLst/>
          </a:prstGeom>
        </p:spPr>
      </p:pic>
      <p:pic>
        <p:nvPicPr>
          <p:cNvPr id="47" name="raster 11.46" descr="diagram">    </p:cNvPr>
          <p:cNvPicPr>
            <a:picLocks noChangeAspect="1"/>
          </p:cNvPicPr>
          <p:nvPr/>
        </p:nvPicPr>
        <p:blipFill>
          <a:blip r:embed="rId39"/>
          <a:stretch>
            <a:fillRect/>
          </a:stretch>
        </p:blipFill>
        <p:spPr>
          <a:xfrm>
            <a:off x="6073623" y="5264018"/>
            <a:ext cx="304792" cy="304792"/>
          </a:xfrm>
          <a:prstGeom prst="rect">
            <a:avLst/>
          </a:prstGeom>
        </p:spPr>
      </p:pic>
      <p:pic>
        <p:nvPicPr>
          <p:cNvPr id="48" name="raster 11.47" descr="diagram">    </p:cNvPr>
          <p:cNvPicPr>
            <a:picLocks noChangeAspect="1"/>
          </p:cNvPicPr>
          <p:nvPr/>
        </p:nvPicPr>
        <p:blipFill>
          <a:blip r:embed="rId40"/>
          <a:stretch>
            <a:fillRect/>
          </a:stretch>
        </p:blipFill>
        <p:spPr>
          <a:xfrm>
            <a:off x="7267393" y="5270368"/>
            <a:ext cx="292093" cy="292093"/>
          </a:xfrm>
          <a:prstGeom prst="rect">
            <a:avLst/>
          </a:prstGeom>
        </p:spPr>
      </p:pic>
      <p:pic>
        <p:nvPicPr>
          <p:cNvPr id="49" name="raster 11.48" descr="diagram">    </p:cNvPr>
          <p:cNvPicPr>
            <a:picLocks noChangeAspect="1"/>
          </p:cNvPicPr>
          <p:nvPr/>
        </p:nvPicPr>
        <p:blipFill>
          <a:blip r:embed="rId41"/>
          <a:stretch>
            <a:fillRect/>
          </a:stretch>
        </p:blipFill>
        <p:spPr>
          <a:xfrm>
            <a:off x="8448464" y="5264018"/>
            <a:ext cx="304792" cy="304792"/>
          </a:xfrm>
          <a:prstGeom prst="rect">
            <a:avLst/>
          </a:prstGeom>
        </p:spPr>
      </p:pic>
      <p:pic>
        <p:nvPicPr>
          <p:cNvPr id="50" name="raster 11.49" descr="diagram">    </p:cNvPr>
          <p:cNvPicPr>
            <a:picLocks noChangeAspect="1"/>
          </p:cNvPicPr>
          <p:nvPr/>
        </p:nvPicPr>
        <p:blipFill>
          <a:blip r:embed="rId42"/>
          <a:stretch>
            <a:fillRect/>
          </a:stretch>
        </p:blipFill>
        <p:spPr>
          <a:xfrm>
            <a:off x="9635884" y="5264018"/>
            <a:ext cx="304792" cy="304792"/>
          </a:xfrm>
          <a:prstGeom prst="rect">
            <a:avLst/>
          </a:prstGeom>
        </p:spPr>
      </p:pic>
      <p:pic>
        <p:nvPicPr>
          <p:cNvPr id="51" name="raster 11.50" descr="diagram">    </p:cNvPr>
          <p:cNvPicPr>
            <a:picLocks noChangeAspect="1"/>
          </p:cNvPicPr>
          <p:nvPr/>
        </p:nvPicPr>
        <p:blipFill>
          <a:blip r:embed="rId43"/>
          <a:stretch>
            <a:fillRect/>
          </a:stretch>
        </p:blipFill>
        <p:spPr>
          <a:xfrm>
            <a:off x="10823304" y="5264018"/>
            <a:ext cx="304792" cy="304792"/>
          </a:xfrm>
          <a:prstGeom prst="rect">
            <a:avLst/>
          </a:prstGeom>
        </p:spPr>
      </p:pic>
      <p:pic>
        <p:nvPicPr>
          <p:cNvPr id="52" name="raster 11.51" descr="diagram">    </p:cNvPr>
          <p:cNvPicPr>
            <a:picLocks noChangeAspect="1"/>
          </p:cNvPicPr>
          <p:nvPr/>
        </p:nvPicPr>
        <p:blipFill>
          <a:blip r:embed="rId44"/>
          <a:stretch>
            <a:fillRect/>
          </a:stretch>
        </p:blipFill>
        <p:spPr>
          <a:xfrm>
            <a:off x="565136" y="5905352"/>
            <a:ext cx="2654234" cy="241294"/>
          </a:xfrm>
          <a:prstGeom prst="rect">
            <a:avLst/>
          </a:prstGeom>
        </p:spPr>
      </p:pic>
      <p:sp>
        <p:nvSpPr>
          <p:cNvPr id="53" name="text 11.52"/>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Where we sit among them</a:t>
            </a:r>
            <a:endParaRPr lang="en-US" sz="2700" dirty="0"/>
          </a:p>
        </p:txBody>
      </p:sp>
      <p:sp>
        <p:nvSpPr>
          <p:cNvPr id="54" name="text 11.53"/>
          <p:cNvSpPr txBox="1"/>
          <p:nvPr/>
        </p:nvSpPr>
        <p:spPr>
          <a:xfrm>
            <a:off x="4444889" y="1765256"/>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PARTY ANIMALS</a:t>
            </a:r>
            <a:endParaRPr lang="en-US" sz="750" dirty="0"/>
          </a:p>
        </p:txBody>
      </p:sp>
      <p:sp>
        <p:nvSpPr>
          <p:cNvPr id="55" name="text 11.54"/>
          <p:cNvSpPr txBox="1"/>
          <p:nvPr/>
        </p:nvSpPr>
        <p:spPr>
          <a:xfrm>
            <a:off x="5632309" y="1765256"/>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GANG BEASTS</a:t>
            </a:r>
            <a:endParaRPr lang="en-US" sz="750" dirty="0"/>
          </a:p>
        </p:txBody>
      </p:sp>
      <p:sp>
        <p:nvSpPr>
          <p:cNvPr id="56" name="text 11.55"/>
          <p:cNvSpPr txBox="1"/>
          <p:nvPr/>
        </p:nvSpPr>
        <p:spPr>
          <a:xfrm>
            <a:off x="6819730" y="1765256"/>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FALL GUYS</a:t>
            </a:r>
            <a:endParaRPr lang="en-US" sz="750" dirty="0"/>
          </a:p>
        </p:txBody>
      </p:sp>
      <p:sp>
        <p:nvSpPr>
          <p:cNvPr id="57" name="text 11.56"/>
          <p:cNvSpPr txBox="1"/>
          <p:nvPr/>
        </p:nvSpPr>
        <p:spPr>
          <a:xfrm>
            <a:off x="8007150" y="1765256"/>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PUMMEL PARTY</a:t>
            </a:r>
            <a:endParaRPr lang="en-US" sz="750" dirty="0"/>
          </a:p>
        </p:txBody>
      </p:sp>
      <p:sp>
        <p:nvSpPr>
          <p:cNvPr id="58" name="text 11.57"/>
          <p:cNvSpPr txBox="1"/>
          <p:nvPr/>
        </p:nvSpPr>
        <p:spPr>
          <a:xfrm>
            <a:off x="9194570" y="1765256"/>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SQUARENA</a:t>
            </a:r>
            <a:endParaRPr lang="en-US" sz="750" dirty="0"/>
          </a:p>
        </p:txBody>
      </p:sp>
      <p:sp>
        <p:nvSpPr>
          <p:cNvPr id="59" name="text 11.58"/>
          <p:cNvSpPr txBox="1"/>
          <p:nvPr/>
        </p:nvSpPr>
        <p:spPr>
          <a:xfrm>
            <a:off x="10381990" y="1765256"/>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ICE RUMBLE</a:t>
            </a:r>
            <a:endParaRPr lang="en-US" sz="750" dirty="0"/>
          </a:p>
        </p:txBody>
      </p:sp>
      <p:sp>
        <p:nvSpPr>
          <p:cNvPr id="60" name="text 11.59"/>
          <p:cNvSpPr txBox="1"/>
          <p:nvPr/>
        </p:nvSpPr>
        <p:spPr>
          <a:xfrm>
            <a:off x="825479" y="2209745"/>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3D characters</a:t>
            </a:r>
            <a:endParaRPr lang="en-US" sz="1100" dirty="0"/>
          </a:p>
        </p:txBody>
      </p:sp>
      <p:sp>
        <p:nvSpPr>
          <p:cNvPr id="61" name="text 11.60"/>
          <p:cNvSpPr txBox="1"/>
          <p:nvPr/>
        </p:nvSpPr>
        <p:spPr>
          <a:xfrm>
            <a:off x="825479" y="2730432"/>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Ranged attacks</a:t>
            </a:r>
            <a:endParaRPr lang="en-US" sz="1100" dirty="0"/>
          </a:p>
        </p:txBody>
      </p:sp>
      <p:sp>
        <p:nvSpPr>
          <p:cNvPr id="62" name="text 11.61"/>
          <p:cNvSpPr txBox="1"/>
          <p:nvPr/>
        </p:nvSpPr>
        <p:spPr>
          <a:xfrm>
            <a:off x="825479" y="3251119"/>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Damage changes your body size</a:t>
            </a:r>
            <a:endParaRPr lang="en-US" sz="1100" dirty="0"/>
          </a:p>
        </p:txBody>
      </p:sp>
      <p:sp>
        <p:nvSpPr>
          <p:cNvPr id="63" name="text 11.62"/>
          <p:cNvSpPr txBox="1"/>
          <p:nvPr/>
        </p:nvSpPr>
        <p:spPr>
          <a:xfrm>
            <a:off x="825479" y="3771806"/>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Less mass, further knockback</a:t>
            </a:r>
            <a:endParaRPr lang="en-US" sz="1100" dirty="0"/>
          </a:p>
        </p:txBody>
      </p:sp>
      <p:sp>
        <p:nvSpPr>
          <p:cNvPr id="64" name="text 11.63"/>
          <p:cNvSpPr txBox="1"/>
          <p:nvPr/>
        </p:nvSpPr>
        <p:spPr>
          <a:xfrm>
            <a:off x="825479" y="4292493"/>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Several mini-games, one result</a:t>
            </a:r>
            <a:endParaRPr lang="en-US" sz="1100" dirty="0"/>
          </a:p>
        </p:txBody>
      </p:sp>
      <p:sp>
        <p:nvSpPr>
          <p:cNvPr id="65" name="text 11.64"/>
          <p:cNvSpPr txBox="1"/>
          <p:nvPr/>
        </p:nvSpPr>
        <p:spPr>
          <a:xfrm>
            <a:off x="825479" y="4813180"/>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Official LAN play</a:t>
            </a:r>
            <a:endParaRPr lang="en-US" sz="1100" dirty="0"/>
          </a:p>
        </p:txBody>
      </p:sp>
      <p:sp>
        <p:nvSpPr>
          <p:cNvPr id="66" name="text 11.65"/>
          <p:cNvSpPr txBox="1"/>
          <p:nvPr/>
        </p:nvSpPr>
        <p:spPr>
          <a:xfrm>
            <a:off x="825479" y="5333867"/>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Plays with no internet</a:t>
            </a:r>
            <a:endParaRPr lang="en-US" sz="1100" dirty="0"/>
          </a:p>
        </p:txBody>
      </p:sp>
      <p:sp>
        <p:nvSpPr>
          <p:cNvPr id="67" name="text 11.66"/>
          <p:cNvSpPr txBox="1"/>
          <p:nvPr/>
        </p:nvSpPr>
        <p:spPr>
          <a:xfrm>
            <a:off x="812780" y="5962501"/>
            <a:ext cx="250174"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Yes</a:t>
            </a:r>
            <a:endParaRPr lang="en-US" sz="850" dirty="0"/>
          </a:p>
        </p:txBody>
      </p:sp>
      <p:sp>
        <p:nvSpPr>
          <p:cNvPr id="68" name="text 11.67"/>
          <p:cNvSpPr txBox="1"/>
          <p:nvPr/>
        </p:nvSpPr>
        <p:spPr>
          <a:xfrm>
            <a:off x="1638259" y="5962501"/>
            <a:ext cx="356079"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Partly</a:t>
            </a:r>
            <a:endParaRPr lang="en-US" sz="850" dirty="0"/>
          </a:p>
        </p:txBody>
      </p:sp>
      <p:sp>
        <p:nvSpPr>
          <p:cNvPr id="69" name="text 11.68"/>
          <p:cNvSpPr txBox="1"/>
          <p:nvPr/>
        </p:nvSpPr>
        <p:spPr>
          <a:xfrm>
            <a:off x="2527237" y="5962501"/>
            <a:ext cx="209789"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No</a:t>
            </a:r>
            <a:endParaRPr lang="en-US" sz="850" dirty="0"/>
          </a:p>
        </p:txBody>
      </p:sp>
      <p:sp>
        <p:nvSpPr>
          <p:cNvPr id="70" name="text 11.69"/>
          <p:cNvSpPr txBox="1"/>
          <p:nvPr/>
        </p:nvSpPr>
        <p:spPr>
          <a:xfrm>
            <a:off x="3225719" y="5962501"/>
            <a:ext cx="1170194"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Planned (Ice Rumble)</a:t>
            </a:r>
            <a:endParaRPr lang="en-US" sz="850" dirty="0"/>
          </a:p>
        </p:txBody>
      </p:sp>
      <p:sp>
        <p:nvSpPr>
          <p:cNvPr id="71" name="text 11.70"/>
          <p:cNvSpPr txBox="1"/>
          <p:nvPr/>
        </p:nvSpPr>
        <p:spPr>
          <a:xfrm>
            <a:off x="609585" y="6377820"/>
            <a:ext cx="11010625" cy="302213"/>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“Official LAN: No” = not advertised in the game's Steam features. “Partly”: Party Animals and Pummel Party have some weapons or items; Fall Guys' playlist eliminates rather than scores. Party Animals needs internet even on one screen [8]. Ice Rumble column = planned design.</a:t>
            </a:r>
            <a:endParaRPr lang="en-US" sz="850" dirty="0"/>
          </a:p>
        </p:txBody>
      </p:sp>
      <p:sp>
        <p:nvSpPr>
          <p:cNvPr id="72" name="shape 11.71"/>
          <p:cNvSpPr/>
          <p:nvPr/>
        </p:nvSpPr>
        <p:spPr>
          <a:xfrm>
            <a:off x="609585" y="266693"/>
            <a:ext cx="1182261"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73" name="shape 11.72"/>
          <p:cNvSpPr/>
          <p:nvPr/>
        </p:nvSpPr>
        <p:spPr>
          <a:xfrm>
            <a:off x="711182" y="355591"/>
            <a:ext cx="114297" cy="114297"/>
          </a:xfrm>
          <a:prstGeom prst="roundRect">
            <a:avLst>
              <a:gd name="adj" fmla="val 33333"/>
            </a:avLst>
          </a:prstGeom>
          <a:solidFill>
            <a:srgbClr val="8F55F5"/>
          </a:solidFill>
          <a:ln/>
        </p:spPr>
      </p:sp>
      <p:sp>
        <p:nvSpPr>
          <p:cNvPr id="74" name="shape 11.73"/>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75" name="shape 11.74"/>
          <p:cNvSpPr/>
          <p:nvPr/>
        </p:nvSpPr>
        <p:spPr>
          <a:xfrm>
            <a:off x="10058149" y="368291"/>
            <a:ext cx="101597" cy="101597"/>
          </a:xfrm>
          <a:prstGeom prst="roundRect">
            <a:avLst>
              <a:gd name="adj" fmla="val 31250"/>
            </a:avLst>
          </a:prstGeom>
          <a:solidFill>
            <a:srgbClr val="16233F"/>
          </a:solidFill>
          <a:ln/>
        </p:spPr>
      </p:sp>
      <p:sp>
        <p:nvSpPr>
          <p:cNvPr id="76" name="shape 11.75"/>
          <p:cNvSpPr/>
          <p:nvPr/>
        </p:nvSpPr>
        <p:spPr>
          <a:xfrm>
            <a:off x="10223244" y="368291"/>
            <a:ext cx="101597" cy="101597"/>
          </a:xfrm>
          <a:prstGeom prst="roundRect">
            <a:avLst>
              <a:gd name="adj" fmla="val 31250"/>
            </a:avLst>
          </a:prstGeom>
          <a:solidFill>
            <a:srgbClr val="16233F"/>
          </a:solidFill>
          <a:ln/>
        </p:spPr>
      </p:sp>
      <p:sp>
        <p:nvSpPr>
          <p:cNvPr id="77" name="shape 11.76"/>
          <p:cNvSpPr/>
          <p:nvPr/>
        </p:nvSpPr>
        <p:spPr>
          <a:xfrm>
            <a:off x="10388340" y="368291"/>
            <a:ext cx="101597" cy="101597"/>
          </a:xfrm>
          <a:prstGeom prst="roundRect">
            <a:avLst>
              <a:gd name="adj" fmla="val 31250"/>
            </a:avLst>
          </a:prstGeom>
          <a:solidFill>
            <a:srgbClr val="8F55F5"/>
          </a:solidFill>
          <a:ln/>
        </p:spPr>
      </p:sp>
      <p:sp>
        <p:nvSpPr>
          <p:cNvPr id="78" name="shape 11.77"/>
          <p:cNvSpPr/>
          <p:nvPr/>
        </p:nvSpPr>
        <p:spPr>
          <a:xfrm>
            <a:off x="10553436" y="368291"/>
            <a:ext cx="101597" cy="101597"/>
          </a:xfrm>
          <a:prstGeom prst="roundRect">
            <a:avLst>
              <a:gd name="adj" fmla="val 31250"/>
            </a:avLst>
          </a:prstGeom>
          <a:solidFill>
            <a:srgbClr val="C7D4E8"/>
          </a:solidFill>
          <a:ln/>
        </p:spPr>
      </p:sp>
      <p:sp>
        <p:nvSpPr>
          <p:cNvPr id="79" name="shape 11.78"/>
          <p:cNvSpPr/>
          <p:nvPr/>
        </p:nvSpPr>
        <p:spPr>
          <a:xfrm>
            <a:off x="10718532" y="368291"/>
            <a:ext cx="101597" cy="101597"/>
          </a:xfrm>
          <a:prstGeom prst="roundRect">
            <a:avLst>
              <a:gd name="adj" fmla="val 31250"/>
            </a:avLst>
          </a:prstGeom>
          <a:solidFill>
            <a:srgbClr val="C7D4E8"/>
          </a:solidFill>
          <a:ln/>
        </p:spPr>
      </p:sp>
      <p:sp>
        <p:nvSpPr>
          <p:cNvPr id="80" name="shape 11.79"/>
          <p:cNvSpPr/>
          <p:nvPr/>
        </p:nvSpPr>
        <p:spPr>
          <a:xfrm>
            <a:off x="10883628" y="368291"/>
            <a:ext cx="101597" cy="101597"/>
          </a:xfrm>
          <a:prstGeom prst="roundRect">
            <a:avLst>
              <a:gd name="adj" fmla="val 31250"/>
            </a:avLst>
          </a:prstGeom>
          <a:solidFill>
            <a:srgbClr val="C7D4E8"/>
          </a:solidFill>
          <a:ln/>
        </p:spPr>
      </p:sp>
      <p:sp>
        <p:nvSpPr>
          <p:cNvPr id="81" name="text 11.80"/>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11</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82" name="text 11.81"/>
          <p:cNvSpPr txBox="1"/>
          <p:nvPr/>
        </p:nvSpPr>
        <p:spPr>
          <a:xfrm>
            <a:off x="927077" y="349241"/>
            <a:ext cx="723225"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03 · Market</a:t>
            </a:r>
            <a:endParaRPr lang="en-US"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raster 12.1" descr="diagram">    </p:cNvPr>
          <p:cNvPicPr>
            <a:picLocks noChangeAspect="1"/>
          </p:cNvPicPr>
          <p:nvPr/>
        </p:nvPicPr>
        <p:blipFill>
          <a:blip r:embed="rId2"/>
          <a:stretch>
            <a:fillRect/>
          </a:stretch>
        </p:blipFill>
        <p:spPr>
          <a:xfrm>
            <a:off x="6807030" y="2044649"/>
            <a:ext cx="3784505" cy="3784505"/>
          </a:xfrm>
          <a:prstGeom prst="rect">
            <a:avLst/>
          </a:prstGeom>
        </p:spPr>
      </p:pic>
      <p:sp>
        <p:nvSpPr>
          <p:cNvPr id="3" name="shape 12.2"/>
          <p:cNvSpPr/>
          <p:nvPr/>
        </p:nvSpPr>
        <p:spPr>
          <a:xfrm>
            <a:off x="7715057" y="1600160"/>
            <a:ext cx="1968451" cy="990575"/>
          </a:xfrm>
          <a:prstGeom prst="roundRect">
            <a:avLst>
              <a:gd name="adj" fmla="val 12821"/>
            </a:avLst>
          </a:prstGeom>
          <a:solidFill>
            <a:srgbClr val="FFFFFF"/>
          </a:solidFill>
          <a:ln/>
          <a:effectLst>
            <a:outerShdw sx="100000" sy="100000" kx="0" ky="0" algn="bl" rotWithShape="0" blurRad="203200" dist="76200" dir="5400000">
              <a:srgbClr val="1E468C">
                <a:alpha val="16000"/>
              </a:srgbClr>
            </a:outerShdw>
          </a:effectLst>
        </p:spPr>
      </p:sp>
      <p:sp>
        <p:nvSpPr>
          <p:cNvPr id="4" name="shape 12.3"/>
          <p:cNvSpPr/>
          <p:nvPr/>
        </p:nvSpPr>
        <p:spPr>
          <a:xfrm>
            <a:off x="9556511" y="3441614"/>
            <a:ext cx="1968451" cy="990575"/>
          </a:xfrm>
          <a:prstGeom prst="roundRect">
            <a:avLst>
              <a:gd name="adj" fmla="val 12821"/>
            </a:avLst>
          </a:prstGeom>
          <a:solidFill>
            <a:srgbClr val="FFFFFF"/>
          </a:solidFill>
          <a:ln/>
          <a:effectLst>
            <a:outerShdw sx="100000" sy="100000" kx="0" ky="0" algn="bl" rotWithShape="0" blurRad="203200" dist="76200" dir="5400000">
              <a:srgbClr val="1E468C">
                <a:alpha val="16000"/>
              </a:srgbClr>
            </a:outerShdw>
          </a:effectLst>
        </p:spPr>
      </p:sp>
      <p:sp>
        <p:nvSpPr>
          <p:cNvPr id="5" name="shape 12.4"/>
          <p:cNvSpPr/>
          <p:nvPr/>
        </p:nvSpPr>
        <p:spPr>
          <a:xfrm>
            <a:off x="7715057" y="5283068"/>
            <a:ext cx="1968451" cy="990575"/>
          </a:xfrm>
          <a:prstGeom prst="roundRect">
            <a:avLst>
              <a:gd name="adj" fmla="val 12821"/>
            </a:avLst>
          </a:prstGeom>
          <a:solidFill>
            <a:srgbClr val="FFFFFF"/>
          </a:solidFill>
          <a:ln/>
          <a:effectLst>
            <a:outerShdw sx="100000" sy="100000" kx="0" ky="0" algn="bl" rotWithShape="0" blurRad="203200" dist="76200" dir="5400000">
              <a:srgbClr val="1E468C">
                <a:alpha val="16000"/>
              </a:srgbClr>
            </a:outerShdw>
          </a:effectLst>
        </p:spPr>
      </p:sp>
      <p:sp>
        <p:nvSpPr>
          <p:cNvPr id="6" name="shape 12.5"/>
          <p:cNvSpPr/>
          <p:nvPr/>
        </p:nvSpPr>
        <p:spPr>
          <a:xfrm>
            <a:off x="5873603" y="3441614"/>
            <a:ext cx="1968451" cy="990575"/>
          </a:xfrm>
          <a:prstGeom prst="roundRect">
            <a:avLst>
              <a:gd name="adj" fmla="val 12821"/>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sp>
        <p:nvSpPr>
          <p:cNvPr id="7" name="shape 12.6"/>
          <p:cNvSpPr/>
          <p:nvPr/>
        </p:nvSpPr>
        <p:spPr>
          <a:xfrm>
            <a:off x="609585" y="952476"/>
            <a:ext cx="1142971" cy="241294"/>
          </a:xfrm>
          <a:prstGeom prst="roundRect">
            <a:avLst>
              <a:gd name="adj" fmla="val 50000"/>
            </a:avLst>
          </a:prstGeom>
          <a:solidFill>
            <a:srgbClr val="FF6B1F"/>
          </a:solidFill>
          <a:ln/>
        </p:spPr>
      </p:sp>
      <p:sp>
        <p:nvSpPr>
          <p:cNvPr id="8" name="text 12.7"/>
          <p:cNvSpPr txBox="1"/>
          <p:nvPr/>
        </p:nvSpPr>
        <p:spPr>
          <a:xfrm>
            <a:off x="609585" y="952476"/>
            <a:ext cx="1142971" cy="2412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THE NEW LINK</a:t>
            </a:r>
            <a:endParaRPr lang="en-US" sz="700" dirty="0"/>
          </a:p>
        </p:txBody>
      </p:sp>
      <p:sp>
        <p:nvSpPr>
          <p:cNvPr id="9" name="text 12.8"/>
          <p:cNvSpPr txBox="1"/>
          <p:nvPr/>
        </p:nvSpPr>
        <p:spPr>
          <a:xfrm>
            <a:off x="609585" y="1371566"/>
            <a:ext cx="4990975" cy="1322751"/>
          </a:xfrm>
          <a:prstGeom prst="rect">
            <a:avLst/>
          </a:prstGeom>
          <a:noFill/>
          <a:ln/>
        </p:spPr>
        <p:txBody>
          <a:bodyPr wrap="square" lIns="0" tIns="0" rIns="0" bIns="0" rtlCol="0" anchor="t"/>
          <a:lstStyle/>
          <a:p>
            <a:pPr algn="l" indent="0" marL="0">
              <a:lnSpc>
                <a:spcPts val="3470"/>
              </a:lnSpc>
              <a:buNone/>
            </a:pPr>
            <a:r>
              <a:rPr lang="en-US" sz="3100" dirty="0">
                <a:solidFill>
                  <a:srgbClr val="16233F"/>
                </a:solidFill>
                <a:latin typeface="Arial Rounded MT Bold" pitchFamily="34" charset="0"/>
                <a:ea typeface="Arial Rounded MT Bold" pitchFamily="34" charset="-122"/>
                <a:cs typeface="Arial Rounded MT Bold" pitchFamily="34" charset="-120"/>
              </a:rPr>
              <a:t>No shipped game we found ties </a:t>
            </a:r>
            <a:pPr algn="l" indent="0" marL="0">
              <a:lnSpc>
                <a:spcPts val="3470"/>
              </a:lnSpc>
              <a:buNone/>
            </a:pPr>
            <a:r>
              <a:rPr lang="en-US" sz="3100" dirty="0">
                <a:solidFill>
                  <a:srgbClr val="FF6B1F"/>
                </a:solidFill>
                <a:latin typeface="Arial Rounded MT Bold" pitchFamily="34" charset="0"/>
                <a:ea typeface="Arial Rounded MT Bold" pitchFamily="34" charset="-122"/>
                <a:cs typeface="Arial Rounded MT Bold" pitchFamily="34" charset="-120"/>
              </a:rPr>
              <a:t>knockback to the mass you have lost.</a:t>
            </a:r>
            <a:endParaRPr lang="en-US" sz="3100" dirty="0"/>
          </a:p>
        </p:txBody>
      </p:sp>
      <p:sp>
        <p:nvSpPr>
          <p:cNvPr id="10" name="text 12.9"/>
          <p:cNvSpPr txBox="1"/>
          <p:nvPr/>
        </p:nvSpPr>
        <p:spPr>
          <a:xfrm>
            <a:off x="609585" y="3428914"/>
            <a:ext cx="4863978" cy="773292"/>
          </a:xfrm>
          <a:prstGeom prst="rect">
            <a:avLst/>
          </a:prstGeom>
          <a:noFill/>
          <a:ln/>
        </p:spPr>
        <p:txBody>
          <a:bodyPr wrap="square" lIns="0" tIns="0" rIns="0" bIns="0" rtlCol="0" anchor="t"/>
          <a:lstStyle/>
          <a:p>
            <a:pPr algn="l" indent="0" marL="0">
              <a:lnSpc>
                <a:spcPts val="2030"/>
              </a:lnSpc>
              <a:buNone/>
            </a:pPr>
            <a:r>
              <a:rPr lang="en-US" sz="1400" dirty="0">
                <a:solidFill>
                  <a:srgbClr val="3B4A66"/>
                </a:solidFill>
                <a:latin typeface="Arial" pitchFamily="34" charset="0"/>
                <a:ea typeface="Arial" pitchFamily="34" charset="-122"/>
                <a:cs typeface="Arial" pitchFamily="34" charset="-120"/>
              </a:rPr>
              <a:t>Mass Knockout puts four links on one physical value the player can see. Links 01 to 03 have relatives in other games. </a:t>
            </a:r>
            <a:pPr algn="l" indent="0" marL="0">
              <a:lnSpc>
                <a:spcPts val="2030"/>
              </a:lnSpc>
              <a:buNone/>
            </a:pPr>
            <a:r>
              <a:rPr lang="en-US" sz="1400" b="1" dirty="0">
                <a:solidFill>
                  <a:srgbClr val="16233F"/>
                </a:solidFill>
                <a:latin typeface="Arial" pitchFamily="34" charset="0"/>
                <a:ea typeface="Arial" pitchFamily="34" charset="-122"/>
                <a:cs typeface="Arial" pitchFamily="34" charset="-120"/>
              </a:rPr>
              <a:t>Link 04 we did not find.</a:t>
            </a:r>
            <a:endParaRPr lang="en-US" sz="1400" dirty="0"/>
          </a:p>
        </p:txBody>
      </p:sp>
      <p:sp>
        <p:nvSpPr>
          <p:cNvPr id="11" name="text 12.10"/>
          <p:cNvSpPr txBox="1"/>
          <p:nvPr/>
        </p:nvSpPr>
        <p:spPr>
          <a:xfrm>
            <a:off x="609585" y="5968851"/>
            <a:ext cx="4990975"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Prior-art search of shipped games, Oct 2026 [9–12]. Evidence on the next slide.</a:t>
            </a:r>
            <a:endParaRPr lang="en-US" sz="850" dirty="0"/>
          </a:p>
        </p:txBody>
      </p:sp>
      <p:pic>
        <p:nvPicPr>
          <p:cNvPr id="12" name="raster 12.11" descr="diagram">    </p:cNvPr>
          <p:cNvPicPr>
            <a:picLocks noChangeAspect="1"/>
          </p:cNvPicPr>
          <p:nvPr/>
        </p:nvPicPr>
        <p:blipFill>
          <a:blip r:embed="rId3"/>
          <a:stretch>
            <a:fillRect/>
          </a:stretch>
        </p:blipFill>
        <p:spPr>
          <a:xfrm>
            <a:off x="8445289" y="3428914"/>
            <a:ext cx="507987" cy="507987"/>
          </a:xfrm>
          <a:prstGeom prst="rect">
            <a:avLst/>
          </a:prstGeom>
        </p:spPr>
      </p:pic>
      <p:sp>
        <p:nvSpPr>
          <p:cNvPr id="13" name="text 12.12"/>
          <p:cNvSpPr txBox="1"/>
          <p:nvPr/>
        </p:nvSpPr>
        <p:spPr>
          <a:xfrm>
            <a:off x="8000800" y="4000400"/>
            <a:ext cx="1396965" cy="253994"/>
          </a:xfrm>
          <a:prstGeom prst="rect">
            <a:avLst/>
          </a:prstGeom>
          <a:noFill/>
          <a:ln/>
        </p:spPr>
        <p:txBody>
          <a:bodyPr wrap="square" lIns="0" tIns="0" rIns="0" bIns="0" rtlCol="0" anchor="t"/>
          <a:lstStyle/>
          <a:p>
            <a:pPr algn="ctr" indent="0" marL="0">
              <a:lnSpc>
                <a:spcPts val="2000"/>
              </a:lnSpc>
              <a:buNone/>
            </a:pPr>
            <a:r>
              <a:rPr lang="en-US" sz="2000" dirty="0">
                <a:solidFill>
                  <a:srgbClr val="16233F"/>
                </a:solidFill>
                <a:latin typeface="Arial Rounded MT Bold" pitchFamily="34" charset="0"/>
                <a:ea typeface="Arial Rounded MT Bold" pitchFamily="34" charset="-122"/>
                <a:cs typeface="Arial Rounded MT Bold" pitchFamily="34" charset="-120"/>
              </a:rPr>
              <a:t>Mass</a:t>
            </a:r>
            <a:endParaRPr lang="en-US" sz="2000" dirty="0"/>
          </a:p>
        </p:txBody>
      </p:sp>
      <p:sp>
        <p:nvSpPr>
          <p:cNvPr id="14" name="text 12.13"/>
          <p:cNvSpPr txBox="1"/>
          <p:nvPr/>
        </p:nvSpPr>
        <p:spPr>
          <a:xfrm>
            <a:off x="8000800" y="4292493"/>
            <a:ext cx="1396965"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ONE VALUE</a:t>
            </a:r>
            <a:endParaRPr lang="en-US" sz="750" dirty="0"/>
          </a:p>
        </p:txBody>
      </p:sp>
      <p:sp>
        <p:nvSpPr>
          <p:cNvPr id="15" name="text 12.14"/>
          <p:cNvSpPr txBox="1"/>
          <p:nvPr/>
        </p:nvSpPr>
        <p:spPr>
          <a:xfrm>
            <a:off x="7854754" y="1739857"/>
            <a:ext cx="921785" cy="177796"/>
          </a:xfrm>
          <a:prstGeom prst="rect">
            <a:avLst/>
          </a:prstGeom>
          <a:noFill/>
          <a:ln/>
        </p:spPr>
        <p:txBody>
          <a:bodyPr wrap="square" lIns="0" tIns="0" rIns="0" bIns="0" rtlCol="0" anchor="t"/>
          <a:lstStyle/>
          <a:p>
            <a:pPr algn="l" indent="0" marL="0">
              <a:lnSpc>
                <a:spcPts val="1400"/>
              </a:lnSpc>
              <a:buNone/>
            </a:pPr>
            <a:r>
              <a:rPr lang="en-US" sz="1400" dirty="0">
                <a:solidFill>
                  <a:srgbClr val="16233F"/>
                </a:solidFill>
                <a:latin typeface="Arial Rounded MT Bold" pitchFamily="34" charset="0"/>
                <a:ea typeface="Arial Rounded MT Bold" pitchFamily="34" charset="-122"/>
                <a:cs typeface="Arial Rounded MT Bold" pitchFamily="34" charset="-120"/>
              </a:rPr>
              <a:t>01 Spend</a:t>
            </a:r>
            <a:endParaRPr lang="en-US" sz="1400" dirty="0"/>
          </a:p>
        </p:txBody>
      </p:sp>
      <p:sp>
        <p:nvSpPr>
          <p:cNvPr id="16" name="text 12.15"/>
          <p:cNvSpPr txBox="1"/>
          <p:nvPr/>
        </p:nvSpPr>
        <p:spPr>
          <a:xfrm>
            <a:off x="7854754" y="1993850"/>
            <a:ext cx="1752556" cy="342891"/>
          </a:xfrm>
          <a:prstGeom prst="rect">
            <a:avLst/>
          </a:prstGeom>
          <a:noFill/>
          <a:ln/>
        </p:spPr>
        <p:txBody>
          <a:bodyPr wrap="square" lIns="0" tIns="0" rIns="0" bIns="0" rtlCol="0" anchor="t"/>
          <a:lstStyle/>
          <a:p>
            <a:pPr algn="l" indent="0" marL="0">
              <a:lnSpc>
                <a:spcPts val="1350"/>
              </a:lnSpc>
              <a:buNone/>
            </a:pPr>
            <a:r>
              <a:rPr lang="en-US" sz="1000" dirty="0">
                <a:solidFill>
                  <a:srgbClr val="3B4A66"/>
                </a:solidFill>
                <a:latin typeface="Arial" pitchFamily="34" charset="0"/>
                <a:ea typeface="Arial" pitchFamily="34" charset="-122"/>
                <a:cs typeface="Arial" pitchFamily="34" charset="-120"/>
              </a:rPr>
              <a:t>Shooting spits out part of your own body.</a:t>
            </a:r>
            <a:endParaRPr lang="en-US" sz="1000" dirty="0"/>
          </a:p>
        </p:txBody>
      </p:sp>
      <p:sp>
        <p:nvSpPr>
          <p:cNvPr id="17" name="text 12.16"/>
          <p:cNvSpPr txBox="1"/>
          <p:nvPr/>
        </p:nvSpPr>
        <p:spPr>
          <a:xfrm>
            <a:off x="9696208" y="3581310"/>
            <a:ext cx="828920" cy="177796"/>
          </a:xfrm>
          <a:prstGeom prst="rect">
            <a:avLst/>
          </a:prstGeom>
          <a:noFill/>
          <a:ln/>
        </p:spPr>
        <p:txBody>
          <a:bodyPr wrap="square" lIns="0" tIns="0" rIns="0" bIns="0" rtlCol="0" anchor="t"/>
          <a:lstStyle/>
          <a:p>
            <a:pPr algn="l" indent="0" marL="0">
              <a:lnSpc>
                <a:spcPts val="1400"/>
              </a:lnSpc>
              <a:buNone/>
            </a:pPr>
            <a:r>
              <a:rPr lang="en-US" sz="1400" dirty="0">
                <a:solidFill>
                  <a:srgbClr val="16233F"/>
                </a:solidFill>
                <a:latin typeface="Arial Rounded MT Bold" pitchFamily="34" charset="0"/>
                <a:ea typeface="Arial Rounded MT Bold" pitchFamily="34" charset="-122"/>
                <a:cs typeface="Arial Rounded MT Bold" pitchFamily="34" charset="-120"/>
              </a:rPr>
              <a:t>02 Drain</a:t>
            </a:r>
            <a:endParaRPr lang="en-US" sz="1400" dirty="0"/>
          </a:p>
        </p:txBody>
      </p:sp>
      <p:sp>
        <p:nvSpPr>
          <p:cNvPr id="18" name="text 12.17"/>
          <p:cNvSpPr txBox="1"/>
          <p:nvPr/>
        </p:nvSpPr>
        <p:spPr>
          <a:xfrm>
            <a:off x="9696208" y="3835304"/>
            <a:ext cx="1752556" cy="342891"/>
          </a:xfrm>
          <a:prstGeom prst="rect">
            <a:avLst/>
          </a:prstGeom>
          <a:noFill/>
          <a:ln/>
        </p:spPr>
        <p:txBody>
          <a:bodyPr wrap="square" lIns="0" tIns="0" rIns="0" bIns="0" rtlCol="0" anchor="t"/>
          <a:lstStyle/>
          <a:p>
            <a:pPr algn="l" indent="0" marL="0">
              <a:lnSpc>
                <a:spcPts val="1350"/>
              </a:lnSpc>
              <a:buNone/>
            </a:pPr>
            <a:r>
              <a:rPr lang="en-US" sz="1000" dirty="0">
                <a:solidFill>
                  <a:srgbClr val="3B4A66"/>
                </a:solidFill>
                <a:latin typeface="Arial" pitchFamily="34" charset="0"/>
                <a:ea typeface="Arial" pitchFamily="34" charset="-122"/>
                <a:cs typeface="Arial" pitchFamily="34" charset="-120"/>
              </a:rPr>
              <a:t>Every hit you take removes body mass.</a:t>
            </a:r>
            <a:endParaRPr lang="en-US" sz="1000" dirty="0"/>
          </a:p>
        </p:txBody>
      </p:sp>
      <p:sp>
        <p:nvSpPr>
          <p:cNvPr id="19" name="text 12.18"/>
          <p:cNvSpPr txBox="1"/>
          <p:nvPr/>
        </p:nvSpPr>
        <p:spPr>
          <a:xfrm>
            <a:off x="7854754" y="5422764"/>
            <a:ext cx="1245390" cy="177796"/>
          </a:xfrm>
          <a:prstGeom prst="rect">
            <a:avLst/>
          </a:prstGeom>
          <a:noFill/>
          <a:ln/>
        </p:spPr>
        <p:txBody>
          <a:bodyPr wrap="square" lIns="0" tIns="0" rIns="0" bIns="0" rtlCol="0" anchor="t"/>
          <a:lstStyle/>
          <a:p>
            <a:pPr algn="l" indent="0" marL="0">
              <a:lnSpc>
                <a:spcPts val="1400"/>
              </a:lnSpc>
              <a:buNone/>
            </a:pPr>
            <a:r>
              <a:rPr lang="en-US" sz="1400" dirty="0">
                <a:solidFill>
                  <a:srgbClr val="16233F"/>
                </a:solidFill>
                <a:latin typeface="Arial Rounded MT Bold" pitchFamily="34" charset="0"/>
                <a:ea typeface="Arial Rounded MT Bold" pitchFamily="34" charset="-122"/>
                <a:cs typeface="Arial Rounded MT Bold" pitchFamily="34" charset="-120"/>
              </a:rPr>
              <a:t>03 One value</a:t>
            </a:r>
            <a:endParaRPr lang="en-US" sz="1400" dirty="0"/>
          </a:p>
        </p:txBody>
      </p:sp>
      <p:sp>
        <p:nvSpPr>
          <p:cNvPr id="20" name="text 12.19"/>
          <p:cNvSpPr txBox="1"/>
          <p:nvPr/>
        </p:nvSpPr>
        <p:spPr>
          <a:xfrm>
            <a:off x="7854754" y="5676758"/>
            <a:ext cx="1752556" cy="342891"/>
          </a:xfrm>
          <a:prstGeom prst="rect">
            <a:avLst/>
          </a:prstGeom>
          <a:noFill/>
          <a:ln/>
        </p:spPr>
        <p:txBody>
          <a:bodyPr wrap="square" lIns="0" tIns="0" rIns="0" bIns="0" rtlCol="0" anchor="t"/>
          <a:lstStyle/>
          <a:p>
            <a:pPr algn="l" indent="0" marL="0">
              <a:lnSpc>
                <a:spcPts val="1350"/>
              </a:lnSpc>
              <a:buNone/>
            </a:pPr>
            <a:r>
              <a:rPr lang="en-US" sz="1000" dirty="0">
                <a:solidFill>
                  <a:srgbClr val="3B4A66"/>
                </a:solidFill>
                <a:latin typeface="Arial" pitchFamily="34" charset="0"/>
                <a:ea typeface="Arial" pitchFamily="34" charset="-122"/>
                <a:cs typeface="Arial" pitchFamily="34" charset="-120"/>
              </a:rPr>
              <a:t>That mass is your size, ammunition and health.</a:t>
            </a:r>
            <a:endParaRPr lang="en-US" sz="1000" dirty="0"/>
          </a:p>
        </p:txBody>
      </p:sp>
      <p:sp>
        <p:nvSpPr>
          <p:cNvPr id="21" name="text 12.20"/>
          <p:cNvSpPr txBox="1"/>
          <p:nvPr/>
        </p:nvSpPr>
        <p:spPr>
          <a:xfrm>
            <a:off x="6013300" y="3581310"/>
            <a:ext cx="1009285" cy="177796"/>
          </a:xfrm>
          <a:prstGeom prst="rect">
            <a:avLst/>
          </a:prstGeom>
          <a:noFill/>
          <a:ln/>
        </p:spPr>
        <p:txBody>
          <a:bodyPr wrap="square" lIns="0" tIns="0" rIns="0" bIns="0" rtlCol="0" anchor="t"/>
          <a:lstStyle/>
          <a:p>
            <a:pPr algn="l" indent="0" marL="0">
              <a:lnSpc>
                <a:spcPts val="1400"/>
              </a:lnSpc>
              <a:buNone/>
            </a:pPr>
            <a:r>
              <a:rPr lang="en-US" sz="1400" dirty="0">
                <a:solidFill>
                  <a:srgbClr val="FF6B1F"/>
                </a:solidFill>
                <a:latin typeface="Arial Rounded MT Bold" pitchFamily="34" charset="0"/>
                <a:ea typeface="Arial Rounded MT Bold" pitchFamily="34" charset="-122"/>
                <a:cs typeface="Arial Rounded MT Bold" pitchFamily="34" charset="-120"/>
              </a:rPr>
              <a:t>04 Launch</a:t>
            </a:r>
            <a:endParaRPr lang="en-US" sz="1400" dirty="0"/>
          </a:p>
        </p:txBody>
      </p:sp>
      <p:sp>
        <p:nvSpPr>
          <p:cNvPr id="22" name="text 12.21"/>
          <p:cNvSpPr txBox="1"/>
          <p:nvPr/>
        </p:nvSpPr>
        <p:spPr>
          <a:xfrm>
            <a:off x="6013300" y="3835304"/>
            <a:ext cx="1752556" cy="514337"/>
          </a:xfrm>
          <a:prstGeom prst="rect">
            <a:avLst/>
          </a:prstGeom>
          <a:noFill/>
          <a:ln/>
        </p:spPr>
        <p:txBody>
          <a:bodyPr wrap="square" lIns="0" tIns="0" rIns="0" bIns="0" rtlCol="0" anchor="t"/>
          <a:lstStyle/>
          <a:p>
            <a:pPr algn="l" indent="0" marL="0">
              <a:lnSpc>
                <a:spcPts val="1350"/>
              </a:lnSpc>
              <a:buNone/>
            </a:pPr>
            <a:r>
              <a:rPr lang="en-US" sz="1000" dirty="0">
                <a:solidFill>
                  <a:srgbClr val="3B4A66"/>
                </a:solidFill>
                <a:latin typeface="Arial" pitchFamily="34" charset="0"/>
                <a:ea typeface="Arial" pitchFamily="34" charset="-122"/>
                <a:cs typeface="Arial" pitchFamily="34" charset="-120"/>
              </a:rPr>
              <a:t>Less mass: the same incoming hit sends you further.</a:t>
            </a:r>
            <a:endParaRPr lang="en-US" sz="1000" dirty="0"/>
          </a:p>
        </p:txBody>
      </p:sp>
      <p:sp>
        <p:nvSpPr>
          <p:cNvPr id="23" name="shape 12.22"/>
          <p:cNvSpPr/>
          <p:nvPr/>
        </p:nvSpPr>
        <p:spPr>
          <a:xfrm>
            <a:off x="5905352" y="4533787"/>
            <a:ext cx="1841454" cy="241294"/>
          </a:xfrm>
          <a:prstGeom prst="roundRect">
            <a:avLst>
              <a:gd name="adj" fmla="val 50000"/>
            </a:avLst>
          </a:prstGeom>
          <a:solidFill>
            <a:srgbClr val="FF6B1F"/>
          </a:solidFill>
          <a:ln/>
        </p:spPr>
      </p:sp>
      <p:sp>
        <p:nvSpPr>
          <p:cNvPr id="24" name="text 12.23"/>
          <p:cNvSpPr txBox="1"/>
          <p:nvPr/>
        </p:nvSpPr>
        <p:spPr>
          <a:xfrm>
            <a:off x="5905352" y="4533787"/>
            <a:ext cx="1841454" cy="2412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NOT FOUND ELSEWHERE</a:t>
            </a:r>
            <a:endParaRPr lang="en-US" sz="700" dirty="0"/>
          </a:p>
        </p:txBody>
      </p:sp>
      <p:sp>
        <p:nvSpPr>
          <p:cNvPr id="25" name="shape 12.24"/>
          <p:cNvSpPr/>
          <p:nvPr/>
        </p:nvSpPr>
        <p:spPr>
          <a:xfrm>
            <a:off x="609585" y="266693"/>
            <a:ext cx="144141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6" name="shape 12.25"/>
          <p:cNvSpPr/>
          <p:nvPr/>
        </p:nvSpPr>
        <p:spPr>
          <a:xfrm>
            <a:off x="711182" y="355591"/>
            <a:ext cx="114297" cy="114297"/>
          </a:xfrm>
          <a:prstGeom prst="roundRect">
            <a:avLst>
              <a:gd name="adj" fmla="val 33333"/>
            </a:avLst>
          </a:prstGeom>
          <a:solidFill>
            <a:srgbClr val="FF6B1F"/>
          </a:solidFill>
          <a:ln/>
        </p:spPr>
      </p:sp>
      <p:sp>
        <p:nvSpPr>
          <p:cNvPr id="27" name="shape 12.26"/>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8" name="shape 12.27"/>
          <p:cNvSpPr/>
          <p:nvPr/>
        </p:nvSpPr>
        <p:spPr>
          <a:xfrm>
            <a:off x="10058149" y="368291"/>
            <a:ext cx="101597" cy="101597"/>
          </a:xfrm>
          <a:prstGeom prst="roundRect">
            <a:avLst>
              <a:gd name="adj" fmla="val 31250"/>
            </a:avLst>
          </a:prstGeom>
          <a:solidFill>
            <a:srgbClr val="16233F"/>
          </a:solidFill>
          <a:ln/>
        </p:spPr>
      </p:sp>
      <p:sp>
        <p:nvSpPr>
          <p:cNvPr id="29" name="shape 12.28"/>
          <p:cNvSpPr/>
          <p:nvPr/>
        </p:nvSpPr>
        <p:spPr>
          <a:xfrm>
            <a:off x="10223244" y="368291"/>
            <a:ext cx="101597" cy="101597"/>
          </a:xfrm>
          <a:prstGeom prst="roundRect">
            <a:avLst>
              <a:gd name="adj" fmla="val 31250"/>
            </a:avLst>
          </a:prstGeom>
          <a:solidFill>
            <a:srgbClr val="16233F"/>
          </a:solidFill>
          <a:ln/>
        </p:spPr>
      </p:sp>
      <p:sp>
        <p:nvSpPr>
          <p:cNvPr id="30" name="shape 12.29"/>
          <p:cNvSpPr/>
          <p:nvPr/>
        </p:nvSpPr>
        <p:spPr>
          <a:xfrm>
            <a:off x="10388340" y="368291"/>
            <a:ext cx="101597" cy="101597"/>
          </a:xfrm>
          <a:prstGeom prst="roundRect">
            <a:avLst>
              <a:gd name="adj" fmla="val 31250"/>
            </a:avLst>
          </a:prstGeom>
          <a:solidFill>
            <a:srgbClr val="16233F"/>
          </a:solidFill>
          <a:ln/>
        </p:spPr>
      </p:sp>
      <p:sp>
        <p:nvSpPr>
          <p:cNvPr id="31" name="shape 12.30"/>
          <p:cNvSpPr/>
          <p:nvPr/>
        </p:nvSpPr>
        <p:spPr>
          <a:xfrm>
            <a:off x="10553436" y="368291"/>
            <a:ext cx="101597" cy="101597"/>
          </a:xfrm>
          <a:prstGeom prst="roundRect">
            <a:avLst>
              <a:gd name="adj" fmla="val 31250"/>
            </a:avLst>
          </a:prstGeom>
          <a:solidFill>
            <a:srgbClr val="FF6B1F"/>
          </a:solidFill>
          <a:ln/>
        </p:spPr>
      </p:sp>
      <p:sp>
        <p:nvSpPr>
          <p:cNvPr id="32" name="shape 12.31"/>
          <p:cNvSpPr/>
          <p:nvPr/>
        </p:nvSpPr>
        <p:spPr>
          <a:xfrm>
            <a:off x="10718532" y="368291"/>
            <a:ext cx="101597" cy="101597"/>
          </a:xfrm>
          <a:prstGeom prst="roundRect">
            <a:avLst>
              <a:gd name="adj" fmla="val 31250"/>
            </a:avLst>
          </a:prstGeom>
          <a:solidFill>
            <a:srgbClr val="C7D4E8"/>
          </a:solidFill>
          <a:ln/>
        </p:spPr>
      </p:sp>
      <p:sp>
        <p:nvSpPr>
          <p:cNvPr id="33" name="shape 12.32"/>
          <p:cNvSpPr/>
          <p:nvPr/>
        </p:nvSpPr>
        <p:spPr>
          <a:xfrm>
            <a:off x="10883628" y="368291"/>
            <a:ext cx="101597" cy="101597"/>
          </a:xfrm>
          <a:prstGeom prst="roundRect">
            <a:avLst>
              <a:gd name="adj" fmla="val 31250"/>
            </a:avLst>
          </a:prstGeom>
          <a:solidFill>
            <a:srgbClr val="C7D4E8"/>
          </a:solidFill>
          <a:ln/>
        </p:spPr>
      </p:sp>
      <p:sp>
        <p:nvSpPr>
          <p:cNvPr id="34" name="text 12.33"/>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12</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35" name="text 12.34"/>
          <p:cNvSpPr txBox="1"/>
          <p:nvPr/>
        </p:nvSpPr>
        <p:spPr>
          <a:xfrm>
            <a:off x="927077" y="349241"/>
            <a:ext cx="954808"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04 · Innovation</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3.1"/>
          <p:cNvSpPr/>
          <p:nvPr/>
        </p:nvSpPr>
        <p:spPr>
          <a:xfrm>
            <a:off x="609585" y="1904952"/>
            <a:ext cx="10972526" cy="736582"/>
          </a:xfrm>
          <a:prstGeom prst="roundRect">
            <a:avLst>
              <a:gd name="adj" fmla="val 17241"/>
            </a:avLst>
          </a:prstGeom>
          <a:solidFill>
            <a:srgbClr val="FFFFFF"/>
          </a:solidFill>
          <a:ln/>
          <a:effectLst>
            <a:outerShdw sx="100000" sy="100000" kx="0" ky="0" algn="bl" rotWithShape="0" blurRad="203200" dist="76200" dir="5400000">
              <a:srgbClr val="1E468C">
                <a:alpha val="16000"/>
              </a:srgbClr>
            </a:outerShdw>
          </a:effectLst>
        </p:spPr>
      </p:sp>
      <p:sp>
        <p:nvSpPr>
          <p:cNvPr id="3" name="shape 13.2"/>
          <p:cNvSpPr/>
          <p:nvPr/>
        </p:nvSpPr>
        <p:spPr>
          <a:xfrm>
            <a:off x="609585" y="2755831"/>
            <a:ext cx="10972526" cy="736582"/>
          </a:xfrm>
          <a:prstGeom prst="roundRect">
            <a:avLst>
              <a:gd name="adj" fmla="val 17241"/>
            </a:avLst>
          </a:prstGeom>
          <a:solidFill>
            <a:srgbClr val="FFFFFF"/>
          </a:solidFill>
          <a:ln/>
          <a:effectLst>
            <a:outerShdw sx="100000" sy="100000" kx="0" ky="0" algn="bl" rotWithShape="0" blurRad="203200" dist="76200" dir="5400000">
              <a:srgbClr val="1E468C">
                <a:alpha val="16000"/>
              </a:srgbClr>
            </a:outerShdw>
          </a:effectLst>
        </p:spPr>
      </p:sp>
      <p:sp>
        <p:nvSpPr>
          <p:cNvPr id="4" name="shape 13.3"/>
          <p:cNvSpPr/>
          <p:nvPr/>
        </p:nvSpPr>
        <p:spPr>
          <a:xfrm>
            <a:off x="609585" y="3606710"/>
            <a:ext cx="10972526" cy="736582"/>
          </a:xfrm>
          <a:prstGeom prst="roundRect">
            <a:avLst>
              <a:gd name="adj" fmla="val 17241"/>
            </a:avLst>
          </a:prstGeom>
          <a:solidFill>
            <a:srgbClr val="FFFFFF"/>
          </a:solidFill>
          <a:ln/>
          <a:effectLst>
            <a:outerShdw sx="100000" sy="100000" kx="0" ky="0" algn="bl" rotWithShape="0" blurRad="203200" dist="76200" dir="5400000">
              <a:srgbClr val="1E468C">
                <a:alpha val="16000"/>
              </a:srgbClr>
            </a:outerShdw>
          </a:effectLst>
        </p:spPr>
      </p:sp>
      <p:sp>
        <p:nvSpPr>
          <p:cNvPr id="5" name="shape 13.4"/>
          <p:cNvSpPr/>
          <p:nvPr/>
        </p:nvSpPr>
        <p:spPr>
          <a:xfrm>
            <a:off x="609585" y="4457589"/>
            <a:ext cx="10972526" cy="736582"/>
          </a:xfrm>
          <a:prstGeom prst="roundRect">
            <a:avLst>
              <a:gd name="adj" fmla="val 17241"/>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sp>
        <p:nvSpPr>
          <p:cNvPr id="6" name="shape 13.5"/>
          <p:cNvSpPr/>
          <p:nvPr/>
        </p:nvSpPr>
        <p:spPr>
          <a:xfrm>
            <a:off x="609585" y="5308467"/>
            <a:ext cx="10972526" cy="736582"/>
          </a:xfrm>
          <a:prstGeom prst="roundRect">
            <a:avLst>
              <a:gd name="adj" fmla="val 17241"/>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sp>
        <p:nvSpPr>
          <p:cNvPr id="7" name="text 13.6"/>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Closest prior art for each link, and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what we did not find</a:t>
            </a:r>
            <a:endParaRPr lang="en-US" sz="2700" dirty="0"/>
          </a:p>
        </p:txBody>
      </p:sp>
      <p:sp>
        <p:nvSpPr>
          <p:cNvPr id="8" name="text 13.7"/>
          <p:cNvSpPr txBox="1"/>
          <p:nvPr/>
        </p:nvSpPr>
        <p:spPr>
          <a:xfrm>
            <a:off x="863578" y="1663658"/>
            <a:ext cx="347561"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LINK</a:t>
            </a:r>
            <a:endParaRPr lang="en-US" sz="750" dirty="0"/>
          </a:p>
        </p:txBody>
      </p:sp>
      <p:sp>
        <p:nvSpPr>
          <p:cNvPr id="9" name="text 13.8"/>
          <p:cNvSpPr txBox="1"/>
          <p:nvPr/>
        </p:nvSpPr>
        <p:spPr>
          <a:xfrm>
            <a:off x="3936902" y="1663658"/>
            <a:ext cx="132595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CLOSEST PRIOR ART</a:t>
            </a:r>
            <a:endParaRPr lang="en-US" sz="750" dirty="0"/>
          </a:p>
        </p:txBody>
      </p:sp>
      <p:sp>
        <p:nvSpPr>
          <p:cNvPr id="10" name="text 13.9"/>
          <p:cNvSpPr txBox="1"/>
          <p:nvPr/>
        </p:nvSpPr>
        <p:spPr>
          <a:xfrm>
            <a:off x="9905752" y="1663658"/>
            <a:ext cx="525086"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STATUS</a:t>
            </a:r>
            <a:endParaRPr lang="en-US" sz="750" dirty="0"/>
          </a:p>
        </p:txBody>
      </p:sp>
      <p:sp>
        <p:nvSpPr>
          <p:cNvPr id="11" name="text 13.10"/>
          <p:cNvSpPr txBox="1"/>
          <p:nvPr/>
        </p:nvSpPr>
        <p:spPr>
          <a:xfrm>
            <a:off x="863578" y="2158946"/>
            <a:ext cx="351557" cy="228594"/>
          </a:xfrm>
          <a:prstGeom prst="rect">
            <a:avLst/>
          </a:prstGeom>
          <a:noFill/>
          <a:ln/>
        </p:spPr>
        <p:txBody>
          <a:bodyPr wrap="square" lIns="0" tIns="0" rIns="0" bIns="0" rtlCol="0" anchor="t"/>
          <a:lstStyle/>
          <a:p>
            <a:pPr algn="l" indent="0" marL="0">
              <a:lnSpc>
                <a:spcPts val="1800"/>
              </a:lnSpc>
              <a:buNone/>
            </a:pPr>
            <a:r>
              <a:rPr lang="en-US" sz="1800" dirty="0">
                <a:solidFill>
                  <a:srgbClr val="A9B6CC"/>
                </a:solidFill>
                <a:latin typeface="Arial Rounded MT Bold" pitchFamily="34" charset="0"/>
                <a:ea typeface="Arial Rounded MT Bold" pitchFamily="34" charset="-122"/>
                <a:cs typeface="Arial Rounded MT Bold" pitchFamily="34" charset="-120"/>
              </a:rPr>
              <a:t>01</a:t>
            </a:r>
            <a:endParaRPr lang="en-US" sz="1800" dirty="0"/>
          </a:p>
        </p:txBody>
      </p:sp>
      <p:sp>
        <p:nvSpPr>
          <p:cNvPr id="12" name="text 13.11"/>
          <p:cNvSpPr txBox="1"/>
          <p:nvPr/>
        </p:nvSpPr>
        <p:spPr>
          <a:xfrm>
            <a:off x="1460463" y="2177996"/>
            <a:ext cx="2324042" cy="190495"/>
          </a:xfrm>
          <a:prstGeom prst="rect">
            <a:avLst/>
          </a:prstGeom>
          <a:noFill/>
          <a:ln/>
        </p:spPr>
        <p:txBody>
          <a:bodyPr wrap="square" lIns="0" tIns="0" rIns="0" bIns="0" rtlCol="0" anchor="t"/>
          <a:lstStyle/>
          <a:p>
            <a:pPr algn="l" indent="0" marL="0">
              <a:lnSpc>
                <a:spcPts val="1500"/>
              </a:lnSpc>
              <a:buNone/>
            </a:pPr>
            <a:r>
              <a:rPr lang="en-US" sz="1200" b="1" dirty="0">
                <a:solidFill>
                  <a:srgbClr val="16233F"/>
                </a:solidFill>
                <a:latin typeface="Arial" pitchFamily="34" charset="0"/>
                <a:ea typeface="Arial" pitchFamily="34" charset="-122"/>
                <a:cs typeface="Arial" pitchFamily="34" charset="-120"/>
              </a:rPr>
              <a:t>Spend your body</a:t>
            </a:r>
            <a:endParaRPr lang="en-US" sz="1200" dirty="0"/>
          </a:p>
        </p:txBody>
      </p:sp>
      <p:sp>
        <p:nvSpPr>
          <p:cNvPr id="13" name="text 13.12"/>
          <p:cNvSpPr txBox="1"/>
          <p:nvPr/>
        </p:nvSpPr>
        <p:spPr>
          <a:xfrm>
            <a:off x="3936902" y="2070048"/>
            <a:ext cx="5752956" cy="195575"/>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Osmos ejects its own matter to move, not to attack. Agar.io ejects mass.</a:t>
            </a:r>
            <a:endParaRPr lang="en-US" sz="1100" dirty="0"/>
          </a:p>
        </p:txBody>
      </p:sp>
      <p:sp>
        <p:nvSpPr>
          <p:cNvPr id="14" name="shape 13.13"/>
          <p:cNvSpPr/>
          <p:nvPr/>
        </p:nvSpPr>
        <p:spPr>
          <a:xfrm>
            <a:off x="9969251" y="2139897"/>
            <a:ext cx="1422364" cy="266693"/>
          </a:xfrm>
          <a:prstGeom prst="roundRect">
            <a:avLst>
              <a:gd name="adj" fmla="val 50000"/>
            </a:avLst>
          </a:prstGeom>
          <a:solidFill>
            <a:srgbClr val="E9EFF8"/>
          </a:solidFill>
          <a:ln/>
        </p:spPr>
      </p:sp>
      <p:sp>
        <p:nvSpPr>
          <p:cNvPr id="15" name="text 13.14"/>
          <p:cNvSpPr txBox="1"/>
          <p:nvPr/>
        </p:nvSpPr>
        <p:spPr>
          <a:xfrm>
            <a:off x="9969251" y="2139897"/>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6E7D9A"/>
                </a:solidFill>
                <a:latin typeface="Arial" pitchFamily="34" charset="0"/>
                <a:ea typeface="Arial" pitchFamily="34" charset="-122"/>
                <a:cs typeface="Arial" pitchFamily="34" charset="-120"/>
              </a:rPr>
              <a:t>DIFFERENT USE</a:t>
            </a:r>
            <a:endParaRPr lang="en-US" sz="700" dirty="0"/>
          </a:p>
        </p:txBody>
      </p:sp>
      <p:sp>
        <p:nvSpPr>
          <p:cNvPr id="16" name="text 13.15"/>
          <p:cNvSpPr txBox="1"/>
          <p:nvPr/>
        </p:nvSpPr>
        <p:spPr>
          <a:xfrm>
            <a:off x="863578" y="3009825"/>
            <a:ext cx="351557" cy="228594"/>
          </a:xfrm>
          <a:prstGeom prst="rect">
            <a:avLst/>
          </a:prstGeom>
          <a:noFill/>
          <a:ln/>
        </p:spPr>
        <p:txBody>
          <a:bodyPr wrap="square" lIns="0" tIns="0" rIns="0" bIns="0" rtlCol="0" anchor="t"/>
          <a:lstStyle/>
          <a:p>
            <a:pPr algn="l" indent="0" marL="0">
              <a:lnSpc>
                <a:spcPts val="1800"/>
              </a:lnSpc>
              <a:buNone/>
            </a:pPr>
            <a:r>
              <a:rPr lang="en-US" sz="1800" dirty="0">
                <a:solidFill>
                  <a:srgbClr val="A9B6CC"/>
                </a:solidFill>
                <a:latin typeface="Arial Rounded MT Bold" pitchFamily="34" charset="0"/>
                <a:ea typeface="Arial Rounded MT Bold" pitchFamily="34" charset="-122"/>
                <a:cs typeface="Arial Rounded MT Bold" pitchFamily="34" charset="-120"/>
              </a:rPr>
              <a:t>02</a:t>
            </a:r>
            <a:endParaRPr lang="en-US" sz="1800" dirty="0"/>
          </a:p>
        </p:txBody>
      </p:sp>
      <p:sp>
        <p:nvSpPr>
          <p:cNvPr id="17" name="text 13.16"/>
          <p:cNvSpPr txBox="1"/>
          <p:nvPr/>
        </p:nvSpPr>
        <p:spPr>
          <a:xfrm>
            <a:off x="1460463" y="3028874"/>
            <a:ext cx="2324042" cy="190495"/>
          </a:xfrm>
          <a:prstGeom prst="rect">
            <a:avLst/>
          </a:prstGeom>
          <a:noFill/>
          <a:ln/>
        </p:spPr>
        <p:txBody>
          <a:bodyPr wrap="square" lIns="0" tIns="0" rIns="0" bIns="0" rtlCol="0" anchor="t"/>
          <a:lstStyle/>
          <a:p>
            <a:pPr algn="l" indent="0" marL="0">
              <a:lnSpc>
                <a:spcPts val="1500"/>
              </a:lnSpc>
              <a:buNone/>
            </a:pPr>
            <a:r>
              <a:rPr lang="en-US" sz="1200" b="1" dirty="0">
                <a:solidFill>
                  <a:srgbClr val="16233F"/>
                </a:solidFill>
                <a:latin typeface="Arial" pitchFamily="34" charset="0"/>
                <a:ea typeface="Arial" pitchFamily="34" charset="-122"/>
                <a:cs typeface="Arial" pitchFamily="34" charset="-120"/>
              </a:rPr>
              <a:t>Hits shrink you</a:t>
            </a:r>
            <a:endParaRPr lang="en-US" sz="1200" dirty="0"/>
          </a:p>
        </p:txBody>
      </p:sp>
      <p:sp>
        <p:nvSpPr>
          <p:cNvPr id="18" name="text 13.17"/>
          <p:cNvSpPr txBox="1"/>
          <p:nvPr/>
        </p:nvSpPr>
        <p:spPr>
          <a:xfrm>
            <a:off x="3936902" y="2920927"/>
            <a:ext cx="5752956" cy="195575"/>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Squarena (2D): lower health, smaller body. Morphies Law: hits move mass between robots.</a:t>
            </a:r>
            <a:endParaRPr lang="en-US" sz="1100" dirty="0"/>
          </a:p>
        </p:txBody>
      </p:sp>
      <p:sp>
        <p:nvSpPr>
          <p:cNvPr id="19" name="shape 13.18"/>
          <p:cNvSpPr/>
          <p:nvPr/>
        </p:nvSpPr>
        <p:spPr>
          <a:xfrm>
            <a:off x="9969251" y="2990775"/>
            <a:ext cx="1422364" cy="266693"/>
          </a:xfrm>
          <a:prstGeom prst="roundRect">
            <a:avLst>
              <a:gd name="adj" fmla="val 50000"/>
            </a:avLst>
          </a:prstGeom>
          <a:solidFill>
            <a:srgbClr val="E2F4FD"/>
          </a:solidFill>
          <a:ln/>
        </p:spPr>
      </p:sp>
      <p:sp>
        <p:nvSpPr>
          <p:cNvPr id="20" name="text 13.19"/>
          <p:cNvSpPr txBox="1"/>
          <p:nvPr/>
        </p:nvSpPr>
        <p:spPr>
          <a:xfrm>
            <a:off x="9969251" y="2990775"/>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1FA9EA"/>
                </a:solidFill>
                <a:latin typeface="Arial" pitchFamily="34" charset="0"/>
                <a:ea typeface="Arial" pitchFamily="34" charset="-122"/>
                <a:cs typeface="Arial" pitchFamily="34" charset="-120"/>
              </a:rPr>
              <a:t>PRECEDENT</a:t>
            </a:r>
            <a:endParaRPr lang="en-US" sz="700" dirty="0"/>
          </a:p>
        </p:txBody>
      </p:sp>
      <p:sp>
        <p:nvSpPr>
          <p:cNvPr id="21" name="text 13.20"/>
          <p:cNvSpPr txBox="1"/>
          <p:nvPr/>
        </p:nvSpPr>
        <p:spPr>
          <a:xfrm>
            <a:off x="863578" y="3860703"/>
            <a:ext cx="351557" cy="228594"/>
          </a:xfrm>
          <a:prstGeom prst="rect">
            <a:avLst/>
          </a:prstGeom>
          <a:noFill/>
          <a:ln/>
        </p:spPr>
        <p:txBody>
          <a:bodyPr wrap="square" lIns="0" tIns="0" rIns="0" bIns="0" rtlCol="0" anchor="t"/>
          <a:lstStyle/>
          <a:p>
            <a:pPr algn="l" indent="0" marL="0">
              <a:lnSpc>
                <a:spcPts val="1800"/>
              </a:lnSpc>
              <a:buNone/>
            </a:pPr>
            <a:r>
              <a:rPr lang="en-US" sz="1800" dirty="0">
                <a:solidFill>
                  <a:srgbClr val="A9B6CC"/>
                </a:solidFill>
                <a:latin typeface="Arial Rounded MT Bold" pitchFamily="34" charset="0"/>
                <a:ea typeface="Arial Rounded MT Bold" pitchFamily="34" charset="-122"/>
                <a:cs typeface="Arial Rounded MT Bold" pitchFamily="34" charset="-120"/>
              </a:rPr>
              <a:t>03</a:t>
            </a:r>
            <a:endParaRPr lang="en-US" sz="1800" dirty="0"/>
          </a:p>
        </p:txBody>
      </p:sp>
      <p:sp>
        <p:nvSpPr>
          <p:cNvPr id="22" name="text 13.21"/>
          <p:cNvSpPr txBox="1"/>
          <p:nvPr/>
        </p:nvSpPr>
        <p:spPr>
          <a:xfrm>
            <a:off x="1460463" y="3879753"/>
            <a:ext cx="2324042" cy="190495"/>
          </a:xfrm>
          <a:prstGeom prst="rect">
            <a:avLst/>
          </a:prstGeom>
          <a:noFill/>
          <a:ln/>
        </p:spPr>
        <p:txBody>
          <a:bodyPr wrap="square" lIns="0" tIns="0" rIns="0" bIns="0" rtlCol="0" anchor="t"/>
          <a:lstStyle/>
          <a:p>
            <a:pPr algn="l" indent="0" marL="0">
              <a:lnSpc>
                <a:spcPts val="1500"/>
              </a:lnSpc>
              <a:buNone/>
            </a:pPr>
            <a:r>
              <a:rPr lang="en-US" sz="1200" b="1" dirty="0">
                <a:solidFill>
                  <a:srgbClr val="16233F"/>
                </a:solidFill>
                <a:latin typeface="Arial" pitchFamily="34" charset="0"/>
                <a:ea typeface="Arial" pitchFamily="34" charset="-122"/>
                <a:cs typeface="Arial" pitchFamily="34" charset="-120"/>
              </a:rPr>
              <a:t>Attack costs health</a:t>
            </a:r>
            <a:endParaRPr lang="en-US" sz="1200" dirty="0"/>
          </a:p>
        </p:txBody>
      </p:sp>
      <p:sp>
        <p:nvSpPr>
          <p:cNvPr id="23" name="text 13.22"/>
          <p:cNvSpPr txBox="1"/>
          <p:nvPr/>
        </p:nvSpPr>
        <p:spPr>
          <a:xfrm>
            <a:off x="3936902" y="3771806"/>
            <a:ext cx="5752956" cy="195575"/>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Crisol: Theater of Idols: your blood is your ammunition. Not physical mass.</a:t>
            </a:r>
            <a:endParaRPr lang="en-US" sz="1100" dirty="0"/>
          </a:p>
        </p:txBody>
      </p:sp>
      <p:sp>
        <p:nvSpPr>
          <p:cNvPr id="24" name="shape 13.23"/>
          <p:cNvSpPr/>
          <p:nvPr/>
        </p:nvSpPr>
        <p:spPr>
          <a:xfrm>
            <a:off x="9969251" y="3841654"/>
            <a:ext cx="1422364" cy="266693"/>
          </a:xfrm>
          <a:prstGeom prst="roundRect">
            <a:avLst>
              <a:gd name="adj" fmla="val 50000"/>
            </a:avLst>
          </a:prstGeom>
          <a:solidFill>
            <a:srgbClr val="E2F4FD"/>
          </a:solidFill>
          <a:ln/>
        </p:spPr>
      </p:sp>
      <p:sp>
        <p:nvSpPr>
          <p:cNvPr id="25" name="text 13.24"/>
          <p:cNvSpPr txBox="1"/>
          <p:nvPr/>
        </p:nvSpPr>
        <p:spPr>
          <a:xfrm>
            <a:off x="9969251" y="3841654"/>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1FA9EA"/>
                </a:solidFill>
                <a:latin typeface="Arial" pitchFamily="34" charset="0"/>
                <a:ea typeface="Arial" pitchFamily="34" charset="-122"/>
                <a:cs typeface="Arial" pitchFamily="34" charset="-120"/>
              </a:rPr>
              <a:t>PRECEDENT</a:t>
            </a:r>
            <a:endParaRPr lang="en-US" sz="700" dirty="0"/>
          </a:p>
        </p:txBody>
      </p:sp>
      <p:sp>
        <p:nvSpPr>
          <p:cNvPr id="26" name="text 13.25"/>
          <p:cNvSpPr txBox="1"/>
          <p:nvPr/>
        </p:nvSpPr>
        <p:spPr>
          <a:xfrm>
            <a:off x="863578" y="4711582"/>
            <a:ext cx="351557" cy="228594"/>
          </a:xfrm>
          <a:prstGeom prst="rect">
            <a:avLst/>
          </a:prstGeom>
          <a:noFill/>
          <a:ln/>
        </p:spPr>
        <p:txBody>
          <a:bodyPr wrap="square" lIns="0" tIns="0" rIns="0" bIns="0" rtlCol="0" anchor="t"/>
          <a:lstStyle/>
          <a:p>
            <a:pPr algn="l" indent="0" marL="0">
              <a:lnSpc>
                <a:spcPts val="1800"/>
              </a:lnSpc>
              <a:buNone/>
            </a:pPr>
            <a:r>
              <a:rPr lang="en-US" sz="1800" dirty="0">
                <a:solidFill>
                  <a:srgbClr val="FF6B1F"/>
                </a:solidFill>
                <a:latin typeface="Arial Rounded MT Bold" pitchFamily="34" charset="0"/>
                <a:ea typeface="Arial Rounded MT Bold" pitchFamily="34" charset="-122"/>
                <a:cs typeface="Arial Rounded MT Bold" pitchFamily="34" charset="-120"/>
              </a:rPr>
              <a:t>04</a:t>
            </a:r>
            <a:endParaRPr lang="en-US" sz="1800" dirty="0"/>
          </a:p>
        </p:txBody>
      </p:sp>
      <p:sp>
        <p:nvSpPr>
          <p:cNvPr id="27" name="text 13.26"/>
          <p:cNvSpPr txBox="1"/>
          <p:nvPr/>
        </p:nvSpPr>
        <p:spPr>
          <a:xfrm>
            <a:off x="1460463" y="4730632"/>
            <a:ext cx="2324042" cy="190495"/>
          </a:xfrm>
          <a:prstGeom prst="rect">
            <a:avLst/>
          </a:prstGeom>
          <a:noFill/>
          <a:ln/>
        </p:spPr>
        <p:txBody>
          <a:bodyPr wrap="square" lIns="0" tIns="0" rIns="0" bIns="0" rtlCol="0" anchor="t"/>
          <a:lstStyle/>
          <a:p>
            <a:pPr algn="l" indent="0" marL="0">
              <a:lnSpc>
                <a:spcPts val="1500"/>
              </a:lnSpc>
              <a:buNone/>
            </a:pPr>
            <a:r>
              <a:rPr lang="en-US" sz="1200" b="1" dirty="0">
                <a:solidFill>
                  <a:srgbClr val="16233F"/>
                </a:solidFill>
                <a:latin typeface="Arial" pitchFamily="34" charset="0"/>
                <a:ea typeface="Arial" pitchFamily="34" charset="-122"/>
                <a:cs typeface="Arial" pitchFamily="34" charset="-120"/>
              </a:rPr>
              <a:t>Lighter, launched further</a:t>
            </a:r>
            <a:endParaRPr lang="en-US" sz="1200" dirty="0"/>
          </a:p>
        </p:txBody>
      </p:sp>
      <p:sp>
        <p:nvSpPr>
          <p:cNvPr id="28" name="text 13.27"/>
          <p:cNvSpPr txBox="1"/>
          <p:nvPr/>
        </p:nvSpPr>
        <p:spPr>
          <a:xfrm>
            <a:off x="3936902" y="4622684"/>
            <a:ext cx="5752956" cy="391111"/>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Smash Bros. raises knockback with a damage % counter, not mass. In Squarena, smaller bodies feel more of their own recoil.</a:t>
            </a:r>
            <a:endParaRPr lang="en-US" sz="1100" dirty="0"/>
          </a:p>
        </p:txBody>
      </p:sp>
      <p:sp>
        <p:nvSpPr>
          <p:cNvPr id="29" name="shape 13.28"/>
          <p:cNvSpPr/>
          <p:nvPr/>
        </p:nvSpPr>
        <p:spPr>
          <a:xfrm>
            <a:off x="9969251" y="4692533"/>
            <a:ext cx="1422364" cy="266693"/>
          </a:xfrm>
          <a:prstGeom prst="roundRect">
            <a:avLst>
              <a:gd name="adj" fmla="val 50000"/>
            </a:avLst>
          </a:prstGeom>
          <a:solidFill>
            <a:srgbClr val="FF6B1F"/>
          </a:solidFill>
          <a:ln/>
        </p:spPr>
      </p:sp>
      <p:sp>
        <p:nvSpPr>
          <p:cNvPr id="30" name="text 13.29"/>
          <p:cNvSpPr txBox="1"/>
          <p:nvPr/>
        </p:nvSpPr>
        <p:spPr>
          <a:xfrm>
            <a:off x="9969251" y="4692533"/>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NOT FOUND</a:t>
            </a:r>
            <a:endParaRPr lang="en-US" sz="700" dirty="0"/>
          </a:p>
        </p:txBody>
      </p:sp>
      <p:sp>
        <p:nvSpPr>
          <p:cNvPr id="31" name="text 13.30"/>
          <p:cNvSpPr txBox="1"/>
          <p:nvPr/>
        </p:nvSpPr>
        <p:spPr>
          <a:xfrm>
            <a:off x="863578" y="5562461"/>
            <a:ext cx="760665" cy="228594"/>
          </a:xfrm>
          <a:prstGeom prst="rect">
            <a:avLst/>
          </a:prstGeom>
          <a:noFill/>
          <a:ln/>
        </p:spPr>
        <p:txBody>
          <a:bodyPr wrap="square" lIns="0" tIns="0" rIns="0" bIns="0" rtlCol="0" anchor="t"/>
          <a:lstStyle/>
          <a:p>
            <a:pPr algn="l" indent="0" marL="0">
              <a:lnSpc>
                <a:spcPts val="1800"/>
              </a:lnSpc>
              <a:buNone/>
            </a:pPr>
            <a:r>
              <a:rPr lang="en-US" sz="1800" dirty="0">
                <a:solidFill>
                  <a:srgbClr val="FF6B1F"/>
                </a:solidFill>
                <a:latin typeface="Arial Rounded MT Bold" pitchFamily="34" charset="0"/>
                <a:ea typeface="Arial Rounded MT Bold" pitchFamily="34" charset="-122"/>
                <a:cs typeface="Arial Rounded MT Bold" pitchFamily="34" charset="-120"/>
              </a:rPr>
              <a:t>01–04</a:t>
            </a:r>
            <a:endParaRPr lang="en-US" sz="1800" dirty="0"/>
          </a:p>
        </p:txBody>
      </p:sp>
      <p:sp>
        <p:nvSpPr>
          <p:cNvPr id="32" name="text 13.31"/>
          <p:cNvSpPr txBox="1"/>
          <p:nvPr/>
        </p:nvSpPr>
        <p:spPr>
          <a:xfrm>
            <a:off x="2006550" y="5486263"/>
            <a:ext cx="1816055" cy="380990"/>
          </a:xfrm>
          <a:prstGeom prst="rect">
            <a:avLst/>
          </a:prstGeom>
          <a:noFill/>
          <a:ln/>
        </p:spPr>
        <p:txBody>
          <a:bodyPr wrap="square" lIns="0" tIns="0" rIns="0" bIns="0" rtlCol="0" anchor="t"/>
          <a:lstStyle/>
          <a:p>
            <a:pPr algn="l" indent="0" marL="0">
              <a:lnSpc>
                <a:spcPts val="1500"/>
              </a:lnSpc>
              <a:buNone/>
            </a:pPr>
            <a:r>
              <a:rPr lang="en-US" sz="1200" b="1" dirty="0">
                <a:solidFill>
                  <a:srgbClr val="16233F"/>
                </a:solidFill>
                <a:latin typeface="Arial" pitchFamily="34" charset="0"/>
                <a:ea typeface="Arial" pitchFamily="34" charset="-122"/>
                <a:cs typeface="Arial" pitchFamily="34" charset="-120"/>
              </a:rPr>
              <a:t>All four in one 3D party game</a:t>
            </a:r>
            <a:endParaRPr lang="en-US" sz="1200" dirty="0"/>
          </a:p>
        </p:txBody>
      </p:sp>
      <p:sp>
        <p:nvSpPr>
          <p:cNvPr id="33" name="text 13.32"/>
          <p:cNvSpPr txBox="1"/>
          <p:nvPr/>
        </p:nvSpPr>
        <p:spPr>
          <a:xfrm>
            <a:off x="3936902" y="5473563"/>
            <a:ext cx="5752956" cy="195575"/>
          </a:xfrm>
          <a:prstGeom prst="rect">
            <a:avLst/>
          </a:prstGeom>
          <a:noFill/>
          <a:ln/>
        </p:spPr>
        <p:txBody>
          <a:bodyPr wrap="square" lIns="0" tIns="0" rIns="0" bIns="0" rtlCol="0" anchor="t"/>
          <a:lstStyle/>
          <a:p>
            <a:pPr algn="l" indent="0" marL="0">
              <a:lnSpc>
                <a:spcPts val="1540"/>
              </a:lnSpc>
              <a:buNone/>
            </a:pPr>
            <a:r>
              <a:rPr lang="en-US" sz="1100" dirty="0">
                <a:solidFill>
                  <a:srgbClr val="6E7D9A"/>
                </a:solidFill>
                <a:latin typeface="Arial" pitchFamily="34" charset="0"/>
                <a:ea typeface="Arial" pitchFamily="34" charset="-122"/>
                <a:cs typeface="Arial" pitchFamily="34" charset="-120"/>
              </a:rPr>
              <a:t>No shipped game found.</a:t>
            </a:r>
            <a:endParaRPr lang="en-US" sz="1100" dirty="0"/>
          </a:p>
        </p:txBody>
      </p:sp>
      <p:sp>
        <p:nvSpPr>
          <p:cNvPr id="34" name="shape 13.33"/>
          <p:cNvSpPr/>
          <p:nvPr/>
        </p:nvSpPr>
        <p:spPr>
          <a:xfrm>
            <a:off x="9969251" y="5543411"/>
            <a:ext cx="1422364" cy="266693"/>
          </a:xfrm>
          <a:prstGeom prst="roundRect">
            <a:avLst>
              <a:gd name="adj" fmla="val 50000"/>
            </a:avLst>
          </a:prstGeom>
          <a:solidFill>
            <a:srgbClr val="FF6B1F"/>
          </a:solidFill>
          <a:ln/>
        </p:spPr>
      </p:sp>
      <p:sp>
        <p:nvSpPr>
          <p:cNvPr id="35" name="text 13.34"/>
          <p:cNvSpPr txBox="1"/>
          <p:nvPr/>
        </p:nvSpPr>
        <p:spPr>
          <a:xfrm>
            <a:off x="9969251" y="5543411"/>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NOT FOUND</a:t>
            </a:r>
            <a:endParaRPr lang="en-US" sz="700" dirty="0"/>
          </a:p>
        </p:txBody>
      </p:sp>
      <p:sp>
        <p:nvSpPr>
          <p:cNvPr id="36" name="text 13.35"/>
          <p:cNvSpPr txBox="1"/>
          <p:nvPr/>
        </p:nvSpPr>
        <p:spPr>
          <a:xfrm>
            <a:off x="609585" y="6490828"/>
            <a:ext cx="1150591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Prior-art search of shipped games, Oct 2026 [9–12]. “Not found” means not found after searching.</a:t>
            </a:r>
            <a:endParaRPr lang="en-US" sz="850" dirty="0"/>
          </a:p>
        </p:txBody>
      </p:sp>
      <p:sp>
        <p:nvSpPr>
          <p:cNvPr id="37" name="shape 13.36"/>
          <p:cNvSpPr/>
          <p:nvPr/>
        </p:nvSpPr>
        <p:spPr>
          <a:xfrm>
            <a:off x="609585" y="266693"/>
            <a:ext cx="144141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38" name="shape 13.37"/>
          <p:cNvSpPr/>
          <p:nvPr/>
        </p:nvSpPr>
        <p:spPr>
          <a:xfrm>
            <a:off x="711182" y="355591"/>
            <a:ext cx="114297" cy="114297"/>
          </a:xfrm>
          <a:prstGeom prst="roundRect">
            <a:avLst>
              <a:gd name="adj" fmla="val 33333"/>
            </a:avLst>
          </a:prstGeom>
          <a:solidFill>
            <a:srgbClr val="FF6B1F"/>
          </a:solidFill>
          <a:ln/>
        </p:spPr>
      </p:sp>
      <p:sp>
        <p:nvSpPr>
          <p:cNvPr id="39" name="shape 13.38"/>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0" name="shape 13.39"/>
          <p:cNvSpPr/>
          <p:nvPr/>
        </p:nvSpPr>
        <p:spPr>
          <a:xfrm>
            <a:off x="10058149" y="368291"/>
            <a:ext cx="101597" cy="101597"/>
          </a:xfrm>
          <a:prstGeom prst="roundRect">
            <a:avLst>
              <a:gd name="adj" fmla="val 31250"/>
            </a:avLst>
          </a:prstGeom>
          <a:solidFill>
            <a:srgbClr val="16233F"/>
          </a:solidFill>
          <a:ln/>
        </p:spPr>
      </p:sp>
      <p:sp>
        <p:nvSpPr>
          <p:cNvPr id="41" name="shape 13.40"/>
          <p:cNvSpPr/>
          <p:nvPr/>
        </p:nvSpPr>
        <p:spPr>
          <a:xfrm>
            <a:off x="10223244" y="368291"/>
            <a:ext cx="101597" cy="101597"/>
          </a:xfrm>
          <a:prstGeom prst="roundRect">
            <a:avLst>
              <a:gd name="adj" fmla="val 31250"/>
            </a:avLst>
          </a:prstGeom>
          <a:solidFill>
            <a:srgbClr val="16233F"/>
          </a:solidFill>
          <a:ln/>
        </p:spPr>
      </p:sp>
      <p:sp>
        <p:nvSpPr>
          <p:cNvPr id="42" name="shape 13.41"/>
          <p:cNvSpPr/>
          <p:nvPr/>
        </p:nvSpPr>
        <p:spPr>
          <a:xfrm>
            <a:off x="10388340" y="368291"/>
            <a:ext cx="101597" cy="101597"/>
          </a:xfrm>
          <a:prstGeom prst="roundRect">
            <a:avLst>
              <a:gd name="adj" fmla="val 31250"/>
            </a:avLst>
          </a:prstGeom>
          <a:solidFill>
            <a:srgbClr val="16233F"/>
          </a:solidFill>
          <a:ln/>
        </p:spPr>
      </p:sp>
      <p:sp>
        <p:nvSpPr>
          <p:cNvPr id="43" name="shape 13.42"/>
          <p:cNvSpPr/>
          <p:nvPr/>
        </p:nvSpPr>
        <p:spPr>
          <a:xfrm>
            <a:off x="10553436" y="368291"/>
            <a:ext cx="101597" cy="101597"/>
          </a:xfrm>
          <a:prstGeom prst="roundRect">
            <a:avLst>
              <a:gd name="adj" fmla="val 31250"/>
            </a:avLst>
          </a:prstGeom>
          <a:solidFill>
            <a:srgbClr val="FF6B1F"/>
          </a:solidFill>
          <a:ln/>
        </p:spPr>
      </p:sp>
      <p:sp>
        <p:nvSpPr>
          <p:cNvPr id="44" name="shape 13.43"/>
          <p:cNvSpPr/>
          <p:nvPr/>
        </p:nvSpPr>
        <p:spPr>
          <a:xfrm>
            <a:off x="10718532" y="368291"/>
            <a:ext cx="101597" cy="101597"/>
          </a:xfrm>
          <a:prstGeom prst="roundRect">
            <a:avLst>
              <a:gd name="adj" fmla="val 31250"/>
            </a:avLst>
          </a:prstGeom>
          <a:solidFill>
            <a:srgbClr val="C7D4E8"/>
          </a:solidFill>
          <a:ln/>
        </p:spPr>
      </p:sp>
      <p:sp>
        <p:nvSpPr>
          <p:cNvPr id="45" name="shape 13.44"/>
          <p:cNvSpPr/>
          <p:nvPr/>
        </p:nvSpPr>
        <p:spPr>
          <a:xfrm>
            <a:off x="10883628" y="368291"/>
            <a:ext cx="101597" cy="101597"/>
          </a:xfrm>
          <a:prstGeom prst="roundRect">
            <a:avLst>
              <a:gd name="adj" fmla="val 31250"/>
            </a:avLst>
          </a:prstGeom>
          <a:solidFill>
            <a:srgbClr val="C7D4E8"/>
          </a:solidFill>
          <a:ln/>
        </p:spPr>
      </p:sp>
      <p:sp>
        <p:nvSpPr>
          <p:cNvPr id="46" name="text 13.45"/>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13</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47" name="text 13.46"/>
          <p:cNvSpPr txBox="1"/>
          <p:nvPr/>
        </p:nvSpPr>
        <p:spPr>
          <a:xfrm>
            <a:off x="927077" y="349241"/>
            <a:ext cx="954808"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04 · Innovation</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4.1"/>
          <p:cNvSpPr/>
          <p:nvPr/>
        </p:nvSpPr>
        <p:spPr>
          <a:xfrm>
            <a:off x="609585" y="1714457"/>
            <a:ext cx="5714857" cy="3301917"/>
          </a:xfrm>
          <a:prstGeom prst="roundRect">
            <a:avLst>
              <a:gd name="adj" fmla="val 5769"/>
            </a:avLst>
          </a:prstGeom>
          <a:solidFill>
            <a:srgbClr val="FFFFFF"/>
          </a:solidFill>
          <a:ln w="57150">
            <a:solidFill>
              <a:srgbClr val="FFFFFF"/>
            </a:solidFill>
            <a:prstDash val="solid"/>
          </a:ln>
          <a:effectLst>
            <a:outerShdw sx="100000" sy="100000" kx="0" ky="0" algn="bl" rotWithShape="0" blurRad="203200" dist="76200" dir="5400000">
              <a:srgbClr val="1E468C">
                <a:alpha val="16000"/>
              </a:srgbClr>
            </a:outerShdw>
          </a:effectLst>
        </p:spPr>
      </p:sp>
      <p:pic>
        <p:nvPicPr>
          <p:cNvPr id="3" name="img 14.2 adj4183" descr="arche_full.png">    </p:cNvPr>
          <p:cNvPicPr>
            <a:picLocks noChangeAspect="1"/>
          </p:cNvPicPr>
          <p:nvPr/>
        </p:nvPicPr>
        <p:blipFill>
          <a:blip r:embed="rId2"/>
          <a:stretch>
            <a:fillRect/>
          </a:stretch>
        </p:blipFill>
        <p:spPr>
          <a:xfrm>
            <a:off x="666733" y="1771606"/>
            <a:ext cx="5600560" cy="3187620"/>
          </a:xfrm>
          <a:prstGeom prst="roundRect">
            <a:avLst>
              <a:gd name="adj" fmla="val 4183"/>
            </a:avLst>
          </a:prstGeom>
        </p:spPr>
      </p:pic>
      <p:sp>
        <p:nvSpPr>
          <p:cNvPr id="4" name="shape 14.3"/>
          <p:cNvSpPr/>
          <p:nvPr/>
        </p:nvSpPr>
        <p:spPr>
          <a:xfrm>
            <a:off x="6832429" y="1714457"/>
            <a:ext cx="4749681" cy="1206470"/>
          </a:xfrm>
          <a:prstGeom prst="roundRect">
            <a:avLst>
              <a:gd name="adj" fmla="val 14737"/>
            </a:avLst>
          </a:prstGeom>
          <a:solidFill>
            <a:srgbClr val="FFFFFF"/>
          </a:solidFill>
          <a:ln/>
          <a:effectLst>
            <a:outerShdw sx="100000" sy="100000" kx="0" ky="0" algn="bl" rotWithShape="0" blurRad="203200" dist="76200" dir="5400000">
              <a:srgbClr val="1E468C">
                <a:alpha val="16000"/>
              </a:srgbClr>
            </a:outerShdw>
          </a:effectLst>
        </p:spPr>
      </p:sp>
      <p:sp>
        <p:nvSpPr>
          <p:cNvPr id="5" name="shape 14.4"/>
          <p:cNvSpPr/>
          <p:nvPr/>
        </p:nvSpPr>
        <p:spPr>
          <a:xfrm>
            <a:off x="6832429" y="3047924"/>
            <a:ext cx="4749681" cy="1206470"/>
          </a:xfrm>
          <a:prstGeom prst="roundRect">
            <a:avLst>
              <a:gd name="adj" fmla="val 14737"/>
            </a:avLst>
          </a:prstGeom>
          <a:solidFill>
            <a:srgbClr val="FFFFFF"/>
          </a:solidFill>
          <a:ln/>
          <a:effectLst>
            <a:outerShdw sx="100000" sy="100000" kx="0" ky="0" algn="bl" rotWithShape="0" blurRad="203200" dist="76200" dir="5400000">
              <a:srgbClr val="1E468C">
                <a:alpha val="16000"/>
              </a:srgbClr>
            </a:outerShdw>
          </a:effectLst>
        </p:spPr>
      </p:sp>
      <p:sp>
        <p:nvSpPr>
          <p:cNvPr id="6" name="shape 14.5"/>
          <p:cNvSpPr/>
          <p:nvPr/>
        </p:nvSpPr>
        <p:spPr>
          <a:xfrm>
            <a:off x="6832429" y="4381390"/>
            <a:ext cx="4749681" cy="1206470"/>
          </a:xfrm>
          <a:prstGeom prst="roundRect">
            <a:avLst>
              <a:gd name="adj" fmla="val 14737"/>
            </a:avLst>
          </a:prstGeom>
          <a:solidFill>
            <a:srgbClr val="FFFFFF"/>
          </a:solidFill>
          <a:ln/>
          <a:effectLst>
            <a:outerShdw sx="100000" sy="100000" kx="0" ky="0" algn="bl" rotWithShape="0" blurRad="203200" dist="76200" dir="5400000">
              <a:srgbClr val="1E468C">
                <a:alpha val="16000"/>
              </a:srgbClr>
            </a:outerShdw>
          </a:effectLst>
        </p:spPr>
      </p:sp>
      <p:sp>
        <p:nvSpPr>
          <p:cNvPr id="7" name="text 14.6"/>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Same rules, different builds: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weight is also ammunition</a:t>
            </a:r>
            <a:endParaRPr lang="en-US" sz="2700" dirty="0"/>
          </a:p>
        </p:txBody>
      </p:sp>
      <p:sp>
        <p:nvSpPr>
          <p:cNvPr id="8" name="text 14.7"/>
          <p:cNvSpPr txBox="1"/>
          <p:nvPr/>
        </p:nvSpPr>
        <p:spPr>
          <a:xfrm>
            <a:off x="609585" y="5117972"/>
            <a:ext cx="5752956"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FIG 4 · Heavy, balanced and light builds of the same character. Concept render, AI-generated.</a:t>
            </a:r>
            <a:endParaRPr lang="en-US" sz="850" dirty="0"/>
          </a:p>
        </p:txBody>
      </p:sp>
      <p:sp>
        <p:nvSpPr>
          <p:cNvPr id="9" name="text 14.8"/>
          <p:cNvSpPr txBox="1"/>
          <p:nvPr/>
        </p:nvSpPr>
        <p:spPr>
          <a:xfrm>
            <a:off x="609585" y="5524362"/>
            <a:ext cx="5752956" cy="386547"/>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Weight classes are standard in the genre (e.g. Mario Kart). The twist: here weight is also your ammunition, so a build changes how you play, not only how you look.</a:t>
            </a:r>
            <a:endParaRPr lang="en-US" sz="1050" dirty="0"/>
          </a:p>
        </p:txBody>
      </p:sp>
      <p:pic>
        <p:nvPicPr>
          <p:cNvPr id="10" name="raster 14.9" descr="diagram">    </p:cNvPr>
          <p:cNvPicPr>
            <a:picLocks noChangeAspect="1"/>
          </p:cNvPicPr>
          <p:nvPr/>
        </p:nvPicPr>
        <p:blipFill>
          <a:blip r:embed="rId3"/>
          <a:stretch>
            <a:fillRect/>
          </a:stretch>
        </p:blipFill>
        <p:spPr>
          <a:xfrm>
            <a:off x="6997525" y="1866853"/>
            <a:ext cx="406390" cy="406390"/>
          </a:xfrm>
          <a:prstGeom prst="rect">
            <a:avLst/>
          </a:prstGeom>
        </p:spPr>
      </p:pic>
      <p:sp>
        <p:nvSpPr>
          <p:cNvPr id="11" name="text 14.10"/>
          <p:cNvSpPr txBox="1"/>
          <p:nvPr/>
        </p:nvSpPr>
        <p:spPr>
          <a:xfrm>
            <a:off x="7505512" y="1955751"/>
            <a:ext cx="792216" cy="228594"/>
          </a:xfrm>
          <a:prstGeom prst="rect">
            <a:avLst/>
          </a:prstGeom>
          <a:noFill/>
          <a:ln/>
        </p:spPr>
        <p:txBody>
          <a:bodyPr wrap="square" lIns="0" tIns="0" rIns="0" bIns="0" rtlCol="0" anchor="t"/>
          <a:lstStyle/>
          <a:p>
            <a:pPr algn="l" indent="0" marL="0">
              <a:lnSpc>
                <a:spcPts val="1800"/>
              </a:lnSpc>
              <a:buNone/>
            </a:pPr>
            <a:r>
              <a:rPr lang="en-US" sz="1800" dirty="0">
                <a:solidFill>
                  <a:srgbClr val="8F55F5"/>
                </a:solidFill>
                <a:latin typeface="Arial Rounded MT Bold" pitchFamily="34" charset="0"/>
                <a:ea typeface="Arial Rounded MT Bold" pitchFamily="34" charset="-122"/>
                <a:cs typeface="Arial Rounded MT Bold" pitchFamily="34" charset="-120"/>
              </a:rPr>
              <a:t>Heavy</a:t>
            </a:r>
            <a:endParaRPr lang="en-US" sz="1800" dirty="0"/>
          </a:p>
        </p:txBody>
      </p:sp>
      <p:sp>
        <p:nvSpPr>
          <p:cNvPr id="12" name="text 14.11"/>
          <p:cNvSpPr txBox="1"/>
          <p:nvPr/>
        </p:nvSpPr>
        <p:spPr>
          <a:xfrm>
            <a:off x="7010225" y="2324042"/>
            <a:ext cx="2641534" cy="362536"/>
          </a:xfrm>
          <a:prstGeom prst="rect">
            <a:avLst/>
          </a:prstGeom>
          <a:noFill/>
          <a:ln/>
        </p:spPr>
        <p:txBody>
          <a:bodyPr wrap="square" lIns="0" tIns="0" rIns="0" bIns="0" rtlCol="0" anchor="t"/>
          <a:lstStyle/>
          <a:p>
            <a:pPr algn="l" indent="0" marL="0">
              <a:lnSpc>
                <a:spcPts val="1430"/>
              </a:lnSpc>
              <a:buNone/>
            </a:pPr>
            <a:r>
              <a:rPr lang="en-US" sz="1050" dirty="0">
                <a:solidFill>
                  <a:srgbClr val="3B4A66"/>
                </a:solidFill>
                <a:latin typeface="Arial" pitchFamily="34" charset="0"/>
                <a:ea typeface="Arial" pitchFamily="34" charset="-122"/>
                <a:cs typeface="Arial" pitchFamily="34" charset="-120"/>
              </a:rPr>
              <a:t>More starting mass: more shots to spend, harder to push. Moves slower.</a:t>
            </a:r>
            <a:endParaRPr lang="en-US" sz="1050" dirty="0"/>
          </a:p>
        </p:txBody>
      </p:sp>
      <p:sp>
        <p:nvSpPr>
          <p:cNvPr id="13" name="text 14.12"/>
          <p:cNvSpPr txBox="1"/>
          <p:nvPr/>
        </p:nvSpPr>
        <p:spPr>
          <a:xfrm>
            <a:off x="9753356" y="1993850"/>
            <a:ext cx="894125"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MASS · AMMO</a:t>
            </a:r>
            <a:endParaRPr lang="en-US" sz="750" dirty="0"/>
          </a:p>
        </p:txBody>
      </p:sp>
      <p:sp>
        <p:nvSpPr>
          <p:cNvPr id="14" name="text 14.13"/>
          <p:cNvSpPr txBox="1"/>
          <p:nvPr/>
        </p:nvSpPr>
        <p:spPr>
          <a:xfrm>
            <a:off x="9753356" y="2425639"/>
            <a:ext cx="466402"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SPEED</a:t>
            </a:r>
            <a:endParaRPr lang="en-US" sz="750" dirty="0"/>
          </a:p>
        </p:txBody>
      </p:sp>
      <p:sp>
        <p:nvSpPr>
          <p:cNvPr id="15" name="shape 14.14"/>
          <p:cNvSpPr/>
          <p:nvPr/>
        </p:nvSpPr>
        <p:spPr>
          <a:xfrm>
            <a:off x="9753356" y="2158946"/>
            <a:ext cx="266693" cy="114297"/>
          </a:xfrm>
          <a:prstGeom prst="roundRect">
            <a:avLst>
              <a:gd name="adj" fmla="val 50000"/>
            </a:avLst>
          </a:prstGeom>
          <a:solidFill>
            <a:srgbClr val="8F55F5"/>
          </a:solidFill>
          <a:ln/>
        </p:spPr>
      </p:sp>
      <p:sp>
        <p:nvSpPr>
          <p:cNvPr id="16" name="shape 14.15"/>
          <p:cNvSpPr/>
          <p:nvPr/>
        </p:nvSpPr>
        <p:spPr>
          <a:xfrm>
            <a:off x="10070848" y="2158946"/>
            <a:ext cx="266693" cy="114297"/>
          </a:xfrm>
          <a:prstGeom prst="roundRect">
            <a:avLst>
              <a:gd name="adj" fmla="val 50000"/>
            </a:avLst>
          </a:prstGeom>
          <a:solidFill>
            <a:srgbClr val="8F55F5"/>
          </a:solidFill>
          <a:ln/>
        </p:spPr>
      </p:sp>
      <p:sp>
        <p:nvSpPr>
          <p:cNvPr id="17" name="shape 14.16"/>
          <p:cNvSpPr/>
          <p:nvPr/>
        </p:nvSpPr>
        <p:spPr>
          <a:xfrm>
            <a:off x="10388340" y="2158946"/>
            <a:ext cx="266693" cy="114297"/>
          </a:xfrm>
          <a:prstGeom prst="roundRect">
            <a:avLst>
              <a:gd name="adj" fmla="val 50000"/>
            </a:avLst>
          </a:prstGeom>
          <a:solidFill>
            <a:srgbClr val="8F55F5"/>
          </a:solidFill>
          <a:ln/>
        </p:spPr>
      </p:sp>
      <p:sp>
        <p:nvSpPr>
          <p:cNvPr id="18" name="shape 14.17"/>
          <p:cNvSpPr/>
          <p:nvPr/>
        </p:nvSpPr>
        <p:spPr>
          <a:xfrm>
            <a:off x="10705832" y="2158946"/>
            <a:ext cx="266693" cy="114297"/>
          </a:xfrm>
          <a:prstGeom prst="roundRect">
            <a:avLst>
              <a:gd name="adj" fmla="val 50000"/>
            </a:avLst>
          </a:prstGeom>
          <a:solidFill>
            <a:srgbClr val="8F55F5"/>
          </a:solidFill>
          <a:ln/>
        </p:spPr>
      </p:sp>
      <p:sp>
        <p:nvSpPr>
          <p:cNvPr id="19" name="shape 14.18"/>
          <p:cNvSpPr/>
          <p:nvPr/>
        </p:nvSpPr>
        <p:spPr>
          <a:xfrm>
            <a:off x="11023324" y="2158946"/>
            <a:ext cx="266693" cy="114297"/>
          </a:xfrm>
          <a:prstGeom prst="roundRect">
            <a:avLst>
              <a:gd name="adj" fmla="val 50000"/>
            </a:avLst>
          </a:prstGeom>
          <a:solidFill>
            <a:srgbClr val="8F55F5"/>
          </a:solidFill>
          <a:ln/>
        </p:spPr>
      </p:sp>
      <p:sp>
        <p:nvSpPr>
          <p:cNvPr id="20" name="shape 14.19"/>
          <p:cNvSpPr/>
          <p:nvPr/>
        </p:nvSpPr>
        <p:spPr>
          <a:xfrm>
            <a:off x="9753356" y="2590735"/>
            <a:ext cx="266693" cy="114297"/>
          </a:xfrm>
          <a:prstGeom prst="roundRect">
            <a:avLst>
              <a:gd name="adj" fmla="val 50000"/>
            </a:avLst>
          </a:prstGeom>
          <a:solidFill>
            <a:srgbClr val="8F55F5"/>
          </a:solidFill>
          <a:ln/>
        </p:spPr>
      </p:sp>
      <p:sp>
        <p:nvSpPr>
          <p:cNvPr id="21" name="shape 14.20"/>
          <p:cNvSpPr/>
          <p:nvPr/>
        </p:nvSpPr>
        <p:spPr>
          <a:xfrm>
            <a:off x="10070848" y="2590735"/>
            <a:ext cx="266693" cy="114297"/>
          </a:xfrm>
          <a:prstGeom prst="roundRect">
            <a:avLst>
              <a:gd name="adj" fmla="val 50000"/>
            </a:avLst>
          </a:prstGeom>
          <a:solidFill>
            <a:srgbClr val="8F55F5"/>
          </a:solidFill>
          <a:ln/>
        </p:spPr>
      </p:sp>
      <p:sp>
        <p:nvSpPr>
          <p:cNvPr id="22" name="shape 14.21"/>
          <p:cNvSpPr/>
          <p:nvPr/>
        </p:nvSpPr>
        <p:spPr>
          <a:xfrm>
            <a:off x="10388340" y="2590735"/>
            <a:ext cx="266693" cy="114297"/>
          </a:xfrm>
          <a:prstGeom prst="roundRect">
            <a:avLst>
              <a:gd name="adj" fmla="val 50000"/>
            </a:avLst>
          </a:prstGeom>
          <a:solidFill>
            <a:srgbClr val="E4EDF9"/>
          </a:solidFill>
          <a:ln/>
        </p:spPr>
      </p:sp>
      <p:sp>
        <p:nvSpPr>
          <p:cNvPr id="23" name="shape 14.22"/>
          <p:cNvSpPr/>
          <p:nvPr/>
        </p:nvSpPr>
        <p:spPr>
          <a:xfrm>
            <a:off x="10705832" y="2590735"/>
            <a:ext cx="266693" cy="114297"/>
          </a:xfrm>
          <a:prstGeom prst="roundRect">
            <a:avLst>
              <a:gd name="adj" fmla="val 50000"/>
            </a:avLst>
          </a:prstGeom>
          <a:solidFill>
            <a:srgbClr val="E4EDF9"/>
          </a:solidFill>
          <a:ln/>
        </p:spPr>
      </p:sp>
      <p:sp>
        <p:nvSpPr>
          <p:cNvPr id="24" name="shape 14.23"/>
          <p:cNvSpPr/>
          <p:nvPr/>
        </p:nvSpPr>
        <p:spPr>
          <a:xfrm>
            <a:off x="11023324" y="2590735"/>
            <a:ext cx="266693" cy="114297"/>
          </a:xfrm>
          <a:prstGeom prst="roundRect">
            <a:avLst>
              <a:gd name="adj" fmla="val 50000"/>
            </a:avLst>
          </a:prstGeom>
          <a:solidFill>
            <a:srgbClr val="E4EDF9"/>
          </a:solidFill>
          <a:ln/>
        </p:spPr>
      </p:sp>
      <p:pic>
        <p:nvPicPr>
          <p:cNvPr id="25" name="raster 14.24" descr="diagram">    </p:cNvPr>
          <p:cNvPicPr>
            <a:picLocks noChangeAspect="1"/>
          </p:cNvPicPr>
          <p:nvPr/>
        </p:nvPicPr>
        <p:blipFill>
          <a:blip r:embed="rId4"/>
          <a:stretch>
            <a:fillRect/>
          </a:stretch>
        </p:blipFill>
        <p:spPr>
          <a:xfrm>
            <a:off x="7029274" y="3263818"/>
            <a:ext cx="342891" cy="342891"/>
          </a:xfrm>
          <a:prstGeom prst="rect">
            <a:avLst/>
          </a:prstGeom>
        </p:spPr>
      </p:pic>
      <p:sp>
        <p:nvSpPr>
          <p:cNvPr id="26" name="text 14.25"/>
          <p:cNvSpPr txBox="1"/>
          <p:nvPr/>
        </p:nvSpPr>
        <p:spPr>
          <a:xfrm>
            <a:off x="7505512" y="3289218"/>
            <a:ext cx="1177241" cy="228594"/>
          </a:xfrm>
          <a:prstGeom prst="rect">
            <a:avLst/>
          </a:prstGeom>
          <a:noFill/>
          <a:ln/>
        </p:spPr>
        <p:txBody>
          <a:bodyPr wrap="square" lIns="0" tIns="0" rIns="0" bIns="0" rtlCol="0" anchor="t"/>
          <a:lstStyle/>
          <a:p>
            <a:pPr algn="l" indent="0" marL="0">
              <a:lnSpc>
                <a:spcPts val="1800"/>
              </a:lnSpc>
              <a:buNone/>
            </a:pPr>
            <a:r>
              <a:rPr lang="en-US" sz="1800" dirty="0">
                <a:solidFill>
                  <a:srgbClr val="FF6B1F"/>
                </a:solidFill>
                <a:latin typeface="Arial Rounded MT Bold" pitchFamily="34" charset="0"/>
                <a:ea typeface="Arial Rounded MT Bold" pitchFamily="34" charset="-122"/>
                <a:cs typeface="Arial Rounded MT Bold" pitchFamily="34" charset="-120"/>
              </a:rPr>
              <a:t>Balanced</a:t>
            </a:r>
            <a:endParaRPr lang="en-US" sz="1800" dirty="0"/>
          </a:p>
        </p:txBody>
      </p:sp>
      <p:sp>
        <p:nvSpPr>
          <p:cNvPr id="27" name="text 14.26"/>
          <p:cNvSpPr txBox="1"/>
          <p:nvPr/>
        </p:nvSpPr>
        <p:spPr>
          <a:xfrm>
            <a:off x="7010225" y="3657509"/>
            <a:ext cx="2641534" cy="362536"/>
          </a:xfrm>
          <a:prstGeom prst="rect">
            <a:avLst/>
          </a:prstGeom>
          <a:noFill/>
          <a:ln/>
        </p:spPr>
        <p:txBody>
          <a:bodyPr wrap="square" lIns="0" tIns="0" rIns="0" bIns="0" rtlCol="0" anchor="t"/>
          <a:lstStyle/>
          <a:p>
            <a:pPr algn="l" indent="0" marL="0">
              <a:lnSpc>
                <a:spcPts val="1430"/>
              </a:lnSpc>
              <a:buNone/>
            </a:pPr>
            <a:r>
              <a:rPr lang="en-US" sz="1050" dirty="0">
                <a:solidFill>
                  <a:srgbClr val="3B4A66"/>
                </a:solidFill>
                <a:latin typeface="Arial" pitchFamily="34" charset="0"/>
                <a:ea typeface="Arial" pitchFamily="34" charset="-122"/>
                <a:cs typeface="Arial" pitchFamily="34" charset="-120"/>
              </a:rPr>
              <a:t>The reference build every other one is tuned against.</a:t>
            </a:r>
            <a:endParaRPr lang="en-US" sz="1050" dirty="0"/>
          </a:p>
        </p:txBody>
      </p:sp>
      <p:sp>
        <p:nvSpPr>
          <p:cNvPr id="28" name="text 14.27"/>
          <p:cNvSpPr txBox="1"/>
          <p:nvPr/>
        </p:nvSpPr>
        <p:spPr>
          <a:xfrm>
            <a:off x="9753356" y="3327317"/>
            <a:ext cx="894125"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MASS · AMMO</a:t>
            </a:r>
            <a:endParaRPr lang="en-US" sz="750" dirty="0"/>
          </a:p>
        </p:txBody>
      </p:sp>
      <p:sp>
        <p:nvSpPr>
          <p:cNvPr id="29" name="text 14.28"/>
          <p:cNvSpPr txBox="1"/>
          <p:nvPr/>
        </p:nvSpPr>
        <p:spPr>
          <a:xfrm>
            <a:off x="9753356" y="3759106"/>
            <a:ext cx="466402"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SPEED</a:t>
            </a:r>
            <a:endParaRPr lang="en-US" sz="750" dirty="0"/>
          </a:p>
        </p:txBody>
      </p:sp>
      <p:sp>
        <p:nvSpPr>
          <p:cNvPr id="30" name="shape 14.29"/>
          <p:cNvSpPr/>
          <p:nvPr/>
        </p:nvSpPr>
        <p:spPr>
          <a:xfrm>
            <a:off x="9753356" y="3492413"/>
            <a:ext cx="266693" cy="114297"/>
          </a:xfrm>
          <a:prstGeom prst="roundRect">
            <a:avLst>
              <a:gd name="adj" fmla="val 50000"/>
            </a:avLst>
          </a:prstGeom>
          <a:solidFill>
            <a:srgbClr val="FF6B1F"/>
          </a:solidFill>
          <a:ln/>
        </p:spPr>
      </p:sp>
      <p:sp>
        <p:nvSpPr>
          <p:cNvPr id="31" name="shape 14.30"/>
          <p:cNvSpPr/>
          <p:nvPr/>
        </p:nvSpPr>
        <p:spPr>
          <a:xfrm>
            <a:off x="10070848" y="3492413"/>
            <a:ext cx="266693" cy="114297"/>
          </a:xfrm>
          <a:prstGeom prst="roundRect">
            <a:avLst>
              <a:gd name="adj" fmla="val 50000"/>
            </a:avLst>
          </a:prstGeom>
          <a:solidFill>
            <a:srgbClr val="FF6B1F"/>
          </a:solidFill>
          <a:ln/>
        </p:spPr>
      </p:sp>
      <p:sp>
        <p:nvSpPr>
          <p:cNvPr id="32" name="shape 14.31"/>
          <p:cNvSpPr/>
          <p:nvPr/>
        </p:nvSpPr>
        <p:spPr>
          <a:xfrm>
            <a:off x="10388340" y="3492413"/>
            <a:ext cx="266693" cy="114297"/>
          </a:xfrm>
          <a:prstGeom prst="roundRect">
            <a:avLst>
              <a:gd name="adj" fmla="val 50000"/>
            </a:avLst>
          </a:prstGeom>
          <a:solidFill>
            <a:srgbClr val="FF6B1F"/>
          </a:solidFill>
          <a:ln/>
        </p:spPr>
      </p:sp>
      <p:sp>
        <p:nvSpPr>
          <p:cNvPr id="33" name="shape 14.32"/>
          <p:cNvSpPr/>
          <p:nvPr/>
        </p:nvSpPr>
        <p:spPr>
          <a:xfrm>
            <a:off x="10705832" y="3492413"/>
            <a:ext cx="266693" cy="114297"/>
          </a:xfrm>
          <a:prstGeom prst="roundRect">
            <a:avLst>
              <a:gd name="adj" fmla="val 50000"/>
            </a:avLst>
          </a:prstGeom>
          <a:solidFill>
            <a:srgbClr val="E4EDF9"/>
          </a:solidFill>
          <a:ln/>
        </p:spPr>
      </p:sp>
      <p:sp>
        <p:nvSpPr>
          <p:cNvPr id="34" name="shape 14.33"/>
          <p:cNvSpPr/>
          <p:nvPr/>
        </p:nvSpPr>
        <p:spPr>
          <a:xfrm>
            <a:off x="11023324" y="3492413"/>
            <a:ext cx="266693" cy="114297"/>
          </a:xfrm>
          <a:prstGeom prst="roundRect">
            <a:avLst>
              <a:gd name="adj" fmla="val 50000"/>
            </a:avLst>
          </a:prstGeom>
          <a:solidFill>
            <a:srgbClr val="E4EDF9"/>
          </a:solidFill>
          <a:ln/>
        </p:spPr>
      </p:sp>
      <p:sp>
        <p:nvSpPr>
          <p:cNvPr id="35" name="shape 14.34"/>
          <p:cNvSpPr/>
          <p:nvPr/>
        </p:nvSpPr>
        <p:spPr>
          <a:xfrm>
            <a:off x="9753356" y="3924202"/>
            <a:ext cx="266693" cy="114297"/>
          </a:xfrm>
          <a:prstGeom prst="roundRect">
            <a:avLst>
              <a:gd name="adj" fmla="val 50000"/>
            </a:avLst>
          </a:prstGeom>
          <a:solidFill>
            <a:srgbClr val="FF6B1F"/>
          </a:solidFill>
          <a:ln/>
        </p:spPr>
      </p:sp>
      <p:sp>
        <p:nvSpPr>
          <p:cNvPr id="36" name="shape 14.35"/>
          <p:cNvSpPr/>
          <p:nvPr/>
        </p:nvSpPr>
        <p:spPr>
          <a:xfrm>
            <a:off x="10070848" y="3924202"/>
            <a:ext cx="266693" cy="114297"/>
          </a:xfrm>
          <a:prstGeom prst="roundRect">
            <a:avLst>
              <a:gd name="adj" fmla="val 50000"/>
            </a:avLst>
          </a:prstGeom>
          <a:solidFill>
            <a:srgbClr val="FF6B1F"/>
          </a:solidFill>
          <a:ln/>
        </p:spPr>
      </p:sp>
      <p:sp>
        <p:nvSpPr>
          <p:cNvPr id="37" name="shape 14.36"/>
          <p:cNvSpPr/>
          <p:nvPr/>
        </p:nvSpPr>
        <p:spPr>
          <a:xfrm>
            <a:off x="10388340" y="3924202"/>
            <a:ext cx="266693" cy="114297"/>
          </a:xfrm>
          <a:prstGeom prst="roundRect">
            <a:avLst>
              <a:gd name="adj" fmla="val 50000"/>
            </a:avLst>
          </a:prstGeom>
          <a:solidFill>
            <a:srgbClr val="FF6B1F"/>
          </a:solidFill>
          <a:ln/>
        </p:spPr>
      </p:sp>
      <p:sp>
        <p:nvSpPr>
          <p:cNvPr id="38" name="shape 14.37"/>
          <p:cNvSpPr/>
          <p:nvPr/>
        </p:nvSpPr>
        <p:spPr>
          <a:xfrm>
            <a:off x="10705832" y="3924202"/>
            <a:ext cx="266693" cy="114297"/>
          </a:xfrm>
          <a:prstGeom prst="roundRect">
            <a:avLst>
              <a:gd name="adj" fmla="val 50000"/>
            </a:avLst>
          </a:prstGeom>
          <a:solidFill>
            <a:srgbClr val="E4EDF9"/>
          </a:solidFill>
          <a:ln/>
        </p:spPr>
      </p:sp>
      <p:sp>
        <p:nvSpPr>
          <p:cNvPr id="39" name="shape 14.38"/>
          <p:cNvSpPr/>
          <p:nvPr/>
        </p:nvSpPr>
        <p:spPr>
          <a:xfrm>
            <a:off x="11023324" y="3924202"/>
            <a:ext cx="266693" cy="114297"/>
          </a:xfrm>
          <a:prstGeom prst="roundRect">
            <a:avLst>
              <a:gd name="adj" fmla="val 50000"/>
            </a:avLst>
          </a:prstGeom>
          <a:solidFill>
            <a:srgbClr val="E4EDF9"/>
          </a:solidFill>
          <a:ln/>
        </p:spPr>
      </p:sp>
      <p:pic>
        <p:nvPicPr>
          <p:cNvPr id="40" name="raster 14.39" descr="diagram">    </p:cNvPr>
          <p:cNvPicPr>
            <a:picLocks noChangeAspect="1"/>
          </p:cNvPicPr>
          <p:nvPr/>
        </p:nvPicPr>
        <p:blipFill>
          <a:blip r:embed="rId5"/>
          <a:stretch>
            <a:fillRect/>
          </a:stretch>
        </p:blipFill>
        <p:spPr>
          <a:xfrm>
            <a:off x="7061023" y="4660783"/>
            <a:ext cx="279393" cy="279393"/>
          </a:xfrm>
          <a:prstGeom prst="rect">
            <a:avLst/>
          </a:prstGeom>
        </p:spPr>
      </p:pic>
      <p:sp>
        <p:nvSpPr>
          <p:cNvPr id="41" name="text 14.40"/>
          <p:cNvSpPr txBox="1"/>
          <p:nvPr/>
        </p:nvSpPr>
        <p:spPr>
          <a:xfrm>
            <a:off x="7505512" y="4622684"/>
            <a:ext cx="659177" cy="228594"/>
          </a:xfrm>
          <a:prstGeom prst="rect">
            <a:avLst/>
          </a:prstGeom>
          <a:noFill/>
          <a:ln/>
        </p:spPr>
        <p:txBody>
          <a:bodyPr wrap="square" lIns="0" tIns="0" rIns="0" bIns="0" rtlCol="0" anchor="t"/>
          <a:lstStyle/>
          <a:p>
            <a:pPr algn="l" indent="0" marL="0">
              <a:lnSpc>
                <a:spcPts val="1800"/>
              </a:lnSpc>
              <a:buNone/>
            </a:pPr>
            <a:r>
              <a:rPr lang="en-US" sz="1800" dirty="0">
                <a:solidFill>
                  <a:srgbClr val="43B832"/>
                </a:solidFill>
                <a:latin typeface="Arial Rounded MT Bold" pitchFamily="34" charset="0"/>
                <a:ea typeface="Arial Rounded MT Bold" pitchFamily="34" charset="-122"/>
                <a:cs typeface="Arial Rounded MT Bold" pitchFamily="34" charset="-120"/>
              </a:rPr>
              <a:t>Light</a:t>
            </a:r>
            <a:endParaRPr lang="en-US" sz="1800" dirty="0"/>
          </a:p>
        </p:txBody>
      </p:sp>
      <p:sp>
        <p:nvSpPr>
          <p:cNvPr id="42" name="text 14.41"/>
          <p:cNvSpPr txBox="1"/>
          <p:nvPr/>
        </p:nvSpPr>
        <p:spPr>
          <a:xfrm>
            <a:off x="7010225" y="4990975"/>
            <a:ext cx="2641534" cy="362536"/>
          </a:xfrm>
          <a:prstGeom prst="rect">
            <a:avLst/>
          </a:prstGeom>
          <a:noFill/>
          <a:ln/>
        </p:spPr>
        <p:txBody>
          <a:bodyPr wrap="square" lIns="0" tIns="0" rIns="0" bIns="0" rtlCol="0" anchor="t"/>
          <a:lstStyle/>
          <a:p>
            <a:pPr algn="l" indent="0" marL="0">
              <a:lnSpc>
                <a:spcPts val="1430"/>
              </a:lnSpc>
              <a:buNone/>
            </a:pPr>
            <a:r>
              <a:rPr lang="en-US" sz="1050" dirty="0">
                <a:solidFill>
                  <a:srgbClr val="3B4A66"/>
                </a:solidFill>
                <a:latin typeface="Arial" pitchFamily="34" charset="0"/>
                <a:ea typeface="Arial" pitchFamily="34" charset="-122"/>
                <a:cs typeface="Arial" pitchFamily="34" charset="-120"/>
              </a:rPr>
              <a:t>Less starting mass: fewer shots, flies further when hit. Moves faster.</a:t>
            </a:r>
            <a:endParaRPr lang="en-US" sz="1050" dirty="0"/>
          </a:p>
        </p:txBody>
      </p:sp>
      <p:sp>
        <p:nvSpPr>
          <p:cNvPr id="43" name="text 14.42"/>
          <p:cNvSpPr txBox="1"/>
          <p:nvPr/>
        </p:nvSpPr>
        <p:spPr>
          <a:xfrm>
            <a:off x="9753356" y="4660783"/>
            <a:ext cx="894125"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MASS · AMMO</a:t>
            </a:r>
            <a:endParaRPr lang="en-US" sz="750" dirty="0"/>
          </a:p>
        </p:txBody>
      </p:sp>
      <p:sp>
        <p:nvSpPr>
          <p:cNvPr id="44" name="text 14.43"/>
          <p:cNvSpPr txBox="1"/>
          <p:nvPr/>
        </p:nvSpPr>
        <p:spPr>
          <a:xfrm>
            <a:off x="9753356" y="5092573"/>
            <a:ext cx="466402"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SPEED</a:t>
            </a:r>
            <a:endParaRPr lang="en-US" sz="750" dirty="0"/>
          </a:p>
        </p:txBody>
      </p:sp>
      <p:sp>
        <p:nvSpPr>
          <p:cNvPr id="45" name="shape 14.44"/>
          <p:cNvSpPr/>
          <p:nvPr/>
        </p:nvSpPr>
        <p:spPr>
          <a:xfrm>
            <a:off x="9753356" y="4825879"/>
            <a:ext cx="266693" cy="114297"/>
          </a:xfrm>
          <a:prstGeom prst="roundRect">
            <a:avLst>
              <a:gd name="adj" fmla="val 50000"/>
            </a:avLst>
          </a:prstGeom>
          <a:solidFill>
            <a:srgbClr val="43B832"/>
          </a:solidFill>
          <a:ln/>
        </p:spPr>
      </p:sp>
      <p:sp>
        <p:nvSpPr>
          <p:cNvPr id="46" name="shape 14.45"/>
          <p:cNvSpPr/>
          <p:nvPr/>
        </p:nvSpPr>
        <p:spPr>
          <a:xfrm>
            <a:off x="10070848" y="4825879"/>
            <a:ext cx="266693" cy="114297"/>
          </a:xfrm>
          <a:prstGeom prst="roundRect">
            <a:avLst>
              <a:gd name="adj" fmla="val 50000"/>
            </a:avLst>
          </a:prstGeom>
          <a:solidFill>
            <a:srgbClr val="43B832"/>
          </a:solidFill>
          <a:ln/>
        </p:spPr>
      </p:sp>
      <p:sp>
        <p:nvSpPr>
          <p:cNvPr id="47" name="shape 14.46"/>
          <p:cNvSpPr/>
          <p:nvPr/>
        </p:nvSpPr>
        <p:spPr>
          <a:xfrm>
            <a:off x="10388340" y="4825879"/>
            <a:ext cx="266693" cy="114297"/>
          </a:xfrm>
          <a:prstGeom prst="roundRect">
            <a:avLst>
              <a:gd name="adj" fmla="val 50000"/>
            </a:avLst>
          </a:prstGeom>
          <a:solidFill>
            <a:srgbClr val="E4EDF9"/>
          </a:solidFill>
          <a:ln/>
        </p:spPr>
      </p:sp>
      <p:sp>
        <p:nvSpPr>
          <p:cNvPr id="48" name="shape 14.47"/>
          <p:cNvSpPr/>
          <p:nvPr/>
        </p:nvSpPr>
        <p:spPr>
          <a:xfrm>
            <a:off x="10705832" y="4825879"/>
            <a:ext cx="266693" cy="114297"/>
          </a:xfrm>
          <a:prstGeom prst="roundRect">
            <a:avLst>
              <a:gd name="adj" fmla="val 50000"/>
            </a:avLst>
          </a:prstGeom>
          <a:solidFill>
            <a:srgbClr val="E4EDF9"/>
          </a:solidFill>
          <a:ln/>
        </p:spPr>
      </p:sp>
      <p:sp>
        <p:nvSpPr>
          <p:cNvPr id="49" name="shape 14.48"/>
          <p:cNvSpPr/>
          <p:nvPr/>
        </p:nvSpPr>
        <p:spPr>
          <a:xfrm>
            <a:off x="11023324" y="4825879"/>
            <a:ext cx="266693" cy="114297"/>
          </a:xfrm>
          <a:prstGeom prst="roundRect">
            <a:avLst>
              <a:gd name="adj" fmla="val 50000"/>
            </a:avLst>
          </a:prstGeom>
          <a:solidFill>
            <a:srgbClr val="E4EDF9"/>
          </a:solidFill>
          <a:ln/>
        </p:spPr>
      </p:sp>
      <p:sp>
        <p:nvSpPr>
          <p:cNvPr id="50" name="shape 14.49"/>
          <p:cNvSpPr/>
          <p:nvPr/>
        </p:nvSpPr>
        <p:spPr>
          <a:xfrm>
            <a:off x="9753356" y="5257669"/>
            <a:ext cx="266693" cy="114297"/>
          </a:xfrm>
          <a:prstGeom prst="roundRect">
            <a:avLst>
              <a:gd name="adj" fmla="val 50000"/>
            </a:avLst>
          </a:prstGeom>
          <a:solidFill>
            <a:srgbClr val="43B832"/>
          </a:solidFill>
          <a:ln/>
        </p:spPr>
      </p:sp>
      <p:sp>
        <p:nvSpPr>
          <p:cNvPr id="51" name="shape 14.50"/>
          <p:cNvSpPr/>
          <p:nvPr/>
        </p:nvSpPr>
        <p:spPr>
          <a:xfrm>
            <a:off x="10070848" y="5257669"/>
            <a:ext cx="266693" cy="114297"/>
          </a:xfrm>
          <a:prstGeom prst="roundRect">
            <a:avLst>
              <a:gd name="adj" fmla="val 50000"/>
            </a:avLst>
          </a:prstGeom>
          <a:solidFill>
            <a:srgbClr val="43B832"/>
          </a:solidFill>
          <a:ln/>
        </p:spPr>
      </p:sp>
      <p:sp>
        <p:nvSpPr>
          <p:cNvPr id="52" name="shape 14.51"/>
          <p:cNvSpPr/>
          <p:nvPr/>
        </p:nvSpPr>
        <p:spPr>
          <a:xfrm>
            <a:off x="10388340" y="5257669"/>
            <a:ext cx="266693" cy="114297"/>
          </a:xfrm>
          <a:prstGeom prst="roundRect">
            <a:avLst>
              <a:gd name="adj" fmla="val 50000"/>
            </a:avLst>
          </a:prstGeom>
          <a:solidFill>
            <a:srgbClr val="43B832"/>
          </a:solidFill>
          <a:ln/>
        </p:spPr>
      </p:sp>
      <p:sp>
        <p:nvSpPr>
          <p:cNvPr id="53" name="shape 14.52"/>
          <p:cNvSpPr/>
          <p:nvPr/>
        </p:nvSpPr>
        <p:spPr>
          <a:xfrm>
            <a:off x="10705832" y="5257669"/>
            <a:ext cx="266693" cy="114297"/>
          </a:xfrm>
          <a:prstGeom prst="roundRect">
            <a:avLst>
              <a:gd name="adj" fmla="val 50000"/>
            </a:avLst>
          </a:prstGeom>
          <a:solidFill>
            <a:srgbClr val="43B832"/>
          </a:solidFill>
          <a:ln/>
        </p:spPr>
      </p:sp>
      <p:sp>
        <p:nvSpPr>
          <p:cNvPr id="54" name="shape 14.53"/>
          <p:cNvSpPr/>
          <p:nvPr/>
        </p:nvSpPr>
        <p:spPr>
          <a:xfrm>
            <a:off x="11023324" y="5257669"/>
            <a:ext cx="266693" cy="114297"/>
          </a:xfrm>
          <a:prstGeom prst="roundRect">
            <a:avLst>
              <a:gd name="adj" fmla="val 50000"/>
            </a:avLst>
          </a:prstGeom>
          <a:solidFill>
            <a:srgbClr val="43B832"/>
          </a:solidFill>
          <a:ln/>
        </p:spPr>
      </p:sp>
      <p:sp>
        <p:nvSpPr>
          <p:cNvPr id="55" name="text 14.54"/>
          <p:cNvSpPr txBox="1"/>
          <p:nvPr/>
        </p:nvSpPr>
        <p:spPr>
          <a:xfrm>
            <a:off x="6832429" y="5905352"/>
            <a:ext cx="4787780"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Framework for after the MVP. Pips are relative; stats are not designed yet.</a:t>
            </a:r>
            <a:endParaRPr lang="en-US" sz="850" dirty="0"/>
          </a:p>
        </p:txBody>
      </p:sp>
      <p:sp>
        <p:nvSpPr>
          <p:cNvPr id="56" name="shape 14.55"/>
          <p:cNvSpPr/>
          <p:nvPr/>
        </p:nvSpPr>
        <p:spPr>
          <a:xfrm>
            <a:off x="609585" y="266693"/>
            <a:ext cx="144141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57" name="shape 14.56"/>
          <p:cNvSpPr/>
          <p:nvPr/>
        </p:nvSpPr>
        <p:spPr>
          <a:xfrm>
            <a:off x="711182" y="355591"/>
            <a:ext cx="114297" cy="114297"/>
          </a:xfrm>
          <a:prstGeom prst="roundRect">
            <a:avLst>
              <a:gd name="adj" fmla="val 33333"/>
            </a:avLst>
          </a:prstGeom>
          <a:solidFill>
            <a:srgbClr val="FF6B1F"/>
          </a:solidFill>
          <a:ln/>
        </p:spPr>
      </p:sp>
      <p:sp>
        <p:nvSpPr>
          <p:cNvPr id="58" name="shape 14.57"/>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59" name="shape 14.58"/>
          <p:cNvSpPr/>
          <p:nvPr/>
        </p:nvSpPr>
        <p:spPr>
          <a:xfrm>
            <a:off x="10058149" y="368291"/>
            <a:ext cx="101597" cy="101597"/>
          </a:xfrm>
          <a:prstGeom prst="roundRect">
            <a:avLst>
              <a:gd name="adj" fmla="val 31250"/>
            </a:avLst>
          </a:prstGeom>
          <a:solidFill>
            <a:srgbClr val="16233F"/>
          </a:solidFill>
          <a:ln/>
        </p:spPr>
      </p:sp>
      <p:sp>
        <p:nvSpPr>
          <p:cNvPr id="60" name="shape 14.59"/>
          <p:cNvSpPr/>
          <p:nvPr/>
        </p:nvSpPr>
        <p:spPr>
          <a:xfrm>
            <a:off x="10223244" y="368291"/>
            <a:ext cx="101597" cy="101597"/>
          </a:xfrm>
          <a:prstGeom prst="roundRect">
            <a:avLst>
              <a:gd name="adj" fmla="val 31250"/>
            </a:avLst>
          </a:prstGeom>
          <a:solidFill>
            <a:srgbClr val="16233F"/>
          </a:solidFill>
          <a:ln/>
        </p:spPr>
      </p:sp>
      <p:sp>
        <p:nvSpPr>
          <p:cNvPr id="61" name="shape 14.60"/>
          <p:cNvSpPr/>
          <p:nvPr/>
        </p:nvSpPr>
        <p:spPr>
          <a:xfrm>
            <a:off x="10388340" y="368291"/>
            <a:ext cx="101597" cy="101597"/>
          </a:xfrm>
          <a:prstGeom prst="roundRect">
            <a:avLst>
              <a:gd name="adj" fmla="val 31250"/>
            </a:avLst>
          </a:prstGeom>
          <a:solidFill>
            <a:srgbClr val="16233F"/>
          </a:solidFill>
          <a:ln/>
        </p:spPr>
      </p:sp>
      <p:sp>
        <p:nvSpPr>
          <p:cNvPr id="62" name="shape 14.61"/>
          <p:cNvSpPr/>
          <p:nvPr/>
        </p:nvSpPr>
        <p:spPr>
          <a:xfrm>
            <a:off x="10553436" y="368291"/>
            <a:ext cx="101597" cy="101597"/>
          </a:xfrm>
          <a:prstGeom prst="roundRect">
            <a:avLst>
              <a:gd name="adj" fmla="val 31250"/>
            </a:avLst>
          </a:prstGeom>
          <a:solidFill>
            <a:srgbClr val="FF6B1F"/>
          </a:solidFill>
          <a:ln/>
        </p:spPr>
      </p:sp>
      <p:sp>
        <p:nvSpPr>
          <p:cNvPr id="63" name="shape 14.62"/>
          <p:cNvSpPr/>
          <p:nvPr/>
        </p:nvSpPr>
        <p:spPr>
          <a:xfrm>
            <a:off x="10718532" y="368291"/>
            <a:ext cx="101597" cy="101597"/>
          </a:xfrm>
          <a:prstGeom prst="roundRect">
            <a:avLst>
              <a:gd name="adj" fmla="val 31250"/>
            </a:avLst>
          </a:prstGeom>
          <a:solidFill>
            <a:srgbClr val="C7D4E8"/>
          </a:solidFill>
          <a:ln/>
        </p:spPr>
      </p:sp>
      <p:sp>
        <p:nvSpPr>
          <p:cNvPr id="64" name="shape 14.63"/>
          <p:cNvSpPr/>
          <p:nvPr/>
        </p:nvSpPr>
        <p:spPr>
          <a:xfrm>
            <a:off x="10883628" y="368291"/>
            <a:ext cx="101597" cy="101597"/>
          </a:xfrm>
          <a:prstGeom prst="roundRect">
            <a:avLst>
              <a:gd name="adj" fmla="val 31250"/>
            </a:avLst>
          </a:prstGeom>
          <a:solidFill>
            <a:srgbClr val="C7D4E8"/>
          </a:solidFill>
          <a:ln/>
        </p:spPr>
      </p:sp>
      <p:sp>
        <p:nvSpPr>
          <p:cNvPr id="65" name="text 14.64"/>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14</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66" name="text 14.65"/>
          <p:cNvSpPr txBox="1"/>
          <p:nvPr/>
        </p:nvSpPr>
        <p:spPr>
          <a:xfrm>
            <a:off x="927077" y="349241"/>
            <a:ext cx="954808"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04 · Innovation</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5.1"/>
          <p:cNvSpPr/>
          <p:nvPr/>
        </p:nvSpPr>
        <p:spPr>
          <a:xfrm>
            <a:off x="609585" y="1663658"/>
            <a:ext cx="2628834" cy="1587460"/>
          </a:xfrm>
          <a:prstGeom prst="roundRect">
            <a:avLst>
              <a:gd name="adj" fmla="val 12000"/>
            </a:avLst>
          </a:prstGeom>
          <a:solidFill>
            <a:srgbClr val="FFFFFF"/>
          </a:solidFill>
          <a:ln w="44450">
            <a:solidFill>
              <a:srgbClr val="FFFFFF"/>
            </a:solidFill>
            <a:prstDash val="solid"/>
          </a:ln>
          <a:effectLst>
            <a:outerShdw sx="100000" sy="100000" kx="0" ky="0" algn="bl" rotWithShape="0" blurRad="203200" dist="76200" dir="5400000">
              <a:srgbClr val="1E468C">
                <a:alpha val="16000"/>
              </a:srgbClr>
            </a:outerShdw>
          </a:effectLst>
        </p:spPr>
      </p:sp>
      <p:pic>
        <p:nvPicPr>
          <p:cNvPr id="3" name="img 15.2 adj9746" descr="blk1.png">    </p:cNvPr>
          <p:cNvPicPr>
            <a:picLocks noChangeAspect="1"/>
          </p:cNvPicPr>
          <p:nvPr/>
        </p:nvPicPr>
        <p:blipFill>
          <a:blip r:embed="rId2"/>
          <a:stretch>
            <a:fillRect/>
          </a:stretch>
        </p:blipFill>
        <p:spPr>
          <a:xfrm>
            <a:off x="654034" y="1708107"/>
            <a:ext cx="2539937" cy="1498563"/>
          </a:xfrm>
          <a:prstGeom prst="roundRect">
            <a:avLst>
              <a:gd name="adj" fmla="val 9746"/>
            </a:avLst>
          </a:prstGeom>
        </p:spPr>
      </p:pic>
      <p:sp>
        <p:nvSpPr>
          <p:cNvPr id="4" name="shape 15.3"/>
          <p:cNvSpPr/>
          <p:nvPr/>
        </p:nvSpPr>
        <p:spPr>
          <a:xfrm>
            <a:off x="3390815" y="1663658"/>
            <a:ext cx="2628834" cy="1587460"/>
          </a:xfrm>
          <a:prstGeom prst="roundRect">
            <a:avLst>
              <a:gd name="adj" fmla="val 12000"/>
            </a:avLst>
          </a:prstGeom>
          <a:solidFill>
            <a:srgbClr val="FFFFFF"/>
          </a:solidFill>
          <a:ln w="44450">
            <a:solidFill>
              <a:srgbClr val="FFFFFF"/>
            </a:solidFill>
            <a:prstDash val="solid"/>
          </a:ln>
          <a:effectLst>
            <a:outerShdw sx="100000" sy="100000" kx="0" ky="0" algn="bl" rotWithShape="0" blurRad="203200" dist="76200" dir="5400000">
              <a:srgbClr val="1E468C">
                <a:alpha val="16000"/>
              </a:srgbClr>
            </a:outerShdw>
          </a:effectLst>
        </p:spPr>
      </p:sp>
      <p:pic>
        <p:nvPicPr>
          <p:cNvPr id="5" name="img 15.4 adj9746" descr="blk2.png">    </p:cNvPr>
          <p:cNvPicPr>
            <a:picLocks noChangeAspect="1"/>
          </p:cNvPicPr>
          <p:nvPr/>
        </p:nvPicPr>
        <p:blipFill>
          <a:blip r:embed="rId3"/>
          <a:stretch>
            <a:fillRect/>
          </a:stretch>
        </p:blipFill>
        <p:spPr>
          <a:xfrm>
            <a:off x="3435264" y="1708107"/>
            <a:ext cx="2539937" cy="1498563"/>
          </a:xfrm>
          <a:prstGeom prst="roundRect">
            <a:avLst>
              <a:gd name="adj" fmla="val 9746"/>
            </a:avLst>
          </a:prstGeom>
        </p:spPr>
      </p:pic>
      <p:sp>
        <p:nvSpPr>
          <p:cNvPr id="6" name="shape 15.5"/>
          <p:cNvSpPr/>
          <p:nvPr/>
        </p:nvSpPr>
        <p:spPr>
          <a:xfrm>
            <a:off x="6172046" y="1663658"/>
            <a:ext cx="2628834" cy="1587460"/>
          </a:xfrm>
          <a:prstGeom prst="roundRect">
            <a:avLst>
              <a:gd name="adj" fmla="val 12000"/>
            </a:avLst>
          </a:prstGeom>
          <a:solidFill>
            <a:srgbClr val="FFFFFF"/>
          </a:solidFill>
          <a:ln w="44450">
            <a:solidFill>
              <a:srgbClr val="FFFFFF"/>
            </a:solidFill>
            <a:prstDash val="solid"/>
          </a:ln>
          <a:effectLst>
            <a:outerShdw sx="100000" sy="100000" kx="0" ky="0" algn="bl" rotWithShape="0" blurRad="203200" dist="76200" dir="5400000">
              <a:srgbClr val="1E468C">
                <a:alpha val="16000"/>
              </a:srgbClr>
            </a:outerShdw>
          </a:effectLst>
        </p:spPr>
      </p:sp>
      <p:pic>
        <p:nvPicPr>
          <p:cNvPr id="7" name="img 15.6 adj9746" descr="blk3.png">    </p:cNvPr>
          <p:cNvPicPr>
            <a:picLocks noChangeAspect="1"/>
          </p:cNvPicPr>
          <p:nvPr/>
        </p:nvPicPr>
        <p:blipFill>
          <a:blip r:embed="rId4"/>
          <a:stretch>
            <a:fillRect/>
          </a:stretch>
        </p:blipFill>
        <p:spPr>
          <a:xfrm>
            <a:off x="6216495" y="1708107"/>
            <a:ext cx="2539937" cy="1498563"/>
          </a:xfrm>
          <a:prstGeom prst="roundRect">
            <a:avLst>
              <a:gd name="adj" fmla="val 9746"/>
            </a:avLst>
          </a:prstGeom>
        </p:spPr>
      </p:pic>
      <p:sp>
        <p:nvSpPr>
          <p:cNvPr id="8" name="shape 15.7"/>
          <p:cNvSpPr/>
          <p:nvPr/>
        </p:nvSpPr>
        <p:spPr>
          <a:xfrm>
            <a:off x="8953276" y="1663658"/>
            <a:ext cx="2628834" cy="1587460"/>
          </a:xfrm>
          <a:prstGeom prst="roundRect">
            <a:avLst>
              <a:gd name="adj" fmla="val 12000"/>
            </a:avLst>
          </a:prstGeom>
          <a:solidFill>
            <a:srgbClr val="FFFFFF"/>
          </a:solidFill>
          <a:ln w="44450">
            <a:solidFill>
              <a:srgbClr val="FFFFFF"/>
            </a:solidFill>
            <a:prstDash val="solid"/>
          </a:ln>
          <a:effectLst>
            <a:outerShdw sx="100000" sy="100000" kx="0" ky="0" algn="bl" rotWithShape="0" blurRad="203200" dist="76200" dir="5400000">
              <a:srgbClr val="1E468C">
                <a:alpha val="16000"/>
              </a:srgbClr>
            </a:outerShdw>
          </a:effectLst>
        </p:spPr>
      </p:sp>
      <p:pic>
        <p:nvPicPr>
          <p:cNvPr id="9" name="img 15.8 adj9746" descr="blk4.png">    </p:cNvPr>
          <p:cNvPicPr>
            <a:picLocks noChangeAspect="1"/>
          </p:cNvPicPr>
          <p:nvPr/>
        </p:nvPicPr>
        <p:blipFill>
          <a:blip r:embed="rId5"/>
          <a:stretch>
            <a:fillRect/>
          </a:stretch>
        </p:blipFill>
        <p:spPr>
          <a:xfrm>
            <a:off x="8997725" y="1708107"/>
            <a:ext cx="2539937" cy="1498563"/>
          </a:xfrm>
          <a:prstGeom prst="roundRect">
            <a:avLst>
              <a:gd name="adj" fmla="val 9746"/>
            </a:avLst>
          </a:prstGeom>
        </p:spPr>
      </p:pic>
      <p:sp>
        <p:nvSpPr>
          <p:cNvPr id="10" name="shape 15.9"/>
          <p:cNvSpPr/>
          <p:nvPr/>
        </p:nvSpPr>
        <p:spPr>
          <a:xfrm>
            <a:off x="609585" y="4190895"/>
            <a:ext cx="3555911" cy="1841454"/>
          </a:xfrm>
          <a:prstGeom prst="roundRect">
            <a:avLst>
              <a:gd name="adj" fmla="val 9655"/>
            </a:avLst>
          </a:prstGeom>
          <a:solidFill>
            <a:srgbClr val="E6F6E1"/>
          </a:solidFill>
          <a:ln/>
          <a:effectLst>
            <a:outerShdw sx="100000" sy="100000" kx="0" ky="0" algn="bl" rotWithShape="0" blurRad="203200" dist="76200" dir="5400000">
              <a:srgbClr val="1E468C">
                <a:alpha val="16000"/>
              </a:srgbClr>
            </a:outerShdw>
          </a:effectLst>
        </p:spPr>
      </p:sp>
      <p:sp>
        <p:nvSpPr>
          <p:cNvPr id="11" name="shape 15.10"/>
          <p:cNvSpPr/>
          <p:nvPr/>
        </p:nvSpPr>
        <p:spPr>
          <a:xfrm>
            <a:off x="4317892" y="4190895"/>
            <a:ext cx="3555911" cy="1841454"/>
          </a:xfrm>
          <a:prstGeom prst="roundRect">
            <a:avLst>
              <a:gd name="adj" fmla="val 9655"/>
            </a:avLst>
          </a:prstGeom>
          <a:solidFill>
            <a:srgbClr val="FFF0E6"/>
          </a:solidFill>
          <a:ln/>
          <a:effectLst>
            <a:outerShdw sx="100000" sy="100000" kx="0" ky="0" algn="bl" rotWithShape="0" blurRad="203200" dist="76200" dir="5400000">
              <a:srgbClr val="1E468C">
                <a:alpha val="16000"/>
              </a:srgbClr>
            </a:outerShdw>
          </a:effectLst>
        </p:spPr>
      </p:sp>
      <p:sp>
        <p:nvSpPr>
          <p:cNvPr id="12" name="shape 15.11"/>
          <p:cNvSpPr/>
          <p:nvPr/>
        </p:nvSpPr>
        <p:spPr>
          <a:xfrm>
            <a:off x="8026199" y="4190895"/>
            <a:ext cx="3555911" cy="1841454"/>
          </a:xfrm>
          <a:prstGeom prst="roundRect">
            <a:avLst>
              <a:gd name="adj" fmla="val 9655"/>
            </a:avLst>
          </a:prstGeom>
          <a:solidFill>
            <a:srgbClr val="E2F4FD"/>
          </a:solidFill>
          <a:ln/>
          <a:effectLst>
            <a:outerShdw sx="100000" sy="100000" kx="0" ky="0" algn="bl" rotWithShape="0" blurRad="203200" dist="76200" dir="5400000">
              <a:srgbClr val="1E468C">
                <a:alpha val="16000"/>
              </a:srgbClr>
            </a:outerShdw>
          </a:effectLst>
        </p:spPr>
      </p:sp>
      <p:pic>
        <p:nvPicPr>
          <p:cNvPr id="13" name="raster 15.12" descr="diagram">    </p:cNvPr>
          <p:cNvPicPr>
            <a:picLocks noChangeAspect="1"/>
          </p:cNvPicPr>
          <p:nvPr/>
        </p:nvPicPr>
        <p:blipFill>
          <a:blip r:embed="rId6"/>
          <a:stretch>
            <a:fillRect/>
          </a:stretch>
        </p:blipFill>
        <p:spPr>
          <a:xfrm>
            <a:off x="647684" y="3428914"/>
            <a:ext cx="10896328" cy="253994"/>
          </a:xfrm>
          <a:prstGeom prst="rect">
            <a:avLst/>
          </a:prstGeom>
        </p:spPr>
      </p:pic>
      <p:sp>
        <p:nvSpPr>
          <p:cNvPr id="14" name="text 15.13"/>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Prototype: we checked that the mass rule </a:t>
            </a:r>
            <a:pPr algn="l" indent="0" marL="0">
              <a:lnSpc>
                <a:spcPts val="3020"/>
              </a:lnSpc>
              <a:buNone/>
            </a:pPr>
            <a:r>
              <a:rPr lang="en-US" sz="2700" spc="-27" kern="0" dirty="0">
                <a:solidFill>
                  <a:srgbClr val="43B832"/>
                </a:solidFill>
                <a:latin typeface="Arial Rounded MT Bold" pitchFamily="34" charset="0"/>
                <a:ea typeface="Arial Rounded MT Bold" pitchFamily="34" charset="-122"/>
                <a:cs typeface="Arial Rounded MT Bold" pitchFamily="34" charset="-120"/>
              </a:rPr>
              <a:t>reads on screen</a:t>
            </a:r>
            <a:endParaRPr lang="en-US" sz="2700" dirty="0"/>
          </a:p>
        </p:txBody>
      </p:sp>
      <p:sp>
        <p:nvSpPr>
          <p:cNvPr id="15" name="text 15.14"/>
          <p:cNvSpPr txBox="1"/>
          <p:nvPr/>
        </p:nvSpPr>
        <p:spPr>
          <a:xfrm>
            <a:off x="609585" y="3721007"/>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16233F"/>
                </a:solidFill>
                <a:latin typeface="Arial Rounded MT Bold" pitchFamily="34" charset="0"/>
                <a:ea typeface="Arial Rounded MT Bold" pitchFamily="34" charset="-122"/>
                <a:cs typeface="Arial Rounded MT Bold" pitchFamily="34" charset="-120"/>
              </a:rPr>
              <a:t>Before</a:t>
            </a:r>
            <a:endParaRPr lang="en-US" sz="1200" dirty="0"/>
          </a:p>
        </p:txBody>
      </p:sp>
      <p:sp>
        <p:nvSpPr>
          <p:cNvPr id="16" name="text 15.15"/>
          <p:cNvSpPr txBox="1"/>
          <p:nvPr/>
        </p:nvSpPr>
        <p:spPr>
          <a:xfrm>
            <a:off x="3390815" y="3721007"/>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43B832"/>
                </a:solidFill>
                <a:latin typeface="Arial Rounded MT Bold" pitchFamily="34" charset="0"/>
                <a:ea typeface="Arial Rounded MT Bold" pitchFamily="34" charset="-122"/>
                <a:cs typeface="Arial Rounded MT Bold" pitchFamily="34" charset="-120"/>
              </a:rPr>
              <a:t>Shot 1</a:t>
            </a:r>
            <a:endParaRPr lang="en-US" sz="1200" dirty="0"/>
          </a:p>
        </p:txBody>
      </p:sp>
      <p:sp>
        <p:nvSpPr>
          <p:cNvPr id="17" name="text 15.16"/>
          <p:cNvSpPr txBox="1"/>
          <p:nvPr/>
        </p:nvSpPr>
        <p:spPr>
          <a:xfrm>
            <a:off x="6172046" y="3721007"/>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43B832"/>
                </a:solidFill>
                <a:latin typeface="Arial Rounded MT Bold" pitchFamily="34" charset="0"/>
                <a:ea typeface="Arial Rounded MT Bold" pitchFamily="34" charset="-122"/>
                <a:cs typeface="Arial Rounded MT Bold" pitchFamily="34" charset="-120"/>
              </a:rPr>
              <a:t>Shot 2</a:t>
            </a:r>
            <a:endParaRPr lang="en-US" sz="1200" dirty="0"/>
          </a:p>
        </p:txBody>
      </p:sp>
      <p:sp>
        <p:nvSpPr>
          <p:cNvPr id="18" name="text 15.17"/>
          <p:cNvSpPr txBox="1"/>
          <p:nvPr/>
        </p:nvSpPr>
        <p:spPr>
          <a:xfrm>
            <a:off x="8953276" y="3721007"/>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43B832"/>
                </a:solidFill>
                <a:latin typeface="Arial Rounded MT Bold" pitchFamily="34" charset="0"/>
                <a:ea typeface="Arial Rounded MT Bold" pitchFamily="34" charset="-122"/>
                <a:cs typeface="Arial Rounded MT Bold" pitchFamily="34" charset="-120"/>
              </a:rPr>
              <a:t>Shot 3</a:t>
            </a:r>
            <a:endParaRPr lang="en-US" sz="1200" dirty="0"/>
          </a:p>
        </p:txBody>
      </p:sp>
      <p:sp>
        <p:nvSpPr>
          <p:cNvPr id="19" name="text 15.18"/>
          <p:cNvSpPr txBox="1"/>
          <p:nvPr/>
        </p:nvSpPr>
        <p:spPr>
          <a:xfrm>
            <a:off x="838179" y="4432189"/>
            <a:ext cx="1152947"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43B832"/>
                </a:solidFill>
                <a:latin typeface="Arial" pitchFamily="34" charset="0"/>
                <a:ea typeface="Arial" pitchFamily="34" charset="-122"/>
                <a:cs typeface="Arial" pitchFamily="34" charset="-120"/>
              </a:rPr>
              <a:t>WHAT WE BUILT</a:t>
            </a:r>
            <a:endParaRPr lang="en-US" sz="850" dirty="0"/>
          </a:p>
        </p:txBody>
      </p:sp>
      <p:sp>
        <p:nvSpPr>
          <p:cNvPr id="20" name="text 15.19"/>
          <p:cNvSpPr txBox="1"/>
          <p:nvPr/>
        </p:nvSpPr>
        <p:spPr>
          <a:xfrm>
            <a:off x="838179" y="4686183"/>
            <a:ext cx="3136822" cy="662864"/>
          </a:xfrm>
          <a:prstGeom prst="rect">
            <a:avLst/>
          </a:prstGeom>
          <a:noFill/>
          <a:ln/>
        </p:spPr>
        <p:txBody>
          <a:bodyPr wrap="square" lIns="0" tIns="0" rIns="0" bIns="0" rtlCol="0" anchor="t"/>
          <a:lstStyle/>
          <a:p>
            <a:pPr algn="l" indent="0" marL="0">
              <a:lnSpc>
                <a:spcPts val="1740"/>
              </a:lnSpc>
              <a:buNone/>
            </a:pPr>
            <a:r>
              <a:rPr lang="en-US" sz="1200" dirty="0">
                <a:solidFill>
                  <a:srgbClr val="16233F"/>
                </a:solidFill>
                <a:latin typeface="Arial" pitchFamily="34" charset="0"/>
                <a:ea typeface="Arial" pitchFamily="34" charset="-122"/>
                <a:cs typeface="Arial" pitchFamily="34" charset="-120"/>
              </a:rPr>
              <a:t>A deterministic physics simulation of the Mass Knockout rule in Three.js, rendered frame by frame.</a:t>
            </a:r>
            <a:endParaRPr lang="en-US" sz="1200" dirty="0"/>
          </a:p>
        </p:txBody>
      </p:sp>
      <p:sp>
        <p:nvSpPr>
          <p:cNvPr id="21" name="text 15.20"/>
          <p:cNvSpPr txBox="1"/>
          <p:nvPr/>
        </p:nvSpPr>
        <p:spPr>
          <a:xfrm>
            <a:off x="4546486" y="4432189"/>
            <a:ext cx="1057768"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FF6B1F"/>
                </a:solidFill>
                <a:latin typeface="Arial" pitchFamily="34" charset="0"/>
                <a:ea typeface="Arial" pitchFamily="34" charset="-122"/>
                <a:cs typeface="Arial" pitchFamily="34" charset="-120"/>
              </a:rPr>
              <a:t>WHAT WE SAW</a:t>
            </a:r>
            <a:endParaRPr lang="en-US" sz="850" dirty="0"/>
          </a:p>
        </p:txBody>
      </p:sp>
      <p:sp>
        <p:nvSpPr>
          <p:cNvPr id="22" name="text 15.21"/>
          <p:cNvSpPr txBox="1"/>
          <p:nvPr/>
        </p:nvSpPr>
        <p:spPr>
          <a:xfrm>
            <a:off x="4546486" y="4686183"/>
            <a:ext cx="3136822" cy="662864"/>
          </a:xfrm>
          <a:prstGeom prst="rect">
            <a:avLst/>
          </a:prstGeom>
          <a:noFill/>
          <a:ln/>
        </p:spPr>
        <p:txBody>
          <a:bodyPr wrap="square" lIns="0" tIns="0" rIns="0" bIns="0" rtlCol="0" anchor="t"/>
          <a:lstStyle/>
          <a:p>
            <a:pPr algn="l" indent="0" marL="0">
              <a:lnSpc>
                <a:spcPts val="1740"/>
              </a:lnSpc>
              <a:buNone/>
            </a:pPr>
            <a:r>
              <a:rPr lang="en-US" sz="1200" dirty="0">
                <a:solidFill>
                  <a:srgbClr val="16233F"/>
                </a:solidFill>
                <a:latin typeface="Arial" pitchFamily="34" charset="0"/>
                <a:ea typeface="Arial" pitchFamily="34" charset="-122"/>
                <a:cs typeface="Arial" pitchFamily="34" charset="-120"/>
              </a:rPr>
              <a:t>Over three shots the target shrinks and flies further each time. You can follow the rule without any UI.</a:t>
            </a:r>
            <a:endParaRPr lang="en-US" sz="1200" dirty="0"/>
          </a:p>
        </p:txBody>
      </p:sp>
      <p:sp>
        <p:nvSpPr>
          <p:cNvPr id="23" name="text 15.22"/>
          <p:cNvSpPr txBox="1"/>
          <p:nvPr/>
        </p:nvSpPr>
        <p:spPr>
          <a:xfrm>
            <a:off x="8254794" y="4432189"/>
            <a:ext cx="1138328"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FA9EA"/>
                </a:solidFill>
                <a:latin typeface="Arial" pitchFamily="34" charset="0"/>
                <a:ea typeface="Arial" pitchFamily="34" charset="-122"/>
                <a:cs typeface="Arial" pitchFamily="34" charset="-120"/>
              </a:rPr>
              <a:t>HOW WE USE IT</a:t>
            </a:r>
            <a:endParaRPr lang="en-US" sz="850" dirty="0"/>
          </a:p>
        </p:txBody>
      </p:sp>
      <p:sp>
        <p:nvSpPr>
          <p:cNvPr id="24" name="text 15.23"/>
          <p:cNvSpPr txBox="1"/>
          <p:nvPr/>
        </p:nvSpPr>
        <p:spPr>
          <a:xfrm>
            <a:off x="8254794" y="4686183"/>
            <a:ext cx="3136822" cy="662864"/>
          </a:xfrm>
          <a:prstGeom prst="rect">
            <a:avLst/>
          </a:prstGeom>
          <a:noFill/>
          <a:ln/>
        </p:spPr>
        <p:txBody>
          <a:bodyPr wrap="square" lIns="0" tIns="0" rIns="0" bIns="0" rtlCol="0" anchor="t"/>
          <a:lstStyle/>
          <a:p>
            <a:pPr algn="l" indent="0" marL="0">
              <a:lnSpc>
                <a:spcPts val="1740"/>
              </a:lnSpc>
              <a:buNone/>
            </a:pPr>
            <a:r>
              <a:rPr lang="en-US" sz="1200" dirty="0">
                <a:solidFill>
                  <a:srgbClr val="16233F"/>
                </a:solidFill>
                <a:latin typeface="Arial" pitchFamily="34" charset="0"/>
                <a:ea typeface="Arial" pitchFamily="34" charset="-122"/>
                <a:cs typeface="Arial" pitchFamily="34" charset="-120"/>
              </a:rPr>
              <a:t>It is the reference for our first Unity test of Mass Knockout in Demo 1: same scene, same rule.</a:t>
            </a:r>
            <a:endParaRPr lang="en-US" sz="1200" dirty="0"/>
          </a:p>
        </p:txBody>
      </p:sp>
      <p:sp>
        <p:nvSpPr>
          <p:cNvPr id="25" name="shape 15.24"/>
          <p:cNvSpPr/>
          <p:nvPr/>
        </p:nvSpPr>
        <p:spPr>
          <a:xfrm>
            <a:off x="609585" y="266693"/>
            <a:ext cx="2024310"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6" name="shape 15.25"/>
          <p:cNvSpPr/>
          <p:nvPr/>
        </p:nvSpPr>
        <p:spPr>
          <a:xfrm>
            <a:off x="711182" y="355591"/>
            <a:ext cx="114297" cy="114297"/>
          </a:xfrm>
          <a:prstGeom prst="roundRect">
            <a:avLst>
              <a:gd name="adj" fmla="val 33333"/>
            </a:avLst>
          </a:prstGeom>
          <a:solidFill>
            <a:srgbClr val="43B832"/>
          </a:solidFill>
          <a:ln/>
        </p:spPr>
      </p:sp>
      <p:sp>
        <p:nvSpPr>
          <p:cNvPr id="27" name="shape 15.26"/>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8" name="shape 15.27"/>
          <p:cNvSpPr/>
          <p:nvPr/>
        </p:nvSpPr>
        <p:spPr>
          <a:xfrm>
            <a:off x="10058149" y="368291"/>
            <a:ext cx="101597" cy="101597"/>
          </a:xfrm>
          <a:prstGeom prst="roundRect">
            <a:avLst>
              <a:gd name="adj" fmla="val 31250"/>
            </a:avLst>
          </a:prstGeom>
          <a:solidFill>
            <a:srgbClr val="16233F"/>
          </a:solidFill>
          <a:ln/>
        </p:spPr>
      </p:sp>
      <p:sp>
        <p:nvSpPr>
          <p:cNvPr id="29" name="shape 15.28"/>
          <p:cNvSpPr/>
          <p:nvPr/>
        </p:nvSpPr>
        <p:spPr>
          <a:xfrm>
            <a:off x="10223244" y="368291"/>
            <a:ext cx="101597" cy="101597"/>
          </a:xfrm>
          <a:prstGeom prst="roundRect">
            <a:avLst>
              <a:gd name="adj" fmla="val 31250"/>
            </a:avLst>
          </a:prstGeom>
          <a:solidFill>
            <a:srgbClr val="16233F"/>
          </a:solidFill>
          <a:ln/>
        </p:spPr>
      </p:sp>
      <p:sp>
        <p:nvSpPr>
          <p:cNvPr id="30" name="shape 15.29"/>
          <p:cNvSpPr/>
          <p:nvPr/>
        </p:nvSpPr>
        <p:spPr>
          <a:xfrm>
            <a:off x="10388340" y="368291"/>
            <a:ext cx="101597" cy="101597"/>
          </a:xfrm>
          <a:prstGeom prst="roundRect">
            <a:avLst>
              <a:gd name="adj" fmla="val 31250"/>
            </a:avLst>
          </a:prstGeom>
          <a:solidFill>
            <a:srgbClr val="16233F"/>
          </a:solidFill>
          <a:ln/>
        </p:spPr>
      </p:sp>
      <p:sp>
        <p:nvSpPr>
          <p:cNvPr id="31" name="shape 15.30"/>
          <p:cNvSpPr/>
          <p:nvPr/>
        </p:nvSpPr>
        <p:spPr>
          <a:xfrm>
            <a:off x="10553436" y="368291"/>
            <a:ext cx="101597" cy="101597"/>
          </a:xfrm>
          <a:prstGeom prst="roundRect">
            <a:avLst>
              <a:gd name="adj" fmla="val 31250"/>
            </a:avLst>
          </a:prstGeom>
          <a:solidFill>
            <a:srgbClr val="16233F"/>
          </a:solidFill>
          <a:ln/>
        </p:spPr>
      </p:sp>
      <p:sp>
        <p:nvSpPr>
          <p:cNvPr id="32" name="shape 15.31"/>
          <p:cNvSpPr/>
          <p:nvPr/>
        </p:nvSpPr>
        <p:spPr>
          <a:xfrm>
            <a:off x="10718532" y="368291"/>
            <a:ext cx="101597" cy="101597"/>
          </a:xfrm>
          <a:prstGeom prst="roundRect">
            <a:avLst>
              <a:gd name="adj" fmla="val 31250"/>
            </a:avLst>
          </a:prstGeom>
          <a:solidFill>
            <a:srgbClr val="43B832"/>
          </a:solidFill>
          <a:ln/>
        </p:spPr>
      </p:sp>
      <p:sp>
        <p:nvSpPr>
          <p:cNvPr id="33" name="shape 15.32"/>
          <p:cNvSpPr/>
          <p:nvPr/>
        </p:nvSpPr>
        <p:spPr>
          <a:xfrm>
            <a:off x="10883628" y="368291"/>
            <a:ext cx="101597" cy="101597"/>
          </a:xfrm>
          <a:prstGeom prst="roundRect">
            <a:avLst>
              <a:gd name="adj" fmla="val 31250"/>
            </a:avLst>
          </a:prstGeom>
          <a:solidFill>
            <a:srgbClr val="C7D4E8"/>
          </a:solidFill>
          <a:ln/>
        </p:spPr>
      </p:sp>
      <p:sp>
        <p:nvSpPr>
          <p:cNvPr id="34" name="text 15.33"/>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15</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35" name="text 15.34"/>
          <p:cNvSpPr txBox="1"/>
          <p:nvPr/>
        </p:nvSpPr>
        <p:spPr>
          <a:xfrm>
            <a:off x="927077" y="349241"/>
            <a:ext cx="1495062"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05 · Drafts &amp; prototypes</a:t>
            </a:r>
            <a:endParaRPr lang="en-US" sz="9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6.1"/>
          <p:cNvSpPr/>
          <p:nvPr/>
        </p:nvSpPr>
        <p:spPr>
          <a:xfrm>
            <a:off x="609585" y="1663658"/>
            <a:ext cx="3987700" cy="1943051"/>
          </a:xfrm>
          <a:prstGeom prst="roundRect">
            <a:avLst>
              <a:gd name="adj" fmla="val 9804"/>
            </a:avLst>
          </a:prstGeom>
          <a:solidFill>
            <a:srgbClr val="FFFFFF"/>
          </a:solidFill>
          <a:ln w="44450">
            <a:solidFill>
              <a:srgbClr val="FFFFFF"/>
            </a:solidFill>
            <a:prstDash val="solid"/>
          </a:ln>
          <a:effectLst>
            <a:outerShdw sx="100000" sy="100000" kx="0" ky="0" algn="bl" rotWithShape="0" blurRad="203200" dist="76200" dir="5400000">
              <a:srgbClr val="1E468C">
                <a:alpha val="16000"/>
              </a:srgbClr>
            </a:outerShdw>
          </a:effectLst>
        </p:spPr>
      </p:sp>
      <p:pic>
        <p:nvPicPr>
          <p:cNvPr id="3" name="img 16.2 adj7877" descr="draft_direction_A_vinyl.png">    </p:cNvPr>
          <p:cNvPicPr>
            <a:picLocks noChangeAspect="1"/>
          </p:cNvPicPr>
          <p:nvPr/>
        </p:nvPicPr>
        <p:blipFill>
          <a:blip r:embed="rId2"/>
          <a:stretch>
            <a:fillRect/>
          </a:stretch>
        </p:blipFill>
        <p:spPr>
          <a:xfrm>
            <a:off x="654034" y="1708107"/>
            <a:ext cx="3898803" cy="1854154"/>
          </a:xfrm>
          <a:prstGeom prst="roundRect">
            <a:avLst>
              <a:gd name="adj" fmla="val 7877"/>
            </a:avLst>
          </a:prstGeom>
        </p:spPr>
      </p:pic>
      <p:sp>
        <p:nvSpPr>
          <p:cNvPr id="4" name="shape 16.3"/>
          <p:cNvSpPr/>
          <p:nvPr/>
        </p:nvSpPr>
        <p:spPr>
          <a:xfrm>
            <a:off x="4749681" y="1663658"/>
            <a:ext cx="3987700" cy="1943051"/>
          </a:xfrm>
          <a:prstGeom prst="roundRect">
            <a:avLst>
              <a:gd name="adj" fmla="val 9804"/>
            </a:avLst>
          </a:prstGeom>
          <a:solidFill>
            <a:srgbClr val="FFFFFF"/>
          </a:solidFill>
          <a:ln w="44450">
            <a:solidFill>
              <a:srgbClr val="FFFFFF"/>
            </a:solidFill>
            <a:prstDash val="solid"/>
          </a:ln>
          <a:effectLst>
            <a:outerShdw sx="100000" sy="100000" kx="0" ky="0" algn="bl" rotWithShape="0" blurRad="203200" dist="76200" dir="5400000">
              <a:srgbClr val="1E468C">
                <a:alpha val="16000"/>
              </a:srgbClr>
            </a:outerShdw>
          </a:effectLst>
        </p:spPr>
      </p:sp>
      <p:pic>
        <p:nvPicPr>
          <p:cNvPr id="5" name="img 16.4 adj7877" descr="draft_direction_B_blocks.png">    </p:cNvPr>
          <p:cNvPicPr>
            <a:picLocks noChangeAspect="1"/>
          </p:cNvPicPr>
          <p:nvPr/>
        </p:nvPicPr>
        <p:blipFill>
          <a:blip r:embed="rId3"/>
          <a:stretch>
            <a:fillRect/>
          </a:stretch>
        </p:blipFill>
        <p:spPr>
          <a:xfrm>
            <a:off x="4794130" y="1708107"/>
            <a:ext cx="3898803" cy="1854154"/>
          </a:xfrm>
          <a:prstGeom prst="roundRect">
            <a:avLst>
              <a:gd name="adj" fmla="val 7877"/>
            </a:avLst>
          </a:prstGeom>
        </p:spPr>
      </p:pic>
      <p:sp>
        <p:nvSpPr>
          <p:cNvPr id="6" name="shape 16.5"/>
          <p:cNvSpPr/>
          <p:nvPr/>
        </p:nvSpPr>
        <p:spPr>
          <a:xfrm>
            <a:off x="609585" y="3987700"/>
            <a:ext cx="3987700" cy="1943051"/>
          </a:xfrm>
          <a:prstGeom prst="roundRect">
            <a:avLst>
              <a:gd name="adj" fmla="val 9804"/>
            </a:avLst>
          </a:prstGeom>
          <a:solidFill>
            <a:srgbClr val="4C8EEA"/>
          </a:solidFill>
          <a:ln w="44450">
            <a:solidFill>
              <a:srgbClr val="FFFFFF"/>
            </a:solidFill>
            <a:prstDash val="solid"/>
          </a:ln>
          <a:effectLst>
            <a:outerShdw sx="100000" sy="100000" kx="0" ky="0" algn="bl" rotWithShape="0" blurRad="203200" dist="76200" dir="5400000">
              <a:srgbClr val="1E468C">
                <a:alpha val="16000"/>
              </a:srgbClr>
            </a:outerShdw>
          </a:effectLst>
        </p:spPr>
      </p:sp>
      <p:pic>
        <p:nvPicPr>
          <p:cNvPr id="7" name="img 16.6" descr="glossy_lineup.png">    </p:cNvPr>
          <p:cNvPicPr>
            <a:picLocks noChangeAspect="1"/>
          </p:cNvPicPr>
          <p:nvPr/>
        </p:nvPicPr>
        <p:blipFill>
          <a:blip r:embed="rId4"/>
          <a:stretch>
            <a:fillRect/>
          </a:stretch>
        </p:blipFill>
        <p:spPr>
          <a:xfrm>
            <a:off x="654034" y="4502335"/>
            <a:ext cx="3898803" cy="913782"/>
          </a:xfrm>
          <a:prstGeom prst="rect">
            <a:avLst/>
          </a:prstGeom>
        </p:spPr>
      </p:pic>
      <p:sp>
        <p:nvSpPr>
          <p:cNvPr id="8" name="shape 16.7"/>
          <p:cNvSpPr/>
          <p:nvPr/>
        </p:nvSpPr>
        <p:spPr>
          <a:xfrm>
            <a:off x="4749681" y="3987700"/>
            <a:ext cx="3987700" cy="1943051"/>
          </a:xfrm>
          <a:prstGeom prst="roundRect">
            <a:avLst>
              <a:gd name="adj" fmla="val 9804"/>
            </a:avLst>
          </a:prstGeom>
          <a:solidFill>
            <a:srgbClr val="FFFFFF"/>
          </a:solidFill>
          <a:ln w="44450">
            <a:solidFill>
              <a:srgbClr val="FFFFFF"/>
            </a:solidFill>
            <a:prstDash val="solid"/>
          </a:ln>
          <a:effectLst>
            <a:outerShdw sx="100000" sy="100000" kx="0" ky="0" algn="bl" rotWithShape="0" blurRad="203200" dist="76200" dir="5400000">
              <a:srgbClr val="1E468C">
                <a:alpha val="16000"/>
              </a:srgbClr>
            </a:outerShdw>
          </a:effectLst>
        </p:spPr>
      </p:sp>
      <p:pic>
        <p:nvPicPr>
          <p:cNvPr id="9" name="img 16.8 adj7877" descr="character_sheet_jelly.png">    </p:cNvPr>
          <p:cNvPicPr>
            <a:picLocks noChangeAspect="1"/>
          </p:cNvPicPr>
          <p:nvPr/>
        </p:nvPicPr>
        <p:blipFill>
          <a:blip r:embed="rId5"/>
          <a:stretch>
            <a:fillRect/>
          </a:stretch>
        </p:blipFill>
        <p:spPr>
          <a:xfrm>
            <a:off x="4794130" y="4032149"/>
            <a:ext cx="3898803" cy="1854154"/>
          </a:xfrm>
          <a:prstGeom prst="roundRect">
            <a:avLst>
              <a:gd name="adj" fmla="val 7877"/>
            </a:avLst>
          </a:prstGeom>
        </p:spPr>
      </p:pic>
      <p:sp>
        <p:nvSpPr>
          <p:cNvPr id="10" name="shape 16.9"/>
          <p:cNvSpPr/>
          <p:nvPr/>
        </p:nvSpPr>
        <p:spPr>
          <a:xfrm>
            <a:off x="8762781" y="1714457"/>
            <a:ext cx="2819330" cy="4508387"/>
          </a:xfrm>
          <a:prstGeom prst="roundRect">
            <a:avLst>
              <a:gd name="adj" fmla="val 6306"/>
            </a:avLst>
          </a:prstGeom>
          <a:solidFill>
            <a:srgbClr val="FFFFFF"/>
          </a:solidFill>
          <a:ln/>
          <a:effectLst>
            <a:outerShdw sx="100000" sy="100000" kx="0" ky="0" algn="bl" rotWithShape="0" blurRad="203200" dist="76200" dir="5400000">
              <a:srgbClr val="1E468C">
                <a:alpha val="16000"/>
              </a:srgbClr>
            </a:outerShdw>
          </a:effectLst>
        </p:spPr>
      </p:sp>
      <p:sp>
        <p:nvSpPr>
          <p:cNvPr id="11" name="text 16.10"/>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Four art directions for the same cube</a:t>
            </a:r>
            <a:endParaRPr lang="en-US" sz="2700" dirty="0"/>
          </a:p>
        </p:txBody>
      </p:sp>
      <p:sp>
        <p:nvSpPr>
          <p:cNvPr id="12" name="shape 16.11"/>
          <p:cNvSpPr/>
          <p:nvPr/>
        </p:nvSpPr>
        <p:spPr>
          <a:xfrm>
            <a:off x="609585" y="3682908"/>
            <a:ext cx="215895" cy="215895"/>
          </a:xfrm>
          <a:prstGeom prst="roundRect">
            <a:avLst>
              <a:gd name="adj" fmla="val 50000"/>
            </a:avLst>
          </a:prstGeom>
          <a:solidFill>
            <a:srgbClr val="FF6B1F"/>
          </a:solidFill>
          <a:ln/>
        </p:spPr>
      </p:sp>
      <p:sp>
        <p:nvSpPr>
          <p:cNvPr id="13" name="text 16.12"/>
          <p:cNvSpPr txBox="1"/>
          <p:nvPr/>
        </p:nvSpPr>
        <p:spPr>
          <a:xfrm>
            <a:off x="609585" y="3682908"/>
            <a:ext cx="215895" cy="215895"/>
          </a:xfrm>
          <a:prstGeom prst="rect">
            <a:avLst/>
          </a:prstGeom>
          <a:noFill/>
          <a:ln/>
        </p:spPr>
        <p:txBody>
          <a:bodyPr wrap="square" lIns="0" tIns="0" rIns="0" bIns="0" rtlCol="0" anchor="ctr"/>
          <a:lstStyle/>
          <a:p>
            <a:pPr algn="ctr" indent="0" marL="0">
              <a:lnSpc>
                <a:spcPts val="900"/>
              </a:lnSpc>
              <a:buNone/>
            </a:pPr>
            <a:r>
              <a:rPr lang="en-US" sz="900" dirty="0">
                <a:solidFill>
                  <a:srgbClr val="FFFFFF"/>
                </a:solidFill>
                <a:latin typeface="Arial Rounded MT Bold" pitchFamily="34" charset="0"/>
                <a:ea typeface="Arial Rounded MT Bold" pitchFamily="34" charset="-122"/>
                <a:cs typeface="Arial Rounded MT Bold" pitchFamily="34" charset="-120"/>
              </a:rPr>
              <a:t>A</a:t>
            </a:r>
            <a:endParaRPr lang="en-US" sz="900" dirty="0"/>
          </a:p>
        </p:txBody>
      </p:sp>
      <p:sp>
        <p:nvSpPr>
          <p:cNvPr id="14" name="text 16.13"/>
          <p:cNvSpPr txBox="1"/>
          <p:nvPr/>
        </p:nvSpPr>
        <p:spPr>
          <a:xfrm>
            <a:off x="901677" y="3721007"/>
            <a:ext cx="650027" cy="133347"/>
          </a:xfrm>
          <a:prstGeom prst="rect">
            <a:avLst/>
          </a:prstGeom>
          <a:noFill/>
          <a:ln/>
        </p:spPr>
        <p:txBody>
          <a:bodyPr wrap="square" lIns="0" tIns="0" rIns="0" bIns="0" rtlCol="0" anchor="t"/>
          <a:lstStyle/>
          <a:p>
            <a:pPr algn="l" indent="0" marL="0">
              <a:lnSpc>
                <a:spcPts val="1050"/>
              </a:lnSpc>
              <a:buNone/>
            </a:pPr>
            <a:r>
              <a:rPr lang="en-US" sz="1050" b="1" dirty="0">
                <a:solidFill>
                  <a:srgbClr val="16233F"/>
                </a:solidFill>
                <a:latin typeface="Arial" pitchFamily="34" charset="0"/>
                <a:ea typeface="Arial" pitchFamily="34" charset="-122"/>
                <a:cs typeface="Arial" pitchFamily="34" charset="-120"/>
              </a:rPr>
              <a:t>Vinyl toy</a:t>
            </a:r>
            <a:endParaRPr lang="en-US" sz="1050" dirty="0"/>
          </a:p>
        </p:txBody>
      </p:sp>
      <p:sp>
        <p:nvSpPr>
          <p:cNvPr id="15" name="shape 16.14"/>
          <p:cNvSpPr/>
          <p:nvPr/>
        </p:nvSpPr>
        <p:spPr>
          <a:xfrm>
            <a:off x="4749681" y="3682908"/>
            <a:ext cx="215895" cy="215895"/>
          </a:xfrm>
          <a:prstGeom prst="roundRect">
            <a:avLst>
              <a:gd name="adj" fmla="val 50000"/>
            </a:avLst>
          </a:prstGeom>
          <a:solidFill>
            <a:srgbClr val="FF6B1F"/>
          </a:solidFill>
          <a:ln/>
        </p:spPr>
      </p:sp>
      <p:sp>
        <p:nvSpPr>
          <p:cNvPr id="16" name="text 16.15"/>
          <p:cNvSpPr txBox="1"/>
          <p:nvPr/>
        </p:nvSpPr>
        <p:spPr>
          <a:xfrm>
            <a:off x="4749681" y="3682908"/>
            <a:ext cx="215895" cy="215895"/>
          </a:xfrm>
          <a:prstGeom prst="rect">
            <a:avLst/>
          </a:prstGeom>
          <a:noFill/>
          <a:ln/>
        </p:spPr>
        <p:txBody>
          <a:bodyPr wrap="square" lIns="0" tIns="0" rIns="0" bIns="0" rtlCol="0" anchor="ctr"/>
          <a:lstStyle/>
          <a:p>
            <a:pPr algn="ctr" indent="0" marL="0">
              <a:lnSpc>
                <a:spcPts val="900"/>
              </a:lnSpc>
              <a:buNone/>
            </a:pPr>
            <a:r>
              <a:rPr lang="en-US" sz="900" dirty="0">
                <a:solidFill>
                  <a:srgbClr val="FFFFFF"/>
                </a:solidFill>
                <a:latin typeface="Arial Rounded MT Bold" pitchFamily="34" charset="0"/>
                <a:ea typeface="Arial Rounded MT Bold" pitchFamily="34" charset="-122"/>
                <a:cs typeface="Arial Rounded MT Bold" pitchFamily="34" charset="-120"/>
              </a:rPr>
              <a:t>B</a:t>
            </a:r>
            <a:endParaRPr lang="en-US" sz="900" dirty="0"/>
          </a:p>
        </p:txBody>
      </p:sp>
      <p:sp>
        <p:nvSpPr>
          <p:cNvPr id="17" name="text 16.16"/>
          <p:cNvSpPr txBox="1"/>
          <p:nvPr/>
        </p:nvSpPr>
        <p:spPr>
          <a:xfrm>
            <a:off x="5041774" y="3721007"/>
            <a:ext cx="1115822" cy="133347"/>
          </a:xfrm>
          <a:prstGeom prst="rect">
            <a:avLst/>
          </a:prstGeom>
          <a:noFill/>
          <a:ln/>
        </p:spPr>
        <p:txBody>
          <a:bodyPr wrap="square" lIns="0" tIns="0" rIns="0" bIns="0" rtlCol="0" anchor="t"/>
          <a:lstStyle/>
          <a:p>
            <a:pPr algn="l" indent="0" marL="0">
              <a:lnSpc>
                <a:spcPts val="1050"/>
              </a:lnSpc>
              <a:buNone/>
            </a:pPr>
            <a:r>
              <a:rPr lang="en-US" sz="1050" b="1" dirty="0">
                <a:solidFill>
                  <a:srgbClr val="16233F"/>
                </a:solidFill>
                <a:latin typeface="Arial" pitchFamily="34" charset="0"/>
                <a:ea typeface="Arial" pitchFamily="34" charset="-122"/>
                <a:cs typeface="Arial" pitchFamily="34" charset="-120"/>
              </a:rPr>
              <a:t>Building blocks</a:t>
            </a:r>
            <a:endParaRPr lang="en-US" sz="1050" dirty="0"/>
          </a:p>
        </p:txBody>
      </p:sp>
      <p:sp>
        <p:nvSpPr>
          <p:cNvPr id="18" name="shape 16.17"/>
          <p:cNvSpPr/>
          <p:nvPr/>
        </p:nvSpPr>
        <p:spPr>
          <a:xfrm>
            <a:off x="609585" y="6006950"/>
            <a:ext cx="215895" cy="215895"/>
          </a:xfrm>
          <a:prstGeom prst="roundRect">
            <a:avLst>
              <a:gd name="adj" fmla="val 50000"/>
            </a:avLst>
          </a:prstGeom>
          <a:solidFill>
            <a:srgbClr val="FF6B1F"/>
          </a:solidFill>
          <a:ln/>
        </p:spPr>
      </p:sp>
      <p:sp>
        <p:nvSpPr>
          <p:cNvPr id="19" name="text 16.18"/>
          <p:cNvSpPr txBox="1"/>
          <p:nvPr/>
        </p:nvSpPr>
        <p:spPr>
          <a:xfrm>
            <a:off x="609585" y="6006950"/>
            <a:ext cx="215895" cy="215895"/>
          </a:xfrm>
          <a:prstGeom prst="rect">
            <a:avLst/>
          </a:prstGeom>
          <a:noFill/>
          <a:ln/>
        </p:spPr>
        <p:txBody>
          <a:bodyPr wrap="square" lIns="0" tIns="0" rIns="0" bIns="0" rtlCol="0" anchor="ctr"/>
          <a:lstStyle/>
          <a:p>
            <a:pPr algn="ctr" indent="0" marL="0">
              <a:lnSpc>
                <a:spcPts val="900"/>
              </a:lnSpc>
              <a:buNone/>
            </a:pPr>
            <a:r>
              <a:rPr lang="en-US" sz="900" dirty="0">
                <a:solidFill>
                  <a:srgbClr val="FFFFFF"/>
                </a:solidFill>
                <a:latin typeface="Arial Rounded MT Bold" pitchFamily="34" charset="0"/>
                <a:ea typeface="Arial Rounded MT Bold" pitchFamily="34" charset="-122"/>
                <a:cs typeface="Arial Rounded MT Bold" pitchFamily="34" charset="-120"/>
              </a:rPr>
              <a:t>C</a:t>
            </a:r>
            <a:endParaRPr lang="en-US" sz="900" dirty="0"/>
          </a:p>
        </p:txBody>
      </p:sp>
      <p:sp>
        <p:nvSpPr>
          <p:cNvPr id="20" name="text 16.19"/>
          <p:cNvSpPr txBox="1"/>
          <p:nvPr/>
        </p:nvSpPr>
        <p:spPr>
          <a:xfrm>
            <a:off x="901677" y="6045049"/>
            <a:ext cx="1406720" cy="133347"/>
          </a:xfrm>
          <a:prstGeom prst="rect">
            <a:avLst/>
          </a:prstGeom>
          <a:noFill/>
          <a:ln/>
        </p:spPr>
        <p:txBody>
          <a:bodyPr wrap="square" lIns="0" tIns="0" rIns="0" bIns="0" rtlCol="0" anchor="t"/>
          <a:lstStyle/>
          <a:p>
            <a:pPr algn="l" indent="0" marL="0">
              <a:lnSpc>
                <a:spcPts val="1050"/>
              </a:lnSpc>
              <a:buNone/>
            </a:pPr>
            <a:r>
              <a:rPr lang="en-US" sz="1050" b="1" dirty="0">
                <a:solidFill>
                  <a:srgbClr val="FF6B1F"/>
                </a:solidFill>
                <a:latin typeface="Arial" pitchFamily="34" charset="0"/>
                <a:ea typeface="Arial" pitchFamily="34" charset="-122"/>
                <a:cs typeface="Arial" pitchFamily="34" charset="-120"/>
              </a:rPr>
              <a:t>Glossy toy · chosen</a:t>
            </a:r>
            <a:endParaRPr lang="en-US" sz="1050" dirty="0"/>
          </a:p>
        </p:txBody>
      </p:sp>
      <p:sp>
        <p:nvSpPr>
          <p:cNvPr id="21" name="shape 16.20"/>
          <p:cNvSpPr/>
          <p:nvPr/>
        </p:nvSpPr>
        <p:spPr>
          <a:xfrm>
            <a:off x="4749681" y="6006950"/>
            <a:ext cx="215895" cy="215895"/>
          </a:xfrm>
          <a:prstGeom prst="roundRect">
            <a:avLst>
              <a:gd name="adj" fmla="val 50000"/>
            </a:avLst>
          </a:prstGeom>
          <a:solidFill>
            <a:srgbClr val="FF6B1F"/>
          </a:solidFill>
          <a:ln/>
        </p:spPr>
      </p:sp>
      <p:sp>
        <p:nvSpPr>
          <p:cNvPr id="22" name="text 16.21"/>
          <p:cNvSpPr txBox="1"/>
          <p:nvPr/>
        </p:nvSpPr>
        <p:spPr>
          <a:xfrm>
            <a:off x="4749681" y="6006950"/>
            <a:ext cx="215895" cy="215895"/>
          </a:xfrm>
          <a:prstGeom prst="rect">
            <a:avLst/>
          </a:prstGeom>
          <a:noFill/>
          <a:ln/>
        </p:spPr>
        <p:txBody>
          <a:bodyPr wrap="square" lIns="0" tIns="0" rIns="0" bIns="0" rtlCol="0" anchor="ctr"/>
          <a:lstStyle/>
          <a:p>
            <a:pPr algn="ctr" indent="0" marL="0">
              <a:lnSpc>
                <a:spcPts val="900"/>
              </a:lnSpc>
              <a:buNone/>
            </a:pPr>
            <a:r>
              <a:rPr lang="en-US" sz="900" dirty="0">
                <a:solidFill>
                  <a:srgbClr val="FFFFFF"/>
                </a:solidFill>
                <a:latin typeface="Arial Rounded MT Bold" pitchFamily="34" charset="0"/>
                <a:ea typeface="Arial Rounded MT Bold" pitchFamily="34" charset="-122"/>
                <a:cs typeface="Arial Rounded MT Bold" pitchFamily="34" charset="-120"/>
              </a:rPr>
              <a:t>D</a:t>
            </a:r>
            <a:endParaRPr lang="en-US" sz="900" dirty="0"/>
          </a:p>
        </p:txBody>
      </p:sp>
      <p:sp>
        <p:nvSpPr>
          <p:cNvPr id="23" name="text 16.22"/>
          <p:cNvSpPr txBox="1"/>
          <p:nvPr/>
        </p:nvSpPr>
        <p:spPr>
          <a:xfrm>
            <a:off x="5041774" y="6045049"/>
            <a:ext cx="377954" cy="133347"/>
          </a:xfrm>
          <a:prstGeom prst="rect">
            <a:avLst/>
          </a:prstGeom>
          <a:noFill/>
          <a:ln/>
        </p:spPr>
        <p:txBody>
          <a:bodyPr wrap="square" lIns="0" tIns="0" rIns="0" bIns="0" rtlCol="0" anchor="t"/>
          <a:lstStyle/>
          <a:p>
            <a:pPr algn="l" indent="0" marL="0">
              <a:lnSpc>
                <a:spcPts val="1050"/>
              </a:lnSpc>
              <a:buNone/>
            </a:pPr>
            <a:r>
              <a:rPr lang="en-US" sz="1050" b="1" dirty="0">
                <a:solidFill>
                  <a:srgbClr val="16233F"/>
                </a:solidFill>
                <a:latin typeface="Arial" pitchFamily="34" charset="0"/>
                <a:ea typeface="Arial" pitchFamily="34" charset="-122"/>
                <a:cs typeface="Arial" pitchFamily="34" charset="-120"/>
              </a:rPr>
              <a:t>Jelly</a:t>
            </a:r>
            <a:endParaRPr lang="en-US" sz="1050" dirty="0"/>
          </a:p>
        </p:txBody>
      </p:sp>
      <p:sp>
        <p:nvSpPr>
          <p:cNvPr id="24" name="text 16.23"/>
          <p:cNvSpPr txBox="1"/>
          <p:nvPr/>
        </p:nvSpPr>
        <p:spPr>
          <a:xfrm>
            <a:off x="8991375" y="1943051"/>
            <a:ext cx="719229"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6233F"/>
                </a:solidFill>
                <a:latin typeface="Arial" pitchFamily="34" charset="0"/>
                <a:ea typeface="Arial" pitchFamily="34" charset="-122"/>
                <a:cs typeface="Arial" pitchFamily="34" charset="-120"/>
              </a:rPr>
              <a:t>PURPOSE</a:t>
            </a:r>
            <a:endParaRPr lang="en-US" sz="850" dirty="0"/>
          </a:p>
        </p:txBody>
      </p:sp>
      <p:sp>
        <p:nvSpPr>
          <p:cNvPr id="25" name="text 16.24"/>
          <p:cNvSpPr txBox="1"/>
          <p:nvPr/>
        </p:nvSpPr>
        <p:spPr>
          <a:xfrm>
            <a:off x="8991375" y="2158946"/>
            <a:ext cx="2451039" cy="579820"/>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Four looks for the same character, generated to choose a direction before modelling.</a:t>
            </a:r>
            <a:endParaRPr lang="en-US" sz="1050" dirty="0"/>
          </a:p>
        </p:txBody>
      </p:sp>
      <p:sp>
        <p:nvSpPr>
          <p:cNvPr id="26" name="text 16.25"/>
          <p:cNvSpPr txBox="1"/>
          <p:nvPr/>
        </p:nvSpPr>
        <p:spPr>
          <a:xfrm>
            <a:off x="8991375" y="3136822"/>
            <a:ext cx="1409560"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FF6B1F"/>
                </a:solidFill>
                <a:latin typeface="Arial" pitchFamily="34" charset="0"/>
                <a:ea typeface="Arial" pitchFamily="34" charset="-122"/>
                <a:cs typeface="Arial" pitchFamily="34" charset="-120"/>
              </a:rPr>
              <a:t>USED IN THIS DECK</a:t>
            </a:r>
            <a:endParaRPr lang="en-US" sz="850" dirty="0"/>
          </a:p>
        </p:txBody>
      </p:sp>
      <p:sp>
        <p:nvSpPr>
          <p:cNvPr id="27" name="text 16.26"/>
          <p:cNvSpPr txBox="1"/>
          <p:nvPr/>
        </p:nvSpPr>
        <p:spPr>
          <a:xfrm>
            <a:off x="8991375" y="3352716"/>
            <a:ext cx="2451039" cy="386547"/>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C, glossy toy. Every concept render in this deck uses it.</a:t>
            </a:r>
            <a:endParaRPr lang="en-US" sz="1050" dirty="0"/>
          </a:p>
        </p:txBody>
      </p:sp>
      <p:sp>
        <p:nvSpPr>
          <p:cNvPr id="28" name="text 16.27"/>
          <p:cNvSpPr txBox="1"/>
          <p:nvPr/>
        </p:nvSpPr>
        <p:spPr>
          <a:xfrm>
            <a:off x="8991375" y="4152796"/>
            <a:ext cx="1313330"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6233F"/>
                </a:solidFill>
                <a:latin typeface="Arial" pitchFamily="34" charset="0"/>
                <a:ea typeface="Arial" pitchFamily="34" charset="-122"/>
                <a:cs typeface="Arial" pitchFamily="34" charset="-120"/>
              </a:rPr>
              <a:t>PLAYER COLOURS</a:t>
            </a:r>
            <a:endParaRPr lang="en-US" sz="850" dirty="0"/>
          </a:p>
        </p:txBody>
      </p:sp>
      <p:sp>
        <p:nvSpPr>
          <p:cNvPr id="29" name="shape 16.28"/>
          <p:cNvSpPr/>
          <p:nvPr/>
        </p:nvSpPr>
        <p:spPr>
          <a:xfrm>
            <a:off x="8991375" y="4406790"/>
            <a:ext cx="507987" cy="507987"/>
          </a:xfrm>
          <a:prstGeom prst="roundRect">
            <a:avLst>
              <a:gd name="adj" fmla="val 27500"/>
            </a:avLst>
          </a:prstGeom>
          <a:solidFill>
            <a:srgbClr val="FF6B1F"/>
          </a:solidFill>
          <a:ln/>
        </p:spPr>
      </p:sp>
      <p:sp>
        <p:nvSpPr>
          <p:cNvPr id="30" name="text 16.29"/>
          <p:cNvSpPr txBox="1"/>
          <p:nvPr/>
        </p:nvSpPr>
        <p:spPr>
          <a:xfrm>
            <a:off x="8991375" y="4990975"/>
            <a:ext cx="609585" cy="142236"/>
          </a:xfrm>
          <a:prstGeom prst="rect">
            <a:avLst/>
          </a:prstGeom>
          <a:noFill/>
          <a:ln/>
        </p:spPr>
        <p:txBody>
          <a:bodyPr wrap="square" lIns="0" tIns="0" rIns="0" bIns="0" rtlCol="0" anchor="t"/>
          <a:lstStyle/>
          <a:p>
            <a:pPr algn="l" indent="0" marL="0">
              <a:lnSpc>
                <a:spcPts val="1120"/>
              </a:lnSpc>
              <a:buNone/>
            </a:pPr>
            <a:r>
              <a:rPr lang="en-US" sz="800" dirty="0">
                <a:solidFill>
                  <a:srgbClr val="16233F"/>
                </a:solidFill>
                <a:latin typeface="Arial" pitchFamily="34" charset="0"/>
                <a:ea typeface="Arial" pitchFamily="34" charset="-122"/>
                <a:cs typeface="Arial" pitchFamily="34" charset="-120"/>
              </a:rPr>
              <a:t>Orange</a:t>
            </a:r>
            <a:endParaRPr lang="en-US" sz="800" dirty="0"/>
          </a:p>
        </p:txBody>
      </p:sp>
      <p:sp>
        <p:nvSpPr>
          <p:cNvPr id="31" name="shape 16.30"/>
          <p:cNvSpPr/>
          <p:nvPr/>
        </p:nvSpPr>
        <p:spPr>
          <a:xfrm>
            <a:off x="9600960" y="4406790"/>
            <a:ext cx="507987" cy="507987"/>
          </a:xfrm>
          <a:prstGeom prst="roundRect">
            <a:avLst>
              <a:gd name="adj" fmla="val 27500"/>
            </a:avLst>
          </a:prstGeom>
          <a:solidFill>
            <a:srgbClr val="1FA9EA"/>
          </a:solidFill>
          <a:ln/>
        </p:spPr>
      </p:sp>
      <p:sp>
        <p:nvSpPr>
          <p:cNvPr id="32" name="text 16.31"/>
          <p:cNvSpPr txBox="1"/>
          <p:nvPr/>
        </p:nvSpPr>
        <p:spPr>
          <a:xfrm>
            <a:off x="9600960" y="4990975"/>
            <a:ext cx="609585" cy="142236"/>
          </a:xfrm>
          <a:prstGeom prst="rect">
            <a:avLst/>
          </a:prstGeom>
          <a:noFill/>
          <a:ln/>
        </p:spPr>
        <p:txBody>
          <a:bodyPr wrap="square" lIns="0" tIns="0" rIns="0" bIns="0" rtlCol="0" anchor="t"/>
          <a:lstStyle/>
          <a:p>
            <a:pPr algn="l" indent="0" marL="0">
              <a:lnSpc>
                <a:spcPts val="1120"/>
              </a:lnSpc>
              <a:buNone/>
            </a:pPr>
            <a:r>
              <a:rPr lang="en-US" sz="800" dirty="0">
                <a:solidFill>
                  <a:srgbClr val="16233F"/>
                </a:solidFill>
                <a:latin typeface="Arial" pitchFamily="34" charset="0"/>
                <a:ea typeface="Arial" pitchFamily="34" charset="-122"/>
                <a:cs typeface="Arial" pitchFamily="34" charset="-120"/>
              </a:rPr>
              <a:t>Cyan</a:t>
            </a:r>
            <a:endParaRPr lang="en-US" sz="800" dirty="0"/>
          </a:p>
        </p:txBody>
      </p:sp>
      <p:sp>
        <p:nvSpPr>
          <p:cNvPr id="33" name="shape 16.32"/>
          <p:cNvSpPr/>
          <p:nvPr/>
        </p:nvSpPr>
        <p:spPr>
          <a:xfrm>
            <a:off x="10210545" y="4406790"/>
            <a:ext cx="507987" cy="507987"/>
          </a:xfrm>
          <a:prstGeom prst="roundRect">
            <a:avLst>
              <a:gd name="adj" fmla="val 27500"/>
            </a:avLst>
          </a:prstGeom>
          <a:solidFill>
            <a:srgbClr val="43B832"/>
          </a:solidFill>
          <a:ln/>
        </p:spPr>
      </p:sp>
      <p:sp>
        <p:nvSpPr>
          <p:cNvPr id="34" name="text 16.33"/>
          <p:cNvSpPr txBox="1"/>
          <p:nvPr/>
        </p:nvSpPr>
        <p:spPr>
          <a:xfrm>
            <a:off x="10210545" y="4990975"/>
            <a:ext cx="609585" cy="142236"/>
          </a:xfrm>
          <a:prstGeom prst="rect">
            <a:avLst/>
          </a:prstGeom>
          <a:noFill/>
          <a:ln/>
        </p:spPr>
        <p:txBody>
          <a:bodyPr wrap="square" lIns="0" tIns="0" rIns="0" bIns="0" rtlCol="0" anchor="t"/>
          <a:lstStyle/>
          <a:p>
            <a:pPr algn="l" indent="0" marL="0">
              <a:lnSpc>
                <a:spcPts val="1120"/>
              </a:lnSpc>
              <a:buNone/>
            </a:pPr>
            <a:r>
              <a:rPr lang="en-US" sz="800" dirty="0">
                <a:solidFill>
                  <a:srgbClr val="16233F"/>
                </a:solidFill>
                <a:latin typeface="Arial" pitchFamily="34" charset="0"/>
                <a:ea typeface="Arial" pitchFamily="34" charset="-122"/>
                <a:cs typeface="Arial" pitchFamily="34" charset="-120"/>
              </a:rPr>
              <a:t>Lime</a:t>
            </a:r>
            <a:endParaRPr lang="en-US" sz="800" dirty="0"/>
          </a:p>
        </p:txBody>
      </p:sp>
      <p:sp>
        <p:nvSpPr>
          <p:cNvPr id="35" name="shape 16.34"/>
          <p:cNvSpPr/>
          <p:nvPr/>
        </p:nvSpPr>
        <p:spPr>
          <a:xfrm>
            <a:off x="10820129" y="4406790"/>
            <a:ext cx="507987" cy="507987"/>
          </a:xfrm>
          <a:prstGeom prst="roundRect">
            <a:avLst>
              <a:gd name="adj" fmla="val 27500"/>
            </a:avLst>
          </a:prstGeom>
          <a:solidFill>
            <a:srgbClr val="8F55F5"/>
          </a:solidFill>
          <a:ln/>
        </p:spPr>
      </p:sp>
      <p:sp>
        <p:nvSpPr>
          <p:cNvPr id="36" name="text 16.35"/>
          <p:cNvSpPr txBox="1"/>
          <p:nvPr/>
        </p:nvSpPr>
        <p:spPr>
          <a:xfrm>
            <a:off x="10820129" y="4990975"/>
            <a:ext cx="609585" cy="142236"/>
          </a:xfrm>
          <a:prstGeom prst="rect">
            <a:avLst/>
          </a:prstGeom>
          <a:noFill/>
          <a:ln/>
        </p:spPr>
        <p:txBody>
          <a:bodyPr wrap="square" lIns="0" tIns="0" rIns="0" bIns="0" rtlCol="0" anchor="t"/>
          <a:lstStyle/>
          <a:p>
            <a:pPr algn="l" indent="0" marL="0">
              <a:lnSpc>
                <a:spcPts val="1120"/>
              </a:lnSpc>
              <a:buNone/>
            </a:pPr>
            <a:r>
              <a:rPr lang="en-US" sz="800" dirty="0">
                <a:solidFill>
                  <a:srgbClr val="16233F"/>
                </a:solidFill>
                <a:latin typeface="Arial" pitchFamily="34" charset="0"/>
                <a:ea typeface="Arial" pitchFamily="34" charset="-122"/>
                <a:cs typeface="Arial" pitchFamily="34" charset="-120"/>
              </a:rPr>
              <a:t>Purple</a:t>
            </a:r>
            <a:endParaRPr lang="en-US" sz="800" dirty="0"/>
          </a:p>
        </p:txBody>
      </p:sp>
      <p:sp>
        <p:nvSpPr>
          <p:cNvPr id="37" name="text 16.36"/>
          <p:cNvSpPr txBox="1"/>
          <p:nvPr/>
        </p:nvSpPr>
        <p:spPr>
          <a:xfrm>
            <a:off x="8991375" y="5587860"/>
            <a:ext cx="2451039"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All AI-generated drafts. None is gameplay.</a:t>
            </a:r>
            <a:endParaRPr lang="en-US" sz="850" dirty="0"/>
          </a:p>
        </p:txBody>
      </p:sp>
      <p:sp>
        <p:nvSpPr>
          <p:cNvPr id="38" name="shape 16.37"/>
          <p:cNvSpPr/>
          <p:nvPr/>
        </p:nvSpPr>
        <p:spPr>
          <a:xfrm>
            <a:off x="609585" y="266693"/>
            <a:ext cx="2024310"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39" name="shape 16.38"/>
          <p:cNvSpPr/>
          <p:nvPr/>
        </p:nvSpPr>
        <p:spPr>
          <a:xfrm>
            <a:off x="711182" y="355591"/>
            <a:ext cx="114297" cy="114297"/>
          </a:xfrm>
          <a:prstGeom prst="roundRect">
            <a:avLst>
              <a:gd name="adj" fmla="val 33333"/>
            </a:avLst>
          </a:prstGeom>
          <a:solidFill>
            <a:srgbClr val="43B832"/>
          </a:solidFill>
          <a:ln/>
        </p:spPr>
      </p:sp>
      <p:sp>
        <p:nvSpPr>
          <p:cNvPr id="40" name="shape 16.39"/>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1" name="shape 16.40"/>
          <p:cNvSpPr/>
          <p:nvPr/>
        </p:nvSpPr>
        <p:spPr>
          <a:xfrm>
            <a:off x="10058149" y="368291"/>
            <a:ext cx="101597" cy="101597"/>
          </a:xfrm>
          <a:prstGeom prst="roundRect">
            <a:avLst>
              <a:gd name="adj" fmla="val 31250"/>
            </a:avLst>
          </a:prstGeom>
          <a:solidFill>
            <a:srgbClr val="16233F"/>
          </a:solidFill>
          <a:ln/>
        </p:spPr>
      </p:sp>
      <p:sp>
        <p:nvSpPr>
          <p:cNvPr id="42" name="shape 16.41"/>
          <p:cNvSpPr/>
          <p:nvPr/>
        </p:nvSpPr>
        <p:spPr>
          <a:xfrm>
            <a:off x="10223244" y="368291"/>
            <a:ext cx="101597" cy="101597"/>
          </a:xfrm>
          <a:prstGeom prst="roundRect">
            <a:avLst>
              <a:gd name="adj" fmla="val 31250"/>
            </a:avLst>
          </a:prstGeom>
          <a:solidFill>
            <a:srgbClr val="16233F"/>
          </a:solidFill>
          <a:ln/>
        </p:spPr>
      </p:sp>
      <p:sp>
        <p:nvSpPr>
          <p:cNvPr id="43" name="shape 16.42"/>
          <p:cNvSpPr/>
          <p:nvPr/>
        </p:nvSpPr>
        <p:spPr>
          <a:xfrm>
            <a:off x="10388340" y="368291"/>
            <a:ext cx="101597" cy="101597"/>
          </a:xfrm>
          <a:prstGeom prst="roundRect">
            <a:avLst>
              <a:gd name="adj" fmla="val 31250"/>
            </a:avLst>
          </a:prstGeom>
          <a:solidFill>
            <a:srgbClr val="16233F"/>
          </a:solidFill>
          <a:ln/>
        </p:spPr>
      </p:sp>
      <p:sp>
        <p:nvSpPr>
          <p:cNvPr id="44" name="shape 16.43"/>
          <p:cNvSpPr/>
          <p:nvPr/>
        </p:nvSpPr>
        <p:spPr>
          <a:xfrm>
            <a:off x="10553436" y="368291"/>
            <a:ext cx="101597" cy="101597"/>
          </a:xfrm>
          <a:prstGeom prst="roundRect">
            <a:avLst>
              <a:gd name="adj" fmla="val 31250"/>
            </a:avLst>
          </a:prstGeom>
          <a:solidFill>
            <a:srgbClr val="16233F"/>
          </a:solidFill>
          <a:ln/>
        </p:spPr>
      </p:sp>
      <p:sp>
        <p:nvSpPr>
          <p:cNvPr id="45" name="shape 16.44"/>
          <p:cNvSpPr/>
          <p:nvPr/>
        </p:nvSpPr>
        <p:spPr>
          <a:xfrm>
            <a:off x="10718532" y="368291"/>
            <a:ext cx="101597" cy="101597"/>
          </a:xfrm>
          <a:prstGeom prst="roundRect">
            <a:avLst>
              <a:gd name="adj" fmla="val 31250"/>
            </a:avLst>
          </a:prstGeom>
          <a:solidFill>
            <a:srgbClr val="43B832"/>
          </a:solidFill>
          <a:ln/>
        </p:spPr>
      </p:sp>
      <p:sp>
        <p:nvSpPr>
          <p:cNvPr id="46" name="shape 16.45"/>
          <p:cNvSpPr/>
          <p:nvPr/>
        </p:nvSpPr>
        <p:spPr>
          <a:xfrm>
            <a:off x="10883628" y="368291"/>
            <a:ext cx="101597" cy="101597"/>
          </a:xfrm>
          <a:prstGeom prst="roundRect">
            <a:avLst>
              <a:gd name="adj" fmla="val 31250"/>
            </a:avLst>
          </a:prstGeom>
          <a:solidFill>
            <a:srgbClr val="C7D4E8"/>
          </a:solidFill>
          <a:ln/>
        </p:spPr>
      </p:sp>
      <p:sp>
        <p:nvSpPr>
          <p:cNvPr id="47" name="text 16.46"/>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16</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48" name="text 16.47"/>
          <p:cNvSpPr txBox="1"/>
          <p:nvPr/>
        </p:nvSpPr>
        <p:spPr>
          <a:xfrm>
            <a:off x="927077" y="349241"/>
            <a:ext cx="1495062"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05 · Drafts &amp; prototypes</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7.1"/>
          <p:cNvSpPr/>
          <p:nvPr/>
        </p:nvSpPr>
        <p:spPr>
          <a:xfrm>
            <a:off x="609585" y="1663658"/>
            <a:ext cx="3555911" cy="3555911"/>
          </a:xfrm>
          <a:prstGeom prst="roundRect">
            <a:avLst>
              <a:gd name="adj" fmla="val 5357"/>
            </a:avLst>
          </a:prstGeom>
          <a:solidFill>
            <a:srgbClr val="FFFFFF"/>
          </a:solidFill>
          <a:ln/>
          <a:effectLst>
            <a:outerShdw sx="100000" sy="100000" kx="0" ky="0" algn="bl" rotWithShape="0" blurRad="203200" dist="76200" dir="5400000">
              <a:srgbClr val="1E468C">
                <a:alpha val="16000"/>
              </a:srgbClr>
            </a:outerShdw>
          </a:effectLst>
        </p:spPr>
      </p:sp>
      <p:pic>
        <p:nvPicPr>
          <p:cNvPr id="3" name="raster 17.2" descr="diagram">    </p:cNvPr>
          <p:cNvPicPr>
            <a:picLocks noChangeAspect="1"/>
          </p:cNvPicPr>
          <p:nvPr/>
        </p:nvPicPr>
        <p:blipFill>
          <a:blip r:embed="rId2"/>
          <a:stretch>
            <a:fillRect/>
          </a:stretch>
        </p:blipFill>
        <p:spPr>
          <a:xfrm>
            <a:off x="609585" y="1663658"/>
            <a:ext cx="3555911" cy="3555911"/>
          </a:xfrm>
          <a:prstGeom prst="rect">
            <a:avLst/>
          </a:prstGeom>
        </p:spPr>
      </p:pic>
      <p:sp>
        <p:nvSpPr>
          <p:cNvPr id="4" name="shape 17.3"/>
          <p:cNvSpPr/>
          <p:nvPr/>
        </p:nvSpPr>
        <p:spPr>
          <a:xfrm>
            <a:off x="4317892" y="1663658"/>
            <a:ext cx="3555911" cy="3555911"/>
          </a:xfrm>
          <a:prstGeom prst="roundRect">
            <a:avLst>
              <a:gd name="adj" fmla="val 5357"/>
            </a:avLst>
          </a:prstGeom>
          <a:solidFill>
            <a:srgbClr val="DFF1FF"/>
          </a:solidFill>
          <a:ln/>
          <a:effectLst>
            <a:outerShdw sx="100000" sy="100000" kx="0" ky="0" algn="bl" rotWithShape="0" blurRad="203200" dist="76200" dir="5400000">
              <a:srgbClr val="1E468C">
                <a:alpha val="16000"/>
              </a:srgbClr>
            </a:outerShdw>
          </a:effectLst>
        </p:spPr>
      </p:sp>
      <p:pic>
        <p:nvPicPr>
          <p:cNvPr id="5" name="raster 17.4" descr="diagram">    </p:cNvPr>
          <p:cNvPicPr>
            <a:picLocks noChangeAspect="1"/>
          </p:cNvPicPr>
          <p:nvPr/>
        </p:nvPicPr>
        <p:blipFill>
          <a:blip r:embed="rId3"/>
          <a:stretch>
            <a:fillRect/>
          </a:stretch>
        </p:blipFill>
        <p:spPr>
          <a:xfrm>
            <a:off x="4317892" y="1663658"/>
            <a:ext cx="3555911" cy="3555911"/>
          </a:xfrm>
          <a:prstGeom prst="rect">
            <a:avLst/>
          </a:prstGeom>
        </p:spPr>
      </p:pic>
      <p:sp>
        <p:nvSpPr>
          <p:cNvPr id="6" name="shape 17.5"/>
          <p:cNvSpPr/>
          <p:nvPr/>
        </p:nvSpPr>
        <p:spPr>
          <a:xfrm>
            <a:off x="8026199" y="1663658"/>
            <a:ext cx="3555911" cy="3555911"/>
          </a:xfrm>
          <a:prstGeom prst="roundRect">
            <a:avLst>
              <a:gd name="adj" fmla="val 5357"/>
            </a:avLst>
          </a:prstGeom>
          <a:solidFill>
            <a:srgbClr val="FF6B1F"/>
          </a:solidFill>
          <a:ln/>
          <a:effectLst>
            <a:outerShdw sx="100000" sy="100000" kx="0" ky="0" algn="bl" rotWithShape="0" blurRad="203200" dist="76200" dir="5400000">
              <a:srgbClr val="1E468C">
                <a:alpha val="16000"/>
              </a:srgbClr>
            </a:outerShdw>
          </a:effectLst>
        </p:spPr>
      </p:sp>
      <p:pic>
        <p:nvPicPr>
          <p:cNvPr id="7" name="raster 17.6" descr="diagram">    </p:cNvPr>
          <p:cNvPicPr>
            <a:picLocks noChangeAspect="1"/>
          </p:cNvPicPr>
          <p:nvPr/>
        </p:nvPicPr>
        <p:blipFill>
          <a:blip r:embed="rId4"/>
          <a:stretch>
            <a:fillRect/>
          </a:stretch>
        </p:blipFill>
        <p:spPr>
          <a:xfrm>
            <a:off x="8026199" y="1663658"/>
            <a:ext cx="3555911" cy="3555911"/>
          </a:xfrm>
          <a:prstGeom prst="rect">
            <a:avLst/>
          </a:prstGeom>
        </p:spPr>
      </p:pic>
      <p:sp>
        <p:nvSpPr>
          <p:cNvPr id="8" name="text 17.7"/>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Logo drafts</a:t>
            </a:r>
            <a:endParaRPr lang="en-US" sz="2700" dirty="0"/>
          </a:p>
        </p:txBody>
      </p:sp>
      <p:sp>
        <p:nvSpPr>
          <p:cNvPr id="9" name="text 17.8"/>
          <p:cNvSpPr txBox="1"/>
          <p:nvPr/>
        </p:nvSpPr>
        <p:spPr>
          <a:xfrm>
            <a:off x="609585" y="5435464"/>
            <a:ext cx="1611485"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6233F"/>
                </a:solidFill>
                <a:latin typeface="Arial" pitchFamily="34" charset="0"/>
                <a:ea typeface="Arial" pitchFamily="34" charset="-122"/>
                <a:cs typeface="Arial" pitchFamily="34" charset="-120"/>
              </a:rPr>
              <a:t>DRAFT A · WORDMARK</a:t>
            </a:r>
            <a:endParaRPr lang="en-US" sz="850" dirty="0"/>
          </a:p>
        </p:txBody>
      </p:sp>
      <p:sp>
        <p:nvSpPr>
          <p:cNvPr id="10" name="text 17.9"/>
          <p:cNvSpPr txBox="1"/>
          <p:nvPr/>
        </p:nvSpPr>
        <p:spPr>
          <a:xfrm>
            <a:off x="609585" y="5651359"/>
            <a:ext cx="3594010" cy="213355"/>
          </a:xfrm>
          <a:prstGeom prst="rect">
            <a:avLst/>
          </a:prstGeom>
          <a:noFill/>
          <a:ln/>
        </p:spPr>
        <p:txBody>
          <a:bodyPr wrap="square" lIns="0" tIns="0" rIns="0" bIns="0" rtlCol="0" anchor="t"/>
          <a:lstStyle/>
          <a:p>
            <a:pPr algn="l" indent="0" marL="0">
              <a:lnSpc>
                <a:spcPts val="1680"/>
              </a:lnSpc>
              <a:buNone/>
            </a:pPr>
            <a:r>
              <a:rPr lang="en-US" sz="1200" dirty="0">
                <a:solidFill>
                  <a:srgbClr val="3B4A66"/>
                </a:solidFill>
                <a:latin typeface="Arial" pitchFamily="34" charset="0"/>
                <a:ea typeface="Arial" pitchFamily="34" charset="-122"/>
                <a:cs typeface="Arial" pitchFamily="34" charset="-120"/>
              </a:rPr>
              <a:t>Title screen, deck cover, video end card.</a:t>
            </a:r>
            <a:endParaRPr lang="en-US" sz="1200" dirty="0"/>
          </a:p>
        </p:txBody>
      </p:sp>
      <p:sp>
        <p:nvSpPr>
          <p:cNvPr id="11" name="text 17.10"/>
          <p:cNvSpPr txBox="1"/>
          <p:nvPr/>
        </p:nvSpPr>
        <p:spPr>
          <a:xfrm>
            <a:off x="4317892" y="5435464"/>
            <a:ext cx="1445317"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6233F"/>
                </a:solidFill>
                <a:latin typeface="Arial" pitchFamily="34" charset="0"/>
                <a:ea typeface="Arial" pitchFamily="34" charset="-122"/>
                <a:cs typeface="Arial" pitchFamily="34" charset="-120"/>
              </a:rPr>
              <a:t>DRAFT B · STACKED</a:t>
            </a:r>
            <a:endParaRPr lang="en-US" sz="850" dirty="0"/>
          </a:p>
        </p:txBody>
      </p:sp>
      <p:sp>
        <p:nvSpPr>
          <p:cNvPr id="12" name="text 17.11"/>
          <p:cNvSpPr txBox="1"/>
          <p:nvPr/>
        </p:nvSpPr>
        <p:spPr>
          <a:xfrm>
            <a:off x="4317892" y="5651359"/>
            <a:ext cx="3594010" cy="213355"/>
          </a:xfrm>
          <a:prstGeom prst="rect">
            <a:avLst/>
          </a:prstGeom>
          <a:noFill/>
          <a:ln/>
        </p:spPr>
        <p:txBody>
          <a:bodyPr wrap="square" lIns="0" tIns="0" rIns="0" bIns="0" rtlCol="0" anchor="t"/>
          <a:lstStyle/>
          <a:p>
            <a:pPr algn="l" indent="0" marL="0">
              <a:lnSpc>
                <a:spcPts val="1680"/>
              </a:lnSpc>
              <a:buNone/>
            </a:pPr>
            <a:r>
              <a:rPr lang="en-US" sz="1200" dirty="0">
                <a:solidFill>
                  <a:srgbClr val="3B4A66"/>
                </a:solidFill>
                <a:latin typeface="Arial" pitchFamily="34" charset="0"/>
                <a:ea typeface="Arial" pitchFamily="34" charset="-122"/>
                <a:cs typeface="Arial" pitchFamily="34" charset="-120"/>
              </a:rPr>
              <a:t>Square formats: store capsule, lobby screen.</a:t>
            </a:r>
            <a:endParaRPr lang="en-US" sz="1200" dirty="0"/>
          </a:p>
        </p:txBody>
      </p:sp>
      <p:sp>
        <p:nvSpPr>
          <p:cNvPr id="13" name="text 17.12"/>
          <p:cNvSpPr txBox="1"/>
          <p:nvPr/>
        </p:nvSpPr>
        <p:spPr>
          <a:xfrm>
            <a:off x="8026199" y="5435464"/>
            <a:ext cx="1145690"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6233F"/>
                </a:solidFill>
                <a:latin typeface="Arial" pitchFamily="34" charset="0"/>
                <a:ea typeface="Arial" pitchFamily="34" charset="-122"/>
                <a:cs typeface="Arial" pitchFamily="34" charset="-120"/>
              </a:rPr>
              <a:t>DRAFT C · ICON</a:t>
            </a:r>
            <a:endParaRPr lang="en-US" sz="850" dirty="0"/>
          </a:p>
        </p:txBody>
      </p:sp>
      <p:sp>
        <p:nvSpPr>
          <p:cNvPr id="14" name="text 17.13"/>
          <p:cNvSpPr txBox="1"/>
          <p:nvPr/>
        </p:nvSpPr>
        <p:spPr>
          <a:xfrm>
            <a:off x="8026199" y="5651359"/>
            <a:ext cx="3594010" cy="213355"/>
          </a:xfrm>
          <a:prstGeom prst="rect">
            <a:avLst/>
          </a:prstGeom>
          <a:noFill/>
          <a:ln/>
        </p:spPr>
        <p:txBody>
          <a:bodyPr wrap="square" lIns="0" tIns="0" rIns="0" bIns="0" rtlCol="0" anchor="t"/>
          <a:lstStyle/>
          <a:p>
            <a:pPr algn="l" indent="0" marL="0">
              <a:lnSpc>
                <a:spcPts val="1680"/>
              </a:lnSpc>
              <a:buNone/>
            </a:pPr>
            <a:r>
              <a:rPr lang="en-US" sz="1200" dirty="0">
                <a:solidFill>
                  <a:srgbClr val="3B4A66"/>
                </a:solidFill>
                <a:latin typeface="Arial" pitchFamily="34" charset="0"/>
                <a:ea typeface="Arial" pitchFamily="34" charset="-122"/>
                <a:cs typeface="Arial" pitchFamily="34" charset="-120"/>
              </a:rPr>
              <a:t>Taskbar, build icon, favicon.</a:t>
            </a:r>
            <a:endParaRPr lang="en-US" sz="1200" dirty="0"/>
          </a:p>
        </p:txBody>
      </p:sp>
      <p:sp>
        <p:nvSpPr>
          <p:cNvPr id="15" name="text 17.14"/>
          <p:cNvSpPr txBox="1"/>
          <p:nvPr/>
        </p:nvSpPr>
        <p:spPr>
          <a:xfrm>
            <a:off x="609585" y="6490828"/>
            <a:ext cx="1150591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Drafts made for this proposal. The name is a working title; the logo is not final.</a:t>
            </a:r>
            <a:endParaRPr lang="en-US" sz="850" dirty="0"/>
          </a:p>
        </p:txBody>
      </p:sp>
      <p:sp>
        <p:nvSpPr>
          <p:cNvPr id="16" name="shape 17.15"/>
          <p:cNvSpPr/>
          <p:nvPr/>
        </p:nvSpPr>
        <p:spPr>
          <a:xfrm>
            <a:off x="609585" y="266693"/>
            <a:ext cx="2024310"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7" name="shape 17.16"/>
          <p:cNvSpPr/>
          <p:nvPr/>
        </p:nvSpPr>
        <p:spPr>
          <a:xfrm>
            <a:off x="711182" y="355591"/>
            <a:ext cx="114297" cy="114297"/>
          </a:xfrm>
          <a:prstGeom prst="roundRect">
            <a:avLst>
              <a:gd name="adj" fmla="val 33333"/>
            </a:avLst>
          </a:prstGeom>
          <a:solidFill>
            <a:srgbClr val="43B832"/>
          </a:solidFill>
          <a:ln/>
        </p:spPr>
      </p:sp>
      <p:sp>
        <p:nvSpPr>
          <p:cNvPr id="18" name="shape 17.17"/>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9" name="shape 17.18"/>
          <p:cNvSpPr/>
          <p:nvPr/>
        </p:nvSpPr>
        <p:spPr>
          <a:xfrm>
            <a:off x="10058149" y="368291"/>
            <a:ext cx="101597" cy="101597"/>
          </a:xfrm>
          <a:prstGeom prst="roundRect">
            <a:avLst>
              <a:gd name="adj" fmla="val 31250"/>
            </a:avLst>
          </a:prstGeom>
          <a:solidFill>
            <a:srgbClr val="16233F"/>
          </a:solidFill>
          <a:ln/>
        </p:spPr>
      </p:sp>
      <p:sp>
        <p:nvSpPr>
          <p:cNvPr id="20" name="shape 17.19"/>
          <p:cNvSpPr/>
          <p:nvPr/>
        </p:nvSpPr>
        <p:spPr>
          <a:xfrm>
            <a:off x="10223244" y="368291"/>
            <a:ext cx="101597" cy="101597"/>
          </a:xfrm>
          <a:prstGeom prst="roundRect">
            <a:avLst>
              <a:gd name="adj" fmla="val 31250"/>
            </a:avLst>
          </a:prstGeom>
          <a:solidFill>
            <a:srgbClr val="16233F"/>
          </a:solidFill>
          <a:ln/>
        </p:spPr>
      </p:sp>
      <p:sp>
        <p:nvSpPr>
          <p:cNvPr id="21" name="shape 17.20"/>
          <p:cNvSpPr/>
          <p:nvPr/>
        </p:nvSpPr>
        <p:spPr>
          <a:xfrm>
            <a:off x="10388340" y="368291"/>
            <a:ext cx="101597" cy="101597"/>
          </a:xfrm>
          <a:prstGeom prst="roundRect">
            <a:avLst>
              <a:gd name="adj" fmla="val 31250"/>
            </a:avLst>
          </a:prstGeom>
          <a:solidFill>
            <a:srgbClr val="16233F"/>
          </a:solidFill>
          <a:ln/>
        </p:spPr>
      </p:sp>
      <p:sp>
        <p:nvSpPr>
          <p:cNvPr id="22" name="shape 17.21"/>
          <p:cNvSpPr/>
          <p:nvPr/>
        </p:nvSpPr>
        <p:spPr>
          <a:xfrm>
            <a:off x="10553436" y="368291"/>
            <a:ext cx="101597" cy="101597"/>
          </a:xfrm>
          <a:prstGeom prst="roundRect">
            <a:avLst>
              <a:gd name="adj" fmla="val 31250"/>
            </a:avLst>
          </a:prstGeom>
          <a:solidFill>
            <a:srgbClr val="16233F"/>
          </a:solidFill>
          <a:ln/>
        </p:spPr>
      </p:sp>
      <p:sp>
        <p:nvSpPr>
          <p:cNvPr id="23" name="shape 17.22"/>
          <p:cNvSpPr/>
          <p:nvPr/>
        </p:nvSpPr>
        <p:spPr>
          <a:xfrm>
            <a:off x="10718532" y="368291"/>
            <a:ext cx="101597" cy="101597"/>
          </a:xfrm>
          <a:prstGeom prst="roundRect">
            <a:avLst>
              <a:gd name="adj" fmla="val 31250"/>
            </a:avLst>
          </a:prstGeom>
          <a:solidFill>
            <a:srgbClr val="43B832"/>
          </a:solidFill>
          <a:ln/>
        </p:spPr>
      </p:sp>
      <p:sp>
        <p:nvSpPr>
          <p:cNvPr id="24" name="shape 17.23"/>
          <p:cNvSpPr/>
          <p:nvPr/>
        </p:nvSpPr>
        <p:spPr>
          <a:xfrm>
            <a:off x="10883628" y="368291"/>
            <a:ext cx="101597" cy="101597"/>
          </a:xfrm>
          <a:prstGeom prst="roundRect">
            <a:avLst>
              <a:gd name="adj" fmla="val 31250"/>
            </a:avLst>
          </a:prstGeom>
          <a:solidFill>
            <a:srgbClr val="C7D4E8"/>
          </a:solidFill>
          <a:ln/>
        </p:spPr>
      </p:sp>
      <p:sp>
        <p:nvSpPr>
          <p:cNvPr id="25" name="text 17.24"/>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17</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26" name="text 17.25"/>
          <p:cNvSpPr txBox="1"/>
          <p:nvPr/>
        </p:nvSpPr>
        <p:spPr>
          <a:xfrm>
            <a:off x="927077" y="349241"/>
            <a:ext cx="1495062"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05 · Drafts &amp; prototypes</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8.1"/>
          <p:cNvSpPr/>
          <p:nvPr/>
        </p:nvSpPr>
        <p:spPr>
          <a:xfrm>
            <a:off x="609585" y="1663658"/>
            <a:ext cx="5359266" cy="4546486"/>
          </a:xfrm>
          <a:prstGeom prst="roundRect">
            <a:avLst>
              <a:gd name="adj" fmla="val 3911"/>
            </a:avLst>
          </a:prstGeom>
          <a:solidFill>
            <a:srgbClr val="FFFFFF"/>
          </a:solidFill>
          <a:ln/>
          <a:effectLst>
            <a:outerShdw sx="100000" sy="100000" kx="0" ky="0" algn="bl" rotWithShape="0" blurRad="203200" dist="76200" dir="5400000">
              <a:srgbClr val="1E468C">
                <a:alpha val="16000"/>
              </a:srgbClr>
            </a:outerShdw>
          </a:effectLst>
        </p:spPr>
      </p:sp>
      <p:sp>
        <p:nvSpPr>
          <p:cNvPr id="3" name="shape 18.2"/>
          <p:cNvSpPr/>
          <p:nvPr/>
        </p:nvSpPr>
        <p:spPr>
          <a:xfrm>
            <a:off x="6222844" y="1663658"/>
            <a:ext cx="5359266" cy="4546486"/>
          </a:xfrm>
          <a:prstGeom prst="roundRect">
            <a:avLst>
              <a:gd name="adj" fmla="val 3911"/>
            </a:avLst>
          </a:prstGeom>
          <a:solidFill>
            <a:srgbClr val="FFFFFF"/>
          </a:solidFill>
          <a:ln/>
          <a:effectLst>
            <a:outerShdw sx="100000" sy="100000" kx="0" ky="0" algn="bl" rotWithShape="0" blurRad="203200" dist="76200" dir="5400000">
              <a:srgbClr val="1E468C">
                <a:alpha val="16000"/>
              </a:srgbClr>
            </a:outerShdw>
          </a:effectLst>
        </p:spPr>
      </p:sp>
      <p:pic>
        <p:nvPicPr>
          <p:cNvPr id="4" name="raster 18.3" descr="diagram">    </p:cNvPr>
          <p:cNvPicPr>
            <a:picLocks noChangeAspect="1"/>
          </p:cNvPicPr>
          <p:nvPr/>
        </p:nvPicPr>
        <p:blipFill>
          <a:blip r:embed="rId2"/>
          <a:stretch>
            <a:fillRect/>
          </a:stretch>
        </p:blipFill>
        <p:spPr>
          <a:xfrm>
            <a:off x="1320767" y="2311342"/>
            <a:ext cx="3149521" cy="3149521"/>
          </a:xfrm>
          <a:prstGeom prst="rect">
            <a:avLst/>
          </a:prstGeom>
        </p:spPr>
      </p:pic>
      <p:pic>
        <p:nvPicPr>
          <p:cNvPr id="5" name="raster 18.4" descr="diagram">    </p:cNvPr>
          <p:cNvPicPr>
            <a:picLocks noChangeAspect="1"/>
          </p:cNvPicPr>
          <p:nvPr/>
        </p:nvPicPr>
        <p:blipFill>
          <a:blip r:embed="rId3"/>
          <a:stretch>
            <a:fillRect/>
          </a:stretch>
        </p:blipFill>
        <p:spPr>
          <a:xfrm>
            <a:off x="6883228" y="2324042"/>
            <a:ext cx="4063898" cy="3441614"/>
          </a:xfrm>
          <a:prstGeom prst="rect">
            <a:avLst/>
          </a:prstGeom>
        </p:spPr>
      </p:pic>
      <p:sp>
        <p:nvSpPr>
          <p:cNvPr id="6" name="text 18.5"/>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Level drafts, top-down: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arena</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and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track</a:t>
            </a:r>
            <a:endParaRPr lang="en-US" sz="2700" dirty="0"/>
          </a:p>
        </p:txBody>
      </p:sp>
      <p:sp>
        <p:nvSpPr>
          <p:cNvPr id="7" name="text 18.6"/>
          <p:cNvSpPr txBox="1"/>
          <p:nvPr/>
        </p:nvSpPr>
        <p:spPr>
          <a:xfrm>
            <a:off x="863578" y="1879553"/>
            <a:ext cx="2377222"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FF6B1F"/>
                </a:solidFill>
                <a:latin typeface="Arial" pitchFamily="34" charset="0"/>
                <a:ea typeface="Arial" pitchFamily="34" charset="-122"/>
                <a:cs typeface="Arial" pitchFamily="34" charset="-120"/>
              </a:rPr>
              <a:t>MASS KNOCKOUT · ARENA DRAFT</a:t>
            </a:r>
            <a:endParaRPr lang="en-US" sz="850" dirty="0"/>
          </a:p>
        </p:txBody>
      </p:sp>
      <p:pic>
        <p:nvPicPr>
          <p:cNvPr id="8" name="raster 18.7" descr="diagram">    </p:cNvPr>
          <p:cNvPicPr>
            <a:picLocks noChangeAspect="1"/>
          </p:cNvPicPr>
          <p:nvPr/>
        </p:nvPicPr>
        <p:blipFill>
          <a:blip r:embed="rId4"/>
          <a:stretch>
            <a:fillRect/>
          </a:stretch>
        </p:blipFill>
        <p:spPr>
          <a:xfrm>
            <a:off x="1739857" y="2730432"/>
            <a:ext cx="304792" cy="304792"/>
          </a:xfrm>
          <a:prstGeom prst="rect">
            <a:avLst/>
          </a:prstGeom>
        </p:spPr>
      </p:pic>
      <p:pic>
        <p:nvPicPr>
          <p:cNvPr id="9" name="raster 18.8" descr="diagram">    </p:cNvPr>
          <p:cNvPicPr>
            <a:picLocks noChangeAspect="1"/>
          </p:cNvPicPr>
          <p:nvPr/>
        </p:nvPicPr>
        <p:blipFill>
          <a:blip r:embed="rId5"/>
          <a:stretch>
            <a:fillRect/>
          </a:stretch>
        </p:blipFill>
        <p:spPr>
          <a:xfrm>
            <a:off x="3619410" y="2730432"/>
            <a:ext cx="304792" cy="304792"/>
          </a:xfrm>
          <a:prstGeom prst="rect">
            <a:avLst/>
          </a:prstGeom>
        </p:spPr>
      </p:pic>
      <p:pic>
        <p:nvPicPr>
          <p:cNvPr id="10" name="raster 18.9" descr="diagram">    </p:cNvPr>
          <p:cNvPicPr>
            <a:picLocks noChangeAspect="1"/>
          </p:cNvPicPr>
          <p:nvPr/>
        </p:nvPicPr>
        <p:blipFill>
          <a:blip r:embed="rId6"/>
          <a:stretch>
            <a:fillRect/>
          </a:stretch>
        </p:blipFill>
        <p:spPr>
          <a:xfrm>
            <a:off x="1739857" y="4609985"/>
            <a:ext cx="304792" cy="304792"/>
          </a:xfrm>
          <a:prstGeom prst="rect">
            <a:avLst/>
          </a:prstGeom>
        </p:spPr>
      </p:pic>
      <p:pic>
        <p:nvPicPr>
          <p:cNvPr id="11" name="raster 18.10" descr="diagram">    </p:cNvPr>
          <p:cNvPicPr>
            <a:picLocks noChangeAspect="1"/>
          </p:cNvPicPr>
          <p:nvPr/>
        </p:nvPicPr>
        <p:blipFill>
          <a:blip r:embed="rId7"/>
          <a:stretch>
            <a:fillRect/>
          </a:stretch>
        </p:blipFill>
        <p:spPr>
          <a:xfrm>
            <a:off x="3619410" y="4609985"/>
            <a:ext cx="304792" cy="304792"/>
          </a:xfrm>
          <a:prstGeom prst="rect">
            <a:avLst/>
          </a:prstGeom>
        </p:spPr>
      </p:pic>
      <p:sp>
        <p:nvSpPr>
          <p:cNvPr id="12" name="text 18.11"/>
          <p:cNvSpPr txBox="1"/>
          <p:nvPr/>
        </p:nvSpPr>
        <p:spPr>
          <a:xfrm>
            <a:off x="1498563" y="5587860"/>
            <a:ext cx="279393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OPEN EDGE = KNOCKOUT LINE</a:t>
            </a:r>
            <a:endParaRPr lang="en-US" sz="750" dirty="0"/>
          </a:p>
        </p:txBody>
      </p:sp>
      <p:sp>
        <p:nvSpPr>
          <p:cNvPr id="13" name="text 18.12"/>
          <p:cNvSpPr txBox="1"/>
          <p:nvPr/>
        </p:nvSpPr>
        <p:spPr>
          <a:xfrm>
            <a:off x="4584585" y="2489138"/>
            <a:ext cx="1244569" cy="302213"/>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Fall zone. No walls, no cover.</a:t>
            </a:r>
            <a:endParaRPr lang="en-US" sz="850" dirty="0"/>
          </a:p>
        </p:txBody>
      </p:sp>
      <p:sp>
        <p:nvSpPr>
          <p:cNvPr id="14" name="text 18.13"/>
          <p:cNvSpPr txBox="1"/>
          <p:nvPr/>
        </p:nvSpPr>
        <p:spPr>
          <a:xfrm>
            <a:off x="4584585" y="3746406"/>
            <a:ext cx="1244569"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One flat square platform.</a:t>
            </a:r>
            <a:endParaRPr lang="en-US" sz="850" dirty="0"/>
          </a:p>
        </p:txBody>
      </p:sp>
      <p:sp>
        <p:nvSpPr>
          <p:cNvPr id="15" name="text 18.14"/>
          <p:cNvSpPr txBox="1"/>
          <p:nvPr/>
        </p:nvSpPr>
        <p:spPr>
          <a:xfrm>
            <a:off x="4584585" y="4698883"/>
            <a:ext cx="1244569" cy="302213"/>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Spawn near corners (draft).</a:t>
            </a:r>
            <a:endParaRPr lang="en-US" sz="850" dirty="0"/>
          </a:p>
        </p:txBody>
      </p:sp>
      <p:sp>
        <p:nvSpPr>
          <p:cNvPr id="16" name="text 18.15"/>
          <p:cNvSpPr txBox="1"/>
          <p:nvPr/>
        </p:nvSpPr>
        <p:spPr>
          <a:xfrm>
            <a:off x="6476838" y="1879553"/>
            <a:ext cx="1834023"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FA9EA"/>
                </a:solidFill>
                <a:latin typeface="Arial" pitchFamily="34" charset="0"/>
                <a:ea typeface="Arial" pitchFamily="34" charset="-122"/>
                <a:cs typeface="Arial" pitchFamily="34" charset="-120"/>
              </a:rPr>
              <a:t>ICE RACE · TRACK DRAFT</a:t>
            </a:r>
            <a:endParaRPr lang="en-US" sz="850" dirty="0"/>
          </a:p>
        </p:txBody>
      </p:sp>
      <p:sp>
        <p:nvSpPr>
          <p:cNvPr id="17" name="text 18.16"/>
          <p:cNvSpPr txBox="1"/>
          <p:nvPr/>
        </p:nvSpPr>
        <p:spPr>
          <a:xfrm>
            <a:off x="7429314" y="4279793"/>
            <a:ext cx="977314"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START / FINISH</a:t>
            </a:r>
            <a:endParaRPr lang="en-US" sz="750" dirty="0"/>
          </a:p>
        </p:txBody>
      </p:sp>
      <p:sp>
        <p:nvSpPr>
          <p:cNvPr id="18" name="text 18.17"/>
          <p:cNvSpPr txBox="1"/>
          <p:nvPr/>
        </p:nvSpPr>
        <p:spPr>
          <a:xfrm>
            <a:off x="8369091" y="2133547"/>
            <a:ext cx="29634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CP1</a:t>
            </a:r>
            <a:endParaRPr lang="en-US" sz="750" dirty="0"/>
          </a:p>
        </p:txBody>
      </p:sp>
      <p:sp>
        <p:nvSpPr>
          <p:cNvPr id="19" name="text 18.18"/>
          <p:cNvSpPr txBox="1"/>
          <p:nvPr/>
        </p:nvSpPr>
        <p:spPr>
          <a:xfrm>
            <a:off x="8737382" y="3479713"/>
            <a:ext cx="29634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CP2</a:t>
            </a:r>
            <a:endParaRPr lang="en-US" sz="750" dirty="0"/>
          </a:p>
        </p:txBody>
      </p:sp>
      <p:sp>
        <p:nvSpPr>
          <p:cNvPr id="20" name="text 18.19"/>
          <p:cNvSpPr txBox="1"/>
          <p:nvPr/>
        </p:nvSpPr>
        <p:spPr>
          <a:xfrm>
            <a:off x="10959826" y="5029074"/>
            <a:ext cx="29634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CP3</a:t>
            </a:r>
            <a:endParaRPr lang="en-US" sz="750" dirty="0"/>
          </a:p>
        </p:txBody>
      </p:sp>
      <p:sp>
        <p:nvSpPr>
          <p:cNvPr id="21" name="text 18.20"/>
          <p:cNvSpPr txBox="1"/>
          <p:nvPr/>
        </p:nvSpPr>
        <p:spPr>
          <a:xfrm>
            <a:off x="9842254" y="2666933"/>
            <a:ext cx="1562061" cy="302213"/>
          </a:xfrm>
          <a:prstGeom prst="rect">
            <a:avLst/>
          </a:prstGeom>
          <a:noFill/>
          <a:ln/>
        </p:spPr>
        <p:txBody>
          <a:bodyPr wrap="square" lIns="0" tIns="0" rIns="0" bIns="0" rtlCol="0" anchor="t"/>
          <a:lstStyle/>
          <a:p>
            <a:pPr algn="l" indent="0" marL="0">
              <a:lnSpc>
                <a:spcPts val="1190"/>
              </a:lnSpc>
              <a:buNone/>
            </a:pPr>
            <a:r>
              <a:rPr lang="en-US" sz="850" b="1" dirty="0">
                <a:solidFill>
                  <a:srgbClr val="B07D00"/>
                </a:solidFill>
                <a:latin typeface="Arial" pitchFamily="34" charset="0"/>
                <a:ea typeface="Arial" pitchFamily="34" charset="-122"/>
                <a:cs typeface="Arial" pitchFamily="34" charset="-120"/>
              </a:rPr>
              <a:t>Yellow:</a:t>
            </a:r>
            <a:pPr algn="l" indent="0" marL="0">
              <a:lnSpc>
                <a:spcPts val="1190"/>
              </a:lnSpc>
              <a:buNone/>
            </a:pPr>
            <a:r>
              <a:rPr lang="en-US" sz="850" dirty="0">
                <a:solidFill>
                  <a:srgbClr val="6E7D9A"/>
                </a:solidFill>
                <a:latin typeface="Arial" pitchFamily="34" charset="0"/>
                <a:ea typeface="Arial" pitchFamily="34" charset="-122"/>
                <a:cs typeface="Arial" pitchFamily="34" charset="-120"/>
              </a:rPr>
              <a:t> low-grip corners. Set up early or slide off.</a:t>
            </a:r>
            <a:endParaRPr lang="en-US" sz="850" dirty="0"/>
          </a:p>
        </p:txBody>
      </p:sp>
      <p:sp>
        <p:nvSpPr>
          <p:cNvPr id="22" name="text 18.21"/>
          <p:cNvSpPr txBox="1"/>
          <p:nvPr/>
        </p:nvSpPr>
        <p:spPr>
          <a:xfrm>
            <a:off x="9842254" y="3555911"/>
            <a:ext cx="1562061" cy="302213"/>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Open edges. A fall respawns you at the last checkpoint.</a:t>
            </a:r>
            <a:endParaRPr lang="en-US" sz="850" dirty="0"/>
          </a:p>
        </p:txBody>
      </p:sp>
      <p:sp>
        <p:nvSpPr>
          <p:cNvPr id="23" name="text 18.22"/>
          <p:cNvSpPr txBox="1"/>
          <p:nvPr/>
        </p:nvSpPr>
        <p:spPr>
          <a:xfrm>
            <a:off x="609585" y="6490828"/>
            <a:ext cx="1150591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Draft layouts for scope and blockout. Dimensions, spawn points and checkpoint count are not set.</a:t>
            </a:r>
            <a:endParaRPr lang="en-US" sz="850" dirty="0"/>
          </a:p>
        </p:txBody>
      </p:sp>
      <p:sp>
        <p:nvSpPr>
          <p:cNvPr id="24" name="shape 18.23"/>
          <p:cNvSpPr/>
          <p:nvPr/>
        </p:nvSpPr>
        <p:spPr>
          <a:xfrm>
            <a:off x="609585" y="266693"/>
            <a:ext cx="2024310"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5" name="shape 18.24"/>
          <p:cNvSpPr/>
          <p:nvPr/>
        </p:nvSpPr>
        <p:spPr>
          <a:xfrm>
            <a:off x="711182" y="355591"/>
            <a:ext cx="114297" cy="114297"/>
          </a:xfrm>
          <a:prstGeom prst="roundRect">
            <a:avLst>
              <a:gd name="adj" fmla="val 33333"/>
            </a:avLst>
          </a:prstGeom>
          <a:solidFill>
            <a:srgbClr val="43B832"/>
          </a:solidFill>
          <a:ln/>
        </p:spPr>
      </p:sp>
      <p:sp>
        <p:nvSpPr>
          <p:cNvPr id="26" name="shape 18.25"/>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7" name="shape 18.26"/>
          <p:cNvSpPr/>
          <p:nvPr/>
        </p:nvSpPr>
        <p:spPr>
          <a:xfrm>
            <a:off x="10058149" y="368291"/>
            <a:ext cx="101597" cy="101597"/>
          </a:xfrm>
          <a:prstGeom prst="roundRect">
            <a:avLst>
              <a:gd name="adj" fmla="val 31250"/>
            </a:avLst>
          </a:prstGeom>
          <a:solidFill>
            <a:srgbClr val="16233F"/>
          </a:solidFill>
          <a:ln/>
        </p:spPr>
      </p:sp>
      <p:sp>
        <p:nvSpPr>
          <p:cNvPr id="28" name="shape 18.27"/>
          <p:cNvSpPr/>
          <p:nvPr/>
        </p:nvSpPr>
        <p:spPr>
          <a:xfrm>
            <a:off x="10223244" y="368291"/>
            <a:ext cx="101597" cy="101597"/>
          </a:xfrm>
          <a:prstGeom prst="roundRect">
            <a:avLst>
              <a:gd name="adj" fmla="val 31250"/>
            </a:avLst>
          </a:prstGeom>
          <a:solidFill>
            <a:srgbClr val="16233F"/>
          </a:solidFill>
          <a:ln/>
        </p:spPr>
      </p:sp>
      <p:sp>
        <p:nvSpPr>
          <p:cNvPr id="29" name="shape 18.28"/>
          <p:cNvSpPr/>
          <p:nvPr/>
        </p:nvSpPr>
        <p:spPr>
          <a:xfrm>
            <a:off x="10388340" y="368291"/>
            <a:ext cx="101597" cy="101597"/>
          </a:xfrm>
          <a:prstGeom prst="roundRect">
            <a:avLst>
              <a:gd name="adj" fmla="val 31250"/>
            </a:avLst>
          </a:prstGeom>
          <a:solidFill>
            <a:srgbClr val="16233F"/>
          </a:solidFill>
          <a:ln/>
        </p:spPr>
      </p:sp>
      <p:sp>
        <p:nvSpPr>
          <p:cNvPr id="30" name="shape 18.29"/>
          <p:cNvSpPr/>
          <p:nvPr/>
        </p:nvSpPr>
        <p:spPr>
          <a:xfrm>
            <a:off x="10553436" y="368291"/>
            <a:ext cx="101597" cy="101597"/>
          </a:xfrm>
          <a:prstGeom prst="roundRect">
            <a:avLst>
              <a:gd name="adj" fmla="val 31250"/>
            </a:avLst>
          </a:prstGeom>
          <a:solidFill>
            <a:srgbClr val="16233F"/>
          </a:solidFill>
          <a:ln/>
        </p:spPr>
      </p:sp>
      <p:sp>
        <p:nvSpPr>
          <p:cNvPr id="31" name="shape 18.30"/>
          <p:cNvSpPr/>
          <p:nvPr/>
        </p:nvSpPr>
        <p:spPr>
          <a:xfrm>
            <a:off x="10718532" y="368291"/>
            <a:ext cx="101597" cy="101597"/>
          </a:xfrm>
          <a:prstGeom prst="roundRect">
            <a:avLst>
              <a:gd name="adj" fmla="val 31250"/>
            </a:avLst>
          </a:prstGeom>
          <a:solidFill>
            <a:srgbClr val="43B832"/>
          </a:solidFill>
          <a:ln/>
        </p:spPr>
      </p:sp>
      <p:sp>
        <p:nvSpPr>
          <p:cNvPr id="32" name="shape 18.31"/>
          <p:cNvSpPr/>
          <p:nvPr/>
        </p:nvSpPr>
        <p:spPr>
          <a:xfrm>
            <a:off x="10883628" y="368291"/>
            <a:ext cx="101597" cy="101597"/>
          </a:xfrm>
          <a:prstGeom prst="roundRect">
            <a:avLst>
              <a:gd name="adj" fmla="val 31250"/>
            </a:avLst>
          </a:prstGeom>
          <a:solidFill>
            <a:srgbClr val="C7D4E8"/>
          </a:solidFill>
          <a:ln/>
        </p:spPr>
      </p:sp>
      <p:sp>
        <p:nvSpPr>
          <p:cNvPr id="33" name="text 18.32"/>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18</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34" name="text 18.33"/>
          <p:cNvSpPr txBox="1"/>
          <p:nvPr/>
        </p:nvSpPr>
        <p:spPr>
          <a:xfrm>
            <a:off x="927077" y="349241"/>
            <a:ext cx="1495062"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05 · Drafts &amp; prototypes</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9.1"/>
          <p:cNvSpPr/>
          <p:nvPr/>
        </p:nvSpPr>
        <p:spPr>
          <a:xfrm>
            <a:off x="609585" y="2184345"/>
            <a:ext cx="2628834" cy="1904952"/>
          </a:xfrm>
          <a:prstGeom prst="roundRect">
            <a:avLst>
              <a:gd name="adj" fmla="val 9333"/>
            </a:avLst>
          </a:prstGeom>
          <a:solidFill>
            <a:srgbClr val="E6F6E1"/>
          </a:solidFill>
          <a:ln/>
          <a:effectLst>
            <a:outerShdw sx="100000" sy="100000" kx="0" ky="0" algn="bl" rotWithShape="0" blurRad="203200" dist="76200" dir="5400000">
              <a:srgbClr val="1E468C">
                <a:alpha val="16000"/>
              </a:srgbClr>
            </a:outerShdw>
          </a:effectLst>
        </p:spPr>
      </p:sp>
      <p:sp>
        <p:nvSpPr>
          <p:cNvPr id="3" name="shape 19.2"/>
          <p:cNvSpPr/>
          <p:nvPr/>
        </p:nvSpPr>
        <p:spPr>
          <a:xfrm>
            <a:off x="3390815" y="2184345"/>
            <a:ext cx="2628834" cy="1904952"/>
          </a:xfrm>
          <a:prstGeom prst="roundRect">
            <a:avLst>
              <a:gd name="adj" fmla="val 9333"/>
            </a:avLst>
          </a:prstGeom>
          <a:solidFill>
            <a:srgbClr val="E2F4FD"/>
          </a:solidFill>
          <a:ln/>
          <a:effectLst>
            <a:outerShdw sx="100000" sy="100000" kx="0" ky="0" algn="bl" rotWithShape="0" blurRad="203200" dist="76200" dir="5400000">
              <a:srgbClr val="1E468C">
                <a:alpha val="16000"/>
              </a:srgbClr>
            </a:outerShdw>
          </a:effectLst>
        </p:spPr>
      </p:sp>
      <p:sp>
        <p:nvSpPr>
          <p:cNvPr id="4" name="shape 19.3"/>
          <p:cNvSpPr/>
          <p:nvPr/>
        </p:nvSpPr>
        <p:spPr>
          <a:xfrm>
            <a:off x="6172046" y="2184345"/>
            <a:ext cx="2628834" cy="1904952"/>
          </a:xfrm>
          <a:prstGeom prst="roundRect">
            <a:avLst>
              <a:gd name="adj" fmla="val 9333"/>
            </a:avLst>
          </a:prstGeom>
          <a:solidFill>
            <a:srgbClr val="FFF0E6"/>
          </a:solidFill>
          <a:ln/>
          <a:effectLst>
            <a:outerShdw sx="100000" sy="100000" kx="0" ky="0" algn="bl" rotWithShape="0" blurRad="203200" dist="76200" dir="5400000">
              <a:srgbClr val="1E468C">
                <a:alpha val="16000"/>
              </a:srgbClr>
            </a:outerShdw>
          </a:effectLst>
        </p:spPr>
      </p:sp>
      <p:sp>
        <p:nvSpPr>
          <p:cNvPr id="5" name="shape 19.4"/>
          <p:cNvSpPr/>
          <p:nvPr/>
        </p:nvSpPr>
        <p:spPr>
          <a:xfrm>
            <a:off x="8953276" y="2184345"/>
            <a:ext cx="2628834" cy="1904952"/>
          </a:xfrm>
          <a:prstGeom prst="roundRect">
            <a:avLst>
              <a:gd name="adj" fmla="val 9333"/>
            </a:avLst>
          </a:prstGeom>
          <a:solidFill>
            <a:srgbClr val="F0E8FF"/>
          </a:solidFill>
          <a:ln/>
          <a:effectLst>
            <a:outerShdw sx="100000" sy="100000" kx="0" ky="0" algn="bl" rotWithShape="0" blurRad="203200" dist="76200" dir="5400000">
              <a:srgbClr val="1E468C">
                <a:alpha val="16000"/>
              </a:srgbClr>
            </a:outerShdw>
          </a:effectLst>
        </p:spPr>
      </p:sp>
      <p:sp>
        <p:nvSpPr>
          <p:cNvPr id="6" name="shape 19.5"/>
          <p:cNvSpPr/>
          <p:nvPr/>
        </p:nvSpPr>
        <p:spPr>
          <a:xfrm>
            <a:off x="609585" y="4381390"/>
            <a:ext cx="3555911" cy="1879553"/>
          </a:xfrm>
          <a:prstGeom prst="roundRect">
            <a:avLst>
              <a:gd name="adj" fmla="val 9459"/>
            </a:avLst>
          </a:prstGeom>
          <a:solidFill>
            <a:srgbClr val="FFFFFF"/>
          </a:solidFill>
          <a:ln/>
          <a:effectLst>
            <a:outerShdw sx="100000" sy="100000" kx="0" ky="0" algn="bl" rotWithShape="0" blurRad="203200" dist="76200" dir="5400000">
              <a:srgbClr val="1E468C">
                <a:alpha val="16000"/>
              </a:srgbClr>
            </a:outerShdw>
          </a:effectLst>
        </p:spPr>
      </p:sp>
      <p:sp>
        <p:nvSpPr>
          <p:cNvPr id="7" name="shape 19.6"/>
          <p:cNvSpPr/>
          <p:nvPr/>
        </p:nvSpPr>
        <p:spPr>
          <a:xfrm>
            <a:off x="4317892" y="4381390"/>
            <a:ext cx="3555911" cy="1879553"/>
          </a:xfrm>
          <a:prstGeom prst="roundRect">
            <a:avLst>
              <a:gd name="adj" fmla="val 9459"/>
            </a:avLst>
          </a:prstGeom>
          <a:solidFill>
            <a:srgbClr val="FFFFFF"/>
          </a:solidFill>
          <a:ln/>
          <a:effectLst>
            <a:outerShdw sx="100000" sy="100000" kx="0" ky="0" algn="bl" rotWithShape="0" blurRad="203200" dist="76200" dir="5400000">
              <a:srgbClr val="1E468C">
                <a:alpha val="16000"/>
              </a:srgbClr>
            </a:outerShdw>
          </a:effectLst>
        </p:spPr>
      </p:sp>
      <p:sp>
        <p:nvSpPr>
          <p:cNvPr id="8" name="shape 19.7"/>
          <p:cNvSpPr/>
          <p:nvPr/>
        </p:nvSpPr>
        <p:spPr>
          <a:xfrm>
            <a:off x="8026199" y="4381390"/>
            <a:ext cx="3555911" cy="1879553"/>
          </a:xfrm>
          <a:prstGeom prst="roundRect">
            <a:avLst>
              <a:gd name="adj" fmla="val 9459"/>
            </a:avLst>
          </a:prstGeom>
          <a:solidFill>
            <a:srgbClr val="FFFFFF"/>
          </a:solidFill>
          <a:ln/>
          <a:effectLst>
            <a:outerShdw sx="100000" sy="100000" kx="0" ky="0" algn="bl" rotWithShape="0" blurRad="203200" dist="76200" dir="5400000">
              <a:srgbClr val="1E468C">
                <a:alpha val="16000"/>
              </a:srgbClr>
            </a:outerShdw>
          </a:effectLst>
        </p:spPr>
      </p:sp>
      <p:pic>
        <p:nvPicPr>
          <p:cNvPr id="9" name="raster 19.8" descr="diagram">    </p:cNvPr>
          <p:cNvPicPr>
            <a:picLocks noChangeAspect="1"/>
          </p:cNvPicPr>
          <p:nvPr/>
        </p:nvPicPr>
        <p:blipFill>
          <a:blip r:embed="rId2"/>
          <a:stretch>
            <a:fillRect/>
          </a:stretch>
        </p:blipFill>
        <p:spPr>
          <a:xfrm>
            <a:off x="1873203" y="1854154"/>
            <a:ext cx="8445289" cy="101597"/>
          </a:xfrm>
          <a:prstGeom prst="rect">
            <a:avLst/>
          </a:prstGeom>
        </p:spPr>
      </p:pic>
      <p:sp>
        <p:nvSpPr>
          <p:cNvPr id="10" name="text 19.9"/>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Roadmap: four presentations,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one playable step each</a:t>
            </a:r>
            <a:endParaRPr lang="en-US" sz="2700" dirty="0"/>
          </a:p>
        </p:txBody>
      </p:sp>
      <p:sp>
        <p:nvSpPr>
          <p:cNvPr id="11" name="text 19.10"/>
          <p:cNvSpPr txBox="1"/>
          <p:nvPr/>
        </p:nvSpPr>
        <p:spPr>
          <a:xfrm>
            <a:off x="609585" y="1498563"/>
            <a:ext cx="2461357"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COURSE CHECKPOINTS · ALL MONDAYS</a:t>
            </a:r>
            <a:endParaRPr lang="en-US" sz="750" dirty="0"/>
          </a:p>
        </p:txBody>
      </p:sp>
      <p:sp>
        <p:nvSpPr>
          <p:cNvPr id="12" name="shape 19.11"/>
          <p:cNvSpPr/>
          <p:nvPr/>
        </p:nvSpPr>
        <p:spPr>
          <a:xfrm>
            <a:off x="1797005" y="1777956"/>
            <a:ext cx="253994" cy="253994"/>
          </a:xfrm>
          <a:prstGeom prst="roundRect">
            <a:avLst>
              <a:gd name="adj" fmla="val 50000"/>
            </a:avLst>
          </a:prstGeom>
          <a:solidFill>
            <a:srgbClr val="43B832"/>
          </a:solidFill>
          <a:ln/>
        </p:spPr>
      </p:sp>
      <p:sp>
        <p:nvSpPr>
          <p:cNvPr id="13" name="text 19.12"/>
          <p:cNvSpPr txBox="1"/>
          <p:nvPr/>
        </p:nvSpPr>
        <p:spPr>
          <a:xfrm>
            <a:off x="787380" y="2374841"/>
            <a:ext cx="962170" cy="266693"/>
          </a:xfrm>
          <a:prstGeom prst="rect">
            <a:avLst/>
          </a:prstGeom>
          <a:noFill/>
          <a:ln/>
        </p:spPr>
        <p:txBody>
          <a:bodyPr wrap="square" lIns="0" tIns="0" rIns="0" bIns="0" rtlCol="0" anchor="t"/>
          <a:lstStyle/>
          <a:p>
            <a:pPr algn="l" indent="0" marL="0">
              <a:lnSpc>
                <a:spcPts val="2100"/>
              </a:lnSpc>
              <a:buNone/>
            </a:pPr>
            <a:r>
              <a:rPr lang="en-US" sz="2100" dirty="0">
                <a:solidFill>
                  <a:srgbClr val="43B832"/>
                </a:solidFill>
                <a:latin typeface="Arial Rounded MT Bold" pitchFamily="34" charset="0"/>
                <a:ea typeface="Arial Rounded MT Bold" pitchFamily="34" charset="-122"/>
                <a:cs typeface="Arial Rounded MT Bold" pitchFamily="34" charset="-120"/>
              </a:rPr>
              <a:t>19 Oct</a:t>
            </a:r>
            <a:endParaRPr lang="en-US" sz="2100" dirty="0"/>
          </a:p>
        </p:txBody>
      </p:sp>
      <p:sp>
        <p:nvSpPr>
          <p:cNvPr id="14" name="text 19.13"/>
          <p:cNvSpPr txBox="1"/>
          <p:nvPr/>
        </p:nvSpPr>
        <p:spPr>
          <a:xfrm>
            <a:off x="787380" y="2717732"/>
            <a:ext cx="875300"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Proposal</a:t>
            </a:r>
            <a:endParaRPr lang="en-US" sz="1400" dirty="0"/>
          </a:p>
        </p:txBody>
      </p:sp>
      <p:sp>
        <p:nvSpPr>
          <p:cNvPr id="15" name="text 19.14"/>
          <p:cNvSpPr txBox="1"/>
          <p:nvPr/>
        </p:nvSpPr>
        <p:spPr>
          <a:xfrm>
            <a:off x="787380" y="3009825"/>
            <a:ext cx="2324042" cy="391111"/>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Concept, research, prototype and drafts. This deck.</a:t>
            </a:r>
            <a:endParaRPr lang="en-US" sz="1100" dirty="0"/>
          </a:p>
        </p:txBody>
      </p:sp>
      <p:sp>
        <p:nvSpPr>
          <p:cNvPr id="16" name="shape 19.15"/>
          <p:cNvSpPr/>
          <p:nvPr/>
        </p:nvSpPr>
        <p:spPr>
          <a:xfrm>
            <a:off x="2451039" y="2412940"/>
            <a:ext cx="609585" cy="215895"/>
          </a:xfrm>
          <a:prstGeom prst="roundRect">
            <a:avLst>
              <a:gd name="adj" fmla="val 50000"/>
            </a:avLst>
          </a:prstGeom>
          <a:solidFill>
            <a:srgbClr val="43B832"/>
          </a:solidFill>
          <a:ln/>
        </p:spPr>
      </p:sp>
      <p:sp>
        <p:nvSpPr>
          <p:cNvPr id="17" name="text 19.16"/>
          <p:cNvSpPr txBox="1"/>
          <p:nvPr/>
        </p:nvSpPr>
        <p:spPr>
          <a:xfrm>
            <a:off x="2451039" y="2412940"/>
            <a:ext cx="609585" cy="215895"/>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DONE</a:t>
            </a:r>
            <a:endParaRPr lang="en-US" sz="700" dirty="0"/>
          </a:p>
        </p:txBody>
      </p:sp>
      <p:sp>
        <p:nvSpPr>
          <p:cNvPr id="18" name="shape 19.17"/>
          <p:cNvSpPr/>
          <p:nvPr/>
        </p:nvSpPr>
        <p:spPr>
          <a:xfrm>
            <a:off x="4578236" y="1777956"/>
            <a:ext cx="253994" cy="253994"/>
          </a:xfrm>
          <a:prstGeom prst="roundRect">
            <a:avLst>
              <a:gd name="adj" fmla="val 50000"/>
            </a:avLst>
          </a:prstGeom>
          <a:solidFill>
            <a:srgbClr val="1FA9EA"/>
          </a:solidFill>
          <a:ln/>
        </p:spPr>
      </p:sp>
      <p:sp>
        <p:nvSpPr>
          <p:cNvPr id="19" name="text 19.18"/>
          <p:cNvSpPr txBox="1"/>
          <p:nvPr/>
        </p:nvSpPr>
        <p:spPr>
          <a:xfrm>
            <a:off x="3568611" y="2374841"/>
            <a:ext cx="1005184" cy="266693"/>
          </a:xfrm>
          <a:prstGeom prst="rect">
            <a:avLst/>
          </a:prstGeom>
          <a:noFill/>
          <a:ln/>
        </p:spPr>
        <p:txBody>
          <a:bodyPr wrap="square" lIns="0" tIns="0" rIns="0" bIns="0" rtlCol="0" anchor="t"/>
          <a:lstStyle/>
          <a:p>
            <a:pPr algn="l" indent="0" marL="0">
              <a:lnSpc>
                <a:spcPts val="2100"/>
              </a:lnSpc>
              <a:buNone/>
            </a:pPr>
            <a:r>
              <a:rPr lang="en-US" sz="2100" dirty="0">
                <a:solidFill>
                  <a:srgbClr val="1FA9EA"/>
                </a:solidFill>
                <a:latin typeface="Arial Rounded MT Bold" pitchFamily="34" charset="0"/>
                <a:ea typeface="Arial Rounded MT Bold" pitchFamily="34" charset="-122"/>
                <a:cs typeface="Arial Rounded MT Bold" pitchFamily="34" charset="-120"/>
              </a:rPr>
              <a:t>16 Nov</a:t>
            </a:r>
            <a:endParaRPr lang="en-US" sz="2100" dirty="0"/>
          </a:p>
        </p:txBody>
      </p:sp>
      <p:sp>
        <p:nvSpPr>
          <p:cNvPr id="20" name="text 19.19"/>
          <p:cNvSpPr txBox="1"/>
          <p:nvPr/>
        </p:nvSpPr>
        <p:spPr>
          <a:xfrm>
            <a:off x="3568611" y="2717732"/>
            <a:ext cx="754776"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Demo 1</a:t>
            </a:r>
            <a:endParaRPr lang="en-US" sz="1400" dirty="0"/>
          </a:p>
        </p:txBody>
      </p:sp>
      <p:sp>
        <p:nvSpPr>
          <p:cNvPr id="21" name="text 19.20"/>
          <p:cNvSpPr txBox="1"/>
          <p:nvPr/>
        </p:nvSpPr>
        <p:spPr>
          <a:xfrm>
            <a:off x="3568611" y="3009825"/>
            <a:ext cx="2324042" cy="391111"/>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Shared core and LAN host/join. Ice Race playable as a blockout.</a:t>
            </a:r>
            <a:endParaRPr lang="en-US" sz="1100" dirty="0"/>
          </a:p>
        </p:txBody>
      </p:sp>
      <p:sp>
        <p:nvSpPr>
          <p:cNvPr id="22" name="shape 19.21"/>
          <p:cNvSpPr/>
          <p:nvPr/>
        </p:nvSpPr>
        <p:spPr>
          <a:xfrm>
            <a:off x="7359466" y="1777956"/>
            <a:ext cx="253994" cy="253994"/>
          </a:xfrm>
          <a:prstGeom prst="roundRect">
            <a:avLst>
              <a:gd name="adj" fmla="val 50000"/>
            </a:avLst>
          </a:prstGeom>
          <a:solidFill>
            <a:srgbClr val="FF6B1F"/>
          </a:solidFill>
          <a:ln/>
        </p:spPr>
      </p:sp>
      <p:sp>
        <p:nvSpPr>
          <p:cNvPr id="23" name="text 19.22"/>
          <p:cNvSpPr txBox="1"/>
          <p:nvPr/>
        </p:nvSpPr>
        <p:spPr>
          <a:xfrm>
            <a:off x="6349841" y="2374841"/>
            <a:ext cx="1015385" cy="266693"/>
          </a:xfrm>
          <a:prstGeom prst="rect">
            <a:avLst/>
          </a:prstGeom>
          <a:noFill/>
          <a:ln/>
        </p:spPr>
        <p:txBody>
          <a:bodyPr wrap="square" lIns="0" tIns="0" rIns="0" bIns="0" rtlCol="0" anchor="t"/>
          <a:lstStyle/>
          <a:p>
            <a:pPr algn="l" indent="0" marL="0">
              <a:lnSpc>
                <a:spcPts val="2100"/>
              </a:lnSpc>
              <a:buNone/>
            </a:pPr>
            <a:r>
              <a:rPr lang="en-US" sz="2100" dirty="0">
                <a:solidFill>
                  <a:srgbClr val="FF6B1F"/>
                </a:solidFill>
                <a:latin typeface="Arial Rounded MT Bold" pitchFamily="34" charset="0"/>
                <a:ea typeface="Arial Rounded MT Bold" pitchFamily="34" charset="-122"/>
                <a:cs typeface="Arial Rounded MT Bold" pitchFamily="34" charset="-120"/>
              </a:rPr>
              <a:t>14 Dec</a:t>
            </a:r>
            <a:endParaRPr lang="en-US" sz="2100" dirty="0"/>
          </a:p>
        </p:txBody>
      </p:sp>
      <p:sp>
        <p:nvSpPr>
          <p:cNvPr id="24" name="text 19.23"/>
          <p:cNvSpPr txBox="1"/>
          <p:nvPr/>
        </p:nvSpPr>
        <p:spPr>
          <a:xfrm>
            <a:off x="6349841" y="2717732"/>
            <a:ext cx="754776"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Demo 2</a:t>
            </a:r>
            <a:endParaRPr lang="en-US" sz="1400" dirty="0"/>
          </a:p>
        </p:txBody>
      </p:sp>
      <p:sp>
        <p:nvSpPr>
          <p:cNvPr id="25" name="text 19.24"/>
          <p:cNvSpPr txBox="1"/>
          <p:nvPr/>
        </p:nvSpPr>
        <p:spPr>
          <a:xfrm>
            <a:off x="6349841" y="3009825"/>
            <a:ext cx="2324042" cy="586666"/>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Mass Knockout over LAN. A full session with rounds and the scoreboard.</a:t>
            </a:r>
            <a:endParaRPr lang="en-US" sz="1100" dirty="0"/>
          </a:p>
        </p:txBody>
      </p:sp>
      <p:sp>
        <p:nvSpPr>
          <p:cNvPr id="26" name="shape 19.25"/>
          <p:cNvSpPr/>
          <p:nvPr/>
        </p:nvSpPr>
        <p:spPr>
          <a:xfrm>
            <a:off x="10140696" y="1777956"/>
            <a:ext cx="253994" cy="253994"/>
          </a:xfrm>
          <a:prstGeom prst="roundRect">
            <a:avLst>
              <a:gd name="adj" fmla="val 50000"/>
            </a:avLst>
          </a:prstGeom>
          <a:solidFill>
            <a:srgbClr val="8F55F5"/>
          </a:solidFill>
          <a:ln/>
        </p:spPr>
      </p:sp>
      <p:sp>
        <p:nvSpPr>
          <p:cNvPr id="27" name="text 19.26"/>
          <p:cNvSpPr txBox="1"/>
          <p:nvPr/>
        </p:nvSpPr>
        <p:spPr>
          <a:xfrm>
            <a:off x="9131072" y="2374841"/>
            <a:ext cx="971004" cy="266693"/>
          </a:xfrm>
          <a:prstGeom prst="rect">
            <a:avLst/>
          </a:prstGeom>
          <a:noFill/>
          <a:ln/>
        </p:spPr>
        <p:txBody>
          <a:bodyPr wrap="square" lIns="0" tIns="0" rIns="0" bIns="0" rtlCol="0" anchor="t"/>
          <a:lstStyle/>
          <a:p>
            <a:pPr algn="l" indent="0" marL="0">
              <a:lnSpc>
                <a:spcPts val="2100"/>
              </a:lnSpc>
              <a:buNone/>
            </a:pPr>
            <a:r>
              <a:rPr lang="en-US" sz="2100" dirty="0">
                <a:solidFill>
                  <a:srgbClr val="8F55F5"/>
                </a:solidFill>
                <a:latin typeface="Arial Rounded MT Bold" pitchFamily="34" charset="0"/>
                <a:ea typeface="Arial Rounded MT Bold" pitchFamily="34" charset="-122"/>
                <a:cs typeface="Arial Rounded MT Bold" pitchFamily="34" charset="-120"/>
              </a:rPr>
              <a:t>11 Jan</a:t>
            </a:r>
            <a:endParaRPr lang="en-US" sz="2100" dirty="0"/>
          </a:p>
        </p:txBody>
      </p:sp>
      <p:sp>
        <p:nvSpPr>
          <p:cNvPr id="28" name="text 19.27"/>
          <p:cNvSpPr txBox="1"/>
          <p:nvPr/>
        </p:nvSpPr>
        <p:spPr>
          <a:xfrm>
            <a:off x="9131072" y="2717732"/>
            <a:ext cx="502896"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Final</a:t>
            </a:r>
            <a:endParaRPr lang="en-US" sz="1400" dirty="0"/>
          </a:p>
        </p:txBody>
      </p:sp>
      <p:sp>
        <p:nvSpPr>
          <p:cNvPr id="29" name="text 19.28"/>
          <p:cNvSpPr txBox="1"/>
          <p:nvPr/>
        </p:nvSpPr>
        <p:spPr>
          <a:xfrm>
            <a:off x="9131072" y="3009825"/>
            <a:ext cx="2324042" cy="391111"/>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Tuned, polished build. Promo video. Date subject to change.</a:t>
            </a:r>
            <a:endParaRPr lang="en-US" sz="1100" dirty="0"/>
          </a:p>
        </p:txBody>
      </p:sp>
      <p:sp>
        <p:nvSpPr>
          <p:cNvPr id="30" name="shape 19.29"/>
          <p:cNvSpPr/>
          <p:nvPr/>
        </p:nvSpPr>
        <p:spPr>
          <a:xfrm>
            <a:off x="800080" y="4559186"/>
            <a:ext cx="698483" cy="215895"/>
          </a:xfrm>
          <a:prstGeom prst="roundRect">
            <a:avLst>
              <a:gd name="adj" fmla="val 50000"/>
            </a:avLst>
          </a:prstGeom>
          <a:solidFill>
            <a:srgbClr val="E2F4FD"/>
          </a:solidFill>
          <a:ln/>
        </p:spPr>
      </p:sp>
      <p:sp>
        <p:nvSpPr>
          <p:cNvPr id="31" name="text 19.30"/>
          <p:cNvSpPr txBox="1"/>
          <p:nvPr/>
        </p:nvSpPr>
        <p:spPr>
          <a:xfrm>
            <a:off x="800080" y="4559186"/>
            <a:ext cx="698483" cy="215895"/>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1FA9EA"/>
                </a:solidFill>
                <a:latin typeface="Arial" pitchFamily="34" charset="0"/>
                <a:ea typeface="Arial" pitchFamily="34" charset="-122"/>
                <a:cs typeface="Arial" pitchFamily="34" charset="-120"/>
              </a:rPr>
              <a:t>RISK 01</a:t>
            </a:r>
            <a:endParaRPr lang="en-US" sz="700" dirty="0"/>
          </a:p>
        </p:txBody>
      </p:sp>
      <p:sp>
        <p:nvSpPr>
          <p:cNvPr id="32" name="text 19.31"/>
          <p:cNvSpPr txBox="1"/>
          <p:nvPr/>
        </p:nvSpPr>
        <p:spPr>
          <a:xfrm>
            <a:off x="800080" y="4902077"/>
            <a:ext cx="2425915" cy="241294"/>
          </a:xfrm>
          <a:prstGeom prst="rect">
            <a:avLst/>
          </a:prstGeom>
          <a:noFill/>
          <a:ln/>
        </p:spPr>
        <p:txBody>
          <a:bodyPr wrap="square" lIns="0" tIns="0" rIns="0" bIns="0" rtlCol="0" anchor="t"/>
          <a:lstStyle/>
          <a:p>
            <a:pPr algn="l" indent="0" marL="0">
              <a:lnSpc>
                <a:spcPts val="1900"/>
              </a:lnSpc>
              <a:buNone/>
            </a:pPr>
            <a:r>
              <a:rPr lang="en-US" sz="1900" dirty="0">
                <a:solidFill>
                  <a:srgbClr val="1FA9EA"/>
                </a:solidFill>
                <a:latin typeface="Arial Rounded MT Bold" pitchFamily="34" charset="0"/>
                <a:ea typeface="Arial Rounded MT Bold" pitchFamily="34" charset="-122"/>
                <a:cs typeface="Arial Rounded MT Bold" pitchFamily="34" charset="-120"/>
              </a:rPr>
              <a:t>Networked physics</a:t>
            </a:r>
            <a:endParaRPr lang="en-US" sz="1900" dirty="0"/>
          </a:p>
        </p:txBody>
      </p:sp>
      <p:sp>
        <p:nvSpPr>
          <p:cNvPr id="33" name="text 19.32"/>
          <p:cNvSpPr txBox="1"/>
          <p:nvPr/>
        </p:nvSpPr>
        <p:spPr>
          <a:xfrm>
            <a:off x="800080" y="5270368"/>
            <a:ext cx="3213020" cy="188590"/>
          </a:xfrm>
          <a:prstGeom prst="rect">
            <a:avLst/>
          </a:prstGeom>
          <a:noFill/>
          <a:ln/>
        </p:spPr>
        <p:txBody>
          <a:bodyPr wrap="square" lIns="0" tIns="0" rIns="0" bIns="0" rtlCol="0" anchor="t"/>
          <a:lstStyle/>
          <a:p>
            <a:pPr algn="l" indent="0" marL="0">
              <a:lnSpc>
                <a:spcPts val="1480"/>
              </a:lnSpc>
              <a:buNone/>
            </a:pPr>
            <a:r>
              <a:rPr lang="en-US" sz="1100" b="1" dirty="0">
                <a:solidFill>
                  <a:srgbClr val="16233F"/>
                </a:solidFill>
                <a:latin typeface="Arial" pitchFamily="34" charset="0"/>
                <a:ea typeface="Arial" pitchFamily="34" charset="-122"/>
                <a:cs typeface="Arial" pitchFamily="34" charset="-120"/>
              </a:rPr>
              <a:t>Clients disagree on a knockback.</a:t>
            </a:r>
            <a:endParaRPr lang="en-US" sz="1100" dirty="0"/>
          </a:p>
        </p:txBody>
      </p:sp>
      <p:sp>
        <p:nvSpPr>
          <p:cNvPr id="34" name="text 19.33"/>
          <p:cNvSpPr txBox="1"/>
          <p:nvPr/>
        </p:nvSpPr>
        <p:spPr>
          <a:xfrm>
            <a:off x="800080" y="5524362"/>
            <a:ext cx="3213020" cy="195575"/>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Host simulates; clients only render and interpolate.</a:t>
            </a:r>
            <a:endParaRPr lang="en-US" sz="1100" dirty="0"/>
          </a:p>
        </p:txBody>
      </p:sp>
      <p:sp>
        <p:nvSpPr>
          <p:cNvPr id="35" name="shape 19.34"/>
          <p:cNvSpPr/>
          <p:nvPr/>
        </p:nvSpPr>
        <p:spPr>
          <a:xfrm>
            <a:off x="4508387" y="4559186"/>
            <a:ext cx="698483" cy="215895"/>
          </a:xfrm>
          <a:prstGeom prst="roundRect">
            <a:avLst>
              <a:gd name="adj" fmla="val 50000"/>
            </a:avLst>
          </a:prstGeom>
          <a:solidFill>
            <a:srgbClr val="FFF0E6"/>
          </a:solidFill>
          <a:ln/>
        </p:spPr>
      </p:sp>
      <p:sp>
        <p:nvSpPr>
          <p:cNvPr id="36" name="text 19.35"/>
          <p:cNvSpPr txBox="1"/>
          <p:nvPr/>
        </p:nvSpPr>
        <p:spPr>
          <a:xfrm>
            <a:off x="4508387" y="4559186"/>
            <a:ext cx="698483" cy="215895"/>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6B1F"/>
                </a:solidFill>
                <a:latin typeface="Arial" pitchFamily="34" charset="0"/>
                <a:ea typeface="Arial" pitchFamily="34" charset="-122"/>
                <a:cs typeface="Arial" pitchFamily="34" charset="-120"/>
              </a:rPr>
              <a:t>RISK 02</a:t>
            </a:r>
            <a:endParaRPr lang="en-US" sz="700" dirty="0"/>
          </a:p>
        </p:txBody>
      </p:sp>
      <p:sp>
        <p:nvSpPr>
          <p:cNvPr id="37" name="text 19.36"/>
          <p:cNvSpPr txBox="1"/>
          <p:nvPr/>
        </p:nvSpPr>
        <p:spPr>
          <a:xfrm>
            <a:off x="4508387" y="4902077"/>
            <a:ext cx="1079223" cy="241294"/>
          </a:xfrm>
          <a:prstGeom prst="rect">
            <a:avLst/>
          </a:prstGeom>
          <a:noFill/>
          <a:ln/>
        </p:spPr>
        <p:txBody>
          <a:bodyPr wrap="square" lIns="0" tIns="0" rIns="0" bIns="0" rtlCol="0" anchor="t"/>
          <a:lstStyle/>
          <a:p>
            <a:pPr algn="l" indent="0" marL="0">
              <a:lnSpc>
                <a:spcPts val="1900"/>
              </a:lnSpc>
              <a:buNone/>
            </a:pPr>
            <a:r>
              <a:rPr lang="en-US" sz="1900" dirty="0">
                <a:solidFill>
                  <a:srgbClr val="FF6B1F"/>
                </a:solidFill>
                <a:latin typeface="Arial Rounded MT Bold" pitchFamily="34" charset="0"/>
                <a:ea typeface="Arial Rounded MT Bold" pitchFamily="34" charset="-122"/>
                <a:cs typeface="Arial Rounded MT Bold" pitchFamily="34" charset="-120"/>
              </a:rPr>
              <a:t>Balance</a:t>
            </a:r>
            <a:endParaRPr lang="en-US" sz="1900" dirty="0"/>
          </a:p>
        </p:txBody>
      </p:sp>
      <p:sp>
        <p:nvSpPr>
          <p:cNvPr id="38" name="text 19.37"/>
          <p:cNvSpPr txBox="1"/>
          <p:nvPr/>
        </p:nvSpPr>
        <p:spPr>
          <a:xfrm>
            <a:off x="4508387" y="5270368"/>
            <a:ext cx="3213020" cy="188590"/>
          </a:xfrm>
          <a:prstGeom prst="rect">
            <a:avLst/>
          </a:prstGeom>
          <a:noFill/>
          <a:ln/>
        </p:spPr>
        <p:txBody>
          <a:bodyPr wrap="square" lIns="0" tIns="0" rIns="0" bIns="0" rtlCol="0" anchor="t"/>
          <a:lstStyle/>
          <a:p>
            <a:pPr algn="l" indent="0" marL="0">
              <a:lnSpc>
                <a:spcPts val="1480"/>
              </a:lnSpc>
              <a:buNone/>
            </a:pPr>
            <a:r>
              <a:rPr lang="en-US" sz="1100" b="1" dirty="0">
                <a:solidFill>
                  <a:srgbClr val="16233F"/>
                </a:solidFill>
                <a:latin typeface="Arial" pitchFamily="34" charset="0"/>
                <a:ea typeface="Arial" pitchFamily="34" charset="-122"/>
                <a:cs typeface="Arial" pitchFamily="34" charset="-120"/>
              </a:rPr>
              <a:t>Stalling, or a leader snowballing.</a:t>
            </a:r>
            <a:endParaRPr lang="en-US" sz="1100" dirty="0"/>
          </a:p>
        </p:txBody>
      </p:sp>
      <p:sp>
        <p:nvSpPr>
          <p:cNvPr id="39" name="text 19.38"/>
          <p:cNvSpPr txBox="1"/>
          <p:nvPr/>
        </p:nvSpPr>
        <p:spPr>
          <a:xfrm>
            <a:off x="4508387" y="5524362"/>
            <a:ext cx="3213020" cy="391111"/>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Score knockouts; full-mass respawn; timer; catch-up scoring.</a:t>
            </a:r>
            <a:endParaRPr lang="en-US" sz="1100" dirty="0"/>
          </a:p>
        </p:txBody>
      </p:sp>
      <p:sp>
        <p:nvSpPr>
          <p:cNvPr id="40" name="shape 19.39"/>
          <p:cNvSpPr/>
          <p:nvPr/>
        </p:nvSpPr>
        <p:spPr>
          <a:xfrm>
            <a:off x="8216695" y="4559186"/>
            <a:ext cx="698483" cy="215895"/>
          </a:xfrm>
          <a:prstGeom prst="roundRect">
            <a:avLst>
              <a:gd name="adj" fmla="val 50000"/>
            </a:avLst>
          </a:prstGeom>
          <a:solidFill>
            <a:srgbClr val="F0E8FF"/>
          </a:solidFill>
          <a:ln/>
        </p:spPr>
      </p:sp>
      <p:sp>
        <p:nvSpPr>
          <p:cNvPr id="41" name="text 19.40"/>
          <p:cNvSpPr txBox="1"/>
          <p:nvPr/>
        </p:nvSpPr>
        <p:spPr>
          <a:xfrm>
            <a:off x="8216695" y="4559186"/>
            <a:ext cx="698483" cy="215895"/>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8F55F5"/>
                </a:solidFill>
                <a:latin typeface="Arial" pitchFamily="34" charset="0"/>
                <a:ea typeface="Arial" pitchFamily="34" charset="-122"/>
                <a:cs typeface="Arial" pitchFamily="34" charset="-120"/>
              </a:rPr>
              <a:t>RISK 03</a:t>
            </a:r>
            <a:endParaRPr lang="en-US" sz="700" dirty="0"/>
          </a:p>
        </p:txBody>
      </p:sp>
      <p:sp>
        <p:nvSpPr>
          <p:cNvPr id="42" name="text 19.41"/>
          <p:cNvSpPr txBox="1"/>
          <p:nvPr/>
        </p:nvSpPr>
        <p:spPr>
          <a:xfrm>
            <a:off x="8216695" y="4902077"/>
            <a:ext cx="852478" cy="241294"/>
          </a:xfrm>
          <a:prstGeom prst="rect">
            <a:avLst/>
          </a:prstGeom>
          <a:noFill/>
          <a:ln/>
        </p:spPr>
        <p:txBody>
          <a:bodyPr wrap="square" lIns="0" tIns="0" rIns="0" bIns="0" rtlCol="0" anchor="t"/>
          <a:lstStyle/>
          <a:p>
            <a:pPr algn="l" indent="0" marL="0">
              <a:lnSpc>
                <a:spcPts val="1900"/>
              </a:lnSpc>
              <a:buNone/>
            </a:pPr>
            <a:r>
              <a:rPr lang="en-US" sz="1900" dirty="0">
                <a:solidFill>
                  <a:srgbClr val="8F55F5"/>
                </a:solidFill>
                <a:latin typeface="Arial Rounded MT Bold" pitchFamily="34" charset="0"/>
                <a:ea typeface="Arial Rounded MT Bold" pitchFamily="34" charset="-122"/>
                <a:cs typeface="Arial Rounded MT Bold" pitchFamily="34" charset="-120"/>
              </a:rPr>
              <a:t>Scope</a:t>
            </a:r>
            <a:endParaRPr lang="en-US" sz="1900" dirty="0"/>
          </a:p>
        </p:txBody>
      </p:sp>
      <p:sp>
        <p:nvSpPr>
          <p:cNvPr id="43" name="text 19.42"/>
          <p:cNvSpPr txBox="1"/>
          <p:nvPr/>
        </p:nvSpPr>
        <p:spPr>
          <a:xfrm>
            <a:off x="8216695" y="5270368"/>
            <a:ext cx="3213020" cy="188590"/>
          </a:xfrm>
          <a:prstGeom prst="rect">
            <a:avLst/>
          </a:prstGeom>
          <a:noFill/>
          <a:ln/>
        </p:spPr>
        <p:txBody>
          <a:bodyPr wrap="square" lIns="0" tIns="0" rIns="0" bIns="0" rtlCol="0" anchor="t"/>
          <a:lstStyle/>
          <a:p>
            <a:pPr algn="l" indent="0" marL="0">
              <a:lnSpc>
                <a:spcPts val="1480"/>
              </a:lnSpc>
              <a:buNone/>
            </a:pPr>
            <a:r>
              <a:rPr lang="en-US" sz="1100" b="1" dirty="0">
                <a:solidFill>
                  <a:srgbClr val="16233F"/>
                </a:solidFill>
                <a:latin typeface="Arial" pitchFamily="34" charset="0"/>
                <a:ea typeface="Arial" pitchFamily="34" charset="-122"/>
                <a:cs typeface="Arial" pitchFamily="34" charset="-120"/>
              </a:rPr>
              <a:t>Too many mini-games for one term.</a:t>
            </a:r>
            <a:endParaRPr lang="en-US" sz="1100" dirty="0"/>
          </a:p>
        </p:txBody>
      </p:sp>
      <p:sp>
        <p:nvSpPr>
          <p:cNvPr id="44" name="text 19.43"/>
          <p:cNvSpPr txBox="1"/>
          <p:nvPr/>
        </p:nvSpPr>
        <p:spPr>
          <a:xfrm>
            <a:off x="8216695" y="5524362"/>
            <a:ext cx="3213020" cy="391111"/>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Exactly two in the MVP. More only once both are fun.</a:t>
            </a:r>
            <a:endParaRPr lang="en-US" sz="1100" dirty="0"/>
          </a:p>
        </p:txBody>
      </p:sp>
      <p:sp>
        <p:nvSpPr>
          <p:cNvPr id="45" name="shape 19.44"/>
          <p:cNvSpPr/>
          <p:nvPr/>
        </p:nvSpPr>
        <p:spPr>
          <a:xfrm>
            <a:off x="609585" y="266693"/>
            <a:ext cx="1829945"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6" name="shape 19.45"/>
          <p:cNvSpPr/>
          <p:nvPr/>
        </p:nvSpPr>
        <p:spPr>
          <a:xfrm>
            <a:off x="711182" y="355591"/>
            <a:ext cx="114297" cy="114297"/>
          </a:xfrm>
          <a:prstGeom prst="roundRect">
            <a:avLst>
              <a:gd name="adj" fmla="val 33333"/>
            </a:avLst>
          </a:prstGeom>
          <a:solidFill>
            <a:srgbClr val="1FA9EA"/>
          </a:solidFill>
          <a:ln/>
        </p:spPr>
      </p:sp>
      <p:sp>
        <p:nvSpPr>
          <p:cNvPr id="47" name="shape 19.46"/>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8" name="shape 19.47"/>
          <p:cNvSpPr/>
          <p:nvPr/>
        </p:nvSpPr>
        <p:spPr>
          <a:xfrm>
            <a:off x="10058149" y="368291"/>
            <a:ext cx="101597" cy="101597"/>
          </a:xfrm>
          <a:prstGeom prst="roundRect">
            <a:avLst>
              <a:gd name="adj" fmla="val 31250"/>
            </a:avLst>
          </a:prstGeom>
          <a:solidFill>
            <a:srgbClr val="16233F"/>
          </a:solidFill>
          <a:ln/>
        </p:spPr>
      </p:sp>
      <p:sp>
        <p:nvSpPr>
          <p:cNvPr id="49" name="shape 19.48"/>
          <p:cNvSpPr/>
          <p:nvPr/>
        </p:nvSpPr>
        <p:spPr>
          <a:xfrm>
            <a:off x="10223244" y="368291"/>
            <a:ext cx="101597" cy="101597"/>
          </a:xfrm>
          <a:prstGeom prst="roundRect">
            <a:avLst>
              <a:gd name="adj" fmla="val 31250"/>
            </a:avLst>
          </a:prstGeom>
          <a:solidFill>
            <a:srgbClr val="16233F"/>
          </a:solidFill>
          <a:ln/>
        </p:spPr>
      </p:sp>
      <p:sp>
        <p:nvSpPr>
          <p:cNvPr id="50" name="shape 19.49"/>
          <p:cNvSpPr/>
          <p:nvPr/>
        </p:nvSpPr>
        <p:spPr>
          <a:xfrm>
            <a:off x="10388340" y="368291"/>
            <a:ext cx="101597" cy="101597"/>
          </a:xfrm>
          <a:prstGeom prst="roundRect">
            <a:avLst>
              <a:gd name="adj" fmla="val 31250"/>
            </a:avLst>
          </a:prstGeom>
          <a:solidFill>
            <a:srgbClr val="16233F"/>
          </a:solidFill>
          <a:ln/>
        </p:spPr>
      </p:sp>
      <p:sp>
        <p:nvSpPr>
          <p:cNvPr id="51" name="shape 19.50"/>
          <p:cNvSpPr/>
          <p:nvPr/>
        </p:nvSpPr>
        <p:spPr>
          <a:xfrm>
            <a:off x="10553436" y="368291"/>
            <a:ext cx="101597" cy="101597"/>
          </a:xfrm>
          <a:prstGeom prst="roundRect">
            <a:avLst>
              <a:gd name="adj" fmla="val 31250"/>
            </a:avLst>
          </a:prstGeom>
          <a:solidFill>
            <a:srgbClr val="16233F"/>
          </a:solidFill>
          <a:ln/>
        </p:spPr>
      </p:sp>
      <p:sp>
        <p:nvSpPr>
          <p:cNvPr id="52" name="shape 19.51"/>
          <p:cNvSpPr/>
          <p:nvPr/>
        </p:nvSpPr>
        <p:spPr>
          <a:xfrm>
            <a:off x="10718532" y="368291"/>
            <a:ext cx="101597" cy="101597"/>
          </a:xfrm>
          <a:prstGeom prst="roundRect">
            <a:avLst>
              <a:gd name="adj" fmla="val 31250"/>
            </a:avLst>
          </a:prstGeom>
          <a:solidFill>
            <a:srgbClr val="16233F"/>
          </a:solidFill>
          <a:ln/>
        </p:spPr>
      </p:sp>
      <p:sp>
        <p:nvSpPr>
          <p:cNvPr id="53" name="shape 19.52"/>
          <p:cNvSpPr/>
          <p:nvPr/>
        </p:nvSpPr>
        <p:spPr>
          <a:xfrm>
            <a:off x="10883628" y="368291"/>
            <a:ext cx="101597" cy="101597"/>
          </a:xfrm>
          <a:prstGeom prst="roundRect">
            <a:avLst>
              <a:gd name="adj" fmla="val 31250"/>
            </a:avLst>
          </a:prstGeom>
          <a:solidFill>
            <a:srgbClr val="1FA9EA"/>
          </a:solidFill>
          <a:ln/>
        </p:spPr>
      </p:sp>
      <p:sp>
        <p:nvSpPr>
          <p:cNvPr id="54" name="text 19.53"/>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19</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55" name="text 19.54"/>
          <p:cNvSpPr txBox="1"/>
          <p:nvPr/>
        </p:nvSpPr>
        <p:spPr>
          <a:xfrm>
            <a:off x="927077" y="349241"/>
            <a:ext cx="1400305"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06 · Development plan</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0.1"/>
          <p:cNvSpPr/>
          <p:nvPr/>
        </p:nvSpPr>
        <p:spPr>
          <a:xfrm>
            <a:off x="609585" y="1523962"/>
            <a:ext cx="10972526" cy="4546486"/>
          </a:xfrm>
          <a:prstGeom prst="roundRect">
            <a:avLst>
              <a:gd name="adj" fmla="val 3911"/>
            </a:avLst>
          </a:prstGeom>
          <a:solidFill>
            <a:srgbClr val="FFFFFF"/>
          </a:solidFill>
          <a:ln/>
          <a:effectLst>
            <a:outerShdw sx="100000" sy="100000" kx="0" ky="0" algn="bl" rotWithShape="0" blurRad="203200" dist="76200" dir="5400000">
              <a:srgbClr val="1E468C">
                <a:alpha val="16000"/>
              </a:srgbClr>
            </a:outerShdw>
          </a:effectLst>
        </p:spPr>
      </p:sp>
      <p:sp>
        <p:nvSpPr>
          <p:cNvPr id="3" name="shape 20.2"/>
          <p:cNvSpPr/>
          <p:nvPr/>
        </p:nvSpPr>
        <p:spPr>
          <a:xfrm>
            <a:off x="698483" y="2324042"/>
            <a:ext cx="10794730" cy="292093"/>
          </a:xfrm>
          <a:prstGeom prst="roundRect">
            <a:avLst>
              <a:gd name="adj" fmla="val 30435"/>
            </a:avLst>
          </a:prstGeom>
          <a:solidFill>
            <a:srgbClr val="F1F5FB"/>
          </a:solidFill>
          <a:ln/>
        </p:spPr>
      </p:sp>
      <p:pic>
        <p:nvPicPr>
          <p:cNvPr id="4" name="raster 20.3" descr="diagram">    </p:cNvPr>
          <p:cNvPicPr>
            <a:picLocks noChangeAspect="1"/>
          </p:cNvPicPr>
          <p:nvPr/>
        </p:nvPicPr>
        <p:blipFill>
          <a:blip r:embed="rId2"/>
          <a:stretch>
            <a:fillRect/>
          </a:stretch>
        </p:blipFill>
        <p:spPr>
          <a:xfrm>
            <a:off x="6311742" y="2578036"/>
            <a:ext cx="5168771" cy="3428914"/>
          </a:xfrm>
          <a:prstGeom prst="rect">
            <a:avLst/>
          </a:prstGeom>
        </p:spPr>
      </p:pic>
      <p:sp>
        <p:nvSpPr>
          <p:cNvPr id="5" name="shape 20.4"/>
          <p:cNvSpPr/>
          <p:nvPr/>
        </p:nvSpPr>
        <p:spPr>
          <a:xfrm>
            <a:off x="761981" y="2971726"/>
            <a:ext cx="5524362" cy="9525"/>
          </a:xfrm>
          <a:prstGeom prst="rect">
            <a:avLst/>
          </a:prstGeom>
          <a:solidFill>
            <a:srgbClr val="EEF2F8"/>
          </a:solidFill>
          <a:ln/>
        </p:spPr>
      </p:sp>
      <p:sp>
        <p:nvSpPr>
          <p:cNvPr id="6" name="shape 20.5"/>
          <p:cNvSpPr/>
          <p:nvPr/>
        </p:nvSpPr>
        <p:spPr>
          <a:xfrm>
            <a:off x="761981" y="3301917"/>
            <a:ext cx="5524362" cy="9525"/>
          </a:xfrm>
          <a:prstGeom prst="rect">
            <a:avLst/>
          </a:prstGeom>
          <a:solidFill>
            <a:srgbClr val="EEF2F8"/>
          </a:solidFill>
          <a:ln/>
        </p:spPr>
      </p:sp>
      <p:sp>
        <p:nvSpPr>
          <p:cNvPr id="7" name="shape 20.6"/>
          <p:cNvSpPr/>
          <p:nvPr/>
        </p:nvSpPr>
        <p:spPr>
          <a:xfrm>
            <a:off x="761981" y="3632109"/>
            <a:ext cx="5524362" cy="9525"/>
          </a:xfrm>
          <a:prstGeom prst="rect">
            <a:avLst/>
          </a:prstGeom>
          <a:solidFill>
            <a:srgbClr val="EEF2F8"/>
          </a:solidFill>
          <a:ln/>
        </p:spPr>
      </p:sp>
      <p:sp>
        <p:nvSpPr>
          <p:cNvPr id="8" name="shape 20.7"/>
          <p:cNvSpPr/>
          <p:nvPr/>
        </p:nvSpPr>
        <p:spPr>
          <a:xfrm>
            <a:off x="761981" y="3962301"/>
            <a:ext cx="5524362" cy="9525"/>
          </a:xfrm>
          <a:prstGeom prst="rect">
            <a:avLst/>
          </a:prstGeom>
          <a:solidFill>
            <a:srgbClr val="EEF2F8"/>
          </a:solidFill>
          <a:ln/>
        </p:spPr>
      </p:sp>
      <p:sp>
        <p:nvSpPr>
          <p:cNvPr id="9" name="shape 20.8"/>
          <p:cNvSpPr/>
          <p:nvPr/>
        </p:nvSpPr>
        <p:spPr>
          <a:xfrm>
            <a:off x="761981" y="4292493"/>
            <a:ext cx="5524362" cy="9525"/>
          </a:xfrm>
          <a:prstGeom prst="rect">
            <a:avLst/>
          </a:prstGeom>
          <a:solidFill>
            <a:srgbClr val="EEF2F8"/>
          </a:solidFill>
          <a:ln/>
        </p:spPr>
      </p:sp>
      <p:sp>
        <p:nvSpPr>
          <p:cNvPr id="10" name="shape 20.9"/>
          <p:cNvSpPr/>
          <p:nvPr/>
        </p:nvSpPr>
        <p:spPr>
          <a:xfrm>
            <a:off x="761981" y="4622684"/>
            <a:ext cx="5524362" cy="9525"/>
          </a:xfrm>
          <a:prstGeom prst="rect">
            <a:avLst/>
          </a:prstGeom>
          <a:solidFill>
            <a:srgbClr val="EEF2F8"/>
          </a:solidFill>
          <a:ln/>
        </p:spPr>
      </p:sp>
      <p:sp>
        <p:nvSpPr>
          <p:cNvPr id="11" name="shape 20.10"/>
          <p:cNvSpPr/>
          <p:nvPr/>
        </p:nvSpPr>
        <p:spPr>
          <a:xfrm>
            <a:off x="761981" y="4952876"/>
            <a:ext cx="5524362" cy="9525"/>
          </a:xfrm>
          <a:prstGeom prst="rect">
            <a:avLst/>
          </a:prstGeom>
          <a:solidFill>
            <a:srgbClr val="EEF2F8"/>
          </a:solidFill>
          <a:ln/>
        </p:spPr>
      </p:sp>
      <p:sp>
        <p:nvSpPr>
          <p:cNvPr id="12" name="shape 20.11"/>
          <p:cNvSpPr/>
          <p:nvPr/>
        </p:nvSpPr>
        <p:spPr>
          <a:xfrm>
            <a:off x="761981" y="5283068"/>
            <a:ext cx="5524362" cy="9525"/>
          </a:xfrm>
          <a:prstGeom prst="rect">
            <a:avLst/>
          </a:prstGeom>
          <a:solidFill>
            <a:srgbClr val="EEF2F8"/>
          </a:solidFill>
          <a:ln/>
        </p:spPr>
      </p:sp>
      <p:sp>
        <p:nvSpPr>
          <p:cNvPr id="13" name="shape 20.12"/>
          <p:cNvSpPr/>
          <p:nvPr/>
        </p:nvSpPr>
        <p:spPr>
          <a:xfrm>
            <a:off x="761981" y="5613260"/>
            <a:ext cx="5524362" cy="9525"/>
          </a:xfrm>
          <a:prstGeom prst="rect">
            <a:avLst/>
          </a:prstGeom>
          <a:solidFill>
            <a:srgbClr val="EEF2F8"/>
          </a:solidFill>
          <a:ln/>
        </p:spPr>
      </p:sp>
      <p:sp>
        <p:nvSpPr>
          <p:cNvPr id="14" name="text 20.13"/>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Gantt chart: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demo 1</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the shared core and Ice Race</a:t>
            </a:r>
            <a:endParaRPr lang="en-US" sz="2700" dirty="0"/>
          </a:p>
        </p:txBody>
      </p:sp>
      <p:sp>
        <p:nvSpPr>
          <p:cNvPr id="15" name="text 20.14"/>
          <p:cNvSpPr txBox="1"/>
          <p:nvPr/>
        </p:nvSpPr>
        <p:spPr>
          <a:xfrm>
            <a:off x="761981" y="1917652"/>
            <a:ext cx="457189"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WBS</a:t>
            </a:r>
            <a:endParaRPr lang="en-US" sz="750" dirty="0"/>
          </a:p>
        </p:txBody>
      </p:sp>
      <p:sp>
        <p:nvSpPr>
          <p:cNvPr id="16" name="text 20.15"/>
          <p:cNvSpPr txBox="1"/>
          <p:nvPr/>
        </p:nvSpPr>
        <p:spPr>
          <a:xfrm>
            <a:off x="1244569" y="1917652"/>
            <a:ext cx="3149521"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TASK</a:t>
            </a:r>
            <a:endParaRPr lang="en-US" sz="750" dirty="0"/>
          </a:p>
        </p:txBody>
      </p:sp>
      <p:sp>
        <p:nvSpPr>
          <p:cNvPr id="17" name="text 20.16"/>
          <p:cNvSpPr txBox="1"/>
          <p:nvPr/>
        </p:nvSpPr>
        <p:spPr>
          <a:xfrm>
            <a:off x="4419490" y="1917652"/>
            <a:ext cx="118107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OWNER</a:t>
            </a:r>
            <a:endParaRPr lang="en-US" sz="750" dirty="0"/>
          </a:p>
        </p:txBody>
      </p:sp>
      <p:sp>
        <p:nvSpPr>
          <p:cNvPr id="18" name="text 20.17"/>
          <p:cNvSpPr txBox="1"/>
          <p:nvPr/>
        </p:nvSpPr>
        <p:spPr>
          <a:xfrm>
            <a:off x="5625959" y="1917652"/>
            <a:ext cx="67308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DURATION</a:t>
            </a:r>
            <a:endParaRPr lang="en-US" sz="750" dirty="0"/>
          </a:p>
        </p:txBody>
      </p:sp>
      <p:sp>
        <p:nvSpPr>
          <p:cNvPr id="19" name="text 20.18"/>
          <p:cNvSpPr txBox="1"/>
          <p:nvPr/>
        </p:nvSpPr>
        <p:spPr>
          <a:xfrm>
            <a:off x="6362541"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19–23 Oct</a:t>
            </a:r>
            <a:endParaRPr lang="en-US" sz="900" dirty="0"/>
          </a:p>
        </p:txBody>
      </p:sp>
      <p:sp>
        <p:nvSpPr>
          <p:cNvPr id="20" name="shape 20.19"/>
          <p:cNvSpPr/>
          <p:nvPr/>
        </p:nvSpPr>
        <p:spPr>
          <a:xfrm>
            <a:off x="6387940" y="1854154"/>
            <a:ext cx="1215995" cy="203195"/>
          </a:xfrm>
          <a:prstGeom prst="roundRect">
            <a:avLst>
              <a:gd name="adj" fmla="val 50000"/>
            </a:avLst>
          </a:prstGeom>
          <a:solidFill>
            <a:srgbClr val="1FA9EA"/>
          </a:solidFill>
          <a:ln/>
        </p:spPr>
      </p:sp>
      <p:sp>
        <p:nvSpPr>
          <p:cNvPr id="21" name="text 20.20"/>
          <p:cNvSpPr txBox="1"/>
          <p:nvPr/>
        </p:nvSpPr>
        <p:spPr>
          <a:xfrm>
            <a:off x="6387940"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3</a:t>
            </a:r>
            <a:endParaRPr lang="en-US" sz="800" dirty="0"/>
          </a:p>
        </p:txBody>
      </p:sp>
      <p:sp>
        <p:nvSpPr>
          <p:cNvPr id="22" name="text 20.21"/>
          <p:cNvSpPr txBox="1"/>
          <p:nvPr/>
        </p:nvSpPr>
        <p:spPr>
          <a:xfrm>
            <a:off x="6362541"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23" name="text 20.22"/>
          <p:cNvSpPr txBox="1"/>
          <p:nvPr/>
        </p:nvSpPr>
        <p:spPr>
          <a:xfrm>
            <a:off x="6615840"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24" name="text 20.23"/>
          <p:cNvSpPr txBox="1"/>
          <p:nvPr/>
        </p:nvSpPr>
        <p:spPr>
          <a:xfrm>
            <a:off x="686923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25" name="text 20.24"/>
          <p:cNvSpPr txBox="1"/>
          <p:nvPr/>
        </p:nvSpPr>
        <p:spPr>
          <a:xfrm>
            <a:off x="712253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26" name="text 20.25"/>
          <p:cNvSpPr txBox="1"/>
          <p:nvPr/>
        </p:nvSpPr>
        <p:spPr>
          <a:xfrm>
            <a:off x="7375936"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27" name="text 20.26"/>
          <p:cNvSpPr txBox="1"/>
          <p:nvPr/>
        </p:nvSpPr>
        <p:spPr>
          <a:xfrm>
            <a:off x="7629334"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26–30 Oct</a:t>
            </a:r>
            <a:endParaRPr lang="en-US" sz="900" dirty="0"/>
          </a:p>
        </p:txBody>
      </p:sp>
      <p:sp>
        <p:nvSpPr>
          <p:cNvPr id="28" name="shape 20.27"/>
          <p:cNvSpPr/>
          <p:nvPr/>
        </p:nvSpPr>
        <p:spPr>
          <a:xfrm>
            <a:off x="7654734" y="1854154"/>
            <a:ext cx="1215995" cy="203195"/>
          </a:xfrm>
          <a:prstGeom prst="roundRect">
            <a:avLst>
              <a:gd name="adj" fmla="val 50000"/>
            </a:avLst>
          </a:prstGeom>
          <a:solidFill>
            <a:srgbClr val="1FA9EA"/>
          </a:solidFill>
          <a:ln/>
        </p:spPr>
      </p:sp>
      <p:sp>
        <p:nvSpPr>
          <p:cNvPr id="29" name="text 20.28"/>
          <p:cNvSpPr txBox="1"/>
          <p:nvPr/>
        </p:nvSpPr>
        <p:spPr>
          <a:xfrm>
            <a:off x="7654734"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4</a:t>
            </a:r>
            <a:endParaRPr lang="en-US" sz="800" dirty="0"/>
          </a:p>
        </p:txBody>
      </p:sp>
      <p:sp>
        <p:nvSpPr>
          <p:cNvPr id="30" name="text 20.29"/>
          <p:cNvSpPr txBox="1"/>
          <p:nvPr/>
        </p:nvSpPr>
        <p:spPr>
          <a:xfrm>
            <a:off x="7629334"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31" name="text 20.30"/>
          <p:cNvSpPr txBox="1"/>
          <p:nvPr/>
        </p:nvSpPr>
        <p:spPr>
          <a:xfrm>
            <a:off x="7882633"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32" name="text 20.31"/>
          <p:cNvSpPr txBox="1"/>
          <p:nvPr/>
        </p:nvSpPr>
        <p:spPr>
          <a:xfrm>
            <a:off x="8136032"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33" name="text 20.32"/>
          <p:cNvSpPr txBox="1"/>
          <p:nvPr/>
        </p:nvSpPr>
        <p:spPr>
          <a:xfrm>
            <a:off x="8389331"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34" name="text 20.33"/>
          <p:cNvSpPr txBox="1"/>
          <p:nvPr/>
        </p:nvSpPr>
        <p:spPr>
          <a:xfrm>
            <a:off x="8642729"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35" name="text 20.34"/>
          <p:cNvSpPr txBox="1"/>
          <p:nvPr/>
        </p:nvSpPr>
        <p:spPr>
          <a:xfrm>
            <a:off x="8896128"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2–6 Nov</a:t>
            </a:r>
            <a:endParaRPr lang="en-US" sz="900" dirty="0"/>
          </a:p>
        </p:txBody>
      </p:sp>
      <p:sp>
        <p:nvSpPr>
          <p:cNvPr id="36" name="shape 20.35"/>
          <p:cNvSpPr/>
          <p:nvPr/>
        </p:nvSpPr>
        <p:spPr>
          <a:xfrm>
            <a:off x="8921527" y="1854154"/>
            <a:ext cx="1215995" cy="203195"/>
          </a:xfrm>
          <a:prstGeom prst="roundRect">
            <a:avLst>
              <a:gd name="adj" fmla="val 50000"/>
            </a:avLst>
          </a:prstGeom>
          <a:solidFill>
            <a:srgbClr val="1FA9EA"/>
          </a:solidFill>
          <a:ln/>
        </p:spPr>
      </p:sp>
      <p:sp>
        <p:nvSpPr>
          <p:cNvPr id="37" name="text 20.36"/>
          <p:cNvSpPr txBox="1"/>
          <p:nvPr/>
        </p:nvSpPr>
        <p:spPr>
          <a:xfrm>
            <a:off x="8921527"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5</a:t>
            </a:r>
            <a:endParaRPr lang="en-US" sz="800" dirty="0"/>
          </a:p>
        </p:txBody>
      </p:sp>
      <p:sp>
        <p:nvSpPr>
          <p:cNvPr id="38" name="text 20.37"/>
          <p:cNvSpPr txBox="1"/>
          <p:nvPr/>
        </p:nvSpPr>
        <p:spPr>
          <a:xfrm>
            <a:off x="889612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39" name="text 20.38"/>
          <p:cNvSpPr txBox="1"/>
          <p:nvPr/>
        </p:nvSpPr>
        <p:spPr>
          <a:xfrm>
            <a:off x="9149427"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40" name="text 20.39"/>
          <p:cNvSpPr txBox="1"/>
          <p:nvPr/>
        </p:nvSpPr>
        <p:spPr>
          <a:xfrm>
            <a:off x="9402825"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41" name="text 20.40"/>
          <p:cNvSpPr txBox="1"/>
          <p:nvPr/>
        </p:nvSpPr>
        <p:spPr>
          <a:xfrm>
            <a:off x="9656124"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42" name="text 20.41"/>
          <p:cNvSpPr txBox="1"/>
          <p:nvPr/>
        </p:nvSpPr>
        <p:spPr>
          <a:xfrm>
            <a:off x="9909523"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43" name="text 20.42"/>
          <p:cNvSpPr txBox="1"/>
          <p:nvPr/>
        </p:nvSpPr>
        <p:spPr>
          <a:xfrm>
            <a:off x="10162921"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9–13 Nov</a:t>
            </a:r>
            <a:endParaRPr lang="en-US" sz="900" dirty="0"/>
          </a:p>
        </p:txBody>
      </p:sp>
      <p:sp>
        <p:nvSpPr>
          <p:cNvPr id="44" name="shape 20.43"/>
          <p:cNvSpPr/>
          <p:nvPr/>
        </p:nvSpPr>
        <p:spPr>
          <a:xfrm>
            <a:off x="10188320" y="1854154"/>
            <a:ext cx="1215995" cy="203195"/>
          </a:xfrm>
          <a:prstGeom prst="roundRect">
            <a:avLst>
              <a:gd name="adj" fmla="val 50000"/>
            </a:avLst>
          </a:prstGeom>
          <a:solidFill>
            <a:srgbClr val="1FA9EA"/>
          </a:solidFill>
          <a:ln/>
        </p:spPr>
      </p:sp>
      <p:sp>
        <p:nvSpPr>
          <p:cNvPr id="45" name="text 20.44"/>
          <p:cNvSpPr txBox="1"/>
          <p:nvPr/>
        </p:nvSpPr>
        <p:spPr>
          <a:xfrm>
            <a:off x="10188320"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6</a:t>
            </a:r>
            <a:endParaRPr lang="en-US" sz="800" dirty="0"/>
          </a:p>
        </p:txBody>
      </p:sp>
      <p:sp>
        <p:nvSpPr>
          <p:cNvPr id="46" name="text 20.45"/>
          <p:cNvSpPr txBox="1"/>
          <p:nvPr/>
        </p:nvSpPr>
        <p:spPr>
          <a:xfrm>
            <a:off x="10162921"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47" name="text 20.46"/>
          <p:cNvSpPr txBox="1"/>
          <p:nvPr/>
        </p:nvSpPr>
        <p:spPr>
          <a:xfrm>
            <a:off x="10416220"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48" name="text 20.47"/>
          <p:cNvSpPr txBox="1"/>
          <p:nvPr/>
        </p:nvSpPr>
        <p:spPr>
          <a:xfrm>
            <a:off x="1066961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49" name="text 20.48"/>
          <p:cNvSpPr txBox="1"/>
          <p:nvPr/>
        </p:nvSpPr>
        <p:spPr>
          <a:xfrm>
            <a:off x="1092291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50" name="text 20.49"/>
          <p:cNvSpPr txBox="1"/>
          <p:nvPr/>
        </p:nvSpPr>
        <p:spPr>
          <a:xfrm>
            <a:off x="11176316"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51" name="text 20.50"/>
          <p:cNvSpPr txBox="1"/>
          <p:nvPr/>
        </p:nvSpPr>
        <p:spPr>
          <a:xfrm>
            <a:off x="761981" y="2400240"/>
            <a:ext cx="155522" cy="146046"/>
          </a:xfrm>
          <a:prstGeom prst="rect">
            <a:avLst/>
          </a:prstGeom>
          <a:noFill/>
          <a:ln/>
        </p:spPr>
        <p:txBody>
          <a:bodyPr wrap="square" lIns="0" tIns="0" rIns="0" bIns="0" rtlCol="0" anchor="t"/>
          <a:lstStyle/>
          <a:p>
            <a:pPr algn="l" indent="0" marL="0">
              <a:lnSpc>
                <a:spcPts val="1150"/>
              </a:lnSpc>
              <a:buNone/>
            </a:pPr>
            <a:r>
              <a:rPr lang="en-US" sz="1150" dirty="0">
                <a:solidFill>
                  <a:srgbClr val="16233F"/>
                </a:solidFill>
                <a:latin typeface="Arial Rounded MT Bold" pitchFamily="34" charset="0"/>
                <a:ea typeface="Arial Rounded MT Bold" pitchFamily="34" charset="-122"/>
                <a:cs typeface="Arial Rounded MT Bold" pitchFamily="34" charset="-120"/>
              </a:rPr>
              <a:t>2</a:t>
            </a:r>
            <a:endParaRPr lang="en-US" sz="1150" dirty="0"/>
          </a:p>
        </p:txBody>
      </p:sp>
      <p:sp>
        <p:nvSpPr>
          <p:cNvPr id="52" name="text 20.51"/>
          <p:cNvSpPr txBox="1"/>
          <p:nvPr/>
        </p:nvSpPr>
        <p:spPr>
          <a:xfrm>
            <a:off x="1244569" y="2400240"/>
            <a:ext cx="1275995" cy="146046"/>
          </a:xfrm>
          <a:prstGeom prst="rect">
            <a:avLst/>
          </a:prstGeom>
          <a:noFill/>
          <a:ln/>
        </p:spPr>
        <p:txBody>
          <a:bodyPr wrap="square" lIns="0" tIns="0" rIns="0" bIns="0" rtlCol="0" anchor="t"/>
          <a:lstStyle/>
          <a:p>
            <a:pPr algn="l" indent="0" marL="0">
              <a:lnSpc>
                <a:spcPts val="1150"/>
              </a:lnSpc>
              <a:buNone/>
            </a:pPr>
            <a:r>
              <a:rPr lang="en-US" sz="1150" dirty="0">
                <a:solidFill>
                  <a:srgbClr val="16233F"/>
                </a:solidFill>
                <a:latin typeface="Arial Rounded MT Bold" pitchFamily="34" charset="0"/>
                <a:ea typeface="Arial Rounded MT Bold" pitchFamily="34" charset="-122"/>
                <a:cs typeface="Arial Rounded MT Bold" pitchFamily="34" charset="-120"/>
              </a:rPr>
              <a:t>Demo 1 · 16 Nov</a:t>
            </a:r>
            <a:endParaRPr lang="en-US" sz="1150" dirty="0"/>
          </a:p>
        </p:txBody>
      </p:sp>
      <p:sp>
        <p:nvSpPr>
          <p:cNvPr id="53" name="text 20.52"/>
          <p:cNvSpPr txBox="1"/>
          <p:nvPr/>
        </p:nvSpPr>
        <p:spPr>
          <a:xfrm>
            <a:off x="761981" y="2743131"/>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2.1</a:t>
            </a:r>
            <a:endParaRPr lang="en-US" sz="950" dirty="0"/>
          </a:p>
        </p:txBody>
      </p:sp>
      <p:sp>
        <p:nvSpPr>
          <p:cNvPr id="54" name="text 20.53"/>
          <p:cNvSpPr txBox="1"/>
          <p:nvPr/>
        </p:nvSpPr>
        <p:spPr>
          <a:xfrm>
            <a:off x="1244569" y="2736782"/>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Unity project, scenes, build pipeline</a:t>
            </a:r>
            <a:endParaRPr lang="en-US" sz="1050" dirty="0"/>
          </a:p>
        </p:txBody>
      </p:sp>
      <p:sp>
        <p:nvSpPr>
          <p:cNvPr id="55" name="shape 20.54"/>
          <p:cNvSpPr/>
          <p:nvPr/>
        </p:nvSpPr>
        <p:spPr>
          <a:xfrm>
            <a:off x="4419490" y="2705032"/>
            <a:ext cx="977876" cy="203195"/>
          </a:xfrm>
          <a:prstGeom prst="roundRect">
            <a:avLst>
              <a:gd name="adj" fmla="val 50000"/>
            </a:avLst>
          </a:prstGeom>
          <a:solidFill>
            <a:srgbClr val="FFF0E6"/>
          </a:solidFill>
          <a:ln/>
        </p:spPr>
      </p:sp>
      <p:sp>
        <p:nvSpPr>
          <p:cNvPr id="56" name="text 20.55"/>
          <p:cNvSpPr txBox="1"/>
          <p:nvPr/>
        </p:nvSpPr>
        <p:spPr>
          <a:xfrm>
            <a:off x="4419490" y="2705032"/>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57" name="text 20.56"/>
          <p:cNvSpPr txBox="1"/>
          <p:nvPr/>
        </p:nvSpPr>
        <p:spPr>
          <a:xfrm>
            <a:off x="5625959" y="2743131"/>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58" name="shape 20.57"/>
          <p:cNvSpPr/>
          <p:nvPr/>
        </p:nvSpPr>
        <p:spPr>
          <a:xfrm>
            <a:off x="6387940" y="2717732"/>
            <a:ext cx="1215995" cy="190495"/>
          </a:xfrm>
          <a:prstGeom prst="roundRect">
            <a:avLst>
              <a:gd name="adj" fmla="val 50000"/>
            </a:avLst>
          </a:prstGeom>
          <a:solidFill>
            <a:srgbClr val="FF6B1F"/>
          </a:solidFill>
          <a:ln/>
        </p:spPr>
      </p:sp>
      <p:sp>
        <p:nvSpPr>
          <p:cNvPr id="59" name="text 20.58"/>
          <p:cNvSpPr txBox="1"/>
          <p:nvPr/>
        </p:nvSpPr>
        <p:spPr>
          <a:xfrm>
            <a:off x="761981" y="3073323"/>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2.2</a:t>
            </a:r>
            <a:endParaRPr lang="en-US" sz="950" dirty="0"/>
          </a:p>
        </p:txBody>
      </p:sp>
      <p:sp>
        <p:nvSpPr>
          <p:cNvPr id="60" name="text 20.59"/>
          <p:cNvSpPr txBox="1"/>
          <p:nvPr/>
        </p:nvSpPr>
        <p:spPr>
          <a:xfrm>
            <a:off x="1244569" y="3066973"/>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Character controller &amp; camera</a:t>
            </a:r>
            <a:endParaRPr lang="en-US" sz="1050" dirty="0"/>
          </a:p>
        </p:txBody>
      </p:sp>
      <p:sp>
        <p:nvSpPr>
          <p:cNvPr id="61" name="shape 20.60"/>
          <p:cNvSpPr/>
          <p:nvPr/>
        </p:nvSpPr>
        <p:spPr>
          <a:xfrm>
            <a:off x="4419490" y="3035224"/>
            <a:ext cx="977876" cy="203195"/>
          </a:xfrm>
          <a:prstGeom prst="roundRect">
            <a:avLst>
              <a:gd name="adj" fmla="val 50000"/>
            </a:avLst>
          </a:prstGeom>
          <a:solidFill>
            <a:srgbClr val="E6F6E1"/>
          </a:solidFill>
          <a:ln/>
        </p:spPr>
      </p:sp>
      <p:sp>
        <p:nvSpPr>
          <p:cNvPr id="62" name="text 20.61"/>
          <p:cNvSpPr txBox="1"/>
          <p:nvPr/>
        </p:nvSpPr>
        <p:spPr>
          <a:xfrm>
            <a:off x="4419490" y="3035224"/>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63" name="text 20.62"/>
          <p:cNvSpPr txBox="1"/>
          <p:nvPr/>
        </p:nvSpPr>
        <p:spPr>
          <a:xfrm>
            <a:off x="5625959" y="3073323"/>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64" name="shape 20.63"/>
          <p:cNvSpPr/>
          <p:nvPr/>
        </p:nvSpPr>
        <p:spPr>
          <a:xfrm>
            <a:off x="6387940" y="3047924"/>
            <a:ext cx="2482788" cy="190495"/>
          </a:xfrm>
          <a:prstGeom prst="roundRect">
            <a:avLst>
              <a:gd name="adj" fmla="val 50000"/>
            </a:avLst>
          </a:prstGeom>
          <a:solidFill>
            <a:srgbClr val="43B832"/>
          </a:solidFill>
          <a:ln/>
        </p:spPr>
      </p:sp>
      <p:sp>
        <p:nvSpPr>
          <p:cNvPr id="65" name="text 20.64"/>
          <p:cNvSpPr txBox="1"/>
          <p:nvPr/>
        </p:nvSpPr>
        <p:spPr>
          <a:xfrm>
            <a:off x="761981" y="3403515"/>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2.3</a:t>
            </a:r>
            <a:endParaRPr lang="en-US" sz="950" dirty="0"/>
          </a:p>
        </p:txBody>
      </p:sp>
      <p:sp>
        <p:nvSpPr>
          <p:cNvPr id="66" name="text 20.65"/>
          <p:cNvSpPr txBox="1"/>
          <p:nvPr/>
        </p:nvSpPr>
        <p:spPr>
          <a:xfrm>
            <a:off x="1244569" y="3397165"/>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LAN host / join (Netcode)</a:t>
            </a:r>
            <a:endParaRPr lang="en-US" sz="1050" dirty="0"/>
          </a:p>
        </p:txBody>
      </p:sp>
      <p:sp>
        <p:nvSpPr>
          <p:cNvPr id="67" name="shape 20.66"/>
          <p:cNvSpPr/>
          <p:nvPr/>
        </p:nvSpPr>
        <p:spPr>
          <a:xfrm>
            <a:off x="4419490" y="3365416"/>
            <a:ext cx="977876" cy="203195"/>
          </a:xfrm>
          <a:prstGeom prst="roundRect">
            <a:avLst>
              <a:gd name="adj" fmla="val 50000"/>
            </a:avLst>
          </a:prstGeom>
          <a:solidFill>
            <a:srgbClr val="FFF0E6"/>
          </a:solidFill>
          <a:ln/>
        </p:spPr>
      </p:sp>
      <p:sp>
        <p:nvSpPr>
          <p:cNvPr id="68" name="text 20.67"/>
          <p:cNvSpPr txBox="1"/>
          <p:nvPr/>
        </p:nvSpPr>
        <p:spPr>
          <a:xfrm>
            <a:off x="4419490" y="3365416"/>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69" name="text 20.68"/>
          <p:cNvSpPr txBox="1"/>
          <p:nvPr/>
        </p:nvSpPr>
        <p:spPr>
          <a:xfrm>
            <a:off x="5625959" y="3403515"/>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70" name="shape 20.69"/>
          <p:cNvSpPr/>
          <p:nvPr/>
        </p:nvSpPr>
        <p:spPr>
          <a:xfrm>
            <a:off x="7654734" y="3378116"/>
            <a:ext cx="2482788" cy="190495"/>
          </a:xfrm>
          <a:prstGeom prst="roundRect">
            <a:avLst>
              <a:gd name="adj" fmla="val 50000"/>
            </a:avLst>
          </a:prstGeom>
          <a:solidFill>
            <a:srgbClr val="FF6B1F"/>
          </a:solidFill>
          <a:ln/>
        </p:spPr>
      </p:sp>
      <p:sp>
        <p:nvSpPr>
          <p:cNvPr id="71" name="text 20.70"/>
          <p:cNvSpPr txBox="1"/>
          <p:nvPr/>
        </p:nvSpPr>
        <p:spPr>
          <a:xfrm>
            <a:off x="761981" y="3733707"/>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2.4</a:t>
            </a:r>
            <a:endParaRPr lang="en-US" sz="950" dirty="0"/>
          </a:p>
        </p:txBody>
      </p:sp>
      <p:sp>
        <p:nvSpPr>
          <p:cNvPr id="72" name="text 20.71"/>
          <p:cNvSpPr txBox="1"/>
          <p:nvPr/>
        </p:nvSpPr>
        <p:spPr>
          <a:xfrm>
            <a:off x="1244569" y="3727357"/>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Host authority &amp; state sync</a:t>
            </a:r>
            <a:endParaRPr lang="en-US" sz="1050" dirty="0"/>
          </a:p>
        </p:txBody>
      </p:sp>
      <p:sp>
        <p:nvSpPr>
          <p:cNvPr id="73" name="shape 20.72"/>
          <p:cNvSpPr/>
          <p:nvPr/>
        </p:nvSpPr>
        <p:spPr>
          <a:xfrm>
            <a:off x="4419490" y="3695608"/>
            <a:ext cx="977876" cy="203195"/>
          </a:xfrm>
          <a:prstGeom prst="roundRect">
            <a:avLst>
              <a:gd name="adj" fmla="val 50000"/>
            </a:avLst>
          </a:prstGeom>
          <a:solidFill>
            <a:srgbClr val="FFF0E6"/>
          </a:solidFill>
          <a:ln/>
        </p:spPr>
      </p:sp>
      <p:sp>
        <p:nvSpPr>
          <p:cNvPr id="74" name="text 20.73"/>
          <p:cNvSpPr txBox="1"/>
          <p:nvPr/>
        </p:nvSpPr>
        <p:spPr>
          <a:xfrm>
            <a:off x="4419490" y="3695608"/>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75" name="text 20.74"/>
          <p:cNvSpPr txBox="1"/>
          <p:nvPr/>
        </p:nvSpPr>
        <p:spPr>
          <a:xfrm>
            <a:off x="5625959" y="3733707"/>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76" name="shape 20.75"/>
          <p:cNvSpPr/>
          <p:nvPr/>
        </p:nvSpPr>
        <p:spPr>
          <a:xfrm>
            <a:off x="10188320" y="3708307"/>
            <a:ext cx="1215995" cy="190495"/>
          </a:xfrm>
          <a:prstGeom prst="roundRect">
            <a:avLst>
              <a:gd name="adj" fmla="val 50000"/>
            </a:avLst>
          </a:prstGeom>
          <a:solidFill>
            <a:srgbClr val="FF6B1F"/>
          </a:solidFill>
          <a:ln/>
        </p:spPr>
      </p:sp>
      <p:sp>
        <p:nvSpPr>
          <p:cNvPr id="77" name="text 20.76"/>
          <p:cNvSpPr txBox="1"/>
          <p:nvPr/>
        </p:nvSpPr>
        <p:spPr>
          <a:xfrm>
            <a:off x="761981" y="4063898"/>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2.5</a:t>
            </a:r>
            <a:endParaRPr lang="en-US" sz="950" dirty="0"/>
          </a:p>
        </p:txBody>
      </p:sp>
      <p:sp>
        <p:nvSpPr>
          <p:cNvPr id="78" name="text 20.77"/>
          <p:cNvSpPr txBox="1"/>
          <p:nvPr/>
        </p:nvSpPr>
        <p:spPr>
          <a:xfrm>
            <a:off x="1244569" y="4057549"/>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Ice movement profile</a:t>
            </a:r>
            <a:endParaRPr lang="en-US" sz="1050" dirty="0"/>
          </a:p>
        </p:txBody>
      </p:sp>
      <p:sp>
        <p:nvSpPr>
          <p:cNvPr id="79" name="shape 20.78"/>
          <p:cNvSpPr/>
          <p:nvPr/>
        </p:nvSpPr>
        <p:spPr>
          <a:xfrm>
            <a:off x="4419490" y="4025799"/>
            <a:ext cx="977876" cy="203195"/>
          </a:xfrm>
          <a:prstGeom prst="roundRect">
            <a:avLst>
              <a:gd name="adj" fmla="val 50000"/>
            </a:avLst>
          </a:prstGeom>
          <a:solidFill>
            <a:srgbClr val="E6F6E1"/>
          </a:solidFill>
          <a:ln/>
        </p:spPr>
      </p:sp>
      <p:sp>
        <p:nvSpPr>
          <p:cNvPr id="80" name="text 20.79"/>
          <p:cNvSpPr txBox="1"/>
          <p:nvPr/>
        </p:nvSpPr>
        <p:spPr>
          <a:xfrm>
            <a:off x="4419490" y="4025799"/>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81" name="text 20.80"/>
          <p:cNvSpPr txBox="1"/>
          <p:nvPr/>
        </p:nvSpPr>
        <p:spPr>
          <a:xfrm>
            <a:off x="5625959" y="4063898"/>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82" name="shape 20.81"/>
          <p:cNvSpPr/>
          <p:nvPr/>
        </p:nvSpPr>
        <p:spPr>
          <a:xfrm>
            <a:off x="8921527" y="4038499"/>
            <a:ext cx="1215995" cy="190495"/>
          </a:xfrm>
          <a:prstGeom prst="roundRect">
            <a:avLst>
              <a:gd name="adj" fmla="val 50000"/>
            </a:avLst>
          </a:prstGeom>
          <a:solidFill>
            <a:srgbClr val="43B832"/>
          </a:solidFill>
          <a:ln/>
        </p:spPr>
      </p:sp>
      <p:sp>
        <p:nvSpPr>
          <p:cNvPr id="83" name="text 20.82"/>
          <p:cNvSpPr txBox="1"/>
          <p:nvPr/>
        </p:nvSpPr>
        <p:spPr>
          <a:xfrm>
            <a:off x="761981" y="4394090"/>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2.6</a:t>
            </a:r>
            <a:endParaRPr lang="en-US" sz="950" dirty="0"/>
          </a:p>
        </p:txBody>
      </p:sp>
      <p:sp>
        <p:nvSpPr>
          <p:cNvPr id="84" name="text 20.83"/>
          <p:cNvSpPr txBox="1"/>
          <p:nvPr/>
        </p:nvSpPr>
        <p:spPr>
          <a:xfrm>
            <a:off x="1244569" y="4387740"/>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Ice Race track blockout &amp; checkpoints</a:t>
            </a:r>
            <a:endParaRPr lang="en-US" sz="1050" dirty="0"/>
          </a:p>
        </p:txBody>
      </p:sp>
      <p:sp>
        <p:nvSpPr>
          <p:cNvPr id="85" name="shape 20.84"/>
          <p:cNvSpPr/>
          <p:nvPr/>
        </p:nvSpPr>
        <p:spPr>
          <a:xfrm>
            <a:off x="4419490" y="4355991"/>
            <a:ext cx="977876" cy="203195"/>
          </a:xfrm>
          <a:prstGeom prst="roundRect">
            <a:avLst>
              <a:gd name="adj" fmla="val 50000"/>
            </a:avLst>
          </a:prstGeom>
          <a:solidFill>
            <a:srgbClr val="E6F6E1"/>
          </a:solidFill>
          <a:ln/>
        </p:spPr>
      </p:sp>
      <p:sp>
        <p:nvSpPr>
          <p:cNvPr id="86" name="text 20.85"/>
          <p:cNvSpPr txBox="1"/>
          <p:nvPr/>
        </p:nvSpPr>
        <p:spPr>
          <a:xfrm>
            <a:off x="4419490" y="4355991"/>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87" name="text 20.86"/>
          <p:cNvSpPr txBox="1"/>
          <p:nvPr/>
        </p:nvSpPr>
        <p:spPr>
          <a:xfrm>
            <a:off x="5625959" y="4394090"/>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88" name="shape 20.87"/>
          <p:cNvSpPr/>
          <p:nvPr/>
        </p:nvSpPr>
        <p:spPr>
          <a:xfrm>
            <a:off x="10188320" y="4368691"/>
            <a:ext cx="1215995" cy="190495"/>
          </a:xfrm>
          <a:prstGeom prst="roundRect">
            <a:avLst>
              <a:gd name="adj" fmla="val 50000"/>
            </a:avLst>
          </a:prstGeom>
          <a:solidFill>
            <a:srgbClr val="43B832"/>
          </a:solidFill>
          <a:ln/>
        </p:spPr>
      </p:sp>
      <p:sp>
        <p:nvSpPr>
          <p:cNvPr id="89" name="text 20.88"/>
          <p:cNvSpPr txBox="1"/>
          <p:nvPr/>
        </p:nvSpPr>
        <p:spPr>
          <a:xfrm>
            <a:off x="761981" y="4724282"/>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2.7</a:t>
            </a:r>
            <a:endParaRPr lang="en-US" sz="950" dirty="0"/>
          </a:p>
        </p:txBody>
      </p:sp>
      <p:sp>
        <p:nvSpPr>
          <p:cNvPr id="90" name="text 20.89"/>
          <p:cNvSpPr txBox="1"/>
          <p:nvPr/>
        </p:nvSpPr>
        <p:spPr>
          <a:xfrm>
            <a:off x="1244569" y="4717932"/>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Mass state &amp; spit projectile</a:t>
            </a:r>
            <a:endParaRPr lang="en-US" sz="1050" dirty="0"/>
          </a:p>
        </p:txBody>
      </p:sp>
      <p:sp>
        <p:nvSpPr>
          <p:cNvPr id="91" name="shape 20.90"/>
          <p:cNvSpPr/>
          <p:nvPr/>
        </p:nvSpPr>
        <p:spPr>
          <a:xfrm>
            <a:off x="4419490" y="4686183"/>
            <a:ext cx="977876" cy="203195"/>
          </a:xfrm>
          <a:prstGeom prst="roundRect">
            <a:avLst>
              <a:gd name="adj" fmla="val 50000"/>
            </a:avLst>
          </a:prstGeom>
          <a:solidFill>
            <a:srgbClr val="E2F4FD"/>
          </a:solidFill>
          <a:ln/>
        </p:spPr>
      </p:sp>
      <p:sp>
        <p:nvSpPr>
          <p:cNvPr id="92" name="text 20.91"/>
          <p:cNvSpPr txBox="1"/>
          <p:nvPr/>
        </p:nvSpPr>
        <p:spPr>
          <a:xfrm>
            <a:off x="4419490" y="4686183"/>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FA9EA"/>
                </a:solidFill>
                <a:latin typeface="Arial" pitchFamily="34" charset="0"/>
                <a:ea typeface="Arial" pitchFamily="34" charset="-122"/>
                <a:cs typeface="Arial" pitchFamily="34" charset="-120"/>
              </a:rPr>
              <a:t>Abdurrahim</a:t>
            </a:r>
            <a:endParaRPr lang="en-US" sz="850" dirty="0"/>
          </a:p>
        </p:txBody>
      </p:sp>
      <p:sp>
        <p:nvSpPr>
          <p:cNvPr id="93" name="text 20.92"/>
          <p:cNvSpPr txBox="1"/>
          <p:nvPr/>
        </p:nvSpPr>
        <p:spPr>
          <a:xfrm>
            <a:off x="5625959" y="4724282"/>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3 wk</a:t>
            </a:r>
            <a:endParaRPr lang="en-US" sz="950" dirty="0"/>
          </a:p>
        </p:txBody>
      </p:sp>
      <p:sp>
        <p:nvSpPr>
          <p:cNvPr id="94" name="shape 20.93"/>
          <p:cNvSpPr/>
          <p:nvPr/>
        </p:nvSpPr>
        <p:spPr>
          <a:xfrm>
            <a:off x="7654734" y="4698883"/>
            <a:ext cx="3749581" cy="190495"/>
          </a:xfrm>
          <a:prstGeom prst="roundRect">
            <a:avLst>
              <a:gd name="adj" fmla="val 50000"/>
            </a:avLst>
          </a:prstGeom>
          <a:solidFill>
            <a:srgbClr val="1FA9EA"/>
          </a:solidFill>
          <a:ln/>
        </p:spPr>
      </p:sp>
      <p:sp>
        <p:nvSpPr>
          <p:cNvPr id="95" name="text 20.94"/>
          <p:cNvSpPr txBox="1"/>
          <p:nvPr/>
        </p:nvSpPr>
        <p:spPr>
          <a:xfrm>
            <a:off x="761981" y="5054474"/>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2.8</a:t>
            </a:r>
            <a:endParaRPr lang="en-US" sz="950" dirty="0"/>
          </a:p>
        </p:txBody>
      </p:sp>
      <p:sp>
        <p:nvSpPr>
          <p:cNvPr id="96" name="text 20.95"/>
          <p:cNvSpPr txBox="1"/>
          <p:nvPr/>
        </p:nvSpPr>
        <p:spPr>
          <a:xfrm>
            <a:off x="1244569" y="5048124"/>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Lobby &amp; join UI</a:t>
            </a:r>
            <a:endParaRPr lang="en-US" sz="1050" dirty="0"/>
          </a:p>
        </p:txBody>
      </p:sp>
      <p:sp>
        <p:nvSpPr>
          <p:cNvPr id="97" name="shape 20.96"/>
          <p:cNvSpPr/>
          <p:nvPr/>
        </p:nvSpPr>
        <p:spPr>
          <a:xfrm>
            <a:off x="4419490" y="5016375"/>
            <a:ext cx="977876" cy="203195"/>
          </a:xfrm>
          <a:prstGeom prst="roundRect">
            <a:avLst>
              <a:gd name="adj" fmla="val 50000"/>
            </a:avLst>
          </a:prstGeom>
          <a:solidFill>
            <a:srgbClr val="F0E8FF"/>
          </a:solidFill>
          <a:ln/>
        </p:spPr>
      </p:sp>
      <p:sp>
        <p:nvSpPr>
          <p:cNvPr id="98" name="text 20.97"/>
          <p:cNvSpPr txBox="1"/>
          <p:nvPr/>
        </p:nvSpPr>
        <p:spPr>
          <a:xfrm>
            <a:off x="4419490" y="5016375"/>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99" name="text 20.98"/>
          <p:cNvSpPr txBox="1"/>
          <p:nvPr/>
        </p:nvSpPr>
        <p:spPr>
          <a:xfrm>
            <a:off x="5625959" y="5054474"/>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100" name="shape 20.99"/>
          <p:cNvSpPr/>
          <p:nvPr/>
        </p:nvSpPr>
        <p:spPr>
          <a:xfrm>
            <a:off x="7654734" y="5029074"/>
            <a:ext cx="2482788" cy="190495"/>
          </a:xfrm>
          <a:prstGeom prst="roundRect">
            <a:avLst>
              <a:gd name="adj" fmla="val 50000"/>
            </a:avLst>
          </a:prstGeom>
          <a:solidFill>
            <a:srgbClr val="8F55F5"/>
          </a:solidFill>
          <a:ln/>
        </p:spPr>
      </p:sp>
      <p:sp>
        <p:nvSpPr>
          <p:cNvPr id="101" name="text 20.100"/>
          <p:cNvSpPr txBox="1"/>
          <p:nvPr/>
        </p:nvSpPr>
        <p:spPr>
          <a:xfrm>
            <a:off x="761981" y="5384665"/>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2.9</a:t>
            </a:r>
            <a:endParaRPr lang="en-US" sz="950" dirty="0"/>
          </a:p>
        </p:txBody>
      </p:sp>
      <p:sp>
        <p:nvSpPr>
          <p:cNvPr id="102" name="text 20.101"/>
          <p:cNvSpPr txBox="1"/>
          <p:nvPr/>
        </p:nvSpPr>
        <p:spPr>
          <a:xfrm>
            <a:off x="1244569" y="5378316"/>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Character model, four colours</a:t>
            </a:r>
            <a:endParaRPr lang="en-US" sz="1050" dirty="0"/>
          </a:p>
        </p:txBody>
      </p:sp>
      <p:sp>
        <p:nvSpPr>
          <p:cNvPr id="103" name="shape 20.102"/>
          <p:cNvSpPr/>
          <p:nvPr/>
        </p:nvSpPr>
        <p:spPr>
          <a:xfrm>
            <a:off x="4419490" y="5346566"/>
            <a:ext cx="977876" cy="203195"/>
          </a:xfrm>
          <a:prstGeom prst="roundRect">
            <a:avLst>
              <a:gd name="adj" fmla="val 50000"/>
            </a:avLst>
          </a:prstGeom>
          <a:solidFill>
            <a:srgbClr val="F0E8FF"/>
          </a:solidFill>
          <a:ln/>
        </p:spPr>
      </p:sp>
      <p:sp>
        <p:nvSpPr>
          <p:cNvPr id="104" name="text 20.103"/>
          <p:cNvSpPr txBox="1"/>
          <p:nvPr/>
        </p:nvSpPr>
        <p:spPr>
          <a:xfrm>
            <a:off x="4419490" y="5346566"/>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105" name="text 20.104"/>
          <p:cNvSpPr txBox="1"/>
          <p:nvPr/>
        </p:nvSpPr>
        <p:spPr>
          <a:xfrm>
            <a:off x="5625959" y="5384665"/>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106" name="shape 20.105"/>
          <p:cNvSpPr/>
          <p:nvPr/>
        </p:nvSpPr>
        <p:spPr>
          <a:xfrm>
            <a:off x="10188320" y="5359266"/>
            <a:ext cx="1215995" cy="190495"/>
          </a:xfrm>
          <a:prstGeom prst="roundRect">
            <a:avLst>
              <a:gd name="adj" fmla="val 50000"/>
            </a:avLst>
          </a:prstGeom>
          <a:solidFill>
            <a:srgbClr val="8F55F5"/>
          </a:solidFill>
          <a:ln/>
        </p:spPr>
      </p:sp>
      <p:sp>
        <p:nvSpPr>
          <p:cNvPr id="107" name="text 20.106"/>
          <p:cNvSpPr txBox="1"/>
          <p:nvPr/>
        </p:nvSpPr>
        <p:spPr>
          <a:xfrm>
            <a:off x="761981" y="5714857"/>
            <a:ext cx="312434"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2.10</a:t>
            </a:r>
            <a:endParaRPr lang="en-US" sz="950" dirty="0"/>
          </a:p>
        </p:txBody>
      </p:sp>
      <p:sp>
        <p:nvSpPr>
          <p:cNvPr id="108" name="text 20.107"/>
          <p:cNvSpPr txBox="1"/>
          <p:nvPr/>
        </p:nvSpPr>
        <p:spPr>
          <a:xfrm>
            <a:off x="1244569" y="5708507"/>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Demo 1 build &amp; presentation</a:t>
            </a:r>
            <a:endParaRPr lang="en-US" sz="1050" dirty="0"/>
          </a:p>
        </p:txBody>
      </p:sp>
      <p:sp>
        <p:nvSpPr>
          <p:cNvPr id="109" name="shape 20.108"/>
          <p:cNvSpPr/>
          <p:nvPr/>
        </p:nvSpPr>
        <p:spPr>
          <a:xfrm>
            <a:off x="4419490" y="5676758"/>
            <a:ext cx="977876" cy="203195"/>
          </a:xfrm>
          <a:prstGeom prst="roundRect">
            <a:avLst>
              <a:gd name="adj" fmla="val 50000"/>
            </a:avLst>
          </a:prstGeom>
          <a:solidFill>
            <a:srgbClr val="E9EFF8"/>
          </a:solidFill>
          <a:ln/>
        </p:spPr>
      </p:sp>
      <p:sp>
        <p:nvSpPr>
          <p:cNvPr id="110" name="text 20.109"/>
          <p:cNvSpPr txBox="1"/>
          <p:nvPr/>
        </p:nvSpPr>
        <p:spPr>
          <a:xfrm>
            <a:off x="4419490" y="5676758"/>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3B4A66"/>
                </a:solidFill>
                <a:latin typeface="Arial" pitchFamily="34" charset="0"/>
                <a:ea typeface="Arial" pitchFamily="34" charset="-122"/>
                <a:cs typeface="Arial" pitchFamily="34" charset="-120"/>
              </a:rPr>
              <a:t>Team</a:t>
            </a:r>
            <a:endParaRPr lang="en-US" sz="850" dirty="0"/>
          </a:p>
        </p:txBody>
      </p:sp>
      <p:sp>
        <p:nvSpPr>
          <p:cNvPr id="111" name="text 20.110"/>
          <p:cNvSpPr txBox="1"/>
          <p:nvPr/>
        </p:nvSpPr>
        <p:spPr>
          <a:xfrm>
            <a:off x="5625959" y="5714857"/>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112" name="shape 20.111"/>
          <p:cNvSpPr/>
          <p:nvPr/>
        </p:nvSpPr>
        <p:spPr>
          <a:xfrm>
            <a:off x="10188320" y="5689458"/>
            <a:ext cx="1215995" cy="190495"/>
          </a:xfrm>
          <a:prstGeom prst="roundRect">
            <a:avLst>
              <a:gd name="adj" fmla="val 50000"/>
            </a:avLst>
          </a:prstGeom>
          <a:solidFill>
            <a:srgbClr val="16233F"/>
          </a:solidFill>
          <a:ln/>
        </p:spPr>
      </p:sp>
      <p:sp>
        <p:nvSpPr>
          <p:cNvPr id="113" name="shape 20.112"/>
          <p:cNvSpPr/>
          <p:nvPr/>
        </p:nvSpPr>
        <p:spPr>
          <a:xfrm>
            <a:off x="609585" y="266693"/>
            <a:ext cx="1829945"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14" name="shape 20.113"/>
          <p:cNvSpPr/>
          <p:nvPr/>
        </p:nvSpPr>
        <p:spPr>
          <a:xfrm>
            <a:off x="711182" y="355591"/>
            <a:ext cx="114297" cy="114297"/>
          </a:xfrm>
          <a:prstGeom prst="roundRect">
            <a:avLst>
              <a:gd name="adj" fmla="val 33333"/>
            </a:avLst>
          </a:prstGeom>
          <a:solidFill>
            <a:srgbClr val="1FA9EA"/>
          </a:solidFill>
          <a:ln/>
        </p:spPr>
      </p:sp>
      <p:sp>
        <p:nvSpPr>
          <p:cNvPr id="115" name="shape 20.114"/>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16" name="shape 20.115"/>
          <p:cNvSpPr/>
          <p:nvPr/>
        </p:nvSpPr>
        <p:spPr>
          <a:xfrm>
            <a:off x="10058149" y="368291"/>
            <a:ext cx="101597" cy="101597"/>
          </a:xfrm>
          <a:prstGeom prst="roundRect">
            <a:avLst>
              <a:gd name="adj" fmla="val 31250"/>
            </a:avLst>
          </a:prstGeom>
          <a:solidFill>
            <a:srgbClr val="16233F"/>
          </a:solidFill>
          <a:ln/>
        </p:spPr>
      </p:sp>
      <p:sp>
        <p:nvSpPr>
          <p:cNvPr id="117" name="shape 20.116"/>
          <p:cNvSpPr/>
          <p:nvPr/>
        </p:nvSpPr>
        <p:spPr>
          <a:xfrm>
            <a:off x="10223244" y="368291"/>
            <a:ext cx="101597" cy="101597"/>
          </a:xfrm>
          <a:prstGeom prst="roundRect">
            <a:avLst>
              <a:gd name="adj" fmla="val 31250"/>
            </a:avLst>
          </a:prstGeom>
          <a:solidFill>
            <a:srgbClr val="16233F"/>
          </a:solidFill>
          <a:ln/>
        </p:spPr>
      </p:sp>
      <p:sp>
        <p:nvSpPr>
          <p:cNvPr id="118" name="shape 20.117"/>
          <p:cNvSpPr/>
          <p:nvPr/>
        </p:nvSpPr>
        <p:spPr>
          <a:xfrm>
            <a:off x="10388340" y="368291"/>
            <a:ext cx="101597" cy="101597"/>
          </a:xfrm>
          <a:prstGeom prst="roundRect">
            <a:avLst>
              <a:gd name="adj" fmla="val 31250"/>
            </a:avLst>
          </a:prstGeom>
          <a:solidFill>
            <a:srgbClr val="16233F"/>
          </a:solidFill>
          <a:ln/>
        </p:spPr>
      </p:sp>
      <p:sp>
        <p:nvSpPr>
          <p:cNvPr id="119" name="shape 20.118"/>
          <p:cNvSpPr/>
          <p:nvPr/>
        </p:nvSpPr>
        <p:spPr>
          <a:xfrm>
            <a:off x="10553436" y="368291"/>
            <a:ext cx="101597" cy="101597"/>
          </a:xfrm>
          <a:prstGeom prst="roundRect">
            <a:avLst>
              <a:gd name="adj" fmla="val 31250"/>
            </a:avLst>
          </a:prstGeom>
          <a:solidFill>
            <a:srgbClr val="16233F"/>
          </a:solidFill>
          <a:ln/>
        </p:spPr>
      </p:sp>
      <p:sp>
        <p:nvSpPr>
          <p:cNvPr id="120" name="shape 20.119"/>
          <p:cNvSpPr/>
          <p:nvPr/>
        </p:nvSpPr>
        <p:spPr>
          <a:xfrm>
            <a:off x="10718532" y="368291"/>
            <a:ext cx="101597" cy="101597"/>
          </a:xfrm>
          <a:prstGeom prst="roundRect">
            <a:avLst>
              <a:gd name="adj" fmla="val 31250"/>
            </a:avLst>
          </a:prstGeom>
          <a:solidFill>
            <a:srgbClr val="16233F"/>
          </a:solidFill>
          <a:ln/>
        </p:spPr>
      </p:sp>
      <p:sp>
        <p:nvSpPr>
          <p:cNvPr id="121" name="shape 20.120"/>
          <p:cNvSpPr/>
          <p:nvPr/>
        </p:nvSpPr>
        <p:spPr>
          <a:xfrm>
            <a:off x="10883628" y="368291"/>
            <a:ext cx="101597" cy="101597"/>
          </a:xfrm>
          <a:prstGeom prst="roundRect">
            <a:avLst>
              <a:gd name="adj" fmla="val 31250"/>
            </a:avLst>
          </a:prstGeom>
          <a:solidFill>
            <a:srgbClr val="1FA9EA"/>
          </a:solidFill>
          <a:ln/>
        </p:spPr>
      </p:sp>
      <p:sp>
        <p:nvSpPr>
          <p:cNvPr id="122" name="text 20.121"/>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20</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123" name="text 20.122"/>
          <p:cNvSpPr txBox="1"/>
          <p:nvPr/>
        </p:nvSpPr>
        <p:spPr>
          <a:xfrm>
            <a:off x="927077" y="349241"/>
            <a:ext cx="1400305"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06 · Development plan</a:t>
            </a:r>
            <a:endParaRPr lang="en-US" sz="9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1.1"/>
          <p:cNvSpPr/>
          <p:nvPr/>
        </p:nvSpPr>
        <p:spPr>
          <a:xfrm>
            <a:off x="609585" y="1523962"/>
            <a:ext cx="10972526" cy="4546486"/>
          </a:xfrm>
          <a:prstGeom prst="roundRect">
            <a:avLst>
              <a:gd name="adj" fmla="val 3911"/>
            </a:avLst>
          </a:prstGeom>
          <a:solidFill>
            <a:srgbClr val="FFFFFF"/>
          </a:solidFill>
          <a:ln/>
          <a:effectLst>
            <a:outerShdw sx="100000" sy="100000" kx="0" ky="0" algn="bl" rotWithShape="0" blurRad="203200" dist="76200" dir="5400000">
              <a:srgbClr val="1E468C">
                <a:alpha val="16000"/>
              </a:srgbClr>
            </a:outerShdw>
          </a:effectLst>
        </p:spPr>
      </p:sp>
      <p:sp>
        <p:nvSpPr>
          <p:cNvPr id="3" name="shape 21.2"/>
          <p:cNvSpPr/>
          <p:nvPr/>
        </p:nvSpPr>
        <p:spPr>
          <a:xfrm>
            <a:off x="698483" y="2324042"/>
            <a:ext cx="10794730" cy="292093"/>
          </a:xfrm>
          <a:prstGeom prst="roundRect">
            <a:avLst>
              <a:gd name="adj" fmla="val 30435"/>
            </a:avLst>
          </a:prstGeom>
          <a:solidFill>
            <a:srgbClr val="F1F5FB"/>
          </a:solidFill>
          <a:ln/>
        </p:spPr>
      </p:sp>
      <p:pic>
        <p:nvPicPr>
          <p:cNvPr id="4" name="raster 21.3" descr="diagram">    </p:cNvPr>
          <p:cNvPicPr>
            <a:picLocks noChangeAspect="1"/>
          </p:cNvPicPr>
          <p:nvPr/>
        </p:nvPicPr>
        <p:blipFill>
          <a:blip r:embed="rId2"/>
          <a:stretch>
            <a:fillRect/>
          </a:stretch>
        </p:blipFill>
        <p:spPr>
          <a:xfrm>
            <a:off x="6311742" y="2578036"/>
            <a:ext cx="5168771" cy="3428914"/>
          </a:xfrm>
          <a:prstGeom prst="rect">
            <a:avLst/>
          </a:prstGeom>
        </p:spPr>
      </p:pic>
      <p:sp>
        <p:nvSpPr>
          <p:cNvPr id="5" name="shape 21.4"/>
          <p:cNvSpPr/>
          <p:nvPr/>
        </p:nvSpPr>
        <p:spPr>
          <a:xfrm>
            <a:off x="761981" y="2971726"/>
            <a:ext cx="5524362" cy="9525"/>
          </a:xfrm>
          <a:prstGeom prst="rect">
            <a:avLst/>
          </a:prstGeom>
          <a:solidFill>
            <a:srgbClr val="EEF2F8"/>
          </a:solidFill>
          <a:ln/>
        </p:spPr>
      </p:sp>
      <p:sp>
        <p:nvSpPr>
          <p:cNvPr id="6" name="shape 21.5"/>
          <p:cNvSpPr/>
          <p:nvPr/>
        </p:nvSpPr>
        <p:spPr>
          <a:xfrm>
            <a:off x="761981" y="3301917"/>
            <a:ext cx="5524362" cy="9525"/>
          </a:xfrm>
          <a:prstGeom prst="rect">
            <a:avLst/>
          </a:prstGeom>
          <a:solidFill>
            <a:srgbClr val="EEF2F8"/>
          </a:solidFill>
          <a:ln/>
        </p:spPr>
      </p:sp>
      <p:sp>
        <p:nvSpPr>
          <p:cNvPr id="7" name="shape 21.6"/>
          <p:cNvSpPr/>
          <p:nvPr/>
        </p:nvSpPr>
        <p:spPr>
          <a:xfrm>
            <a:off x="761981" y="3632109"/>
            <a:ext cx="5524362" cy="9525"/>
          </a:xfrm>
          <a:prstGeom prst="rect">
            <a:avLst/>
          </a:prstGeom>
          <a:solidFill>
            <a:srgbClr val="EEF2F8"/>
          </a:solidFill>
          <a:ln/>
        </p:spPr>
      </p:sp>
      <p:sp>
        <p:nvSpPr>
          <p:cNvPr id="8" name="shape 21.7"/>
          <p:cNvSpPr/>
          <p:nvPr/>
        </p:nvSpPr>
        <p:spPr>
          <a:xfrm>
            <a:off x="761981" y="3962301"/>
            <a:ext cx="5524362" cy="9525"/>
          </a:xfrm>
          <a:prstGeom prst="rect">
            <a:avLst/>
          </a:prstGeom>
          <a:solidFill>
            <a:srgbClr val="EEF2F8"/>
          </a:solidFill>
          <a:ln/>
        </p:spPr>
      </p:sp>
      <p:sp>
        <p:nvSpPr>
          <p:cNvPr id="9" name="shape 21.8"/>
          <p:cNvSpPr/>
          <p:nvPr/>
        </p:nvSpPr>
        <p:spPr>
          <a:xfrm>
            <a:off x="761981" y="4292493"/>
            <a:ext cx="5524362" cy="9525"/>
          </a:xfrm>
          <a:prstGeom prst="rect">
            <a:avLst/>
          </a:prstGeom>
          <a:solidFill>
            <a:srgbClr val="EEF2F8"/>
          </a:solidFill>
          <a:ln/>
        </p:spPr>
      </p:sp>
      <p:sp>
        <p:nvSpPr>
          <p:cNvPr id="10" name="shape 21.9"/>
          <p:cNvSpPr/>
          <p:nvPr/>
        </p:nvSpPr>
        <p:spPr>
          <a:xfrm>
            <a:off x="761981" y="4622684"/>
            <a:ext cx="5524362" cy="9525"/>
          </a:xfrm>
          <a:prstGeom prst="rect">
            <a:avLst/>
          </a:prstGeom>
          <a:solidFill>
            <a:srgbClr val="EEF2F8"/>
          </a:solidFill>
          <a:ln/>
        </p:spPr>
      </p:sp>
      <p:sp>
        <p:nvSpPr>
          <p:cNvPr id="11" name="shape 21.10"/>
          <p:cNvSpPr/>
          <p:nvPr/>
        </p:nvSpPr>
        <p:spPr>
          <a:xfrm>
            <a:off x="761981" y="4952876"/>
            <a:ext cx="5524362" cy="9525"/>
          </a:xfrm>
          <a:prstGeom prst="rect">
            <a:avLst/>
          </a:prstGeom>
          <a:solidFill>
            <a:srgbClr val="EEF2F8"/>
          </a:solidFill>
          <a:ln/>
        </p:spPr>
      </p:sp>
      <p:sp>
        <p:nvSpPr>
          <p:cNvPr id="12" name="shape 21.11"/>
          <p:cNvSpPr/>
          <p:nvPr/>
        </p:nvSpPr>
        <p:spPr>
          <a:xfrm>
            <a:off x="761981" y="5283068"/>
            <a:ext cx="5524362" cy="9525"/>
          </a:xfrm>
          <a:prstGeom prst="rect">
            <a:avLst/>
          </a:prstGeom>
          <a:solidFill>
            <a:srgbClr val="EEF2F8"/>
          </a:solidFill>
          <a:ln/>
        </p:spPr>
      </p:sp>
      <p:sp>
        <p:nvSpPr>
          <p:cNvPr id="13" name="shape 21.12"/>
          <p:cNvSpPr/>
          <p:nvPr/>
        </p:nvSpPr>
        <p:spPr>
          <a:xfrm>
            <a:off x="761981" y="5613260"/>
            <a:ext cx="5524362" cy="9525"/>
          </a:xfrm>
          <a:prstGeom prst="rect">
            <a:avLst/>
          </a:prstGeom>
          <a:solidFill>
            <a:srgbClr val="EEF2F8"/>
          </a:solidFill>
          <a:ln/>
        </p:spPr>
      </p:sp>
      <p:sp>
        <p:nvSpPr>
          <p:cNvPr id="14" name="text 21.13"/>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Gantt chart: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demo 2</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Mass Knockout and the full session</a:t>
            </a:r>
            <a:endParaRPr lang="en-US" sz="2700" dirty="0"/>
          </a:p>
        </p:txBody>
      </p:sp>
      <p:sp>
        <p:nvSpPr>
          <p:cNvPr id="15" name="text 21.14"/>
          <p:cNvSpPr txBox="1"/>
          <p:nvPr/>
        </p:nvSpPr>
        <p:spPr>
          <a:xfrm>
            <a:off x="761981" y="1917652"/>
            <a:ext cx="457189"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WBS</a:t>
            </a:r>
            <a:endParaRPr lang="en-US" sz="750" dirty="0"/>
          </a:p>
        </p:txBody>
      </p:sp>
      <p:sp>
        <p:nvSpPr>
          <p:cNvPr id="16" name="text 21.15"/>
          <p:cNvSpPr txBox="1"/>
          <p:nvPr/>
        </p:nvSpPr>
        <p:spPr>
          <a:xfrm>
            <a:off x="1244569" y="1917652"/>
            <a:ext cx="3149521"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TASK</a:t>
            </a:r>
            <a:endParaRPr lang="en-US" sz="750" dirty="0"/>
          </a:p>
        </p:txBody>
      </p:sp>
      <p:sp>
        <p:nvSpPr>
          <p:cNvPr id="17" name="text 21.16"/>
          <p:cNvSpPr txBox="1"/>
          <p:nvPr/>
        </p:nvSpPr>
        <p:spPr>
          <a:xfrm>
            <a:off x="4419490" y="1917652"/>
            <a:ext cx="118107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OWNER</a:t>
            </a:r>
            <a:endParaRPr lang="en-US" sz="750" dirty="0"/>
          </a:p>
        </p:txBody>
      </p:sp>
      <p:sp>
        <p:nvSpPr>
          <p:cNvPr id="18" name="text 21.17"/>
          <p:cNvSpPr txBox="1"/>
          <p:nvPr/>
        </p:nvSpPr>
        <p:spPr>
          <a:xfrm>
            <a:off x="5625959" y="1917652"/>
            <a:ext cx="67308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DURATION</a:t>
            </a:r>
            <a:endParaRPr lang="en-US" sz="750" dirty="0"/>
          </a:p>
        </p:txBody>
      </p:sp>
      <p:sp>
        <p:nvSpPr>
          <p:cNvPr id="19" name="text 21.18"/>
          <p:cNvSpPr txBox="1"/>
          <p:nvPr/>
        </p:nvSpPr>
        <p:spPr>
          <a:xfrm>
            <a:off x="6362541"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16–20 Nov</a:t>
            </a:r>
            <a:endParaRPr lang="en-US" sz="900" dirty="0"/>
          </a:p>
        </p:txBody>
      </p:sp>
      <p:sp>
        <p:nvSpPr>
          <p:cNvPr id="20" name="shape 21.19"/>
          <p:cNvSpPr/>
          <p:nvPr/>
        </p:nvSpPr>
        <p:spPr>
          <a:xfrm>
            <a:off x="6387940" y="1854154"/>
            <a:ext cx="1215995" cy="203195"/>
          </a:xfrm>
          <a:prstGeom prst="roundRect">
            <a:avLst>
              <a:gd name="adj" fmla="val 50000"/>
            </a:avLst>
          </a:prstGeom>
          <a:solidFill>
            <a:srgbClr val="FF6B1F"/>
          </a:solidFill>
          <a:ln/>
        </p:spPr>
      </p:sp>
      <p:sp>
        <p:nvSpPr>
          <p:cNvPr id="21" name="text 21.20"/>
          <p:cNvSpPr txBox="1"/>
          <p:nvPr/>
        </p:nvSpPr>
        <p:spPr>
          <a:xfrm>
            <a:off x="6387940"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7</a:t>
            </a:r>
            <a:endParaRPr lang="en-US" sz="800" dirty="0"/>
          </a:p>
        </p:txBody>
      </p:sp>
      <p:sp>
        <p:nvSpPr>
          <p:cNvPr id="22" name="text 21.21"/>
          <p:cNvSpPr txBox="1"/>
          <p:nvPr/>
        </p:nvSpPr>
        <p:spPr>
          <a:xfrm>
            <a:off x="6362541"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23" name="text 21.22"/>
          <p:cNvSpPr txBox="1"/>
          <p:nvPr/>
        </p:nvSpPr>
        <p:spPr>
          <a:xfrm>
            <a:off x="6615840"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24" name="text 21.23"/>
          <p:cNvSpPr txBox="1"/>
          <p:nvPr/>
        </p:nvSpPr>
        <p:spPr>
          <a:xfrm>
            <a:off x="686923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25" name="text 21.24"/>
          <p:cNvSpPr txBox="1"/>
          <p:nvPr/>
        </p:nvSpPr>
        <p:spPr>
          <a:xfrm>
            <a:off x="712253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26" name="text 21.25"/>
          <p:cNvSpPr txBox="1"/>
          <p:nvPr/>
        </p:nvSpPr>
        <p:spPr>
          <a:xfrm>
            <a:off x="7375936"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27" name="text 21.26"/>
          <p:cNvSpPr txBox="1"/>
          <p:nvPr/>
        </p:nvSpPr>
        <p:spPr>
          <a:xfrm>
            <a:off x="7629334"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23–27 Nov</a:t>
            </a:r>
            <a:endParaRPr lang="en-US" sz="900" dirty="0"/>
          </a:p>
        </p:txBody>
      </p:sp>
      <p:sp>
        <p:nvSpPr>
          <p:cNvPr id="28" name="shape 21.27"/>
          <p:cNvSpPr/>
          <p:nvPr/>
        </p:nvSpPr>
        <p:spPr>
          <a:xfrm>
            <a:off x="7654734" y="1854154"/>
            <a:ext cx="1215995" cy="203195"/>
          </a:xfrm>
          <a:prstGeom prst="roundRect">
            <a:avLst>
              <a:gd name="adj" fmla="val 50000"/>
            </a:avLst>
          </a:prstGeom>
          <a:solidFill>
            <a:srgbClr val="FF6B1F"/>
          </a:solidFill>
          <a:ln/>
        </p:spPr>
      </p:sp>
      <p:sp>
        <p:nvSpPr>
          <p:cNvPr id="29" name="text 21.28"/>
          <p:cNvSpPr txBox="1"/>
          <p:nvPr/>
        </p:nvSpPr>
        <p:spPr>
          <a:xfrm>
            <a:off x="7654734"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8</a:t>
            </a:r>
            <a:endParaRPr lang="en-US" sz="800" dirty="0"/>
          </a:p>
        </p:txBody>
      </p:sp>
      <p:sp>
        <p:nvSpPr>
          <p:cNvPr id="30" name="text 21.29"/>
          <p:cNvSpPr txBox="1"/>
          <p:nvPr/>
        </p:nvSpPr>
        <p:spPr>
          <a:xfrm>
            <a:off x="7629334"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31" name="text 21.30"/>
          <p:cNvSpPr txBox="1"/>
          <p:nvPr/>
        </p:nvSpPr>
        <p:spPr>
          <a:xfrm>
            <a:off x="7882633"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32" name="text 21.31"/>
          <p:cNvSpPr txBox="1"/>
          <p:nvPr/>
        </p:nvSpPr>
        <p:spPr>
          <a:xfrm>
            <a:off x="8136032"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33" name="text 21.32"/>
          <p:cNvSpPr txBox="1"/>
          <p:nvPr/>
        </p:nvSpPr>
        <p:spPr>
          <a:xfrm>
            <a:off x="8389331"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34" name="text 21.33"/>
          <p:cNvSpPr txBox="1"/>
          <p:nvPr/>
        </p:nvSpPr>
        <p:spPr>
          <a:xfrm>
            <a:off x="8642729"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35" name="text 21.34"/>
          <p:cNvSpPr txBox="1"/>
          <p:nvPr/>
        </p:nvSpPr>
        <p:spPr>
          <a:xfrm>
            <a:off x="8896128"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30 Nov–4 Dec</a:t>
            </a:r>
            <a:endParaRPr lang="en-US" sz="900" dirty="0"/>
          </a:p>
        </p:txBody>
      </p:sp>
      <p:sp>
        <p:nvSpPr>
          <p:cNvPr id="36" name="shape 21.35"/>
          <p:cNvSpPr/>
          <p:nvPr/>
        </p:nvSpPr>
        <p:spPr>
          <a:xfrm>
            <a:off x="8921527" y="1854154"/>
            <a:ext cx="1215995" cy="203195"/>
          </a:xfrm>
          <a:prstGeom prst="roundRect">
            <a:avLst>
              <a:gd name="adj" fmla="val 50000"/>
            </a:avLst>
          </a:prstGeom>
          <a:solidFill>
            <a:srgbClr val="FF6B1F"/>
          </a:solidFill>
          <a:ln/>
        </p:spPr>
      </p:sp>
      <p:sp>
        <p:nvSpPr>
          <p:cNvPr id="37" name="text 21.36"/>
          <p:cNvSpPr txBox="1"/>
          <p:nvPr/>
        </p:nvSpPr>
        <p:spPr>
          <a:xfrm>
            <a:off x="8921527"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9</a:t>
            </a:r>
            <a:endParaRPr lang="en-US" sz="800" dirty="0"/>
          </a:p>
        </p:txBody>
      </p:sp>
      <p:sp>
        <p:nvSpPr>
          <p:cNvPr id="38" name="text 21.37"/>
          <p:cNvSpPr txBox="1"/>
          <p:nvPr/>
        </p:nvSpPr>
        <p:spPr>
          <a:xfrm>
            <a:off x="889612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39" name="text 21.38"/>
          <p:cNvSpPr txBox="1"/>
          <p:nvPr/>
        </p:nvSpPr>
        <p:spPr>
          <a:xfrm>
            <a:off x="9149427"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40" name="text 21.39"/>
          <p:cNvSpPr txBox="1"/>
          <p:nvPr/>
        </p:nvSpPr>
        <p:spPr>
          <a:xfrm>
            <a:off x="9402825"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41" name="text 21.40"/>
          <p:cNvSpPr txBox="1"/>
          <p:nvPr/>
        </p:nvSpPr>
        <p:spPr>
          <a:xfrm>
            <a:off x="9656124"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42" name="text 21.41"/>
          <p:cNvSpPr txBox="1"/>
          <p:nvPr/>
        </p:nvSpPr>
        <p:spPr>
          <a:xfrm>
            <a:off x="9909523"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43" name="text 21.42"/>
          <p:cNvSpPr txBox="1"/>
          <p:nvPr/>
        </p:nvSpPr>
        <p:spPr>
          <a:xfrm>
            <a:off x="10162921"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7–11 Dec</a:t>
            </a:r>
            <a:endParaRPr lang="en-US" sz="900" dirty="0"/>
          </a:p>
        </p:txBody>
      </p:sp>
      <p:sp>
        <p:nvSpPr>
          <p:cNvPr id="44" name="shape 21.43"/>
          <p:cNvSpPr/>
          <p:nvPr/>
        </p:nvSpPr>
        <p:spPr>
          <a:xfrm>
            <a:off x="10188320" y="1854154"/>
            <a:ext cx="1215995" cy="203195"/>
          </a:xfrm>
          <a:prstGeom prst="roundRect">
            <a:avLst>
              <a:gd name="adj" fmla="val 50000"/>
            </a:avLst>
          </a:prstGeom>
          <a:solidFill>
            <a:srgbClr val="FF6B1F"/>
          </a:solidFill>
          <a:ln/>
        </p:spPr>
      </p:sp>
      <p:sp>
        <p:nvSpPr>
          <p:cNvPr id="45" name="text 21.44"/>
          <p:cNvSpPr txBox="1"/>
          <p:nvPr/>
        </p:nvSpPr>
        <p:spPr>
          <a:xfrm>
            <a:off x="10188320"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10</a:t>
            </a:r>
            <a:endParaRPr lang="en-US" sz="800" dirty="0"/>
          </a:p>
        </p:txBody>
      </p:sp>
      <p:sp>
        <p:nvSpPr>
          <p:cNvPr id="46" name="text 21.45"/>
          <p:cNvSpPr txBox="1"/>
          <p:nvPr/>
        </p:nvSpPr>
        <p:spPr>
          <a:xfrm>
            <a:off x="10162921"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47" name="text 21.46"/>
          <p:cNvSpPr txBox="1"/>
          <p:nvPr/>
        </p:nvSpPr>
        <p:spPr>
          <a:xfrm>
            <a:off x="10416220"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48" name="text 21.47"/>
          <p:cNvSpPr txBox="1"/>
          <p:nvPr/>
        </p:nvSpPr>
        <p:spPr>
          <a:xfrm>
            <a:off x="1066961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49" name="text 21.48"/>
          <p:cNvSpPr txBox="1"/>
          <p:nvPr/>
        </p:nvSpPr>
        <p:spPr>
          <a:xfrm>
            <a:off x="1092291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50" name="text 21.49"/>
          <p:cNvSpPr txBox="1"/>
          <p:nvPr/>
        </p:nvSpPr>
        <p:spPr>
          <a:xfrm>
            <a:off x="11176316"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51" name="text 21.50"/>
          <p:cNvSpPr txBox="1"/>
          <p:nvPr/>
        </p:nvSpPr>
        <p:spPr>
          <a:xfrm>
            <a:off x="761981" y="2400240"/>
            <a:ext cx="155522" cy="146046"/>
          </a:xfrm>
          <a:prstGeom prst="rect">
            <a:avLst/>
          </a:prstGeom>
          <a:noFill/>
          <a:ln/>
        </p:spPr>
        <p:txBody>
          <a:bodyPr wrap="square" lIns="0" tIns="0" rIns="0" bIns="0" rtlCol="0" anchor="t"/>
          <a:lstStyle/>
          <a:p>
            <a:pPr algn="l" indent="0" marL="0">
              <a:lnSpc>
                <a:spcPts val="1150"/>
              </a:lnSpc>
              <a:buNone/>
            </a:pPr>
            <a:r>
              <a:rPr lang="en-US" sz="1150" dirty="0">
                <a:solidFill>
                  <a:srgbClr val="16233F"/>
                </a:solidFill>
                <a:latin typeface="Arial Rounded MT Bold" pitchFamily="34" charset="0"/>
                <a:ea typeface="Arial Rounded MT Bold" pitchFamily="34" charset="-122"/>
                <a:cs typeface="Arial Rounded MT Bold" pitchFamily="34" charset="-120"/>
              </a:rPr>
              <a:t>3</a:t>
            </a:r>
            <a:endParaRPr lang="en-US" sz="1150" dirty="0"/>
          </a:p>
        </p:txBody>
      </p:sp>
      <p:sp>
        <p:nvSpPr>
          <p:cNvPr id="52" name="text 21.51"/>
          <p:cNvSpPr txBox="1"/>
          <p:nvPr/>
        </p:nvSpPr>
        <p:spPr>
          <a:xfrm>
            <a:off x="1244569" y="2400240"/>
            <a:ext cx="1281569" cy="146046"/>
          </a:xfrm>
          <a:prstGeom prst="rect">
            <a:avLst/>
          </a:prstGeom>
          <a:noFill/>
          <a:ln/>
        </p:spPr>
        <p:txBody>
          <a:bodyPr wrap="square" lIns="0" tIns="0" rIns="0" bIns="0" rtlCol="0" anchor="t"/>
          <a:lstStyle/>
          <a:p>
            <a:pPr algn="l" indent="0" marL="0">
              <a:lnSpc>
                <a:spcPts val="1150"/>
              </a:lnSpc>
              <a:buNone/>
            </a:pPr>
            <a:r>
              <a:rPr lang="en-US" sz="1150" dirty="0">
                <a:solidFill>
                  <a:srgbClr val="16233F"/>
                </a:solidFill>
                <a:latin typeface="Arial Rounded MT Bold" pitchFamily="34" charset="0"/>
                <a:ea typeface="Arial Rounded MT Bold" pitchFamily="34" charset="-122"/>
                <a:cs typeface="Arial Rounded MT Bold" pitchFamily="34" charset="-120"/>
              </a:rPr>
              <a:t>Demo 2 · 14 Dec</a:t>
            </a:r>
            <a:endParaRPr lang="en-US" sz="1150" dirty="0"/>
          </a:p>
        </p:txBody>
      </p:sp>
      <p:sp>
        <p:nvSpPr>
          <p:cNvPr id="53" name="text 21.52"/>
          <p:cNvSpPr txBox="1"/>
          <p:nvPr/>
        </p:nvSpPr>
        <p:spPr>
          <a:xfrm>
            <a:off x="761981" y="2743131"/>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3.1</a:t>
            </a:r>
            <a:endParaRPr lang="en-US" sz="950" dirty="0"/>
          </a:p>
        </p:txBody>
      </p:sp>
      <p:sp>
        <p:nvSpPr>
          <p:cNvPr id="54" name="text 21.53"/>
          <p:cNvSpPr txBox="1"/>
          <p:nvPr/>
        </p:nvSpPr>
        <p:spPr>
          <a:xfrm>
            <a:off x="1244569" y="2736782"/>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Hit detection &amp; mass loss</a:t>
            </a:r>
            <a:endParaRPr lang="en-US" sz="1050" dirty="0"/>
          </a:p>
        </p:txBody>
      </p:sp>
      <p:sp>
        <p:nvSpPr>
          <p:cNvPr id="55" name="shape 21.54"/>
          <p:cNvSpPr/>
          <p:nvPr/>
        </p:nvSpPr>
        <p:spPr>
          <a:xfrm>
            <a:off x="4419490" y="2705032"/>
            <a:ext cx="977876" cy="203195"/>
          </a:xfrm>
          <a:prstGeom prst="roundRect">
            <a:avLst>
              <a:gd name="adj" fmla="val 50000"/>
            </a:avLst>
          </a:prstGeom>
          <a:solidFill>
            <a:srgbClr val="E2F4FD"/>
          </a:solidFill>
          <a:ln/>
        </p:spPr>
      </p:sp>
      <p:sp>
        <p:nvSpPr>
          <p:cNvPr id="56" name="text 21.55"/>
          <p:cNvSpPr txBox="1"/>
          <p:nvPr/>
        </p:nvSpPr>
        <p:spPr>
          <a:xfrm>
            <a:off x="4419490" y="2705032"/>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FA9EA"/>
                </a:solidFill>
                <a:latin typeface="Arial" pitchFamily="34" charset="0"/>
                <a:ea typeface="Arial" pitchFamily="34" charset="-122"/>
                <a:cs typeface="Arial" pitchFamily="34" charset="-120"/>
              </a:rPr>
              <a:t>Abdurrahim</a:t>
            </a:r>
            <a:endParaRPr lang="en-US" sz="850" dirty="0"/>
          </a:p>
        </p:txBody>
      </p:sp>
      <p:sp>
        <p:nvSpPr>
          <p:cNvPr id="57" name="text 21.56"/>
          <p:cNvSpPr txBox="1"/>
          <p:nvPr/>
        </p:nvSpPr>
        <p:spPr>
          <a:xfrm>
            <a:off x="5625959" y="2743131"/>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58" name="shape 21.57"/>
          <p:cNvSpPr/>
          <p:nvPr/>
        </p:nvSpPr>
        <p:spPr>
          <a:xfrm>
            <a:off x="6387940" y="2717732"/>
            <a:ext cx="1215995" cy="190495"/>
          </a:xfrm>
          <a:prstGeom prst="roundRect">
            <a:avLst>
              <a:gd name="adj" fmla="val 50000"/>
            </a:avLst>
          </a:prstGeom>
          <a:solidFill>
            <a:srgbClr val="1FA9EA"/>
          </a:solidFill>
          <a:ln/>
        </p:spPr>
      </p:sp>
      <p:sp>
        <p:nvSpPr>
          <p:cNvPr id="59" name="text 21.58"/>
          <p:cNvSpPr txBox="1"/>
          <p:nvPr/>
        </p:nvSpPr>
        <p:spPr>
          <a:xfrm>
            <a:off x="761981" y="3073323"/>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3.2</a:t>
            </a:r>
            <a:endParaRPr lang="en-US" sz="950" dirty="0"/>
          </a:p>
        </p:txBody>
      </p:sp>
      <p:sp>
        <p:nvSpPr>
          <p:cNvPr id="60" name="text 21.59"/>
          <p:cNvSpPr txBox="1"/>
          <p:nvPr/>
        </p:nvSpPr>
        <p:spPr>
          <a:xfrm>
            <a:off x="1244569" y="3066973"/>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Knockback scaled by mass</a:t>
            </a:r>
            <a:endParaRPr lang="en-US" sz="1050" dirty="0"/>
          </a:p>
        </p:txBody>
      </p:sp>
      <p:sp>
        <p:nvSpPr>
          <p:cNvPr id="61" name="shape 21.60"/>
          <p:cNvSpPr/>
          <p:nvPr/>
        </p:nvSpPr>
        <p:spPr>
          <a:xfrm>
            <a:off x="4419490" y="3035224"/>
            <a:ext cx="977876" cy="203195"/>
          </a:xfrm>
          <a:prstGeom prst="roundRect">
            <a:avLst>
              <a:gd name="adj" fmla="val 50000"/>
            </a:avLst>
          </a:prstGeom>
          <a:solidFill>
            <a:srgbClr val="E2F4FD"/>
          </a:solidFill>
          <a:ln/>
        </p:spPr>
      </p:sp>
      <p:sp>
        <p:nvSpPr>
          <p:cNvPr id="62" name="text 21.61"/>
          <p:cNvSpPr txBox="1"/>
          <p:nvPr/>
        </p:nvSpPr>
        <p:spPr>
          <a:xfrm>
            <a:off x="4419490" y="3035224"/>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FA9EA"/>
                </a:solidFill>
                <a:latin typeface="Arial" pitchFamily="34" charset="0"/>
                <a:ea typeface="Arial" pitchFamily="34" charset="-122"/>
                <a:cs typeface="Arial" pitchFamily="34" charset="-120"/>
              </a:rPr>
              <a:t>Abdurrahim</a:t>
            </a:r>
            <a:endParaRPr lang="en-US" sz="850" dirty="0"/>
          </a:p>
        </p:txBody>
      </p:sp>
      <p:sp>
        <p:nvSpPr>
          <p:cNvPr id="63" name="text 21.62"/>
          <p:cNvSpPr txBox="1"/>
          <p:nvPr/>
        </p:nvSpPr>
        <p:spPr>
          <a:xfrm>
            <a:off x="5625959" y="3073323"/>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64" name="shape 21.63"/>
          <p:cNvSpPr/>
          <p:nvPr/>
        </p:nvSpPr>
        <p:spPr>
          <a:xfrm>
            <a:off x="7654734" y="3047924"/>
            <a:ext cx="1215995" cy="190495"/>
          </a:xfrm>
          <a:prstGeom prst="roundRect">
            <a:avLst>
              <a:gd name="adj" fmla="val 50000"/>
            </a:avLst>
          </a:prstGeom>
          <a:solidFill>
            <a:srgbClr val="1FA9EA"/>
          </a:solidFill>
          <a:ln/>
        </p:spPr>
      </p:sp>
      <p:sp>
        <p:nvSpPr>
          <p:cNvPr id="65" name="text 21.64"/>
          <p:cNvSpPr txBox="1"/>
          <p:nvPr/>
        </p:nvSpPr>
        <p:spPr>
          <a:xfrm>
            <a:off x="761981" y="3403515"/>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3.3</a:t>
            </a:r>
            <a:endParaRPr lang="en-US" sz="950" dirty="0"/>
          </a:p>
        </p:txBody>
      </p:sp>
      <p:sp>
        <p:nvSpPr>
          <p:cNvPr id="66" name="text 21.65"/>
          <p:cNvSpPr txBox="1"/>
          <p:nvPr/>
        </p:nvSpPr>
        <p:spPr>
          <a:xfrm>
            <a:off x="1244569" y="3397165"/>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Knockout credit &amp; full-mass respawn</a:t>
            </a:r>
            <a:endParaRPr lang="en-US" sz="1050" dirty="0"/>
          </a:p>
        </p:txBody>
      </p:sp>
      <p:sp>
        <p:nvSpPr>
          <p:cNvPr id="67" name="shape 21.66"/>
          <p:cNvSpPr/>
          <p:nvPr/>
        </p:nvSpPr>
        <p:spPr>
          <a:xfrm>
            <a:off x="4419490" y="3365416"/>
            <a:ext cx="977876" cy="203195"/>
          </a:xfrm>
          <a:prstGeom prst="roundRect">
            <a:avLst>
              <a:gd name="adj" fmla="val 50000"/>
            </a:avLst>
          </a:prstGeom>
          <a:solidFill>
            <a:srgbClr val="E2F4FD"/>
          </a:solidFill>
          <a:ln/>
        </p:spPr>
      </p:sp>
      <p:sp>
        <p:nvSpPr>
          <p:cNvPr id="68" name="text 21.67"/>
          <p:cNvSpPr txBox="1"/>
          <p:nvPr/>
        </p:nvSpPr>
        <p:spPr>
          <a:xfrm>
            <a:off x="4419490" y="3365416"/>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FA9EA"/>
                </a:solidFill>
                <a:latin typeface="Arial" pitchFamily="34" charset="0"/>
                <a:ea typeface="Arial" pitchFamily="34" charset="-122"/>
                <a:cs typeface="Arial" pitchFamily="34" charset="-120"/>
              </a:rPr>
              <a:t>Abdurrahim</a:t>
            </a:r>
            <a:endParaRPr lang="en-US" sz="850" dirty="0"/>
          </a:p>
        </p:txBody>
      </p:sp>
      <p:sp>
        <p:nvSpPr>
          <p:cNvPr id="69" name="text 21.68"/>
          <p:cNvSpPr txBox="1"/>
          <p:nvPr/>
        </p:nvSpPr>
        <p:spPr>
          <a:xfrm>
            <a:off x="5625959" y="3403515"/>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70" name="shape 21.69"/>
          <p:cNvSpPr/>
          <p:nvPr/>
        </p:nvSpPr>
        <p:spPr>
          <a:xfrm>
            <a:off x="8921527" y="3378116"/>
            <a:ext cx="1215995" cy="190495"/>
          </a:xfrm>
          <a:prstGeom prst="roundRect">
            <a:avLst>
              <a:gd name="adj" fmla="val 50000"/>
            </a:avLst>
          </a:prstGeom>
          <a:solidFill>
            <a:srgbClr val="1FA9EA"/>
          </a:solidFill>
          <a:ln/>
        </p:spPr>
      </p:sp>
      <p:sp>
        <p:nvSpPr>
          <p:cNvPr id="71" name="text 21.70"/>
          <p:cNvSpPr txBox="1"/>
          <p:nvPr/>
        </p:nvSpPr>
        <p:spPr>
          <a:xfrm>
            <a:off x="761981" y="3733707"/>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3.4</a:t>
            </a:r>
            <a:endParaRPr lang="en-US" sz="950" dirty="0"/>
          </a:p>
        </p:txBody>
      </p:sp>
      <p:sp>
        <p:nvSpPr>
          <p:cNvPr id="72" name="text 21.71"/>
          <p:cNvSpPr txBox="1"/>
          <p:nvPr/>
        </p:nvSpPr>
        <p:spPr>
          <a:xfrm>
            <a:off x="1244569" y="3727357"/>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Networked projectiles &amp; hits</a:t>
            </a:r>
            <a:endParaRPr lang="en-US" sz="1050" dirty="0"/>
          </a:p>
        </p:txBody>
      </p:sp>
      <p:sp>
        <p:nvSpPr>
          <p:cNvPr id="73" name="shape 21.72"/>
          <p:cNvSpPr/>
          <p:nvPr/>
        </p:nvSpPr>
        <p:spPr>
          <a:xfrm>
            <a:off x="4419490" y="3695608"/>
            <a:ext cx="977876" cy="203195"/>
          </a:xfrm>
          <a:prstGeom prst="roundRect">
            <a:avLst>
              <a:gd name="adj" fmla="val 50000"/>
            </a:avLst>
          </a:prstGeom>
          <a:solidFill>
            <a:srgbClr val="FFF0E6"/>
          </a:solidFill>
          <a:ln/>
        </p:spPr>
      </p:sp>
      <p:sp>
        <p:nvSpPr>
          <p:cNvPr id="74" name="text 21.73"/>
          <p:cNvSpPr txBox="1"/>
          <p:nvPr/>
        </p:nvSpPr>
        <p:spPr>
          <a:xfrm>
            <a:off x="4419490" y="3695608"/>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75" name="text 21.74"/>
          <p:cNvSpPr txBox="1"/>
          <p:nvPr/>
        </p:nvSpPr>
        <p:spPr>
          <a:xfrm>
            <a:off x="5625959" y="3733707"/>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3 wk</a:t>
            </a:r>
            <a:endParaRPr lang="en-US" sz="950" dirty="0"/>
          </a:p>
        </p:txBody>
      </p:sp>
      <p:sp>
        <p:nvSpPr>
          <p:cNvPr id="76" name="shape 21.75"/>
          <p:cNvSpPr/>
          <p:nvPr/>
        </p:nvSpPr>
        <p:spPr>
          <a:xfrm>
            <a:off x="6387940" y="3708307"/>
            <a:ext cx="3749581" cy="190495"/>
          </a:xfrm>
          <a:prstGeom prst="roundRect">
            <a:avLst>
              <a:gd name="adj" fmla="val 50000"/>
            </a:avLst>
          </a:prstGeom>
          <a:solidFill>
            <a:srgbClr val="FF6B1F"/>
          </a:solidFill>
          <a:ln/>
        </p:spPr>
      </p:sp>
      <p:sp>
        <p:nvSpPr>
          <p:cNvPr id="77" name="text 21.76"/>
          <p:cNvSpPr txBox="1"/>
          <p:nvPr/>
        </p:nvSpPr>
        <p:spPr>
          <a:xfrm>
            <a:off x="761981" y="4063898"/>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3.5</a:t>
            </a:r>
            <a:endParaRPr lang="en-US" sz="950" dirty="0"/>
          </a:p>
        </p:txBody>
      </p:sp>
      <p:sp>
        <p:nvSpPr>
          <p:cNvPr id="78" name="text 21.77"/>
          <p:cNvSpPr txBox="1"/>
          <p:nvPr/>
        </p:nvSpPr>
        <p:spPr>
          <a:xfrm>
            <a:off x="1244569" y="4057549"/>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Mass Knockout arena</a:t>
            </a:r>
            <a:endParaRPr lang="en-US" sz="1050" dirty="0"/>
          </a:p>
        </p:txBody>
      </p:sp>
      <p:sp>
        <p:nvSpPr>
          <p:cNvPr id="79" name="shape 21.78"/>
          <p:cNvSpPr/>
          <p:nvPr/>
        </p:nvSpPr>
        <p:spPr>
          <a:xfrm>
            <a:off x="4419490" y="4025799"/>
            <a:ext cx="977876" cy="203195"/>
          </a:xfrm>
          <a:prstGeom prst="roundRect">
            <a:avLst>
              <a:gd name="adj" fmla="val 50000"/>
            </a:avLst>
          </a:prstGeom>
          <a:solidFill>
            <a:srgbClr val="F0E8FF"/>
          </a:solidFill>
          <a:ln/>
        </p:spPr>
      </p:sp>
      <p:sp>
        <p:nvSpPr>
          <p:cNvPr id="80" name="text 21.79"/>
          <p:cNvSpPr txBox="1"/>
          <p:nvPr/>
        </p:nvSpPr>
        <p:spPr>
          <a:xfrm>
            <a:off x="4419490" y="4025799"/>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81" name="text 21.80"/>
          <p:cNvSpPr txBox="1"/>
          <p:nvPr/>
        </p:nvSpPr>
        <p:spPr>
          <a:xfrm>
            <a:off x="5625959" y="4063898"/>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82" name="shape 21.81"/>
          <p:cNvSpPr/>
          <p:nvPr/>
        </p:nvSpPr>
        <p:spPr>
          <a:xfrm>
            <a:off x="6387940" y="4038499"/>
            <a:ext cx="2482788" cy="190495"/>
          </a:xfrm>
          <a:prstGeom prst="roundRect">
            <a:avLst>
              <a:gd name="adj" fmla="val 50000"/>
            </a:avLst>
          </a:prstGeom>
          <a:solidFill>
            <a:srgbClr val="8F55F5"/>
          </a:solidFill>
          <a:ln/>
        </p:spPr>
      </p:sp>
      <p:sp>
        <p:nvSpPr>
          <p:cNvPr id="83" name="text 21.82"/>
          <p:cNvSpPr txBox="1"/>
          <p:nvPr/>
        </p:nvSpPr>
        <p:spPr>
          <a:xfrm>
            <a:off x="761981" y="4394090"/>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3.6</a:t>
            </a:r>
            <a:endParaRPr lang="en-US" sz="950" dirty="0"/>
          </a:p>
        </p:txBody>
      </p:sp>
      <p:sp>
        <p:nvSpPr>
          <p:cNvPr id="84" name="text 21.83"/>
          <p:cNvSpPr txBox="1"/>
          <p:nvPr/>
        </p:nvSpPr>
        <p:spPr>
          <a:xfrm>
            <a:off x="1244569" y="4387740"/>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Ice Race finish &amp; placement</a:t>
            </a:r>
            <a:endParaRPr lang="en-US" sz="1050" dirty="0"/>
          </a:p>
        </p:txBody>
      </p:sp>
      <p:sp>
        <p:nvSpPr>
          <p:cNvPr id="85" name="shape 21.84"/>
          <p:cNvSpPr/>
          <p:nvPr/>
        </p:nvSpPr>
        <p:spPr>
          <a:xfrm>
            <a:off x="4419490" y="4355991"/>
            <a:ext cx="977876" cy="203195"/>
          </a:xfrm>
          <a:prstGeom prst="roundRect">
            <a:avLst>
              <a:gd name="adj" fmla="val 50000"/>
            </a:avLst>
          </a:prstGeom>
          <a:solidFill>
            <a:srgbClr val="E6F6E1"/>
          </a:solidFill>
          <a:ln/>
        </p:spPr>
      </p:sp>
      <p:sp>
        <p:nvSpPr>
          <p:cNvPr id="86" name="text 21.85"/>
          <p:cNvSpPr txBox="1"/>
          <p:nvPr/>
        </p:nvSpPr>
        <p:spPr>
          <a:xfrm>
            <a:off x="4419490" y="4355991"/>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87" name="text 21.86"/>
          <p:cNvSpPr txBox="1"/>
          <p:nvPr/>
        </p:nvSpPr>
        <p:spPr>
          <a:xfrm>
            <a:off x="5625959" y="4394090"/>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88" name="shape 21.87"/>
          <p:cNvSpPr/>
          <p:nvPr/>
        </p:nvSpPr>
        <p:spPr>
          <a:xfrm>
            <a:off x="6387940" y="4368691"/>
            <a:ext cx="2482788" cy="190495"/>
          </a:xfrm>
          <a:prstGeom prst="roundRect">
            <a:avLst>
              <a:gd name="adj" fmla="val 50000"/>
            </a:avLst>
          </a:prstGeom>
          <a:solidFill>
            <a:srgbClr val="43B832"/>
          </a:solidFill>
          <a:ln/>
        </p:spPr>
      </p:sp>
      <p:sp>
        <p:nvSpPr>
          <p:cNvPr id="89" name="text 21.88"/>
          <p:cNvSpPr txBox="1"/>
          <p:nvPr/>
        </p:nvSpPr>
        <p:spPr>
          <a:xfrm>
            <a:off x="761981" y="4724282"/>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3.7</a:t>
            </a:r>
            <a:endParaRPr lang="en-US" sz="950" dirty="0"/>
          </a:p>
        </p:txBody>
      </p:sp>
      <p:sp>
        <p:nvSpPr>
          <p:cNvPr id="90" name="text 21.89"/>
          <p:cNvSpPr txBox="1"/>
          <p:nvPr/>
        </p:nvSpPr>
        <p:spPr>
          <a:xfrm>
            <a:off x="1244569" y="4717932"/>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Round state machine &amp; rotation</a:t>
            </a:r>
            <a:endParaRPr lang="en-US" sz="1050" dirty="0"/>
          </a:p>
        </p:txBody>
      </p:sp>
      <p:sp>
        <p:nvSpPr>
          <p:cNvPr id="91" name="shape 21.90"/>
          <p:cNvSpPr/>
          <p:nvPr/>
        </p:nvSpPr>
        <p:spPr>
          <a:xfrm>
            <a:off x="4419490" y="4686183"/>
            <a:ext cx="977876" cy="203195"/>
          </a:xfrm>
          <a:prstGeom prst="roundRect">
            <a:avLst>
              <a:gd name="adj" fmla="val 50000"/>
            </a:avLst>
          </a:prstGeom>
          <a:solidFill>
            <a:srgbClr val="E6F6E1"/>
          </a:solidFill>
          <a:ln/>
        </p:spPr>
      </p:sp>
      <p:sp>
        <p:nvSpPr>
          <p:cNvPr id="92" name="text 21.91"/>
          <p:cNvSpPr txBox="1"/>
          <p:nvPr/>
        </p:nvSpPr>
        <p:spPr>
          <a:xfrm>
            <a:off x="4419490" y="4686183"/>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93" name="text 21.92"/>
          <p:cNvSpPr txBox="1"/>
          <p:nvPr/>
        </p:nvSpPr>
        <p:spPr>
          <a:xfrm>
            <a:off x="5625959" y="4724282"/>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94" name="shape 21.93"/>
          <p:cNvSpPr/>
          <p:nvPr/>
        </p:nvSpPr>
        <p:spPr>
          <a:xfrm>
            <a:off x="8921527" y="4698883"/>
            <a:ext cx="2482788" cy="190495"/>
          </a:xfrm>
          <a:prstGeom prst="roundRect">
            <a:avLst>
              <a:gd name="adj" fmla="val 50000"/>
            </a:avLst>
          </a:prstGeom>
          <a:solidFill>
            <a:srgbClr val="43B832"/>
          </a:solidFill>
          <a:ln/>
        </p:spPr>
      </p:sp>
      <p:sp>
        <p:nvSpPr>
          <p:cNvPr id="95" name="text 21.94"/>
          <p:cNvSpPr txBox="1"/>
          <p:nvPr/>
        </p:nvSpPr>
        <p:spPr>
          <a:xfrm>
            <a:off x="761981" y="5054474"/>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3.8</a:t>
            </a:r>
            <a:endParaRPr lang="en-US" sz="950" dirty="0"/>
          </a:p>
        </p:txBody>
      </p:sp>
      <p:sp>
        <p:nvSpPr>
          <p:cNvPr id="96" name="text 21.95"/>
          <p:cNvSpPr txBox="1"/>
          <p:nvPr/>
        </p:nvSpPr>
        <p:spPr>
          <a:xfrm>
            <a:off x="1244569" y="5048124"/>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Scoreboard &amp; catch-up scoring</a:t>
            </a:r>
            <a:endParaRPr lang="en-US" sz="1050" dirty="0"/>
          </a:p>
        </p:txBody>
      </p:sp>
      <p:sp>
        <p:nvSpPr>
          <p:cNvPr id="97" name="shape 21.96"/>
          <p:cNvSpPr/>
          <p:nvPr/>
        </p:nvSpPr>
        <p:spPr>
          <a:xfrm>
            <a:off x="4419490" y="5016375"/>
            <a:ext cx="977876" cy="203195"/>
          </a:xfrm>
          <a:prstGeom prst="roundRect">
            <a:avLst>
              <a:gd name="adj" fmla="val 50000"/>
            </a:avLst>
          </a:prstGeom>
          <a:solidFill>
            <a:srgbClr val="F0E8FF"/>
          </a:solidFill>
          <a:ln/>
        </p:spPr>
      </p:sp>
      <p:sp>
        <p:nvSpPr>
          <p:cNvPr id="98" name="text 21.97"/>
          <p:cNvSpPr txBox="1"/>
          <p:nvPr/>
        </p:nvSpPr>
        <p:spPr>
          <a:xfrm>
            <a:off x="4419490" y="5016375"/>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99" name="text 21.98"/>
          <p:cNvSpPr txBox="1"/>
          <p:nvPr/>
        </p:nvSpPr>
        <p:spPr>
          <a:xfrm>
            <a:off x="5625959" y="5054474"/>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100" name="shape 21.99"/>
          <p:cNvSpPr/>
          <p:nvPr/>
        </p:nvSpPr>
        <p:spPr>
          <a:xfrm>
            <a:off x="8921527" y="5029074"/>
            <a:ext cx="2482788" cy="190495"/>
          </a:xfrm>
          <a:prstGeom prst="roundRect">
            <a:avLst>
              <a:gd name="adj" fmla="val 50000"/>
            </a:avLst>
          </a:prstGeom>
          <a:solidFill>
            <a:srgbClr val="8F55F5"/>
          </a:solidFill>
          <a:ln/>
        </p:spPr>
      </p:sp>
      <p:sp>
        <p:nvSpPr>
          <p:cNvPr id="101" name="text 21.100"/>
          <p:cNvSpPr txBox="1"/>
          <p:nvPr/>
        </p:nvSpPr>
        <p:spPr>
          <a:xfrm>
            <a:off x="761981" y="5384665"/>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3.9</a:t>
            </a:r>
            <a:endParaRPr lang="en-US" sz="950" dirty="0"/>
          </a:p>
        </p:txBody>
      </p:sp>
      <p:sp>
        <p:nvSpPr>
          <p:cNvPr id="102" name="text 21.101"/>
          <p:cNvSpPr txBox="1"/>
          <p:nvPr/>
        </p:nvSpPr>
        <p:spPr>
          <a:xfrm>
            <a:off x="1244569" y="5378316"/>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First full-session playtest</a:t>
            </a:r>
            <a:endParaRPr lang="en-US" sz="1050" dirty="0"/>
          </a:p>
        </p:txBody>
      </p:sp>
      <p:sp>
        <p:nvSpPr>
          <p:cNvPr id="103" name="shape 21.102"/>
          <p:cNvSpPr/>
          <p:nvPr/>
        </p:nvSpPr>
        <p:spPr>
          <a:xfrm>
            <a:off x="4419490" y="5346566"/>
            <a:ext cx="977876" cy="203195"/>
          </a:xfrm>
          <a:prstGeom prst="roundRect">
            <a:avLst>
              <a:gd name="adj" fmla="val 50000"/>
            </a:avLst>
          </a:prstGeom>
          <a:solidFill>
            <a:srgbClr val="E9EFF8"/>
          </a:solidFill>
          <a:ln/>
        </p:spPr>
      </p:sp>
      <p:sp>
        <p:nvSpPr>
          <p:cNvPr id="104" name="text 21.103"/>
          <p:cNvSpPr txBox="1"/>
          <p:nvPr/>
        </p:nvSpPr>
        <p:spPr>
          <a:xfrm>
            <a:off x="4419490" y="5346566"/>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3B4A66"/>
                </a:solidFill>
                <a:latin typeface="Arial" pitchFamily="34" charset="0"/>
                <a:ea typeface="Arial" pitchFamily="34" charset="-122"/>
                <a:cs typeface="Arial" pitchFamily="34" charset="-120"/>
              </a:rPr>
              <a:t>Team</a:t>
            </a:r>
            <a:endParaRPr lang="en-US" sz="850" dirty="0"/>
          </a:p>
        </p:txBody>
      </p:sp>
      <p:sp>
        <p:nvSpPr>
          <p:cNvPr id="105" name="text 21.104"/>
          <p:cNvSpPr txBox="1"/>
          <p:nvPr/>
        </p:nvSpPr>
        <p:spPr>
          <a:xfrm>
            <a:off x="5625959" y="5384665"/>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106" name="shape 21.105"/>
          <p:cNvSpPr/>
          <p:nvPr/>
        </p:nvSpPr>
        <p:spPr>
          <a:xfrm>
            <a:off x="10188320" y="5359266"/>
            <a:ext cx="1215995" cy="190495"/>
          </a:xfrm>
          <a:prstGeom prst="roundRect">
            <a:avLst>
              <a:gd name="adj" fmla="val 50000"/>
            </a:avLst>
          </a:prstGeom>
          <a:solidFill>
            <a:srgbClr val="16233F"/>
          </a:solidFill>
          <a:ln/>
        </p:spPr>
      </p:sp>
      <p:sp>
        <p:nvSpPr>
          <p:cNvPr id="107" name="text 21.106"/>
          <p:cNvSpPr txBox="1"/>
          <p:nvPr/>
        </p:nvSpPr>
        <p:spPr>
          <a:xfrm>
            <a:off x="761981" y="5714857"/>
            <a:ext cx="312434"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3.10</a:t>
            </a:r>
            <a:endParaRPr lang="en-US" sz="950" dirty="0"/>
          </a:p>
        </p:txBody>
      </p:sp>
      <p:sp>
        <p:nvSpPr>
          <p:cNvPr id="108" name="text 21.107"/>
          <p:cNvSpPr txBox="1"/>
          <p:nvPr/>
        </p:nvSpPr>
        <p:spPr>
          <a:xfrm>
            <a:off x="1244569" y="5708507"/>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Demo 2 build &amp; presentation</a:t>
            </a:r>
            <a:endParaRPr lang="en-US" sz="1050" dirty="0"/>
          </a:p>
        </p:txBody>
      </p:sp>
      <p:sp>
        <p:nvSpPr>
          <p:cNvPr id="109" name="shape 21.108"/>
          <p:cNvSpPr/>
          <p:nvPr/>
        </p:nvSpPr>
        <p:spPr>
          <a:xfrm>
            <a:off x="4419490" y="5676758"/>
            <a:ext cx="977876" cy="203195"/>
          </a:xfrm>
          <a:prstGeom prst="roundRect">
            <a:avLst>
              <a:gd name="adj" fmla="val 50000"/>
            </a:avLst>
          </a:prstGeom>
          <a:solidFill>
            <a:srgbClr val="E9EFF8"/>
          </a:solidFill>
          <a:ln/>
        </p:spPr>
      </p:sp>
      <p:sp>
        <p:nvSpPr>
          <p:cNvPr id="110" name="text 21.109"/>
          <p:cNvSpPr txBox="1"/>
          <p:nvPr/>
        </p:nvSpPr>
        <p:spPr>
          <a:xfrm>
            <a:off x="4419490" y="5676758"/>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3B4A66"/>
                </a:solidFill>
                <a:latin typeface="Arial" pitchFamily="34" charset="0"/>
                <a:ea typeface="Arial" pitchFamily="34" charset="-122"/>
                <a:cs typeface="Arial" pitchFamily="34" charset="-120"/>
              </a:rPr>
              <a:t>Team</a:t>
            </a:r>
            <a:endParaRPr lang="en-US" sz="850" dirty="0"/>
          </a:p>
        </p:txBody>
      </p:sp>
      <p:sp>
        <p:nvSpPr>
          <p:cNvPr id="111" name="text 21.110"/>
          <p:cNvSpPr txBox="1"/>
          <p:nvPr/>
        </p:nvSpPr>
        <p:spPr>
          <a:xfrm>
            <a:off x="5625959" y="5714857"/>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112" name="shape 21.111"/>
          <p:cNvSpPr/>
          <p:nvPr/>
        </p:nvSpPr>
        <p:spPr>
          <a:xfrm>
            <a:off x="10188320" y="5689458"/>
            <a:ext cx="1215995" cy="190495"/>
          </a:xfrm>
          <a:prstGeom prst="roundRect">
            <a:avLst>
              <a:gd name="adj" fmla="val 50000"/>
            </a:avLst>
          </a:prstGeom>
          <a:solidFill>
            <a:srgbClr val="16233F"/>
          </a:solidFill>
          <a:ln/>
        </p:spPr>
      </p:sp>
      <p:sp>
        <p:nvSpPr>
          <p:cNvPr id="113" name="shape 21.112"/>
          <p:cNvSpPr/>
          <p:nvPr/>
        </p:nvSpPr>
        <p:spPr>
          <a:xfrm>
            <a:off x="609585" y="266693"/>
            <a:ext cx="1829945"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14" name="shape 21.113"/>
          <p:cNvSpPr/>
          <p:nvPr/>
        </p:nvSpPr>
        <p:spPr>
          <a:xfrm>
            <a:off x="711182" y="355591"/>
            <a:ext cx="114297" cy="114297"/>
          </a:xfrm>
          <a:prstGeom prst="roundRect">
            <a:avLst>
              <a:gd name="adj" fmla="val 33333"/>
            </a:avLst>
          </a:prstGeom>
          <a:solidFill>
            <a:srgbClr val="1FA9EA"/>
          </a:solidFill>
          <a:ln/>
        </p:spPr>
      </p:sp>
      <p:sp>
        <p:nvSpPr>
          <p:cNvPr id="115" name="shape 21.114"/>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16" name="shape 21.115"/>
          <p:cNvSpPr/>
          <p:nvPr/>
        </p:nvSpPr>
        <p:spPr>
          <a:xfrm>
            <a:off x="10058149" y="368291"/>
            <a:ext cx="101597" cy="101597"/>
          </a:xfrm>
          <a:prstGeom prst="roundRect">
            <a:avLst>
              <a:gd name="adj" fmla="val 31250"/>
            </a:avLst>
          </a:prstGeom>
          <a:solidFill>
            <a:srgbClr val="16233F"/>
          </a:solidFill>
          <a:ln/>
        </p:spPr>
      </p:sp>
      <p:sp>
        <p:nvSpPr>
          <p:cNvPr id="117" name="shape 21.116"/>
          <p:cNvSpPr/>
          <p:nvPr/>
        </p:nvSpPr>
        <p:spPr>
          <a:xfrm>
            <a:off x="10223244" y="368291"/>
            <a:ext cx="101597" cy="101597"/>
          </a:xfrm>
          <a:prstGeom prst="roundRect">
            <a:avLst>
              <a:gd name="adj" fmla="val 31250"/>
            </a:avLst>
          </a:prstGeom>
          <a:solidFill>
            <a:srgbClr val="16233F"/>
          </a:solidFill>
          <a:ln/>
        </p:spPr>
      </p:sp>
      <p:sp>
        <p:nvSpPr>
          <p:cNvPr id="118" name="shape 21.117"/>
          <p:cNvSpPr/>
          <p:nvPr/>
        </p:nvSpPr>
        <p:spPr>
          <a:xfrm>
            <a:off x="10388340" y="368291"/>
            <a:ext cx="101597" cy="101597"/>
          </a:xfrm>
          <a:prstGeom prst="roundRect">
            <a:avLst>
              <a:gd name="adj" fmla="val 31250"/>
            </a:avLst>
          </a:prstGeom>
          <a:solidFill>
            <a:srgbClr val="16233F"/>
          </a:solidFill>
          <a:ln/>
        </p:spPr>
      </p:sp>
      <p:sp>
        <p:nvSpPr>
          <p:cNvPr id="119" name="shape 21.118"/>
          <p:cNvSpPr/>
          <p:nvPr/>
        </p:nvSpPr>
        <p:spPr>
          <a:xfrm>
            <a:off x="10553436" y="368291"/>
            <a:ext cx="101597" cy="101597"/>
          </a:xfrm>
          <a:prstGeom prst="roundRect">
            <a:avLst>
              <a:gd name="adj" fmla="val 31250"/>
            </a:avLst>
          </a:prstGeom>
          <a:solidFill>
            <a:srgbClr val="16233F"/>
          </a:solidFill>
          <a:ln/>
        </p:spPr>
      </p:sp>
      <p:sp>
        <p:nvSpPr>
          <p:cNvPr id="120" name="shape 21.119"/>
          <p:cNvSpPr/>
          <p:nvPr/>
        </p:nvSpPr>
        <p:spPr>
          <a:xfrm>
            <a:off x="10718532" y="368291"/>
            <a:ext cx="101597" cy="101597"/>
          </a:xfrm>
          <a:prstGeom prst="roundRect">
            <a:avLst>
              <a:gd name="adj" fmla="val 31250"/>
            </a:avLst>
          </a:prstGeom>
          <a:solidFill>
            <a:srgbClr val="16233F"/>
          </a:solidFill>
          <a:ln/>
        </p:spPr>
      </p:sp>
      <p:sp>
        <p:nvSpPr>
          <p:cNvPr id="121" name="shape 21.120"/>
          <p:cNvSpPr/>
          <p:nvPr/>
        </p:nvSpPr>
        <p:spPr>
          <a:xfrm>
            <a:off x="10883628" y="368291"/>
            <a:ext cx="101597" cy="101597"/>
          </a:xfrm>
          <a:prstGeom prst="roundRect">
            <a:avLst>
              <a:gd name="adj" fmla="val 31250"/>
            </a:avLst>
          </a:prstGeom>
          <a:solidFill>
            <a:srgbClr val="1FA9EA"/>
          </a:solidFill>
          <a:ln/>
        </p:spPr>
      </p:sp>
      <p:sp>
        <p:nvSpPr>
          <p:cNvPr id="122" name="text 21.121"/>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21</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123" name="text 21.122"/>
          <p:cNvSpPr txBox="1"/>
          <p:nvPr/>
        </p:nvSpPr>
        <p:spPr>
          <a:xfrm>
            <a:off x="927077" y="349241"/>
            <a:ext cx="1400305"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06 · Development plan</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2.1"/>
          <p:cNvSpPr/>
          <p:nvPr/>
        </p:nvSpPr>
        <p:spPr>
          <a:xfrm>
            <a:off x="609585" y="1523962"/>
            <a:ext cx="10972526" cy="3225719"/>
          </a:xfrm>
          <a:prstGeom prst="roundRect">
            <a:avLst>
              <a:gd name="adj" fmla="val 5512"/>
            </a:avLst>
          </a:prstGeom>
          <a:solidFill>
            <a:srgbClr val="FFFFFF"/>
          </a:solidFill>
          <a:ln/>
          <a:effectLst>
            <a:outerShdw sx="100000" sy="100000" kx="0" ky="0" algn="bl" rotWithShape="0" blurRad="203200" dist="76200" dir="5400000">
              <a:srgbClr val="1E468C">
                <a:alpha val="16000"/>
              </a:srgbClr>
            </a:outerShdw>
          </a:effectLst>
        </p:spPr>
      </p:sp>
      <p:sp>
        <p:nvSpPr>
          <p:cNvPr id="3" name="shape 22.2"/>
          <p:cNvSpPr/>
          <p:nvPr/>
        </p:nvSpPr>
        <p:spPr>
          <a:xfrm>
            <a:off x="698483" y="2324042"/>
            <a:ext cx="10794730" cy="292093"/>
          </a:xfrm>
          <a:prstGeom prst="roundRect">
            <a:avLst>
              <a:gd name="adj" fmla="val 30435"/>
            </a:avLst>
          </a:prstGeom>
          <a:solidFill>
            <a:srgbClr val="F1F5FB"/>
          </a:solidFill>
          <a:ln/>
        </p:spPr>
      </p:sp>
      <p:pic>
        <p:nvPicPr>
          <p:cNvPr id="4" name="raster 22.3" descr="diagram">    </p:cNvPr>
          <p:cNvPicPr>
            <a:picLocks noChangeAspect="1"/>
          </p:cNvPicPr>
          <p:nvPr/>
        </p:nvPicPr>
        <p:blipFill>
          <a:blip r:embed="rId2"/>
          <a:stretch>
            <a:fillRect/>
          </a:stretch>
        </p:blipFill>
        <p:spPr>
          <a:xfrm>
            <a:off x="6311742" y="2578036"/>
            <a:ext cx="5168771" cy="2108147"/>
          </a:xfrm>
          <a:prstGeom prst="rect">
            <a:avLst/>
          </a:prstGeom>
        </p:spPr>
      </p:pic>
      <p:sp>
        <p:nvSpPr>
          <p:cNvPr id="5" name="shape 22.4"/>
          <p:cNvSpPr/>
          <p:nvPr/>
        </p:nvSpPr>
        <p:spPr>
          <a:xfrm>
            <a:off x="761981" y="2971726"/>
            <a:ext cx="5524362" cy="9525"/>
          </a:xfrm>
          <a:prstGeom prst="rect">
            <a:avLst/>
          </a:prstGeom>
          <a:solidFill>
            <a:srgbClr val="EEF2F8"/>
          </a:solidFill>
          <a:ln/>
        </p:spPr>
      </p:sp>
      <p:sp>
        <p:nvSpPr>
          <p:cNvPr id="6" name="shape 22.5"/>
          <p:cNvSpPr/>
          <p:nvPr/>
        </p:nvSpPr>
        <p:spPr>
          <a:xfrm>
            <a:off x="761981" y="3301917"/>
            <a:ext cx="5524362" cy="9525"/>
          </a:xfrm>
          <a:prstGeom prst="rect">
            <a:avLst/>
          </a:prstGeom>
          <a:solidFill>
            <a:srgbClr val="EEF2F8"/>
          </a:solidFill>
          <a:ln/>
        </p:spPr>
      </p:sp>
      <p:sp>
        <p:nvSpPr>
          <p:cNvPr id="7" name="shape 22.6"/>
          <p:cNvSpPr/>
          <p:nvPr/>
        </p:nvSpPr>
        <p:spPr>
          <a:xfrm>
            <a:off x="761981" y="3632109"/>
            <a:ext cx="5524362" cy="9525"/>
          </a:xfrm>
          <a:prstGeom prst="rect">
            <a:avLst/>
          </a:prstGeom>
          <a:solidFill>
            <a:srgbClr val="EEF2F8"/>
          </a:solidFill>
          <a:ln/>
        </p:spPr>
      </p:sp>
      <p:sp>
        <p:nvSpPr>
          <p:cNvPr id="8" name="shape 22.7"/>
          <p:cNvSpPr/>
          <p:nvPr/>
        </p:nvSpPr>
        <p:spPr>
          <a:xfrm>
            <a:off x="761981" y="3962301"/>
            <a:ext cx="5524362" cy="9525"/>
          </a:xfrm>
          <a:prstGeom prst="rect">
            <a:avLst/>
          </a:prstGeom>
          <a:solidFill>
            <a:srgbClr val="EEF2F8"/>
          </a:solidFill>
          <a:ln/>
        </p:spPr>
      </p:sp>
      <p:sp>
        <p:nvSpPr>
          <p:cNvPr id="9" name="shape 22.8"/>
          <p:cNvSpPr/>
          <p:nvPr/>
        </p:nvSpPr>
        <p:spPr>
          <a:xfrm>
            <a:off x="761981" y="4292493"/>
            <a:ext cx="5524362" cy="9525"/>
          </a:xfrm>
          <a:prstGeom prst="rect">
            <a:avLst/>
          </a:prstGeom>
          <a:solidFill>
            <a:srgbClr val="EEF2F8"/>
          </a:solidFill>
          <a:ln/>
        </p:spPr>
      </p:sp>
      <p:sp>
        <p:nvSpPr>
          <p:cNvPr id="10" name="text 22.9"/>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Gantt chart: </a:t>
            </a:r>
            <a:pPr algn="l" indent="0" marL="0">
              <a:lnSpc>
                <a:spcPts val="3020"/>
              </a:lnSpc>
              <a:buNone/>
            </a:pPr>
            <a:r>
              <a:rPr lang="en-US" sz="2700" spc="-27" kern="0" dirty="0">
                <a:solidFill>
                  <a:srgbClr val="8F55F5"/>
                </a:solidFill>
                <a:latin typeface="Arial Rounded MT Bold" pitchFamily="34" charset="0"/>
                <a:ea typeface="Arial Rounded MT Bold" pitchFamily="34" charset="-122"/>
                <a:cs typeface="Arial Rounded MT Bold" pitchFamily="34" charset="-120"/>
              </a:rPr>
              <a:t>final</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tuning, polish and the promo video</a:t>
            </a:r>
            <a:endParaRPr lang="en-US" sz="2700" dirty="0"/>
          </a:p>
        </p:txBody>
      </p:sp>
      <p:sp>
        <p:nvSpPr>
          <p:cNvPr id="11" name="text 22.10"/>
          <p:cNvSpPr txBox="1"/>
          <p:nvPr/>
        </p:nvSpPr>
        <p:spPr>
          <a:xfrm>
            <a:off x="761981" y="1917652"/>
            <a:ext cx="457189"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WBS</a:t>
            </a:r>
            <a:endParaRPr lang="en-US" sz="750" dirty="0"/>
          </a:p>
        </p:txBody>
      </p:sp>
      <p:sp>
        <p:nvSpPr>
          <p:cNvPr id="12" name="text 22.11"/>
          <p:cNvSpPr txBox="1"/>
          <p:nvPr/>
        </p:nvSpPr>
        <p:spPr>
          <a:xfrm>
            <a:off x="1244569" y="1917652"/>
            <a:ext cx="3149521"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TASK</a:t>
            </a:r>
            <a:endParaRPr lang="en-US" sz="750" dirty="0"/>
          </a:p>
        </p:txBody>
      </p:sp>
      <p:sp>
        <p:nvSpPr>
          <p:cNvPr id="13" name="text 22.12"/>
          <p:cNvSpPr txBox="1"/>
          <p:nvPr/>
        </p:nvSpPr>
        <p:spPr>
          <a:xfrm>
            <a:off x="4419490" y="1917652"/>
            <a:ext cx="118107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OWNER</a:t>
            </a:r>
            <a:endParaRPr lang="en-US" sz="750" dirty="0"/>
          </a:p>
        </p:txBody>
      </p:sp>
      <p:sp>
        <p:nvSpPr>
          <p:cNvPr id="14" name="text 22.13"/>
          <p:cNvSpPr txBox="1"/>
          <p:nvPr/>
        </p:nvSpPr>
        <p:spPr>
          <a:xfrm>
            <a:off x="5625959" y="1917652"/>
            <a:ext cx="67308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DURATION</a:t>
            </a:r>
            <a:endParaRPr lang="en-US" sz="750" dirty="0"/>
          </a:p>
        </p:txBody>
      </p:sp>
      <p:sp>
        <p:nvSpPr>
          <p:cNvPr id="15" name="text 22.14"/>
          <p:cNvSpPr txBox="1"/>
          <p:nvPr/>
        </p:nvSpPr>
        <p:spPr>
          <a:xfrm>
            <a:off x="6362541"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14–18 Dec</a:t>
            </a:r>
            <a:endParaRPr lang="en-US" sz="900" dirty="0"/>
          </a:p>
        </p:txBody>
      </p:sp>
      <p:sp>
        <p:nvSpPr>
          <p:cNvPr id="16" name="shape 22.15"/>
          <p:cNvSpPr/>
          <p:nvPr/>
        </p:nvSpPr>
        <p:spPr>
          <a:xfrm>
            <a:off x="6387940" y="1854154"/>
            <a:ext cx="1215995" cy="203195"/>
          </a:xfrm>
          <a:prstGeom prst="roundRect">
            <a:avLst>
              <a:gd name="adj" fmla="val 50000"/>
            </a:avLst>
          </a:prstGeom>
          <a:solidFill>
            <a:srgbClr val="8F55F5"/>
          </a:solidFill>
          <a:ln/>
        </p:spPr>
      </p:sp>
      <p:sp>
        <p:nvSpPr>
          <p:cNvPr id="17" name="text 22.16"/>
          <p:cNvSpPr txBox="1"/>
          <p:nvPr/>
        </p:nvSpPr>
        <p:spPr>
          <a:xfrm>
            <a:off x="6387940"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11</a:t>
            </a:r>
            <a:endParaRPr lang="en-US" sz="800" dirty="0"/>
          </a:p>
        </p:txBody>
      </p:sp>
      <p:sp>
        <p:nvSpPr>
          <p:cNvPr id="18" name="text 22.17"/>
          <p:cNvSpPr txBox="1"/>
          <p:nvPr/>
        </p:nvSpPr>
        <p:spPr>
          <a:xfrm>
            <a:off x="6362541"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19" name="text 22.18"/>
          <p:cNvSpPr txBox="1"/>
          <p:nvPr/>
        </p:nvSpPr>
        <p:spPr>
          <a:xfrm>
            <a:off x="6615840"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20" name="text 22.19"/>
          <p:cNvSpPr txBox="1"/>
          <p:nvPr/>
        </p:nvSpPr>
        <p:spPr>
          <a:xfrm>
            <a:off x="686923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21" name="text 22.20"/>
          <p:cNvSpPr txBox="1"/>
          <p:nvPr/>
        </p:nvSpPr>
        <p:spPr>
          <a:xfrm>
            <a:off x="712253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22" name="text 22.21"/>
          <p:cNvSpPr txBox="1"/>
          <p:nvPr/>
        </p:nvSpPr>
        <p:spPr>
          <a:xfrm>
            <a:off x="7375936"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23" name="text 22.22"/>
          <p:cNvSpPr txBox="1"/>
          <p:nvPr/>
        </p:nvSpPr>
        <p:spPr>
          <a:xfrm>
            <a:off x="7629334"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21–25 Dec</a:t>
            </a:r>
            <a:endParaRPr lang="en-US" sz="900" dirty="0"/>
          </a:p>
        </p:txBody>
      </p:sp>
      <p:sp>
        <p:nvSpPr>
          <p:cNvPr id="24" name="shape 22.23"/>
          <p:cNvSpPr/>
          <p:nvPr/>
        </p:nvSpPr>
        <p:spPr>
          <a:xfrm>
            <a:off x="7654734" y="1854154"/>
            <a:ext cx="1215995" cy="203195"/>
          </a:xfrm>
          <a:prstGeom prst="roundRect">
            <a:avLst>
              <a:gd name="adj" fmla="val 50000"/>
            </a:avLst>
          </a:prstGeom>
          <a:solidFill>
            <a:srgbClr val="8F55F5"/>
          </a:solidFill>
          <a:ln/>
        </p:spPr>
      </p:sp>
      <p:sp>
        <p:nvSpPr>
          <p:cNvPr id="25" name="text 22.24"/>
          <p:cNvSpPr txBox="1"/>
          <p:nvPr/>
        </p:nvSpPr>
        <p:spPr>
          <a:xfrm>
            <a:off x="7654734"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12</a:t>
            </a:r>
            <a:endParaRPr lang="en-US" sz="800" dirty="0"/>
          </a:p>
        </p:txBody>
      </p:sp>
      <p:sp>
        <p:nvSpPr>
          <p:cNvPr id="26" name="text 22.25"/>
          <p:cNvSpPr txBox="1"/>
          <p:nvPr/>
        </p:nvSpPr>
        <p:spPr>
          <a:xfrm>
            <a:off x="7629334"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27" name="text 22.26"/>
          <p:cNvSpPr txBox="1"/>
          <p:nvPr/>
        </p:nvSpPr>
        <p:spPr>
          <a:xfrm>
            <a:off x="7882633"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28" name="text 22.27"/>
          <p:cNvSpPr txBox="1"/>
          <p:nvPr/>
        </p:nvSpPr>
        <p:spPr>
          <a:xfrm>
            <a:off x="8136032"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29" name="text 22.28"/>
          <p:cNvSpPr txBox="1"/>
          <p:nvPr/>
        </p:nvSpPr>
        <p:spPr>
          <a:xfrm>
            <a:off x="8389331"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30" name="text 22.29"/>
          <p:cNvSpPr txBox="1"/>
          <p:nvPr/>
        </p:nvSpPr>
        <p:spPr>
          <a:xfrm>
            <a:off x="8642729"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31" name="text 22.30"/>
          <p:cNvSpPr txBox="1"/>
          <p:nvPr/>
        </p:nvSpPr>
        <p:spPr>
          <a:xfrm>
            <a:off x="8896128"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28 Dec–1 Jan</a:t>
            </a:r>
            <a:endParaRPr lang="en-US" sz="900" dirty="0"/>
          </a:p>
        </p:txBody>
      </p:sp>
      <p:sp>
        <p:nvSpPr>
          <p:cNvPr id="32" name="shape 22.31"/>
          <p:cNvSpPr/>
          <p:nvPr/>
        </p:nvSpPr>
        <p:spPr>
          <a:xfrm>
            <a:off x="8921527" y="1854154"/>
            <a:ext cx="1215995" cy="203195"/>
          </a:xfrm>
          <a:prstGeom prst="roundRect">
            <a:avLst>
              <a:gd name="adj" fmla="val 50000"/>
            </a:avLst>
          </a:prstGeom>
          <a:solidFill>
            <a:srgbClr val="8F55F5"/>
          </a:solidFill>
          <a:ln/>
        </p:spPr>
      </p:sp>
      <p:sp>
        <p:nvSpPr>
          <p:cNvPr id="33" name="text 22.32"/>
          <p:cNvSpPr txBox="1"/>
          <p:nvPr/>
        </p:nvSpPr>
        <p:spPr>
          <a:xfrm>
            <a:off x="8921527"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13</a:t>
            </a:r>
            <a:endParaRPr lang="en-US" sz="800" dirty="0"/>
          </a:p>
        </p:txBody>
      </p:sp>
      <p:sp>
        <p:nvSpPr>
          <p:cNvPr id="34" name="text 22.33"/>
          <p:cNvSpPr txBox="1"/>
          <p:nvPr/>
        </p:nvSpPr>
        <p:spPr>
          <a:xfrm>
            <a:off x="889612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35" name="text 22.34"/>
          <p:cNvSpPr txBox="1"/>
          <p:nvPr/>
        </p:nvSpPr>
        <p:spPr>
          <a:xfrm>
            <a:off x="9149427"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36" name="text 22.35"/>
          <p:cNvSpPr txBox="1"/>
          <p:nvPr/>
        </p:nvSpPr>
        <p:spPr>
          <a:xfrm>
            <a:off x="9402825"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37" name="text 22.36"/>
          <p:cNvSpPr txBox="1"/>
          <p:nvPr/>
        </p:nvSpPr>
        <p:spPr>
          <a:xfrm>
            <a:off x="9656124"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38" name="text 22.37"/>
          <p:cNvSpPr txBox="1"/>
          <p:nvPr/>
        </p:nvSpPr>
        <p:spPr>
          <a:xfrm>
            <a:off x="9909523"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39" name="text 22.38"/>
          <p:cNvSpPr txBox="1"/>
          <p:nvPr/>
        </p:nvSpPr>
        <p:spPr>
          <a:xfrm>
            <a:off x="10162921"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4–8 Jan</a:t>
            </a:r>
            <a:endParaRPr lang="en-US" sz="900" dirty="0"/>
          </a:p>
        </p:txBody>
      </p:sp>
      <p:sp>
        <p:nvSpPr>
          <p:cNvPr id="40" name="shape 22.39"/>
          <p:cNvSpPr/>
          <p:nvPr/>
        </p:nvSpPr>
        <p:spPr>
          <a:xfrm>
            <a:off x="10188320" y="1854154"/>
            <a:ext cx="1215995" cy="203195"/>
          </a:xfrm>
          <a:prstGeom prst="roundRect">
            <a:avLst>
              <a:gd name="adj" fmla="val 50000"/>
            </a:avLst>
          </a:prstGeom>
          <a:solidFill>
            <a:srgbClr val="8F55F5"/>
          </a:solidFill>
          <a:ln/>
        </p:spPr>
      </p:sp>
      <p:sp>
        <p:nvSpPr>
          <p:cNvPr id="41" name="text 22.40"/>
          <p:cNvSpPr txBox="1"/>
          <p:nvPr/>
        </p:nvSpPr>
        <p:spPr>
          <a:xfrm>
            <a:off x="10188320"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14</a:t>
            </a:r>
            <a:endParaRPr lang="en-US" sz="800" dirty="0"/>
          </a:p>
        </p:txBody>
      </p:sp>
      <p:sp>
        <p:nvSpPr>
          <p:cNvPr id="42" name="text 22.41"/>
          <p:cNvSpPr txBox="1"/>
          <p:nvPr/>
        </p:nvSpPr>
        <p:spPr>
          <a:xfrm>
            <a:off x="10162921"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43" name="text 22.42"/>
          <p:cNvSpPr txBox="1"/>
          <p:nvPr/>
        </p:nvSpPr>
        <p:spPr>
          <a:xfrm>
            <a:off x="10416220"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44" name="text 22.43"/>
          <p:cNvSpPr txBox="1"/>
          <p:nvPr/>
        </p:nvSpPr>
        <p:spPr>
          <a:xfrm>
            <a:off x="1066961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45" name="text 22.44"/>
          <p:cNvSpPr txBox="1"/>
          <p:nvPr/>
        </p:nvSpPr>
        <p:spPr>
          <a:xfrm>
            <a:off x="1092291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46" name="text 22.45"/>
          <p:cNvSpPr txBox="1"/>
          <p:nvPr/>
        </p:nvSpPr>
        <p:spPr>
          <a:xfrm>
            <a:off x="11176316"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47" name="text 22.46"/>
          <p:cNvSpPr txBox="1"/>
          <p:nvPr/>
        </p:nvSpPr>
        <p:spPr>
          <a:xfrm>
            <a:off x="761981" y="2400240"/>
            <a:ext cx="155522" cy="146046"/>
          </a:xfrm>
          <a:prstGeom prst="rect">
            <a:avLst/>
          </a:prstGeom>
          <a:noFill/>
          <a:ln/>
        </p:spPr>
        <p:txBody>
          <a:bodyPr wrap="square" lIns="0" tIns="0" rIns="0" bIns="0" rtlCol="0" anchor="t"/>
          <a:lstStyle/>
          <a:p>
            <a:pPr algn="l" indent="0" marL="0">
              <a:lnSpc>
                <a:spcPts val="1150"/>
              </a:lnSpc>
              <a:buNone/>
            </a:pPr>
            <a:r>
              <a:rPr lang="en-US" sz="1150" dirty="0">
                <a:solidFill>
                  <a:srgbClr val="16233F"/>
                </a:solidFill>
                <a:latin typeface="Arial Rounded MT Bold" pitchFamily="34" charset="0"/>
                <a:ea typeface="Arial Rounded MT Bold" pitchFamily="34" charset="-122"/>
                <a:cs typeface="Arial Rounded MT Bold" pitchFamily="34" charset="-120"/>
              </a:rPr>
              <a:t>4</a:t>
            </a:r>
            <a:endParaRPr lang="en-US" sz="1150" dirty="0"/>
          </a:p>
        </p:txBody>
      </p:sp>
      <p:sp>
        <p:nvSpPr>
          <p:cNvPr id="48" name="text 22.47"/>
          <p:cNvSpPr txBox="1"/>
          <p:nvPr/>
        </p:nvSpPr>
        <p:spPr>
          <a:xfrm>
            <a:off x="1244569" y="2400240"/>
            <a:ext cx="1050301" cy="146046"/>
          </a:xfrm>
          <a:prstGeom prst="rect">
            <a:avLst/>
          </a:prstGeom>
          <a:noFill/>
          <a:ln/>
        </p:spPr>
        <p:txBody>
          <a:bodyPr wrap="square" lIns="0" tIns="0" rIns="0" bIns="0" rtlCol="0" anchor="t"/>
          <a:lstStyle/>
          <a:p>
            <a:pPr algn="l" indent="0" marL="0">
              <a:lnSpc>
                <a:spcPts val="1150"/>
              </a:lnSpc>
              <a:buNone/>
            </a:pPr>
            <a:r>
              <a:rPr lang="en-US" sz="1150" dirty="0">
                <a:solidFill>
                  <a:srgbClr val="16233F"/>
                </a:solidFill>
                <a:latin typeface="Arial Rounded MT Bold" pitchFamily="34" charset="0"/>
                <a:ea typeface="Arial Rounded MT Bold" pitchFamily="34" charset="-122"/>
                <a:cs typeface="Arial Rounded MT Bold" pitchFamily="34" charset="-120"/>
              </a:rPr>
              <a:t>Final · 11 Jan</a:t>
            </a:r>
            <a:endParaRPr lang="en-US" sz="1150" dirty="0"/>
          </a:p>
        </p:txBody>
      </p:sp>
      <p:sp>
        <p:nvSpPr>
          <p:cNvPr id="49" name="text 22.48"/>
          <p:cNvSpPr txBox="1"/>
          <p:nvPr/>
        </p:nvSpPr>
        <p:spPr>
          <a:xfrm>
            <a:off x="761981" y="2743131"/>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4.1</a:t>
            </a:r>
            <a:endParaRPr lang="en-US" sz="950" dirty="0"/>
          </a:p>
        </p:txBody>
      </p:sp>
      <p:sp>
        <p:nvSpPr>
          <p:cNvPr id="50" name="text 22.49"/>
          <p:cNvSpPr txBox="1"/>
          <p:nvPr/>
        </p:nvSpPr>
        <p:spPr>
          <a:xfrm>
            <a:off x="1244569" y="2736782"/>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Balance tuning from playtests</a:t>
            </a:r>
            <a:endParaRPr lang="en-US" sz="1050" dirty="0"/>
          </a:p>
        </p:txBody>
      </p:sp>
      <p:sp>
        <p:nvSpPr>
          <p:cNvPr id="51" name="shape 22.50"/>
          <p:cNvSpPr/>
          <p:nvPr/>
        </p:nvSpPr>
        <p:spPr>
          <a:xfrm>
            <a:off x="4419490" y="2705032"/>
            <a:ext cx="977876" cy="203195"/>
          </a:xfrm>
          <a:prstGeom prst="roundRect">
            <a:avLst>
              <a:gd name="adj" fmla="val 50000"/>
            </a:avLst>
          </a:prstGeom>
          <a:solidFill>
            <a:srgbClr val="E9EFF8"/>
          </a:solidFill>
          <a:ln/>
        </p:spPr>
      </p:sp>
      <p:sp>
        <p:nvSpPr>
          <p:cNvPr id="52" name="text 22.51"/>
          <p:cNvSpPr txBox="1"/>
          <p:nvPr/>
        </p:nvSpPr>
        <p:spPr>
          <a:xfrm>
            <a:off x="4419490" y="2705032"/>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3B4A66"/>
                </a:solidFill>
                <a:latin typeface="Arial" pitchFamily="34" charset="0"/>
                <a:ea typeface="Arial" pitchFamily="34" charset="-122"/>
                <a:cs typeface="Arial" pitchFamily="34" charset="-120"/>
              </a:rPr>
              <a:t>Team</a:t>
            </a:r>
            <a:endParaRPr lang="en-US" sz="850" dirty="0"/>
          </a:p>
        </p:txBody>
      </p:sp>
      <p:sp>
        <p:nvSpPr>
          <p:cNvPr id="53" name="text 22.52"/>
          <p:cNvSpPr txBox="1"/>
          <p:nvPr/>
        </p:nvSpPr>
        <p:spPr>
          <a:xfrm>
            <a:off x="5625959" y="2743131"/>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54" name="shape 22.53"/>
          <p:cNvSpPr/>
          <p:nvPr/>
        </p:nvSpPr>
        <p:spPr>
          <a:xfrm>
            <a:off x="6387940" y="2717732"/>
            <a:ext cx="2482788" cy="190495"/>
          </a:xfrm>
          <a:prstGeom prst="roundRect">
            <a:avLst>
              <a:gd name="adj" fmla="val 50000"/>
            </a:avLst>
          </a:prstGeom>
          <a:solidFill>
            <a:srgbClr val="16233F"/>
          </a:solidFill>
          <a:ln/>
        </p:spPr>
      </p:sp>
      <p:sp>
        <p:nvSpPr>
          <p:cNvPr id="55" name="text 22.54"/>
          <p:cNvSpPr txBox="1"/>
          <p:nvPr/>
        </p:nvSpPr>
        <p:spPr>
          <a:xfrm>
            <a:off x="761981" y="3073323"/>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4.2</a:t>
            </a:r>
            <a:endParaRPr lang="en-US" sz="950" dirty="0"/>
          </a:p>
        </p:txBody>
      </p:sp>
      <p:sp>
        <p:nvSpPr>
          <p:cNvPr id="56" name="text 22.55"/>
          <p:cNvSpPr txBox="1"/>
          <p:nvPr/>
        </p:nvSpPr>
        <p:spPr>
          <a:xfrm>
            <a:off x="1244569" y="3066973"/>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VFX: trails, hit flash, splashes</a:t>
            </a:r>
            <a:endParaRPr lang="en-US" sz="1050" dirty="0"/>
          </a:p>
        </p:txBody>
      </p:sp>
      <p:sp>
        <p:nvSpPr>
          <p:cNvPr id="57" name="shape 22.56"/>
          <p:cNvSpPr/>
          <p:nvPr/>
        </p:nvSpPr>
        <p:spPr>
          <a:xfrm>
            <a:off x="4419490" y="3035224"/>
            <a:ext cx="977876" cy="203195"/>
          </a:xfrm>
          <a:prstGeom prst="roundRect">
            <a:avLst>
              <a:gd name="adj" fmla="val 50000"/>
            </a:avLst>
          </a:prstGeom>
          <a:solidFill>
            <a:srgbClr val="E2F4FD"/>
          </a:solidFill>
          <a:ln/>
        </p:spPr>
      </p:sp>
      <p:sp>
        <p:nvSpPr>
          <p:cNvPr id="58" name="text 22.57"/>
          <p:cNvSpPr txBox="1"/>
          <p:nvPr/>
        </p:nvSpPr>
        <p:spPr>
          <a:xfrm>
            <a:off x="4419490" y="3035224"/>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FA9EA"/>
                </a:solidFill>
                <a:latin typeface="Arial" pitchFamily="34" charset="0"/>
                <a:ea typeface="Arial" pitchFamily="34" charset="-122"/>
                <a:cs typeface="Arial" pitchFamily="34" charset="-120"/>
              </a:rPr>
              <a:t>Abdurrahim</a:t>
            </a:r>
            <a:endParaRPr lang="en-US" sz="850" dirty="0"/>
          </a:p>
        </p:txBody>
      </p:sp>
      <p:sp>
        <p:nvSpPr>
          <p:cNvPr id="59" name="text 22.58"/>
          <p:cNvSpPr txBox="1"/>
          <p:nvPr/>
        </p:nvSpPr>
        <p:spPr>
          <a:xfrm>
            <a:off x="5625959" y="3073323"/>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60" name="shape 22.59"/>
          <p:cNvSpPr/>
          <p:nvPr/>
        </p:nvSpPr>
        <p:spPr>
          <a:xfrm>
            <a:off x="6387940" y="3047924"/>
            <a:ext cx="2482788" cy="190495"/>
          </a:xfrm>
          <a:prstGeom prst="roundRect">
            <a:avLst>
              <a:gd name="adj" fmla="val 50000"/>
            </a:avLst>
          </a:prstGeom>
          <a:solidFill>
            <a:srgbClr val="1FA9EA"/>
          </a:solidFill>
          <a:ln/>
        </p:spPr>
      </p:sp>
      <p:sp>
        <p:nvSpPr>
          <p:cNvPr id="61" name="text 22.60"/>
          <p:cNvSpPr txBox="1"/>
          <p:nvPr/>
        </p:nvSpPr>
        <p:spPr>
          <a:xfrm>
            <a:off x="761981" y="3403515"/>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4.3</a:t>
            </a:r>
            <a:endParaRPr lang="en-US" sz="950" dirty="0"/>
          </a:p>
        </p:txBody>
      </p:sp>
      <p:sp>
        <p:nvSpPr>
          <p:cNvPr id="62" name="text 22.61"/>
          <p:cNvSpPr txBox="1"/>
          <p:nvPr/>
        </p:nvSpPr>
        <p:spPr>
          <a:xfrm>
            <a:off x="1244569" y="3397165"/>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Sound effects &amp; music</a:t>
            </a:r>
            <a:endParaRPr lang="en-US" sz="1050" dirty="0"/>
          </a:p>
        </p:txBody>
      </p:sp>
      <p:sp>
        <p:nvSpPr>
          <p:cNvPr id="63" name="shape 22.62"/>
          <p:cNvSpPr/>
          <p:nvPr/>
        </p:nvSpPr>
        <p:spPr>
          <a:xfrm>
            <a:off x="4419490" y="3365416"/>
            <a:ext cx="977876" cy="203195"/>
          </a:xfrm>
          <a:prstGeom prst="roundRect">
            <a:avLst>
              <a:gd name="adj" fmla="val 50000"/>
            </a:avLst>
          </a:prstGeom>
          <a:solidFill>
            <a:srgbClr val="E6F6E1"/>
          </a:solidFill>
          <a:ln/>
        </p:spPr>
      </p:sp>
      <p:sp>
        <p:nvSpPr>
          <p:cNvPr id="64" name="text 22.63"/>
          <p:cNvSpPr txBox="1"/>
          <p:nvPr/>
        </p:nvSpPr>
        <p:spPr>
          <a:xfrm>
            <a:off x="4419490" y="3365416"/>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65" name="text 22.64"/>
          <p:cNvSpPr txBox="1"/>
          <p:nvPr/>
        </p:nvSpPr>
        <p:spPr>
          <a:xfrm>
            <a:off x="5625959" y="3403515"/>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66" name="shape 22.65"/>
          <p:cNvSpPr/>
          <p:nvPr/>
        </p:nvSpPr>
        <p:spPr>
          <a:xfrm>
            <a:off x="7654734" y="3378116"/>
            <a:ext cx="2482788" cy="190495"/>
          </a:xfrm>
          <a:prstGeom prst="roundRect">
            <a:avLst>
              <a:gd name="adj" fmla="val 50000"/>
            </a:avLst>
          </a:prstGeom>
          <a:solidFill>
            <a:srgbClr val="43B832"/>
          </a:solidFill>
          <a:ln/>
        </p:spPr>
      </p:sp>
      <p:sp>
        <p:nvSpPr>
          <p:cNvPr id="67" name="text 22.66"/>
          <p:cNvSpPr txBox="1"/>
          <p:nvPr/>
        </p:nvSpPr>
        <p:spPr>
          <a:xfrm>
            <a:off x="761981" y="3733707"/>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4.4</a:t>
            </a:r>
            <a:endParaRPr lang="en-US" sz="950" dirty="0"/>
          </a:p>
        </p:txBody>
      </p:sp>
      <p:sp>
        <p:nvSpPr>
          <p:cNvPr id="68" name="text 22.67"/>
          <p:cNvSpPr txBox="1"/>
          <p:nvPr/>
        </p:nvSpPr>
        <p:spPr>
          <a:xfrm>
            <a:off x="1244569" y="3727357"/>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Art &amp; UI polish</a:t>
            </a:r>
            <a:endParaRPr lang="en-US" sz="1050" dirty="0"/>
          </a:p>
        </p:txBody>
      </p:sp>
      <p:sp>
        <p:nvSpPr>
          <p:cNvPr id="69" name="shape 22.68"/>
          <p:cNvSpPr/>
          <p:nvPr/>
        </p:nvSpPr>
        <p:spPr>
          <a:xfrm>
            <a:off x="4419490" y="3695608"/>
            <a:ext cx="977876" cy="203195"/>
          </a:xfrm>
          <a:prstGeom prst="roundRect">
            <a:avLst>
              <a:gd name="adj" fmla="val 50000"/>
            </a:avLst>
          </a:prstGeom>
          <a:solidFill>
            <a:srgbClr val="F0E8FF"/>
          </a:solidFill>
          <a:ln/>
        </p:spPr>
      </p:sp>
      <p:sp>
        <p:nvSpPr>
          <p:cNvPr id="70" name="text 22.69"/>
          <p:cNvSpPr txBox="1"/>
          <p:nvPr/>
        </p:nvSpPr>
        <p:spPr>
          <a:xfrm>
            <a:off x="4419490" y="3695608"/>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71" name="text 22.70"/>
          <p:cNvSpPr txBox="1"/>
          <p:nvPr/>
        </p:nvSpPr>
        <p:spPr>
          <a:xfrm>
            <a:off x="5625959" y="3733707"/>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3 wk</a:t>
            </a:r>
            <a:endParaRPr lang="en-US" sz="950" dirty="0"/>
          </a:p>
        </p:txBody>
      </p:sp>
      <p:sp>
        <p:nvSpPr>
          <p:cNvPr id="72" name="shape 22.71"/>
          <p:cNvSpPr/>
          <p:nvPr/>
        </p:nvSpPr>
        <p:spPr>
          <a:xfrm>
            <a:off x="6387940" y="3708307"/>
            <a:ext cx="3749581" cy="190495"/>
          </a:xfrm>
          <a:prstGeom prst="roundRect">
            <a:avLst>
              <a:gd name="adj" fmla="val 50000"/>
            </a:avLst>
          </a:prstGeom>
          <a:solidFill>
            <a:srgbClr val="8F55F5"/>
          </a:solidFill>
          <a:ln/>
        </p:spPr>
      </p:sp>
      <p:sp>
        <p:nvSpPr>
          <p:cNvPr id="73" name="text 22.72"/>
          <p:cNvSpPr txBox="1"/>
          <p:nvPr/>
        </p:nvSpPr>
        <p:spPr>
          <a:xfrm>
            <a:off x="761981" y="4063898"/>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4.5</a:t>
            </a:r>
            <a:endParaRPr lang="en-US" sz="950" dirty="0"/>
          </a:p>
        </p:txBody>
      </p:sp>
      <p:sp>
        <p:nvSpPr>
          <p:cNvPr id="74" name="text 22.73"/>
          <p:cNvSpPr txBox="1"/>
          <p:nvPr/>
        </p:nvSpPr>
        <p:spPr>
          <a:xfrm>
            <a:off x="1244569" y="4057549"/>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LAN stress test &amp; final build</a:t>
            </a:r>
            <a:endParaRPr lang="en-US" sz="1050" dirty="0"/>
          </a:p>
        </p:txBody>
      </p:sp>
      <p:sp>
        <p:nvSpPr>
          <p:cNvPr id="75" name="shape 22.74"/>
          <p:cNvSpPr/>
          <p:nvPr/>
        </p:nvSpPr>
        <p:spPr>
          <a:xfrm>
            <a:off x="4419490" y="4025799"/>
            <a:ext cx="977876" cy="203195"/>
          </a:xfrm>
          <a:prstGeom prst="roundRect">
            <a:avLst>
              <a:gd name="adj" fmla="val 50000"/>
            </a:avLst>
          </a:prstGeom>
          <a:solidFill>
            <a:srgbClr val="FFF0E6"/>
          </a:solidFill>
          <a:ln/>
        </p:spPr>
      </p:sp>
      <p:sp>
        <p:nvSpPr>
          <p:cNvPr id="76" name="text 22.75"/>
          <p:cNvSpPr txBox="1"/>
          <p:nvPr/>
        </p:nvSpPr>
        <p:spPr>
          <a:xfrm>
            <a:off x="4419490" y="4025799"/>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77" name="text 22.76"/>
          <p:cNvSpPr txBox="1"/>
          <p:nvPr/>
        </p:nvSpPr>
        <p:spPr>
          <a:xfrm>
            <a:off x="5625959" y="4063898"/>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78" name="shape 22.77"/>
          <p:cNvSpPr/>
          <p:nvPr/>
        </p:nvSpPr>
        <p:spPr>
          <a:xfrm>
            <a:off x="8921527" y="4038499"/>
            <a:ext cx="1215995" cy="190495"/>
          </a:xfrm>
          <a:prstGeom prst="roundRect">
            <a:avLst>
              <a:gd name="adj" fmla="val 50000"/>
            </a:avLst>
          </a:prstGeom>
          <a:solidFill>
            <a:srgbClr val="FF6B1F"/>
          </a:solidFill>
          <a:ln/>
        </p:spPr>
      </p:sp>
      <p:sp>
        <p:nvSpPr>
          <p:cNvPr id="79" name="text 22.78"/>
          <p:cNvSpPr txBox="1"/>
          <p:nvPr/>
        </p:nvSpPr>
        <p:spPr>
          <a:xfrm>
            <a:off x="761981" y="4394090"/>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4.6</a:t>
            </a:r>
            <a:endParaRPr lang="en-US" sz="950" dirty="0"/>
          </a:p>
        </p:txBody>
      </p:sp>
      <p:sp>
        <p:nvSpPr>
          <p:cNvPr id="80" name="text 22.79"/>
          <p:cNvSpPr txBox="1"/>
          <p:nvPr/>
        </p:nvSpPr>
        <p:spPr>
          <a:xfrm>
            <a:off x="1244569" y="4387740"/>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Promo video &amp; final deck</a:t>
            </a:r>
            <a:endParaRPr lang="en-US" sz="1050" dirty="0"/>
          </a:p>
        </p:txBody>
      </p:sp>
      <p:sp>
        <p:nvSpPr>
          <p:cNvPr id="81" name="shape 22.80"/>
          <p:cNvSpPr/>
          <p:nvPr/>
        </p:nvSpPr>
        <p:spPr>
          <a:xfrm>
            <a:off x="4419490" y="4355991"/>
            <a:ext cx="977876" cy="203195"/>
          </a:xfrm>
          <a:prstGeom prst="roundRect">
            <a:avLst>
              <a:gd name="adj" fmla="val 50000"/>
            </a:avLst>
          </a:prstGeom>
          <a:solidFill>
            <a:srgbClr val="E9EFF8"/>
          </a:solidFill>
          <a:ln/>
        </p:spPr>
      </p:sp>
      <p:sp>
        <p:nvSpPr>
          <p:cNvPr id="82" name="text 22.81"/>
          <p:cNvSpPr txBox="1"/>
          <p:nvPr/>
        </p:nvSpPr>
        <p:spPr>
          <a:xfrm>
            <a:off x="4419490" y="4355991"/>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3B4A66"/>
                </a:solidFill>
                <a:latin typeface="Arial" pitchFamily="34" charset="0"/>
                <a:ea typeface="Arial" pitchFamily="34" charset="-122"/>
                <a:cs typeface="Arial" pitchFamily="34" charset="-120"/>
              </a:rPr>
              <a:t>Team</a:t>
            </a:r>
            <a:endParaRPr lang="en-US" sz="850" dirty="0"/>
          </a:p>
        </p:txBody>
      </p:sp>
      <p:sp>
        <p:nvSpPr>
          <p:cNvPr id="83" name="text 22.82"/>
          <p:cNvSpPr txBox="1"/>
          <p:nvPr/>
        </p:nvSpPr>
        <p:spPr>
          <a:xfrm>
            <a:off x="5625959" y="4394090"/>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84" name="shape 22.83"/>
          <p:cNvSpPr/>
          <p:nvPr/>
        </p:nvSpPr>
        <p:spPr>
          <a:xfrm>
            <a:off x="10188320" y="4368691"/>
            <a:ext cx="1215995" cy="190495"/>
          </a:xfrm>
          <a:prstGeom prst="roundRect">
            <a:avLst>
              <a:gd name="adj" fmla="val 50000"/>
            </a:avLst>
          </a:prstGeom>
          <a:solidFill>
            <a:srgbClr val="16233F"/>
          </a:solidFill>
          <a:ln/>
        </p:spPr>
      </p:sp>
      <p:sp>
        <p:nvSpPr>
          <p:cNvPr id="85" name="text 22.84"/>
          <p:cNvSpPr txBox="1"/>
          <p:nvPr/>
        </p:nvSpPr>
        <p:spPr>
          <a:xfrm>
            <a:off x="609585" y="5029074"/>
            <a:ext cx="1299868"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PROPOSED OWNERS</a:t>
            </a:r>
            <a:endParaRPr lang="en-US" sz="750" dirty="0"/>
          </a:p>
        </p:txBody>
      </p:sp>
      <p:sp>
        <p:nvSpPr>
          <p:cNvPr id="86" name="shape 22.85"/>
          <p:cNvSpPr/>
          <p:nvPr/>
        </p:nvSpPr>
        <p:spPr>
          <a:xfrm>
            <a:off x="2095448" y="4940176"/>
            <a:ext cx="266693" cy="266693"/>
          </a:xfrm>
          <a:prstGeom prst="roundRect">
            <a:avLst>
              <a:gd name="adj" fmla="val 28571"/>
            </a:avLst>
          </a:prstGeom>
          <a:solidFill>
            <a:srgbClr val="FF6B1F"/>
          </a:solidFill>
          <a:ln/>
        </p:spPr>
      </p:sp>
      <p:sp>
        <p:nvSpPr>
          <p:cNvPr id="87" name="text 22.86"/>
          <p:cNvSpPr txBox="1"/>
          <p:nvPr/>
        </p:nvSpPr>
        <p:spPr>
          <a:xfrm>
            <a:off x="2438339" y="4946526"/>
            <a:ext cx="332942"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Ezel</a:t>
            </a:r>
            <a:endParaRPr lang="en-US" sz="1000" dirty="0"/>
          </a:p>
        </p:txBody>
      </p:sp>
      <p:sp>
        <p:nvSpPr>
          <p:cNvPr id="88" name="text 22.87"/>
          <p:cNvSpPr txBox="1"/>
          <p:nvPr/>
        </p:nvSpPr>
        <p:spPr>
          <a:xfrm>
            <a:off x="2438339" y="5098923"/>
            <a:ext cx="788535"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Network, build</a:t>
            </a:r>
            <a:endParaRPr lang="en-US" sz="850" dirty="0"/>
          </a:p>
        </p:txBody>
      </p:sp>
      <p:sp>
        <p:nvSpPr>
          <p:cNvPr id="89" name="shape 22.88"/>
          <p:cNvSpPr/>
          <p:nvPr/>
        </p:nvSpPr>
        <p:spPr>
          <a:xfrm>
            <a:off x="4000400" y="4940176"/>
            <a:ext cx="266693" cy="266693"/>
          </a:xfrm>
          <a:prstGeom prst="roundRect">
            <a:avLst>
              <a:gd name="adj" fmla="val 28571"/>
            </a:avLst>
          </a:prstGeom>
          <a:solidFill>
            <a:srgbClr val="1FA9EA"/>
          </a:solidFill>
          <a:ln/>
        </p:spPr>
      </p:sp>
      <p:sp>
        <p:nvSpPr>
          <p:cNvPr id="90" name="text 22.89"/>
          <p:cNvSpPr txBox="1"/>
          <p:nvPr/>
        </p:nvSpPr>
        <p:spPr>
          <a:xfrm>
            <a:off x="4343291" y="4946526"/>
            <a:ext cx="826396"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Abdurrahim</a:t>
            </a:r>
            <a:endParaRPr lang="en-US" sz="1000" dirty="0"/>
          </a:p>
        </p:txBody>
      </p:sp>
      <p:sp>
        <p:nvSpPr>
          <p:cNvPr id="91" name="text 22.90"/>
          <p:cNvSpPr txBox="1"/>
          <p:nvPr/>
        </p:nvSpPr>
        <p:spPr>
          <a:xfrm>
            <a:off x="4343291" y="5098923"/>
            <a:ext cx="84585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Mass Knockout</a:t>
            </a:r>
            <a:endParaRPr lang="en-US" sz="850" dirty="0"/>
          </a:p>
        </p:txBody>
      </p:sp>
      <p:sp>
        <p:nvSpPr>
          <p:cNvPr id="92" name="shape 22.91"/>
          <p:cNvSpPr/>
          <p:nvPr/>
        </p:nvSpPr>
        <p:spPr>
          <a:xfrm>
            <a:off x="5905352" y="4940176"/>
            <a:ext cx="266693" cy="266693"/>
          </a:xfrm>
          <a:prstGeom prst="roundRect">
            <a:avLst>
              <a:gd name="adj" fmla="val 28571"/>
            </a:avLst>
          </a:prstGeom>
          <a:solidFill>
            <a:srgbClr val="43B832"/>
          </a:solidFill>
          <a:ln/>
        </p:spPr>
      </p:sp>
      <p:sp>
        <p:nvSpPr>
          <p:cNvPr id="93" name="text 22.92"/>
          <p:cNvSpPr txBox="1"/>
          <p:nvPr/>
        </p:nvSpPr>
        <p:spPr>
          <a:xfrm>
            <a:off x="6248244" y="4946526"/>
            <a:ext cx="489960"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Kürşat</a:t>
            </a:r>
            <a:endParaRPr lang="en-US" sz="1000" dirty="0"/>
          </a:p>
        </p:txBody>
      </p:sp>
      <p:sp>
        <p:nvSpPr>
          <p:cNvPr id="94" name="text 22.93"/>
          <p:cNvSpPr txBox="1"/>
          <p:nvPr/>
        </p:nvSpPr>
        <p:spPr>
          <a:xfrm>
            <a:off x="6248244" y="5098923"/>
            <a:ext cx="1112877"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Movement, Ice Race</a:t>
            </a:r>
            <a:endParaRPr lang="en-US" sz="850" dirty="0"/>
          </a:p>
        </p:txBody>
      </p:sp>
      <p:sp>
        <p:nvSpPr>
          <p:cNvPr id="95" name="shape 22.94"/>
          <p:cNvSpPr/>
          <p:nvPr/>
        </p:nvSpPr>
        <p:spPr>
          <a:xfrm>
            <a:off x="7810305" y="4940176"/>
            <a:ext cx="266693" cy="266693"/>
          </a:xfrm>
          <a:prstGeom prst="roundRect">
            <a:avLst>
              <a:gd name="adj" fmla="val 28571"/>
            </a:avLst>
          </a:prstGeom>
          <a:solidFill>
            <a:srgbClr val="8F55F5"/>
          </a:solidFill>
          <a:ln/>
        </p:spPr>
      </p:sp>
      <p:sp>
        <p:nvSpPr>
          <p:cNvPr id="96" name="text 22.95"/>
          <p:cNvSpPr txBox="1"/>
          <p:nvPr/>
        </p:nvSpPr>
        <p:spPr>
          <a:xfrm>
            <a:off x="8153196" y="4946526"/>
            <a:ext cx="370172"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Ardıl</a:t>
            </a:r>
            <a:endParaRPr lang="en-US" sz="1000" dirty="0"/>
          </a:p>
        </p:txBody>
      </p:sp>
      <p:sp>
        <p:nvSpPr>
          <p:cNvPr id="97" name="text 22.96"/>
          <p:cNvSpPr txBox="1"/>
          <p:nvPr/>
        </p:nvSpPr>
        <p:spPr>
          <a:xfrm>
            <a:off x="8153196" y="5098923"/>
            <a:ext cx="83933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Art, UI, session</a:t>
            </a:r>
            <a:endParaRPr lang="en-US" sz="850" dirty="0"/>
          </a:p>
        </p:txBody>
      </p:sp>
      <p:sp>
        <p:nvSpPr>
          <p:cNvPr id="98" name="shape 22.97"/>
          <p:cNvSpPr/>
          <p:nvPr/>
        </p:nvSpPr>
        <p:spPr>
          <a:xfrm>
            <a:off x="9715257" y="4940176"/>
            <a:ext cx="266693" cy="266693"/>
          </a:xfrm>
          <a:prstGeom prst="roundRect">
            <a:avLst>
              <a:gd name="adj" fmla="val 28571"/>
            </a:avLst>
          </a:prstGeom>
          <a:solidFill>
            <a:srgbClr val="16233F"/>
          </a:solidFill>
          <a:ln/>
        </p:spPr>
      </p:sp>
      <p:sp>
        <p:nvSpPr>
          <p:cNvPr id="99" name="text 22.98"/>
          <p:cNvSpPr txBox="1"/>
          <p:nvPr/>
        </p:nvSpPr>
        <p:spPr>
          <a:xfrm>
            <a:off x="10058149" y="4946526"/>
            <a:ext cx="405193"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Team</a:t>
            </a:r>
            <a:endParaRPr lang="en-US" sz="1000" dirty="0"/>
          </a:p>
        </p:txBody>
      </p:sp>
      <p:sp>
        <p:nvSpPr>
          <p:cNvPr id="100" name="text 22.99"/>
          <p:cNvSpPr txBox="1"/>
          <p:nvPr/>
        </p:nvSpPr>
        <p:spPr>
          <a:xfrm>
            <a:off x="10058149" y="5098923"/>
            <a:ext cx="731428"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Shared tasks</a:t>
            </a:r>
            <a:endParaRPr lang="en-US" sz="850" dirty="0"/>
          </a:p>
        </p:txBody>
      </p:sp>
      <p:sp>
        <p:nvSpPr>
          <p:cNvPr id="101" name="shape 22.100"/>
          <p:cNvSpPr/>
          <p:nvPr/>
        </p:nvSpPr>
        <p:spPr>
          <a:xfrm>
            <a:off x="609585" y="266693"/>
            <a:ext cx="1829945"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02" name="shape 22.101"/>
          <p:cNvSpPr/>
          <p:nvPr/>
        </p:nvSpPr>
        <p:spPr>
          <a:xfrm>
            <a:off x="711182" y="355591"/>
            <a:ext cx="114297" cy="114297"/>
          </a:xfrm>
          <a:prstGeom prst="roundRect">
            <a:avLst>
              <a:gd name="adj" fmla="val 33333"/>
            </a:avLst>
          </a:prstGeom>
          <a:solidFill>
            <a:srgbClr val="1FA9EA"/>
          </a:solidFill>
          <a:ln/>
        </p:spPr>
      </p:sp>
      <p:sp>
        <p:nvSpPr>
          <p:cNvPr id="103" name="shape 22.102"/>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04" name="shape 22.103"/>
          <p:cNvSpPr/>
          <p:nvPr/>
        </p:nvSpPr>
        <p:spPr>
          <a:xfrm>
            <a:off x="10058149" y="368291"/>
            <a:ext cx="101597" cy="101597"/>
          </a:xfrm>
          <a:prstGeom prst="roundRect">
            <a:avLst>
              <a:gd name="adj" fmla="val 31250"/>
            </a:avLst>
          </a:prstGeom>
          <a:solidFill>
            <a:srgbClr val="16233F"/>
          </a:solidFill>
          <a:ln/>
        </p:spPr>
      </p:sp>
      <p:sp>
        <p:nvSpPr>
          <p:cNvPr id="105" name="shape 22.104"/>
          <p:cNvSpPr/>
          <p:nvPr/>
        </p:nvSpPr>
        <p:spPr>
          <a:xfrm>
            <a:off x="10223244" y="368291"/>
            <a:ext cx="101597" cy="101597"/>
          </a:xfrm>
          <a:prstGeom prst="roundRect">
            <a:avLst>
              <a:gd name="adj" fmla="val 31250"/>
            </a:avLst>
          </a:prstGeom>
          <a:solidFill>
            <a:srgbClr val="16233F"/>
          </a:solidFill>
          <a:ln/>
        </p:spPr>
      </p:sp>
      <p:sp>
        <p:nvSpPr>
          <p:cNvPr id="106" name="shape 22.105"/>
          <p:cNvSpPr/>
          <p:nvPr/>
        </p:nvSpPr>
        <p:spPr>
          <a:xfrm>
            <a:off x="10388340" y="368291"/>
            <a:ext cx="101597" cy="101597"/>
          </a:xfrm>
          <a:prstGeom prst="roundRect">
            <a:avLst>
              <a:gd name="adj" fmla="val 31250"/>
            </a:avLst>
          </a:prstGeom>
          <a:solidFill>
            <a:srgbClr val="16233F"/>
          </a:solidFill>
          <a:ln/>
        </p:spPr>
      </p:sp>
      <p:sp>
        <p:nvSpPr>
          <p:cNvPr id="107" name="shape 22.106"/>
          <p:cNvSpPr/>
          <p:nvPr/>
        </p:nvSpPr>
        <p:spPr>
          <a:xfrm>
            <a:off x="10553436" y="368291"/>
            <a:ext cx="101597" cy="101597"/>
          </a:xfrm>
          <a:prstGeom prst="roundRect">
            <a:avLst>
              <a:gd name="adj" fmla="val 31250"/>
            </a:avLst>
          </a:prstGeom>
          <a:solidFill>
            <a:srgbClr val="16233F"/>
          </a:solidFill>
          <a:ln/>
        </p:spPr>
      </p:sp>
      <p:sp>
        <p:nvSpPr>
          <p:cNvPr id="108" name="shape 22.107"/>
          <p:cNvSpPr/>
          <p:nvPr/>
        </p:nvSpPr>
        <p:spPr>
          <a:xfrm>
            <a:off x="10718532" y="368291"/>
            <a:ext cx="101597" cy="101597"/>
          </a:xfrm>
          <a:prstGeom prst="roundRect">
            <a:avLst>
              <a:gd name="adj" fmla="val 31250"/>
            </a:avLst>
          </a:prstGeom>
          <a:solidFill>
            <a:srgbClr val="16233F"/>
          </a:solidFill>
          <a:ln/>
        </p:spPr>
      </p:sp>
      <p:sp>
        <p:nvSpPr>
          <p:cNvPr id="109" name="shape 22.108"/>
          <p:cNvSpPr/>
          <p:nvPr/>
        </p:nvSpPr>
        <p:spPr>
          <a:xfrm>
            <a:off x="10883628" y="368291"/>
            <a:ext cx="101597" cy="101597"/>
          </a:xfrm>
          <a:prstGeom prst="roundRect">
            <a:avLst>
              <a:gd name="adj" fmla="val 31250"/>
            </a:avLst>
          </a:prstGeom>
          <a:solidFill>
            <a:srgbClr val="1FA9EA"/>
          </a:solidFill>
          <a:ln/>
        </p:spPr>
      </p:sp>
      <p:sp>
        <p:nvSpPr>
          <p:cNvPr id="110" name="text 22.109"/>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22</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111" name="text 22.110"/>
          <p:cNvSpPr txBox="1"/>
          <p:nvPr/>
        </p:nvSpPr>
        <p:spPr>
          <a:xfrm>
            <a:off x="927077" y="349241"/>
            <a:ext cx="1400305"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06 · Development plan</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23.1" descr="podium_full.png">    </p:cNvPr>
          <p:cNvPicPr>
            <a:picLocks noChangeAspect="1"/>
          </p:cNvPicPr>
          <p:nvPr/>
        </p:nvPicPr>
        <p:blipFill>
          <a:blip r:embed="rId2"/>
          <a:stretch>
            <a:fillRect/>
          </a:stretch>
        </p:blipFill>
        <p:spPr>
          <a:xfrm>
            <a:off x="4444889" y="0"/>
            <a:ext cx="7746806" cy="6857829"/>
          </a:xfrm>
          <a:prstGeom prst="rect">
            <a:avLst/>
          </a:prstGeom>
        </p:spPr>
      </p:pic>
      <p:pic>
        <p:nvPicPr>
          <p:cNvPr id="3" name="raster 23.2" descr="diagram">    </p:cNvPr>
          <p:cNvPicPr>
            <a:picLocks noChangeAspect="1"/>
          </p:cNvPicPr>
          <p:nvPr/>
        </p:nvPicPr>
        <p:blipFill>
          <a:blip r:embed="rId3"/>
          <a:stretch>
            <a:fillRect/>
          </a:stretch>
        </p:blipFill>
        <p:spPr>
          <a:xfrm>
            <a:off x="0" y="0"/>
            <a:ext cx="12191695" cy="6857829"/>
          </a:xfrm>
          <a:prstGeom prst="rect">
            <a:avLst/>
          </a:prstGeom>
        </p:spPr>
      </p:pic>
      <p:sp>
        <p:nvSpPr>
          <p:cNvPr id="4" name="shape 23.3"/>
          <p:cNvSpPr/>
          <p:nvPr/>
        </p:nvSpPr>
        <p:spPr>
          <a:xfrm>
            <a:off x="609585" y="2095448"/>
            <a:ext cx="5460863" cy="660383"/>
          </a:xfrm>
          <a:prstGeom prst="roundRect">
            <a:avLst>
              <a:gd name="adj" fmla="val 26923"/>
            </a:avLst>
          </a:prstGeom>
          <a:solidFill>
            <a:srgbClr val="FFFFFF"/>
          </a:solidFill>
          <a:ln/>
          <a:effectLst>
            <a:outerShdw sx="100000" sy="100000" kx="0" ky="0" algn="bl" rotWithShape="0" blurRad="203200" dist="76200" dir="5400000">
              <a:srgbClr val="1E468C">
                <a:alpha val="16000"/>
              </a:srgbClr>
            </a:outerShdw>
          </a:effectLst>
        </p:spPr>
      </p:sp>
      <p:sp>
        <p:nvSpPr>
          <p:cNvPr id="5" name="shape 23.4"/>
          <p:cNvSpPr/>
          <p:nvPr/>
        </p:nvSpPr>
        <p:spPr>
          <a:xfrm>
            <a:off x="609585" y="2895528"/>
            <a:ext cx="5460863" cy="660383"/>
          </a:xfrm>
          <a:prstGeom prst="roundRect">
            <a:avLst>
              <a:gd name="adj" fmla="val 26923"/>
            </a:avLst>
          </a:prstGeom>
          <a:solidFill>
            <a:srgbClr val="FFFFFF"/>
          </a:solidFill>
          <a:ln/>
          <a:effectLst>
            <a:outerShdw sx="100000" sy="100000" kx="0" ky="0" algn="bl" rotWithShape="0" blurRad="203200" dist="76200" dir="5400000">
              <a:srgbClr val="1E468C">
                <a:alpha val="16000"/>
              </a:srgbClr>
            </a:outerShdw>
          </a:effectLst>
        </p:spPr>
      </p:sp>
      <p:sp>
        <p:nvSpPr>
          <p:cNvPr id="6" name="shape 23.5"/>
          <p:cNvSpPr/>
          <p:nvPr/>
        </p:nvSpPr>
        <p:spPr>
          <a:xfrm>
            <a:off x="609585" y="3695608"/>
            <a:ext cx="5460863" cy="660383"/>
          </a:xfrm>
          <a:prstGeom prst="roundRect">
            <a:avLst>
              <a:gd name="adj" fmla="val 26923"/>
            </a:avLst>
          </a:prstGeom>
          <a:solidFill>
            <a:srgbClr val="FFFFFF"/>
          </a:solidFill>
          <a:ln/>
          <a:effectLst>
            <a:outerShdw sx="100000" sy="100000" kx="0" ky="0" algn="bl" rotWithShape="0" blurRad="203200" dist="76200" dir="5400000">
              <a:srgbClr val="1E468C">
                <a:alpha val="16000"/>
              </a:srgbClr>
            </a:outerShdw>
          </a:effectLst>
        </p:spPr>
      </p:sp>
      <p:sp>
        <p:nvSpPr>
          <p:cNvPr id="7" name="text 23.6"/>
          <p:cNvSpPr txBox="1"/>
          <p:nvPr/>
        </p:nvSpPr>
        <p:spPr>
          <a:xfrm>
            <a:off x="609585" y="444489"/>
            <a:ext cx="1301446"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6E7D9A"/>
                </a:solidFill>
                <a:latin typeface="Arial" pitchFamily="34" charset="0"/>
                <a:ea typeface="Arial" pitchFamily="34" charset="-122"/>
                <a:cs typeface="Arial" pitchFamily="34" charset="-120"/>
              </a:rPr>
              <a:t>FINAL STANDINGS</a:t>
            </a:r>
            <a:endParaRPr lang="en-US" sz="850" dirty="0"/>
          </a:p>
        </p:txBody>
      </p:sp>
      <p:sp>
        <p:nvSpPr>
          <p:cNvPr id="8" name="text 23.7"/>
          <p:cNvSpPr txBox="1"/>
          <p:nvPr/>
        </p:nvSpPr>
        <p:spPr>
          <a:xfrm>
            <a:off x="584185" y="825479"/>
            <a:ext cx="4798849" cy="825479"/>
          </a:xfrm>
          <a:prstGeom prst="rect">
            <a:avLst/>
          </a:prstGeom>
          <a:noFill/>
          <a:ln/>
        </p:spPr>
        <p:txBody>
          <a:bodyPr wrap="square" lIns="0" tIns="0" rIns="0" bIns="0" rtlCol="0" anchor="t"/>
          <a:lstStyle/>
          <a:p>
            <a:pPr algn="l" indent="0" marL="0">
              <a:lnSpc>
                <a:spcPts val="6500"/>
              </a:lnSpc>
              <a:buNone/>
            </a:pPr>
            <a:r>
              <a:rPr lang="en-US" sz="6500" dirty="0">
                <a:solidFill>
                  <a:srgbClr val="1FA9EA"/>
                </a:solidFill>
                <a:latin typeface="Arial Rounded MT Bold" pitchFamily="34" charset="0"/>
                <a:ea typeface="Arial Rounded MT Bold" pitchFamily="34" charset="-122"/>
                <a:cs typeface="Arial Rounded MT Bold" pitchFamily="34" charset="-120"/>
              </a:rPr>
              <a:t>Ice </a:t>
            </a:r>
            <a:pPr algn="l" indent="0" marL="0">
              <a:lnSpc>
                <a:spcPts val="6500"/>
              </a:lnSpc>
              <a:buNone/>
            </a:pPr>
            <a:r>
              <a:rPr lang="en-US" sz="6500" dirty="0">
                <a:solidFill>
                  <a:srgbClr val="16233F"/>
                </a:solidFill>
                <a:latin typeface="Arial Rounded MT Bold" pitchFamily="34" charset="0"/>
                <a:ea typeface="Arial Rounded MT Bold" pitchFamily="34" charset="-122"/>
                <a:cs typeface="Arial Rounded MT Bold" pitchFamily="34" charset="-120"/>
              </a:rPr>
              <a:t>Rumble</a:t>
            </a:r>
            <a:endParaRPr lang="en-US" sz="6500" dirty="0"/>
          </a:p>
        </p:txBody>
      </p:sp>
      <p:sp>
        <p:nvSpPr>
          <p:cNvPr id="9" name="shape 23.8"/>
          <p:cNvSpPr/>
          <p:nvPr/>
        </p:nvSpPr>
        <p:spPr>
          <a:xfrm>
            <a:off x="761981" y="2273243"/>
            <a:ext cx="546086" cy="304792"/>
          </a:xfrm>
          <a:prstGeom prst="roundRect">
            <a:avLst>
              <a:gd name="adj" fmla="val 50000"/>
            </a:avLst>
          </a:prstGeom>
          <a:solidFill>
            <a:srgbClr val="FF6B1F"/>
          </a:solidFill>
          <a:ln/>
        </p:spPr>
      </p:sp>
      <p:sp>
        <p:nvSpPr>
          <p:cNvPr id="10" name="text 23.9"/>
          <p:cNvSpPr txBox="1"/>
          <p:nvPr/>
        </p:nvSpPr>
        <p:spPr>
          <a:xfrm>
            <a:off x="761981" y="2273243"/>
            <a:ext cx="546086" cy="304792"/>
          </a:xfrm>
          <a:prstGeom prst="rect">
            <a:avLst/>
          </a:prstGeom>
          <a:noFill/>
          <a:ln/>
        </p:spPr>
        <p:txBody>
          <a:bodyPr wrap="square" lIns="0" tIns="0" rIns="0" bIns="0" rtlCol="0" anchor="ctr"/>
          <a:lstStyle/>
          <a:p>
            <a:pPr algn="ctr" indent="0" marL="0">
              <a:lnSpc>
                <a:spcPts val="1300"/>
              </a:lnSpc>
              <a:buNone/>
            </a:pPr>
            <a:r>
              <a:rPr lang="en-US" sz="1300" dirty="0">
                <a:solidFill>
                  <a:srgbClr val="FFFFFF"/>
                </a:solidFill>
                <a:latin typeface="Arial Rounded MT Bold" pitchFamily="34" charset="0"/>
                <a:ea typeface="Arial Rounded MT Bold" pitchFamily="34" charset="-122"/>
                <a:cs typeface="Arial Rounded MT Bold" pitchFamily="34" charset="-120"/>
              </a:rPr>
              <a:t>1st</a:t>
            </a:r>
            <a:endParaRPr lang="en-US" sz="1300" dirty="0"/>
          </a:p>
        </p:txBody>
      </p:sp>
      <p:sp>
        <p:nvSpPr>
          <p:cNvPr id="11" name="text 23.10"/>
          <p:cNvSpPr txBox="1"/>
          <p:nvPr/>
        </p:nvSpPr>
        <p:spPr>
          <a:xfrm>
            <a:off x="1473163" y="2235144"/>
            <a:ext cx="4482988" cy="380990"/>
          </a:xfrm>
          <a:prstGeom prst="rect">
            <a:avLst/>
          </a:prstGeom>
          <a:noFill/>
          <a:ln/>
        </p:spPr>
        <p:txBody>
          <a:bodyPr wrap="square" lIns="0" tIns="0" rIns="0" bIns="0" rtlCol="0" anchor="ctr"/>
          <a:lstStyle/>
          <a:p>
            <a:pPr algn="l" indent="0" marL="0">
              <a:lnSpc>
                <a:spcPts val="1650"/>
              </a:lnSpc>
              <a:buNone/>
            </a:pPr>
            <a:r>
              <a:rPr lang="en-US" sz="1250" dirty="0">
                <a:solidFill>
                  <a:srgbClr val="16233F"/>
                </a:solidFill>
                <a:latin typeface="Arial" pitchFamily="34" charset="0"/>
                <a:ea typeface="Arial" pitchFamily="34" charset="-122"/>
                <a:cs typeface="Arial" pitchFamily="34" charset="-120"/>
              </a:rPr>
              <a:t>2–4 players, one LAN, no internet.</a:t>
            </a:r>
            <a:endParaRPr lang="en-US" sz="1250" dirty="0"/>
          </a:p>
        </p:txBody>
      </p:sp>
      <p:sp>
        <p:nvSpPr>
          <p:cNvPr id="12" name="shape 23.11"/>
          <p:cNvSpPr/>
          <p:nvPr/>
        </p:nvSpPr>
        <p:spPr>
          <a:xfrm>
            <a:off x="761981" y="3073323"/>
            <a:ext cx="546086" cy="304792"/>
          </a:xfrm>
          <a:prstGeom prst="roundRect">
            <a:avLst>
              <a:gd name="adj" fmla="val 50000"/>
            </a:avLst>
          </a:prstGeom>
          <a:solidFill>
            <a:srgbClr val="1FA9EA"/>
          </a:solidFill>
          <a:ln/>
        </p:spPr>
      </p:sp>
      <p:sp>
        <p:nvSpPr>
          <p:cNvPr id="13" name="text 23.12"/>
          <p:cNvSpPr txBox="1"/>
          <p:nvPr/>
        </p:nvSpPr>
        <p:spPr>
          <a:xfrm>
            <a:off x="761981" y="3073323"/>
            <a:ext cx="546086" cy="304792"/>
          </a:xfrm>
          <a:prstGeom prst="rect">
            <a:avLst/>
          </a:prstGeom>
          <a:noFill/>
          <a:ln/>
        </p:spPr>
        <p:txBody>
          <a:bodyPr wrap="square" lIns="0" tIns="0" rIns="0" bIns="0" rtlCol="0" anchor="ctr"/>
          <a:lstStyle/>
          <a:p>
            <a:pPr algn="ctr" indent="0" marL="0">
              <a:lnSpc>
                <a:spcPts val="1300"/>
              </a:lnSpc>
              <a:buNone/>
            </a:pPr>
            <a:r>
              <a:rPr lang="en-US" sz="1300" dirty="0">
                <a:solidFill>
                  <a:srgbClr val="FFFFFF"/>
                </a:solidFill>
                <a:latin typeface="Arial Rounded MT Bold" pitchFamily="34" charset="0"/>
                <a:ea typeface="Arial Rounded MT Bold" pitchFamily="34" charset="-122"/>
                <a:cs typeface="Arial Rounded MT Bold" pitchFamily="34" charset="-120"/>
              </a:rPr>
              <a:t>2nd</a:t>
            </a:r>
            <a:endParaRPr lang="en-US" sz="1300" dirty="0"/>
          </a:p>
        </p:txBody>
      </p:sp>
      <p:sp>
        <p:nvSpPr>
          <p:cNvPr id="14" name="text 23.13"/>
          <p:cNvSpPr txBox="1"/>
          <p:nvPr/>
        </p:nvSpPr>
        <p:spPr>
          <a:xfrm>
            <a:off x="1473163" y="3035224"/>
            <a:ext cx="4482988" cy="380990"/>
          </a:xfrm>
          <a:prstGeom prst="rect">
            <a:avLst/>
          </a:prstGeom>
          <a:noFill/>
          <a:ln/>
        </p:spPr>
        <p:txBody>
          <a:bodyPr wrap="square" lIns="0" tIns="0" rIns="0" bIns="0" rtlCol="0" anchor="ctr"/>
          <a:lstStyle/>
          <a:p>
            <a:pPr algn="l" indent="0" marL="0">
              <a:lnSpc>
                <a:spcPts val="1650"/>
              </a:lnSpc>
              <a:buNone/>
            </a:pPr>
            <a:r>
              <a:rPr lang="en-US" sz="1250" dirty="0">
                <a:solidFill>
                  <a:srgbClr val="16233F"/>
                </a:solidFill>
                <a:latin typeface="Arial" pitchFamily="34" charset="0"/>
                <a:ea typeface="Arial" pitchFamily="34" charset="-122"/>
                <a:cs typeface="Arial" pitchFamily="34" charset="-120"/>
              </a:rPr>
              <a:t>Two mini-games on one shared Unity core.</a:t>
            </a:r>
            <a:endParaRPr lang="en-US" sz="1250" dirty="0"/>
          </a:p>
        </p:txBody>
      </p:sp>
      <p:sp>
        <p:nvSpPr>
          <p:cNvPr id="15" name="shape 23.14"/>
          <p:cNvSpPr/>
          <p:nvPr/>
        </p:nvSpPr>
        <p:spPr>
          <a:xfrm>
            <a:off x="761981" y="3873403"/>
            <a:ext cx="546086" cy="304792"/>
          </a:xfrm>
          <a:prstGeom prst="roundRect">
            <a:avLst>
              <a:gd name="adj" fmla="val 50000"/>
            </a:avLst>
          </a:prstGeom>
          <a:solidFill>
            <a:srgbClr val="43B832"/>
          </a:solidFill>
          <a:ln/>
        </p:spPr>
      </p:sp>
      <p:sp>
        <p:nvSpPr>
          <p:cNvPr id="16" name="text 23.15"/>
          <p:cNvSpPr txBox="1"/>
          <p:nvPr/>
        </p:nvSpPr>
        <p:spPr>
          <a:xfrm>
            <a:off x="761981" y="3873403"/>
            <a:ext cx="546086" cy="304792"/>
          </a:xfrm>
          <a:prstGeom prst="rect">
            <a:avLst/>
          </a:prstGeom>
          <a:noFill/>
          <a:ln/>
        </p:spPr>
        <p:txBody>
          <a:bodyPr wrap="square" lIns="0" tIns="0" rIns="0" bIns="0" rtlCol="0" anchor="ctr"/>
          <a:lstStyle/>
          <a:p>
            <a:pPr algn="ctr" indent="0" marL="0">
              <a:lnSpc>
                <a:spcPts val="1300"/>
              </a:lnSpc>
              <a:buNone/>
            </a:pPr>
            <a:r>
              <a:rPr lang="en-US" sz="1300" dirty="0">
                <a:solidFill>
                  <a:srgbClr val="FFFFFF"/>
                </a:solidFill>
                <a:latin typeface="Arial Rounded MT Bold" pitchFamily="34" charset="0"/>
                <a:ea typeface="Arial Rounded MT Bold" pitchFamily="34" charset="-122"/>
                <a:cs typeface="Arial Rounded MT Bold" pitchFamily="34" charset="-120"/>
              </a:rPr>
              <a:t>3rd</a:t>
            </a:r>
            <a:endParaRPr lang="en-US" sz="1300" dirty="0"/>
          </a:p>
        </p:txBody>
      </p:sp>
      <p:sp>
        <p:nvSpPr>
          <p:cNvPr id="17" name="text 23.16"/>
          <p:cNvSpPr txBox="1"/>
          <p:nvPr/>
        </p:nvSpPr>
        <p:spPr>
          <a:xfrm>
            <a:off x="1473163" y="3835304"/>
            <a:ext cx="4482988" cy="380990"/>
          </a:xfrm>
          <a:prstGeom prst="rect">
            <a:avLst/>
          </a:prstGeom>
          <a:noFill/>
          <a:ln/>
        </p:spPr>
        <p:txBody>
          <a:bodyPr wrap="square" lIns="0" tIns="0" rIns="0" bIns="0" rtlCol="0" anchor="ctr"/>
          <a:lstStyle/>
          <a:p>
            <a:pPr algn="l" indent="0" marL="0">
              <a:lnSpc>
                <a:spcPts val="1650"/>
              </a:lnSpc>
              <a:buNone/>
            </a:pPr>
            <a:r>
              <a:rPr lang="en-US" sz="1250" dirty="0">
                <a:solidFill>
                  <a:srgbClr val="16233F"/>
                </a:solidFill>
                <a:latin typeface="Arial" pitchFamily="34" charset="0"/>
                <a:ea typeface="Arial" pitchFamily="34" charset="-122"/>
                <a:cs typeface="Arial" pitchFamily="34" charset="-120"/>
              </a:rPr>
              <a:t>Every shot costs the shooter mass, so aim matters more than volume.</a:t>
            </a:r>
            <a:endParaRPr lang="en-US" sz="1250" dirty="0"/>
          </a:p>
        </p:txBody>
      </p:sp>
      <p:sp>
        <p:nvSpPr>
          <p:cNvPr id="18" name="text 23.17"/>
          <p:cNvSpPr txBox="1"/>
          <p:nvPr/>
        </p:nvSpPr>
        <p:spPr>
          <a:xfrm>
            <a:off x="596885" y="4889378"/>
            <a:ext cx="3899862" cy="660383"/>
          </a:xfrm>
          <a:prstGeom prst="rect">
            <a:avLst/>
          </a:prstGeom>
          <a:noFill/>
          <a:ln/>
        </p:spPr>
        <p:txBody>
          <a:bodyPr wrap="square" lIns="0" tIns="0" rIns="0" bIns="0" rtlCol="0" anchor="t"/>
          <a:lstStyle/>
          <a:p>
            <a:pPr algn="l" indent="0" marL="0">
              <a:lnSpc>
                <a:spcPts val="5200"/>
              </a:lnSpc>
              <a:buNone/>
            </a:pPr>
            <a:r>
              <a:rPr lang="en-US" sz="5200" dirty="0">
                <a:solidFill>
                  <a:srgbClr val="FF6B1F"/>
                </a:solidFill>
                <a:latin typeface="Arial Rounded MT Bold" pitchFamily="34" charset="0"/>
                <a:ea typeface="Arial Rounded MT Bold" pitchFamily="34" charset="-122"/>
                <a:cs typeface="Arial Rounded MT Bold" pitchFamily="34" charset="-120"/>
              </a:rPr>
              <a:t>Questions?</a:t>
            </a:r>
            <a:endParaRPr lang="en-US" sz="5200" dirty="0"/>
          </a:p>
        </p:txBody>
      </p:sp>
      <p:sp>
        <p:nvSpPr>
          <p:cNvPr id="19" name="text 23.18"/>
          <p:cNvSpPr txBox="1"/>
          <p:nvPr/>
        </p:nvSpPr>
        <p:spPr>
          <a:xfrm>
            <a:off x="609585" y="5968851"/>
            <a:ext cx="7022924" cy="177796"/>
          </a:xfrm>
          <a:prstGeom prst="rect">
            <a:avLst/>
          </a:prstGeom>
          <a:noFill/>
          <a:ln/>
        </p:spPr>
        <p:txBody>
          <a:bodyPr wrap="square" lIns="0" tIns="0" rIns="0" bIns="0" rtlCol="0" anchor="t"/>
          <a:lstStyle/>
          <a:p>
            <a:pPr algn="l" indent="0" marL="0">
              <a:lnSpc>
                <a:spcPts val="1400"/>
              </a:lnSpc>
              <a:buNone/>
            </a:pPr>
            <a:r>
              <a:rPr lang="en-US" sz="1000" dirty="0">
                <a:solidFill>
                  <a:srgbClr val="6E7D9A"/>
                </a:solidFill>
                <a:latin typeface="Arial" pitchFamily="34" charset="0"/>
                <a:ea typeface="Arial" pitchFamily="34" charset="-122"/>
                <a:cs typeface="Arial" pitchFamily="34" charset="-120"/>
              </a:rPr>
              <a:t>Ezel Bayraktar · Abdurrahim Özağaç · Kürşat Hürkan Aydın · Ardıl Bilal Ülkü</a:t>
            </a:r>
            <a:endParaRPr lang="en-US" sz="1000" dirty="0"/>
          </a:p>
        </p:txBody>
      </p:sp>
      <p:sp>
        <p:nvSpPr>
          <p:cNvPr id="20" name="text 23.19"/>
          <p:cNvSpPr txBox="1"/>
          <p:nvPr/>
        </p:nvSpPr>
        <p:spPr>
          <a:xfrm>
            <a:off x="9224450" y="6516227"/>
            <a:ext cx="2357660" cy="151126"/>
          </a:xfrm>
          <a:prstGeom prst="rect">
            <a:avLst/>
          </a:prstGeom>
          <a:noFill/>
          <a:ln/>
        </p:spPr>
        <p:txBody>
          <a:bodyPr wrap="square" lIns="0" tIns="0" rIns="0" bIns="0" rtlCol="0" anchor="t"/>
          <a:lstStyle/>
          <a:p>
            <a:pPr algn="r" indent="0" marL="0">
              <a:lnSpc>
                <a:spcPts val="1190"/>
              </a:lnSpc>
              <a:buNone/>
            </a:pPr>
            <a:r>
              <a:rPr lang="en-US" sz="850" dirty="0">
                <a:solidFill>
                  <a:srgbClr val="FFFFFF"/>
                </a:solidFill>
                <a:latin typeface="Arial" pitchFamily="34" charset="0"/>
                <a:ea typeface="Arial" pitchFamily="34" charset="-122"/>
                <a:cs typeface="Arial" pitchFamily="34" charset="-120"/>
              </a:rPr>
              <a:t>Concept render, AI-generated. Not gameplay.</a:t>
            </a:r>
            <a:endParaRPr lang="en-US" sz="85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4.1"/>
          <p:cNvSpPr/>
          <p:nvPr/>
        </p:nvSpPr>
        <p:spPr>
          <a:xfrm>
            <a:off x="609585" y="1498563"/>
            <a:ext cx="10972526" cy="4825879"/>
          </a:xfrm>
          <a:prstGeom prst="roundRect">
            <a:avLst>
              <a:gd name="adj" fmla="val 3684"/>
            </a:avLst>
          </a:prstGeom>
          <a:solidFill>
            <a:srgbClr val="FFFFFF"/>
          </a:solidFill>
          <a:ln/>
          <a:effectLst>
            <a:outerShdw sx="100000" sy="100000" kx="0" ky="0" algn="bl" rotWithShape="0" blurRad="203200" dist="76200" dir="5400000">
              <a:srgbClr val="1E468C">
                <a:alpha val="16000"/>
              </a:srgbClr>
            </a:outerShdw>
          </a:effectLst>
        </p:spPr>
      </p:sp>
      <p:sp>
        <p:nvSpPr>
          <p:cNvPr id="3" name="text 24.2"/>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Sources</a:t>
            </a:r>
            <a:endParaRPr lang="en-US" sz="2700" dirty="0"/>
          </a:p>
        </p:txBody>
      </p:sp>
      <p:sp>
        <p:nvSpPr>
          <p:cNvPr id="4" name="text 24.3"/>
          <p:cNvSpPr txBox="1"/>
          <p:nvPr/>
        </p:nvSpPr>
        <p:spPr>
          <a:xfrm>
            <a:off x="863578" y="1714457"/>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[1] Newzoo final 2025 figures, via GameDev Reports, 2026-06-26. gamedevreports.substack.com/p/newzoo-gaming-market-surpassed-200</a:t>
            </a:r>
            <a:endParaRPr lang="en-US" sz="950" dirty="0"/>
          </a:p>
        </p:txBody>
      </p:sp>
      <p:sp>
        <p:nvSpPr>
          <p:cNvPr id="5" name="text 24.4"/>
          <p:cNvSpPr txBox="1"/>
          <p:nvPr/>
        </p:nvSpPr>
        <p:spPr>
          <a:xfrm>
            <a:off x="863578" y="2108147"/>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[2] Alinea Analytics, games with co-op on Steam, H1 2025 (proprietary estimates). alineaanalytics.substack.com/p/games-with-co-op-generated-over-4</a:t>
            </a:r>
            <a:endParaRPr lang="en-US" sz="950" dirty="0"/>
          </a:p>
        </p:txBody>
      </p:sp>
      <p:sp>
        <p:nvSpPr>
          <p:cNvPr id="6" name="text 24.5"/>
          <p:cNvSpPr txBox="1"/>
          <p:nvPr/>
        </p:nvSpPr>
        <p:spPr>
          <a:xfrm>
            <a:off x="863578" y="2501837"/>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[3] ESA Essential Facts 2026 (survey Feb 2026, n=13,545). theesa.com</a:t>
            </a:r>
            <a:endParaRPr lang="en-US" sz="950" dirty="0"/>
          </a:p>
        </p:txBody>
      </p:sp>
      <p:sp>
        <p:nvSpPr>
          <p:cNvPr id="7" name="text 24.6"/>
          <p:cNvSpPr txBox="1"/>
          <p:nvPr/>
        </p:nvSpPr>
        <p:spPr>
          <a:xfrm>
            <a:off x="863578" y="289552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[4] Steam store search, tag “Party Game” × LAN PvP / Online PvP / Shared-Split-screen PvP, 2026-10-17. Tags are user-applied.</a:t>
            </a:r>
            <a:endParaRPr lang="en-US" sz="950" dirty="0"/>
          </a:p>
        </p:txBody>
      </p:sp>
      <p:sp>
        <p:nvSpPr>
          <p:cNvPr id="8" name="text 24.7"/>
          <p:cNvSpPr txBox="1"/>
          <p:nvPr/>
        </p:nvSpPr>
        <p:spPr>
          <a:xfrm>
            <a:off x="863578" y="328921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[5] Game Developers, 2025 Steam revenue distribution (Gamalytic estimates), 2026-08-21. game-developers.org/2025-steam-game-revenue-distribution</a:t>
            </a:r>
            <a:endParaRPr lang="en-US" sz="950" dirty="0"/>
          </a:p>
        </p:txBody>
      </p:sp>
      <p:sp>
        <p:nvSpPr>
          <p:cNvPr id="9" name="text 24.8"/>
          <p:cNvSpPr txBox="1"/>
          <p:nvPr/>
        </p:nvSpPr>
        <p:spPr>
          <a:xfrm>
            <a:off x="863578" y="368290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[6] PC Gamer, Valve at GDC 2026: 5,863 games over $100K on Steam in 2025. pcgamer.com</a:t>
            </a:r>
            <a:endParaRPr lang="en-US" sz="950" dirty="0"/>
          </a:p>
        </p:txBody>
      </p:sp>
      <p:sp>
        <p:nvSpPr>
          <p:cNvPr id="10" name="text 24.9"/>
          <p:cNvSpPr txBox="1"/>
          <p:nvPr/>
        </p:nvSpPr>
        <p:spPr>
          <a:xfrm>
            <a:off x="863578" y="407659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[7] Steam store pages and SteamDB charts, apps 1260320, 285900, 1097150, 880940, 1858400: prices, peaks, reviews, owner estimates. 2026-10-17.</a:t>
            </a:r>
            <a:endParaRPr lang="en-US" sz="950" dirty="0"/>
          </a:p>
        </p:txBody>
      </p:sp>
      <p:sp>
        <p:nvSpPr>
          <p:cNvPr id="11" name="text 24.10"/>
          <p:cNvSpPr txBox="1"/>
          <p:nvPr/>
        </p:nvSpPr>
        <p:spPr>
          <a:xfrm>
            <a:off x="863578" y="447028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[8] GameRevolution / Prima Games: Party Animals requires an internet connection, including split-screen.</a:t>
            </a:r>
            <a:endParaRPr lang="en-US" sz="950" dirty="0"/>
          </a:p>
        </p:txBody>
      </p:sp>
      <p:sp>
        <p:nvSpPr>
          <p:cNvPr id="12" name="text 24.11"/>
          <p:cNvSpPr txBox="1"/>
          <p:nvPr/>
        </p:nvSpPr>
        <p:spPr>
          <a:xfrm>
            <a:off x="863578" y="486397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[9] Osmos official site, osmos-game.com. [10] Squarena on Steam (app 1858400); codeaclysmgames.com/squarena-details.</a:t>
            </a:r>
            <a:endParaRPr lang="en-US" sz="950" dirty="0"/>
          </a:p>
        </p:txBody>
      </p:sp>
      <p:sp>
        <p:nvSpPr>
          <p:cNvPr id="13" name="text 24.12"/>
          <p:cNvSpPr txBox="1"/>
          <p:nvPr/>
        </p:nvSpPr>
        <p:spPr>
          <a:xfrm>
            <a:off x="863578" y="5257669"/>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[11] Morphies Law official site, morphieslaw.com/game. [12] Crisol: Theater of Idols, Blumhouse Games and Steam (app 1790930).</a:t>
            </a:r>
            <a:endParaRPr lang="en-US" sz="950" dirty="0"/>
          </a:p>
        </p:txBody>
      </p:sp>
      <p:sp>
        <p:nvSpPr>
          <p:cNvPr id="14" name="text 24.13"/>
          <p:cNvSpPr txBox="1"/>
          <p:nvPr/>
        </p:nvSpPr>
        <p:spPr>
          <a:xfrm>
            <a:off x="863578" y="5651359"/>
            <a:ext cx="10515337" cy="337732"/>
          </a:xfrm>
          <a:prstGeom prst="rect">
            <a:avLst/>
          </a:prstGeom>
          <a:noFill/>
          <a:ln/>
        </p:spPr>
        <p:txBody>
          <a:bodyPr wrap="square" lIns="0" tIns="0" rIns="0" bIns="0" rtlCol="0" anchor="t"/>
          <a:lstStyle/>
          <a:p>
            <a:pPr algn="l" indent="0" marL="0">
              <a:lnSpc>
                <a:spcPts val="1330"/>
              </a:lnSpc>
              <a:buNone/>
            </a:pPr>
            <a:r>
              <a:rPr lang="en-US" sz="950" dirty="0">
                <a:solidFill>
                  <a:srgbClr val="6E7D9A"/>
                </a:solidFill>
                <a:latin typeface="Arial" pitchFamily="34" charset="0"/>
                <a:ea typeface="Arial" pitchFamily="34" charset="-122"/>
                <a:cs typeface="Arial" pitchFamily="34" charset="-120"/>
              </a:rPr>
              <a:t>Images: all game visuals are AI concept renders (GPT Image via Higgsfield; MiniMax H3) from our own reference art, except competitor screenshots (official Steam media). Logo and level drafts made for this proposal.</a:t>
            </a:r>
            <a:endParaRPr lang="en-US" sz="950" dirty="0"/>
          </a:p>
        </p:txBody>
      </p:sp>
      <p:sp>
        <p:nvSpPr>
          <p:cNvPr id="15" name="shape 24.14"/>
          <p:cNvSpPr/>
          <p:nvPr/>
        </p:nvSpPr>
        <p:spPr>
          <a:xfrm>
            <a:off x="609585" y="266693"/>
            <a:ext cx="987996"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6" name="shape 24.15"/>
          <p:cNvSpPr/>
          <p:nvPr/>
        </p:nvSpPr>
        <p:spPr>
          <a:xfrm>
            <a:off x="711182" y="355591"/>
            <a:ext cx="114297" cy="114297"/>
          </a:xfrm>
          <a:prstGeom prst="roundRect">
            <a:avLst>
              <a:gd name="adj" fmla="val 33333"/>
            </a:avLst>
          </a:prstGeom>
          <a:solidFill>
            <a:srgbClr val="1FA9EA"/>
          </a:solidFill>
          <a:ln/>
        </p:spPr>
      </p:sp>
      <p:sp>
        <p:nvSpPr>
          <p:cNvPr id="17" name="shape 24.16"/>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8" name="shape 24.17"/>
          <p:cNvSpPr/>
          <p:nvPr/>
        </p:nvSpPr>
        <p:spPr>
          <a:xfrm>
            <a:off x="10058149" y="368291"/>
            <a:ext cx="101597" cy="101597"/>
          </a:xfrm>
          <a:prstGeom prst="roundRect">
            <a:avLst>
              <a:gd name="adj" fmla="val 31250"/>
            </a:avLst>
          </a:prstGeom>
          <a:solidFill>
            <a:srgbClr val="C7D4E8"/>
          </a:solidFill>
          <a:ln/>
        </p:spPr>
      </p:sp>
      <p:sp>
        <p:nvSpPr>
          <p:cNvPr id="19" name="shape 24.18"/>
          <p:cNvSpPr/>
          <p:nvPr/>
        </p:nvSpPr>
        <p:spPr>
          <a:xfrm>
            <a:off x="10223244" y="368291"/>
            <a:ext cx="101597" cy="101597"/>
          </a:xfrm>
          <a:prstGeom prst="roundRect">
            <a:avLst>
              <a:gd name="adj" fmla="val 31250"/>
            </a:avLst>
          </a:prstGeom>
          <a:solidFill>
            <a:srgbClr val="C7D4E8"/>
          </a:solidFill>
          <a:ln/>
        </p:spPr>
      </p:sp>
      <p:sp>
        <p:nvSpPr>
          <p:cNvPr id="20" name="shape 24.19"/>
          <p:cNvSpPr/>
          <p:nvPr/>
        </p:nvSpPr>
        <p:spPr>
          <a:xfrm>
            <a:off x="10388340" y="368291"/>
            <a:ext cx="101597" cy="101597"/>
          </a:xfrm>
          <a:prstGeom prst="roundRect">
            <a:avLst>
              <a:gd name="adj" fmla="val 31250"/>
            </a:avLst>
          </a:prstGeom>
          <a:solidFill>
            <a:srgbClr val="C7D4E8"/>
          </a:solidFill>
          <a:ln/>
        </p:spPr>
      </p:sp>
      <p:sp>
        <p:nvSpPr>
          <p:cNvPr id="21" name="shape 24.20"/>
          <p:cNvSpPr/>
          <p:nvPr/>
        </p:nvSpPr>
        <p:spPr>
          <a:xfrm>
            <a:off x="10553436" y="368291"/>
            <a:ext cx="101597" cy="101597"/>
          </a:xfrm>
          <a:prstGeom prst="roundRect">
            <a:avLst>
              <a:gd name="adj" fmla="val 31250"/>
            </a:avLst>
          </a:prstGeom>
          <a:solidFill>
            <a:srgbClr val="C7D4E8"/>
          </a:solidFill>
          <a:ln/>
        </p:spPr>
      </p:sp>
      <p:sp>
        <p:nvSpPr>
          <p:cNvPr id="22" name="shape 24.21"/>
          <p:cNvSpPr/>
          <p:nvPr/>
        </p:nvSpPr>
        <p:spPr>
          <a:xfrm>
            <a:off x="10718532" y="368291"/>
            <a:ext cx="101597" cy="101597"/>
          </a:xfrm>
          <a:prstGeom prst="roundRect">
            <a:avLst>
              <a:gd name="adj" fmla="val 31250"/>
            </a:avLst>
          </a:prstGeom>
          <a:solidFill>
            <a:srgbClr val="C7D4E8"/>
          </a:solidFill>
          <a:ln/>
        </p:spPr>
      </p:sp>
      <p:sp>
        <p:nvSpPr>
          <p:cNvPr id="23" name="shape 24.22"/>
          <p:cNvSpPr/>
          <p:nvPr/>
        </p:nvSpPr>
        <p:spPr>
          <a:xfrm>
            <a:off x="10883628" y="368291"/>
            <a:ext cx="101597" cy="101597"/>
          </a:xfrm>
          <a:prstGeom prst="roundRect">
            <a:avLst>
              <a:gd name="adj" fmla="val 31250"/>
            </a:avLst>
          </a:prstGeom>
          <a:solidFill>
            <a:srgbClr val="C7D4E8"/>
          </a:solidFill>
          <a:ln/>
        </p:spPr>
      </p:sp>
      <p:sp>
        <p:nvSpPr>
          <p:cNvPr id="24" name="text 24.23"/>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24</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24</a:t>
            </a:r>
            <a:endParaRPr lang="en-US" sz="1000" dirty="0"/>
          </a:p>
        </p:txBody>
      </p:sp>
      <p:sp>
        <p:nvSpPr>
          <p:cNvPr id="25" name="text 24.24"/>
          <p:cNvSpPr txBox="1"/>
          <p:nvPr/>
        </p:nvSpPr>
        <p:spPr>
          <a:xfrm>
            <a:off x="927077" y="349241"/>
            <a:ext cx="634883"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Appendix</a:t>
            </a:r>
            <a:endParaRPr lang="en-US" sz="9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Rounded MT 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Ice Rumble — Game Proposal</dc:title>
  <dc:subject>PptxGenJS Presentation</dc:subject>
  <dc:creator>Ezel Bayraktar, Abdurrahim Özağaç, Kürşat Hürkan Aydın, Ardıl Bilal Ülkü</dc:creator>
  <cp:lastModifiedBy>Ezel Bayraktar, Abdurrahim Özağaç, Kürşat Hürkan Aydın, Ardıl Bilal Ülkü</cp:lastModifiedBy>
  <cp:revision>1</cp:revision>
  <dcterms:created xsi:type="dcterms:W3CDTF">2026-10-17T10:12:22Z</dcterms:created>
  <dcterms:modified xsi:type="dcterms:W3CDTF">2026-10-17T10:12:22Z</dcterms:modified>
</cp:coreProperties>
</file>