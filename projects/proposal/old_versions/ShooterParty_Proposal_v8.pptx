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710ec91-d3da-50c8-fea8-5cacbdadd9f9}">
          <p14:sldIdLst>
            <p14:sldId id="256"/>
            <p14:sldId id="257"/>
          </p14:sldIdLst>
        </p14:section>
        <p14:section name="Gameplay and tech" id="{27feee5a-0d0f-0923-febb-3cc9e4b311ca}">
          <p14:sldIdLst>
            <p14:sldId id="258"/>
            <p14:sldId id="259"/>
            <p14:sldId id="260"/>
            <p14:sldId id="261"/>
            <p14:sldId id="262"/>
            <p14:sldId id="263"/>
            <p14:sldId id="264"/>
          </p14:sldIdLst>
        </p14:section>
        <p14:section name="Market" id="{b493bc36-ab77-0176-a499-ebe6f33698ed}">
          <p14:sldIdLst>
            <p14:sldId id="265"/>
            <p14:sldId id="266"/>
            <p14:sldId id="267"/>
          </p14:sldIdLst>
        </p14:section>
        <p14:section name="Innovation" id="{10d6cb8b-c392-3311-dfec-af03dc2868fc}">
          <p14:sldIdLst>
            <p14:sldId id="268"/>
            <p14:sldId id="269"/>
            <p14:sldId id="270"/>
          </p14:sldIdLst>
        </p14:section>
        <p14:section name="Drafts and prototypes" id="{fe40bb59-0b9b-9670-af3b-99bb027cd977}">
          <p14:sldIdLst>
            <p14:sldId id="271"/>
            <p14:sldId id="272"/>
            <p14:sldId id="273"/>
            <p14:sldId id="274"/>
          </p14:sldIdLst>
        </p14:section>
        <p14:section name="Plan" id="{9315e830-4532-7a49-db71-47e358744119}">
          <p14:sldIdLst>
            <p14:sldId id="275"/>
            <p14:sldId id="276"/>
            <p14:sldId id="277"/>
            <p14:sldId id="278"/>
          </p14:sldIdLst>
        </p14:section>
        <p14:section name="Close" id="{56d3dda9-e17b-a0cd-c141-16531c3dad89}">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The four of us are the four players at the bottom. All game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first: two to four friends, each on a PC, in the same room; one PC hosts. Everyone plays the same cube in one of four colours. The session loop. The host starts the session and sets the playlist: random or custom, with unwanted games left out and repeats allowed. Some mini-games have rounds of their own. Placement in each mini-game gives points, and the session ends after a set number of mini-games or when someone reaches a target score. Only points carry over; mass and position reset. Placement points 4, 3, 2, 1 are a proposal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rule of Mass Knockout. Shooting is free; only a fire-rate limit sets the pace, and the shots are real physical projectiles. The shooter is not affected. The target is pushed back from the direction of the shot and loses mass, not size. Because the force of a shot stays the same, a lighter cube is pushed further by the same shot, and a cube that falls off is out. Exact values come from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controls stay the same everywhere: WASD to move, a third-person camera, aim and shoot. Jumping is on in some mini-games and off in others. What changes is what a shot does. In Mass Knockout a hit pushes the target back and lowers its mass. On the ice, one mechanic idea is to shoot forward while sliding and use the shot's momentum to steer. In the parkour idea a shot explodes and lifts you, so you can shoot the ground to jump. In other mini-games a hit simply lowers the target's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We shoot each other on one flat platform with open edges. Shooting is free but has a fire-rate limit, and the shots are real projectiles that do nothing to the shooter. A hit pushes the target back from the direction of the shot and lowers its mass, not its size. The lighter it gets, the further the same shot pushes it. A cube that falls off 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A slippery ice track with checkpoints. The goal is to pass the most checkpoints within the time limit. The track loops, so after the last checkpoint you go round again and every checkpoint still counts plus one. Players can push each other off the ice to gain an advantage; whoever falls into the water restarts at their last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doc has more mini-game ideas than the two in the MVP. Parkour Blast: cross a course by shooting and blasting; holding the button charges a strong blast, but you can't move while firing, so you are exposed. There is nowhere to hide, and falling is out. If hitting turns out too easy, shots can arc under gravity. Musical Chairs: player-shaped holes open in the floor, each at a set angle, with one fewer hole every round; whoever is left out is crushed by a giant bulldozer. Shots push players, but a cube already in a hole can't be pushed out. Versus is a straight battle that we are still designing. All of them come after the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the third-person camera, the shared shot, rounds and the playlist, the scoreboard and the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end to end. The client only sends intent. The host checks the fire-rate limit, spawns and simulates the shot,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None of them ties knockback to the mass a player has lost.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every hit lowers the target's mass, so the same shot launches it further next time. Shoot, push, drain, launch. We searched for the last link and did not find it in any shipped game. The next slide shows the closest prior art for each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links have relatives, and we name them. Knockback from attacks is standard, for example in Smash Bros. Squarena changes your body as you lose health, in 2D, and Morphies Law moves mass between robots. Smash Bros. raises knockback with a percentage counter, not with physical mass. Lost mass launching you further, and all of it in one 3D party game, we did not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idea from our design doc, not a finished design: characters with different properties that players pick. With our rule the natural property is starting mass: a heavy build is harder to push off, a light one flies further and jumps higher. We would design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This is a real prototype: a deterministic physics simulation of the Mass Knockout rule, written in Three.js and rendered frame by frame. Over three shots the target flies further each time. In the prototype it also shrinks so the rule is easy to see; in the game its size stays the same and only its mass drops. It is the reference for our first Unity test of Mass Knockout in Demo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art-direction drafts for the same character: vinyl toy, building blocks, glossy toy and jelly. We generated them to choose a direction before anyone models anything. We chose C, the glossy toy; every concept render in this deck uses it. The four player colours stay the same whatever look we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logo drafts for the working title. A is a wordmark for the title screen and this deck. B stacks the name under the cube for square formats like a store capsule. C is a small icon for the taskbar and the build. None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 drafts, seen from above. Mass Knockout: one flat square platform with open edges and no walls, so falling off any edge is out; players spawn near the corners. Ice Race: a closed loop with checkpoints; every checkpoint you pass counts, lap after lap. Corners are where the slippery floor matters, and falling into the water puts you back at your last checkpoint. These are drafts for the blockout, not final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gives us four checkpoints: the proposal on 19 October, progress presentations on 16 November and 14 December, and the final on 11 January, which may still move. Each one has a playable goal. Demo 1: the shared core, LAN and a blockout of Ice Race. Demo 2: Mass Knockout over LAN and a full session with the scoreboard. Final: a tuned, polished build and the promo video. Below, the three main risks: networked physics, handled by host authority; hits that are too easy to land, handled by gravity-affected shots if playtests show it; and scope, handled by keeping the MVP to two mini-games.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12-week plan starts here. Work breakdown up to the first progress presentation on 16 November. We build the shared core first: project setup, character and camera, then LAN host and join and host authority. Ice Race comes first because it reuses most of the core; the shared shot starts in parallel for Mass Knockout. Owners are a proposed split by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on 14 December, completes Mass Knockout: hits, mass loss, knockback scaled by mass and falling out, all synchronised over the LAN, plus the Ice Race checkpoint loop, the playlist with rounds and the end condition, and the scoreboard. It ends with our first full-session playtest.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phase, up to 11 January, is tuning from playtests, effects, sound, art and UI polish, a LAN stress test and the promo video. The final date may still change; we will shift the last weeks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hit more dangerous than the last.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image" Target="../media/image-12-26.png"/><Relationship Id="rId27" Type="http://schemas.openxmlformats.org/officeDocument/2006/relationships/image" Target="../media/image-12-27.png"/><Relationship Id="rId28" Type="http://schemas.openxmlformats.org/officeDocument/2006/relationships/image" Target="../media/image-12-28.png"/><Relationship Id="rId29" Type="http://schemas.openxmlformats.org/officeDocument/2006/relationships/image" Target="../media/image-12-29.png"/><Relationship Id="rId30" Type="http://schemas.openxmlformats.org/officeDocument/2006/relationships/image" Target="../media/image-12-30.png"/><Relationship Id="rId31" Type="http://schemas.openxmlformats.org/officeDocument/2006/relationships/image" Target="../media/image-12-31.png"/><Relationship Id="rId32" Type="http://schemas.openxmlformats.org/officeDocument/2006/relationships/image" Target="../media/image-12-32.png"/><Relationship Id="rId33" Type="http://schemas.openxmlformats.org/officeDocument/2006/relationships/image" Target="../media/image-12-33.png"/><Relationship Id="rId34" Type="http://schemas.openxmlformats.org/officeDocument/2006/relationships/image" Target="../media/image-12-34.png"/><Relationship Id="rId35" Type="http://schemas.openxmlformats.org/officeDocument/2006/relationships/image" Target="../media/image-12-35.png"/><Relationship Id="rId36" Type="http://schemas.openxmlformats.org/officeDocument/2006/relationships/image" Target="../media/image-12-36.png"/><Relationship Id="rId37" Type="http://schemas.openxmlformats.org/officeDocument/2006/relationships/image" Target="../media/image-12-37.png"/><Relationship Id="rId38" Type="http://schemas.openxmlformats.org/officeDocument/2006/relationships/image" Target="../media/image-12-38.png"/><Relationship Id="rId39" Type="http://schemas.openxmlformats.org/officeDocument/2006/relationships/slideLayout" Target="../slideLayouts/slideLayout1.xml"/><Relationship Id="rId4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jp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jp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1" descr="ko_spit_full.png">    </p:cNvPr>
          <p:cNvPicPr>
            <a:picLocks noChangeAspect="1"/>
          </p:cNvPicPr>
          <p:nvPr/>
        </p:nvPicPr>
        <p:blipFill>
          <a:blip r:embed="rId2"/>
          <a:stretch>
            <a:fillRect/>
          </a:stretch>
        </p:blipFill>
        <p:spPr>
          <a:xfrm>
            <a:off x="3555911" y="0"/>
            <a:ext cx="8635784" cy="6857829"/>
          </a:xfrm>
          <a:prstGeom prst="rect">
            <a:avLst/>
          </a:prstGeom>
        </p:spPr>
      </p:pic>
      <p:pic>
        <p:nvPicPr>
          <p:cNvPr id="3" name="raster 1.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1.3"/>
          <p:cNvSpPr/>
          <p:nvPr/>
        </p:nvSpPr>
        <p:spPr>
          <a:xfrm>
            <a:off x="60958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5" name="shape 1.4"/>
          <p:cNvSpPr/>
          <p:nvPr/>
        </p:nvSpPr>
        <p:spPr>
          <a:xfrm>
            <a:off x="340351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6" name="shape 1.5"/>
          <p:cNvSpPr/>
          <p:nvPr/>
        </p:nvSpPr>
        <p:spPr>
          <a:xfrm>
            <a:off x="619744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7" name="shape 1.6"/>
          <p:cNvSpPr/>
          <p:nvPr/>
        </p:nvSpPr>
        <p:spPr>
          <a:xfrm>
            <a:off x="8991375" y="5460863"/>
            <a:ext cx="2641534" cy="736582"/>
          </a:xfrm>
          <a:prstGeom prst="roundRect">
            <a:avLst>
              <a:gd name="adj" fmla="val 17241"/>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8" name="text 1.7"/>
          <p:cNvSpPr txBox="1"/>
          <p:nvPr/>
        </p:nvSpPr>
        <p:spPr>
          <a:xfrm>
            <a:off x="609585" y="444489"/>
            <a:ext cx="3576572"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6E7D9A"/>
                </a:solidFill>
                <a:latin typeface="Arial" pitchFamily="34" charset="0"/>
                <a:ea typeface="Arial" pitchFamily="34" charset="-122"/>
                <a:cs typeface="Arial" pitchFamily="34" charset="-120"/>
              </a:rPr>
              <a:t>CMP406 GAMETECH · FALL 2026 · GAME PROPOSAL</a:t>
            </a:r>
            <a:endParaRPr lang="en-US" sz="850" dirty="0"/>
          </a:p>
        </p:txBody>
      </p:sp>
      <p:sp>
        <p:nvSpPr>
          <p:cNvPr id="9" name="text 1.8"/>
          <p:cNvSpPr txBox="1"/>
          <p:nvPr/>
        </p:nvSpPr>
        <p:spPr>
          <a:xfrm>
            <a:off x="571486" y="1269968"/>
            <a:ext cx="2084746" cy="1269968"/>
          </a:xfrm>
          <a:prstGeom prst="rect">
            <a:avLst/>
          </a:prstGeom>
          <a:noFill/>
          <a:ln/>
        </p:spPr>
        <p:txBody>
          <a:bodyPr wrap="square" lIns="0" tIns="0" rIns="0" bIns="0" rtlCol="0" anchor="t"/>
          <a:lstStyle/>
          <a:p>
            <a:pPr algn="l" indent="0" marL="0">
              <a:lnSpc>
                <a:spcPts val="10000"/>
              </a:lnSpc>
              <a:buNone/>
            </a:pPr>
            <a:r>
              <a:rPr lang="en-US" sz="10000" dirty="0">
                <a:solidFill>
                  <a:srgbClr val="1FA9EA"/>
                </a:solidFill>
                <a:latin typeface="Arial Rounded MT Bold" pitchFamily="34" charset="0"/>
                <a:ea typeface="Arial Rounded MT Bold" pitchFamily="34" charset="-122"/>
                <a:cs typeface="Arial Rounded MT Bold" pitchFamily="34" charset="-120"/>
              </a:rPr>
              <a:t>Ice</a:t>
            </a:r>
            <a:endParaRPr lang="en-US" sz="10000" dirty="0"/>
          </a:p>
        </p:txBody>
      </p:sp>
      <p:sp>
        <p:nvSpPr>
          <p:cNvPr id="10" name="text 1.9"/>
          <p:cNvSpPr txBox="1"/>
          <p:nvPr/>
        </p:nvSpPr>
        <p:spPr>
          <a:xfrm>
            <a:off x="571486" y="2539937"/>
            <a:ext cx="4990678" cy="1269968"/>
          </a:xfrm>
          <a:prstGeom prst="rect">
            <a:avLst/>
          </a:prstGeom>
          <a:noFill/>
          <a:ln/>
        </p:spPr>
        <p:txBody>
          <a:bodyPr wrap="square" lIns="0" tIns="0" rIns="0" bIns="0" rtlCol="0" anchor="t"/>
          <a:lstStyle/>
          <a:p>
            <a:pPr algn="l" indent="0" marL="0">
              <a:lnSpc>
                <a:spcPts val="10000"/>
              </a:lnSpc>
              <a:buNone/>
            </a:pPr>
            <a:r>
              <a:rPr lang="en-US" sz="10000" dirty="0">
                <a:solidFill>
                  <a:srgbClr val="16233F"/>
                </a:solidFill>
                <a:latin typeface="Arial Rounded MT Bold" pitchFamily="34" charset="0"/>
                <a:ea typeface="Arial Rounded MT Bold" pitchFamily="34" charset="-122"/>
                <a:cs typeface="Arial Rounded MT Bold" pitchFamily="34" charset="-120"/>
              </a:rPr>
              <a:t>Rumble</a:t>
            </a:r>
            <a:endParaRPr lang="en-US" sz="10000" dirty="0"/>
          </a:p>
        </p:txBody>
      </p:sp>
      <p:sp>
        <p:nvSpPr>
          <p:cNvPr id="11" name="shape 1.10"/>
          <p:cNvSpPr/>
          <p:nvPr/>
        </p:nvSpPr>
        <p:spPr>
          <a:xfrm>
            <a:off x="609585" y="4038499"/>
            <a:ext cx="1269968" cy="253994"/>
          </a:xfrm>
          <a:prstGeom prst="roundRect">
            <a:avLst>
              <a:gd name="adj" fmla="val 50000"/>
            </a:avLst>
          </a:prstGeom>
          <a:solidFill>
            <a:srgbClr val="FF6B1F"/>
          </a:solidFill>
          <a:ln/>
        </p:spPr>
      </p:sp>
      <p:sp>
        <p:nvSpPr>
          <p:cNvPr id="12" name="text 1.11"/>
          <p:cNvSpPr txBox="1"/>
          <p:nvPr/>
        </p:nvSpPr>
        <p:spPr>
          <a:xfrm>
            <a:off x="609585" y="4038499"/>
            <a:ext cx="1269968" cy="2539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WORKING TITLE</a:t>
            </a:r>
            <a:endParaRPr lang="en-US" sz="700" dirty="0"/>
          </a:p>
        </p:txBody>
      </p:sp>
      <p:sp>
        <p:nvSpPr>
          <p:cNvPr id="13" name="text 1.12"/>
          <p:cNvSpPr txBox="1"/>
          <p:nvPr/>
        </p:nvSpPr>
        <p:spPr>
          <a:xfrm>
            <a:off x="609585" y="4444889"/>
            <a:ext cx="4863978" cy="525648"/>
          </a:xfrm>
          <a:prstGeom prst="rect">
            <a:avLst/>
          </a:prstGeom>
          <a:noFill/>
          <a:ln/>
        </p:spPr>
        <p:txBody>
          <a:bodyPr wrap="square" lIns="0" tIns="0" rIns="0" bIns="0" rtlCol="0" anchor="t"/>
          <a:lstStyle/>
          <a:p>
            <a:pPr algn="l" indent="0" marL="0">
              <a:lnSpc>
                <a:spcPts val="2070"/>
              </a:lnSpc>
              <a:buNone/>
            </a:pPr>
            <a:r>
              <a:rPr lang="en-US" sz="1500" dirty="0">
                <a:solidFill>
                  <a:srgbClr val="16233F"/>
                </a:solidFill>
                <a:latin typeface="Arial" pitchFamily="34" charset="0"/>
                <a:ea typeface="Arial" pitchFamily="34" charset="-122"/>
                <a:cs typeface="Arial" pitchFamily="34" charset="-120"/>
              </a:rPr>
              <a:t>A LAN party game for 2–4 players: short physics mini-games, one shared scoreboard.</a:t>
            </a:r>
            <a:endParaRPr lang="en-US" sz="1500" dirty="0"/>
          </a:p>
        </p:txBody>
      </p:sp>
      <p:pic>
        <p:nvPicPr>
          <p:cNvPr id="14" name="raster 1.13" descr="diagram">    </p:cNvPr>
          <p:cNvPicPr>
            <a:picLocks noChangeAspect="1"/>
          </p:cNvPicPr>
          <p:nvPr/>
        </p:nvPicPr>
        <p:blipFill>
          <a:blip r:embed="rId4"/>
          <a:stretch>
            <a:fillRect/>
          </a:stretch>
        </p:blipFill>
        <p:spPr>
          <a:xfrm>
            <a:off x="736582" y="5600560"/>
            <a:ext cx="457189" cy="457189"/>
          </a:xfrm>
          <a:prstGeom prst="rect">
            <a:avLst/>
          </a:prstGeom>
        </p:spPr>
      </p:pic>
      <p:sp>
        <p:nvSpPr>
          <p:cNvPr id="15" name="text 1.14"/>
          <p:cNvSpPr txBox="1"/>
          <p:nvPr/>
        </p:nvSpPr>
        <p:spPr>
          <a:xfrm>
            <a:off x="1308067"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Ezel Bayraktar</a:t>
            </a:r>
            <a:endParaRPr lang="en-US" sz="1100" dirty="0"/>
          </a:p>
        </p:txBody>
      </p:sp>
      <p:sp>
        <p:nvSpPr>
          <p:cNvPr id="16" name="text 1.15"/>
          <p:cNvSpPr txBox="1"/>
          <p:nvPr/>
        </p:nvSpPr>
        <p:spPr>
          <a:xfrm>
            <a:off x="1308067"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2220356197</a:t>
            </a:r>
            <a:endParaRPr lang="en-US" sz="850" dirty="0"/>
          </a:p>
        </p:txBody>
      </p:sp>
      <p:pic>
        <p:nvPicPr>
          <p:cNvPr id="17" name="raster 1.16" descr="diagram">    </p:cNvPr>
          <p:cNvPicPr>
            <a:picLocks noChangeAspect="1"/>
          </p:cNvPicPr>
          <p:nvPr/>
        </p:nvPicPr>
        <p:blipFill>
          <a:blip r:embed="rId5"/>
          <a:stretch>
            <a:fillRect/>
          </a:stretch>
        </p:blipFill>
        <p:spPr>
          <a:xfrm>
            <a:off x="3530512" y="5600560"/>
            <a:ext cx="457189" cy="457189"/>
          </a:xfrm>
          <a:prstGeom prst="rect">
            <a:avLst/>
          </a:prstGeom>
        </p:spPr>
      </p:pic>
      <p:sp>
        <p:nvSpPr>
          <p:cNvPr id="18" name="text 1.17"/>
          <p:cNvSpPr txBox="1"/>
          <p:nvPr/>
        </p:nvSpPr>
        <p:spPr>
          <a:xfrm>
            <a:off x="4101997"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Abdurrahim Özağaç</a:t>
            </a:r>
            <a:endParaRPr lang="en-US" sz="1100" dirty="0"/>
          </a:p>
        </p:txBody>
      </p:sp>
      <p:sp>
        <p:nvSpPr>
          <p:cNvPr id="19" name="text 1.18"/>
          <p:cNvSpPr txBox="1"/>
          <p:nvPr/>
        </p:nvSpPr>
        <p:spPr>
          <a:xfrm>
            <a:off x="4101997"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2220356033</a:t>
            </a:r>
            <a:endParaRPr lang="en-US" sz="850" dirty="0"/>
          </a:p>
        </p:txBody>
      </p:sp>
      <p:pic>
        <p:nvPicPr>
          <p:cNvPr id="20" name="raster 1.19" descr="diagram">    </p:cNvPr>
          <p:cNvPicPr>
            <a:picLocks noChangeAspect="1"/>
          </p:cNvPicPr>
          <p:nvPr/>
        </p:nvPicPr>
        <p:blipFill>
          <a:blip r:embed="rId6"/>
          <a:stretch>
            <a:fillRect/>
          </a:stretch>
        </p:blipFill>
        <p:spPr>
          <a:xfrm>
            <a:off x="6324442" y="5600560"/>
            <a:ext cx="457189" cy="457189"/>
          </a:xfrm>
          <a:prstGeom prst="rect">
            <a:avLst/>
          </a:prstGeom>
        </p:spPr>
      </p:pic>
      <p:sp>
        <p:nvSpPr>
          <p:cNvPr id="21" name="text 1.20"/>
          <p:cNvSpPr txBox="1"/>
          <p:nvPr/>
        </p:nvSpPr>
        <p:spPr>
          <a:xfrm>
            <a:off x="6895928"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Kürşat Hürkan Aydın</a:t>
            </a:r>
            <a:endParaRPr lang="en-US" sz="1100" dirty="0"/>
          </a:p>
        </p:txBody>
      </p:sp>
      <p:sp>
        <p:nvSpPr>
          <p:cNvPr id="22" name="text 1.21"/>
          <p:cNvSpPr txBox="1"/>
          <p:nvPr/>
        </p:nvSpPr>
        <p:spPr>
          <a:xfrm>
            <a:off x="6895928"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2230356008</a:t>
            </a:r>
            <a:endParaRPr lang="en-US" sz="850" dirty="0"/>
          </a:p>
        </p:txBody>
      </p:sp>
      <p:pic>
        <p:nvPicPr>
          <p:cNvPr id="23" name="raster 1.22" descr="diagram">    </p:cNvPr>
          <p:cNvPicPr>
            <a:picLocks noChangeAspect="1"/>
          </p:cNvPicPr>
          <p:nvPr/>
        </p:nvPicPr>
        <p:blipFill>
          <a:blip r:embed="rId7"/>
          <a:stretch>
            <a:fillRect/>
          </a:stretch>
        </p:blipFill>
        <p:spPr>
          <a:xfrm>
            <a:off x="9118372" y="5600560"/>
            <a:ext cx="457189" cy="457189"/>
          </a:xfrm>
          <a:prstGeom prst="rect">
            <a:avLst/>
          </a:prstGeom>
        </p:spPr>
      </p:pic>
      <p:sp>
        <p:nvSpPr>
          <p:cNvPr id="24" name="text 1.23"/>
          <p:cNvSpPr txBox="1"/>
          <p:nvPr/>
        </p:nvSpPr>
        <p:spPr>
          <a:xfrm>
            <a:off x="9689858"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Ardıl Bilal Ülkü</a:t>
            </a:r>
            <a:endParaRPr lang="en-US" sz="1100" dirty="0"/>
          </a:p>
        </p:txBody>
      </p:sp>
      <p:sp>
        <p:nvSpPr>
          <p:cNvPr id="25" name="text 1.24"/>
          <p:cNvSpPr txBox="1"/>
          <p:nvPr/>
        </p:nvSpPr>
        <p:spPr>
          <a:xfrm>
            <a:off x="9689858"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2230356051</a:t>
            </a:r>
            <a:endParaRPr lang="en-US" sz="850" dirty="0"/>
          </a:p>
        </p:txBody>
      </p:sp>
      <p:sp>
        <p:nvSpPr>
          <p:cNvPr id="26" name="text 1.25"/>
          <p:cNvSpPr txBox="1"/>
          <p:nvPr/>
        </p:nvSpPr>
        <p:spPr>
          <a:xfrm>
            <a:off x="9224450" y="6516227"/>
            <a:ext cx="2357660" cy="151126"/>
          </a:xfrm>
          <a:prstGeom prst="rect">
            <a:avLst/>
          </a:prstGeom>
          <a:noFill/>
          <a:ln/>
        </p:spPr>
        <p:txBody>
          <a:bodyPr wrap="square" lIns="0" tIns="0" rIns="0" bIns="0" rtlCol="0" anchor="t"/>
          <a:lstStyle/>
          <a:p>
            <a:pPr algn="r" indent="0" marL="0">
              <a:lnSpc>
                <a:spcPts val="1190"/>
              </a:lnSpc>
              <a:buNone/>
            </a:pPr>
            <a:r>
              <a:rPr lang="en-US" sz="850" dirty="0">
                <a:solidFill>
                  <a:srgbClr val="FFFFFF"/>
                </a:solidFill>
                <a:latin typeface="Arial" pitchFamily="34" charset="0"/>
                <a:ea typeface="Arial" pitchFamily="34" charset="-122"/>
                <a:cs typeface="Arial" pitchFamily="34" charset="-120"/>
              </a:rPr>
              <a:t>Concept render, AI-generated. Not gameplay.</a:t>
            </a:r>
            <a:endParaRPr lang="en-US" sz="8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
          <p:cNvSpPr/>
          <p:nvPr/>
        </p:nvSpPr>
        <p:spPr>
          <a:xfrm>
            <a:off x="609585"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3" name="shape 2.2"/>
          <p:cNvSpPr/>
          <p:nvPr/>
        </p:nvSpPr>
        <p:spPr>
          <a:xfrm>
            <a:off x="2876478"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4" name="shape 2.3"/>
          <p:cNvSpPr/>
          <p:nvPr/>
        </p:nvSpPr>
        <p:spPr>
          <a:xfrm>
            <a:off x="5143371" y="2031949"/>
            <a:ext cx="2006550" cy="1308067"/>
          </a:xfrm>
          <a:prstGeom prst="roundRect">
            <a:avLst>
              <a:gd name="adj" fmla="val 13592"/>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5" name="shape 2.4"/>
          <p:cNvSpPr/>
          <p:nvPr/>
        </p:nvSpPr>
        <p:spPr>
          <a:xfrm>
            <a:off x="7410265"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6" name="shape 2.5"/>
          <p:cNvSpPr/>
          <p:nvPr/>
        </p:nvSpPr>
        <p:spPr>
          <a:xfrm>
            <a:off x="9677158" y="2031949"/>
            <a:ext cx="2006550" cy="1308067"/>
          </a:xfrm>
          <a:prstGeom prst="roundRect">
            <a:avLst>
              <a:gd name="adj" fmla="val 13592"/>
            </a:avLst>
          </a:prstGeom>
          <a:solidFill>
            <a:srgbClr val="FFFFFF"/>
          </a:solidFill>
          <a:ln/>
          <a:effectLst>
            <a:outerShdw sx="100000" sy="100000" kx="0" ky="0" algn="bl" rotWithShape="0" blurRad="203200" dist="76200" dir="5400000">
              <a:srgbClr val="1E468C">
                <a:alpha val="16000"/>
              </a:srgbClr>
            </a:outerShdw>
          </a:effectLst>
        </p:spPr>
      </p:sp>
      <p:sp>
        <p:nvSpPr>
          <p:cNvPr id="7" name="shape 2.6"/>
          <p:cNvSpPr/>
          <p:nvPr/>
        </p:nvSpPr>
        <p:spPr>
          <a:xfrm>
            <a:off x="609585" y="4127397"/>
            <a:ext cx="5206870" cy="2158946"/>
          </a:xfrm>
          <a:prstGeom prst="roundRect">
            <a:avLst>
              <a:gd name="adj" fmla="val 8235"/>
            </a:avLst>
          </a:prstGeom>
          <a:solidFill>
            <a:srgbClr val="FFFFFF"/>
          </a:solidFill>
          <a:ln/>
          <a:effectLst>
            <a:outerShdw sx="100000" sy="100000" kx="0" ky="0" algn="bl" rotWithShape="0" blurRad="203200" dist="76200" dir="5400000">
              <a:srgbClr val="1E468C">
                <a:alpha val="16000"/>
              </a:srgbClr>
            </a:outerShdw>
          </a:effectLst>
        </p:spPr>
      </p:sp>
      <p:sp>
        <p:nvSpPr>
          <p:cNvPr id="8" name="shape 2.7"/>
          <p:cNvSpPr/>
          <p:nvPr/>
        </p:nvSpPr>
        <p:spPr>
          <a:xfrm>
            <a:off x="6070448" y="4127397"/>
            <a:ext cx="5511662" cy="2158946"/>
          </a:xfrm>
          <a:prstGeom prst="roundRect">
            <a:avLst>
              <a:gd name="adj" fmla="val 8235"/>
            </a:avLst>
          </a:prstGeom>
          <a:solidFill>
            <a:srgbClr val="FFFFFF"/>
          </a:solidFill>
          <a:ln/>
          <a:effectLst>
            <a:outerShdw sx="100000" sy="100000" kx="0" ky="0" algn="bl" rotWithShape="0" blurRad="203200" dist="76200" dir="5400000">
              <a:srgbClr val="1E468C">
                <a:alpha val="16000"/>
              </a:srgbClr>
            </a:outerShdw>
          </a:effectLst>
        </p:spPr>
      </p:sp>
      <p:pic>
        <p:nvPicPr>
          <p:cNvPr id="9" name="raster 2.8" descr="diagram">    </p:cNvPr>
          <p:cNvPicPr>
            <a:picLocks noChangeAspect="1"/>
          </p:cNvPicPr>
          <p:nvPr/>
        </p:nvPicPr>
        <p:blipFill>
          <a:blip r:embed="rId2"/>
          <a:stretch>
            <a:fillRect/>
          </a:stretch>
        </p:blipFill>
        <p:spPr>
          <a:xfrm>
            <a:off x="2616135" y="2590735"/>
            <a:ext cx="165096" cy="190495"/>
          </a:xfrm>
          <a:prstGeom prst="rect">
            <a:avLst/>
          </a:prstGeom>
        </p:spPr>
      </p:pic>
      <p:pic>
        <p:nvPicPr>
          <p:cNvPr id="10" name="raster 2.9" descr="diagram">    </p:cNvPr>
          <p:cNvPicPr>
            <a:picLocks noChangeAspect="1"/>
          </p:cNvPicPr>
          <p:nvPr/>
        </p:nvPicPr>
        <p:blipFill>
          <a:blip r:embed="rId3"/>
          <a:stretch>
            <a:fillRect/>
          </a:stretch>
        </p:blipFill>
        <p:spPr>
          <a:xfrm>
            <a:off x="4883028" y="2590735"/>
            <a:ext cx="165096" cy="190495"/>
          </a:xfrm>
          <a:prstGeom prst="rect">
            <a:avLst/>
          </a:prstGeom>
        </p:spPr>
      </p:pic>
      <p:pic>
        <p:nvPicPr>
          <p:cNvPr id="11" name="raster 2.10" descr="diagram">    </p:cNvPr>
          <p:cNvPicPr>
            <a:picLocks noChangeAspect="1"/>
          </p:cNvPicPr>
          <p:nvPr/>
        </p:nvPicPr>
        <p:blipFill>
          <a:blip r:embed="rId4"/>
          <a:stretch>
            <a:fillRect/>
          </a:stretch>
        </p:blipFill>
        <p:spPr>
          <a:xfrm>
            <a:off x="7149921" y="2590735"/>
            <a:ext cx="165096" cy="190495"/>
          </a:xfrm>
          <a:prstGeom prst="rect">
            <a:avLst/>
          </a:prstGeom>
        </p:spPr>
      </p:pic>
      <p:pic>
        <p:nvPicPr>
          <p:cNvPr id="12" name="raster 2.11" descr="diagram">    </p:cNvPr>
          <p:cNvPicPr>
            <a:picLocks noChangeAspect="1"/>
          </p:cNvPicPr>
          <p:nvPr/>
        </p:nvPicPr>
        <p:blipFill>
          <a:blip r:embed="rId5"/>
          <a:stretch>
            <a:fillRect/>
          </a:stretch>
        </p:blipFill>
        <p:spPr>
          <a:xfrm>
            <a:off x="9416815" y="2590735"/>
            <a:ext cx="165096" cy="190495"/>
          </a:xfrm>
          <a:prstGeom prst="rect">
            <a:avLst/>
          </a:prstGeom>
        </p:spPr>
      </p:pic>
      <p:pic>
        <p:nvPicPr>
          <p:cNvPr id="13" name="raster 2.12" descr="diagram">    </p:cNvPr>
          <p:cNvPicPr>
            <a:picLocks noChangeAspect="1"/>
          </p:cNvPicPr>
          <p:nvPr/>
        </p:nvPicPr>
        <p:blipFill>
          <a:blip r:embed="rId6"/>
          <a:stretch>
            <a:fillRect/>
          </a:stretch>
        </p:blipFill>
        <p:spPr>
          <a:xfrm>
            <a:off x="3765456" y="3289218"/>
            <a:ext cx="6965776" cy="444489"/>
          </a:xfrm>
          <a:prstGeom prst="rect">
            <a:avLst/>
          </a:prstGeom>
        </p:spPr>
      </p:pic>
      <p:sp>
        <p:nvSpPr>
          <p:cNvPr id="14" name="shape 2.13"/>
          <p:cNvSpPr/>
          <p:nvPr/>
        </p:nvSpPr>
        <p:spPr>
          <a:xfrm>
            <a:off x="6324442" y="4940176"/>
            <a:ext cx="5003675" cy="12700"/>
          </a:xfrm>
          <a:prstGeom prst="roundRect">
            <a:avLst>
              <a:gd name="adj" fmla="val 49999"/>
            </a:avLst>
          </a:prstGeom>
          <a:solidFill>
            <a:srgbClr val="DCE6F3"/>
          </a:solidFill>
          <a:ln/>
        </p:spPr>
      </p:sp>
      <p:sp>
        <p:nvSpPr>
          <p:cNvPr id="15" name="shape 2.14"/>
          <p:cNvSpPr/>
          <p:nvPr/>
        </p:nvSpPr>
        <p:spPr>
          <a:xfrm>
            <a:off x="6324442" y="5600560"/>
            <a:ext cx="5003675" cy="12700"/>
          </a:xfrm>
          <a:prstGeom prst="roundRect">
            <a:avLst>
              <a:gd name="adj" fmla="val 49999"/>
            </a:avLst>
          </a:prstGeom>
          <a:solidFill>
            <a:srgbClr val="DCE6F3"/>
          </a:solidFill>
          <a:ln/>
        </p:spPr>
      </p:sp>
      <p:sp>
        <p:nvSpPr>
          <p:cNvPr id="16" name="text 2.15"/>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How it plays: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one room</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short rounds, one scoreboard</a:t>
            </a:r>
            <a:endParaRPr lang="en-US" sz="2700" dirty="0"/>
          </a:p>
        </p:txBody>
      </p:sp>
      <p:sp>
        <p:nvSpPr>
          <p:cNvPr id="17" name="text 2.16"/>
          <p:cNvSpPr txBox="1"/>
          <p:nvPr/>
        </p:nvSpPr>
        <p:spPr>
          <a:xfrm>
            <a:off x="609585" y="1409665"/>
            <a:ext cx="11010625" cy="497074"/>
          </a:xfrm>
          <a:prstGeom prst="rect">
            <a:avLst/>
          </a:prstGeom>
          <a:noFill/>
          <a:ln/>
        </p:spPr>
        <p:txBody>
          <a:bodyPr wrap="square" lIns="0" tIns="0" rIns="0" bIns="0" rtlCol="0" anchor="t"/>
          <a:lstStyle/>
          <a:p>
            <a:pPr algn="l" indent="0" marL="0">
              <a:lnSpc>
                <a:spcPts val="1960"/>
              </a:lnSpc>
              <a:buNone/>
            </a:pPr>
            <a:r>
              <a:rPr lang="en-US" sz="1350" dirty="0">
                <a:solidFill>
                  <a:srgbClr val="3B4A66"/>
                </a:solidFill>
                <a:latin typeface="Arial" pitchFamily="34" charset="0"/>
                <a:ea typeface="Arial" pitchFamily="34" charset="-122"/>
                <a:cs typeface="Arial" pitchFamily="34" charset="-120"/>
              </a:rPr>
              <a:t>2–4 friends in one room, each at their own PC. One PC hosts; the others join over the local network. </a:t>
            </a:r>
            <a:pPr algn="l" indent="0" marL="0">
              <a:lnSpc>
                <a:spcPts val="1960"/>
              </a:lnSpc>
              <a:buNone/>
            </a:pPr>
            <a:r>
              <a:rPr lang="en-US" sz="1350" b="1" dirty="0">
                <a:solidFill>
                  <a:srgbClr val="16233F"/>
                </a:solidFill>
                <a:latin typeface="Arial" pitchFamily="34" charset="0"/>
                <a:ea typeface="Arial" pitchFamily="34" charset="-122"/>
                <a:cs typeface="Arial" pitchFamily="34" charset="-120"/>
              </a:rPr>
              <a:t>Everyone plays the same cube, in one of four colours.</a:t>
            </a:r>
            <a:endParaRPr lang="en-US" sz="1350" dirty="0"/>
          </a:p>
        </p:txBody>
      </p:sp>
      <p:sp>
        <p:nvSpPr>
          <p:cNvPr id="18" name="shape 2.17"/>
          <p:cNvSpPr/>
          <p:nvPr/>
        </p:nvSpPr>
        <p:spPr>
          <a:xfrm>
            <a:off x="761981" y="2184345"/>
            <a:ext cx="279393" cy="279393"/>
          </a:xfrm>
          <a:prstGeom prst="roundRect">
            <a:avLst>
              <a:gd name="adj" fmla="val 50000"/>
            </a:avLst>
          </a:prstGeom>
          <a:solidFill>
            <a:srgbClr val="E2F4FD"/>
          </a:solidFill>
          <a:ln/>
        </p:spPr>
      </p:sp>
      <p:sp>
        <p:nvSpPr>
          <p:cNvPr id="19" name="text 2.18"/>
          <p:cNvSpPr txBox="1"/>
          <p:nvPr/>
        </p:nvSpPr>
        <p:spPr>
          <a:xfrm>
            <a:off x="761981"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text 2.19"/>
          <p:cNvSpPr txBox="1"/>
          <p:nvPr/>
        </p:nvSpPr>
        <p:spPr>
          <a:xfrm>
            <a:off x="1130272" y="2235144"/>
            <a:ext cx="623945"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Lobby</a:t>
            </a:r>
            <a:endParaRPr lang="en-US" sz="1400" dirty="0"/>
          </a:p>
        </p:txBody>
      </p:sp>
      <p:sp>
        <p:nvSpPr>
          <p:cNvPr id="21" name="text 2.20"/>
          <p:cNvSpPr txBox="1"/>
          <p:nvPr/>
        </p:nvSpPr>
        <p:spPr>
          <a:xfrm>
            <a:off x="761981" y="2590735"/>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Host starts a session and sets the playlist. Others join by local IP.</a:t>
            </a:r>
            <a:endParaRPr lang="en-US" sz="1050" dirty="0"/>
          </a:p>
        </p:txBody>
      </p:sp>
      <p:sp>
        <p:nvSpPr>
          <p:cNvPr id="22" name="shape 2.21"/>
          <p:cNvSpPr/>
          <p:nvPr/>
        </p:nvSpPr>
        <p:spPr>
          <a:xfrm>
            <a:off x="3028874" y="2184345"/>
            <a:ext cx="279393" cy="279393"/>
          </a:xfrm>
          <a:prstGeom prst="roundRect">
            <a:avLst>
              <a:gd name="adj" fmla="val 50000"/>
            </a:avLst>
          </a:prstGeom>
          <a:solidFill>
            <a:srgbClr val="E2F4FD"/>
          </a:solidFill>
          <a:ln/>
        </p:spPr>
      </p:sp>
      <p:sp>
        <p:nvSpPr>
          <p:cNvPr id="23" name="text 2.22"/>
          <p:cNvSpPr txBox="1"/>
          <p:nvPr/>
        </p:nvSpPr>
        <p:spPr>
          <a:xfrm>
            <a:off x="3028874"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text 2.23"/>
          <p:cNvSpPr txBox="1"/>
          <p:nvPr/>
        </p:nvSpPr>
        <p:spPr>
          <a:xfrm>
            <a:off x="3397165" y="2235144"/>
            <a:ext cx="653708"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Round</a:t>
            </a:r>
            <a:endParaRPr lang="en-US" sz="1400" dirty="0"/>
          </a:p>
        </p:txBody>
      </p:sp>
      <p:sp>
        <p:nvSpPr>
          <p:cNvPr id="25" name="text 2.24"/>
          <p:cNvSpPr txBox="1"/>
          <p:nvPr/>
        </p:nvSpPr>
        <p:spPr>
          <a:xfrm>
            <a:off x="3028874" y="2590735"/>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The next mini-game loads. Some have rounds of their own.</a:t>
            </a:r>
            <a:endParaRPr lang="en-US" sz="1050" dirty="0"/>
          </a:p>
        </p:txBody>
      </p:sp>
      <p:sp>
        <p:nvSpPr>
          <p:cNvPr id="26" name="shape 2.25"/>
          <p:cNvSpPr/>
          <p:nvPr/>
        </p:nvSpPr>
        <p:spPr>
          <a:xfrm>
            <a:off x="5295768" y="2184345"/>
            <a:ext cx="279393" cy="279393"/>
          </a:xfrm>
          <a:prstGeom prst="roundRect">
            <a:avLst>
              <a:gd name="adj" fmla="val 50000"/>
            </a:avLst>
          </a:prstGeom>
          <a:solidFill>
            <a:srgbClr val="FF6B1F"/>
          </a:solidFill>
          <a:ln/>
        </p:spPr>
      </p:sp>
      <p:sp>
        <p:nvSpPr>
          <p:cNvPr id="27" name="text 2.26"/>
          <p:cNvSpPr txBox="1"/>
          <p:nvPr/>
        </p:nvSpPr>
        <p:spPr>
          <a:xfrm>
            <a:off x="5295768"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text 2.27"/>
          <p:cNvSpPr txBox="1"/>
          <p:nvPr/>
        </p:nvSpPr>
        <p:spPr>
          <a:xfrm>
            <a:off x="5664058" y="2235144"/>
            <a:ext cx="451994"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Play</a:t>
            </a:r>
            <a:endParaRPr lang="en-US" sz="1400" dirty="0"/>
          </a:p>
        </p:txBody>
      </p:sp>
      <p:sp>
        <p:nvSpPr>
          <p:cNvPr id="29" name="text 2.28"/>
          <p:cNvSpPr txBox="1"/>
          <p:nvPr/>
        </p:nvSpPr>
        <p:spPr>
          <a:xfrm>
            <a:off x="5295768" y="2590735"/>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Host runs the physics. Clients send input and draw the result.</a:t>
            </a:r>
            <a:endParaRPr lang="en-US" sz="1050" dirty="0"/>
          </a:p>
        </p:txBody>
      </p:sp>
      <p:sp>
        <p:nvSpPr>
          <p:cNvPr id="30" name="shape 2.29"/>
          <p:cNvSpPr/>
          <p:nvPr/>
        </p:nvSpPr>
        <p:spPr>
          <a:xfrm>
            <a:off x="7562661" y="2184345"/>
            <a:ext cx="279393" cy="279393"/>
          </a:xfrm>
          <a:prstGeom prst="roundRect">
            <a:avLst>
              <a:gd name="adj" fmla="val 50000"/>
            </a:avLst>
          </a:prstGeom>
          <a:solidFill>
            <a:srgbClr val="E2F4FD"/>
          </a:solidFill>
          <a:ln/>
        </p:spPr>
      </p:sp>
      <p:sp>
        <p:nvSpPr>
          <p:cNvPr id="31" name="text 2.30"/>
          <p:cNvSpPr txBox="1"/>
          <p:nvPr/>
        </p:nvSpPr>
        <p:spPr>
          <a:xfrm>
            <a:off x="7562661"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4</a:t>
            </a:r>
            <a:endParaRPr lang="en-US" sz="1100" dirty="0"/>
          </a:p>
        </p:txBody>
      </p:sp>
      <p:sp>
        <p:nvSpPr>
          <p:cNvPr id="32" name="text 2.31"/>
          <p:cNvSpPr txBox="1"/>
          <p:nvPr/>
        </p:nvSpPr>
        <p:spPr>
          <a:xfrm>
            <a:off x="7930952" y="2235144"/>
            <a:ext cx="576304"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Place</a:t>
            </a:r>
            <a:endParaRPr lang="en-US" sz="1400" dirty="0"/>
          </a:p>
        </p:txBody>
      </p:sp>
      <p:sp>
        <p:nvSpPr>
          <p:cNvPr id="33" name="text 2.32"/>
          <p:cNvSpPr txBox="1"/>
          <p:nvPr/>
        </p:nvSpPr>
        <p:spPr>
          <a:xfrm>
            <a:off x="7562661" y="2590735"/>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Round ends. Placement becomes points.</a:t>
            </a:r>
            <a:endParaRPr lang="en-US" sz="1050" dirty="0"/>
          </a:p>
        </p:txBody>
      </p:sp>
      <p:sp>
        <p:nvSpPr>
          <p:cNvPr id="34" name="shape 2.33"/>
          <p:cNvSpPr/>
          <p:nvPr/>
        </p:nvSpPr>
        <p:spPr>
          <a:xfrm>
            <a:off x="9829554" y="2184345"/>
            <a:ext cx="279393" cy="279393"/>
          </a:xfrm>
          <a:prstGeom prst="roundRect">
            <a:avLst>
              <a:gd name="adj" fmla="val 50000"/>
            </a:avLst>
          </a:prstGeom>
          <a:solidFill>
            <a:srgbClr val="E2F4FD"/>
          </a:solidFill>
          <a:ln/>
        </p:spPr>
      </p:sp>
      <p:sp>
        <p:nvSpPr>
          <p:cNvPr id="35" name="text 2.34"/>
          <p:cNvSpPr txBox="1"/>
          <p:nvPr/>
        </p:nvSpPr>
        <p:spPr>
          <a:xfrm>
            <a:off x="9829554"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5</a:t>
            </a:r>
            <a:endParaRPr lang="en-US" sz="1100" dirty="0"/>
          </a:p>
        </p:txBody>
      </p:sp>
      <p:sp>
        <p:nvSpPr>
          <p:cNvPr id="36" name="text 2.35"/>
          <p:cNvSpPr txBox="1"/>
          <p:nvPr/>
        </p:nvSpPr>
        <p:spPr>
          <a:xfrm>
            <a:off x="10197845" y="2235144"/>
            <a:ext cx="984465"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Standings</a:t>
            </a:r>
            <a:endParaRPr lang="en-US" sz="1400" dirty="0"/>
          </a:p>
        </p:txBody>
      </p:sp>
      <p:sp>
        <p:nvSpPr>
          <p:cNvPr id="37" name="text 2.36"/>
          <p:cNvSpPr txBox="1"/>
          <p:nvPr/>
        </p:nvSpPr>
        <p:spPr>
          <a:xfrm>
            <a:off x="9829554" y="2590735"/>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Ends after a set number of mini-games or at a target score.</a:t>
            </a:r>
            <a:endParaRPr lang="en-US" sz="1050" dirty="0"/>
          </a:p>
        </p:txBody>
      </p:sp>
      <p:sp>
        <p:nvSpPr>
          <p:cNvPr id="38" name="shape 2.37"/>
          <p:cNvSpPr/>
          <p:nvPr/>
        </p:nvSpPr>
        <p:spPr>
          <a:xfrm>
            <a:off x="5384665" y="3568611"/>
            <a:ext cx="1523962"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9" name="text 2.38"/>
          <p:cNvSpPr txBox="1"/>
          <p:nvPr/>
        </p:nvSpPr>
        <p:spPr>
          <a:xfrm>
            <a:off x="5384665" y="3568611"/>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NEXT MINI-GAME</a:t>
            </a:r>
            <a:endParaRPr lang="en-US" sz="700" dirty="0"/>
          </a:p>
        </p:txBody>
      </p:sp>
      <p:sp>
        <p:nvSpPr>
          <p:cNvPr id="40" name="text 2.39"/>
          <p:cNvSpPr txBox="1"/>
          <p:nvPr/>
        </p:nvSpPr>
        <p:spPr>
          <a:xfrm>
            <a:off x="863578" y="4330592"/>
            <a:ext cx="235419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PLACEMENT POINTS · PROPOSED</a:t>
            </a:r>
            <a:endParaRPr lang="en-US" sz="850" dirty="0"/>
          </a:p>
        </p:txBody>
      </p:sp>
      <p:sp>
        <p:nvSpPr>
          <p:cNvPr id="41" name="text 2.40"/>
          <p:cNvSpPr txBox="1"/>
          <p:nvPr/>
        </p:nvSpPr>
        <p:spPr>
          <a:xfrm>
            <a:off x="863578" y="4622684"/>
            <a:ext cx="404562" cy="215895"/>
          </a:xfrm>
          <a:prstGeom prst="rect">
            <a:avLst/>
          </a:prstGeom>
          <a:noFill/>
          <a:ln/>
        </p:spPr>
        <p:txBody>
          <a:bodyPr wrap="square" lIns="0" tIns="0" rIns="0" bIns="0" rtlCol="0" anchor="t"/>
          <a:lstStyle/>
          <a:p>
            <a:pPr algn="l" indent="0" marL="0">
              <a:lnSpc>
                <a:spcPts val="1700"/>
              </a:lnSpc>
              <a:buNone/>
            </a:pPr>
            <a:r>
              <a:rPr lang="en-US" sz="1700" dirty="0">
                <a:solidFill>
                  <a:srgbClr val="FF6B1F"/>
                </a:solidFill>
                <a:latin typeface="Arial Rounded MT Bold" pitchFamily="34" charset="0"/>
                <a:ea typeface="Arial Rounded MT Bold" pitchFamily="34" charset="-122"/>
                <a:cs typeface="Arial Rounded MT Bold" pitchFamily="34" charset="-120"/>
              </a:rPr>
              <a:t>1st</a:t>
            </a:r>
            <a:endParaRPr lang="en-US" sz="1700" dirty="0"/>
          </a:p>
        </p:txBody>
      </p:sp>
      <p:sp>
        <p:nvSpPr>
          <p:cNvPr id="42" name="shape 2.41"/>
          <p:cNvSpPr/>
          <p:nvPr/>
        </p:nvSpPr>
        <p:spPr>
          <a:xfrm>
            <a:off x="1587460" y="4673483"/>
            <a:ext cx="2666933" cy="139697"/>
          </a:xfrm>
          <a:prstGeom prst="roundRect">
            <a:avLst>
              <a:gd name="adj" fmla="val 50000"/>
            </a:avLst>
          </a:prstGeom>
          <a:solidFill>
            <a:srgbClr val="E4EDF9"/>
          </a:solidFill>
          <a:ln/>
        </p:spPr>
      </p:sp>
      <p:sp>
        <p:nvSpPr>
          <p:cNvPr id="43" name="shape 2.42"/>
          <p:cNvSpPr/>
          <p:nvPr/>
        </p:nvSpPr>
        <p:spPr>
          <a:xfrm>
            <a:off x="1587460" y="4673483"/>
            <a:ext cx="2666933" cy="139697"/>
          </a:xfrm>
          <a:prstGeom prst="roundRect">
            <a:avLst>
              <a:gd name="adj" fmla="val 50000"/>
            </a:avLst>
          </a:prstGeom>
          <a:solidFill>
            <a:srgbClr val="FF6B1F"/>
          </a:solidFill>
          <a:ln/>
        </p:spPr>
      </p:sp>
      <p:sp>
        <p:nvSpPr>
          <p:cNvPr id="44" name="text 2.43"/>
          <p:cNvSpPr txBox="1"/>
          <p:nvPr/>
        </p:nvSpPr>
        <p:spPr>
          <a:xfrm>
            <a:off x="4444889" y="4622684"/>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4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45" name="text 2.44"/>
          <p:cNvSpPr txBox="1"/>
          <p:nvPr/>
        </p:nvSpPr>
        <p:spPr>
          <a:xfrm>
            <a:off x="863578" y="5016375"/>
            <a:ext cx="480810"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2nd</a:t>
            </a:r>
            <a:endParaRPr lang="en-US" sz="1700" dirty="0"/>
          </a:p>
        </p:txBody>
      </p:sp>
      <p:sp>
        <p:nvSpPr>
          <p:cNvPr id="46" name="shape 2.45"/>
          <p:cNvSpPr/>
          <p:nvPr/>
        </p:nvSpPr>
        <p:spPr>
          <a:xfrm>
            <a:off x="1587460" y="5067173"/>
            <a:ext cx="2666933" cy="139697"/>
          </a:xfrm>
          <a:prstGeom prst="roundRect">
            <a:avLst>
              <a:gd name="adj" fmla="val 50000"/>
            </a:avLst>
          </a:prstGeom>
          <a:solidFill>
            <a:srgbClr val="E4EDF9"/>
          </a:solidFill>
          <a:ln/>
        </p:spPr>
      </p:sp>
      <p:sp>
        <p:nvSpPr>
          <p:cNvPr id="47" name="shape 2.46"/>
          <p:cNvSpPr/>
          <p:nvPr/>
        </p:nvSpPr>
        <p:spPr>
          <a:xfrm>
            <a:off x="1587460" y="5067173"/>
            <a:ext cx="2000200" cy="139697"/>
          </a:xfrm>
          <a:prstGeom prst="roundRect">
            <a:avLst>
              <a:gd name="adj" fmla="val 50000"/>
            </a:avLst>
          </a:prstGeom>
          <a:solidFill>
            <a:srgbClr val="1FA9EA"/>
          </a:solidFill>
          <a:ln/>
        </p:spPr>
      </p:sp>
      <p:sp>
        <p:nvSpPr>
          <p:cNvPr id="48" name="text 2.47"/>
          <p:cNvSpPr txBox="1"/>
          <p:nvPr/>
        </p:nvSpPr>
        <p:spPr>
          <a:xfrm>
            <a:off x="4444889" y="501637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3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49" name="text 2.48"/>
          <p:cNvSpPr txBox="1"/>
          <p:nvPr/>
        </p:nvSpPr>
        <p:spPr>
          <a:xfrm>
            <a:off x="863578" y="5410065"/>
            <a:ext cx="436849"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3rd</a:t>
            </a:r>
            <a:endParaRPr lang="en-US" sz="1700" dirty="0"/>
          </a:p>
        </p:txBody>
      </p:sp>
      <p:sp>
        <p:nvSpPr>
          <p:cNvPr id="50" name="shape 2.49"/>
          <p:cNvSpPr/>
          <p:nvPr/>
        </p:nvSpPr>
        <p:spPr>
          <a:xfrm>
            <a:off x="1587460" y="5460863"/>
            <a:ext cx="2666933" cy="139697"/>
          </a:xfrm>
          <a:prstGeom prst="roundRect">
            <a:avLst>
              <a:gd name="adj" fmla="val 50000"/>
            </a:avLst>
          </a:prstGeom>
          <a:solidFill>
            <a:srgbClr val="E4EDF9"/>
          </a:solidFill>
          <a:ln/>
        </p:spPr>
      </p:sp>
      <p:sp>
        <p:nvSpPr>
          <p:cNvPr id="51" name="shape 2.50"/>
          <p:cNvSpPr/>
          <p:nvPr/>
        </p:nvSpPr>
        <p:spPr>
          <a:xfrm>
            <a:off x="1587460" y="5460863"/>
            <a:ext cx="1333467" cy="139697"/>
          </a:xfrm>
          <a:prstGeom prst="roundRect">
            <a:avLst>
              <a:gd name="adj" fmla="val 50000"/>
            </a:avLst>
          </a:prstGeom>
          <a:solidFill>
            <a:srgbClr val="1FA9EA"/>
          </a:solidFill>
          <a:ln/>
        </p:spPr>
      </p:sp>
      <p:sp>
        <p:nvSpPr>
          <p:cNvPr id="52" name="text 2.51"/>
          <p:cNvSpPr txBox="1"/>
          <p:nvPr/>
        </p:nvSpPr>
        <p:spPr>
          <a:xfrm>
            <a:off x="4444889" y="541006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2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53" name="text 2.52"/>
          <p:cNvSpPr txBox="1"/>
          <p:nvPr/>
        </p:nvSpPr>
        <p:spPr>
          <a:xfrm>
            <a:off x="863578" y="5803755"/>
            <a:ext cx="418760"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4th</a:t>
            </a:r>
            <a:endParaRPr lang="en-US" sz="1700" dirty="0"/>
          </a:p>
        </p:txBody>
      </p:sp>
      <p:sp>
        <p:nvSpPr>
          <p:cNvPr id="54" name="shape 2.53"/>
          <p:cNvSpPr/>
          <p:nvPr/>
        </p:nvSpPr>
        <p:spPr>
          <a:xfrm>
            <a:off x="1587460" y="5854554"/>
            <a:ext cx="2666933" cy="139697"/>
          </a:xfrm>
          <a:prstGeom prst="roundRect">
            <a:avLst>
              <a:gd name="adj" fmla="val 50000"/>
            </a:avLst>
          </a:prstGeom>
          <a:solidFill>
            <a:srgbClr val="E4EDF9"/>
          </a:solidFill>
          <a:ln/>
        </p:spPr>
      </p:sp>
      <p:sp>
        <p:nvSpPr>
          <p:cNvPr id="55" name="shape 2.54"/>
          <p:cNvSpPr/>
          <p:nvPr/>
        </p:nvSpPr>
        <p:spPr>
          <a:xfrm>
            <a:off x="1587460" y="5854554"/>
            <a:ext cx="666733" cy="139697"/>
          </a:xfrm>
          <a:prstGeom prst="roundRect">
            <a:avLst>
              <a:gd name="adj" fmla="val 50000"/>
            </a:avLst>
          </a:prstGeom>
          <a:solidFill>
            <a:srgbClr val="1FA9EA"/>
          </a:solidFill>
          <a:ln/>
        </p:spPr>
      </p:sp>
      <p:sp>
        <p:nvSpPr>
          <p:cNvPr id="56" name="text 2.55"/>
          <p:cNvSpPr txBox="1"/>
          <p:nvPr/>
        </p:nvSpPr>
        <p:spPr>
          <a:xfrm>
            <a:off x="4444889" y="580375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1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57" name="text 2.56"/>
          <p:cNvSpPr txBox="1"/>
          <p:nvPr/>
        </p:nvSpPr>
        <p:spPr>
          <a:xfrm>
            <a:off x="6324442" y="4330592"/>
            <a:ext cx="1355503"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FA9EA"/>
                </a:solidFill>
                <a:latin typeface="Arial" pitchFamily="34" charset="0"/>
                <a:ea typeface="Arial" pitchFamily="34" charset="-122"/>
                <a:cs typeface="Arial" pitchFamily="34" charset="-120"/>
              </a:rPr>
              <a:t>BETWEEN ROUNDS</a:t>
            </a:r>
            <a:endParaRPr lang="en-US" sz="850" dirty="0"/>
          </a:p>
        </p:txBody>
      </p:sp>
      <p:sp>
        <p:nvSpPr>
          <p:cNvPr id="58" name="text 2.57"/>
          <p:cNvSpPr txBox="1"/>
          <p:nvPr/>
        </p:nvSpPr>
        <p:spPr>
          <a:xfrm>
            <a:off x="6324442" y="4648084"/>
            <a:ext cx="97752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CARRIES OVER</a:t>
            </a:r>
            <a:endParaRPr lang="en-US" sz="750" dirty="0"/>
          </a:p>
        </p:txBody>
      </p:sp>
      <p:sp>
        <p:nvSpPr>
          <p:cNvPr id="59" name="text 2.58"/>
          <p:cNvSpPr txBox="1"/>
          <p:nvPr/>
        </p:nvSpPr>
        <p:spPr>
          <a:xfrm>
            <a:off x="7848404" y="4609985"/>
            <a:ext cx="3530512"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Points. Nothing else accumulates.</a:t>
            </a:r>
            <a:endParaRPr lang="en-US" sz="1050" dirty="0"/>
          </a:p>
        </p:txBody>
      </p:sp>
      <p:sp>
        <p:nvSpPr>
          <p:cNvPr id="60" name="text 2.59"/>
          <p:cNvSpPr txBox="1"/>
          <p:nvPr/>
        </p:nvSpPr>
        <p:spPr>
          <a:xfrm>
            <a:off x="6324442" y="5092573"/>
            <a:ext cx="63919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PLAYLIST</a:t>
            </a:r>
            <a:endParaRPr lang="en-US" sz="750" dirty="0"/>
          </a:p>
        </p:txBody>
      </p:sp>
      <p:sp>
        <p:nvSpPr>
          <p:cNvPr id="61" name="text 2.60"/>
          <p:cNvSpPr txBox="1"/>
          <p:nvPr/>
        </p:nvSpPr>
        <p:spPr>
          <a:xfrm>
            <a:off x="7848404" y="5054474"/>
            <a:ext cx="3530512"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Random or custom. Unwanted games can be left out; a game can be played more than once.</a:t>
            </a:r>
            <a:endParaRPr lang="en-US" sz="1050" dirty="0"/>
          </a:p>
        </p:txBody>
      </p:sp>
      <p:sp>
        <p:nvSpPr>
          <p:cNvPr id="62" name="text 2.61"/>
          <p:cNvSpPr txBox="1"/>
          <p:nvPr/>
        </p:nvSpPr>
        <p:spPr>
          <a:xfrm>
            <a:off x="6324442" y="5752956"/>
            <a:ext cx="54023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RESETS</a:t>
            </a:r>
            <a:endParaRPr lang="en-US" sz="750" dirty="0"/>
          </a:p>
        </p:txBody>
      </p:sp>
      <p:sp>
        <p:nvSpPr>
          <p:cNvPr id="63" name="text 2.62"/>
          <p:cNvSpPr txBox="1"/>
          <p:nvPr/>
        </p:nvSpPr>
        <p:spPr>
          <a:xfrm>
            <a:off x="7848404" y="5714857"/>
            <a:ext cx="3530512"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Mass and position, so one bad round does not snowball.</a:t>
            </a:r>
            <a:endParaRPr lang="en-US" sz="1050" dirty="0"/>
          </a:p>
        </p:txBody>
      </p:sp>
      <p:sp>
        <p:nvSpPr>
          <p:cNvPr id="64" name="shape 2.63"/>
          <p:cNvSpPr/>
          <p:nvPr/>
        </p:nvSpPr>
        <p:spPr>
          <a:xfrm>
            <a:off x="609585" y="266693"/>
            <a:ext cx="1311838"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65" name="shape 2.64"/>
          <p:cNvSpPr/>
          <p:nvPr/>
        </p:nvSpPr>
        <p:spPr>
          <a:xfrm>
            <a:off x="711182" y="355591"/>
            <a:ext cx="114297" cy="114297"/>
          </a:xfrm>
          <a:prstGeom prst="roundRect">
            <a:avLst>
              <a:gd name="adj" fmla="val 33333"/>
            </a:avLst>
          </a:prstGeom>
          <a:solidFill>
            <a:srgbClr val="1FA9EA"/>
          </a:solidFill>
          <a:ln/>
        </p:spPr>
      </p:sp>
      <p:sp>
        <p:nvSpPr>
          <p:cNvPr id="66" name="shape 2.6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67" name="shape 2.66"/>
          <p:cNvSpPr/>
          <p:nvPr/>
        </p:nvSpPr>
        <p:spPr>
          <a:xfrm>
            <a:off x="10058149" y="368291"/>
            <a:ext cx="101597" cy="101597"/>
          </a:xfrm>
          <a:prstGeom prst="roundRect">
            <a:avLst>
              <a:gd name="adj" fmla="val 31250"/>
            </a:avLst>
          </a:prstGeom>
          <a:solidFill>
            <a:srgbClr val="1FA9EA"/>
          </a:solidFill>
          <a:ln/>
        </p:spPr>
      </p:sp>
      <p:sp>
        <p:nvSpPr>
          <p:cNvPr id="68" name="shape 2.67"/>
          <p:cNvSpPr/>
          <p:nvPr/>
        </p:nvSpPr>
        <p:spPr>
          <a:xfrm>
            <a:off x="10223244" y="368291"/>
            <a:ext cx="101597" cy="101597"/>
          </a:xfrm>
          <a:prstGeom prst="roundRect">
            <a:avLst>
              <a:gd name="adj" fmla="val 31250"/>
            </a:avLst>
          </a:prstGeom>
          <a:solidFill>
            <a:srgbClr val="C7D4E8"/>
          </a:solidFill>
          <a:ln/>
        </p:spPr>
      </p:sp>
      <p:sp>
        <p:nvSpPr>
          <p:cNvPr id="69" name="shape 2.68"/>
          <p:cNvSpPr/>
          <p:nvPr/>
        </p:nvSpPr>
        <p:spPr>
          <a:xfrm>
            <a:off x="10388340" y="368291"/>
            <a:ext cx="101597" cy="101597"/>
          </a:xfrm>
          <a:prstGeom prst="roundRect">
            <a:avLst>
              <a:gd name="adj" fmla="val 31250"/>
            </a:avLst>
          </a:prstGeom>
          <a:solidFill>
            <a:srgbClr val="C7D4E8"/>
          </a:solidFill>
          <a:ln/>
        </p:spPr>
      </p:sp>
      <p:sp>
        <p:nvSpPr>
          <p:cNvPr id="70" name="shape 2.69"/>
          <p:cNvSpPr/>
          <p:nvPr/>
        </p:nvSpPr>
        <p:spPr>
          <a:xfrm>
            <a:off x="10553436" y="368291"/>
            <a:ext cx="101597" cy="101597"/>
          </a:xfrm>
          <a:prstGeom prst="roundRect">
            <a:avLst>
              <a:gd name="adj" fmla="val 31250"/>
            </a:avLst>
          </a:prstGeom>
          <a:solidFill>
            <a:srgbClr val="C7D4E8"/>
          </a:solidFill>
          <a:ln/>
        </p:spPr>
      </p:sp>
      <p:sp>
        <p:nvSpPr>
          <p:cNvPr id="71" name="shape 2.70"/>
          <p:cNvSpPr/>
          <p:nvPr/>
        </p:nvSpPr>
        <p:spPr>
          <a:xfrm>
            <a:off x="10718532" y="368291"/>
            <a:ext cx="101597" cy="101597"/>
          </a:xfrm>
          <a:prstGeom prst="roundRect">
            <a:avLst>
              <a:gd name="adj" fmla="val 31250"/>
            </a:avLst>
          </a:prstGeom>
          <a:solidFill>
            <a:srgbClr val="C7D4E8"/>
          </a:solidFill>
          <a:ln/>
        </p:spPr>
      </p:sp>
      <p:sp>
        <p:nvSpPr>
          <p:cNvPr id="72" name="shape 2.71"/>
          <p:cNvSpPr/>
          <p:nvPr/>
        </p:nvSpPr>
        <p:spPr>
          <a:xfrm>
            <a:off x="10883628" y="368291"/>
            <a:ext cx="101597" cy="101597"/>
          </a:xfrm>
          <a:prstGeom prst="roundRect">
            <a:avLst>
              <a:gd name="adj" fmla="val 31250"/>
            </a:avLst>
          </a:prstGeom>
          <a:solidFill>
            <a:srgbClr val="C7D4E8"/>
          </a:solidFill>
          <a:ln/>
        </p:spPr>
      </p:sp>
      <p:sp>
        <p:nvSpPr>
          <p:cNvPr id="73" name="text 2.7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74" name="text 2.73"/>
          <p:cNvSpPr txBox="1"/>
          <p:nvPr/>
        </p:nvSpPr>
        <p:spPr>
          <a:xfrm>
            <a:off x="927077" y="349241"/>
            <a:ext cx="90306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01 · The game</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3.1"/>
          <p:cNvSpPr/>
          <p:nvPr/>
        </p:nvSpPr>
        <p:spPr>
          <a:xfrm>
            <a:off x="609585" y="1663658"/>
            <a:ext cx="3555911" cy="2095448"/>
          </a:xfrm>
          <a:prstGeom prst="roundRect">
            <a:avLst>
              <a:gd name="adj" fmla="val 9091"/>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3.2 adj6731" descr="ko_spit_full.png">    </p:cNvPr>
          <p:cNvPicPr>
            <a:picLocks noChangeAspect="1"/>
          </p:cNvPicPr>
          <p:nvPr/>
        </p:nvPicPr>
        <p:blipFill>
          <a:blip r:embed="rId2"/>
          <a:stretch>
            <a:fillRect/>
          </a:stretch>
        </p:blipFill>
        <p:spPr>
          <a:xfrm>
            <a:off x="666733" y="1720807"/>
            <a:ext cx="3441614" cy="1981150"/>
          </a:xfrm>
          <a:prstGeom prst="roundRect">
            <a:avLst>
              <a:gd name="adj" fmla="val 6731"/>
            </a:avLst>
          </a:prstGeom>
        </p:spPr>
      </p:pic>
      <p:sp>
        <p:nvSpPr>
          <p:cNvPr id="4" name="shape 3.3"/>
          <p:cNvSpPr/>
          <p:nvPr/>
        </p:nvSpPr>
        <p:spPr>
          <a:xfrm>
            <a:off x="4317892" y="1663658"/>
            <a:ext cx="3555911" cy="2095448"/>
          </a:xfrm>
          <a:prstGeom prst="roundRect">
            <a:avLst>
              <a:gd name="adj" fmla="val 9091"/>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5" name="img 3.4 adj6731" descr="ko_hit_full.png">    </p:cNvPr>
          <p:cNvPicPr>
            <a:picLocks noChangeAspect="1"/>
          </p:cNvPicPr>
          <p:nvPr/>
        </p:nvPicPr>
        <p:blipFill>
          <a:blip r:embed="rId3"/>
          <a:stretch>
            <a:fillRect/>
          </a:stretch>
        </p:blipFill>
        <p:spPr>
          <a:xfrm>
            <a:off x="4375041" y="1720807"/>
            <a:ext cx="3441614" cy="1981150"/>
          </a:xfrm>
          <a:prstGeom prst="roundRect">
            <a:avLst>
              <a:gd name="adj" fmla="val 6731"/>
            </a:avLst>
          </a:prstGeom>
        </p:spPr>
      </p:pic>
      <p:sp>
        <p:nvSpPr>
          <p:cNvPr id="6" name="shape 3.5"/>
          <p:cNvSpPr/>
          <p:nvPr/>
        </p:nvSpPr>
        <p:spPr>
          <a:xfrm>
            <a:off x="8026199" y="1663658"/>
            <a:ext cx="3555911" cy="2095448"/>
          </a:xfrm>
          <a:prstGeom prst="roundRect">
            <a:avLst>
              <a:gd name="adj" fmla="val 9091"/>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7" name="img 3.6 adj6731" descr="launch_full.png">    </p:cNvPr>
          <p:cNvPicPr>
            <a:picLocks noChangeAspect="1"/>
          </p:cNvPicPr>
          <p:nvPr/>
        </p:nvPicPr>
        <p:blipFill>
          <a:blip r:embed="rId4"/>
          <a:stretch>
            <a:fillRect/>
          </a:stretch>
        </p:blipFill>
        <p:spPr>
          <a:xfrm>
            <a:off x="8083348" y="1720807"/>
            <a:ext cx="3441614" cy="1981150"/>
          </a:xfrm>
          <a:prstGeom prst="roundRect">
            <a:avLst>
              <a:gd name="adj" fmla="val 6731"/>
            </a:avLst>
          </a:prstGeom>
        </p:spPr>
      </p:pic>
      <p:sp>
        <p:nvSpPr>
          <p:cNvPr id="8" name="shape 3.7"/>
          <p:cNvSpPr/>
          <p:nvPr/>
        </p:nvSpPr>
        <p:spPr>
          <a:xfrm>
            <a:off x="609585" y="5537062"/>
            <a:ext cx="10972526" cy="634984"/>
          </a:xfrm>
          <a:prstGeom prst="roundRect">
            <a:avLst>
              <a:gd name="adj" fmla="val 28000"/>
            </a:avLst>
          </a:prstGeom>
          <a:solidFill>
            <a:srgbClr val="FFF0E6"/>
          </a:solidFill>
          <a:ln/>
          <a:effectLst>
            <a:outerShdw sx="100000" sy="100000" kx="0" ky="0" algn="bl" rotWithShape="0" blurRad="203200" dist="76200" dir="5400000">
              <a:srgbClr val="1E468C">
                <a:alpha val="16000"/>
              </a:srgbClr>
            </a:outerShdw>
          </a:effectLst>
        </p:spPr>
      </p:sp>
      <p:sp>
        <p:nvSpPr>
          <p:cNvPr id="9" name="text 3.8"/>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Every hit makes you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lighter</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so the next one sends you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further</a:t>
            </a:r>
            <a:endParaRPr lang="en-US" sz="2700" dirty="0"/>
          </a:p>
        </p:txBody>
      </p:sp>
      <p:sp>
        <p:nvSpPr>
          <p:cNvPr id="10" name="shape 3.9"/>
          <p:cNvSpPr/>
          <p:nvPr/>
        </p:nvSpPr>
        <p:spPr>
          <a:xfrm>
            <a:off x="761981" y="1816055"/>
            <a:ext cx="863578" cy="266693"/>
          </a:xfrm>
          <a:prstGeom prst="roundRect">
            <a:avLst>
              <a:gd name="adj" fmla="val 50000"/>
            </a:avLst>
          </a:prstGeom>
          <a:solidFill>
            <a:srgbClr val="FF6B1F"/>
          </a:solidFill>
          <a:ln/>
        </p:spPr>
      </p:sp>
      <p:sp>
        <p:nvSpPr>
          <p:cNvPr id="11" name="text 3.10"/>
          <p:cNvSpPr txBox="1"/>
          <p:nvPr/>
        </p:nvSpPr>
        <p:spPr>
          <a:xfrm>
            <a:off x="761981"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1 · Shoot</a:t>
            </a:r>
            <a:endParaRPr lang="en-US" sz="1000" dirty="0"/>
          </a:p>
        </p:txBody>
      </p:sp>
      <p:sp>
        <p:nvSpPr>
          <p:cNvPr id="12" name="text 3.11"/>
          <p:cNvSpPr txBox="1"/>
          <p:nvPr/>
        </p:nvSpPr>
        <p:spPr>
          <a:xfrm>
            <a:off x="609585"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Shots are real physical projectiles. Shooting is free; only a fire-rate limit sets the pace.</a:t>
            </a:r>
            <a:endParaRPr lang="en-US" sz="1050" dirty="0"/>
          </a:p>
        </p:txBody>
      </p:sp>
      <p:sp>
        <p:nvSpPr>
          <p:cNvPr id="13" name="text 3.12"/>
          <p:cNvSpPr txBox="1"/>
          <p:nvPr/>
        </p:nvSpPr>
        <p:spPr>
          <a:xfrm>
            <a:off x="609585" y="4584585"/>
            <a:ext cx="102790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SHOOTER MASS</a:t>
            </a:r>
            <a:endParaRPr lang="en-US" sz="750" dirty="0"/>
          </a:p>
        </p:txBody>
      </p:sp>
      <p:sp>
        <p:nvSpPr>
          <p:cNvPr id="14" name="shape 3.13"/>
          <p:cNvSpPr/>
          <p:nvPr/>
        </p:nvSpPr>
        <p:spPr>
          <a:xfrm>
            <a:off x="609585" y="4762381"/>
            <a:ext cx="3555911" cy="126997"/>
          </a:xfrm>
          <a:prstGeom prst="roundRect">
            <a:avLst>
              <a:gd name="adj" fmla="val 50000"/>
            </a:avLst>
          </a:prstGeom>
          <a:solidFill>
            <a:srgbClr val="E4EDF9"/>
          </a:solidFill>
          <a:ln/>
        </p:spPr>
      </p:sp>
      <p:sp>
        <p:nvSpPr>
          <p:cNvPr id="15" name="shape 3.14"/>
          <p:cNvSpPr/>
          <p:nvPr/>
        </p:nvSpPr>
        <p:spPr>
          <a:xfrm>
            <a:off x="609585" y="4762381"/>
            <a:ext cx="3555911" cy="126997"/>
          </a:xfrm>
          <a:prstGeom prst="roundRect">
            <a:avLst>
              <a:gd name="adj" fmla="val 50000"/>
            </a:avLst>
          </a:prstGeom>
          <a:solidFill>
            <a:srgbClr val="FF6B1F"/>
          </a:solidFill>
          <a:ln/>
        </p:spPr>
      </p:sp>
      <p:sp>
        <p:nvSpPr>
          <p:cNvPr id="16" name="text 3.15"/>
          <p:cNvSpPr txBox="1"/>
          <p:nvPr/>
        </p:nvSpPr>
        <p:spPr>
          <a:xfrm>
            <a:off x="609585" y="4978276"/>
            <a:ext cx="1851060"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Unchanged: shooting costs nothing</a:t>
            </a:r>
            <a:endParaRPr lang="en-US" sz="850" dirty="0"/>
          </a:p>
        </p:txBody>
      </p:sp>
      <p:sp>
        <p:nvSpPr>
          <p:cNvPr id="17" name="shape 3.16"/>
          <p:cNvSpPr/>
          <p:nvPr/>
        </p:nvSpPr>
        <p:spPr>
          <a:xfrm>
            <a:off x="4470288" y="1816055"/>
            <a:ext cx="863578" cy="266693"/>
          </a:xfrm>
          <a:prstGeom prst="roundRect">
            <a:avLst>
              <a:gd name="adj" fmla="val 50000"/>
            </a:avLst>
          </a:prstGeom>
          <a:solidFill>
            <a:srgbClr val="1FA9EA"/>
          </a:solidFill>
          <a:ln/>
        </p:spPr>
      </p:sp>
      <p:sp>
        <p:nvSpPr>
          <p:cNvPr id="18" name="text 3.17"/>
          <p:cNvSpPr txBox="1"/>
          <p:nvPr/>
        </p:nvSpPr>
        <p:spPr>
          <a:xfrm>
            <a:off x="4470288"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2 · Hit</a:t>
            </a:r>
            <a:endParaRPr lang="en-US" sz="1000" dirty="0"/>
          </a:p>
        </p:txBody>
      </p:sp>
      <p:sp>
        <p:nvSpPr>
          <p:cNvPr id="19" name="text 3.18"/>
          <p:cNvSpPr txBox="1"/>
          <p:nvPr/>
        </p:nvSpPr>
        <p:spPr>
          <a:xfrm>
            <a:off x="4317892"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The target is pushed back from the direction of the shot and loses mass. Its size stays the same.</a:t>
            </a:r>
            <a:endParaRPr lang="en-US" sz="1050" dirty="0"/>
          </a:p>
        </p:txBody>
      </p:sp>
      <p:sp>
        <p:nvSpPr>
          <p:cNvPr id="20" name="text 3.19"/>
          <p:cNvSpPr txBox="1"/>
          <p:nvPr/>
        </p:nvSpPr>
        <p:spPr>
          <a:xfrm>
            <a:off x="4317892" y="4584585"/>
            <a:ext cx="92409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TARGET MASS</a:t>
            </a:r>
            <a:endParaRPr lang="en-US" sz="750" dirty="0"/>
          </a:p>
        </p:txBody>
      </p:sp>
      <p:sp>
        <p:nvSpPr>
          <p:cNvPr id="21" name="shape 3.20"/>
          <p:cNvSpPr/>
          <p:nvPr/>
        </p:nvSpPr>
        <p:spPr>
          <a:xfrm>
            <a:off x="4317892" y="4762381"/>
            <a:ext cx="3555911" cy="126997"/>
          </a:xfrm>
          <a:prstGeom prst="roundRect">
            <a:avLst>
              <a:gd name="adj" fmla="val 50000"/>
            </a:avLst>
          </a:prstGeom>
          <a:solidFill>
            <a:srgbClr val="E4EDF9"/>
          </a:solidFill>
          <a:ln/>
        </p:spPr>
      </p:sp>
      <p:sp>
        <p:nvSpPr>
          <p:cNvPr id="22" name="shape 3.21"/>
          <p:cNvSpPr/>
          <p:nvPr/>
        </p:nvSpPr>
        <p:spPr>
          <a:xfrm>
            <a:off x="4317892" y="4762381"/>
            <a:ext cx="1991271" cy="126997"/>
          </a:xfrm>
          <a:prstGeom prst="roundRect">
            <a:avLst>
              <a:gd name="adj" fmla="val 50000"/>
            </a:avLst>
          </a:prstGeom>
          <a:solidFill>
            <a:srgbClr val="1FA9EA"/>
          </a:solidFill>
          <a:ln/>
        </p:spPr>
      </p:sp>
      <p:sp>
        <p:nvSpPr>
          <p:cNvPr id="23" name="shape 3.22"/>
          <p:cNvSpPr/>
          <p:nvPr/>
        </p:nvSpPr>
        <p:spPr>
          <a:xfrm>
            <a:off x="6238025" y="4762381"/>
            <a:ext cx="853359" cy="126997"/>
          </a:xfrm>
          <a:prstGeom prst="rect">
            <a:avLst/>
          </a:prstGeom>
          <a:solidFill>
            <a:srgbClr val="1FA9EA">
              <a:alpha val="28000"/>
            </a:srgbClr>
          </a:solidFill>
          <a:ln/>
        </p:spPr>
      </p:sp>
      <p:sp>
        <p:nvSpPr>
          <p:cNvPr id="24" name="text 3.23"/>
          <p:cNvSpPr txBox="1"/>
          <p:nvPr/>
        </p:nvSpPr>
        <p:spPr>
          <a:xfrm>
            <a:off x="4317892" y="4978276"/>
            <a:ext cx="134835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Faded part: lost to this hit</a:t>
            </a:r>
            <a:endParaRPr lang="en-US" sz="850" dirty="0"/>
          </a:p>
        </p:txBody>
      </p:sp>
      <p:sp>
        <p:nvSpPr>
          <p:cNvPr id="25" name="shape 3.24"/>
          <p:cNvSpPr/>
          <p:nvPr/>
        </p:nvSpPr>
        <p:spPr>
          <a:xfrm>
            <a:off x="8178596" y="1816055"/>
            <a:ext cx="863578" cy="266693"/>
          </a:xfrm>
          <a:prstGeom prst="roundRect">
            <a:avLst>
              <a:gd name="adj" fmla="val 50000"/>
            </a:avLst>
          </a:prstGeom>
          <a:solidFill>
            <a:srgbClr val="FF6B1F"/>
          </a:solidFill>
          <a:ln/>
        </p:spPr>
      </p:sp>
      <p:sp>
        <p:nvSpPr>
          <p:cNvPr id="26" name="text 3.25"/>
          <p:cNvSpPr txBox="1"/>
          <p:nvPr/>
        </p:nvSpPr>
        <p:spPr>
          <a:xfrm>
            <a:off x="8178596"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3 · Fall</a:t>
            </a:r>
            <a:endParaRPr lang="en-US" sz="1000" dirty="0"/>
          </a:p>
        </p:txBody>
      </p:sp>
      <p:sp>
        <p:nvSpPr>
          <p:cNvPr id="27" name="text 3.26"/>
          <p:cNvSpPr txBox="1"/>
          <p:nvPr/>
        </p:nvSpPr>
        <p:spPr>
          <a:xfrm>
            <a:off x="8026199"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Less mass means the same shot pushes further. A cube that falls off is out.</a:t>
            </a:r>
            <a:endParaRPr lang="en-US" sz="1050" dirty="0"/>
          </a:p>
        </p:txBody>
      </p:sp>
      <p:sp>
        <p:nvSpPr>
          <p:cNvPr id="28" name="text 3.27"/>
          <p:cNvSpPr txBox="1"/>
          <p:nvPr/>
        </p:nvSpPr>
        <p:spPr>
          <a:xfrm>
            <a:off x="8026199" y="4584585"/>
            <a:ext cx="162400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KNOCKBACK, SAME SHOT</a:t>
            </a:r>
            <a:endParaRPr lang="en-US" sz="750" dirty="0"/>
          </a:p>
        </p:txBody>
      </p:sp>
      <p:sp>
        <p:nvSpPr>
          <p:cNvPr id="29" name="shape 3.28"/>
          <p:cNvSpPr/>
          <p:nvPr/>
        </p:nvSpPr>
        <p:spPr>
          <a:xfrm>
            <a:off x="8026199" y="4762381"/>
            <a:ext cx="3555911" cy="126997"/>
          </a:xfrm>
          <a:prstGeom prst="roundRect">
            <a:avLst>
              <a:gd name="adj" fmla="val 50000"/>
            </a:avLst>
          </a:prstGeom>
          <a:solidFill>
            <a:srgbClr val="E4EDF9"/>
          </a:solidFill>
          <a:ln/>
        </p:spPr>
      </p:sp>
      <p:sp>
        <p:nvSpPr>
          <p:cNvPr id="30" name="shape 3.29"/>
          <p:cNvSpPr/>
          <p:nvPr/>
        </p:nvSpPr>
        <p:spPr>
          <a:xfrm>
            <a:off x="8026199" y="4762381"/>
            <a:ext cx="3271359" cy="126997"/>
          </a:xfrm>
          <a:prstGeom prst="roundRect">
            <a:avLst>
              <a:gd name="adj" fmla="val 50000"/>
            </a:avLst>
          </a:prstGeom>
          <a:solidFill>
            <a:srgbClr val="FF6B1F"/>
          </a:solidFill>
          <a:ln/>
        </p:spPr>
      </p:sp>
      <p:sp>
        <p:nvSpPr>
          <p:cNvPr id="31" name="text 3.30"/>
          <p:cNvSpPr txBox="1"/>
          <p:nvPr/>
        </p:nvSpPr>
        <p:spPr>
          <a:xfrm>
            <a:off x="8026199" y="4978276"/>
            <a:ext cx="1169984"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Grows as mass drops</a:t>
            </a:r>
            <a:endParaRPr lang="en-US" sz="850" dirty="0"/>
          </a:p>
        </p:txBody>
      </p:sp>
      <p:sp>
        <p:nvSpPr>
          <p:cNvPr id="32" name="text 3.31"/>
          <p:cNvSpPr txBox="1"/>
          <p:nvPr/>
        </p:nvSpPr>
        <p:spPr>
          <a:xfrm>
            <a:off x="863578" y="5727557"/>
            <a:ext cx="10451839" cy="257804"/>
          </a:xfrm>
          <a:prstGeom prst="rect">
            <a:avLst/>
          </a:prstGeom>
          <a:noFill/>
          <a:ln/>
        </p:spPr>
        <p:txBody>
          <a:bodyPr wrap="square" lIns="0" tIns="0" rIns="0" bIns="0" rtlCol="0" anchor="t"/>
          <a:lstStyle/>
          <a:p>
            <a:pPr algn="l" indent="0" marL="0">
              <a:lnSpc>
                <a:spcPts val="2030"/>
              </a:lnSpc>
              <a:buNone/>
            </a:pPr>
            <a:r>
              <a:rPr lang="en-US" sz="1400" dirty="0">
                <a:solidFill>
                  <a:srgbClr val="16233F"/>
                </a:solidFill>
                <a:latin typeface="Arial" pitchFamily="34" charset="0"/>
                <a:ea typeface="Arial" pitchFamily="34" charset="-122"/>
                <a:cs typeface="Arial" pitchFamily="34" charset="-120"/>
              </a:rPr>
              <a:t>The force of a shot never changes. </a:t>
            </a:r>
            <a:pPr algn="l" indent="0" marL="0">
              <a:lnSpc>
                <a:spcPts val="2030"/>
              </a:lnSpc>
              <a:buNone/>
            </a:pPr>
            <a:r>
              <a:rPr lang="en-US" sz="1400" b="1" dirty="0">
                <a:solidFill>
                  <a:srgbClr val="FF6B1F"/>
                </a:solidFill>
                <a:latin typeface="Arial" pitchFamily="34" charset="0"/>
                <a:ea typeface="Arial" pitchFamily="34" charset="-122"/>
                <a:cs typeface="Arial" pitchFamily="34" charset="-120"/>
              </a:rPr>
              <a:t>The target's mass does</a:t>
            </a:r>
            <a:pPr algn="l" indent="0" marL="0">
              <a:lnSpc>
                <a:spcPts val="2030"/>
              </a:lnSpc>
              <a:buNone/>
            </a:pPr>
            <a:r>
              <a:rPr lang="en-US" sz="1400" dirty="0">
                <a:solidFill>
                  <a:srgbClr val="16233F"/>
                </a:solidFill>
                <a:latin typeface="Arial" pitchFamily="34" charset="0"/>
                <a:ea typeface="Arial" pitchFamily="34" charset="-122"/>
                <a:cs typeface="Arial" pitchFamily="34" charset="-120"/>
              </a:rPr>
              <a:t>, so every hit makes the next one more dangerous.</a:t>
            </a:r>
            <a:endParaRPr lang="en-US" sz="1400" dirty="0"/>
          </a:p>
        </p:txBody>
      </p:sp>
      <p:sp>
        <p:nvSpPr>
          <p:cNvPr id="33" name="text 3.32"/>
          <p:cNvSpPr txBox="1"/>
          <p:nvPr/>
        </p:nvSpPr>
        <p:spPr>
          <a:xfrm>
            <a:off x="609585" y="6579725"/>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Bars show direction only. Fire rate, mass loss and force are set in playtests.</a:t>
            </a:r>
            <a:endParaRPr lang="en-US" sz="850" dirty="0"/>
          </a:p>
        </p:txBody>
      </p:sp>
      <p:sp>
        <p:nvSpPr>
          <p:cNvPr id="34" name="shape 3.33"/>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5" name="shape 3.34"/>
          <p:cNvSpPr/>
          <p:nvPr/>
        </p:nvSpPr>
        <p:spPr>
          <a:xfrm>
            <a:off x="711182" y="355591"/>
            <a:ext cx="114297" cy="114297"/>
          </a:xfrm>
          <a:prstGeom prst="roundRect">
            <a:avLst>
              <a:gd name="adj" fmla="val 33333"/>
            </a:avLst>
          </a:prstGeom>
          <a:solidFill>
            <a:srgbClr val="FF6B1F"/>
          </a:solidFill>
          <a:ln/>
        </p:spPr>
      </p:sp>
      <p:sp>
        <p:nvSpPr>
          <p:cNvPr id="36" name="shape 3.3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7" name="shape 3.36"/>
          <p:cNvSpPr/>
          <p:nvPr/>
        </p:nvSpPr>
        <p:spPr>
          <a:xfrm>
            <a:off x="10058149" y="368291"/>
            <a:ext cx="101597" cy="101597"/>
          </a:xfrm>
          <a:prstGeom prst="roundRect">
            <a:avLst>
              <a:gd name="adj" fmla="val 31250"/>
            </a:avLst>
          </a:prstGeom>
          <a:solidFill>
            <a:srgbClr val="16233F"/>
          </a:solidFill>
          <a:ln/>
        </p:spPr>
      </p:sp>
      <p:sp>
        <p:nvSpPr>
          <p:cNvPr id="38" name="shape 3.37"/>
          <p:cNvSpPr/>
          <p:nvPr/>
        </p:nvSpPr>
        <p:spPr>
          <a:xfrm>
            <a:off x="10223244" y="368291"/>
            <a:ext cx="101597" cy="101597"/>
          </a:xfrm>
          <a:prstGeom prst="roundRect">
            <a:avLst>
              <a:gd name="adj" fmla="val 31250"/>
            </a:avLst>
          </a:prstGeom>
          <a:solidFill>
            <a:srgbClr val="FF6B1F"/>
          </a:solidFill>
          <a:ln/>
        </p:spPr>
      </p:sp>
      <p:sp>
        <p:nvSpPr>
          <p:cNvPr id="39" name="shape 3.38"/>
          <p:cNvSpPr/>
          <p:nvPr/>
        </p:nvSpPr>
        <p:spPr>
          <a:xfrm>
            <a:off x="10388340" y="368291"/>
            <a:ext cx="101597" cy="101597"/>
          </a:xfrm>
          <a:prstGeom prst="roundRect">
            <a:avLst>
              <a:gd name="adj" fmla="val 31250"/>
            </a:avLst>
          </a:prstGeom>
          <a:solidFill>
            <a:srgbClr val="C7D4E8"/>
          </a:solidFill>
          <a:ln/>
        </p:spPr>
      </p:sp>
      <p:sp>
        <p:nvSpPr>
          <p:cNvPr id="40" name="shape 3.39"/>
          <p:cNvSpPr/>
          <p:nvPr/>
        </p:nvSpPr>
        <p:spPr>
          <a:xfrm>
            <a:off x="10553436" y="368291"/>
            <a:ext cx="101597" cy="101597"/>
          </a:xfrm>
          <a:prstGeom prst="roundRect">
            <a:avLst>
              <a:gd name="adj" fmla="val 31250"/>
            </a:avLst>
          </a:prstGeom>
          <a:solidFill>
            <a:srgbClr val="C7D4E8"/>
          </a:solidFill>
          <a:ln/>
        </p:spPr>
      </p:sp>
      <p:sp>
        <p:nvSpPr>
          <p:cNvPr id="41" name="shape 3.40"/>
          <p:cNvSpPr/>
          <p:nvPr/>
        </p:nvSpPr>
        <p:spPr>
          <a:xfrm>
            <a:off x="10718532" y="368291"/>
            <a:ext cx="101597" cy="101597"/>
          </a:xfrm>
          <a:prstGeom prst="roundRect">
            <a:avLst>
              <a:gd name="adj" fmla="val 31250"/>
            </a:avLst>
          </a:prstGeom>
          <a:solidFill>
            <a:srgbClr val="C7D4E8"/>
          </a:solidFill>
          <a:ln/>
        </p:spPr>
      </p:sp>
      <p:sp>
        <p:nvSpPr>
          <p:cNvPr id="42" name="shape 3.41"/>
          <p:cNvSpPr/>
          <p:nvPr/>
        </p:nvSpPr>
        <p:spPr>
          <a:xfrm>
            <a:off x="10883628" y="368291"/>
            <a:ext cx="101597" cy="101597"/>
          </a:xfrm>
          <a:prstGeom prst="roundRect">
            <a:avLst>
              <a:gd name="adj" fmla="val 31250"/>
            </a:avLst>
          </a:prstGeom>
          <a:solidFill>
            <a:srgbClr val="C7D4E8"/>
          </a:solidFill>
          <a:ln/>
        </p:spPr>
      </p:sp>
      <p:sp>
        <p:nvSpPr>
          <p:cNvPr id="43" name="text 3.4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44" name="text 3.43"/>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4.1"/>
          <p:cNvSpPr/>
          <p:nvPr/>
        </p:nvSpPr>
        <p:spPr>
          <a:xfrm>
            <a:off x="609585" y="1498563"/>
            <a:ext cx="10972526" cy="634984"/>
          </a:xfrm>
          <a:prstGeom prst="roundRect">
            <a:avLst>
              <a:gd name="adj" fmla="val 28000"/>
            </a:avLst>
          </a:prstGeom>
          <a:solidFill>
            <a:srgbClr val="E2F4FD"/>
          </a:solidFill>
          <a:ln/>
          <a:effectLst>
            <a:outerShdw sx="100000" sy="100000" kx="0" ky="0" algn="bl" rotWithShape="0" blurRad="203200" dist="76200" dir="5400000">
              <a:srgbClr val="1E468C">
                <a:alpha val="16000"/>
              </a:srgbClr>
            </a:outerShdw>
          </a:effectLst>
        </p:spPr>
      </p:sp>
      <p:sp>
        <p:nvSpPr>
          <p:cNvPr id="3" name="shape 4.2"/>
          <p:cNvSpPr/>
          <p:nvPr/>
        </p:nvSpPr>
        <p:spPr>
          <a:xfrm>
            <a:off x="609585" y="2362141"/>
            <a:ext cx="2628834" cy="2539937"/>
          </a:xfrm>
          <a:prstGeom prst="roundRect">
            <a:avLst>
              <a:gd name="adj" fmla="val 7000"/>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4" name="shape 4.3"/>
          <p:cNvSpPr/>
          <p:nvPr/>
        </p:nvSpPr>
        <p:spPr>
          <a:xfrm>
            <a:off x="3390815" y="2362141"/>
            <a:ext cx="2628834" cy="2539937"/>
          </a:xfrm>
          <a:prstGeom prst="roundRect">
            <a:avLst>
              <a:gd name="adj" fmla="val 7000"/>
            </a:avLst>
          </a:prstGeom>
          <a:solidFill>
            <a:srgbClr val="FFFFFF"/>
          </a:solidFill>
          <a:ln/>
          <a:effectLst>
            <a:outerShdw sx="100000" sy="100000" kx="0" ky="0" algn="bl" rotWithShape="0" blurRad="203200" dist="76200" dir="5400000">
              <a:srgbClr val="1E468C">
                <a:alpha val="16000"/>
              </a:srgbClr>
            </a:outerShdw>
          </a:effectLst>
        </p:spPr>
      </p:sp>
      <p:sp>
        <p:nvSpPr>
          <p:cNvPr id="5" name="shape 4.4"/>
          <p:cNvSpPr/>
          <p:nvPr/>
        </p:nvSpPr>
        <p:spPr>
          <a:xfrm>
            <a:off x="6172046" y="2362141"/>
            <a:ext cx="2628834" cy="2539937"/>
          </a:xfrm>
          <a:prstGeom prst="roundRect">
            <a:avLst>
              <a:gd name="adj" fmla="val 7000"/>
            </a:avLst>
          </a:prstGeom>
          <a:solidFill>
            <a:srgbClr val="FFFFFF"/>
          </a:solidFill>
          <a:ln/>
          <a:effectLst>
            <a:outerShdw sx="100000" sy="100000" kx="0" ky="0" algn="bl" rotWithShape="0" blurRad="203200" dist="76200" dir="5400000">
              <a:srgbClr val="1E468C">
                <a:alpha val="16000"/>
              </a:srgbClr>
            </a:outerShdw>
          </a:effectLst>
        </p:spPr>
      </p:sp>
      <p:sp>
        <p:nvSpPr>
          <p:cNvPr id="6" name="shape 4.5"/>
          <p:cNvSpPr/>
          <p:nvPr/>
        </p:nvSpPr>
        <p:spPr>
          <a:xfrm>
            <a:off x="8953276" y="2362141"/>
            <a:ext cx="2628834" cy="2539937"/>
          </a:xfrm>
          <a:prstGeom prst="roundRect">
            <a:avLst>
              <a:gd name="adj" fmla="val 7000"/>
            </a:avLst>
          </a:prstGeom>
          <a:solidFill>
            <a:srgbClr val="FFFFFF"/>
          </a:solidFill>
          <a:ln/>
          <a:effectLst>
            <a:outerShdw sx="100000" sy="100000" kx="0" ky="0" algn="bl" rotWithShape="0" blurRad="203200" dist="76200" dir="5400000">
              <a:srgbClr val="1E468C">
                <a:alpha val="16000"/>
              </a:srgbClr>
            </a:outerShdw>
          </a:effectLst>
        </p:spPr>
      </p:sp>
      <p:sp>
        <p:nvSpPr>
          <p:cNvPr id="7" name="text 4.6"/>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shot,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a different effect</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in each mini-game</a:t>
            </a:r>
            <a:endParaRPr lang="en-US" sz="2700" dirty="0"/>
          </a:p>
        </p:txBody>
      </p:sp>
      <p:sp>
        <p:nvSpPr>
          <p:cNvPr id="8" name="text 4.7"/>
          <p:cNvSpPr txBox="1"/>
          <p:nvPr/>
        </p:nvSpPr>
        <p:spPr>
          <a:xfrm>
            <a:off x="863578" y="1663658"/>
            <a:ext cx="40929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MOVE</a:t>
            </a:r>
            <a:endParaRPr lang="en-US" sz="750" dirty="0"/>
          </a:p>
        </p:txBody>
      </p:sp>
      <p:sp>
        <p:nvSpPr>
          <p:cNvPr id="9" name="text 4.8"/>
          <p:cNvSpPr txBox="1"/>
          <p:nvPr/>
        </p:nvSpPr>
        <p:spPr>
          <a:xfrm>
            <a:off x="863578" y="1828754"/>
            <a:ext cx="2578036" cy="174621"/>
          </a:xfrm>
          <a:prstGeom prst="rect">
            <a:avLst/>
          </a:prstGeom>
          <a:noFill/>
          <a:ln/>
        </p:spPr>
        <p:txBody>
          <a:bodyPr wrap="square" lIns="0" tIns="0" rIns="0" bIns="0" rtlCol="0" anchor="t"/>
          <a:lstStyle/>
          <a:p>
            <a:pPr algn="l" indent="0" marL="0">
              <a:lnSpc>
                <a:spcPts val="1380"/>
              </a:lnSpc>
              <a:buNone/>
            </a:pPr>
            <a:r>
              <a:rPr lang="en-US" sz="1100" b="1" dirty="0">
                <a:solidFill>
                  <a:srgbClr val="16233F"/>
                </a:solidFill>
                <a:latin typeface="Arial" pitchFamily="34" charset="0"/>
                <a:ea typeface="Arial" pitchFamily="34" charset="-122"/>
                <a:cs typeface="Arial" pitchFamily="34" charset="-120"/>
              </a:rPr>
              <a:t>WASD</a:t>
            </a:r>
            <a:endParaRPr lang="en-US" sz="1100" dirty="0"/>
          </a:p>
        </p:txBody>
      </p:sp>
      <p:sp>
        <p:nvSpPr>
          <p:cNvPr id="10" name="text 4.9"/>
          <p:cNvSpPr txBox="1"/>
          <p:nvPr/>
        </p:nvSpPr>
        <p:spPr>
          <a:xfrm>
            <a:off x="3594010" y="1663658"/>
            <a:ext cx="57935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CAMERA</a:t>
            </a:r>
            <a:endParaRPr lang="en-US" sz="750" dirty="0"/>
          </a:p>
        </p:txBody>
      </p:sp>
      <p:sp>
        <p:nvSpPr>
          <p:cNvPr id="11" name="text 4.10"/>
          <p:cNvSpPr txBox="1"/>
          <p:nvPr/>
        </p:nvSpPr>
        <p:spPr>
          <a:xfrm>
            <a:off x="3594010" y="1828754"/>
            <a:ext cx="2578036" cy="174621"/>
          </a:xfrm>
          <a:prstGeom prst="rect">
            <a:avLst/>
          </a:prstGeom>
          <a:noFill/>
          <a:ln/>
        </p:spPr>
        <p:txBody>
          <a:bodyPr wrap="square" lIns="0" tIns="0" rIns="0" bIns="0" rtlCol="0" anchor="t"/>
          <a:lstStyle/>
          <a:p>
            <a:pPr algn="l" indent="0" marL="0">
              <a:lnSpc>
                <a:spcPts val="1380"/>
              </a:lnSpc>
              <a:buNone/>
            </a:pPr>
            <a:r>
              <a:rPr lang="en-US" sz="1100" b="1" dirty="0">
                <a:solidFill>
                  <a:srgbClr val="16233F"/>
                </a:solidFill>
                <a:latin typeface="Arial" pitchFamily="34" charset="0"/>
                <a:ea typeface="Arial" pitchFamily="34" charset="-122"/>
                <a:cs typeface="Arial" pitchFamily="34" charset="-120"/>
              </a:rPr>
              <a:t>Third-person</a:t>
            </a:r>
            <a:endParaRPr lang="en-US" sz="1100" dirty="0"/>
          </a:p>
        </p:txBody>
      </p:sp>
      <p:sp>
        <p:nvSpPr>
          <p:cNvPr id="12" name="text 4.11"/>
          <p:cNvSpPr txBox="1"/>
          <p:nvPr/>
        </p:nvSpPr>
        <p:spPr>
          <a:xfrm>
            <a:off x="6324442" y="1663658"/>
            <a:ext cx="48312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SHOOT</a:t>
            </a:r>
            <a:endParaRPr lang="en-US" sz="750" dirty="0"/>
          </a:p>
        </p:txBody>
      </p:sp>
      <p:sp>
        <p:nvSpPr>
          <p:cNvPr id="13" name="text 4.12"/>
          <p:cNvSpPr txBox="1"/>
          <p:nvPr/>
        </p:nvSpPr>
        <p:spPr>
          <a:xfrm>
            <a:off x="6324442" y="1828754"/>
            <a:ext cx="2578036" cy="174621"/>
          </a:xfrm>
          <a:prstGeom prst="rect">
            <a:avLst/>
          </a:prstGeom>
          <a:noFill/>
          <a:ln/>
        </p:spPr>
        <p:txBody>
          <a:bodyPr wrap="square" lIns="0" tIns="0" rIns="0" bIns="0" rtlCol="0" anchor="t"/>
          <a:lstStyle/>
          <a:p>
            <a:pPr algn="l" indent="0" marL="0">
              <a:lnSpc>
                <a:spcPts val="1380"/>
              </a:lnSpc>
              <a:buNone/>
            </a:pPr>
            <a:r>
              <a:rPr lang="en-US" sz="1100" b="1" dirty="0">
                <a:solidFill>
                  <a:srgbClr val="16233F"/>
                </a:solidFill>
                <a:latin typeface="Arial" pitchFamily="34" charset="0"/>
                <a:ea typeface="Arial" pitchFamily="34" charset="-122"/>
                <a:cs typeface="Arial" pitchFamily="34" charset="-120"/>
              </a:rPr>
              <a:t>Real projectiles, fire-rate limit</a:t>
            </a:r>
            <a:endParaRPr lang="en-US" sz="1100" dirty="0"/>
          </a:p>
        </p:txBody>
      </p:sp>
      <p:sp>
        <p:nvSpPr>
          <p:cNvPr id="14" name="text 4.13"/>
          <p:cNvSpPr txBox="1"/>
          <p:nvPr/>
        </p:nvSpPr>
        <p:spPr>
          <a:xfrm>
            <a:off x="9054874" y="1663658"/>
            <a:ext cx="39246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JUMP</a:t>
            </a:r>
            <a:endParaRPr lang="en-US" sz="750" dirty="0"/>
          </a:p>
        </p:txBody>
      </p:sp>
      <p:sp>
        <p:nvSpPr>
          <p:cNvPr id="15" name="text 4.14"/>
          <p:cNvSpPr txBox="1"/>
          <p:nvPr/>
        </p:nvSpPr>
        <p:spPr>
          <a:xfrm>
            <a:off x="9054874" y="1828754"/>
            <a:ext cx="2578036" cy="174621"/>
          </a:xfrm>
          <a:prstGeom prst="rect">
            <a:avLst/>
          </a:prstGeom>
          <a:noFill/>
          <a:ln/>
        </p:spPr>
        <p:txBody>
          <a:bodyPr wrap="square" lIns="0" tIns="0" rIns="0" bIns="0" rtlCol="0" anchor="t"/>
          <a:lstStyle/>
          <a:p>
            <a:pPr algn="l" indent="0" marL="0">
              <a:lnSpc>
                <a:spcPts val="1380"/>
              </a:lnSpc>
              <a:buNone/>
            </a:pPr>
            <a:r>
              <a:rPr lang="en-US" sz="1100" b="1" dirty="0">
                <a:solidFill>
                  <a:srgbClr val="16233F"/>
                </a:solidFill>
                <a:latin typeface="Arial" pitchFamily="34" charset="0"/>
                <a:ea typeface="Arial" pitchFamily="34" charset="-122"/>
                <a:cs typeface="Arial" pitchFamily="34" charset="-120"/>
              </a:rPr>
              <a:t>Only where the mini-game allows it</a:t>
            </a:r>
            <a:endParaRPr lang="en-US" sz="1100" dirty="0"/>
          </a:p>
        </p:txBody>
      </p:sp>
      <p:pic>
        <p:nvPicPr>
          <p:cNvPr id="16" name="raster 4.15" descr="diagram">    </p:cNvPr>
          <p:cNvPicPr>
            <a:picLocks noChangeAspect="1"/>
          </p:cNvPicPr>
          <p:nvPr/>
        </p:nvPicPr>
        <p:blipFill>
          <a:blip r:embed="rId2"/>
          <a:stretch>
            <a:fillRect/>
          </a:stretch>
        </p:blipFill>
        <p:spPr>
          <a:xfrm>
            <a:off x="800080" y="2552636"/>
            <a:ext cx="406390" cy="406390"/>
          </a:xfrm>
          <a:prstGeom prst="rect">
            <a:avLst/>
          </a:prstGeom>
        </p:spPr>
      </p:pic>
      <p:sp>
        <p:nvSpPr>
          <p:cNvPr id="17" name="shape 4.16"/>
          <p:cNvSpPr/>
          <p:nvPr/>
        </p:nvSpPr>
        <p:spPr>
          <a:xfrm>
            <a:off x="2222444" y="2616135"/>
            <a:ext cx="571486" cy="203195"/>
          </a:xfrm>
          <a:prstGeom prst="roundRect">
            <a:avLst>
              <a:gd name="adj" fmla="val 50000"/>
            </a:avLst>
          </a:prstGeom>
          <a:solidFill>
            <a:srgbClr val="FF6B1F"/>
          </a:solidFill>
          <a:ln/>
        </p:spPr>
      </p:sp>
      <p:sp>
        <p:nvSpPr>
          <p:cNvPr id="18" name="text 4.17"/>
          <p:cNvSpPr txBox="1"/>
          <p:nvPr/>
        </p:nvSpPr>
        <p:spPr>
          <a:xfrm>
            <a:off x="2222444" y="2616135"/>
            <a:ext cx="571486"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MVP</a:t>
            </a:r>
            <a:endParaRPr lang="en-US" sz="650" dirty="0"/>
          </a:p>
        </p:txBody>
      </p:sp>
      <p:sp>
        <p:nvSpPr>
          <p:cNvPr id="19" name="text 4.18"/>
          <p:cNvSpPr txBox="1"/>
          <p:nvPr/>
        </p:nvSpPr>
        <p:spPr>
          <a:xfrm>
            <a:off x="800080" y="3174921"/>
            <a:ext cx="1743577" cy="292093"/>
          </a:xfrm>
          <a:prstGeom prst="rect">
            <a:avLst/>
          </a:prstGeom>
          <a:noFill/>
          <a:ln/>
        </p:spPr>
        <p:txBody>
          <a:bodyPr wrap="square" lIns="0" tIns="0" rIns="0" bIns="0" rtlCol="0" anchor="t"/>
          <a:lstStyle/>
          <a:p>
            <a:pPr algn="l" indent="0" marL="0">
              <a:lnSpc>
                <a:spcPts val="2300"/>
              </a:lnSpc>
              <a:buNone/>
            </a:pPr>
            <a:r>
              <a:rPr lang="en-US" sz="2300" dirty="0">
                <a:solidFill>
                  <a:srgbClr val="FF6B1F"/>
                </a:solidFill>
                <a:latin typeface="Arial Rounded MT Bold" pitchFamily="34" charset="0"/>
                <a:ea typeface="Arial Rounded MT Bold" pitchFamily="34" charset="-122"/>
                <a:cs typeface="Arial Rounded MT Bold" pitchFamily="34" charset="-120"/>
              </a:rPr>
              <a:t>Knockback</a:t>
            </a:r>
            <a:endParaRPr lang="en-US" sz="2300" dirty="0"/>
          </a:p>
        </p:txBody>
      </p:sp>
      <p:sp>
        <p:nvSpPr>
          <p:cNvPr id="20" name="text 4.19"/>
          <p:cNvSpPr txBox="1"/>
          <p:nvPr/>
        </p:nvSpPr>
        <p:spPr>
          <a:xfrm>
            <a:off x="800080" y="3568611"/>
            <a:ext cx="1352032"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Mass Knockout</a:t>
            </a:r>
            <a:endParaRPr lang="en-US" sz="1300" dirty="0"/>
          </a:p>
        </p:txBody>
      </p:sp>
      <p:sp>
        <p:nvSpPr>
          <p:cNvPr id="21" name="text 4.20"/>
          <p:cNvSpPr txBox="1"/>
          <p:nvPr/>
        </p:nvSpPr>
        <p:spPr>
          <a:xfrm>
            <a:off x="800080" y="3860703"/>
            <a:ext cx="2285943" cy="622086"/>
          </a:xfrm>
          <a:prstGeom prst="rect">
            <a:avLst/>
          </a:prstGeom>
          <a:noFill/>
          <a:ln/>
        </p:spPr>
        <p:txBody>
          <a:bodyPr wrap="square" lIns="0" tIns="0" rIns="0" bIns="0" rtlCol="0" anchor="t"/>
          <a:lstStyle/>
          <a:p>
            <a:pPr algn="l" indent="0" marL="0">
              <a:lnSpc>
                <a:spcPts val="1630"/>
              </a:lnSpc>
              <a:buNone/>
            </a:pPr>
            <a:r>
              <a:rPr lang="en-US" sz="1150" dirty="0">
                <a:solidFill>
                  <a:srgbClr val="3B4A66"/>
                </a:solidFill>
                <a:latin typeface="Arial" pitchFamily="34" charset="0"/>
                <a:ea typeface="Arial" pitchFamily="34" charset="-122"/>
                <a:cs typeface="Arial" pitchFamily="34" charset="-120"/>
              </a:rPr>
              <a:t>The target is pushed back from the shot’s direction and loses mass.</a:t>
            </a:r>
            <a:endParaRPr lang="en-US" sz="1150" dirty="0"/>
          </a:p>
        </p:txBody>
      </p:sp>
      <p:pic>
        <p:nvPicPr>
          <p:cNvPr id="22" name="raster 4.21" descr="diagram">    </p:cNvPr>
          <p:cNvPicPr>
            <a:picLocks noChangeAspect="1"/>
          </p:cNvPicPr>
          <p:nvPr/>
        </p:nvPicPr>
        <p:blipFill>
          <a:blip r:embed="rId3"/>
          <a:stretch>
            <a:fillRect/>
          </a:stretch>
        </p:blipFill>
        <p:spPr>
          <a:xfrm>
            <a:off x="3581310" y="2552636"/>
            <a:ext cx="406390" cy="406390"/>
          </a:xfrm>
          <a:prstGeom prst="rect">
            <a:avLst/>
          </a:prstGeom>
        </p:spPr>
      </p:pic>
      <p:sp>
        <p:nvSpPr>
          <p:cNvPr id="23" name="shape 4.22"/>
          <p:cNvSpPr/>
          <p:nvPr/>
        </p:nvSpPr>
        <p:spPr>
          <a:xfrm>
            <a:off x="5003675" y="2616135"/>
            <a:ext cx="863578" cy="203195"/>
          </a:xfrm>
          <a:prstGeom prst="roundRect">
            <a:avLst>
              <a:gd name="adj" fmla="val 50000"/>
            </a:avLst>
          </a:prstGeom>
          <a:solidFill>
            <a:srgbClr val="E2F4FD"/>
          </a:solidFill>
          <a:ln/>
        </p:spPr>
      </p:sp>
      <p:sp>
        <p:nvSpPr>
          <p:cNvPr id="24" name="text 4.23"/>
          <p:cNvSpPr txBox="1"/>
          <p:nvPr/>
        </p:nvSpPr>
        <p:spPr>
          <a:xfrm>
            <a:off x="5003675" y="2616135"/>
            <a:ext cx="863578"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1FA9EA"/>
                </a:solidFill>
                <a:latin typeface="Arial" pitchFamily="34" charset="0"/>
                <a:ea typeface="Arial" pitchFamily="34" charset="-122"/>
                <a:cs typeface="Arial" pitchFamily="34" charset="-120"/>
              </a:rPr>
              <a:t>MECHANIC IDEA</a:t>
            </a:r>
            <a:endParaRPr lang="en-US" sz="650" dirty="0"/>
          </a:p>
        </p:txBody>
      </p:sp>
      <p:sp>
        <p:nvSpPr>
          <p:cNvPr id="25" name="text 4.24"/>
          <p:cNvSpPr txBox="1"/>
          <p:nvPr/>
        </p:nvSpPr>
        <p:spPr>
          <a:xfrm>
            <a:off x="3581310" y="3174921"/>
            <a:ext cx="883293" cy="292093"/>
          </a:xfrm>
          <a:prstGeom prst="rect">
            <a:avLst/>
          </a:prstGeom>
          <a:noFill/>
          <a:ln/>
        </p:spPr>
        <p:txBody>
          <a:bodyPr wrap="square" lIns="0" tIns="0" rIns="0" bIns="0" rtlCol="0" anchor="t"/>
          <a:lstStyle/>
          <a:p>
            <a:pPr algn="l" indent="0" marL="0">
              <a:lnSpc>
                <a:spcPts val="2300"/>
              </a:lnSpc>
              <a:buNone/>
            </a:pPr>
            <a:r>
              <a:rPr lang="en-US" sz="2300" dirty="0">
                <a:solidFill>
                  <a:srgbClr val="1FA9EA"/>
                </a:solidFill>
                <a:latin typeface="Arial Rounded MT Bold" pitchFamily="34" charset="0"/>
                <a:ea typeface="Arial Rounded MT Bold" pitchFamily="34" charset="-122"/>
                <a:cs typeface="Arial Rounded MT Bold" pitchFamily="34" charset="-120"/>
              </a:rPr>
              <a:t>Steer</a:t>
            </a:r>
            <a:endParaRPr lang="en-US" sz="2300" dirty="0"/>
          </a:p>
        </p:txBody>
      </p:sp>
      <p:sp>
        <p:nvSpPr>
          <p:cNvPr id="26" name="text 4.25"/>
          <p:cNvSpPr txBox="1"/>
          <p:nvPr/>
        </p:nvSpPr>
        <p:spPr>
          <a:xfrm>
            <a:off x="3581310" y="3568611"/>
            <a:ext cx="805573"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Ice Race</a:t>
            </a:r>
            <a:endParaRPr lang="en-US" sz="1300" dirty="0"/>
          </a:p>
        </p:txBody>
      </p:sp>
      <p:sp>
        <p:nvSpPr>
          <p:cNvPr id="27" name="text 4.26"/>
          <p:cNvSpPr txBox="1"/>
          <p:nvPr/>
        </p:nvSpPr>
        <p:spPr>
          <a:xfrm>
            <a:off x="3581310" y="3860703"/>
            <a:ext cx="2285943" cy="622086"/>
          </a:xfrm>
          <a:prstGeom prst="rect">
            <a:avLst/>
          </a:prstGeom>
          <a:noFill/>
          <a:ln/>
        </p:spPr>
        <p:txBody>
          <a:bodyPr wrap="square" lIns="0" tIns="0" rIns="0" bIns="0" rtlCol="0" anchor="t"/>
          <a:lstStyle/>
          <a:p>
            <a:pPr algn="l" indent="0" marL="0">
              <a:lnSpc>
                <a:spcPts val="1630"/>
              </a:lnSpc>
              <a:buNone/>
            </a:pPr>
            <a:r>
              <a:rPr lang="en-US" sz="1150" dirty="0">
                <a:solidFill>
                  <a:srgbClr val="3B4A66"/>
                </a:solidFill>
                <a:latin typeface="Arial" pitchFamily="34" charset="0"/>
                <a:ea typeface="Arial" pitchFamily="34" charset="-122"/>
                <a:cs typeface="Arial" pitchFamily="34" charset="-120"/>
              </a:rPr>
              <a:t>Shoot forward while sliding and use the shot’s momentum to change direction.</a:t>
            </a:r>
            <a:endParaRPr lang="en-US" sz="1150" dirty="0"/>
          </a:p>
        </p:txBody>
      </p:sp>
      <p:pic>
        <p:nvPicPr>
          <p:cNvPr id="28" name="raster 4.27" descr="diagram">    </p:cNvPr>
          <p:cNvPicPr>
            <a:picLocks noChangeAspect="1"/>
          </p:cNvPicPr>
          <p:nvPr/>
        </p:nvPicPr>
        <p:blipFill>
          <a:blip r:embed="rId4"/>
          <a:stretch>
            <a:fillRect/>
          </a:stretch>
        </p:blipFill>
        <p:spPr>
          <a:xfrm>
            <a:off x="6362541" y="2552636"/>
            <a:ext cx="406390" cy="406390"/>
          </a:xfrm>
          <a:prstGeom prst="rect">
            <a:avLst/>
          </a:prstGeom>
        </p:spPr>
      </p:pic>
      <p:sp>
        <p:nvSpPr>
          <p:cNvPr id="29" name="shape 4.28"/>
          <p:cNvSpPr/>
          <p:nvPr/>
        </p:nvSpPr>
        <p:spPr>
          <a:xfrm>
            <a:off x="7784905" y="2616135"/>
            <a:ext cx="571486" cy="203195"/>
          </a:xfrm>
          <a:prstGeom prst="roundRect">
            <a:avLst>
              <a:gd name="adj" fmla="val 50000"/>
            </a:avLst>
          </a:prstGeom>
          <a:solidFill>
            <a:srgbClr val="E6F6E1"/>
          </a:solidFill>
          <a:ln/>
        </p:spPr>
      </p:sp>
      <p:sp>
        <p:nvSpPr>
          <p:cNvPr id="30" name="text 4.29"/>
          <p:cNvSpPr txBox="1"/>
          <p:nvPr/>
        </p:nvSpPr>
        <p:spPr>
          <a:xfrm>
            <a:off x="7784905" y="2616135"/>
            <a:ext cx="571486"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43B832"/>
                </a:solidFill>
                <a:latin typeface="Arial" pitchFamily="34" charset="0"/>
                <a:ea typeface="Arial" pitchFamily="34" charset="-122"/>
                <a:cs typeface="Arial" pitchFamily="34" charset="-120"/>
              </a:rPr>
              <a:t>BACKLOG</a:t>
            </a:r>
            <a:endParaRPr lang="en-US" sz="650" dirty="0"/>
          </a:p>
        </p:txBody>
      </p:sp>
      <p:sp>
        <p:nvSpPr>
          <p:cNvPr id="31" name="text 4.30"/>
          <p:cNvSpPr txBox="1"/>
          <p:nvPr/>
        </p:nvSpPr>
        <p:spPr>
          <a:xfrm>
            <a:off x="6362541" y="3174921"/>
            <a:ext cx="1171877" cy="292093"/>
          </a:xfrm>
          <a:prstGeom prst="rect">
            <a:avLst/>
          </a:prstGeom>
          <a:noFill/>
          <a:ln/>
        </p:spPr>
        <p:txBody>
          <a:bodyPr wrap="square" lIns="0" tIns="0" rIns="0" bIns="0" rtlCol="0" anchor="t"/>
          <a:lstStyle/>
          <a:p>
            <a:pPr algn="l" indent="0" marL="0">
              <a:lnSpc>
                <a:spcPts val="2300"/>
              </a:lnSpc>
              <a:buNone/>
            </a:pPr>
            <a:r>
              <a:rPr lang="en-US" sz="2300" dirty="0">
                <a:solidFill>
                  <a:srgbClr val="43B832"/>
                </a:solidFill>
                <a:latin typeface="Arial Rounded MT Bold" pitchFamily="34" charset="0"/>
                <a:ea typeface="Arial Rounded MT Bold" pitchFamily="34" charset="-122"/>
                <a:cs typeface="Arial Rounded MT Bold" pitchFamily="34" charset="-120"/>
              </a:rPr>
              <a:t>Launch</a:t>
            </a:r>
            <a:endParaRPr lang="en-US" sz="2300" dirty="0"/>
          </a:p>
        </p:txBody>
      </p:sp>
      <p:sp>
        <p:nvSpPr>
          <p:cNvPr id="32" name="text 4.31"/>
          <p:cNvSpPr txBox="1"/>
          <p:nvPr/>
        </p:nvSpPr>
        <p:spPr>
          <a:xfrm>
            <a:off x="6362541" y="3568611"/>
            <a:ext cx="1209423"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Parkour Blast</a:t>
            </a:r>
            <a:endParaRPr lang="en-US" sz="1300" dirty="0"/>
          </a:p>
        </p:txBody>
      </p:sp>
      <p:sp>
        <p:nvSpPr>
          <p:cNvPr id="33" name="text 4.32"/>
          <p:cNvSpPr txBox="1"/>
          <p:nvPr/>
        </p:nvSpPr>
        <p:spPr>
          <a:xfrm>
            <a:off x="6362541" y="3860703"/>
            <a:ext cx="2285943" cy="414724"/>
          </a:xfrm>
          <a:prstGeom prst="rect">
            <a:avLst/>
          </a:prstGeom>
          <a:noFill/>
          <a:ln/>
        </p:spPr>
        <p:txBody>
          <a:bodyPr wrap="square" lIns="0" tIns="0" rIns="0" bIns="0" rtlCol="0" anchor="t"/>
          <a:lstStyle/>
          <a:p>
            <a:pPr algn="l" indent="0" marL="0">
              <a:lnSpc>
                <a:spcPts val="1630"/>
              </a:lnSpc>
              <a:buNone/>
            </a:pPr>
            <a:r>
              <a:rPr lang="en-US" sz="1150" dirty="0">
                <a:solidFill>
                  <a:srgbClr val="3B4A66"/>
                </a:solidFill>
                <a:latin typeface="Arial" pitchFamily="34" charset="0"/>
                <a:ea typeface="Arial" pitchFamily="34" charset="-122"/>
                <a:cs typeface="Arial" pitchFamily="34" charset="-120"/>
              </a:rPr>
              <a:t>The shot explodes and lifts you. Shoot the ground to jump.</a:t>
            </a:r>
            <a:endParaRPr lang="en-US" sz="1150" dirty="0"/>
          </a:p>
        </p:txBody>
      </p:sp>
      <p:pic>
        <p:nvPicPr>
          <p:cNvPr id="34" name="raster 4.33" descr="diagram">    </p:cNvPr>
          <p:cNvPicPr>
            <a:picLocks noChangeAspect="1"/>
          </p:cNvPicPr>
          <p:nvPr/>
        </p:nvPicPr>
        <p:blipFill>
          <a:blip r:embed="rId5"/>
          <a:stretch>
            <a:fillRect/>
          </a:stretch>
        </p:blipFill>
        <p:spPr>
          <a:xfrm>
            <a:off x="9143771" y="2552636"/>
            <a:ext cx="406390" cy="406390"/>
          </a:xfrm>
          <a:prstGeom prst="rect">
            <a:avLst/>
          </a:prstGeom>
        </p:spPr>
      </p:pic>
      <p:sp>
        <p:nvSpPr>
          <p:cNvPr id="35" name="shape 4.34"/>
          <p:cNvSpPr/>
          <p:nvPr/>
        </p:nvSpPr>
        <p:spPr>
          <a:xfrm>
            <a:off x="10566136" y="2616135"/>
            <a:ext cx="571486" cy="203195"/>
          </a:xfrm>
          <a:prstGeom prst="roundRect">
            <a:avLst>
              <a:gd name="adj" fmla="val 50000"/>
            </a:avLst>
          </a:prstGeom>
          <a:solidFill>
            <a:srgbClr val="F0E8FF"/>
          </a:solidFill>
          <a:ln/>
        </p:spPr>
      </p:sp>
      <p:sp>
        <p:nvSpPr>
          <p:cNvPr id="36" name="text 4.35"/>
          <p:cNvSpPr txBox="1"/>
          <p:nvPr/>
        </p:nvSpPr>
        <p:spPr>
          <a:xfrm>
            <a:off x="10566136" y="2616135"/>
            <a:ext cx="571486"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8F55F5"/>
                </a:solidFill>
                <a:latin typeface="Arial" pitchFamily="34" charset="0"/>
                <a:ea typeface="Arial" pitchFamily="34" charset="-122"/>
                <a:cs typeface="Arial" pitchFamily="34" charset="-120"/>
              </a:rPr>
              <a:t>BACKLOG</a:t>
            </a:r>
            <a:endParaRPr lang="en-US" sz="650" dirty="0"/>
          </a:p>
        </p:txBody>
      </p:sp>
      <p:sp>
        <p:nvSpPr>
          <p:cNvPr id="37" name="text 4.36"/>
          <p:cNvSpPr txBox="1"/>
          <p:nvPr/>
        </p:nvSpPr>
        <p:spPr>
          <a:xfrm>
            <a:off x="9143771" y="3174921"/>
            <a:ext cx="1300394" cy="292093"/>
          </a:xfrm>
          <a:prstGeom prst="rect">
            <a:avLst/>
          </a:prstGeom>
          <a:noFill/>
          <a:ln/>
        </p:spPr>
        <p:txBody>
          <a:bodyPr wrap="square" lIns="0" tIns="0" rIns="0" bIns="0" rtlCol="0" anchor="t"/>
          <a:lstStyle/>
          <a:p>
            <a:pPr algn="l" indent="0" marL="0">
              <a:lnSpc>
                <a:spcPts val="2300"/>
              </a:lnSpc>
              <a:buNone/>
            </a:pPr>
            <a:r>
              <a:rPr lang="en-US" sz="2300" dirty="0">
                <a:solidFill>
                  <a:srgbClr val="8F55F5"/>
                </a:solidFill>
                <a:latin typeface="Arial Rounded MT Bold" pitchFamily="34" charset="0"/>
                <a:ea typeface="Arial Rounded MT Bold" pitchFamily="34" charset="-122"/>
                <a:cs typeface="Arial Rounded MT Bold" pitchFamily="34" charset="-120"/>
              </a:rPr>
              <a:t>Damage</a:t>
            </a:r>
            <a:endParaRPr lang="en-US" sz="2300" dirty="0"/>
          </a:p>
        </p:txBody>
      </p:sp>
      <p:sp>
        <p:nvSpPr>
          <p:cNvPr id="38" name="text 4.37"/>
          <p:cNvSpPr txBox="1"/>
          <p:nvPr/>
        </p:nvSpPr>
        <p:spPr>
          <a:xfrm>
            <a:off x="9143771" y="3568611"/>
            <a:ext cx="646872"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Versus</a:t>
            </a:r>
            <a:endParaRPr lang="en-US" sz="1300" dirty="0"/>
          </a:p>
        </p:txBody>
      </p:sp>
      <p:sp>
        <p:nvSpPr>
          <p:cNvPr id="39" name="text 4.38"/>
          <p:cNvSpPr txBox="1"/>
          <p:nvPr/>
        </p:nvSpPr>
        <p:spPr>
          <a:xfrm>
            <a:off x="9143771" y="3860703"/>
            <a:ext cx="2285943" cy="207386"/>
          </a:xfrm>
          <a:prstGeom prst="rect">
            <a:avLst/>
          </a:prstGeom>
          <a:noFill/>
          <a:ln/>
        </p:spPr>
        <p:txBody>
          <a:bodyPr wrap="square" lIns="0" tIns="0" rIns="0" bIns="0" rtlCol="0" anchor="t"/>
          <a:lstStyle/>
          <a:p>
            <a:pPr algn="l" indent="0" marL="0">
              <a:lnSpc>
                <a:spcPts val="1630"/>
              </a:lnSpc>
              <a:buNone/>
            </a:pPr>
            <a:r>
              <a:rPr lang="en-US" sz="1150" dirty="0">
                <a:solidFill>
                  <a:srgbClr val="3B4A66"/>
                </a:solidFill>
                <a:latin typeface="Arial" pitchFamily="34" charset="0"/>
                <a:ea typeface="Arial" pitchFamily="34" charset="-122"/>
                <a:cs typeface="Arial" pitchFamily="34" charset="-120"/>
              </a:rPr>
              <a:t>A hit lowers the target’s health.</a:t>
            </a:r>
            <a:endParaRPr lang="en-US" sz="1150" dirty="0"/>
          </a:p>
        </p:txBody>
      </p:sp>
      <p:sp>
        <p:nvSpPr>
          <p:cNvPr id="40" name="text 4.39"/>
          <p:cNvSpPr txBox="1"/>
          <p:nvPr/>
        </p:nvSpPr>
        <p:spPr>
          <a:xfrm>
            <a:off x="609585" y="5270368"/>
            <a:ext cx="11010625" cy="270503"/>
          </a:xfrm>
          <a:prstGeom prst="rect">
            <a:avLst/>
          </a:prstGeom>
          <a:noFill/>
          <a:ln/>
        </p:spPr>
        <p:txBody>
          <a:bodyPr wrap="square" lIns="0" tIns="0" rIns="0" bIns="0" rtlCol="0" anchor="t"/>
          <a:lstStyle/>
          <a:p>
            <a:pPr algn="l" indent="0" marL="0">
              <a:lnSpc>
                <a:spcPts val="2130"/>
              </a:lnSpc>
              <a:buNone/>
            </a:pPr>
            <a:r>
              <a:rPr lang="en-US" sz="1500" dirty="0">
                <a:solidFill>
                  <a:srgbClr val="16233F"/>
                </a:solidFill>
                <a:latin typeface="Arial" pitchFamily="34" charset="0"/>
                <a:ea typeface="Arial" pitchFamily="34" charset="-122"/>
                <a:cs typeface="Arial" pitchFamily="34" charset="-120"/>
              </a:rPr>
              <a:t>The shot is shared code. </a:t>
            </a:r>
            <a:pPr algn="l" indent="0" marL="0">
              <a:lnSpc>
                <a:spcPts val="2130"/>
              </a:lnSpc>
              <a:buNone/>
            </a:pPr>
            <a:r>
              <a:rPr lang="en-US" sz="1500" b="1" dirty="0">
                <a:solidFill>
                  <a:srgbClr val="1FA9EA"/>
                </a:solidFill>
                <a:latin typeface="Arial" pitchFamily="34" charset="0"/>
                <a:ea typeface="Arial" pitchFamily="34" charset="-122"/>
                <a:cs typeface="Arial" pitchFamily="34" charset="-120"/>
              </a:rPr>
              <a:t>Each mini-game decides what a hit does.</a:t>
            </a:r>
            <a:endParaRPr lang="en-US" sz="1500" dirty="0"/>
          </a:p>
        </p:txBody>
      </p:sp>
      <p:sp>
        <p:nvSpPr>
          <p:cNvPr id="41" name="text 4.40"/>
          <p:cNvSpPr txBox="1"/>
          <p:nvPr/>
        </p:nvSpPr>
        <p:spPr>
          <a:xfrm>
            <a:off x="609585" y="6528927"/>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From our design doc. Steering by shot momentum is a mechanic idea; values come from playtests.</a:t>
            </a:r>
            <a:endParaRPr lang="en-US" sz="850" dirty="0"/>
          </a:p>
        </p:txBody>
      </p:sp>
      <p:sp>
        <p:nvSpPr>
          <p:cNvPr id="42" name="shape 4.41"/>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3" name="shape 4.42"/>
          <p:cNvSpPr/>
          <p:nvPr/>
        </p:nvSpPr>
        <p:spPr>
          <a:xfrm>
            <a:off x="711182" y="355591"/>
            <a:ext cx="114297" cy="114297"/>
          </a:xfrm>
          <a:prstGeom prst="roundRect">
            <a:avLst>
              <a:gd name="adj" fmla="val 33333"/>
            </a:avLst>
          </a:prstGeom>
          <a:solidFill>
            <a:srgbClr val="FF6B1F"/>
          </a:solidFill>
          <a:ln/>
        </p:spPr>
      </p:sp>
      <p:sp>
        <p:nvSpPr>
          <p:cNvPr id="44" name="shape 4.43"/>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5" name="shape 4.44"/>
          <p:cNvSpPr/>
          <p:nvPr/>
        </p:nvSpPr>
        <p:spPr>
          <a:xfrm>
            <a:off x="10058149" y="368291"/>
            <a:ext cx="101597" cy="101597"/>
          </a:xfrm>
          <a:prstGeom prst="roundRect">
            <a:avLst>
              <a:gd name="adj" fmla="val 31250"/>
            </a:avLst>
          </a:prstGeom>
          <a:solidFill>
            <a:srgbClr val="16233F"/>
          </a:solidFill>
          <a:ln/>
        </p:spPr>
      </p:sp>
      <p:sp>
        <p:nvSpPr>
          <p:cNvPr id="46" name="shape 4.45"/>
          <p:cNvSpPr/>
          <p:nvPr/>
        </p:nvSpPr>
        <p:spPr>
          <a:xfrm>
            <a:off x="10223244" y="368291"/>
            <a:ext cx="101597" cy="101597"/>
          </a:xfrm>
          <a:prstGeom prst="roundRect">
            <a:avLst>
              <a:gd name="adj" fmla="val 31250"/>
            </a:avLst>
          </a:prstGeom>
          <a:solidFill>
            <a:srgbClr val="FF6B1F"/>
          </a:solidFill>
          <a:ln/>
        </p:spPr>
      </p:sp>
      <p:sp>
        <p:nvSpPr>
          <p:cNvPr id="47" name="shape 4.46"/>
          <p:cNvSpPr/>
          <p:nvPr/>
        </p:nvSpPr>
        <p:spPr>
          <a:xfrm>
            <a:off x="10388340" y="368291"/>
            <a:ext cx="101597" cy="101597"/>
          </a:xfrm>
          <a:prstGeom prst="roundRect">
            <a:avLst>
              <a:gd name="adj" fmla="val 31250"/>
            </a:avLst>
          </a:prstGeom>
          <a:solidFill>
            <a:srgbClr val="C7D4E8"/>
          </a:solidFill>
          <a:ln/>
        </p:spPr>
      </p:sp>
      <p:sp>
        <p:nvSpPr>
          <p:cNvPr id="48" name="shape 4.47"/>
          <p:cNvSpPr/>
          <p:nvPr/>
        </p:nvSpPr>
        <p:spPr>
          <a:xfrm>
            <a:off x="10553436" y="368291"/>
            <a:ext cx="101597" cy="101597"/>
          </a:xfrm>
          <a:prstGeom prst="roundRect">
            <a:avLst>
              <a:gd name="adj" fmla="val 31250"/>
            </a:avLst>
          </a:prstGeom>
          <a:solidFill>
            <a:srgbClr val="C7D4E8"/>
          </a:solidFill>
          <a:ln/>
        </p:spPr>
      </p:sp>
      <p:sp>
        <p:nvSpPr>
          <p:cNvPr id="49" name="shape 4.48"/>
          <p:cNvSpPr/>
          <p:nvPr/>
        </p:nvSpPr>
        <p:spPr>
          <a:xfrm>
            <a:off x="10718532" y="368291"/>
            <a:ext cx="101597" cy="101597"/>
          </a:xfrm>
          <a:prstGeom prst="roundRect">
            <a:avLst>
              <a:gd name="adj" fmla="val 31250"/>
            </a:avLst>
          </a:prstGeom>
          <a:solidFill>
            <a:srgbClr val="C7D4E8"/>
          </a:solidFill>
          <a:ln/>
        </p:spPr>
      </p:sp>
      <p:sp>
        <p:nvSpPr>
          <p:cNvPr id="50" name="shape 4.49"/>
          <p:cNvSpPr/>
          <p:nvPr/>
        </p:nvSpPr>
        <p:spPr>
          <a:xfrm>
            <a:off x="10883628" y="368291"/>
            <a:ext cx="101597" cy="101597"/>
          </a:xfrm>
          <a:prstGeom prst="roundRect">
            <a:avLst>
              <a:gd name="adj" fmla="val 31250"/>
            </a:avLst>
          </a:prstGeom>
          <a:solidFill>
            <a:srgbClr val="C7D4E8"/>
          </a:solidFill>
          <a:ln/>
        </p:spPr>
      </p:sp>
      <p:sp>
        <p:nvSpPr>
          <p:cNvPr id="51" name="text 4.50"/>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52" name="text 4.51"/>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5.1" descr="ko_hit_full.png">    </p:cNvPr>
          <p:cNvPicPr>
            <a:picLocks noChangeAspect="1"/>
          </p:cNvPicPr>
          <p:nvPr/>
        </p:nvPicPr>
        <p:blipFill>
          <a:blip r:embed="rId2"/>
          <a:stretch>
            <a:fillRect/>
          </a:stretch>
        </p:blipFill>
        <p:spPr>
          <a:xfrm>
            <a:off x="0" y="0"/>
            <a:ext cx="7937302" cy="6857829"/>
          </a:xfrm>
          <a:prstGeom prst="rect">
            <a:avLst/>
          </a:prstGeom>
        </p:spPr>
      </p:pic>
      <p:pic>
        <p:nvPicPr>
          <p:cNvPr id="3" name="raster 5.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5.3"/>
          <p:cNvSpPr/>
          <p:nvPr/>
        </p:nvSpPr>
        <p:spPr>
          <a:xfrm>
            <a:off x="7492813" y="749281"/>
            <a:ext cx="4089298" cy="5600560"/>
          </a:xfrm>
          <a:prstGeom prst="roundRect">
            <a:avLst>
              <a:gd name="adj" fmla="val 4348"/>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5" name="shape 5.4"/>
          <p:cNvSpPr/>
          <p:nvPr/>
        </p:nvSpPr>
        <p:spPr>
          <a:xfrm>
            <a:off x="7772206" y="2730432"/>
            <a:ext cx="3530512" cy="12700"/>
          </a:xfrm>
          <a:prstGeom prst="roundRect">
            <a:avLst>
              <a:gd name="adj" fmla="val 49999"/>
            </a:avLst>
          </a:prstGeom>
          <a:solidFill>
            <a:srgbClr val="DCE6F3"/>
          </a:solidFill>
          <a:ln/>
        </p:spPr>
      </p:sp>
      <p:sp>
        <p:nvSpPr>
          <p:cNvPr id="6" name="shape 5.5"/>
          <p:cNvSpPr/>
          <p:nvPr/>
        </p:nvSpPr>
        <p:spPr>
          <a:xfrm>
            <a:off x="7772206" y="3390815"/>
            <a:ext cx="3530512" cy="12700"/>
          </a:xfrm>
          <a:prstGeom prst="roundRect">
            <a:avLst>
              <a:gd name="adj" fmla="val 49999"/>
            </a:avLst>
          </a:prstGeom>
          <a:solidFill>
            <a:srgbClr val="DCE6F3"/>
          </a:solidFill>
          <a:ln/>
        </p:spPr>
      </p:sp>
      <p:sp>
        <p:nvSpPr>
          <p:cNvPr id="7" name="shape 5.6"/>
          <p:cNvSpPr/>
          <p:nvPr/>
        </p:nvSpPr>
        <p:spPr>
          <a:xfrm>
            <a:off x="7772206" y="4051199"/>
            <a:ext cx="3530512" cy="12700"/>
          </a:xfrm>
          <a:prstGeom prst="roundRect">
            <a:avLst>
              <a:gd name="adj" fmla="val 49999"/>
            </a:avLst>
          </a:prstGeom>
          <a:solidFill>
            <a:srgbClr val="DCE6F3"/>
          </a:solidFill>
          <a:ln/>
        </p:spPr>
      </p:sp>
      <p:sp>
        <p:nvSpPr>
          <p:cNvPr id="8" name="shape 5.7"/>
          <p:cNvSpPr/>
          <p:nvPr/>
        </p:nvSpPr>
        <p:spPr>
          <a:xfrm>
            <a:off x="7772206" y="4711582"/>
            <a:ext cx="3530512" cy="12700"/>
          </a:xfrm>
          <a:prstGeom prst="roundRect">
            <a:avLst>
              <a:gd name="adj" fmla="val 49999"/>
            </a:avLst>
          </a:prstGeom>
          <a:solidFill>
            <a:srgbClr val="DCE6F3"/>
          </a:solidFill>
          <a:ln/>
        </p:spPr>
      </p:sp>
      <p:sp>
        <p:nvSpPr>
          <p:cNvPr id="9" name="shape 5.8"/>
          <p:cNvSpPr/>
          <p:nvPr/>
        </p:nvSpPr>
        <p:spPr>
          <a:xfrm>
            <a:off x="7772206" y="5371966"/>
            <a:ext cx="3530512" cy="12700"/>
          </a:xfrm>
          <a:prstGeom prst="roundRect">
            <a:avLst>
              <a:gd name="adj" fmla="val 49999"/>
            </a:avLst>
          </a:prstGeom>
          <a:solidFill>
            <a:srgbClr val="DCE6F3"/>
          </a:solidFill>
          <a:ln/>
        </p:spPr>
      </p:sp>
      <p:sp>
        <p:nvSpPr>
          <p:cNvPr id="10" name="shape 5.9"/>
          <p:cNvSpPr/>
          <p:nvPr/>
        </p:nvSpPr>
        <p:spPr>
          <a:xfrm>
            <a:off x="7772206" y="1015975"/>
            <a:ext cx="1079473" cy="228594"/>
          </a:xfrm>
          <a:prstGeom prst="roundRect">
            <a:avLst>
              <a:gd name="adj" fmla="val 50000"/>
            </a:avLst>
          </a:prstGeom>
          <a:solidFill>
            <a:srgbClr val="FF6B1F"/>
          </a:solidFill>
          <a:ln/>
        </p:spPr>
      </p:sp>
      <p:sp>
        <p:nvSpPr>
          <p:cNvPr id="11" name="text 5.10"/>
          <p:cNvSpPr txBox="1"/>
          <p:nvPr/>
        </p:nvSpPr>
        <p:spPr>
          <a:xfrm>
            <a:off x="7772206" y="1015975"/>
            <a:ext cx="1079473"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MINI-GAME 01</a:t>
            </a:r>
            <a:endParaRPr lang="en-US" sz="700" dirty="0"/>
          </a:p>
        </p:txBody>
      </p:sp>
      <p:sp>
        <p:nvSpPr>
          <p:cNvPr id="12" name="text 5.11"/>
          <p:cNvSpPr txBox="1"/>
          <p:nvPr/>
        </p:nvSpPr>
        <p:spPr>
          <a:xfrm>
            <a:off x="7759506" y="1371566"/>
            <a:ext cx="2665175" cy="1088006"/>
          </a:xfrm>
          <a:prstGeom prst="rect">
            <a:avLst/>
          </a:prstGeom>
          <a:noFill/>
          <a:ln/>
        </p:spPr>
        <p:txBody>
          <a:bodyPr wrap="square" lIns="0" tIns="0" rIns="0" bIns="0" rtlCol="0" anchor="t"/>
          <a:lstStyle/>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Mass</a:t>
            </a:r>
            <a:endParaRPr lang="en-US" sz="4200" dirty="0"/>
          </a:p>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Knockout</a:t>
            </a:r>
            <a:endParaRPr lang="en-US" sz="4200" dirty="0"/>
          </a:p>
        </p:txBody>
      </p:sp>
      <p:sp>
        <p:nvSpPr>
          <p:cNvPr id="13" name="text 5.12"/>
          <p:cNvSpPr txBox="1"/>
          <p:nvPr/>
        </p:nvSpPr>
        <p:spPr>
          <a:xfrm>
            <a:off x="7772206" y="2844729"/>
            <a:ext cx="40361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GOAL</a:t>
            </a:r>
            <a:endParaRPr lang="en-US" sz="750" dirty="0"/>
          </a:p>
        </p:txBody>
      </p:sp>
      <p:sp>
        <p:nvSpPr>
          <p:cNvPr id="14" name="text 5.13"/>
          <p:cNvSpPr txBox="1"/>
          <p:nvPr/>
        </p:nvSpPr>
        <p:spPr>
          <a:xfrm>
            <a:off x="7772206" y="300982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Knock the other cubes off the flat platform.</a:t>
            </a:r>
            <a:endParaRPr lang="en-US" sz="1100" dirty="0"/>
          </a:p>
        </p:txBody>
      </p:sp>
      <p:sp>
        <p:nvSpPr>
          <p:cNvPr id="15" name="text 5.14"/>
          <p:cNvSpPr txBox="1"/>
          <p:nvPr/>
        </p:nvSpPr>
        <p:spPr>
          <a:xfrm>
            <a:off x="7772206" y="3505112"/>
            <a:ext cx="69893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SHOOTING</a:t>
            </a:r>
            <a:endParaRPr lang="en-US" sz="750" dirty="0"/>
          </a:p>
        </p:txBody>
      </p:sp>
      <p:sp>
        <p:nvSpPr>
          <p:cNvPr id="16" name="text 5.15"/>
          <p:cNvSpPr txBox="1"/>
          <p:nvPr/>
        </p:nvSpPr>
        <p:spPr>
          <a:xfrm>
            <a:off x="7772206" y="3670208"/>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Free, with a fire-rate limit. Shots are real projectiles; the shooter is not affected.</a:t>
            </a:r>
            <a:endParaRPr lang="en-US" sz="1100" dirty="0"/>
          </a:p>
        </p:txBody>
      </p:sp>
      <p:sp>
        <p:nvSpPr>
          <p:cNvPr id="17" name="text 5.16"/>
          <p:cNvSpPr txBox="1"/>
          <p:nvPr/>
        </p:nvSpPr>
        <p:spPr>
          <a:xfrm>
            <a:off x="7772206" y="4165496"/>
            <a:ext cx="26258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HIT</a:t>
            </a:r>
            <a:endParaRPr lang="en-US" sz="750" dirty="0"/>
          </a:p>
        </p:txBody>
      </p:sp>
      <p:sp>
        <p:nvSpPr>
          <p:cNvPr id="18" name="text 5.17"/>
          <p:cNvSpPr txBox="1"/>
          <p:nvPr/>
        </p:nvSpPr>
        <p:spPr>
          <a:xfrm>
            <a:off x="7772206" y="4330592"/>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The target is pushed back from the shot’s direction and loses mass, not size.</a:t>
            </a:r>
            <a:endParaRPr lang="en-US" sz="1100" dirty="0"/>
          </a:p>
        </p:txBody>
      </p:sp>
      <p:sp>
        <p:nvSpPr>
          <p:cNvPr id="19" name="text 5.18"/>
          <p:cNvSpPr txBox="1"/>
          <p:nvPr/>
        </p:nvSpPr>
        <p:spPr>
          <a:xfrm>
            <a:off x="7772206" y="4825879"/>
            <a:ext cx="58019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FALLING</a:t>
            </a:r>
            <a:endParaRPr lang="en-US" sz="750" dirty="0"/>
          </a:p>
        </p:txBody>
      </p:sp>
      <p:sp>
        <p:nvSpPr>
          <p:cNvPr id="20" name="text 5.19"/>
          <p:cNvSpPr txBox="1"/>
          <p:nvPr/>
        </p:nvSpPr>
        <p:spPr>
          <a:xfrm>
            <a:off x="7772206" y="499097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A cube that falls off dies.</a:t>
            </a:r>
            <a:endParaRPr lang="en-US" sz="1100" dirty="0"/>
          </a:p>
        </p:txBody>
      </p:sp>
      <p:sp>
        <p:nvSpPr>
          <p:cNvPr id="21" name="text 5.20"/>
          <p:cNvSpPr txBox="1"/>
          <p:nvPr/>
        </p:nvSpPr>
        <p:spPr>
          <a:xfrm>
            <a:off x="7772206" y="5486263"/>
            <a:ext cx="48312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ARENA</a:t>
            </a:r>
            <a:endParaRPr lang="en-US" sz="750" dirty="0"/>
          </a:p>
        </p:txBody>
      </p:sp>
      <p:sp>
        <p:nvSpPr>
          <p:cNvPr id="22" name="text 5.21"/>
          <p:cNvSpPr txBox="1"/>
          <p:nvPr/>
        </p:nvSpPr>
        <p:spPr>
          <a:xfrm>
            <a:off x="7772206" y="5651359"/>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One flat platform. Open edges, no walls.</a:t>
            </a:r>
            <a:endParaRPr lang="en-US" sz="1100" dirty="0"/>
          </a:p>
        </p:txBody>
      </p:sp>
      <p:sp>
        <p:nvSpPr>
          <p:cNvPr id="23" name="shape 5.22"/>
          <p:cNvSpPr/>
          <p:nvPr/>
        </p:nvSpPr>
        <p:spPr>
          <a:xfrm>
            <a:off x="609585" y="6095848"/>
            <a:ext cx="5587860" cy="253994"/>
          </a:xfrm>
          <a:prstGeom prst="roundRect">
            <a:avLst>
              <a:gd name="adj" fmla="val 50000"/>
            </a:avLst>
          </a:prstGeom>
          <a:solidFill>
            <a:srgbClr val="FFFFFF">
              <a:alpha val="92000"/>
            </a:srgbClr>
          </a:solidFill>
          <a:ln/>
        </p:spPr>
      </p:sp>
      <p:sp>
        <p:nvSpPr>
          <p:cNvPr id="24" name="text 5.23"/>
          <p:cNvSpPr txBox="1"/>
          <p:nvPr/>
        </p:nvSpPr>
        <p:spPr>
          <a:xfrm>
            <a:off x="609585" y="6095848"/>
            <a:ext cx="5587860" cy="253994"/>
          </a:xfrm>
          <a:prstGeom prst="rect">
            <a:avLst/>
          </a:prstGeom>
          <a:noFill/>
          <a:ln/>
        </p:spPr>
        <p:txBody>
          <a:bodyPr wrap="square" lIns="0" tIns="0" rIns="0" bIns="0" rtlCol="0" anchor="ctr"/>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FIG 2 · Orange fires; Cyan is hit near the edge. Concept render, AI-generated.</a:t>
            </a:r>
            <a:endParaRPr lang="en-US" sz="750" dirty="0"/>
          </a:p>
        </p:txBody>
      </p:sp>
      <p:sp>
        <p:nvSpPr>
          <p:cNvPr id="25" name="shape 5.24"/>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5.25"/>
          <p:cNvSpPr/>
          <p:nvPr/>
        </p:nvSpPr>
        <p:spPr>
          <a:xfrm>
            <a:off x="711182" y="355591"/>
            <a:ext cx="114297" cy="114297"/>
          </a:xfrm>
          <a:prstGeom prst="roundRect">
            <a:avLst>
              <a:gd name="adj" fmla="val 33333"/>
            </a:avLst>
          </a:prstGeom>
          <a:solidFill>
            <a:srgbClr val="FF6B1F"/>
          </a:solidFill>
          <a:ln/>
        </p:spPr>
      </p:sp>
      <p:sp>
        <p:nvSpPr>
          <p:cNvPr id="27" name="shape 5.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5.27"/>
          <p:cNvSpPr/>
          <p:nvPr/>
        </p:nvSpPr>
        <p:spPr>
          <a:xfrm>
            <a:off x="10058149" y="368291"/>
            <a:ext cx="101597" cy="101597"/>
          </a:xfrm>
          <a:prstGeom prst="roundRect">
            <a:avLst>
              <a:gd name="adj" fmla="val 31250"/>
            </a:avLst>
          </a:prstGeom>
          <a:solidFill>
            <a:srgbClr val="16233F"/>
          </a:solidFill>
          <a:ln/>
        </p:spPr>
      </p:sp>
      <p:sp>
        <p:nvSpPr>
          <p:cNvPr id="29" name="shape 5.28"/>
          <p:cNvSpPr/>
          <p:nvPr/>
        </p:nvSpPr>
        <p:spPr>
          <a:xfrm>
            <a:off x="10223244" y="368291"/>
            <a:ext cx="101597" cy="101597"/>
          </a:xfrm>
          <a:prstGeom prst="roundRect">
            <a:avLst>
              <a:gd name="adj" fmla="val 31250"/>
            </a:avLst>
          </a:prstGeom>
          <a:solidFill>
            <a:srgbClr val="FF6B1F"/>
          </a:solidFill>
          <a:ln/>
        </p:spPr>
      </p:sp>
      <p:sp>
        <p:nvSpPr>
          <p:cNvPr id="30" name="shape 5.29"/>
          <p:cNvSpPr/>
          <p:nvPr/>
        </p:nvSpPr>
        <p:spPr>
          <a:xfrm>
            <a:off x="10388340" y="368291"/>
            <a:ext cx="101597" cy="101597"/>
          </a:xfrm>
          <a:prstGeom prst="roundRect">
            <a:avLst>
              <a:gd name="adj" fmla="val 31250"/>
            </a:avLst>
          </a:prstGeom>
          <a:solidFill>
            <a:srgbClr val="C7D4E8"/>
          </a:solidFill>
          <a:ln/>
        </p:spPr>
      </p:sp>
      <p:sp>
        <p:nvSpPr>
          <p:cNvPr id="31" name="shape 5.30"/>
          <p:cNvSpPr/>
          <p:nvPr/>
        </p:nvSpPr>
        <p:spPr>
          <a:xfrm>
            <a:off x="10553436" y="368291"/>
            <a:ext cx="101597" cy="101597"/>
          </a:xfrm>
          <a:prstGeom prst="roundRect">
            <a:avLst>
              <a:gd name="adj" fmla="val 31250"/>
            </a:avLst>
          </a:prstGeom>
          <a:solidFill>
            <a:srgbClr val="C7D4E8"/>
          </a:solidFill>
          <a:ln/>
        </p:spPr>
      </p:sp>
      <p:sp>
        <p:nvSpPr>
          <p:cNvPr id="32" name="shape 5.31"/>
          <p:cNvSpPr/>
          <p:nvPr/>
        </p:nvSpPr>
        <p:spPr>
          <a:xfrm>
            <a:off x="10718532" y="368291"/>
            <a:ext cx="101597" cy="101597"/>
          </a:xfrm>
          <a:prstGeom prst="roundRect">
            <a:avLst>
              <a:gd name="adj" fmla="val 31250"/>
            </a:avLst>
          </a:prstGeom>
          <a:solidFill>
            <a:srgbClr val="C7D4E8"/>
          </a:solidFill>
          <a:ln/>
        </p:spPr>
      </p:sp>
      <p:sp>
        <p:nvSpPr>
          <p:cNvPr id="33" name="shape 5.32"/>
          <p:cNvSpPr/>
          <p:nvPr/>
        </p:nvSpPr>
        <p:spPr>
          <a:xfrm>
            <a:off x="10883628" y="368291"/>
            <a:ext cx="101597" cy="101597"/>
          </a:xfrm>
          <a:prstGeom prst="roundRect">
            <a:avLst>
              <a:gd name="adj" fmla="val 31250"/>
            </a:avLst>
          </a:prstGeom>
          <a:solidFill>
            <a:srgbClr val="C7D4E8"/>
          </a:solidFill>
          <a:ln/>
        </p:spPr>
      </p:sp>
      <p:sp>
        <p:nvSpPr>
          <p:cNvPr id="34" name="text 5.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35" name="text 5.34"/>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6.1" descr="race1.png">    </p:cNvPr>
          <p:cNvPicPr>
            <a:picLocks noChangeAspect="1"/>
          </p:cNvPicPr>
          <p:nvPr/>
        </p:nvPicPr>
        <p:blipFill>
          <a:blip r:embed="rId2"/>
          <a:stretch>
            <a:fillRect/>
          </a:stretch>
        </p:blipFill>
        <p:spPr>
          <a:xfrm>
            <a:off x="3555911" y="0"/>
            <a:ext cx="8635784" cy="6857829"/>
          </a:xfrm>
          <a:prstGeom prst="rect">
            <a:avLst/>
          </a:prstGeom>
        </p:spPr>
      </p:pic>
      <p:pic>
        <p:nvPicPr>
          <p:cNvPr id="3" name="raster 6.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6.3"/>
          <p:cNvSpPr/>
          <p:nvPr/>
        </p:nvSpPr>
        <p:spPr>
          <a:xfrm>
            <a:off x="609585" y="749281"/>
            <a:ext cx="4089298" cy="5600560"/>
          </a:xfrm>
          <a:prstGeom prst="roundRect">
            <a:avLst>
              <a:gd name="adj" fmla="val 4348"/>
            </a:avLst>
          </a:prstGeom>
          <a:solidFill>
            <a:srgbClr val="FFFFFF">
              <a:alpha val="95000"/>
            </a:srgbClr>
          </a:solidFill>
          <a:ln/>
          <a:effectLst>
            <a:outerShdw sx="100000" sy="100000" kx="0" ky="0" algn="bl" rotWithShape="0" blurRad="203200" dist="76200" dir="5400000">
              <a:srgbClr val="1E468C">
                <a:alpha val="16000"/>
              </a:srgbClr>
            </a:outerShdw>
          </a:effectLst>
        </p:spPr>
      </p:sp>
      <p:sp>
        <p:nvSpPr>
          <p:cNvPr id="5" name="shape 6.4"/>
          <p:cNvSpPr/>
          <p:nvPr/>
        </p:nvSpPr>
        <p:spPr>
          <a:xfrm>
            <a:off x="888978" y="2730432"/>
            <a:ext cx="3530512" cy="12700"/>
          </a:xfrm>
          <a:prstGeom prst="roundRect">
            <a:avLst>
              <a:gd name="adj" fmla="val 49999"/>
            </a:avLst>
          </a:prstGeom>
          <a:solidFill>
            <a:srgbClr val="DCE6F3"/>
          </a:solidFill>
          <a:ln/>
        </p:spPr>
      </p:sp>
      <p:sp>
        <p:nvSpPr>
          <p:cNvPr id="6" name="shape 6.5"/>
          <p:cNvSpPr/>
          <p:nvPr/>
        </p:nvSpPr>
        <p:spPr>
          <a:xfrm>
            <a:off x="888978" y="3390815"/>
            <a:ext cx="3530512" cy="12700"/>
          </a:xfrm>
          <a:prstGeom prst="roundRect">
            <a:avLst>
              <a:gd name="adj" fmla="val 49999"/>
            </a:avLst>
          </a:prstGeom>
          <a:solidFill>
            <a:srgbClr val="DCE6F3"/>
          </a:solidFill>
          <a:ln/>
        </p:spPr>
      </p:sp>
      <p:sp>
        <p:nvSpPr>
          <p:cNvPr id="7" name="shape 6.6"/>
          <p:cNvSpPr/>
          <p:nvPr/>
        </p:nvSpPr>
        <p:spPr>
          <a:xfrm>
            <a:off x="888978" y="4051199"/>
            <a:ext cx="3530512" cy="12700"/>
          </a:xfrm>
          <a:prstGeom prst="roundRect">
            <a:avLst>
              <a:gd name="adj" fmla="val 49999"/>
            </a:avLst>
          </a:prstGeom>
          <a:solidFill>
            <a:srgbClr val="DCE6F3"/>
          </a:solidFill>
          <a:ln/>
        </p:spPr>
      </p:sp>
      <p:sp>
        <p:nvSpPr>
          <p:cNvPr id="8" name="shape 6.7"/>
          <p:cNvSpPr/>
          <p:nvPr/>
        </p:nvSpPr>
        <p:spPr>
          <a:xfrm>
            <a:off x="888978" y="4711582"/>
            <a:ext cx="3530512" cy="12700"/>
          </a:xfrm>
          <a:prstGeom prst="roundRect">
            <a:avLst>
              <a:gd name="adj" fmla="val 49999"/>
            </a:avLst>
          </a:prstGeom>
          <a:solidFill>
            <a:srgbClr val="DCE6F3"/>
          </a:solidFill>
          <a:ln/>
        </p:spPr>
      </p:sp>
      <p:sp>
        <p:nvSpPr>
          <p:cNvPr id="9" name="shape 6.8"/>
          <p:cNvSpPr/>
          <p:nvPr/>
        </p:nvSpPr>
        <p:spPr>
          <a:xfrm>
            <a:off x="888978" y="5371966"/>
            <a:ext cx="3530512" cy="12700"/>
          </a:xfrm>
          <a:prstGeom prst="roundRect">
            <a:avLst>
              <a:gd name="adj" fmla="val 49999"/>
            </a:avLst>
          </a:prstGeom>
          <a:solidFill>
            <a:srgbClr val="DCE6F3"/>
          </a:solidFill>
          <a:ln/>
        </p:spPr>
      </p:sp>
      <p:sp>
        <p:nvSpPr>
          <p:cNvPr id="10" name="shape 6.9"/>
          <p:cNvSpPr/>
          <p:nvPr/>
        </p:nvSpPr>
        <p:spPr>
          <a:xfrm>
            <a:off x="888978" y="1015975"/>
            <a:ext cx="1079473" cy="228594"/>
          </a:xfrm>
          <a:prstGeom prst="roundRect">
            <a:avLst>
              <a:gd name="adj" fmla="val 50000"/>
            </a:avLst>
          </a:prstGeom>
          <a:solidFill>
            <a:srgbClr val="1FA9EA"/>
          </a:solidFill>
          <a:ln/>
        </p:spPr>
      </p:sp>
      <p:sp>
        <p:nvSpPr>
          <p:cNvPr id="11" name="text 6.10"/>
          <p:cNvSpPr txBox="1"/>
          <p:nvPr/>
        </p:nvSpPr>
        <p:spPr>
          <a:xfrm>
            <a:off x="888978" y="1015975"/>
            <a:ext cx="1079473"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MINI-GAME 02</a:t>
            </a:r>
            <a:endParaRPr lang="en-US" sz="700" dirty="0"/>
          </a:p>
        </p:txBody>
      </p:sp>
      <p:sp>
        <p:nvSpPr>
          <p:cNvPr id="12" name="text 6.11"/>
          <p:cNvSpPr txBox="1"/>
          <p:nvPr/>
        </p:nvSpPr>
        <p:spPr>
          <a:xfrm>
            <a:off x="876278" y="1371566"/>
            <a:ext cx="1470663" cy="1088006"/>
          </a:xfrm>
          <a:prstGeom prst="rect">
            <a:avLst/>
          </a:prstGeom>
          <a:noFill/>
          <a:ln/>
        </p:spPr>
        <p:txBody>
          <a:bodyPr wrap="square" lIns="0" tIns="0" rIns="0" bIns="0" rtlCol="0" anchor="t"/>
          <a:lstStyle/>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Ice</a:t>
            </a:r>
            <a:endParaRPr lang="en-US" sz="4200" dirty="0"/>
          </a:p>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Race</a:t>
            </a:r>
            <a:endParaRPr lang="en-US" sz="4200" dirty="0"/>
          </a:p>
        </p:txBody>
      </p:sp>
      <p:sp>
        <p:nvSpPr>
          <p:cNvPr id="13" name="text 6.12"/>
          <p:cNvSpPr txBox="1"/>
          <p:nvPr/>
        </p:nvSpPr>
        <p:spPr>
          <a:xfrm>
            <a:off x="888978" y="2844729"/>
            <a:ext cx="40361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GOAL</a:t>
            </a:r>
            <a:endParaRPr lang="en-US" sz="750" dirty="0"/>
          </a:p>
        </p:txBody>
      </p:sp>
      <p:sp>
        <p:nvSpPr>
          <p:cNvPr id="14" name="text 6.13"/>
          <p:cNvSpPr txBox="1"/>
          <p:nvPr/>
        </p:nvSpPr>
        <p:spPr>
          <a:xfrm>
            <a:off x="888978" y="300982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Pass the most checkpoints before the time runs out.</a:t>
            </a:r>
            <a:endParaRPr lang="en-US" sz="1100" dirty="0"/>
          </a:p>
        </p:txBody>
      </p:sp>
      <p:sp>
        <p:nvSpPr>
          <p:cNvPr id="15" name="text 6.14"/>
          <p:cNvSpPr txBox="1"/>
          <p:nvPr/>
        </p:nvSpPr>
        <p:spPr>
          <a:xfrm>
            <a:off x="888978" y="3505112"/>
            <a:ext cx="39804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LOOP</a:t>
            </a:r>
            <a:endParaRPr lang="en-US" sz="750" dirty="0"/>
          </a:p>
        </p:txBody>
      </p:sp>
      <p:sp>
        <p:nvSpPr>
          <p:cNvPr id="16" name="text 6.15"/>
          <p:cNvSpPr txBox="1"/>
          <p:nvPr/>
        </p:nvSpPr>
        <p:spPr>
          <a:xfrm>
            <a:off x="888978" y="3670208"/>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The track loops. Every checkpoint you pass counts +1, lap after lap.</a:t>
            </a:r>
            <a:endParaRPr lang="en-US" sz="1100" dirty="0"/>
          </a:p>
        </p:txBody>
      </p:sp>
      <p:sp>
        <p:nvSpPr>
          <p:cNvPr id="17" name="text 6.16"/>
          <p:cNvSpPr txBox="1"/>
          <p:nvPr/>
        </p:nvSpPr>
        <p:spPr>
          <a:xfrm>
            <a:off x="888978" y="4165496"/>
            <a:ext cx="26815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ICE</a:t>
            </a:r>
            <a:endParaRPr lang="en-US" sz="750" dirty="0"/>
          </a:p>
        </p:txBody>
      </p:sp>
      <p:sp>
        <p:nvSpPr>
          <p:cNvPr id="18" name="text 6.17"/>
          <p:cNvSpPr txBox="1"/>
          <p:nvPr/>
        </p:nvSpPr>
        <p:spPr>
          <a:xfrm>
            <a:off x="888978" y="4330592"/>
            <a:ext cx="3594010" cy="385554"/>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Slippery floor: carry speed through corners without sliding off.</a:t>
            </a:r>
            <a:endParaRPr lang="en-US" sz="1100" dirty="0"/>
          </a:p>
        </p:txBody>
      </p:sp>
      <p:sp>
        <p:nvSpPr>
          <p:cNvPr id="19" name="text 6.18"/>
          <p:cNvSpPr txBox="1"/>
          <p:nvPr/>
        </p:nvSpPr>
        <p:spPr>
          <a:xfrm>
            <a:off x="888978" y="4825879"/>
            <a:ext cx="49900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RIVALS</a:t>
            </a:r>
            <a:endParaRPr lang="en-US" sz="750" dirty="0"/>
          </a:p>
        </p:txBody>
      </p:sp>
      <p:sp>
        <p:nvSpPr>
          <p:cNvPr id="20" name="text 6.19"/>
          <p:cNvSpPr txBox="1"/>
          <p:nvPr/>
        </p:nvSpPr>
        <p:spPr>
          <a:xfrm>
            <a:off x="888978" y="4990975"/>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Push others off the ice to gain an advantage.</a:t>
            </a:r>
            <a:endParaRPr lang="en-US" sz="1100" dirty="0"/>
          </a:p>
        </p:txBody>
      </p:sp>
      <p:sp>
        <p:nvSpPr>
          <p:cNvPr id="21" name="text 6.20"/>
          <p:cNvSpPr txBox="1"/>
          <p:nvPr/>
        </p:nvSpPr>
        <p:spPr>
          <a:xfrm>
            <a:off x="888978" y="5486263"/>
            <a:ext cx="44379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FALLS</a:t>
            </a:r>
            <a:endParaRPr lang="en-US" sz="750" dirty="0"/>
          </a:p>
        </p:txBody>
      </p:sp>
      <p:sp>
        <p:nvSpPr>
          <p:cNvPr id="22" name="text 6.21"/>
          <p:cNvSpPr txBox="1"/>
          <p:nvPr/>
        </p:nvSpPr>
        <p:spPr>
          <a:xfrm>
            <a:off x="888978" y="5651359"/>
            <a:ext cx="3594010" cy="192781"/>
          </a:xfrm>
          <a:prstGeom prst="rect">
            <a:avLst/>
          </a:prstGeom>
          <a:noFill/>
          <a:ln/>
        </p:spPr>
        <p:txBody>
          <a:bodyPr wrap="square" lIns="0" tIns="0" rIns="0" bIns="0" rtlCol="0" anchor="t"/>
          <a:lstStyle/>
          <a:p>
            <a:pPr algn="l" indent="0" marL="0">
              <a:lnSpc>
                <a:spcPts val="1520"/>
              </a:lnSpc>
              <a:buNone/>
            </a:pPr>
            <a:r>
              <a:rPr lang="en-US" sz="1100" dirty="0">
                <a:solidFill>
                  <a:srgbClr val="16233F"/>
                </a:solidFill>
                <a:latin typeface="Arial" pitchFamily="34" charset="0"/>
                <a:ea typeface="Arial" pitchFamily="34" charset="-122"/>
                <a:cs typeface="Arial" pitchFamily="34" charset="-120"/>
              </a:rPr>
              <a:t>Fall into the water and restart at your last checkpoint.</a:t>
            </a:r>
            <a:endParaRPr lang="en-US" sz="1100" dirty="0"/>
          </a:p>
        </p:txBody>
      </p:sp>
      <p:sp>
        <p:nvSpPr>
          <p:cNvPr id="23" name="shape 6.22"/>
          <p:cNvSpPr/>
          <p:nvPr/>
        </p:nvSpPr>
        <p:spPr>
          <a:xfrm>
            <a:off x="5714857" y="6095848"/>
            <a:ext cx="5867253" cy="253994"/>
          </a:xfrm>
          <a:prstGeom prst="roundRect">
            <a:avLst>
              <a:gd name="adj" fmla="val 50000"/>
            </a:avLst>
          </a:prstGeom>
          <a:solidFill>
            <a:srgbClr val="FFFFFF">
              <a:alpha val="92000"/>
            </a:srgbClr>
          </a:solidFill>
          <a:ln/>
        </p:spPr>
      </p:sp>
      <p:sp>
        <p:nvSpPr>
          <p:cNvPr id="24" name="text 6.23"/>
          <p:cNvSpPr txBox="1"/>
          <p:nvPr/>
        </p:nvSpPr>
        <p:spPr>
          <a:xfrm>
            <a:off x="5714857" y="6095848"/>
            <a:ext cx="5867253" cy="253994"/>
          </a:xfrm>
          <a:prstGeom prst="rect">
            <a:avLst/>
          </a:prstGeom>
          <a:noFill/>
          <a:ln/>
        </p:spPr>
        <p:txBody>
          <a:bodyPr wrap="square" lIns="0" tIns="0" rIns="0" bIns="0" rtlCol="0" anchor="ctr"/>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FIG 3 · Racing a floating ice track; the HUD is part of the render. Concept render, AI-generated.</a:t>
            </a:r>
            <a:endParaRPr lang="en-US" sz="750" dirty="0"/>
          </a:p>
        </p:txBody>
      </p:sp>
      <p:sp>
        <p:nvSpPr>
          <p:cNvPr id="25" name="shape 6.24"/>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6.25"/>
          <p:cNvSpPr/>
          <p:nvPr/>
        </p:nvSpPr>
        <p:spPr>
          <a:xfrm>
            <a:off x="711182" y="355591"/>
            <a:ext cx="114297" cy="114297"/>
          </a:xfrm>
          <a:prstGeom prst="roundRect">
            <a:avLst>
              <a:gd name="adj" fmla="val 33333"/>
            </a:avLst>
          </a:prstGeom>
          <a:solidFill>
            <a:srgbClr val="FF6B1F"/>
          </a:solidFill>
          <a:ln/>
        </p:spPr>
      </p:sp>
      <p:sp>
        <p:nvSpPr>
          <p:cNvPr id="27" name="shape 6.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6.27"/>
          <p:cNvSpPr/>
          <p:nvPr/>
        </p:nvSpPr>
        <p:spPr>
          <a:xfrm>
            <a:off x="10058149" y="368291"/>
            <a:ext cx="101597" cy="101597"/>
          </a:xfrm>
          <a:prstGeom prst="roundRect">
            <a:avLst>
              <a:gd name="adj" fmla="val 31250"/>
            </a:avLst>
          </a:prstGeom>
          <a:solidFill>
            <a:srgbClr val="16233F"/>
          </a:solidFill>
          <a:ln/>
        </p:spPr>
      </p:sp>
      <p:sp>
        <p:nvSpPr>
          <p:cNvPr id="29" name="shape 6.28"/>
          <p:cNvSpPr/>
          <p:nvPr/>
        </p:nvSpPr>
        <p:spPr>
          <a:xfrm>
            <a:off x="10223244" y="368291"/>
            <a:ext cx="101597" cy="101597"/>
          </a:xfrm>
          <a:prstGeom prst="roundRect">
            <a:avLst>
              <a:gd name="adj" fmla="val 31250"/>
            </a:avLst>
          </a:prstGeom>
          <a:solidFill>
            <a:srgbClr val="FF6B1F"/>
          </a:solidFill>
          <a:ln/>
        </p:spPr>
      </p:sp>
      <p:sp>
        <p:nvSpPr>
          <p:cNvPr id="30" name="shape 6.29"/>
          <p:cNvSpPr/>
          <p:nvPr/>
        </p:nvSpPr>
        <p:spPr>
          <a:xfrm>
            <a:off x="10388340" y="368291"/>
            <a:ext cx="101597" cy="101597"/>
          </a:xfrm>
          <a:prstGeom prst="roundRect">
            <a:avLst>
              <a:gd name="adj" fmla="val 31250"/>
            </a:avLst>
          </a:prstGeom>
          <a:solidFill>
            <a:srgbClr val="C7D4E8"/>
          </a:solidFill>
          <a:ln/>
        </p:spPr>
      </p:sp>
      <p:sp>
        <p:nvSpPr>
          <p:cNvPr id="31" name="shape 6.30"/>
          <p:cNvSpPr/>
          <p:nvPr/>
        </p:nvSpPr>
        <p:spPr>
          <a:xfrm>
            <a:off x="10553436" y="368291"/>
            <a:ext cx="101597" cy="101597"/>
          </a:xfrm>
          <a:prstGeom prst="roundRect">
            <a:avLst>
              <a:gd name="adj" fmla="val 31250"/>
            </a:avLst>
          </a:prstGeom>
          <a:solidFill>
            <a:srgbClr val="C7D4E8"/>
          </a:solidFill>
          <a:ln/>
        </p:spPr>
      </p:sp>
      <p:sp>
        <p:nvSpPr>
          <p:cNvPr id="32" name="shape 6.31"/>
          <p:cNvSpPr/>
          <p:nvPr/>
        </p:nvSpPr>
        <p:spPr>
          <a:xfrm>
            <a:off x="10718532" y="368291"/>
            <a:ext cx="101597" cy="101597"/>
          </a:xfrm>
          <a:prstGeom prst="roundRect">
            <a:avLst>
              <a:gd name="adj" fmla="val 31250"/>
            </a:avLst>
          </a:prstGeom>
          <a:solidFill>
            <a:srgbClr val="C7D4E8"/>
          </a:solidFill>
          <a:ln/>
        </p:spPr>
      </p:sp>
      <p:sp>
        <p:nvSpPr>
          <p:cNvPr id="33" name="shape 6.32"/>
          <p:cNvSpPr/>
          <p:nvPr/>
        </p:nvSpPr>
        <p:spPr>
          <a:xfrm>
            <a:off x="10883628" y="368291"/>
            <a:ext cx="101597" cy="101597"/>
          </a:xfrm>
          <a:prstGeom prst="roundRect">
            <a:avLst>
              <a:gd name="adj" fmla="val 31250"/>
            </a:avLst>
          </a:prstGeom>
          <a:solidFill>
            <a:srgbClr val="C7D4E8"/>
          </a:solidFill>
          <a:ln/>
        </p:spPr>
      </p:sp>
      <p:sp>
        <p:nvSpPr>
          <p:cNvPr id="34" name="text 6.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06</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35" name="text 6.34"/>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7.1"/>
          <p:cNvSpPr/>
          <p:nvPr/>
        </p:nvSpPr>
        <p:spPr>
          <a:xfrm>
            <a:off x="609585" y="1663658"/>
            <a:ext cx="3555911" cy="4444889"/>
          </a:xfrm>
          <a:prstGeom prst="roundRect">
            <a:avLst>
              <a:gd name="adj" fmla="val 5000"/>
            </a:avLst>
          </a:prstGeom>
          <a:solidFill>
            <a:srgbClr val="FFFFFF"/>
          </a:solidFill>
          <a:ln/>
          <a:effectLst>
            <a:outerShdw sx="100000" sy="100000" kx="0" ky="0" algn="bl" rotWithShape="0" blurRad="203200" dist="76200" dir="5400000">
              <a:srgbClr val="1E468C">
                <a:alpha val="16000"/>
              </a:srgbClr>
            </a:outerShdw>
          </a:effectLst>
        </p:spPr>
      </p:sp>
      <p:sp>
        <p:nvSpPr>
          <p:cNvPr id="3" name="shape 7.2"/>
          <p:cNvSpPr/>
          <p:nvPr/>
        </p:nvSpPr>
        <p:spPr>
          <a:xfrm>
            <a:off x="4317892" y="1663658"/>
            <a:ext cx="3555911" cy="4444889"/>
          </a:xfrm>
          <a:prstGeom prst="roundRect">
            <a:avLst>
              <a:gd name="adj" fmla="val 5000"/>
            </a:avLst>
          </a:prstGeom>
          <a:solidFill>
            <a:srgbClr val="FFFFFF"/>
          </a:solidFill>
          <a:ln/>
          <a:effectLst>
            <a:outerShdw sx="100000" sy="100000" kx="0" ky="0" algn="bl" rotWithShape="0" blurRad="203200" dist="76200" dir="5400000">
              <a:srgbClr val="1E468C">
                <a:alpha val="16000"/>
              </a:srgbClr>
            </a:outerShdw>
          </a:effectLst>
        </p:spPr>
      </p:sp>
      <p:sp>
        <p:nvSpPr>
          <p:cNvPr id="4" name="shape 7.3"/>
          <p:cNvSpPr/>
          <p:nvPr/>
        </p:nvSpPr>
        <p:spPr>
          <a:xfrm>
            <a:off x="8026199" y="1663658"/>
            <a:ext cx="3555911" cy="4444889"/>
          </a:xfrm>
          <a:prstGeom prst="roundRect">
            <a:avLst>
              <a:gd name="adj" fmla="val 5000"/>
            </a:avLst>
          </a:prstGeom>
          <a:solidFill>
            <a:srgbClr val="FFFFFF"/>
          </a:solidFill>
          <a:ln/>
          <a:effectLst>
            <a:outerShdw sx="100000" sy="100000" kx="0" ky="0" algn="bl" rotWithShape="0" blurRad="203200" dist="76200" dir="5400000">
              <a:srgbClr val="1E468C">
                <a:alpha val="16000"/>
              </a:srgbClr>
            </a:outerShdw>
          </a:effectLst>
        </p:spPr>
      </p:sp>
      <p:sp>
        <p:nvSpPr>
          <p:cNvPr id="5" name="text 7.4"/>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Mini-game backlog: </a:t>
            </a:r>
            <a:pPr algn="l" indent="0" marL="0">
              <a:lnSpc>
                <a:spcPts val="3020"/>
              </a:lnSpc>
              <a:buNone/>
            </a:pPr>
            <a:r>
              <a:rPr lang="en-US" sz="2700" spc="-27" kern="0" dirty="0">
                <a:solidFill>
                  <a:srgbClr val="43B832"/>
                </a:solidFill>
                <a:latin typeface="Arial Rounded MT Bold" pitchFamily="34" charset="0"/>
                <a:ea typeface="Arial Rounded MT Bold" pitchFamily="34" charset="-122"/>
                <a:cs typeface="Arial Rounded MT Bold" pitchFamily="34" charset="-120"/>
              </a:rPr>
              <a:t>three more ideas</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from our design doc</a:t>
            </a:r>
            <a:endParaRPr lang="en-US" sz="2700" dirty="0"/>
          </a:p>
        </p:txBody>
      </p:sp>
      <p:pic>
        <p:nvPicPr>
          <p:cNvPr id="6" name="raster 7.5" descr="diagram">    </p:cNvPr>
          <p:cNvPicPr>
            <a:picLocks noChangeAspect="1"/>
          </p:cNvPicPr>
          <p:nvPr/>
        </p:nvPicPr>
        <p:blipFill>
          <a:blip r:embed="rId2"/>
          <a:stretch>
            <a:fillRect/>
          </a:stretch>
        </p:blipFill>
        <p:spPr>
          <a:xfrm>
            <a:off x="838179" y="1879553"/>
            <a:ext cx="457189" cy="457189"/>
          </a:xfrm>
          <a:prstGeom prst="rect">
            <a:avLst/>
          </a:prstGeom>
        </p:spPr>
      </p:pic>
      <p:sp>
        <p:nvSpPr>
          <p:cNvPr id="7" name="shape 7.6"/>
          <p:cNvSpPr/>
          <p:nvPr/>
        </p:nvSpPr>
        <p:spPr>
          <a:xfrm>
            <a:off x="3149521" y="1904952"/>
            <a:ext cx="787380" cy="215895"/>
          </a:xfrm>
          <a:prstGeom prst="roundRect">
            <a:avLst>
              <a:gd name="adj" fmla="val 50000"/>
            </a:avLst>
          </a:prstGeom>
          <a:solidFill>
            <a:srgbClr val="E6F6E1"/>
          </a:solidFill>
          <a:ln/>
        </p:spPr>
      </p:sp>
      <p:sp>
        <p:nvSpPr>
          <p:cNvPr id="8" name="text 7.7"/>
          <p:cNvSpPr txBox="1"/>
          <p:nvPr/>
        </p:nvSpPr>
        <p:spPr>
          <a:xfrm>
            <a:off x="3149521" y="1904952"/>
            <a:ext cx="787380"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43B832"/>
                </a:solidFill>
                <a:latin typeface="Arial" pitchFamily="34" charset="0"/>
                <a:ea typeface="Arial" pitchFamily="34" charset="-122"/>
                <a:cs typeface="Arial" pitchFamily="34" charset="-120"/>
              </a:rPr>
              <a:t>IDEA 01</a:t>
            </a:r>
            <a:endParaRPr lang="en-US" sz="700" dirty="0"/>
          </a:p>
        </p:txBody>
      </p:sp>
      <p:sp>
        <p:nvSpPr>
          <p:cNvPr id="9" name="text 7.8"/>
          <p:cNvSpPr txBox="1"/>
          <p:nvPr/>
        </p:nvSpPr>
        <p:spPr>
          <a:xfrm>
            <a:off x="838179" y="2514537"/>
            <a:ext cx="2002714" cy="279393"/>
          </a:xfrm>
          <a:prstGeom prst="rect">
            <a:avLst/>
          </a:prstGeom>
          <a:noFill/>
          <a:ln/>
        </p:spPr>
        <p:txBody>
          <a:bodyPr wrap="square" lIns="0" tIns="0" rIns="0" bIns="0" rtlCol="0" anchor="t"/>
          <a:lstStyle/>
          <a:p>
            <a:pPr algn="l" indent="0" marL="0">
              <a:lnSpc>
                <a:spcPts val="2200"/>
              </a:lnSpc>
              <a:buNone/>
            </a:pPr>
            <a:r>
              <a:rPr lang="en-US" sz="2200" dirty="0">
                <a:solidFill>
                  <a:srgbClr val="16233F"/>
                </a:solidFill>
                <a:latin typeface="Arial Rounded MT Bold" pitchFamily="34" charset="0"/>
                <a:ea typeface="Arial Rounded MT Bold" pitchFamily="34" charset="-122"/>
                <a:cs typeface="Arial Rounded MT Bold" pitchFamily="34" charset="-120"/>
              </a:rPr>
              <a:t>Parkour Blast</a:t>
            </a:r>
            <a:endParaRPr lang="en-US" sz="2200" dirty="0"/>
          </a:p>
        </p:txBody>
      </p:sp>
      <p:sp>
        <p:nvSpPr>
          <p:cNvPr id="10" name="shape 7.9"/>
          <p:cNvSpPr/>
          <p:nvPr/>
        </p:nvSpPr>
        <p:spPr>
          <a:xfrm>
            <a:off x="838179" y="2920927"/>
            <a:ext cx="952476" cy="228594"/>
          </a:xfrm>
          <a:prstGeom prst="roundRect">
            <a:avLst>
              <a:gd name="adj" fmla="val 50000"/>
            </a:avLst>
          </a:prstGeom>
          <a:solidFill>
            <a:srgbClr val="43B832"/>
          </a:solidFill>
          <a:ln/>
        </p:spPr>
      </p:sp>
      <p:sp>
        <p:nvSpPr>
          <p:cNvPr id="11" name="text 7.10"/>
          <p:cNvSpPr txBox="1"/>
          <p:nvPr/>
        </p:nvSpPr>
        <p:spPr>
          <a:xfrm>
            <a:off x="838179" y="2920927"/>
            <a:ext cx="952476"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SHOT: LAUNCH</a:t>
            </a:r>
            <a:endParaRPr lang="en-US" sz="700" dirty="0"/>
          </a:p>
        </p:txBody>
      </p:sp>
      <p:sp>
        <p:nvSpPr>
          <p:cNvPr id="12" name="shape 7.11"/>
          <p:cNvSpPr/>
          <p:nvPr/>
        </p:nvSpPr>
        <p:spPr>
          <a:xfrm>
            <a:off x="850879" y="3428914"/>
            <a:ext cx="76198" cy="76198"/>
          </a:xfrm>
          <a:prstGeom prst="roundRect">
            <a:avLst>
              <a:gd name="adj" fmla="val 50000"/>
            </a:avLst>
          </a:prstGeom>
          <a:solidFill>
            <a:srgbClr val="43B832"/>
          </a:solidFill>
          <a:ln/>
        </p:spPr>
      </p:sp>
      <p:sp>
        <p:nvSpPr>
          <p:cNvPr id="13" name="text 7.12"/>
          <p:cNvSpPr txBox="1"/>
          <p:nvPr/>
        </p:nvSpPr>
        <p:spPr>
          <a:xfrm>
            <a:off x="1028674" y="3365416"/>
            <a:ext cx="295902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Cross a course by shooting and blasting off.</a:t>
            </a:r>
            <a:endParaRPr lang="en-US" sz="1100" dirty="0"/>
          </a:p>
        </p:txBody>
      </p:sp>
      <p:sp>
        <p:nvSpPr>
          <p:cNvPr id="14" name="shape 7.13"/>
          <p:cNvSpPr/>
          <p:nvPr/>
        </p:nvSpPr>
        <p:spPr>
          <a:xfrm>
            <a:off x="850879" y="4089298"/>
            <a:ext cx="76198" cy="76198"/>
          </a:xfrm>
          <a:prstGeom prst="roundRect">
            <a:avLst>
              <a:gd name="adj" fmla="val 50000"/>
            </a:avLst>
          </a:prstGeom>
          <a:solidFill>
            <a:srgbClr val="43B832"/>
          </a:solidFill>
          <a:ln/>
        </p:spPr>
      </p:sp>
      <p:sp>
        <p:nvSpPr>
          <p:cNvPr id="15" name="text 7.14"/>
          <p:cNvSpPr txBox="1"/>
          <p:nvPr/>
        </p:nvSpPr>
        <p:spPr>
          <a:xfrm>
            <a:off x="1028674" y="4025799"/>
            <a:ext cx="295902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Hold to charge a strong blast. You can’t move while firing, so you are exposed.</a:t>
            </a:r>
            <a:endParaRPr lang="en-US" sz="1100" dirty="0"/>
          </a:p>
        </p:txBody>
      </p:sp>
      <p:sp>
        <p:nvSpPr>
          <p:cNvPr id="16" name="shape 7.15"/>
          <p:cNvSpPr/>
          <p:nvPr/>
        </p:nvSpPr>
        <p:spPr>
          <a:xfrm>
            <a:off x="850879" y="4749681"/>
            <a:ext cx="76198" cy="76198"/>
          </a:xfrm>
          <a:prstGeom prst="roundRect">
            <a:avLst>
              <a:gd name="adj" fmla="val 50000"/>
            </a:avLst>
          </a:prstGeom>
          <a:solidFill>
            <a:srgbClr val="43B832"/>
          </a:solidFill>
          <a:ln/>
        </p:spPr>
      </p:sp>
      <p:sp>
        <p:nvSpPr>
          <p:cNvPr id="17" name="text 7.16"/>
          <p:cNvSpPr txBox="1"/>
          <p:nvPr/>
        </p:nvSpPr>
        <p:spPr>
          <a:xfrm>
            <a:off x="1028674" y="4686183"/>
            <a:ext cx="295902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No hiding spots. Falling off is out.</a:t>
            </a:r>
            <a:endParaRPr lang="en-US" sz="1100" dirty="0"/>
          </a:p>
        </p:txBody>
      </p:sp>
      <p:sp>
        <p:nvSpPr>
          <p:cNvPr id="18" name="shape 7.17"/>
          <p:cNvSpPr/>
          <p:nvPr/>
        </p:nvSpPr>
        <p:spPr>
          <a:xfrm>
            <a:off x="850879" y="5410065"/>
            <a:ext cx="76198" cy="76198"/>
          </a:xfrm>
          <a:prstGeom prst="roundRect">
            <a:avLst>
              <a:gd name="adj" fmla="val 50000"/>
            </a:avLst>
          </a:prstGeom>
          <a:solidFill>
            <a:srgbClr val="43B832"/>
          </a:solidFill>
          <a:ln/>
        </p:spPr>
      </p:sp>
      <p:sp>
        <p:nvSpPr>
          <p:cNvPr id="19" name="text 7.18"/>
          <p:cNvSpPr txBox="1"/>
          <p:nvPr/>
        </p:nvSpPr>
        <p:spPr>
          <a:xfrm>
            <a:off x="1028674" y="5346566"/>
            <a:ext cx="295902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If hitting is too easy, shots can arc under gravity.</a:t>
            </a:r>
            <a:endParaRPr lang="en-US" sz="1100" dirty="0"/>
          </a:p>
        </p:txBody>
      </p:sp>
      <p:pic>
        <p:nvPicPr>
          <p:cNvPr id="20" name="raster 7.19" descr="diagram">    </p:cNvPr>
          <p:cNvPicPr>
            <a:picLocks noChangeAspect="1"/>
          </p:cNvPicPr>
          <p:nvPr/>
        </p:nvPicPr>
        <p:blipFill>
          <a:blip r:embed="rId3"/>
          <a:stretch>
            <a:fillRect/>
          </a:stretch>
        </p:blipFill>
        <p:spPr>
          <a:xfrm>
            <a:off x="4546486" y="1879553"/>
            <a:ext cx="457189" cy="457189"/>
          </a:xfrm>
          <a:prstGeom prst="rect">
            <a:avLst/>
          </a:prstGeom>
        </p:spPr>
      </p:pic>
      <p:sp>
        <p:nvSpPr>
          <p:cNvPr id="21" name="shape 7.20"/>
          <p:cNvSpPr/>
          <p:nvPr/>
        </p:nvSpPr>
        <p:spPr>
          <a:xfrm>
            <a:off x="6857829" y="1904952"/>
            <a:ext cx="787380" cy="215895"/>
          </a:xfrm>
          <a:prstGeom prst="roundRect">
            <a:avLst>
              <a:gd name="adj" fmla="val 50000"/>
            </a:avLst>
          </a:prstGeom>
          <a:solidFill>
            <a:srgbClr val="FFF0E6"/>
          </a:solidFill>
          <a:ln/>
        </p:spPr>
      </p:sp>
      <p:sp>
        <p:nvSpPr>
          <p:cNvPr id="22" name="text 7.21"/>
          <p:cNvSpPr txBox="1"/>
          <p:nvPr/>
        </p:nvSpPr>
        <p:spPr>
          <a:xfrm>
            <a:off x="6857829" y="1904952"/>
            <a:ext cx="787380"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IDEA 02</a:t>
            </a:r>
            <a:endParaRPr lang="en-US" sz="700" dirty="0"/>
          </a:p>
        </p:txBody>
      </p:sp>
      <p:sp>
        <p:nvSpPr>
          <p:cNvPr id="23" name="text 7.22"/>
          <p:cNvSpPr txBox="1"/>
          <p:nvPr/>
        </p:nvSpPr>
        <p:spPr>
          <a:xfrm>
            <a:off x="4546486" y="2514537"/>
            <a:ext cx="2173404" cy="279393"/>
          </a:xfrm>
          <a:prstGeom prst="rect">
            <a:avLst/>
          </a:prstGeom>
          <a:noFill/>
          <a:ln/>
        </p:spPr>
        <p:txBody>
          <a:bodyPr wrap="square" lIns="0" tIns="0" rIns="0" bIns="0" rtlCol="0" anchor="t"/>
          <a:lstStyle/>
          <a:p>
            <a:pPr algn="l" indent="0" marL="0">
              <a:lnSpc>
                <a:spcPts val="2200"/>
              </a:lnSpc>
              <a:buNone/>
            </a:pPr>
            <a:r>
              <a:rPr lang="en-US" sz="2200" dirty="0">
                <a:solidFill>
                  <a:srgbClr val="16233F"/>
                </a:solidFill>
                <a:latin typeface="Arial Rounded MT Bold" pitchFamily="34" charset="0"/>
                <a:ea typeface="Arial Rounded MT Bold" pitchFamily="34" charset="-122"/>
                <a:cs typeface="Arial Rounded MT Bold" pitchFamily="34" charset="-120"/>
              </a:rPr>
              <a:t>Musical Chairs</a:t>
            </a:r>
            <a:endParaRPr lang="en-US" sz="2200" dirty="0"/>
          </a:p>
        </p:txBody>
      </p:sp>
      <p:sp>
        <p:nvSpPr>
          <p:cNvPr id="24" name="shape 7.23"/>
          <p:cNvSpPr/>
          <p:nvPr/>
        </p:nvSpPr>
        <p:spPr>
          <a:xfrm>
            <a:off x="4546486" y="2920927"/>
            <a:ext cx="952476" cy="228594"/>
          </a:xfrm>
          <a:prstGeom prst="roundRect">
            <a:avLst>
              <a:gd name="adj" fmla="val 50000"/>
            </a:avLst>
          </a:prstGeom>
          <a:solidFill>
            <a:srgbClr val="FF6B1F"/>
          </a:solidFill>
          <a:ln/>
        </p:spPr>
      </p:sp>
      <p:sp>
        <p:nvSpPr>
          <p:cNvPr id="25" name="text 7.24"/>
          <p:cNvSpPr txBox="1"/>
          <p:nvPr/>
        </p:nvSpPr>
        <p:spPr>
          <a:xfrm>
            <a:off x="4546486" y="2920927"/>
            <a:ext cx="952476"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SHOT: PUSH</a:t>
            </a:r>
            <a:endParaRPr lang="en-US" sz="700" dirty="0"/>
          </a:p>
        </p:txBody>
      </p:sp>
      <p:sp>
        <p:nvSpPr>
          <p:cNvPr id="26" name="shape 7.25"/>
          <p:cNvSpPr/>
          <p:nvPr/>
        </p:nvSpPr>
        <p:spPr>
          <a:xfrm>
            <a:off x="4559186" y="3428914"/>
            <a:ext cx="76198" cy="76198"/>
          </a:xfrm>
          <a:prstGeom prst="roundRect">
            <a:avLst>
              <a:gd name="adj" fmla="val 50000"/>
            </a:avLst>
          </a:prstGeom>
          <a:solidFill>
            <a:srgbClr val="FF6B1F"/>
          </a:solidFill>
          <a:ln/>
        </p:spPr>
      </p:sp>
      <p:sp>
        <p:nvSpPr>
          <p:cNvPr id="27" name="text 7.26"/>
          <p:cNvSpPr txBox="1"/>
          <p:nvPr/>
        </p:nvSpPr>
        <p:spPr>
          <a:xfrm>
            <a:off x="4736982" y="3365416"/>
            <a:ext cx="295902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Player-shaped holes open in the floor, each at a set angle. One fewer every round.</a:t>
            </a:r>
            <a:endParaRPr lang="en-US" sz="1100" dirty="0"/>
          </a:p>
        </p:txBody>
      </p:sp>
      <p:sp>
        <p:nvSpPr>
          <p:cNvPr id="28" name="shape 7.27"/>
          <p:cNvSpPr/>
          <p:nvPr/>
        </p:nvSpPr>
        <p:spPr>
          <a:xfrm>
            <a:off x="4559186" y="4089298"/>
            <a:ext cx="76198" cy="76198"/>
          </a:xfrm>
          <a:prstGeom prst="roundRect">
            <a:avLst>
              <a:gd name="adj" fmla="val 50000"/>
            </a:avLst>
          </a:prstGeom>
          <a:solidFill>
            <a:srgbClr val="FF6B1F"/>
          </a:solidFill>
          <a:ln/>
        </p:spPr>
      </p:sp>
      <p:sp>
        <p:nvSpPr>
          <p:cNvPr id="29" name="text 7.28"/>
          <p:cNvSpPr txBox="1"/>
          <p:nvPr/>
        </p:nvSpPr>
        <p:spPr>
          <a:xfrm>
            <a:off x="4736982" y="4025799"/>
            <a:ext cx="295902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Whoever is left out is crushed by a giant bulldozer.</a:t>
            </a:r>
            <a:endParaRPr lang="en-US" sz="1100" dirty="0"/>
          </a:p>
        </p:txBody>
      </p:sp>
      <p:sp>
        <p:nvSpPr>
          <p:cNvPr id="30" name="shape 7.29"/>
          <p:cNvSpPr/>
          <p:nvPr/>
        </p:nvSpPr>
        <p:spPr>
          <a:xfrm>
            <a:off x="4559186" y="4749681"/>
            <a:ext cx="76198" cy="76198"/>
          </a:xfrm>
          <a:prstGeom prst="roundRect">
            <a:avLst>
              <a:gd name="adj" fmla="val 50000"/>
            </a:avLst>
          </a:prstGeom>
          <a:solidFill>
            <a:srgbClr val="FF6B1F"/>
          </a:solidFill>
          <a:ln/>
        </p:spPr>
      </p:sp>
      <p:sp>
        <p:nvSpPr>
          <p:cNvPr id="31" name="text 7.30"/>
          <p:cNvSpPr txBox="1"/>
          <p:nvPr/>
        </p:nvSpPr>
        <p:spPr>
          <a:xfrm>
            <a:off x="4736982" y="4686183"/>
            <a:ext cx="295902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Shots push rivals, but a cube in a hole can’t be pushed out.</a:t>
            </a:r>
            <a:endParaRPr lang="en-US" sz="1100" dirty="0"/>
          </a:p>
        </p:txBody>
      </p:sp>
      <p:pic>
        <p:nvPicPr>
          <p:cNvPr id="32" name="raster 7.31" descr="diagram">    </p:cNvPr>
          <p:cNvPicPr>
            <a:picLocks noChangeAspect="1"/>
          </p:cNvPicPr>
          <p:nvPr/>
        </p:nvPicPr>
        <p:blipFill>
          <a:blip r:embed="rId4"/>
          <a:stretch>
            <a:fillRect/>
          </a:stretch>
        </p:blipFill>
        <p:spPr>
          <a:xfrm>
            <a:off x="8254794" y="1879553"/>
            <a:ext cx="457189" cy="457189"/>
          </a:xfrm>
          <a:prstGeom prst="rect">
            <a:avLst/>
          </a:prstGeom>
        </p:spPr>
      </p:pic>
      <p:sp>
        <p:nvSpPr>
          <p:cNvPr id="33" name="shape 7.32"/>
          <p:cNvSpPr/>
          <p:nvPr/>
        </p:nvSpPr>
        <p:spPr>
          <a:xfrm>
            <a:off x="10566136" y="1904952"/>
            <a:ext cx="787380" cy="215895"/>
          </a:xfrm>
          <a:prstGeom prst="roundRect">
            <a:avLst>
              <a:gd name="adj" fmla="val 50000"/>
            </a:avLst>
          </a:prstGeom>
          <a:solidFill>
            <a:srgbClr val="F0E8FF"/>
          </a:solidFill>
          <a:ln/>
        </p:spPr>
      </p:sp>
      <p:sp>
        <p:nvSpPr>
          <p:cNvPr id="34" name="text 7.33"/>
          <p:cNvSpPr txBox="1"/>
          <p:nvPr/>
        </p:nvSpPr>
        <p:spPr>
          <a:xfrm>
            <a:off x="10566136" y="1904952"/>
            <a:ext cx="787380"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8F55F5"/>
                </a:solidFill>
                <a:latin typeface="Arial" pitchFamily="34" charset="0"/>
                <a:ea typeface="Arial" pitchFamily="34" charset="-122"/>
                <a:cs typeface="Arial" pitchFamily="34" charset="-120"/>
              </a:rPr>
              <a:t>IDEA 03</a:t>
            </a:r>
            <a:endParaRPr lang="en-US" sz="700" dirty="0"/>
          </a:p>
        </p:txBody>
      </p:sp>
      <p:sp>
        <p:nvSpPr>
          <p:cNvPr id="35" name="text 7.34"/>
          <p:cNvSpPr txBox="1"/>
          <p:nvPr/>
        </p:nvSpPr>
        <p:spPr>
          <a:xfrm>
            <a:off x="8254794" y="2514537"/>
            <a:ext cx="1050827" cy="279393"/>
          </a:xfrm>
          <a:prstGeom prst="rect">
            <a:avLst/>
          </a:prstGeom>
          <a:noFill/>
          <a:ln/>
        </p:spPr>
        <p:txBody>
          <a:bodyPr wrap="square" lIns="0" tIns="0" rIns="0" bIns="0" rtlCol="0" anchor="t"/>
          <a:lstStyle/>
          <a:p>
            <a:pPr algn="l" indent="0" marL="0">
              <a:lnSpc>
                <a:spcPts val="2200"/>
              </a:lnSpc>
              <a:buNone/>
            </a:pPr>
            <a:r>
              <a:rPr lang="en-US" sz="2200" dirty="0">
                <a:solidFill>
                  <a:srgbClr val="16233F"/>
                </a:solidFill>
                <a:latin typeface="Arial Rounded MT Bold" pitchFamily="34" charset="0"/>
                <a:ea typeface="Arial Rounded MT Bold" pitchFamily="34" charset="-122"/>
                <a:cs typeface="Arial Rounded MT Bold" pitchFamily="34" charset="-120"/>
              </a:rPr>
              <a:t>Versus</a:t>
            </a:r>
            <a:endParaRPr lang="en-US" sz="2200" dirty="0"/>
          </a:p>
        </p:txBody>
      </p:sp>
      <p:sp>
        <p:nvSpPr>
          <p:cNvPr id="36" name="shape 7.35"/>
          <p:cNvSpPr/>
          <p:nvPr/>
        </p:nvSpPr>
        <p:spPr>
          <a:xfrm>
            <a:off x="8254794" y="2920927"/>
            <a:ext cx="952476" cy="228594"/>
          </a:xfrm>
          <a:prstGeom prst="roundRect">
            <a:avLst>
              <a:gd name="adj" fmla="val 50000"/>
            </a:avLst>
          </a:prstGeom>
          <a:solidFill>
            <a:srgbClr val="8F55F5"/>
          </a:solidFill>
          <a:ln/>
        </p:spPr>
      </p:sp>
      <p:sp>
        <p:nvSpPr>
          <p:cNvPr id="37" name="text 7.36"/>
          <p:cNvSpPr txBox="1"/>
          <p:nvPr/>
        </p:nvSpPr>
        <p:spPr>
          <a:xfrm>
            <a:off x="8254794" y="2920927"/>
            <a:ext cx="952476"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SHOT: DAMAGE</a:t>
            </a:r>
            <a:endParaRPr lang="en-US" sz="700" dirty="0"/>
          </a:p>
        </p:txBody>
      </p:sp>
      <p:sp>
        <p:nvSpPr>
          <p:cNvPr id="38" name="shape 7.37"/>
          <p:cNvSpPr/>
          <p:nvPr/>
        </p:nvSpPr>
        <p:spPr>
          <a:xfrm>
            <a:off x="8267493" y="3428914"/>
            <a:ext cx="76198" cy="76198"/>
          </a:xfrm>
          <a:prstGeom prst="roundRect">
            <a:avLst>
              <a:gd name="adj" fmla="val 50000"/>
            </a:avLst>
          </a:prstGeom>
          <a:solidFill>
            <a:srgbClr val="8F55F5"/>
          </a:solidFill>
          <a:ln/>
        </p:spPr>
      </p:sp>
      <p:sp>
        <p:nvSpPr>
          <p:cNvPr id="39" name="text 7.38"/>
          <p:cNvSpPr txBox="1"/>
          <p:nvPr/>
        </p:nvSpPr>
        <p:spPr>
          <a:xfrm>
            <a:off x="8445289" y="3365416"/>
            <a:ext cx="295902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A straight head-to-head battle.</a:t>
            </a:r>
            <a:endParaRPr lang="en-US" sz="1100" dirty="0"/>
          </a:p>
        </p:txBody>
      </p:sp>
      <p:sp>
        <p:nvSpPr>
          <p:cNvPr id="40" name="shape 7.39"/>
          <p:cNvSpPr/>
          <p:nvPr/>
        </p:nvSpPr>
        <p:spPr>
          <a:xfrm>
            <a:off x="8267493" y="4089298"/>
            <a:ext cx="76198" cy="76198"/>
          </a:xfrm>
          <a:prstGeom prst="roundRect">
            <a:avLst>
              <a:gd name="adj" fmla="val 50000"/>
            </a:avLst>
          </a:prstGeom>
          <a:solidFill>
            <a:srgbClr val="8F55F5"/>
          </a:solidFill>
          <a:ln/>
        </p:spPr>
      </p:sp>
      <p:sp>
        <p:nvSpPr>
          <p:cNvPr id="41" name="text 7.40"/>
          <p:cNvSpPr txBox="1"/>
          <p:nvPr/>
        </p:nvSpPr>
        <p:spPr>
          <a:xfrm>
            <a:off x="8445289" y="4025799"/>
            <a:ext cx="295902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Hits lower health.</a:t>
            </a:r>
            <a:endParaRPr lang="en-US" sz="1100" dirty="0"/>
          </a:p>
        </p:txBody>
      </p:sp>
      <p:sp>
        <p:nvSpPr>
          <p:cNvPr id="42" name="shape 7.41"/>
          <p:cNvSpPr/>
          <p:nvPr/>
        </p:nvSpPr>
        <p:spPr>
          <a:xfrm>
            <a:off x="8267493" y="4749681"/>
            <a:ext cx="76198" cy="76198"/>
          </a:xfrm>
          <a:prstGeom prst="roundRect">
            <a:avLst>
              <a:gd name="adj" fmla="val 50000"/>
            </a:avLst>
          </a:prstGeom>
          <a:solidFill>
            <a:srgbClr val="8F55F5"/>
          </a:solidFill>
          <a:ln/>
        </p:spPr>
      </p:sp>
      <p:sp>
        <p:nvSpPr>
          <p:cNvPr id="43" name="text 7.42"/>
          <p:cNvSpPr txBox="1"/>
          <p:nvPr/>
        </p:nvSpPr>
        <p:spPr>
          <a:xfrm>
            <a:off x="8445289" y="4686183"/>
            <a:ext cx="295902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Still being designed.</a:t>
            </a:r>
            <a:endParaRPr lang="en-US" sz="1100" dirty="0"/>
          </a:p>
        </p:txBody>
      </p:sp>
      <p:sp>
        <p:nvSpPr>
          <p:cNvPr id="44" name="text 7.43"/>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Ideas, not in the MVP. Each one reuses the shared shot and plugs into the same mini-game contract.</a:t>
            </a:r>
            <a:endParaRPr lang="en-US" sz="850" dirty="0"/>
          </a:p>
        </p:txBody>
      </p:sp>
      <p:sp>
        <p:nvSpPr>
          <p:cNvPr id="45" name="shape 7.44"/>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6" name="shape 7.45"/>
          <p:cNvSpPr/>
          <p:nvPr/>
        </p:nvSpPr>
        <p:spPr>
          <a:xfrm>
            <a:off x="711182" y="355591"/>
            <a:ext cx="114297" cy="114297"/>
          </a:xfrm>
          <a:prstGeom prst="roundRect">
            <a:avLst>
              <a:gd name="adj" fmla="val 33333"/>
            </a:avLst>
          </a:prstGeom>
          <a:solidFill>
            <a:srgbClr val="FF6B1F"/>
          </a:solidFill>
          <a:ln/>
        </p:spPr>
      </p:sp>
      <p:sp>
        <p:nvSpPr>
          <p:cNvPr id="47" name="shape 7.4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8" name="shape 7.47"/>
          <p:cNvSpPr/>
          <p:nvPr/>
        </p:nvSpPr>
        <p:spPr>
          <a:xfrm>
            <a:off x="10058149" y="368291"/>
            <a:ext cx="101597" cy="101597"/>
          </a:xfrm>
          <a:prstGeom prst="roundRect">
            <a:avLst>
              <a:gd name="adj" fmla="val 31250"/>
            </a:avLst>
          </a:prstGeom>
          <a:solidFill>
            <a:srgbClr val="16233F"/>
          </a:solidFill>
          <a:ln/>
        </p:spPr>
      </p:sp>
      <p:sp>
        <p:nvSpPr>
          <p:cNvPr id="49" name="shape 7.48"/>
          <p:cNvSpPr/>
          <p:nvPr/>
        </p:nvSpPr>
        <p:spPr>
          <a:xfrm>
            <a:off x="10223244" y="368291"/>
            <a:ext cx="101597" cy="101597"/>
          </a:xfrm>
          <a:prstGeom prst="roundRect">
            <a:avLst>
              <a:gd name="adj" fmla="val 31250"/>
            </a:avLst>
          </a:prstGeom>
          <a:solidFill>
            <a:srgbClr val="FF6B1F"/>
          </a:solidFill>
          <a:ln/>
        </p:spPr>
      </p:sp>
      <p:sp>
        <p:nvSpPr>
          <p:cNvPr id="50" name="shape 7.49"/>
          <p:cNvSpPr/>
          <p:nvPr/>
        </p:nvSpPr>
        <p:spPr>
          <a:xfrm>
            <a:off x="10388340" y="368291"/>
            <a:ext cx="101597" cy="101597"/>
          </a:xfrm>
          <a:prstGeom prst="roundRect">
            <a:avLst>
              <a:gd name="adj" fmla="val 31250"/>
            </a:avLst>
          </a:prstGeom>
          <a:solidFill>
            <a:srgbClr val="C7D4E8"/>
          </a:solidFill>
          <a:ln/>
        </p:spPr>
      </p:sp>
      <p:sp>
        <p:nvSpPr>
          <p:cNvPr id="51" name="shape 7.50"/>
          <p:cNvSpPr/>
          <p:nvPr/>
        </p:nvSpPr>
        <p:spPr>
          <a:xfrm>
            <a:off x="10553436" y="368291"/>
            <a:ext cx="101597" cy="101597"/>
          </a:xfrm>
          <a:prstGeom prst="roundRect">
            <a:avLst>
              <a:gd name="adj" fmla="val 31250"/>
            </a:avLst>
          </a:prstGeom>
          <a:solidFill>
            <a:srgbClr val="C7D4E8"/>
          </a:solidFill>
          <a:ln/>
        </p:spPr>
      </p:sp>
      <p:sp>
        <p:nvSpPr>
          <p:cNvPr id="52" name="shape 7.51"/>
          <p:cNvSpPr/>
          <p:nvPr/>
        </p:nvSpPr>
        <p:spPr>
          <a:xfrm>
            <a:off x="10718532" y="368291"/>
            <a:ext cx="101597" cy="101597"/>
          </a:xfrm>
          <a:prstGeom prst="roundRect">
            <a:avLst>
              <a:gd name="adj" fmla="val 31250"/>
            </a:avLst>
          </a:prstGeom>
          <a:solidFill>
            <a:srgbClr val="C7D4E8"/>
          </a:solidFill>
          <a:ln/>
        </p:spPr>
      </p:sp>
      <p:sp>
        <p:nvSpPr>
          <p:cNvPr id="53" name="shape 7.52"/>
          <p:cNvSpPr/>
          <p:nvPr/>
        </p:nvSpPr>
        <p:spPr>
          <a:xfrm>
            <a:off x="10883628" y="368291"/>
            <a:ext cx="101597" cy="101597"/>
          </a:xfrm>
          <a:prstGeom prst="roundRect">
            <a:avLst>
              <a:gd name="adj" fmla="val 31250"/>
            </a:avLst>
          </a:prstGeom>
          <a:solidFill>
            <a:srgbClr val="C7D4E8"/>
          </a:solidFill>
          <a:ln/>
        </p:spPr>
      </p:sp>
      <p:sp>
        <p:nvSpPr>
          <p:cNvPr id="54" name="text 7.5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07</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55" name="text 7.54"/>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8.1"/>
          <p:cNvSpPr/>
          <p:nvPr/>
        </p:nvSpPr>
        <p:spPr>
          <a:xfrm>
            <a:off x="609585" y="1892253"/>
            <a:ext cx="2285943" cy="673083"/>
          </a:xfrm>
          <a:prstGeom prst="roundRect">
            <a:avLst>
              <a:gd name="adj" fmla="val 18868"/>
            </a:avLst>
          </a:prstGeom>
          <a:solidFill>
            <a:srgbClr val="FFF0E6"/>
          </a:solidFill>
          <a:ln/>
          <a:effectLst>
            <a:outerShdw sx="100000" sy="100000" kx="0" ky="0" algn="bl" rotWithShape="0" blurRad="203200" dist="76200" dir="5400000">
              <a:srgbClr val="1E468C">
                <a:alpha val="16000"/>
              </a:srgbClr>
            </a:outerShdw>
          </a:effectLst>
        </p:spPr>
      </p:sp>
      <p:sp>
        <p:nvSpPr>
          <p:cNvPr id="3" name="shape 8.2"/>
          <p:cNvSpPr/>
          <p:nvPr/>
        </p:nvSpPr>
        <p:spPr>
          <a:xfrm>
            <a:off x="3022524" y="1892253"/>
            <a:ext cx="2285943" cy="673083"/>
          </a:xfrm>
          <a:prstGeom prst="roundRect">
            <a:avLst>
              <a:gd name="adj" fmla="val 18868"/>
            </a:avLst>
          </a:prstGeom>
          <a:solidFill>
            <a:srgbClr val="E2F4FD"/>
          </a:solidFill>
          <a:ln/>
          <a:effectLst>
            <a:outerShdw sx="100000" sy="100000" kx="0" ky="0" algn="bl" rotWithShape="0" blurRad="203200" dist="76200" dir="5400000">
              <a:srgbClr val="1E468C">
                <a:alpha val="16000"/>
              </a:srgbClr>
            </a:outerShdw>
          </a:effectLst>
        </p:spPr>
      </p:sp>
      <p:sp>
        <p:nvSpPr>
          <p:cNvPr id="4" name="shape 8.3"/>
          <p:cNvSpPr/>
          <p:nvPr/>
        </p:nvSpPr>
        <p:spPr>
          <a:xfrm>
            <a:off x="5435464" y="1892253"/>
            <a:ext cx="2285943" cy="673083"/>
          </a:xfrm>
          <a:prstGeom prst="roundRect">
            <a:avLst>
              <a:gd name="adj" fmla="val 18868"/>
            </a:avLst>
          </a:prstGeom>
          <a:solidFill>
            <a:srgbClr val="FFFFFF">
              <a:alpha val="50000"/>
            </a:srgbClr>
          </a:solidFill>
          <a:ln w="12700">
            <a:solidFill>
              <a:srgbClr val="C7D4E8"/>
            </a:solidFill>
            <a:prstDash val="solid"/>
          </a:ln>
        </p:spPr>
      </p:sp>
      <p:sp>
        <p:nvSpPr>
          <p:cNvPr id="5" name="shape 8.4"/>
          <p:cNvSpPr/>
          <p:nvPr/>
        </p:nvSpPr>
        <p:spPr>
          <a:xfrm>
            <a:off x="609585" y="2946326"/>
            <a:ext cx="7111822" cy="419090"/>
          </a:xfrm>
          <a:prstGeom prst="roundRect">
            <a:avLst>
              <a:gd name="adj" fmla="val 30303"/>
            </a:avLst>
          </a:prstGeom>
          <a:solidFill>
            <a:srgbClr val="FFF6D9"/>
          </a:solidFill>
          <a:ln/>
          <a:effectLst>
            <a:outerShdw sx="100000" sy="100000" kx="0" ky="0" algn="bl" rotWithShape="0" blurRad="203200" dist="76200" dir="5400000">
              <a:srgbClr val="1E468C">
                <a:alpha val="16000"/>
              </a:srgbClr>
            </a:outerShdw>
          </a:effectLst>
        </p:spPr>
      </p:sp>
      <p:sp>
        <p:nvSpPr>
          <p:cNvPr id="6" name="shape 8.5"/>
          <p:cNvSpPr/>
          <p:nvPr/>
        </p:nvSpPr>
        <p:spPr>
          <a:xfrm>
            <a:off x="609585" y="3733707"/>
            <a:ext cx="1015975"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7" name="shape 8.6"/>
          <p:cNvSpPr/>
          <p:nvPr/>
        </p:nvSpPr>
        <p:spPr>
          <a:xfrm>
            <a:off x="1727157" y="3733707"/>
            <a:ext cx="1142971"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8" name="shape 8.7"/>
          <p:cNvSpPr/>
          <p:nvPr/>
        </p:nvSpPr>
        <p:spPr>
          <a:xfrm>
            <a:off x="2971726" y="3733707"/>
            <a:ext cx="761981"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9" name="shape 8.8"/>
          <p:cNvSpPr/>
          <p:nvPr/>
        </p:nvSpPr>
        <p:spPr>
          <a:xfrm>
            <a:off x="3835304" y="3733707"/>
            <a:ext cx="1523962"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0" name="shape 8.9"/>
          <p:cNvSpPr/>
          <p:nvPr/>
        </p:nvSpPr>
        <p:spPr>
          <a:xfrm>
            <a:off x="5460863" y="3733707"/>
            <a:ext cx="1079473"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1" name="shape 8.10"/>
          <p:cNvSpPr/>
          <p:nvPr/>
        </p:nvSpPr>
        <p:spPr>
          <a:xfrm>
            <a:off x="6641934" y="3733707"/>
            <a:ext cx="1079473"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2" name="shape 8.11"/>
          <p:cNvSpPr/>
          <p:nvPr/>
        </p:nvSpPr>
        <p:spPr>
          <a:xfrm>
            <a:off x="609585" y="4521087"/>
            <a:ext cx="7111822" cy="419090"/>
          </a:xfrm>
          <a:prstGeom prst="roundRect">
            <a:avLst>
              <a:gd name="adj" fmla="val 30303"/>
            </a:avLst>
          </a:prstGeom>
          <a:solidFill>
            <a:srgbClr val="F0E8FF"/>
          </a:solidFill>
          <a:ln/>
          <a:effectLst>
            <a:outerShdw sx="100000" sy="100000" kx="0" ky="0" algn="bl" rotWithShape="0" blurRad="203200" dist="76200" dir="5400000">
              <a:srgbClr val="1E468C">
                <a:alpha val="16000"/>
              </a:srgbClr>
            </a:outerShdw>
          </a:effectLst>
        </p:spPr>
      </p:sp>
      <p:sp>
        <p:nvSpPr>
          <p:cNvPr id="13" name="shape 8.12"/>
          <p:cNvSpPr/>
          <p:nvPr/>
        </p:nvSpPr>
        <p:spPr>
          <a:xfrm>
            <a:off x="609585" y="5308467"/>
            <a:ext cx="7111822" cy="419090"/>
          </a:xfrm>
          <a:prstGeom prst="roundRect">
            <a:avLst>
              <a:gd name="adj" fmla="val 30303"/>
            </a:avLst>
          </a:prstGeom>
          <a:solidFill>
            <a:srgbClr val="FFFFFF"/>
          </a:solidFill>
          <a:ln/>
          <a:effectLst>
            <a:outerShdw sx="100000" sy="100000" kx="0" ky="0" algn="bl" rotWithShape="0" blurRad="203200" dist="76200" dir="5400000">
              <a:srgbClr val="1E468C">
                <a:alpha val="16000"/>
              </a:srgbClr>
            </a:outerShdw>
          </a:effectLst>
        </p:spPr>
      </p:sp>
      <p:sp>
        <p:nvSpPr>
          <p:cNvPr id="14" name="shape 8.13"/>
          <p:cNvSpPr/>
          <p:nvPr/>
        </p:nvSpPr>
        <p:spPr>
          <a:xfrm>
            <a:off x="8153196" y="1714457"/>
            <a:ext cx="3428914" cy="4190895"/>
          </a:xfrm>
          <a:prstGeom prst="roundRect">
            <a:avLst>
              <a:gd name="adj" fmla="val 5185"/>
            </a:avLst>
          </a:prstGeom>
          <a:solidFill>
            <a:srgbClr val="FFFFFF"/>
          </a:solidFill>
          <a:ln/>
          <a:effectLst>
            <a:outerShdw sx="100000" sy="100000" kx="0" ky="0" algn="bl" rotWithShape="0" blurRad="203200" dist="76200" dir="5400000">
              <a:srgbClr val="1E468C">
                <a:alpha val="16000"/>
              </a:srgbClr>
            </a:outerShdw>
          </a:effectLst>
        </p:spPr>
      </p:sp>
      <p:sp>
        <p:nvSpPr>
          <p:cNvPr id="15" name="text 8.14"/>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shared core; each mini-game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plugs into it</a:t>
            </a:r>
            <a:endParaRPr lang="en-US" sz="2700" dirty="0"/>
          </a:p>
        </p:txBody>
      </p:sp>
      <p:sp>
        <p:nvSpPr>
          <p:cNvPr id="16" name="text 8.15"/>
          <p:cNvSpPr txBox="1"/>
          <p:nvPr/>
        </p:nvSpPr>
        <p:spPr>
          <a:xfrm>
            <a:off x="609585" y="1714457"/>
            <a:ext cx="80168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MINI-GAMES</a:t>
            </a:r>
            <a:endParaRPr lang="en-US" sz="750" dirty="0"/>
          </a:p>
        </p:txBody>
      </p:sp>
      <p:sp>
        <p:nvSpPr>
          <p:cNvPr id="17" name="text 8.16"/>
          <p:cNvSpPr txBox="1"/>
          <p:nvPr/>
        </p:nvSpPr>
        <p:spPr>
          <a:xfrm>
            <a:off x="774681"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FF6B1F"/>
                </a:solidFill>
                <a:latin typeface="Arial Rounded MT Bold" pitchFamily="34" charset="0"/>
                <a:ea typeface="Arial Rounded MT Bold" pitchFamily="34" charset="-122"/>
                <a:cs typeface="Arial Rounded MT Bold" pitchFamily="34" charset="-120"/>
              </a:rPr>
              <a:t>Mass Knockout</a:t>
            </a:r>
            <a:endParaRPr lang="en-US" sz="1300" dirty="0"/>
          </a:p>
        </p:txBody>
      </p:sp>
      <p:sp>
        <p:nvSpPr>
          <p:cNvPr id="18" name="text 8.17"/>
          <p:cNvSpPr txBox="1"/>
          <p:nvPr/>
        </p:nvSpPr>
        <p:spPr>
          <a:xfrm>
            <a:off x="774681" y="2285943"/>
            <a:ext cx="1424388" cy="151126"/>
          </a:xfrm>
          <a:prstGeom prst="rect">
            <a:avLst/>
          </a:prstGeom>
          <a:noFill/>
          <a:ln/>
        </p:spPr>
        <p:txBody>
          <a:bodyPr wrap="square" lIns="0" tIns="0" rIns="0" bIns="0" rtlCol="0" anchor="t"/>
          <a:lstStyle/>
          <a:p>
            <a:pPr algn="l" indent="0" marL="0">
              <a:lnSpc>
                <a:spcPts val="1190"/>
              </a:lnSpc>
              <a:buNone/>
            </a:pPr>
            <a:r>
              <a:rPr lang="en-US" sz="850" dirty="0">
                <a:solidFill>
                  <a:srgbClr val="3B4A66"/>
                </a:solidFill>
                <a:latin typeface="Arial" pitchFamily="34" charset="0"/>
                <a:ea typeface="Arial" pitchFamily="34" charset="-122"/>
                <a:cs typeface="Arial" pitchFamily="34" charset="-120"/>
              </a:rPr>
              <a:t>mass · knockback · fall-out</a:t>
            </a:r>
            <a:endParaRPr lang="en-US" sz="850" dirty="0"/>
          </a:p>
        </p:txBody>
      </p:sp>
      <p:sp>
        <p:nvSpPr>
          <p:cNvPr id="19" name="text 8.18"/>
          <p:cNvSpPr txBox="1"/>
          <p:nvPr/>
        </p:nvSpPr>
        <p:spPr>
          <a:xfrm>
            <a:off x="3187620"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1FA9EA"/>
                </a:solidFill>
                <a:latin typeface="Arial Rounded MT Bold" pitchFamily="34" charset="0"/>
                <a:ea typeface="Arial Rounded MT Bold" pitchFamily="34" charset="-122"/>
                <a:cs typeface="Arial Rounded MT Bold" pitchFamily="34" charset="-120"/>
              </a:rPr>
              <a:t>Ice Race</a:t>
            </a:r>
            <a:endParaRPr lang="en-US" sz="1300" dirty="0"/>
          </a:p>
        </p:txBody>
      </p:sp>
      <p:sp>
        <p:nvSpPr>
          <p:cNvPr id="20" name="text 8.19"/>
          <p:cNvSpPr txBox="1"/>
          <p:nvPr/>
        </p:nvSpPr>
        <p:spPr>
          <a:xfrm>
            <a:off x="3187620" y="2285943"/>
            <a:ext cx="1736110" cy="151126"/>
          </a:xfrm>
          <a:prstGeom prst="rect">
            <a:avLst/>
          </a:prstGeom>
          <a:noFill/>
          <a:ln/>
        </p:spPr>
        <p:txBody>
          <a:bodyPr wrap="square" lIns="0" tIns="0" rIns="0" bIns="0" rtlCol="0" anchor="t"/>
          <a:lstStyle/>
          <a:p>
            <a:pPr algn="l" indent="0" marL="0">
              <a:lnSpc>
                <a:spcPts val="1190"/>
              </a:lnSpc>
              <a:buNone/>
            </a:pPr>
            <a:r>
              <a:rPr lang="en-US" sz="850" dirty="0">
                <a:solidFill>
                  <a:srgbClr val="3B4A66"/>
                </a:solidFill>
                <a:latin typeface="Arial" pitchFamily="34" charset="0"/>
                <a:ea typeface="Arial" pitchFamily="34" charset="-122"/>
                <a:cs typeface="Arial" pitchFamily="34" charset="-120"/>
              </a:rPr>
              <a:t>ice grip · loop track · checkpoints</a:t>
            </a:r>
            <a:endParaRPr lang="en-US" sz="850" dirty="0"/>
          </a:p>
        </p:txBody>
      </p:sp>
      <p:sp>
        <p:nvSpPr>
          <p:cNvPr id="21" name="text 8.20"/>
          <p:cNvSpPr txBox="1"/>
          <p:nvPr/>
        </p:nvSpPr>
        <p:spPr>
          <a:xfrm>
            <a:off x="5600560"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A9B6CC"/>
                </a:solidFill>
                <a:latin typeface="Arial Rounded MT Bold" pitchFamily="34" charset="0"/>
                <a:ea typeface="Arial Rounded MT Bold" pitchFamily="34" charset="-122"/>
                <a:cs typeface="Arial Rounded MT Bold" pitchFamily="34" charset="-120"/>
              </a:rPr>
              <a:t>Next mini-game</a:t>
            </a:r>
            <a:endParaRPr lang="en-US" sz="1300" dirty="0"/>
          </a:p>
        </p:txBody>
      </p:sp>
      <p:sp>
        <p:nvSpPr>
          <p:cNvPr id="22" name="text 8.21"/>
          <p:cNvSpPr txBox="1"/>
          <p:nvPr/>
        </p:nvSpPr>
        <p:spPr>
          <a:xfrm>
            <a:off x="5600560" y="2285943"/>
            <a:ext cx="1199011" cy="151126"/>
          </a:xfrm>
          <a:prstGeom prst="rect">
            <a:avLst/>
          </a:prstGeom>
          <a:noFill/>
          <a:ln/>
        </p:spPr>
        <p:txBody>
          <a:bodyPr wrap="square" lIns="0" tIns="0" rIns="0" bIns="0" rtlCol="0" anchor="t"/>
          <a:lstStyle/>
          <a:p>
            <a:pPr algn="l" indent="0" marL="0">
              <a:lnSpc>
                <a:spcPts val="1190"/>
              </a:lnSpc>
              <a:buNone/>
            </a:pPr>
            <a:r>
              <a:rPr lang="en-US" sz="850" dirty="0">
                <a:solidFill>
                  <a:srgbClr val="3B4A66"/>
                </a:solidFill>
                <a:latin typeface="Arial" pitchFamily="34" charset="0"/>
                <a:ea typeface="Arial" pitchFamily="34" charset="-122"/>
                <a:cs typeface="Arial" pitchFamily="34" charset="-120"/>
              </a:rPr>
              <a:t>new rules + one arena</a:t>
            </a:r>
            <a:endParaRPr lang="en-US" sz="850" dirty="0"/>
          </a:p>
        </p:txBody>
      </p:sp>
      <p:sp>
        <p:nvSpPr>
          <p:cNvPr id="23" name="text 8.22"/>
          <p:cNvSpPr txBox="1"/>
          <p:nvPr/>
        </p:nvSpPr>
        <p:spPr>
          <a:xfrm>
            <a:off x="609585" y="2768531"/>
            <a:ext cx="142575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MINI-GAME CONTRACT</a:t>
            </a:r>
            <a:endParaRPr lang="en-US" sz="750" dirty="0"/>
          </a:p>
        </p:txBody>
      </p:sp>
      <p:sp>
        <p:nvSpPr>
          <p:cNvPr id="24" name="text 8.23"/>
          <p:cNvSpPr txBox="1"/>
          <p:nvPr/>
        </p:nvSpPr>
        <p:spPr>
          <a:xfrm>
            <a:off x="609585" y="2946326"/>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8A6200"/>
                </a:solidFill>
                <a:latin typeface="Arial" pitchFamily="34" charset="0"/>
                <a:ea typeface="Arial" pitchFamily="34" charset="-122"/>
                <a:cs typeface="Arial" pitchFamily="34" charset="-120"/>
              </a:rPr>
              <a:t>Setup(players) → Run() → Results() : placement</a:t>
            </a:r>
            <a:endParaRPr lang="en-US" sz="1000" dirty="0"/>
          </a:p>
        </p:txBody>
      </p:sp>
      <p:sp>
        <p:nvSpPr>
          <p:cNvPr id="25" name="text 8.24"/>
          <p:cNvSpPr txBox="1"/>
          <p:nvPr/>
        </p:nvSpPr>
        <p:spPr>
          <a:xfrm>
            <a:off x="609585" y="3555911"/>
            <a:ext cx="126253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SHARED GAMEPLAY</a:t>
            </a:r>
            <a:endParaRPr lang="en-US" sz="750" dirty="0"/>
          </a:p>
        </p:txBody>
      </p:sp>
      <p:sp>
        <p:nvSpPr>
          <p:cNvPr id="26" name="text 8.25"/>
          <p:cNvSpPr txBox="1"/>
          <p:nvPr/>
        </p:nvSpPr>
        <p:spPr>
          <a:xfrm>
            <a:off x="609585" y="3733707"/>
            <a:ext cx="1015975"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Character</a:t>
            </a:r>
            <a:endParaRPr lang="en-US" sz="1000" dirty="0"/>
          </a:p>
        </p:txBody>
      </p:sp>
      <p:sp>
        <p:nvSpPr>
          <p:cNvPr id="27" name="text 8.26"/>
          <p:cNvSpPr txBox="1"/>
          <p:nvPr/>
        </p:nvSpPr>
        <p:spPr>
          <a:xfrm>
            <a:off x="1727157" y="3733707"/>
            <a:ext cx="1142971"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TPS camera</a:t>
            </a:r>
            <a:endParaRPr lang="en-US" sz="1000" dirty="0"/>
          </a:p>
        </p:txBody>
      </p:sp>
      <p:sp>
        <p:nvSpPr>
          <p:cNvPr id="28" name="text 8.27"/>
          <p:cNvSpPr txBox="1"/>
          <p:nvPr/>
        </p:nvSpPr>
        <p:spPr>
          <a:xfrm>
            <a:off x="2971726" y="3733707"/>
            <a:ext cx="761981"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Shot</a:t>
            </a:r>
            <a:endParaRPr lang="en-US" sz="1000" dirty="0"/>
          </a:p>
        </p:txBody>
      </p:sp>
      <p:sp>
        <p:nvSpPr>
          <p:cNvPr id="29" name="text 8.28"/>
          <p:cNvSpPr txBox="1"/>
          <p:nvPr/>
        </p:nvSpPr>
        <p:spPr>
          <a:xfrm>
            <a:off x="3835304" y="3733707"/>
            <a:ext cx="152396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Rounds &amp; playlist</a:t>
            </a:r>
            <a:endParaRPr lang="en-US" sz="1000" dirty="0"/>
          </a:p>
        </p:txBody>
      </p:sp>
      <p:sp>
        <p:nvSpPr>
          <p:cNvPr id="30" name="text 8.29"/>
          <p:cNvSpPr txBox="1"/>
          <p:nvPr/>
        </p:nvSpPr>
        <p:spPr>
          <a:xfrm>
            <a:off x="5460863" y="3733707"/>
            <a:ext cx="1079473"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Scoreboard</a:t>
            </a:r>
            <a:endParaRPr lang="en-US" sz="1000" dirty="0"/>
          </a:p>
        </p:txBody>
      </p:sp>
      <p:sp>
        <p:nvSpPr>
          <p:cNvPr id="31" name="text 8.30"/>
          <p:cNvSpPr txBox="1"/>
          <p:nvPr/>
        </p:nvSpPr>
        <p:spPr>
          <a:xfrm>
            <a:off x="6641934" y="3733707"/>
            <a:ext cx="1079473"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Lobby &amp; UI</a:t>
            </a:r>
            <a:endParaRPr lang="en-US" sz="1000" dirty="0"/>
          </a:p>
        </p:txBody>
      </p:sp>
      <p:sp>
        <p:nvSpPr>
          <p:cNvPr id="32" name="text 8.31"/>
          <p:cNvSpPr txBox="1"/>
          <p:nvPr/>
        </p:nvSpPr>
        <p:spPr>
          <a:xfrm>
            <a:off x="609585" y="4343291"/>
            <a:ext cx="66990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NETWORK</a:t>
            </a:r>
            <a:endParaRPr lang="en-US" sz="750" dirty="0"/>
          </a:p>
        </p:txBody>
      </p:sp>
      <p:sp>
        <p:nvSpPr>
          <p:cNvPr id="33" name="text 8.32"/>
          <p:cNvSpPr txBox="1"/>
          <p:nvPr/>
        </p:nvSpPr>
        <p:spPr>
          <a:xfrm>
            <a:off x="609585" y="4521087"/>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8F55F5"/>
                </a:solidFill>
                <a:latin typeface="Arial" pitchFamily="34" charset="0"/>
                <a:ea typeface="Arial" pitchFamily="34" charset="-122"/>
                <a:cs typeface="Arial" pitchFamily="34" charset="-120"/>
              </a:rPr>
              <a:t>Host-authoritative LAN · Unity Netcode for GameObjects (candidate)</a:t>
            </a:r>
            <a:endParaRPr lang="en-US" sz="1000" dirty="0"/>
          </a:p>
        </p:txBody>
      </p:sp>
      <p:sp>
        <p:nvSpPr>
          <p:cNvPr id="34" name="text 8.33"/>
          <p:cNvSpPr txBox="1"/>
          <p:nvPr/>
        </p:nvSpPr>
        <p:spPr>
          <a:xfrm>
            <a:off x="609585" y="5130672"/>
            <a:ext cx="52329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ENGINE</a:t>
            </a:r>
            <a:endParaRPr lang="en-US" sz="750" dirty="0"/>
          </a:p>
        </p:txBody>
      </p:sp>
      <p:sp>
        <p:nvSpPr>
          <p:cNvPr id="35" name="text 8.34"/>
          <p:cNvSpPr txBox="1"/>
          <p:nvPr/>
        </p:nvSpPr>
        <p:spPr>
          <a:xfrm>
            <a:off x="609585" y="5308467"/>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6E7D9A"/>
                </a:solidFill>
                <a:latin typeface="Arial" pitchFamily="34" charset="0"/>
                <a:ea typeface="Arial" pitchFamily="34" charset="-122"/>
                <a:cs typeface="Arial" pitchFamily="34" charset="-120"/>
              </a:rPr>
              <a:t>Unity · built-in rigidbody physics</a:t>
            </a:r>
            <a:endParaRPr lang="en-US" sz="1000" dirty="0"/>
          </a:p>
        </p:txBody>
      </p:sp>
      <p:sp>
        <p:nvSpPr>
          <p:cNvPr id="36" name="text 8.35"/>
          <p:cNvSpPr txBox="1"/>
          <p:nvPr/>
        </p:nvSpPr>
        <p:spPr>
          <a:xfrm>
            <a:off x="8407190" y="1930352"/>
            <a:ext cx="1169143"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WHY THIS SPLIT</a:t>
            </a:r>
            <a:endParaRPr lang="en-US" sz="850" dirty="0"/>
          </a:p>
        </p:txBody>
      </p:sp>
      <p:sp>
        <p:nvSpPr>
          <p:cNvPr id="37" name="text 8.36"/>
          <p:cNvSpPr txBox="1"/>
          <p:nvPr/>
        </p:nvSpPr>
        <p:spPr>
          <a:xfrm>
            <a:off x="8407190" y="2260543"/>
            <a:ext cx="634357" cy="204465"/>
          </a:xfrm>
          <a:prstGeom prst="rect">
            <a:avLst/>
          </a:prstGeom>
          <a:noFill/>
          <a:ln/>
        </p:spPr>
        <p:txBody>
          <a:bodyPr wrap="square" lIns="0" tIns="0" rIns="0" bIns="0" rtlCol="0" anchor="t"/>
          <a:lstStyle/>
          <a:p>
            <a:pPr algn="l" indent="0" marL="0">
              <a:lnSpc>
                <a:spcPts val="1610"/>
              </a:lnSpc>
              <a:buNone/>
            </a:pPr>
            <a:r>
              <a:rPr lang="en-US" sz="1400" dirty="0">
                <a:solidFill>
                  <a:srgbClr val="FF6B1F"/>
                </a:solidFill>
                <a:latin typeface="Arial Rounded MT Bold" pitchFamily="34" charset="0"/>
                <a:ea typeface="Arial Rounded MT Bold" pitchFamily="34" charset="-122"/>
                <a:cs typeface="Arial Rounded MT Bold" pitchFamily="34" charset="-120"/>
              </a:rPr>
              <a:t>Reuse</a:t>
            </a:r>
            <a:endParaRPr lang="en-US" sz="1400" dirty="0"/>
          </a:p>
        </p:txBody>
      </p:sp>
      <p:sp>
        <p:nvSpPr>
          <p:cNvPr id="38" name="text 8.37"/>
          <p:cNvSpPr txBox="1"/>
          <p:nvPr/>
        </p:nvSpPr>
        <p:spPr>
          <a:xfrm>
            <a:off x="8407190" y="2514537"/>
            <a:ext cx="2959026" cy="579820"/>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A new mini-game is new rules plus one arena. Character, camera, network and scores already exist.</a:t>
            </a:r>
            <a:endParaRPr lang="en-US" sz="1050" dirty="0"/>
          </a:p>
        </p:txBody>
      </p:sp>
      <p:sp>
        <p:nvSpPr>
          <p:cNvPr id="39" name="text 8.38"/>
          <p:cNvSpPr txBox="1"/>
          <p:nvPr/>
        </p:nvSpPr>
        <p:spPr>
          <a:xfrm>
            <a:off x="8407190" y="3594010"/>
            <a:ext cx="1444686" cy="204465"/>
          </a:xfrm>
          <a:prstGeom prst="rect">
            <a:avLst/>
          </a:prstGeom>
          <a:noFill/>
          <a:ln/>
        </p:spPr>
        <p:txBody>
          <a:bodyPr wrap="square" lIns="0" tIns="0" rIns="0" bIns="0" rtlCol="0" anchor="t"/>
          <a:lstStyle/>
          <a:p>
            <a:pPr algn="l" indent="0" marL="0">
              <a:lnSpc>
                <a:spcPts val="1610"/>
              </a:lnSpc>
              <a:buNone/>
            </a:pPr>
            <a:r>
              <a:rPr lang="en-US" sz="1400" dirty="0">
                <a:solidFill>
                  <a:srgbClr val="1FA9EA"/>
                </a:solidFill>
                <a:latin typeface="Arial Rounded MT Bold" pitchFamily="34" charset="0"/>
                <a:ea typeface="Arial Rounded MT Bold" pitchFamily="34" charset="-122"/>
                <a:cs typeface="Arial Rounded MT Bold" pitchFamily="34" charset="-120"/>
              </a:rPr>
              <a:t>Per-game rules</a:t>
            </a:r>
            <a:endParaRPr lang="en-US" sz="1400" dirty="0"/>
          </a:p>
        </p:txBody>
      </p:sp>
      <p:sp>
        <p:nvSpPr>
          <p:cNvPr id="40" name="text 8.39"/>
          <p:cNvSpPr txBox="1"/>
          <p:nvPr/>
        </p:nvSpPr>
        <p:spPr>
          <a:xfrm>
            <a:off x="8407190" y="3848004"/>
            <a:ext cx="2959026" cy="579820"/>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Each mini-game sets what a shot does, how much grip the floor has, and whether jumping is on.</a:t>
            </a:r>
            <a:endParaRPr lang="en-US" sz="1050" dirty="0"/>
          </a:p>
        </p:txBody>
      </p:sp>
      <p:sp>
        <p:nvSpPr>
          <p:cNvPr id="41" name="text 8.40"/>
          <p:cNvSpPr txBox="1"/>
          <p:nvPr/>
        </p:nvSpPr>
        <p:spPr>
          <a:xfrm>
            <a:off x="8407190" y="4736982"/>
            <a:ext cx="924729" cy="204465"/>
          </a:xfrm>
          <a:prstGeom prst="rect">
            <a:avLst/>
          </a:prstGeom>
          <a:noFill/>
          <a:ln/>
        </p:spPr>
        <p:txBody>
          <a:bodyPr wrap="square" lIns="0" tIns="0" rIns="0" bIns="0" rtlCol="0" anchor="t"/>
          <a:lstStyle/>
          <a:p>
            <a:pPr algn="l" indent="0" marL="0">
              <a:lnSpc>
                <a:spcPts val="1610"/>
              </a:lnSpc>
              <a:buNone/>
            </a:pPr>
            <a:r>
              <a:rPr lang="en-US" sz="1400" dirty="0">
                <a:solidFill>
                  <a:srgbClr val="43B832"/>
                </a:solidFill>
                <a:latin typeface="Arial Rounded MT Bold" pitchFamily="34" charset="0"/>
                <a:ea typeface="Arial Rounded MT Bold" pitchFamily="34" charset="-122"/>
                <a:cs typeface="Arial Rounded MT Bold" pitchFamily="34" charset="-120"/>
              </a:rPr>
              <a:t>One truth</a:t>
            </a:r>
            <a:endParaRPr lang="en-US" sz="1400" dirty="0"/>
          </a:p>
        </p:txBody>
      </p:sp>
      <p:sp>
        <p:nvSpPr>
          <p:cNvPr id="42" name="text 8.41"/>
          <p:cNvSpPr txBox="1"/>
          <p:nvPr/>
        </p:nvSpPr>
        <p:spPr>
          <a:xfrm>
            <a:off x="8407190" y="4990975"/>
            <a:ext cx="295902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Everything that decides a result runs on the host, so every screen agrees.</a:t>
            </a:r>
            <a:endParaRPr lang="en-US" sz="1050" dirty="0"/>
          </a:p>
        </p:txBody>
      </p:sp>
      <p:sp>
        <p:nvSpPr>
          <p:cNvPr id="43" name="shape 8.42"/>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4" name="shape 8.43"/>
          <p:cNvSpPr/>
          <p:nvPr/>
        </p:nvSpPr>
        <p:spPr>
          <a:xfrm>
            <a:off x="711182" y="355591"/>
            <a:ext cx="114297" cy="114297"/>
          </a:xfrm>
          <a:prstGeom prst="roundRect">
            <a:avLst>
              <a:gd name="adj" fmla="val 33333"/>
            </a:avLst>
          </a:prstGeom>
          <a:solidFill>
            <a:srgbClr val="FF6B1F"/>
          </a:solidFill>
          <a:ln/>
        </p:spPr>
      </p:sp>
      <p:sp>
        <p:nvSpPr>
          <p:cNvPr id="45" name="shape 8.44"/>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6" name="shape 8.45"/>
          <p:cNvSpPr/>
          <p:nvPr/>
        </p:nvSpPr>
        <p:spPr>
          <a:xfrm>
            <a:off x="10058149" y="368291"/>
            <a:ext cx="101597" cy="101597"/>
          </a:xfrm>
          <a:prstGeom prst="roundRect">
            <a:avLst>
              <a:gd name="adj" fmla="val 31250"/>
            </a:avLst>
          </a:prstGeom>
          <a:solidFill>
            <a:srgbClr val="16233F"/>
          </a:solidFill>
          <a:ln/>
        </p:spPr>
      </p:sp>
      <p:sp>
        <p:nvSpPr>
          <p:cNvPr id="47" name="shape 8.46"/>
          <p:cNvSpPr/>
          <p:nvPr/>
        </p:nvSpPr>
        <p:spPr>
          <a:xfrm>
            <a:off x="10223244" y="368291"/>
            <a:ext cx="101597" cy="101597"/>
          </a:xfrm>
          <a:prstGeom prst="roundRect">
            <a:avLst>
              <a:gd name="adj" fmla="val 31250"/>
            </a:avLst>
          </a:prstGeom>
          <a:solidFill>
            <a:srgbClr val="FF6B1F"/>
          </a:solidFill>
          <a:ln/>
        </p:spPr>
      </p:sp>
      <p:sp>
        <p:nvSpPr>
          <p:cNvPr id="48" name="shape 8.47"/>
          <p:cNvSpPr/>
          <p:nvPr/>
        </p:nvSpPr>
        <p:spPr>
          <a:xfrm>
            <a:off x="10388340" y="368291"/>
            <a:ext cx="101597" cy="101597"/>
          </a:xfrm>
          <a:prstGeom prst="roundRect">
            <a:avLst>
              <a:gd name="adj" fmla="val 31250"/>
            </a:avLst>
          </a:prstGeom>
          <a:solidFill>
            <a:srgbClr val="C7D4E8"/>
          </a:solidFill>
          <a:ln/>
        </p:spPr>
      </p:sp>
      <p:sp>
        <p:nvSpPr>
          <p:cNvPr id="49" name="shape 8.48"/>
          <p:cNvSpPr/>
          <p:nvPr/>
        </p:nvSpPr>
        <p:spPr>
          <a:xfrm>
            <a:off x="10553436" y="368291"/>
            <a:ext cx="101597" cy="101597"/>
          </a:xfrm>
          <a:prstGeom prst="roundRect">
            <a:avLst>
              <a:gd name="adj" fmla="val 31250"/>
            </a:avLst>
          </a:prstGeom>
          <a:solidFill>
            <a:srgbClr val="C7D4E8"/>
          </a:solidFill>
          <a:ln/>
        </p:spPr>
      </p:sp>
      <p:sp>
        <p:nvSpPr>
          <p:cNvPr id="50" name="shape 8.49"/>
          <p:cNvSpPr/>
          <p:nvPr/>
        </p:nvSpPr>
        <p:spPr>
          <a:xfrm>
            <a:off x="10718532" y="368291"/>
            <a:ext cx="101597" cy="101597"/>
          </a:xfrm>
          <a:prstGeom prst="roundRect">
            <a:avLst>
              <a:gd name="adj" fmla="val 31250"/>
            </a:avLst>
          </a:prstGeom>
          <a:solidFill>
            <a:srgbClr val="C7D4E8"/>
          </a:solidFill>
          <a:ln/>
        </p:spPr>
      </p:sp>
      <p:sp>
        <p:nvSpPr>
          <p:cNvPr id="51" name="shape 8.50"/>
          <p:cNvSpPr/>
          <p:nvPr/>
        </p:nvSpPr>
        <p:spPr>
          <a:xfrm>
            <a:off x="10883628" y="368291"/>
            <a:ext cx="101597" cy="101597"/>
          </a:xfrm>
          <a:prstGeom prst="roundRect">
            <a:avLst>
              <a:gd name="adj" fmla="val 31250"/>
            </a:avLst>
          </a:prstGeom>
          <a:solidFill>
            <a:srgbClr val="C7D4E8"/>
          </a:solidFill>
          <a:ln/>
        </p:spPr>
      </p:sp>
      <p:sp>
        <p:nvSpPr>
          <p:cNvPr id="52" name="text 8.51"/>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08</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53" name="text 8.52"/>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9.1"/>
          <p:cNvSpPr/>
          <p:nvPr/>
        </p:nvSpPr>
        <p:spPr>
          <a:xfrm>
            <a:off x="1015975" y="1663658"/>
            <a:ext cx="2158946" cy="584185"/>
          </a:xfrm>
          <a:prstGeom prst="roundRect">
            <a:avLst>
              <a:gd name="adj" fmla="val 21739"/>
            </a:avLst>
          </a:prstGeom>
          <a:solidFill>
            <a:srgbClr val="FFFFFF"/>
          </a:solidFill>
          <a:ln/>
          <a:effectLst>
            <a:outerShdw sx="100000" sy="100000" kx="0" ky="0" algn="bl" rotWithShape="0" blurRad="203200" dist="76200" dir="5400000">
              <a:srgbClr val="1E468C">
                <a:alpha val="16000"/>
              </a:srgbClr>
            </a:outerShdw>
          </a:effectLst>
        </p:spPr>
      </p:sp>
      <p:sp>
        <p:nvSpPr>
          <p:cNvPr id="3" name="shape 9.2"/>
          <p:cNvSpPr/>
          <p:nvPr/>
        </p:nvSpPr>
        <p:spPr>
          <a:xfrm>
            <a:off x="5016375" y="1663658"/>
            <a:ext cx="2158946" cy="584185"/>
          </a:xfrm>
          <a:prstGeom prst="roundRect">
            <a:avLst>
              <a:gd name="adj" fmla="val 21739"/>
            </a:avLst>
          </a:prstGeom>
          <a:solidFill>
            <a:srgbClr val="FFFFFF"/>
          </a:solidFill>
          <a:ln/>
          <a:effectLst>
            <a:outerShdw sx="100000" sy="100000" kx="0" ky="0" algn="bl" rotWithShape="0" blurRad="203200" dist="76200" dir="5400000">
              <a:srgbClr val="1E468C">
                <a:alpha val="16000"/>
              </a:srgbClr>
            </a:outerShdw>
          </a:effectLst>
        </p:spPr>
      </p:sp>
      <p:sp>
        <p:nvSpPr>
          <p:cNvPr id="4" name="shape 9.3"/>
          <p:cNvSpPr/>
          <p:nvPr/>
        </p:nvSpPr>
        <p:spPr>
          <a:xfrm>
            <a:off x="9016775" y="1663658"/>
            <a:ext cx="2158946" cy="584185"/>
          </a:xfrm>
          <a:prstGeom prst="roundRect">
            <a:avLst>
              <a:gd name="adj" fmla="val 21739"/>
            </a:avLst>
          </a:prstGeom>
          <a:solidFill>
            <a:srgbClr val="FFFFFF"/>
          </a:solidFill>
          <a:ln/>
          <a:effectLst>
            <a:outerShdw sx="100000" sy="100000" kx="0" ky="0" algn="bl" rotWithShape="0" blurRad="203200" dist="76200" dir="5400000">
              <a:srgbClr val="1E468C">
                <a:alpha val="16000"/>
              </a:srgbClr>
            </a:outerShdw>
          </a:effectLst>
        </p:spPr>
      </p:sp>
      <p:sp>
        <p:nvSpPr>
          <p:cNvPr id="5" name="shape 9.4"/>
          <p:cNvSpPr/>
          <p:nvPr/>
        </p:nvSpPr>
        <p:spPr>
          <a:xfrm>
            <a:off x="609585" y="5562461"/>
            <a:ext cx="10972526" cy="736582"/>
          </a:xfrm>
          <a:prstGeom prst="roundRect">
            <a:avLst>
              <a:gd name="adj" fmla="val 24138"/>
            </a:avLst>
          </a:prstGeom>
          <a:solidFill>
            <a:srgbClr val="E2F4FD"/>
          </a:solidFill>
          <a:ln/>
          <a:effectLst>
            <a:outerShdw sx="100000" sy="100000" kx="0" ky="0" algn="bl" rotWithShape="0" blurRad="203200" dist="76200" dir="5400000">
              <a:srgbClr val="1E468C">
                <a:alpha val="16000"/>
              </a:srgbClr>
            </a:outerShdw>
          </a:effectLst>
        </p:spPr>
      </p:sp>
      <p:sp>
        <p:nvSpPr>
          <p:cNvPr id="6" name="shape 9.5"/>
          <p:cNvSpPr/>
          <p:nvPr/>
        </p:nvSpPr>
        <p:spPr>
          <a:xfrm>
            <a:off x="2089098" y="2247844"/>
            <a:ext cx="12700" cy="3149521"/>
          </a:xfrm>
          <a:prstGeom prst="roundRect">
            <a:avLst>
              <a:gd name="adj" fmla="val 49999"/>
            </a:avLst>
          </a:prstGeom>
          <a:solidFill>
            <a:srgbClr val="C7D4E8"/>
          </a:solidFill>
          <a:ln/>
        </p:spPr>
      </p:sp>
      <p:sp>
        <p:nvSpPr>
          <p:cNvPr id="7" name="shape 9.6"/>
          <p:cNvSpPr/>
          <p:nvPr/>
        </p:nvSpPr>
        <p:spPr>
          <a:xfrm>
            <a:off x="6089498" y="2247844"/>
            <a:ext cx="12700" cy="3149521"/>
          </a:xfrm>
          <a:prstGeom prst="roundRect">
            <a:avLst>
              <a:gd name="adj" fmla="val 49999"/>
            </a:avLst>
          </a:prstGeom>
          <a:solidFill>
            <a:srgbClr val="C7D4E8"/>
          </a:solidFill>
          <a:ln/>
        </p:spPr>
      </p:sp>
      <p:sp>
        <p:nvSpPr>
          <p:cNvPr id="8" name="shape 9.7"/>
          <p:cNvSpPr/>
          <p:nvPr/>
        </p:nvSpPr>
        <p:spPr>
          <a:xfrm>
            <a:off x="10089898" y="2247844"/>
            <a:ext cx="12700" cy="3149521"/>
          </a:xfrm>
          <a:prstGeom prst="roundRect">
            <a:avLst>
              <a:gd name="adj" fmla="val 49999"/>
            </a:avLst>
          </a:prstGeom>
          <a:solidFill>
            <a:srgbClr val="C7D4E8"/>
          </a:solidFill>
          <a:ln/>
        </p:spPr>
      </p:sp>
      <p:pic>
        <p:nvPicPr>
          <p:cNvPr id="9" name="raster 9.8" descr="diagram">    </p:cNvPr>
          <p:cNvPicPr>
            <a:picLocks noChangeAspect="1"/>
          </p:cNvPicPr>
          <p:nvPr/>
        </p:nvPicPr>
        <p:blipFill>
          <a:blip r:embed="rId2"/>
          <a:stretch>
            <a:fillRect/>
          </a:stretch>
        </p:blipFill>
        <p:spPr>
          <a:xfrm>
            <a:off x="2044649" y="2495488"/>
            <a:ext cx="4101997" cy="215895"/>
          </a:xfrm>
          <a:prstGeom prst="rect">
            <a:avLst/>
          </a:prstGeom>
        </p:spPr>
      </p:pic>
      <p:pic>
        <p:nvPicPr>
          <p:cNvPr id="10" name="raster 9.9" descr="diagram">    </p:cNvPr>
          <p:cNvPicPr>
            <a:picLocks noChangeAspect="1"/>
          </p:cNvPicPr>
          <p:nvPr/>
        </p:nvPicPr>
        <p:blipFill>
          <a:blip r:embed="rId3"/>
          <a:stretch>
            <a:fillRect/>
          </a:stretch>
        </p:blipFill>
        <p:spPr>
          <a:xfrm>
            <a:off x="2044649" y="4590935"/>
            <a:ext cx="4101997" cy="215895"/>
          </a:xfrm>
          <a:prstGeom prst="rect">
            <a:avLst/>
          </a:prstGeom>
        </p:spPr>
      </p:pic>
      <p:pic>
        <p:nvPicPr>
          <p:cNvPr id="11" name="raster 9.10" descr="diagram">    </p:cNvPr>
          <p:cNvPicPr>
            <a:picLocks noChangeAspect="1"/>
          </p:cNvPicPr>
          <p:nvPr/>
        </p:nvPicPr>
        <p:blipFill>
          <a:blip r:embed="rId4"/>
          <a:stretch>
            <a:fillRect/>
          </a:stretch>
        </p:blipFill>
        <p:spPr>
          <a:xfrm>
            <a:off x="6045049" y="4590935"/>
            <a:ext cx="4101997" cy="215895"/>
          </a:xfrm>
          <a:prstGeom prst="rect">
            <a:avLst/>
          </a:prstGeom>
        </p:spPr>
      </p:pic>
      <p:sp>
        <p:nvSpPr>
          <p:cNvPr id="12" name="text 9.1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shot over the LAN,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step by step</a:t>
            </a:r>
            <a:endParaRPr lang="en-US" sz="2700" dirty="0"/>
          </a:p>
        </p:txBody>
      </p:sp>
      <p:pic>
        <p:nvPicPr>
          <p:cNvPr id="13" name="raster 9.12" descr="diagram">    </p:cNvPr>
          <p:cNvPicPr>
            <a:picLocks noChangeAspect="1"/>
          </p:cNvPicPr>
          <p:nvPr/>
        </p:nvPicPr>
        <p:blipFill>
          <a:blip r:embed="rId5"/>
          <a:stretch>
            <a:fillRect/>
          </a:stretch>
        </p:blipFill>
        <p:spPr>
          <a:xfrm>
            <a:off x="1142971" y="1777956"/>
            <a:ext cx="342891" cy="342891"/>
          </a:xfrm>
          <a:prstGeom prst="rect">
            <a:avLst/>
          </a:prstGeom>
        </p:spPr>
      </p:pic>
      <p:sp>
        <p:nvSpPr>
          <p:cNvPr id="14" name="text 9.13"/>
          <p:cNvSpPr txBox="1"/>
          <p:nvPr/>
        </p:nvSpPr>
        <p:spPr>
          <a:xfrm>
            <a:off x="1574761" y="1777956"/>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Client A</a:t>
            </a:r>
            <a:endParaRPr lang="en-US" sz="1500" dirty="0"/>
          </a:p>
        </p:txBody>
      </p:sp>
      <p:sp>
        <p:nvSpPr>
          <p:cNvPr id="15" name="text 9.14"/>
          <p:cNvSpPr txBox="1"/>
          <p:nvPr/>
        </p:nvSpPr>
        <p:spPr>
          <a:xfrm>
            <a:off x="1574761" y="2019250"/>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shooter</a:t>
            </a:r>
            <a:endParaRPr lang="en-US" sz="850" dirty="0"/>
          </a:p>
        </p:txBody>
      </p:sp>
      <p:sp>
        <p:nvSpPr>
          <p:cNvPr id="16" name="text 9.15"/>
          <p:cNvSpPr txBox="1"/>
          <p:nvPr/>
        </p:nvSpPr>
        <p:spPr>
          <a:xfrm>
            <a:off x="5016375" y="1777956"/>
            <a:ext cx="2158946" cy="190495"/>
          </a:xfrm>
          <a:prstGeom prst="rect">
            <a:avLst/>
          </a:prstGeom>
          <a:noFill/>
          <a:ln/>
        </p:spPr>
        <p:txBody>
          <a:bodyPr wrap="square" lIns="0" tIns="0" rIns="0" bIns="0" rtlCol="0" anchor="t"/>
          <a:lstStyle/>
          <a:p>
            <a:pPr algn="ctr" indent="0" marL="0">
              <a:lnSpc>
                <a:spcPts val="1500"/>
              </a:lnSpc>
              <a:buNone/>
            </a:pPr>
            <a:r>
              <a:rPr lang="en-US" sz="1500" dirty="0">
                <a:solidFill>
                  <a:srgbClr val="16233F"/>
                </a:solidFill>
                <a:latin typeface="Arial Rounded MT Bold" pitchFamily="34" charset="0"/>
                <a:ea typeface="Arial Rounded MT Bold" pitchFamily="34" charset="-122"/>
                <a:cs typeface="Arial Rounded MT Bold" pitchFamily="34" charset="-120"/>
              </a:rPr>
              <a:t>Host</a:t>
            </a:r>
            <a:endParaRPr lang="en-US" sz="1500" dirty="0"/>
          </a:p>
        </p:txBody>
      </p:sp>
      <p:sp>
        <p:nvSpPr>
          <p:cNvPr id="17" name="text 9.16"/>
          <p:cNvSpPr txBox="1"/>
          <p:nvPr/>
        </p:nvSpPr>
        <p:spPr>
          <a:xfrm>
            <a:off x="5016375" y="2019250"/>
            <a:ext cx="2158946" cy="151126"/>
          </a:xfrm>
          <a:prstGeom prst="rect">
            <a:avLst/>
          </a:prstGeom>
          <a:noFill/>
          <a:ln/>
        </p:spPr>
        <p:txBody>
          <a:bodyPr wrap="square" lIns="0" tIns="0" rIns="0" bIns="0" rtlCol="0" anchor="t"/>
          <a:lstStyle/>
          <a:p>
            <a:pPr algn="ctr" indent="0" marL="0">
              <a:lnSpc>
                <a:spcPts val="1190"/>
              </a:lnSpc>
              <a:buNone/>
            </a:pPr>
            <a:r>
              <a:rPr lang="en-US" sz="850" dirty="0">
                <a:solidFill>
                  <a:srgbClr val="6E7D9A"/>
                </a:solidFill>
                <a:latin typeface="Arial" pitchFamily="34" charset="0"/>
                <a:ea typeface="Arial" pitchFamily="34" charset="-122"/>
                <a:cs typeface="Arial" pitchFamily="34" charset="-120"/>
              </a:rPr>
              <a:t>authority: runs the physics</a:t>
            </a:r>
            <a:endParaRPr lang="en-US" sz="850" dirty="0"/>
          </a:p>
        </p:txBody>
      </p:sp>
      <p:pic>
        <p:nvPicPr>
          <p:cNvPr id="18" name="raster 9.17" descr="diagram">    </p:cNvPr>
          <p:cNvPicPr>
            <a:picLocks noChangeAspect="1"/>
          </p:cNvPicPr>
          <p:nvPr/>
        </p:nvPicPr>
        <p:blipFill>
          <a:blip r:embed="rId6"/>
          <a:stretch>
            <a:fillRect/>
          </a:stretch>
        </p:blipFill>
        <p:spPr>
          <a:xfrm>
            <a:off x="9143771" y="1777956"/>
            <a:ext cx="342891" cy="342891"/>
          </a:xfrm>
          <a:prstGeom prst="rect">
            <a:avLst/>
          </a:prstGeom>
        </p:spPr>
      </p:pic>
      <p:sp>
        <p:nvSpPr>
          <p:cNvPr id="19" name="text 9.18"/>
          <p:cNvSpPr txBox="1"/>
          <p:nvPr/>
        </p:nvSpPr>
        <p:spPr>
          <a:xfrm>
            <a:off x="9575561" y="1777956"/>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Client B</a:t>
            </a:r>
            <a:endParaRPr lang="en-US" sz="1500" dirty="0"/>
          </a:p>
        </p:txBody>
      </p:sp>
      <p:sp>
        <p:nvSpPr>
          <p:cNvPr id="20" name="text 9.19"/>
          <p:cNvSpPr txBox="1"/>
          <p:nvPr/>
        </p:nvSpPr>
        <p:spPr>
          <a:xfrm>
            <a:off x="9575561" y="2019250"/>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target</a:t>
            </a:r>
            <a:endParaRPr lang="en-US" sz="850" dirty="0"/>
          </a:p>
        </p:txBody>
      </p:sp>
      <p:sp>
        <p:nvSpPr>
          <p:cNvPr id="21" name="shape 9.20"/>
          <p:cNvSpPr/>
          <p:nvPr/>
        </p:nvSpPr>
        <p:spPr>
          <a:xfrm>
            <a:off x="2355791" y="2482788"/>
            <a:ext cx="241294" cy="241294"/>
          </a:xfrm>
          <a:prstGeom prst="roundRect">
            <a:avLst>
              <a:gd name="adj" fmla="val 50000"/>
            </a:avLst>
          </a:prstGeom>
          <a:solidFill>
            <a:srgbClr val="FF6B1F"/>
          </a:solidFill>
          <a:ln/>
          <a:effectLst>
            <a:outerShdw sx="100000" sy="100000" kx="0" ky="0" algn="bl" rotWithShape="0" blurRad="203200" dist="76200" dir="5400000">
              <a:srgbClr val="1E468C">
                <a:alpha val="16000"/>
              </a:srgbClr>
            </a:outerShdw>
          </a:effectLst>
        </p:spPr>
      </p:sp>
      <p:sp>
        <p:nvSpPr>
          <p:cNvPr id="22" name="text 9.21"/>
          <p:cNvSpPr txBox="1"/>
          <p:nvPr/>
        </p:nvSpPr>
        <p:spPr>
          <a:xfrm>
            <a:off x="2355791" y="2482788"/>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1</a:t>
            </a:r>
            <a:endParaRPr lang="en-US" sz="950" dirty="0"/>
          </a:p>
        </p:txBody>
      </p:sp>
      <p:sp>
        <p:nvSpPr>
          <p:cNvPr id="23" name="text 9.22"/>
          <p:cNvSpPr txBox="1"/>
          <p:nvPr/>
        </p:nvSpPr>
        <p:spPr>
          <a:xfrm>
            <a:off x="2679633" y="2362141"/>
            <a:ext cx="1667960"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Fire input + aim direction</a:t>
            </a:r>
            <a:endParaRPr lang="en-US" sz="1000" dirty="0"/>
          </a:p>
        </p:txBody>
      </p:sp>
      <p:sp>
        <p:nvSpPr>
          <p:cNvPr id="24" name="shape 9.23"/>
          <p:cNvSpPr/>
          <p:nvPr/>
        </p:nvSpPr>
        <p:spPr>
          <a:xfrm>
            <a:off x="6025999" y="2793930"/>
            <a:ext cx="139697" cy="1587460"/>
          </a:xfrm>
          <a:prstGeom prst="roundRect">
            <a:avLst>
              <a:gd name="adj" fmla="val 50000"/>
            </a:avLst>
          </a:prstGeom>
          <a:solidFill>
            <a:srgbClr val="FF6B1F"/>
          </a:solidFill>
          <a:ln/>
        </p:spPr>
      </p:sp>
      <p:sp>
        <p:nvSpPr>
          <p:cNvPr id="25" name="shape 9.24"/>
          <p:cNvSpPr/>
          <p:nvPr/>
        </p:nvSpPr>
        <p:spPr>
          <a:xfrm>
            <a:off x="6305392" y="2876478"/>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text 9.25"/>
          <p:cNvSpPr txBox="1"/>
          <p:nvPr/>
        </p:nvSpPr>
        <p:spPr>
          <a:xfrm>
            <a:off x="6305392" y="2876478"/>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2</a:t>
            </a:r>
            <a:endParaRPr lang="en-US" sz="950" dirty="0"/>
          </a:p>
        </p:txBody>
      </p:sp>
      <p:sp>
        <p:nvSpPr>
          <p:cNvPr id="27" name="text 9.26"/>
          <p:cNvSpPr txBox="1"/>
          <p:nvPr/>
        </p:nvSpPr>
        <p:spPr>
          <a:xfrm>
            <a:off x="6629234" y="2914577"/>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Check fire rate; spawn the shot</a:t>
            </a:r>
            <a:endParaRPr lang="en-US" sz="1000" dirty="0"/>
          </a:p>
        </p:txBody>
      </p:sp>
      <p:sp>
        <p:nvSpPr>
          <p:cNvPr id="28" name="shape 9.27"/>
          <p:cNvSpPr/>
          <p:nvPr/>
        </p:nvSpPr>
        <p:spPr>
          <a:xfrm>
            <a:off x="6305392" y="3384465"/>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9" name="text 9.28"/>
          <p:cNvSpPr txBox="1"/>
          <p:nvPr/>
        </p:nvSpPr>
        <p:spPr>
          <a:xfrm>
            <a:off x="6305392" y="3384465"/>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3</a:t>
            </a:r>
            <a:endParaRPr lang="en-US" sz="950" dirty="0"/>
          </a:p>
        </p:txBody>
      </p:sp>
      <p:sp>
        <p:nvSpPr>
          <p:cNvPr id="30" name="text 9.29"/>
          <p:cNvSpPr txBox="1"/>
          <p:nvPr/>
        </p:nvSpPr>
        <p:spPr>
          <a:xfrm>
            <a:off x="6629234" y="3422564"/>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Physics step: the shot reaches B</a:t>
            </a:r>
            <a:endParaRPr lang="en-US" sz="1000" dirty="0"/>
          </a:p>
        </p:txBody>
      </p:sp>
      <p:sp>
        <p:nvSpPr>
          <p:cNvPr id="31" name="shape 9.30"/>
          <p:cNvSpPr/>
          <p:nvPr/>
        </p:nvSpPr>
        <p:spPr>
          <a:xfrm>
            <a:off x="6305392" y="3892453"/>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2" name="text 9.31"/>
          <p:cNvSpPr txBox="1"/>
          <p:nvPr/>
        </p:nvSpPr>
        <p:spPr>
          <a:xfrm>
            <a:off x="6305392" y="3892453"/>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4</a:t>
            </a:r>
            <a:endParaRPr lang="en-US" sz="950" dirty="0"/>
          </a:p>
        </p:txBody>
      </p:sp>
      <p:sp>
        <p:nvSpPr>
          <p:cNvPr id="33" name="text 9.32"/>
          <p:cNvSpPr txBox="1"/>
          <p:nvPr/>
        </p:nvSpPr>
        <p:spPr>
          <a:xfrm>
            <a:off x="6629234" y="3930552"/>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B loses mass; push scaled by B’s new mass</a:t>
            </a:r>
            <a:endParaRPr lang="en-US" sz="1000" dirty="0"/>
          </a:p>
        </p:txBody>
      </p:sp>
      <p:sp>
        <p:nvSpPr>
          <p:cNvPr id="34" name="shape 9.33"/>
          <p:cNvSpPr/>
          <p:nvPr/>
        </p:nvSpPr>
        <p:spPr>
          <a:xfrm>
            <a:off x="5581510" y="4578236"/>
            <a:ext cx="241294" cy="241294"/>
          </a:xfrm>
          <a:prstGeom prst="roundRect">
            <a:avLst>
              <a:gd name="adj" fmla="val 50000"/>
            </a:avLst>
          </a:prstGeom>
          <a:solidFill>
            <a:srgbClr val="1FA9EA"/>
          </a:solidFill>
          <a:ln/>
          <a:effectLst>
            <a:outerShdw sx="100000" sy="100000" kx="0" ky="0" algn="bl" rotWithShape="0" blurRad="203200" dist="76200" dir="5400000">
              <a:srgbClr val="1E468C">
                <a:alpha val="16000"/>
              </a:srgbClr>
            </a:outerShdw>
          </a:effectLst>
        </p:spPr>
      </p:sp>
      <p:sp>
        <p:nvSpPr>
          <p:cNvPr id="35" name="text 9.34"/>
          <p:cNvSpPr txBox="1"/>
          <p:nvPr/>
        </p:nvSpPr>
        <p:spPr>
          <a:xfrm>
            <a:off x="5581510" y="457823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6" name="shape 9.35"/>
          <p:cNvSpPr/>
          <p:nvPr/>
        </p:nvSpPr>
        <p:spPr>
          <a:xfrm>
            <a:off x="6368891" y="4578236"/>
            <a:ext cx="241294" cy="241294"/>
          </a:xfrm>
          <a:prstGeom prst="roundRect">
            <a:avLst>
              <a:gd name="adj" fmla="val 50000"/>
            </a:avLst>
          </a:prstGeom>
          <a:solidFill>
            <a:srgbClr val="1FA9EA"/>
          </a:solidFill>
          <a:ln/>
          <a:effectLst>
            <a:outerShdw sx="100000" sy="100000" kx="0" ky="0" algn="bl" rotWithShape="0" blurRad="203200" dist="76200" dir="5400000">
              <a:srgbClr val="1E468C">
                <a:alpha val="16000"/>
              </a:srgbClr>
            </a:outerShdw>
          </a:effectLst>
        </p:spPr>
      </p:sp>
      <p:sp>
        <p:nvSpPr>
          <p:cNvPr id="37" name="text 9.36"/>
          <p:cNvSpPr txBox="1"/>
          <p:nvPr/>
        </p:nvSpPr>
        <p:spPr>
          <a:xfrm>
            <a:off x="6368891" y="457823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8" name="text 9.37"/>
          <p:cNvSpPr txBox="1"/>
          <p:nvPr/>
        </p:nvSpPr>
        <p:spPr>
          <a:xfrm>
            <a:off x="2349441" y="4457589"/>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Snapshot: positions, sizes, scores</a:t>
            </a:r>
            <a:endParaRPr lang="en-US" sz="1000" dirty="0"/>
          </a:p>
        </p:txBody>
      </p:sp>
      <p:sp>
        <p:nvSpPr>
          <p:cNvPr id="39" name="text 9.38"/>
          <p:cNvSpPr txBox="1"/>
          <p:nvPr/>
        </p:nvSpPr>
        <p:spPr>
          <a:xfrm>
            <a:off x="6743531" y="4457589"/>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Same snapshot to every client</a:t>
            </a:r>
            <a:endParaRPr lang="en-US" sz="1000" dirty="0"/>
          </a:p>
        </p:txBody>
      </p:sp>
      <p:sp>
        <p:nvSpPr>
          <p:cNvPr id="40" name="shape 9.39"/>
          <p:cNvSpPr/>
          <p:nvPr/>
        </p:nvSpPr>
        <p:spPr>
          <a:xfrm>
            <a:off x="1974801" y="5035424"/>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1" name="text 9.40"/>
          <p:cNvSpPr txBox="1"/>
          <p:nvPr/>
        </p:nvSpPr>
        <p:spPr>
          <a:xfrm>
            <a:off x="1974801" y="5035424"/>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6</a:t>
            </a:r>
            <a:endParaRPr lang="en-US" sz="950" dirty="0"/>
          </a:p>
        </p:txBody>
      </p:sp>
      <p:sp>
        <p:nvSpPr>
          <p:cNvPr id="42" name="shape 9.41"/>
          <p:cNvSpPr/>
          <p:nvPr/>
        </p:nvSpPr>
        <p:spPr>
          <a:xfrm>
            <a:off x="9975601" y="5035424"/>
            <a:ext cx="241294" cy="241294"/>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3" name="text 9.42"/>
          <p:cNvSpPr txBox="1"/>
          <p:nvPr/>
        </p:nvSpPr>
        <p:spPr>
          <a:xfrm>
            <a:off x="9975601" y="5035424"/>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6</a:t>
            </a:r>
            <a:endParaRPr lang="en-US" sz="950" dirty="0"/>
          </a:p>
        </p:txBody>
      </p:sp>
      <p:sp>
        <p:nvSpPr>
          <p:cNvPr id="44" name="text 9.43"/>
          <p:cNvSpPr txBox="1"/>
          <p:nvPr/>
        </p:nvSpPr>
        <p:spPr>
          <a:xfrm>
            <a:off x="2324042" y="5073523"/>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3B4A66"/>
                </a:solidFill>
                <a:latin typeface="Arial" pitchFamily="34" charset="0"/>
                <a:ea typeface="Arial" pitchFamily="34" charset="-122"/>
                <a:cs typeface="Arial" pitchFamily="34" charset="-120"/>
              </a:rPr>
              <a:t>Clients interpolate between snapshots and draw.</a:t>
            </a:r>
            <a:endParaRPr lang="en-US" sz="1000" dirty="0"/>
          </a:p>
        </p:txBody>
      </p:sp>
      <p:sp>
        <p:nvSpPr>
          <p:cNvPr id="45" name="text 9.44"/>
          <p:cNvSpPr txBox="1"/>
          <p:nvPr/>
        </p:nvSpPr>
        <p:spPr>
          <a:xfrm>
            <a:off x="863578" y="5727557"/>
            <a:ext cx="10515337" cy="386547"/>
          </a:xfrm>
          <a:prstGeom prst="rect">
            <a:avLst/>
          </a:prstGeom>
          <a:noFill/>
          <a:ln/>
        </p:spPr>
        <p:txBody>
          <a:bodyPr wrap="square" lIns="0" tIns="0" rIns="0" bIns="0" rtlCol="0" anchor="t"/>
          <a:lstStyle/>
          <a:p>
            <a:pPr algn="l" indent="0" marL="0">
              <a:lnSpc>
                <a:spcPts val="1520"/>
              </a:lnSpc>
              <a:buNone/>
            </a:pPr>
            <a:r>
              <a:rPr lang="en-US" sz="1050" b="1" dirty="0">
                <a:solidFill>
                  <a:srgbClr val="16233F"/>
                </a:solidFill>
                <a:latin typeface="Arial" pitchFamily="34" charset="0"/>
                <a:ea typeface="Arial" pitchFamily="34" charset="-122"/>
                <a:cs typeface="Arial" pitchFamily="34" charset="-120"/>
              </a:rPr>
              <a:t>Your own movement is predicted locally, so it feels instant.</a:t>
            </a:r>
            <a:pPr algn="l" indent="0" marL="0">
              <a:lnSpc>
                <a:spcPts val="1520"/>
              </a:lnSpc>
              <a:buNone/>
            </a:pPr>
            <a:r>
              <a:rPr lang="en-US" sz="1050" dirty="0">
                <a:solidFill>
                  <a:srgbClr val="3B4A66"/>
                </a:solidFill>
                <a:latin typeface="Arial" pitchFamily="34" charset="0"/>
                <a:ea typeface="Arial" pitchFamily="34" charset="-122"/>
                <a:cs typeface="Arial" pitchFamily="34" charset="-120"/>
              </a:rPr>
              <a:t> Hits, mass changes and knockouts are decided only on the host. </a:t>
            </a:r>
            <a:pPr algn="l" indent="0" marL="0">
              <a:lnSpc>
                <a:spcPts val="1520"/>
              </a:lnSpc>
              <a:buNone/>
            </a:pPr>
            <a:r>
              <a:rPr lang="en-US" sz="1050" b="1" dirty="0">
                <a:solidFill>
                  <a:srgbClr val="FF6B1F"/>
                </a:solidFill>
                <a:latin typeface="Arial" pitchFamily="34" charset="0"/>
                <a:ea typeface="Arial" pitchFamily="34" charset="-122"/>
                <a:cs typeface="Arial" pitchFamily="34" charset="-120"/>
              </a:rPr>
              <a:t>Main risk:</a:t>
            </a:r>
            <a:pPr algn="l" indent="0" marL="0">
              <a:lnSpc>
                <a:spcPts val="1520"/>
              </a:lnSpc>
              <a:buNone/>
            </a:pPr>
            <a:r>
              <a:rPr lang="en-US" sz="1050" dirty="0">
                <a:solidFill>
                  <a:srgbClr val="3B4A66"/>
                </a:solidFill>
                <a:latin typeface="Arial" pitchFamily="34" charset="0"/>
                <a:ea typeface="Arial" pitchFamily="34" charset="-122"/>
                <a:cs typeface="Arial" pitchFamily="34" charset="-120"/>
              </a:rPr>
              <a:t> keeping physics smooth on clients. LAN latency is low, and we tune the snapshot rate.</a:t>
            </a:r>
            <a:endParaRPr lang="en-US" sz="1050" dirty="0"/>
          </a:p>
        </p:txBody>
      </p:sp>
      <p:sp>
        <p:nvSpPr>
          <p:cNvPr id="46" name="shape 9.45"/>
          <p:cNvSpPr/>
          <p:nvPr/>
        </p:nvSpPr>
        <p:spPr>
          <a:xfrm>
            <a:off x="609585" y="266693"/>
            <a:ext cx="176525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7" name="shape 9.46"/>
          <p:cNvSpPr/>
          <p:nvPr/>
        </p:nvSpPr>
        <p:spPr>
          <a:xfrm>
            <a:off x="711182" y="355591"/>
            <a:ext cx="114297" cy="114297"/>
          </a:xfrm>
          <a:prstGeom prst="roundRect">
            <a:avLst>
              <a:gd name="adj" fmla="val 33333"/>
            </a:avLst>
          </a:prstGeom>
          <a:solidFill>
            <a:srgbClr val="FF6B1F"/>
          </a:solidFill>
          <a:ln/>
        </p:spPr>
      </p:sp>
      <p:sp>
        <p:nvSpPr>
          <p:cNvPr id="48" name="shape 9.47"/>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9" name="shape 9.48"/>
          <p:cNvSpPr/>
          <p:nvPr/>
        </p:nvSpPr>
        <p:spPr>
          <a:xfrm>
            <a:off x="10058149" y="368291"/>
            <a:ext cx="101597" cy="101597"/>
          </a:xfrm>
          <a:prstGeom prst="roundRect">
            <a:avLst>
              <a:gd name="adj" fmla="val 31250"/>
            </a:avLst>
          </a:prstGeom>
          <a:solidFill>
            <a:srgbClr val="16233F"/>
          </a:solidFill>
          <a:ln/>
        </p:spPr>
      </p:sp>
      <p:sp>
        <p:nvSpPr>
          <p:cNvPr id="50" name="shape 9.49"/>
          <p:cNvSpPr/>
          <p:nvPr/>
        </p:nvSpPr>
        <p:spPr>
          <a:xfrm>
            <a:off x="10223244" y="368291"/>
            <a:ext cx="101597" cy="101597"/>
          </a:xfrm>
          <a:prstGeom prst="roundRect">
            <a:avLst>
              <a:gd name="adj" fmla="val 31250"/>
            </a:avLst>
          </a:prstGeom>
          <a:solidFill>
            <a:srgbClr val="FF6B1F"/>
          </a:solidFill>
          <a:ln/>
        </p:spPr>
      </p:sp>
      <p:sp>
        <p:nvSpPr>
          <p:cNvPr id="51" name="shape 9.50"/>
          <p:cNvSpPr/>
          <p:nvPr/>
        </p:nvSpPr>
        <p:spPr>
          <a:xfrm>
            <a:off x="10388340" y="368291"/>
            <a:ext cx="101597" cy="101597"/>
          </a:xfrm>
          <a:prstGeom prst="roundRect">
            <a:avLst>
              <a:gd name="adj" fmla="val 31250"/>
            </a:avLst>
          </a:prstGeom>
          <a:solidFill>
            <a:srgbClr val="C7D4E8"/>
          </a:solidFill>
          <a:ln/>
        </p:spPr>
      </p:sp>
      <p:sp>
        <p:nvSpPr>
          <p:cNvPr id="52" name="shape 9.51"/>
          <p:cNvSpPr/>
          <p:nvPr/>
        </p:nvSpPr>
        <p:spPr>
          <a:xfrm>
            <a:off x="10553436" y="368291"/>
            <a:ext cx="101597" cy="101597"/>
          </a:xfrm>
          <a:prstGeom prst="roundRect">
            <a:avLst>
              <a:gd name="adj" fmla="val 31250"/>
            </a:avLst>
          </a:prstGeom>
          <a:solidFill>
            <a:srgbClr val="C7D4E8"/>
          </a:solidFill>
          <a:ln/>
        </p:spPr>
      </p:sp>
      <p:sp>
        <p:nvSpPr>
          <p:cNvPr id="53" name="shape 9.52"/>
          <p:cNvSpPr/>
          <p:nvPr/>
        </p:nvSpPr>
        <p:spPr>
          <a:xfrm>
            <a:off x="10718532" y="368291"/>
            <a:ext cx="101597" cy="101597"/>
          </a:xfrm>
          <a:prstGeom prst="roundRect">
            <a:avLst>
              <a:gd name="adj" fmla="val 31250"/>
            </a:avLst>
          </a:prstGeom>
          <a:solidFill>
            <a:srgbClr val="C7D4E8"/>
          </a:solidFill>
          <a:ln/>
        </p:spPr>
      </p:sp>
      <p:sp>
        <p:nvSpPr>
          <p:cNvPr id="54" name="shape 9.53"/>
          <p:cNvSpPr/>
          <p:nvPr/>
        </p:nvSpPr>
        <p:spPr>
          <a:xfrm>
            <a:off x="10883628" y="368291"/>
            <a:ext cx="101597" cy="101597"/>
          </a:xfrm>
          <a:prstGeom prst="roundRect">
            <a:avLst>
              <a:gd name="adj" fmla="val 31250"/>
            </a:avLst>
          </a:prstGeom>
          <a:solidFill>
            <a:srgbClr val="C7D4E8"/>
          </a:solidFill>
          <a:ln/>
        </p:spPr>
      </p:sp>
      <p:sp>
        <p:nvSpPr>
          <p:cNvPr id="55" name="text 9.5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09</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56" name="text 9.55"/>
          <p:cNvSpPr txBox="1"/>
          <p:nvPr/>
        </p:nvSpPr>
        <p:spPr>
          <a:xfrm>
            <a:off x="927077" y="349241"/>
            <a:ext cx="1337519"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02 · Gameplay &amp; tech</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0.1"/>
          <p:cNvSpPr/>
          <p:nvPr/>
        </p:nvSpPr>
        <p:spPr>
          <a:xfrm>
            <a:off x="609585" y="1714457"/>
            <a:ext cx="2971726" cy="1625559"/>
          </a:xfrm>
          <a:prstGeom prst="roundRect">
            <a:avLst>
              <a:gd name="adj" fmla="val 10938"/>
            </a:avLst>
          </a:prstGeom>
          <a:solidFill>
            <a:srgbClr val="FFFFFF"/>
          </a:solidFill>
          <a:ln/>
          <a:effectLst>
            <a:outerShdw sx="100000" sy="100000" kx="0" ky="0" algn="bl" rotWithShape="0" blurRad="203200" dist="76200" dir="5400000">
              <a:srgbClr val="1E468C">
                <a:alpha val="16000"/>
              </a:srgbClr>
            </a:outerShdw>
          </a:effectLst>
        </p:spPr>
      </p:sp>
      <p:sp>
        <p:nvSpPr>
          <p:cNvPr id="3" name="shape 10.2"/>
          <p:cNvSpPr/>
          <p:nvPr/>
        </p:nvSpPr>
        <p:spPr>
          <a:xfrm>
            <a:off x="3733707" y="1714457"/>
            <a:ext cx="2971726" cy="1625559"/>
          </a:xfrm>
          <a:prstGeom prst="roundRect">
            <a:avLst>
              <a:gd name="adj" fmla="val 10938"/>
            </a:avLst>
          </a:prstGeom>
          <a:solidFill>
            <a:srgbClr val="FFFFFF"/>
          </a:solidFill>
          <a:ln/>
          <a:effectLst>
            <a:outerShdw sx="100000" sy="100000" kx="0" ky="0" algn="bl" rotWithShape="0" blurRad="203200" dist="76200" dir="5400000">
              <a:srgbClr val="1E468C">
                <a:alpha val="16000"/>
              </a:srgbClr>
            </a:outerShdw>
          </a:effectLst>
        </p:spPr>
      </p:sp>
      <p:sp>
        <p:nvSpPr>
          <p:cNvPr id="4" name="shape 10.3"/>
          <p:cNvSpPr/>
          <p:nvPr/>
        </p:nvSpPr>
        <p:spPr>
          <a:xfrm>
            <a:off x="609585" y="3492413"/>
            <a:ext cx="2971726" cy="1625559"/>
          </a:xfrm>
          <a:prstGeom prst="roundRect">
            <a:avLst>
              <a:gd name="adj" fmla="val 10938"/>
            </a:avLst>
          </a:prstGeom>
          <a:solidFill>
            <a:srgbClr val="FFFFFF"/>
          </a:solidFill>
          <a:ln/>
          <a:effectLst>
            <a:outerShdw sx="100000" sy="100000" kx="0" ky="0" algn="bl" rotWithShape="0" blurRad="203200" dist="76200" dir="5400000">
              <a:srgbClr val="1E468C">
                <a:alpha val="16000"/>
              </a:srgbClr>
            </a:outerShdw>
          </a:effectLst>
        </p:spPr>
      </p:sp>
      <p:sp>
        <p:nvSpPr>
          <p:cNvPr id="5" name="shape 10.4"/>
          <p:cNvSpPr/>
          <p:nvPr/>
        </p:nvSpPr>
        <p:spPr>
          <a:xfrm>
            <a:off x="3733707" y="3492413"/>
            <a:ext cx="2971726" cy="1625559"/>
          </a:xfrm>
          <a:prstGeom prst="roundRect">
            <a:avLst>
              <a:gd name="adj" fmla="val 10938"/>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6" name="shape 10.5"/>
          <p:cNvSpPr/>
          <p:nvPr/>
        </p:nvSpPr>
        <p:spPr>
          <a:xfrm>
            <a:off x="6730832" y="1714457"/>
            <a:ext cx="4851279" cy="3428914"/>
          </a:xfrm>
          <a:prstGeom prst="roundRect">
            <a:avLst>
              <a:gd name="adj" fmla="val 5185"/>
            </a:avLst>
          </a:prstGeom>
          <a:solidFill>
            <a:srgbClr val="FFFFFF"/>
          </a:solidFill>
          <a:ln/>
          <a:effectLst>
            <a:outerShdw sx="100000" sy="100000" kx="0" ky="0" algn="bl" rotWithShape="0" blurRad="203200" dist="76200" dir="5400000">
              <a:srgbClr val="1E468C">
                <a:alpha val="16000"/>
              </a:srgbClr>
            </a:outerShdw>
          </a:effectLst>
        </p:spPr>
      </p:sp>
      <p:sp>
        <p:nvSpPr>
          <p:cNvPr id="7" name="shape 10.6"/>
          <p:cNvSpPr/>
          <p:nvPr/>
        </p:nvSpPr>
        <p:spPr>
          <a:xfrm>
            <a:off x="609585" y="5371966"/>
            <a:ext cx="10972526" cy="850879"/>
          </a:xfrm>
          <a:prstGeom prst="roundRect">
            <a:avLst>
              <a:gd name="adj" fmla="val 20896"/>
            </a:avLst>
          </a:prstGeom>
          <a:solidFill>
            <a:srgbClr val="FFF6D9"/>
          </a:solidFill>
          <a:ln/>
          <a:effectLst>
            <a:outerShdw sx="100000" sy="100000" kx="0" ky="0" algn="bl" rotWithShape="0" blurRad="203200" dist="76200" dir="5400000">
              <a:srgbClr val="1E468C">
                <a:alpha val="16000"/>
              </a:srgbClr>
            </a:outerShdw>
          </a:effectLst>
        </p:spPr>
      </p:sp>
      <p:sp>
        <p:nvSpPr>
          <p:cNvPr id="8" name="text 10.7"/>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Social PC play is growing; </a:t>
            </a:r>
            <a:pPr algn="l" indent="0" marL="0">
              <a:lnSpc>
                <a:spcPts val="3020"/>
              </a:lnSpc>
              <a:buNone/>
            </a:pPr>
            <a:r>
              <a:rPr lang="en-US" sz="2700" spc="-27" kern="0" dirty="0">
                <a:solidFill>
                  <a:srgbClr val="8F55F5"/>
                </a:solidFill>
                <a:latin typeface="Arial Rounded MT Bold" pitchFamily="34" charset="0"/>
                <a:ea typeface="Arial Rounded MT Bold" pitchFamily="34" charset="-122"/>
                <a:cs typeface="Arial Rounded MT Bold" pitchFamily="34" charset="-120"/>
              </a:rPr>
              <a:t>LAN party games are rare</a:t>
            </a:r>
            <a:endParaRPr lang="en-US" sz="2700" dirty="0"/>
          </a:p>
        </p:txBody>
      </p:sp>
      <p:sp>
        <p:nvSpPr>
          <p:cNvPr id="9" name="text 10.8"/>
          <p:cNvSpPr txBox="1"/>
          <p:nvPr/>
        </p:nvSpPr>
        <p:spPr>
          <a:xfrm>
            <a:off x="812780" y="1930352"/>
            <a:ext cx="1991040" cy="533387"/>
          </a:xfrm>
          <a:prstGeom prst="rect">
            <a:avLst/>
          </a:prstGeom>
          <a:noFill/>
          <a:ln/>
        </p:spPr>
        <p:txBody>
          <a:bodyPr wrap="square" lIns="0" tIns="0" rIns="0" bIns="0" rtlCol="0" anchor="t"/>
          <a:lstStyle/>
          <a:p>
            <a:pPr algn="l" indent="0" marL="0">
              <a:lnSpc>
                <a:spcPts val="4200"/>
              </a:lnSpc>
              <a:buNone/>
            </a:pPr>
            <a:r>
              <a:rPr lang="en-US" sz="4200" dirty="0">
                <a:solidFill>
                  <a:srgbClr val="1FA9EA"/>
                </a:solidFill>
                <a:latin typeface="Arial Rounded MT Bold" pitchFamily="34" charset="0"/>
                <a:ea typeface="Arial Rounded MT Bold" pitchFamily="34" charset="-122"/>
                <a:cs typeface="Arial Rounded MT Bold" pitchFamily="34" charset="-120"/>
              </a:rPr>
              <a:t>$43.6B</a:t>
            </a:r>
            <a:endParaRPr lang="en-US" sz="4200" dirty="0"/>
          </a:p>
        </p:txBody>
      </p:sp>
      <p:sp>
        <p:nvSpPr>
          <p:cNvPr id="10" name="text 10.9"/>
          <p:cNvSpPr txBox="1"/>
          <p:nvPr/>
        </p:nvSpPr>
        <p:spPr>
          <a:xfrm>
            <a:off x="812780" y="2578036"/>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PC games revenue in 2025, up 12% year on year.</a:t>
            </a:r>
            <a:endParaRPr lang="en-US" sz="1000" dirty="0"/>
          </a:p>
        </p:txBody>
      </p:sp>
      <p:sp>
        <p:nvSpPr>
          <p:cNvPr id="11" name="text 10.10"/>
          <p:cNvSpPr txBox="1"/>
          <p:nvPr/>
        </p:nvSpPr>
        <p:spPr>
          <a:xfrm>
            <a:off x="812780" y="3047924"/>
            <a:ext cx="63593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Newzoo [1]</a:t>
            </a:r>
            <a:endParaRPr lang="en-US" sz="850" dirty="0"/>
          </a:p>
        </p:txBody>
      </p:sp>
      <p:sp>
        <p:nvSpPr>
          <p:cNvPr id="12" name="text 10.11"/>
          <p:cNvSpPr txBox="1"/>
          <p:nvPr/>
        </p:nvSpPr>
        <p:spPr>
          <a:xfrm>
            <a:off x="3936902" y="1930352"/>
            <a:ext cx="1655130" cy="533387"/>
          </a:xfrm>
          <a:prstGeom prst="rect">
            <a:avLst/>
          </a:prstGeom>
          <a:noFill/>
          <a:ln/>
        </p:spPr>
        <p:txBody>
          <a:bodyPr wrap="square" lIns="0" tIns="0" rIns="0" bIns="0" rtlCol="0" anchor="t"/>
          <a:lstStyle/>
          <a:p>
            <a:pPr algn="l" indent="0" marL="0">
              <a:lnSpc>
                <a:spcPts val="4200"/>
              </a:lnSpc>
              <a:buNone/>
            </a:pPr>
            <a:r>
              <a:rPr lang="en-US" sz="4200" dirty="0">
                <a:solidFill>
                  <a:srgbClr val="43B832"/>
                </a:solidFill>
                <a:latin typeface="Arial Rounded MT Bold" pitchFamily="34" charset="0"/>
                <a:ea typeface="Arial Rounded MT Bold" pitchFamily="34" charset="-122"/>
                <a:cs typeface="Arial Rounded MT Bold" pitchFamily="34" charset="-120"/>
              </a:rPr>
              <a:t>$4.1B</a:t>
            </a:r>
            <a:endParaRPr lang="en-US" sz="4200" dirty="0"/>
          </a:p>
        </p:txBody>
      </p:sp>
      <p:sp>
        <p:nvSpPr>
          <p:cNvPr id="13" name="text 10.12"/>
          <p:cNvSpPr txBox="1"/>
          <p:nvPr/>
        </p:nvSpPr>
        <p:spPr>
          <a:xfrm>
            <a:off x="3936902" y="2578036"/>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Steam revenue of games with co-op in H1 2025, an all-time high (estimate).</a:t>
            </a:r>
            <a:endParaRPr lang="en-US" sz="1000" dirty="0"/>
          </a:p>
        </p:txBody>
      </p:sp>
      <p:sp>
        <p:nvSpPr>
          <p:cNvPr id="14" name="text 10.13"/>
          <p:cNvSpPr txBox="1"/>
          <p:nvPr/>
        </p:nvSpPr>
        <p:spPr>
          <a:xfrm>
            <a:off x="3936902" y="3047924"/>
            <a:ext cx="54065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Alinea [2]</a:t>
            </a:r>
            <a:endParaRPr lang="en-US" sz="850" dirty="0"/>
          </a:p>
        </p:txBody>
      </p:sp>
      <p:sp>
        <p:nvSpPr>
          <p:cNvPr id="15" name="text 10.14"/>
          <p:cNvSpPr txBox="1"/>
          <p:nvPr/>
        </p:nvSpPr>
        <p:spPr>
          <a:xfrm>
            <a:off x="812780" y="3708307"/>
            <a:ext cx="1218362" cy="533387"/>
          </a:xfrm>
          <a:prstGeom prst="rect">
            <a:avLst/>
          </a:prstGeom>
          <a:noFill/>
          <a:ln/>
        </p:spPr>
        <p:txBody>
          <a:bodyPr wrap="square" lIns="0" tIns="0" rIns="0" bIns="0" rtlCol="0" anchor="t"/>
          <a:lstStyle/>
          <a:p>
            <a:pPr algn="l" indent="0" marL="0">
              <a:lnSpc>
                <a:spcPts val="4200"/>
              </a:lnSpc>
              <a:buNone/>
            </a:pPr>
            <a:r>
              <a:rPr lang="en-US" sz="4200" dirty="0">
                <a:solidFill>
                  <a:srgbClr val="8F55F5"/>
                </a:solidFill>
                <a:latin typeface="Arial Rounded MT Bold" pitchFamily="34" charset="0"/>
                <a:ea typeface="Arial Rounded MT Bold" pitchFamily="34" charset="-122"/>
                <a:cs typeface="Arial Rounded MT Bold" pitchFamily="34" charset="-120"/>
              </a:rPr>
              <a:t>70%</a:t>
            </a:r>
            <a:endParaRPr lang="en-US" sz="4200" dirty="0"/>
          </a:p>
        </p:txBody>
      </p:sp>
      <p:sp>
        <p:nvSpPr>
          <p:cNvPr id="16" name="text 10.15"/>
          <p:cNvSpPr txBox="1"/>
          <p:nvPr/>
        </p:nvSpPr>
        <p:spPr>
          <a:xfrm>
            <a:off x="812780" y="4355991"/>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of US players aged 8+ play with other people.</a:t>
            </a:r>
            <a:endParaRPr lang="en-US" sz="1000" dirty="0"/>
          </a:p>
        </p:txBody>
      </p:sp>
      <p:sp>
        <p:nvSpPr>
          <p:cNvPr id="17" name="text 10.16"/>
          <p:cNvSpPr txBox="1"/>
          <p:nvPr/>
        </p:nvSpPr>
        <p:spPr>
          <a:xfrm>
            <a:off x="812780" y="4825879"/>
            <a:ext cx="731533"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ESA 2026 [3]</a:t>
            </a:r>
            <a:endParaRPr lang="en-US" sz="850" dirty="0"/>
          </a:p>
        </p:txBody>
      </p:sp>
      <p:sp>
        <p:nvSpPr>
          <p:cNvPr id="18" name="text 10.17"/>
          <p:cNvSpPr txBox="1"/>
          <p:nvPr/>
        </p:nvSpPr>
        <p:spPr>
          <a:xfrm>
            <a:off x="3936902" y="3708307"/>
            <a:ext cx="1192701" cy="533387"/>
          </a:xfrm>
          <a:prstGeom prst="rect">
            <a:avLst/>
          </a:prstGeom>
          <a:noFill/>
          <a:ln/>
        </p:spPr>
        <p:txBody>
          <a:bodyPr wrap="square" lIns="0" tIns="0" rIns="0" bIns="0" rtlCol="0" anchor="t"/>
          <a:lstStyle/>
          <a:p>
            <a:pPr algn="l" indent="0" marL="0">
              <a:lnSpc>
                <a:spcPts val="4200"/>
              </a:lnSpc>
              <a:buNone/>
            </a:pPr>
            <a:r>
              <a:rPr lang="en-US" sz="4200" dirty="0">
                <a:solidFill>
                  <a:srgbClr val="FF6B1F"/>
                </a:solidFill>
                <a:latin typeface="Arial Rounded MT Bold" pitchFamily="34" charset="0"/>
                <a:ea typeface="Arial Rounded MT Bold" pitchFamily="34" charset="-122"/>
                <a:cs typeface="Arial Rounded MT Bold" pitchFamily="34" charset="-120"/>
              </a:rPr>
              <a:t>≈8%</a:t>
            </a:r>
            <a:endParaRPr lang="en-US" sz="4200" dirty="0"/>
          </a:p>
        </p:txBody>
      </p:sp>
      <p:sp>
        <p:nvSpPr>
          <p:cNvPr id="19" name="text 10.18"/>
          <p:cNvSpPr txBox="1"/>
          <p:nvPr/>
        </p:nvSpPr>
        <p:spPr>
          <a:xfrm>
            <a:off x="3936902" y="4355991"/>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of ~3,490 Steam “Party Game” titles list LAN PvP.</a:t>
            </a:r>
            <a:endParaRPr lang="en-US" sz="1000" dirty="0"/>
          </a:p>
        </p:txBody>
      </p:sp>
      <p:sp>
        <p:nvSpPr>
          <p:cNvPr id="20" name="text 10.19"/>
          <p:cNvSpPr txBox="1"/>
          <p:nvPr/>
        </p:nvSpPr>
        <p:spPr>
          <a:xfrm>
            <a:off x="3936902" y="4825879"/>
            <a:ext cx="1081221"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Steam, Oct 2026 [4]</a:t>
            </a:r>
            <a:endParaRPr lang="en-US" sz="850" dirty="0"/>
          </a:p>
        </p:txBody>
      </p:sp>
      <p:sp>
        <p:nvSpPr>
          <p:cNvPr id="21" name="text 10.20"/>
          <p:cNvSpPr txBox="1"/>
          <p:nvPr/>
        </p:nvSpPr>
        <p:spPr>
          <a:xfrm>
            <a:off x="6984825" y="1930352"/>
            <a:ext cx="3672591"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STEAM “PARTY GAME” TITLES BY MULTIPLAYER TAG</a:t>
            </a:r>
            <a:endParaRPr lang="en-US" sz="850" dirty="0"/>
          </a:p>
        </p:txBody>
      </p:sp>
      <p:sp>
        <p:nvSpPr>
          <p:cNvPr id="22" name="text 10.21"/>
          <p:cNvSpPr txBox="1"/>
          <p:nvPr/>
        </p:nvSpPr>
        <p:spPr>
          <a:xfrm>
            <a:off x="6984825" y="2476438"/>
            <a:ext cx="79621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ONLINE PVP</a:t>
            </a:r>
            <a:endParaRPr lang="en-US" sz="750" dirty="0"/>
          </a:p>
        </p:txBody>
      </p:sp>
      <p:sp>
        <p:nvSpPr>
          <p:cNvPr id="23" name="shape 10.22"/>
          <p:cNvSpPr/>
          <p:nvPr/>
        </p:nvSpPr>
        <p:spPr>
          <a:xfrm>
            <a:off x="6984825" y="2666933"/>
            <a:ext cx="3530512" cy="215895"/>
          </a:xfrm>
          <a:prstGeom prst="roundRect">
            <a:avLst>
              <a:gd name="adj" fmla="val 50000"/>
            </a:avLst>
          </a:prstGeom>
          <a:solidFill>
            <a:srgbClr val="E4EDF9"/>
          </a:solidFill>
          <a:ln/>
        </p:spPr>
      </p:sp>
      <p:sp>
        <p:nvSpPr>
          <p:cNvPr id="24" name="shape 10.23"/>
          <p:cNvSpPr/>
          <p:nvPr/>
        </p:nvSpPr>
        <p:spPr>
          <a:xfrm>
            <a:off x="6984825" y="2666933"/>
            <a:ext cx="3530512" cy="215895"/>
          </a:xfrm>
          <a:prstGeom prst="roundRect">
            <a:avLst>
              <a:gd name="adj" fmla="val 50000"/>
            </a:avLst>
          </a:prstGeom>
          <a:solidFill>
            <a:srgbClr val="1FA9EA"/>
          </a:solidFill>
          <a:ln/>
        </p:spPr>
      </p:sp>
      <p:sp>
        <p:nvSpPr>
          <p:cNvPr id="25" name="text 10.24"/>
          <p:cNvSpPr txBox="1"/>
          <p:nvPr/>
        </p:nvSpPr>
        <p:spPr>
          <a:xfrm>
            <a:off x="10566136" y="2654234"/>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1FA9EA"/>
                </a:solidFill>
                <a:latin typeface="Arial Rounded MT Bold" pitchFamily="34" charset="0"/>
                <a:ea typeface="Arial Rounded MT Bold" pitchFamily="34" charset="-122"/>
                <a:cs typeface="Arial Rounded MT Bold" pitchFamily="34" charset="-120"/>
              </a:rPr>
              <a:t>1,870</a:t>
            </a:r>
            <a:endParaRPr lang="en-US" sz="1800" dirty="0"/>
          </a:p>
        </p:txBody>
      </p:sp>
      <p:sp>
        <p:nvSpPr>
          <p:cNvPr id="26" name="text 10.25"/>
          <p:cNvSpPr txBox="1"/>
          <p:nvPr/>
        </p:nvSpPr>
        <p:spPr>
          <a:xfrm>
            <a:off x="6984825" y="3251119"/>
            <a:ext cx="184191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SHARED / SPLIT-SCREEN PVP</a:t>
            </a:r>
            <a:endParaRPr lang="en-US" sz="750" dirty="0"/>
          </a:p>
        </p:txBody>
      </p:sp>
      <p:sp>
        <p:nvSpPr>
          <p:cNvPr id="27" name="shape 10.26"/>
          <p:cNvSpPr/>
          <p:nvPr/>
        </p:nvSpPr>
        <p:spPr>
          <a:xfrm>
            <a:off x="6984825" y="3441614"/>
            <a:ext cx="3530512" cy="215895"/>
          </a:xfrm>
          <a:prstGeom prst="roundRect">
            <a:avLst>
              <a:gd name="adj" fmla="val 50000"/>
            </a:avLst>
          </a:prstGeom>
          <a:solidFill>
            <a:srgbClr val="E4EDF9"/>
          </a:solidFill>
          <a:ln/>
        </p:spPr>
      </p:sp>
      <p:sp>
        <p:nvSpPr>
          <p:cNvPr id="28" name="shape 10.27"/>
          <p:cNvSpPr/>
          <p:nvPr/>
        </p:nvSpPr>
        <p:spPr>
          <a:xfrm>
            <a:off x="6984825" y="3441614"/>
            <a:ext cx="1917652" cy="215895"/>
          </a:xfrm>
          <a:prstGeom prst="roundRect">
            <a:avLst>
              <a:gd name="adj" fmla="val 50000"/>
            </a:avLst>
          </a:prstGeom>
          <a:solidFill>
            <a:srgbClr val="8F55F5"/>
          </a:solidFill>
          <a:ln/>
        </p:spPr>
      </p:sp>
      <p:sp>
        <p:nvSpPr>
          <p:cNvPr id="29" name="text 10.28"/>
          <p:cNvSpPr txBox="1"/>
          <p:nvPr/>
        </p:nvSpPr>
        <p:spPr>
          <a:xfrm>
            <a:off x="10566136" y="3428914"/>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1,017</a:t>
            </a:r>
            <a:endParaRPr lang="en-US" sz="1800" dirty="0"/>
          </a:p>
        </p:txBody>
      </p:sp>
      <p:sp>
        <p:nvSpPr>
          <p:cNvPr id="30" name="text 10.29"/>
          <p:cNvSpPr txBox="1"/>
          <p:nvPr/>
        </p:nvSpPr>
        <p:spPr>
          <a:xfrm>
            <a:off x="6984825" y="4025799"/>
            <a:ext cx="58597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LAN PVP</a:t>
            </a:r>
            <a:endParaRPr lang="en-US" sz="750" dirty="0"/>
          </a:p>
        </p:txBody>
      </p:sp>
      <p:sp>
        <p:nvSpPr>
          <p:cNvPr id="31" name="shape 10.30"/>
          <p:cNvSpPr/>
          <p:nvPr/>
        </p:nvSpPr>
        <p:spPr>
          <a:xfrm>
            <a:off x="6984825" y="4216295"/>
            <a:ext cx="3530512" cy="215895"/>
          </a:xfrm>
          <a:prstGeom prst="roundRect">
            <a:avLst>
              <a:gd name="adj" fmla="val 50000"/>
            </a:avLst>
          </a:prstGeom>
          <a:solidFill>
            <a:srgbClr val="E4EDF9"/>
          </a:solidFill>
          <a:ln/>
        </p:spPr>
      </p:sp>
      <p:sp>
        <p:nvSpPr>
          <p:cNvPr id="32" name="shape 10.31"/>
          <p:cNvSpPr/>
          <p:nvPr/>
        </p:nvSpPr>
        <p:spPr>
          <a:xfrm>
            <a:off x="6984825" y="4216295"/>
            <a:ext cx="552436" cy="215895"/>
          </a:xfrm>
          <a:prstGeom prst="roundRect">
            <a:avLst>
              <a:gd name="adj" fmla="val 50000"/>
            </a:avLst>
          </a:prstGeom>
          <a:solidFill>
            <a:srgbClr val="FF6B1F"/>
          </a:solidFill>
          <a:ln/>
        </p:spPr>
      </p:sp>
      <p:sp>
        <p:nvSpPr>
          <p:cNvPr id="33" name="text 10.32"/>
          <p:cNvSpPr txBox="1"/>
          <p:nvPr/>
        </p:nvSpPr>
        <p:spPr>
          <a:xfrm>
            <a:off x="10566136" y="4203595"/>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292</a:t>
            </a:r>
            <a:endParaRPr lang="en-US" sz="1800" dirty="0"/>
          </a:p>
        </p:txBody>
      </p:sp>
      <p:sp>
        <p:nvSpPr>
          <p:cNvPr id="34" name="text 10.33"/>
          <p:cNvSpPr txBox="1"/>
          <p:nvPr/>
        </p:nvSpPr>
        <p:spPr>
          <a:xfrm>
            <a:off x="6984825" y="4838579"/>
            <a:ext cx="293630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Steam store search, Oct 2026 [4]. Tags are user-applied.</a:t>
            </a:r>
            <a:endParaRPr lang="en-US" sz="850" dirty="0"/>
          </a:p>
        </p:txBody>
      </p:sp>
      <p:sp>
        <p:nvSpPr>
          <p:cNvPr id="35" name="text 10.34"/>
          <p:cNvSpPr txBox="1"/>
          <p:nvPr/>
        </p:nvSpPr>
        <p:spPr>
          <a:xfrm>
            <a:off x="863578" y="5549761"/>
            <a:ext cx="1626629"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B07D00"/>
                </a:solidFill>
                <a:latin typeface="Arial" pitchFamily="34" charset="0"/>
                <a:ea typeface="Arial" pitchFamily="34" charset="-122"/>
                <a:cs typeface="Arial" pitchFamily="34" charset="-120"/>
              </a:rPr>
              <a:t>RISK, STATED PLAINLY</a:t>
            </a:r>
            <a:endParaRPr lang="en-US" sz="850" dirty="0"/>
          </a:p>
        </p:txBody>
      </p:sp>
      <p:sp>
        <p:nvSpPr>
          <p:cNvPr id="36" name="text 10.35"/>
          <p:cNvSpPr txBox="1"/>
          <p:nvPr/>
        </p:nvSpPr>
        <p:spPr>
          <a:xfrm>
            <a:off x="863578" y="5752956"/>
            <a:ext cx="10515337"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An estimated 65.9% of 2025 Steam releases earned under $1,000 [5], while 5,863 games passed $100K in 2025 (Valve) [6]. </a:t>
            </a:r>
            <a:pPr algn="l" indent="0" marL="0">
              <a:lnSpc>
                <a:spcPts val="1520"/>
              </a:lnSpc>
              <a:buNone/>
            </a:pPr>
            <a:r>
              <a:rPr lang="en-US" sz="1050" b="1" dirty="0">
                <a:solidFill>
                  <a:srgbClr val="16233F"/>
                </a:solidFill>
                <a:latin typeface="Arial" pitchFamily="34" charset="0"/>
                <a:ea typeface="Arial" pitchFamily="34" charset="-122"/>
                <a:cs typeface="Arial" pitchFamily="34" charset="-120"/>
              </a:rPr>
              <a:t>LAN is our differentiator, not a demand driver.</a:t>
            </a:r>
            <a:endParaRPr lang="en-US" sz="1050" dirty="0"/>
          </a:p>
        </p:txBody>
      </p:sp>
      <p:sp>
        <p:nvSpPr>
          <p:cNvPr id="37" name="shape 10.36"/>
          <p:cNvSpPr/>
          <p:nvPr/>
        </p:nvSpPr>
        <p:spPr>
          <a:xfrm>
            <a:off x="609585" y="266693"/>
            <a:ext cx="1182261"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8" name="shape 10.37"/>
          <p:cNvSpPr/>
          <p:nvPr/>
        </p:nvSpPr>
        <p:spPr>
          <a:xfrm>
            <a:off x="711182" y="355591"/>
            <a:ext cx="114297" cy="114297"/>
          </a:xfrm>
          <a:prstGeom prst="roundRect">
            <a:avLst>
              <a:gd name="adj" fmla="val 33333"/>
            </a:avLst>
          </a:prstGeom>
          <a:solidFill>
            <a:srgbClr val="8F55F5"/>
          </a:solidFill>
          <a:ln/>
        </p:spPr>
      </p:sp>
      <p:sp>
        <p:nvSpPr>
          <p:cNvPr id="39" name="shape 10.38"/>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0" name="shape 10.39"/>
          <p:cNvSpPr/>
          <p:nvPr/>
        </p:nvSpPr>
        <p:spPr>
          <a:xfrm>
            <a:off x="10058149" y="368291"/>
            <a:ext cx="101597" cy="101597"/>
          </a:xfrm>
          <a:prstGeom prst="roundRect">
            <a:avLst>
              <a:gd name="adj" fmla="val 31250"/>
            </a:avLst>
          </a:prstGeom>
          <a:solidFill>
            <a:srgbClr val="16233F"/>
          </a:solidFill>
          <a:ln/>
        </p:spPr>
      </p:sp>
      <p:sp>
        <p:nvSpPr>
          <p:cNvPr id="41" name="shape 10.40"/>
          <p:cNvSpPr/>
          <p:nvPr/>
        </p:nvSpPr>
        <p:spPr>
          <a:xfrm>
            <a:off x="10223244" y="368291"/>
            <a:ext cx="101597" cy="101597"/>
          </a:xfrm>
          <a:prstGeom prst="roundRect">
            <a:avLst>
              <a:gd name="adj" fmla="val 31250"/>
            </a:avLst>
          </a:prstGeom>
          <a:solidFill>
            <a:srgbClr val="16233F"/>
          </a:solidFill>
          <a:ln/>
        </p:spPr>
      </p:sp>
      <p:sp>
        <p:nvSpPr>
          <p:cNvPr id="42" name="shape 10.41"/>
          <p:cNvSpPr/>
          <p:nvPr/>
        </p:nvSpPr>
        <p:spPr>
          <a:xfrm>
            <a:off x="10388340" y="368291"/>
            <a:ext cx="101597" cy="101597"/>
          </a:xfrm>
          <a:prstGeom prst="roundRect">
            <a:avLst>
              <a:gd name="adj" fmla="val 31250"/>
            </a:avLst>
          </a:prstGeom>
          <a:solidFill>
            <a:srgbClr val="8F55F5"/>
          </a:solidFill>
          <a:ln/>
        </p:spPr>
      </p:sp>
      <p:sp>
        <p:nvSpPr>
          <p:cNvPr id="43" name="shape 10.42"/>
          <p:cNvSpPr/>
          <p:nvPr/>
        </p:nvSpPr>
        <p:spPr>
          <a:xfrm>
            <a:off x="10553436" y="368291"/>
            <a:ext cx="101597" cy="101597"/>
          </a:xfrm>
          <a:prstGeom prst="roundRect">
            <a:avLst>
              <a:gd name="adj" fmla="val 31250"/>
            </a:avLst>
          </a:prstGeom>
          <a:solidFill>
            <a:srgbClr val="C7D4E8"/>
          </a:solidFill>
          <a:ln/>
        </p:spPr>
      </p:sp>
      <p:sp>
        <p:nvSpPr>
          <p:cNvPr id="44" name="shape 10.43"/>
          <p:cNvSpPr/>
          <p:nvPr/>
        </p:nvSpPr>
        <p:spPr>
          <a:xfrm>
            <a:off x="10718532" y="368291"/>
            <a:ext cx="101597" cy="101597"/>
          </a:xfrm>
          <a:prstGeom prst="roundRect">
            <a:avLst>
              <a:gd name="adj" fmla="val 31250"/>
            </a:avLst>
          </a:prstGeom>
          <a:solidFill>
            <a:srgbClr val="C7D4E8"/>
          </a:solidFill>
          <a:ln/>
        </p:spPr>
      </p:sp>
      <p:sp>
        <p:nvSpPr>
          <p:cNvPr id="45" name="shape 10.44"/>
          <p:cNvSpPr/>
          <p:nvPr/>
        </p:nvSpPr>
        <p:spPr>
          <a:xfrm>
            <a:off x="10883628" y="368291"/>
            <a:ext cx="101597" cy="101597"/>
          </a:xfrm>
          <a:prstGeom prst="roundRect">
            <a:avLst>
              <a:gd name="adj" fmla="val 31250"/>
            </a:avLst>
          </a:prstGeom>
          <a:solidFill>
            <a:srgbClr val="C7D4E8"/>
          </a:solidFill>
          <a:ln/>
        </p:spPr>
      </p:sp>
      <p:sp>
        <p:nvSpPr>
          <p:cNvPr id="46" name="text 10.4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10</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47" name="text 10.46"/>
          <p:cNvSpPr txBox="1"/>
          <p:nvPr/>
        </p:nvSpPr>
        <p:spPr>
          <a:xfrm>
            <a:off x="927077" y="349241"/>
            <a:ext cx="72322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03 · Market</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1.1"/>
          <p:cNvSpPr/>
          <p:nvPr/>
        </p:nvSpPr>
        <p:spPr>
          <a:xfrm>
            <a:off x="609585"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3" name="shape 11.2"/>
          <p:cNvSpPr/>
          <p:nvPr/>
        </p:nvSpPr>
        <p:spPr>
          <a:xfrm>
            <a:off x="2832029"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4" name="shape 11.3"/>
          <p:cNvSpPr/>
          <p:nvPr/>
        </p:nvSpPr>
        <p:spPr>
          <a:xfrm>
            <a:off x="5054474"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5" name="shape 11.4"/>
          <p:cNvSpPr/>
          <p:nvPr/>
        </p:nvSpPr>
        <p:spPr>
          <a:xfrm>
            <a:off x="7276918"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sp>
        <p:nvSpPr>
          <p:cNvPr id="6" name="shape 11.5"/>
          <p:cNvSpPr/>
          <p:nvPr/>
        </p:nvSpPr>
        <p:spPr>
          <a:xfrm>
            <a:off x="9499363" y="1638259"/>
            <a:ext cx="2095448" cy="4660783"/>
          </a:xfrm>
          <a:prstGeom prst="roundRect">
            <a:avLst>
              <a:gd name="adj" fmla="val 8485"/>
            </a:avLst>
          </a:prstGeom>
          <a:solidFill>
            <a:srgbClr val="FFFFFF"/>
          </a:solidFill>
          <a:ln/>
          <a:effectLst>
            <a:outerShdw sx="100000" sy="100000" kx="0" ky="0" algn="bl" rotWithShape="0" blurRad="203200" dist="76200" dir="5400000">
              <a:srgbClr val="1E468C">
                <a:alpha val="16000"/>
              </a:srgbClr>
            </a:outerShdw>
          </a:effectLst>
        </p:spPr>
      </p:sp>
      <p:pic>
        <p:nvPicPr>
          <p:cNvPr id="7" name="img 11.6 adj11364" descr="1260320_3.jpg">    </p:cNvPr>
          <p:cNvPicPr>
            <a:picLocks noChangeAspect="1"/>
          </p:cNvPicPr>
          <p:nvPr/>
        </p:nvPicPr>
        <p:blipFill>
          <a:blip r:embed="rId2"/>
          <a:stretch>
            <a:fillRect/>
          </a:stretch>
        </p:blipFill>
        <p:spPr>
          <a:xfrm>
            <a:off x="673083" y="1701757"/>
            <a:ext cx="1968451" cy="1117572"/>
          </a:xfrm>
          <a:prstGeom prst="roundRect">
            <a:avLst>
              <a:gd name="adj" fmla="val 11364"/>
            </a:avLst>
          </a:prstGeom>
        </p:spPr>
      </p:pic>
      <p:pic>
        <p:nvPicPr>
          <p:cNvPr id="8" name="img 11.7 adj11364" descr="285900_1.jpg">    </p:cNvPr>
          <p:cNvPicPr>
            <a:picLocks noChangeAspect="1"/>
          </p:cNvPicPr>
          <p:nvPr/>
        </p:nvPicPr>
        <p:blipFill>
          <a:blip r:embed="rId3"/>
          <a:stretch>
            <a:fillRect/>
          </a:stretch>
        </p:blipFill>
        <p:spPr>
          <a:xfrm>
            <a:off x="2895528" y="1701757"/>
            <a:ext cx="1968451" cy="1117572"/>
          </a:xfrm>
          <a:prstGeom prst="roundRect">
            <a:avLst>
              <a:gd name="adj" fmla="val 11364"/>
            </a:avLst>
          </a:prstGeom>
        </p:spPr>
      </p:pic>
      <p:pic>
        <p:nvPicPr>
          <p:cNvPr id="9" name="img 11.8 adj11364" descr="1097150_2.jpg">    </p:cNvPr>
          <p:cNvPicPr>
            <a:picLocks noChangeAspect="1"/>
          </p:cNvPicPr>
          <p:nvPr/>
        </p:nvPicPr>
        <p:blipFill>
          <a:blip r:embed="rId4"/>
          <a:stretch>
            <a:fillRect/>
          </a:stretch>
        </p:blipFill>
        <p:spPr>
          <a:xfrm>
            <a:off x="5117972" y="1701757"/>
            <a:ext cx="1968451" cy="1117572"/>
          </a:xfrm>
          <a:prstGeom prst="roundRect">
            <a:avLst>
              <a:gd name="adj" fmla="val 11364"/>
            </a:avLst>
          </a:prstGeom>
        </p:spPr>
      </p:pic>
      <p:pic>
        <p:nvPicPr>
          <p:cNvPr id="10" name="img 11.9 adj11364" descr="880940_1.jpg">    </p:cNvPr>
          <p:cNvPicPr>
            <a:picLocks noChangeAspect="1"/>
          </p:cNvPicPr>
          <p:nvPr/>
        </p:nvPicPr>
        <p:blipFill>
          <a:blip r:embed="rId5"/>
          <a:stretch>
            <a:fillRect/>
          </a:stretch>
        </p:blipFill>
        <p:spPr>
          <a:xfrm>
            <a:off x="7340416" y="1701757"/>
            <a:ext cx="1968451" cy="1117572"/>
          </a:xfrm>
          <a:prstGeom prst="roundRect">
            <a:avLst>
              <a:gd name="adj" fmla="val 11364"/>
            </a:avLst>
          </a:prstGeom>
        </p:spPr>
      </p:pic>
      <p:pic>
        <p:nvPicPr>
          <p:cNvPr id="11" name="img 11.10 adj11364" descr="1858400_2.jpg">    </p:cNvPr>
          <p:cNvPicPr>
            <a:picLocks noChangeAspect="1"/>
          </p:cNvPicPr>
          <p:nvPr/>
        </p:nvPicPr>
        <p:blipFill>
          <a:blip r:embed="rId6"/>
          <a:stretch>
            <a:fillRect/>
          </a:stretch>
        </p:blipFill>
        <p:spPr>
          <a:xfrm>
            <a:off x="9562861" y="1701757"/>
            <a:ext cx="1968451" cy="1117572"/>
          </a:xfrm>
          <a:prstGeom prst="roundRect">
            <a:avLst>
              <a:gd name="adj" fmla="val 11364"/>
            </a:avLst>
          </a:prstGeom>
        </p:spPr>
      </p:pic>
      <p:sp>
        <p:nvSpPr>
          <p:cNvPr id="12" name="text 11.1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Five games we are measured against</a:t>
            </a:r>
            <a:endParaRPr lang="en-US" sz="2700" dirty="0"/>
          </a:p>
        </p:txBody>
      </p:sp>
      <p:sp>
        <p:nvSpPr>
          <p:cNvPr id="13" name="shape 11.12"/>
          <p:cNvSpPr/>
          <p:nvPr/>
        </p:nvSpPr>
        <p:spPr>
          <a:xfrm>
            <a:off x="749281" y="1777956"/>
            <a:ext cx="825479" cy="203195"/>
          </a:xfrm>
          <a:prstGeom prst="roundRect">
            <a:avLst>
              <a:gd name="adj" fmla="val 50000"/>
            </a:avLst>
          </a:prstGeom>
          <a:solidFill>
            <a:srgbClr val="FF6B1F"/>
          </a:solidFill>
          <a:ln/>
        </p:spPr>
      </p:sp>
      <p:sp>
        <p:nvSpPr>
          <p:cNvPr id="14" name="text 11.13"/>
          <p:cNvSpPr txBox="1"/>
          <p:nvPr/>
        </p:nvSpPr>
        <p:spPr>
          <a:xfrm>
            <a:off x="749281"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AUDIENCE</a:t>
            </a:r>
            <a:endParaRPr lang="en-US" sz="650" dirty="0"/>
          </a:p>
        </p:txBody>
      </p:sp>
      <p:sp>
        <p:nvSpPr>
          <p:cNvPr id="15" name="text 11.14"/>
          <p:cNvSpPr txBox="1"/>
          <p:nvPr/>
        </p:nvSpPr>
        <p:spPr>
          <a:xfrm>
            <a:off x="761981" y="2933627"/>
            <a:ext cx="1191859"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Party Animals</a:t>
            </a:r>
            <a:endParaRPr lang="en-US" sz="1250" dirty="0"/>
          </a:p>
        </p:txBody>
      </p:sp>
      <p:sp>
        <p:nvSpPr>
          <p:cNvPr id="16" name="text 11.15"/>
          <p:cNvSpPr txBox="1"/>
          <p:nvPr/>
        </p:nvSpPr>
        <p:spPr>
          <a:xfrm>
            <a:off x="761981" y="3162221"/>
            <a:ext cx="1212788"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Recreate Games · 2023</a:t>
            </a:r>
            <a:endParaRPr lang="en-US" sz="800" dirty="0"/>
          </a:p>
        </p:txBody>
      </p:sp>
      <p:sp>
        <p:nvSpPr>
          <p:cNvPr id="17" name="text 11.16"/>
          <p:cNvSpPr txBox="1"/>
          <p:nvPr/>
        </p:nvSpPr>
        <p:spPr>
          <a:xfrm>
            <a:off x="761981"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VISUAL</a:t>
            </a:r>
            <a:endParaRPr lang="en-US" sz="700" dirty="0"/>
          </a:p>
        </p:txBody>
      </p:sp>
      <p:sp>
        <p:nvSpPr>
          <p:cNvPr id="18" name="text 11.17"/>
          <p:cNvSpPr txBox="1"/>
          <p:nvPr/>
        </p:nvSpPr>
        <p:spPr>
          <a:xfrm>
            <a:off x="761981" y="3594010"/>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Plush 3D animals, toy-like arenas.</a:t>
            </a:r>
            <a:endParaRPr lang="en-US" sz="950" dirty="0"/>
          </a:p>
        </p:txBody>
      </p:sp>
      <p:sp>
        <p:nvSpPr>
          <p:cNvPr id="19" name="text 11.18"/>
          <p:cNvSpPr txBox="1"/>
          <p:nvPr/>
        </p:nvSpPr>
        <p:spPr>
          <a:xfrm>
            <a:off x="761981"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20" name="text 11.19"/>
          <p:cNvSpPr txBox="1"/>
          <p:nvPr/>
        </p:nvSpPr>
        <p:spPr>
          <a:xfrm>
            <a:off x="761981"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Physics brawling: grab, punch, throw rivals out.</a:t>
            </a:r>
            <a:endParaRPr lang="en-US" sz="950" dirty="0"/>
          </a:p>
        </p:txBody>
      </p:sp>
      <p:sp>
        <p:nvSpPr>
          <p:cNvPr id="21" name="text 11.20"/>
          <p:cNvSpPr txBox="1"/>
          <p:nvPr/>
        </p:nvSpPr>
        <p:spPr>
          <a:xfrm>
            <a:off x="761981"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22" name="text 11.21"/>
          <p:cNvSpPr txBox="1"/>
          <p:nvPr/>
        </p:nvSpPr>
        <p:spPr>
          <a:xfrm>
            <a:off x="761981" y="4990975"/>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Online and same-screen. No LAN listed.</a:t>
            </a:r>
            <a:endParaRPr lang="en-US" sz="950" dirty="0"/>
          </a:p>
        </p:txBody>
      </p:sp>
      <p:sp>
        <p:nvSpPr>
          <p:cNvPr id="23" name="text 11.22"/>
          <p:cNvSpPr txBox="1"/>
          <p:nvPr/>
        </p:nvSpPr>
        <p:spPr>
          <a:xfrm>
            <a:off x="761981"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24" name="text 11.23"/>
          <p:cNvSpPr txBox="1"/>
          <p:nvPr/>
        </p:nvSpPr>
        <p:spPr>
          <a:xfrm>
            <a:off x="761981"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Launch peak 104,174 players. Owner est. 2.5M–6.0M.</a:t>
            </a:r>
            <a:endParaRPr lang="en-US" sz="950" dirty="0"/>
          </a:p>
        </p:txBody>
      </p:sp>
      <p:sp>
        <p:nvSpPr>
          <p:cNvPr id="25" name="shape 11.24"/>
          <p:cNvSpPr/>
          <p:nvPr/>
        </p:nvSpPr>
        <p:spPr>
          <a:xfrm>
            <a:off x="2971726" y="1777956"/>
            <a:ext cx="825479" cy="203195"/>
          </a:xfrm>
          <a:prstGeom prst="roundRect">
            <a:avLst>
              <a:gd name="adj" fmla="val 50000"/>
            </a:avLst>
          </a:prstGeom>
          <a:solidFill>
            <a:srgbClr val="1FA9EA"/>
          </a:solidFill>
          <a:ln/>
        </p:spPr>
      </p:sp>
      <p:sp>
        <p:nvSpPr>
          <p:cNvPr id="26" name="text 11.25"/>
          <p:cNvSpPr txBox="1"/>
          <p:nvPr/>
        </p:nvSpPr>
        <p:spPr>
          <a:xfrm>
            <a:off x="2971726"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PHYSICS</a:t>
            </a:r>
            <a:endParaRPr lang="en-US" sz="650" dirty="0"/>
          </a:p>
        </p:txBody>
      </p:sp>
      <p:sp>
        <p:nvSpPr>
          <p:cNvPr id="27" name="text 11.26"/>
          <p:cNvSpPr txBox="1"/>
          <p:nvPr/>
        </p:nvSpPr>
        <p:spPr>
          <a:xfrm>
            <a:off x="2984425" y="2933627"/>
            <a:ext cx="1108670"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Gang Beasts</a:t>
            </a:r>
            <a:endParaRPr lang="en-US" sz="1250" dirty="0"/>
          </a:p>
        </p:txBody>
      </p:sp>
      <p:sp>
        <p:nvSpPr>
          <p:cNvPr id="28" name="text 11.27"/>
          <p:cNvSpPr txBox="1"/>
          <p:nvPr/>
        </p:nvSpPr>
        <p:spPr>
          <a:xfrm>
            <a:off x="2984425" y="3162221"/>
            <a:ext cx="823977"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Boneloaf · 2017</a:t>
            </a:r>
            <a:endParaRPr lang="en-US" sz="800" dirty="0"/>
          </a:p>
        </p:txBody>
      </p:sp>
      <p:sp>
        <p:nvSpPr>
          <p:cNvPr id="29" name="text 11.28"/>
          <p:cNvSpPr txBox="1"/>
          <p:nvPr/>
        </p:nvSpPr>
        <p:spPr>
          <a:xfrm>
            <a:off x="2984425"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VISUAL</a:t>
            </a:r>
            <a:endParaRPr lang="en-US" sz="700" dirty="0"/>
          </a:p>
        </p:txBody>
      </p:sp>
      <p:sp>
        <p:nvSpPr>
          <p:cNvPr id="30" name="text 11.29"/>
          <p:cNvSpPr txBox="1"/>
          <p:nvPr/>
        </p:nvSpPr>
        <p:spPr>
          <a:xfrm>
            <a:off x="2984425" y="3594010"/>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Soft, gelatinous 3D people.</a:t>
            </a:r>
            <a:endParaRPr lang="en-US" sz="950" dirty="0"/>
          </a:p>
        </p:txBody>
      </p:sp>
      <p:sp>
        <p:nvSpPr>
          <p:cNvPr id="31" name="text 11.30"/>
          <p:cNvSpPr txBox="1"/>
          <p:nvPr/>
        </p:nvSpPr>
        <p:spPr>
          <a:xfrm>
            <a:off x="2984425"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MECHANIC</a:t>
            </a:r>
            <a:endParaRPr lang="en-US" sz="700" dirty="0"/>
          </a:p>
        </p:txBody>
      </p:sp>
      <p:sp>
        <p:nvSpPr>
          <p:cNvPr id="32" name="text 11.31"/>
          <p:cNvSpPr txBox="1"/>
          <p:nvPr/>
        </p:nvSpPr>
        <p:spPr>
          <a:xfrm>
            <a:off x="2984425"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Ragdoll brawling into stage hazards.</a:t>
            </a:r>
            <a:endParaRPr lang="en-US" sz="950" dirty="0"/>
          </a:p>
        </p:txBody>
      </p:sp>
      <p:sp>
        <p:nvSpPr>
          <p:cNvPr id="33" name="text 11.32"/>
          <p:cNvSpPr txBox="1"/>
          <p:nvPr/>
        </p:nvSpPr>
        <p:spPr>
          <a:xfrm>
            <a:off x="2984425"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MULTIPLAYER</a:t>
            </a:r>
            <a:endParaRPr lang="en-US" sz="700" dirty="0"/>
          </a:p>
        </p:txBody>
      </p:sp>
      <p:sp>
        <p:nvSpPr>
          <p:cNvPr id="34" name="text 11.33"/>
          <p:cNvSpPr txBox="1"/>
          <p:nvPr/>
        </p:nvSpPr>
        <p:spPr>
          <a:xfrm>
            <a:off x="2984425" y="4990975"/>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Same-screen and online. No LAN listed.</a:t>
            </a:r>
            <a:endParaRPr lang="en-US" sz="950" dirty="0"/>
          </a:p>
        </p:txBody>
      </p:sp>
      <p:sp>
        <p:nvSpPr>
          <p:cNvPr id="35" name="text 11.34"/>
          <p:cNvSpPr txBox="1"/>
          <p:nvPr/>
        </p:nvSpPr>
        <p:spPr>
          <a:xfrm>
            <a:off x="2984425"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FINANCIALS</a:t>
            </a:r>
            <a:endParaRPr lang="en-US" sz="700" dirty="0"/>
          </a:p>
        </p:txBody>
      </p:sp>
      <p:sp>
        <p:nvSpPr>
          <p:cNvPr id="36" name="text 11.35"/>
          <p:cNvSpPr txBox="1"/>
          <p:nvPr/>
        </p:nvSpPr>
        <p:spPr>
          <a:xfrm>
            <a:off x="2984425"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85% positive. Owner est. 4.6M–5.8M.</a:t>
            </a:r>
            <a:endParaRPr lang="en-US" sz="950" dirty="0"/>
          </a:p>
        </p:txBody>
      </p:sp>
      <p:sp>
        <p:nvSpPr>
          <p:cNvPr id="37" name="shape 11.36"/>
          <p:cNvSpPr/>
          <p:nvPr/>
        </p:nvSpPr>
        <p:spPr>
          <a:xfrm>
            <a:off x="5194170" y="1777956"/>
            <a:ext cx="825479" cy="203195"/>
          </a:xfrm>
          <a:prstGeom prst="roundRect">
            <a:avLst>
              <a:gd name="adj" fmla="val 50000"/>
            </a:avLst>
          </a:prstGeom>
          <a:solidFill>
            <a:srgbClr val="43B832"/>
          </a:solidFill>
          <a:ln/>
        </p:spPr>
      </p:sp>
      <p:sp>
        <p:nvSpPr>
          <p:cNvPr id="38" name="text 11.37"/>
          <p:cNvSpPr txBox="1"/>
          <p:nvPr/>
        </p:nvSpPr>
        <p:spPr>
          <a:xfrm>
            <a:off x="5194170"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FORMAT</a:t>
            </a:r>
            <a:endParaRPr lang="en-US" sz="650" dirty="0"/>
          </a:p>
        </p:txBody>
      </p:sp>
      <p:sp>
        <p:nvSpPr>
          <p:cNvPr id="39" name="text 11.38"/>
          <p:cNvSpPr txBox="1"/>
          <p:nvPr/>
        </p:nvSpPr>
        <p:spPr>
          <a:xfrm>
            <a:off x="5206870" y="2933627"/>
            <a:ext cx="809359"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Fall Guys</a:t>
            </a:r>
            <a:endParaRPr lang="en-US" sz="1250" dirty="0"/>
          </a:p>
        </p:txBody>
      </p:sp>
      <p:sp>
        <p:nvSpPr>
          <p:cNvPr id="40" name="text 11.39"/>
          <p:cNvSpPr txBox="1"/>
          <p:nvPr/>
        </p:nvSpPr>
        <p:spPr>
          <a:xfrm>
            <a:off x="5206870" y="3162221"/>
            <a:ext cx="1218888"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Mediatonic / Epic · 2020</a:t>
            </a:r>
            <a:endParaRPr lang="en-US" sz="800" dirty="0"/>
          </a:p>
        </p:txBody>
      </p:sp>
      <p:sp>
        <p:nvSpPr>
          <p:cNvPr id="41" name="text 11.40"/>
          <p:cNvSpPr txBox="1"/>
          <p:nvPr/>
        </p:nvSpPr>
        <p:spPr>
          <a:xfrm>
            <a:off x="5206870"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VISUAL</a:t>
            </a:r>
            <a:endParaRPr lang="en-US" sz="700" dirty="0"/>
          </a:p>
        </p:txBody>
      </p:sp>
      <p:sp>
        <p:nvSpPr>
          <p:cNvPr id="42" name="text 11.41"/>
          <p:cNvSpPr txBox="1"/>
          <p:nvPr/>
        </p:nvSpPr>
        <p:spPr>
          <a:xfrm>
            <a:off x="5206870" y="3594010"/>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Candy-coloured beans, obstacle courses.</a:t>
            </a:r>
            <a:endParaRPr lang="en-US" sz="950" dirty="0"/>
          </a:p>
        </p:txBody>
      </p:sp>
      <p:sp>
        <p:nvSpPr>
          <p:cNvPr id="43" name="text 11.42"/>
          <p:cNvSpPr txBox="1"/>
          <p:nvPr/>
        </p:nvSpPr>
        <p:spPr>
          <a:xfrm>
            <a:off x="5206870"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MECHANIC</a:t>
            </a:r>
            <a:endParaRPr lang="en-US" sz="700" dirty="0"/>
          </a:p>
        </p:txBody>
      </p:sp>
      <p:sp>
        <p:nvSpPr>
          <p:cNvPr id="44" name="text 11.43"/>
          <p:cNvSpPr txBox="1"/>
          <p:nvPr/>
        </p:nvSpPr>
        <p:spPr>
          <a:xfrm>
            <a:off x="5206870"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Short race and survival rounds in a playlist.</a:t>
            </a:r>
            <a:endParaRPr lang="en-US" sz="950" dirty="0"/>
          </a:p>
        </p:txBody>
      </p:sp>
      <p:sp>
        <p:nvSpPr>
          <p:cNvPr id="45" name="text 11.44"/>
          <p:cNvSpPr txBox="1"/>
          <p:nvPr/>
        </p:nvSpPr>
        <p:spPr>
          <a:xfrm>
            <a:off x="5206870"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MULTIPLAYER</a:t>
            </a:r>
            <a:endParaRPr lang="en-US" sz="700" dirty="0"/>
          </a:p>
        </p:txBody>
      </p:sp>
      <p:sp>
        <p:nvSpPr>
          <p:cNvPr id="46" name="text 11.45"/>
          <p:cNvSpPr txBox="1"/>
          <p:nvPr/>
        </p:nvSpPr>
        <p:spPr>
          <a:xfrm>
            <a:off x="5206870" y="4990975"/>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Online, cross-platform only.</a:t>
            </a:r>
            <a:endParaRPr lang="en-US" sz="950" dirty="0"/>
          </a:p>
        </p:txBody>
      </p:sp>
      <p:sp>
        <p:nvSpPr>
          <p:cNvPr id="47" name="text 11.46"/>
          <p:cNvSpPr txBox="1"/>
          <p:nvPr/>
        </p:nvSpPr>
        <p:spPr>
          <a:xfrm>
            <a:off x="5206870"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FINANCIALS</a:t>
            </a:r>
            <a:endParaRPr lang="en-US" sz="700" dirty="0"/>
          </a:p>
        </p:txBody>
      </p:sp>
      <p:sp>
        <p:nvSpPr>
          <p:cNvPr id="48" name="text 11.47"/>
          <p:cNvSpPr txBox="1"/>
          <p:nvPr/>
        </p:nvSpPr>
        <p:spPr>
          <a:xfrm>
            <a:off x="5206870"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Free-to-play. Legacy Steam peak 172,213. Metacritic 80.</a:t>
            </a:r>
            <a:endParaRPr lang="en-US" sz="950" dirty="0"/>
          </a:p>
        </p:txBody>
      </p:sp>
      <p:sp>
        <p:nvSpPr>
          <p:cNvPr id="49" name="shape 11.48"/>
          <p:cNvSpPr/>
          <p:nvPr/>
        </p:nvSpPr>
        <p:spPr>
          <a:xfrm>
            <a:off x="7416615" y="1777956"/>
            <a:ext cx="825479" cy="203195"/>
          </a:xfrm>
          <a:prstGeom prst="roundRect">
            <a:avLst>
              <a:gd name="adj" fmla="val 50000"/>
            </a:avLst>
          </a:prstGeom>
          <a:solidFill>
            <a:srgbClr val="43B832"/>
          </a:solidFill>
          <a:ln/>
        </p:spPr>
      </p:sp>
      <p:sp>
        <p:nvSpPr>
          <p:cNvPr id="50" name="text 11.49"/>
          <p:cNvSpPr txBox="1"/>
          <p:nvPr/>
        </p:nvSpPr>
        <p:spPr>
          <a:xfrm>
            <a:off x="7416615"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FORMAT</a:t>
            </a:r>
            <a:endParaRPr lang="en-US" sz="650" dirty="0"/>
          </a:p>
        </p:txBody>
      </p:sp>
      <p:sp>
        <p:nvSpPr>
          <p:cNvPr id="51" name="text 11.50"/>
          <p:cNvSpPr txBox="1"/>
          <p:nvPr/>
        </p:nvSpPr>
        <p:spPr>
          <a:xfrm>
            <a:off x="7429314" y="2933627"/>
            <a:ext cx="1195225"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Pummel Party</a:t>
            </a:r>
            <a:endParaRPr lang="en-US" sz="1250" dirty="0"/>
          </a:p>
        </p:txBody>
      </p:sp>
      <p:sp>
        <p:nvSpPr>
          <p:cNvPr id="52" name="text 11.51"/>
          <p:cNvSpPr txBox="1"/>
          <p:nvPr/>
        </p:nvSpPr>
        <p:spPr>
          <a:xfrm>
            <a:off x="7429314" y="3162221"/>
            <a:ext cx="1111089"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Rebuilt Games · 2018</a:t>
            </a:r>
            <a:endParaRPr lang="en-US" sz="800" dirty="0"/>
          </a:p>
        </p:txBody>
      </p:sp>
      <p:sp>
        <p:nvSpPr>
          <p:cNvPr id="53" name="text 11.52"/>
          <p:cNvSpPr txBox="1"/>
          <p:nvPr/>
        </p:nvSpPr>
        <p:spPr>
          <a:xfrm>
            <a:off x="7429314"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VISUAL</a:t>
            </a:r>
            <a:endParaRPr lang="en-US" sz="700" dirty="0"/>
          </a:p>
        </p:txBody>
      </p:sp>
      <p:sp>
        <p:nvSpPr>
          <p:cNvPr id="54" name="text 11.53"/>
          <p:cNvSpPr txBox="1"/>
          <p:nvPr/>
        </p:nvSpPr>
        <p:spPr>
          <a:xfrm>
            <a:off x="7429314" y="3594010"/>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Colourful low-poly 3D, slapstick items.</a:t>
            </a:r>
            <a:endParaRPr lang="en-US" sz="950" dirty="0"/>
          </a:p>
        </p:txBody>
      </p:sp>
      <p:sp>
        <p:nvSpPr>
          <p:cNvPr id="55" name="text 11.54"/>
          <p:cNvSpPr txBox="1"/>
          <p:nvPr/>
        </p:nvSpPr>
        <p:spPr>
          <a:xfrm>
            <a:off x="7429314"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MECHANIC</a:t>
            </a:r>
            <a:endParaRPr lang="en-US" sz="700" dirty="0"/>
          </a:p>
        </p:txBody>
      </p:sp>
      <p:sp>
        <p:nvSpPr>
          <p:cNvPr id="56" name="text 11.55"/>
          <p:cNvSpPr txBox="1"/>
          <p:nvPr/>
        </p:nvSpPr>
        <p:spPr>
          <a:xfrm>
            <a:off x="7429314"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Board game with short competitive mini-games.</a:t>
            </a:r>
            <a:endParaRPr lang="en-US" sz="950" dirty="0"/>
          </a:p>
        </p:txBody>
      </p:sp>
      <p:sp>
        <p:nvSpPr>
          <p:cNvPr id="57" name="text 11.56"/>
          <p:cNvSpPr txBox="1"/>
          <p:nvPr/>
        </p:nvSpPr>
        <p:spPr>
          <a:xfrm>
            <a:off x="7429314"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MULTIPLAYER</a:t>
            </a:r>
            <a:endParaRPr lang="en-US" sz="700" dirty="0"/>
          </a:p>
        </p:txBody>
      </p:sp>
      <p:sp>
        <p:nvSpPr>
          <p:cNvPr id="58" name="text 11.57"/>
          <p:cNvSpPr txBox="1"/>
          <p:nvPr/>
        </p:nvSpPr>
        <p:spPr>
          <a:xfrm>
            <a:off x="7429314" y="4990975"/>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4–8 online and local. No LAN listed.</a:t>
            </a:r>
            <a:endParaRPr lang="en-US" sz="950" dirty="0"/>
          </a:p>
        </p:txBody>
      </p:sp>
      <p:sp>
        <p:nvSpPr>
          <p:cNvPr id="59" name="text 11.58"/>
          <p:cNvSpPr txBox="1"/>
          <p:nvPr/>
        </p:nvSpPr>
        <p:spPr>
          <a:xfrm>
            <a:off x="7429314"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43B832"/>
                </a:solidFill>
                <a:latin typeface="Arial" pitchFamily="34" charset="0"/>
                <a:ea typeface="Arial" pitchFamily="34" charset="-122"/>
                <a:cs typeface="Arial" pitchFamily="34" charset="-120"/>
              </a:rPr>
              <a:t>FINANCIALS</a:t>
            </a:r>
            <a:endParaRPr lang="en-US" sz="700" dirty="0"/>
          </a:p>
        </p:txBody>
      </p:sp>
      <p:sp>
        <p:nvSpPr>
          <p:cNvPr id="60" name="text 11.59"/>
          <p:cNvSpPr txBox="1"/>
          <p:nvPr/>
        </p:nvSpPr>
        <p:spPr>
          <a:xfrm>
            <a:off x="7429314" y="5689458"/>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$14.99. Peak 20,957. Owner est. 1.5M–7.6M.</a:t>
            </a:r>
            <a:endParaRPr lang="en-US" sz="950" dirty="0"/>
          </a:p>
        </p:txBody>
      </p:sp>
      <p:sp>
        <p:nvSpPr>
          <p:cNvPr id="61" name="shape 11.60"/>
          <p:cNvSpPr/>
          <p:nvPr/>
        </p:nvSpPr>
        <p:spPr>
          <a:xfrm>
            <a:off x="9639059" y="1777956"/>
            <a:ext cx="825479" cy="203195"/>
          </a:xfrm>
          <a:prstGeom prst="roundRect">
            <a:avLst>
              <a:gd name="adj" fmla="val 50000"/>
            </a:avLst>
          </a:prstGeom>
          <a:solidFill>
            <a:srgbClr val="8F55F5"/>
          </a:solidFill>
          <a:ln/>
        </p:spPr>
      </p:sp>
      <p:sp>
        <p:nvSpPr>
          <p:cNvPr id="62" name="text 11.61"/>
          <p:cNvSpPr txBox="1"/>
          <p:nvPr/>
        </p:nvSpPr>
        <p:spPr>
          <a:xfrm>
            <a:off x="9639059" y="1777956"/>
            <a:ext cx="825479"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MECHANIC</a:t>
            </a:r>
            <a:endParaRPr lang="en-US" sz="650" dirty="0"/>
          </a:p>
        </p:txBody>
      </p:sp>
      <p:sp>
        <p:nvSpPr>
          <p:cNvPr id="63" name="text 11.62"/>
          <p:cNvSpPr txBox="1"/>
          <p:nvPr/>
        </p:nvSpPr>
        <p:spPr>
          <a:xfrm>
            <a:off x="9651759" y="2933627"/>
            <a:ext cx="853740"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Squarena</a:t>
            </a:r>
            <a:endParaRPr lang="en-US" sz="1250" dirty="0"/>
          </a:p>
        </p:txBody>
      </p:sp>
      <p:sp>
        <p:nvSpPr>
          <p:cNvPr id="64" name="text 11.63"/>
          <p:cNvSpPr txBox="1"/>
          <p:nvPr/>
        </p:nvSpPr>
        <p:spPr>
          <a:xfrm>
            <a:off x="9651759" y="3162221"/>
            <a:ext cx="991301" cy="142236"/>
          </a:xfrm>
          <a:prstGeom prst="rect">
            <a:avLst/>
          </a:prstGeom>
          <a:noFill/>
          <a:ln/>
        </p:spPr>
        <p:txBody>
          <a:bodyPr wrap="square" lIns="0" tIns="0" rIns="0" bIns="0" rtlCol="0" anchor="t"/>
          <a:lstStyle/>
          <a:p>
            <a:pPr algn="l" indent="0" marL="0">
              <a:lnSpc>
                <a:spcPts val="1120"/>
              </a:lnSpc>
              <a:buNone/>
            </a:pPr>
            <a:r>
              <a:rPr lang="en-US" sz="800" dirty="0">
                <a:solidFill>
                  <a:srgbClr val="6E7D9A"/>
                </a:solidFill>
                <a:latin typeface="Arial" pitchFamily="34" charset="0"/>
                <a:ea typeface="Arial" pitchFamily="34" charset="-122"/>
                <a:cs typeface="Arial" pitchFamily="34" charset="-120"/>
              </a:rPr>
              <a:t>Codeaclysm · 2022</a:t>
            </a:r>
            <a:endParaRPr lang="en-US" sz="800" dirty="0"/>
          </a:p>
        </p:txBody>
      </p:sp>
      <p:sp>
        <p:nvSpPr>
          <p:cNvPr id="65" name="text 11.64"/>
          <p:cNvSpPr txBox="1"/>
          <p:nvPr/>
        </p:nvSpPr>
        <p:spPr>
          <a:xfrm>
            <a:off x="9651759" y="3454314"/>
            <a:ext cx="4769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VISUAL</a:t>
            </a:r>
            <a:endParaRPr lang="en-US" sz="700" dirty="0"/>
          </a:p>
        </p:txBody>
      </p:sp>
      <p:sp>
        <p:nvSpPr>
          <p:cNvPr id="66" name="text 11.65"/>
          <p:cNvSpPr txBox="1"/>
          <p:nvPr/>
        </p:nvSpPr>
        <p:spPr>
          <a:xfrm>
            <a:off x="9651759" y="3594010"/>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Minimal flat 2D squares.</a:t>
            </a:r>
            <a:endParaRPr lang="en-US" sz="950" dirty="0"/>
          </a:p>
        </p:txBody>
      </p:sp>
      <p:sp>
        <p:nvSpPr>
          <p:cNvPr id="67" name="text 11.66"/>
          <p:cNvSpPr txBox="1"/>
          <p:nvPr/>
        </p:nvSpPr>
        <p:spPr>
          <a:xfrm>
            <a:off x="9651759" y="4152796"/>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MECHANIC</a:t>
            </a:r>
            <a:endParaRPr lang="en-US" sz="700" dirty="0"/>
          </a:p>
        </p:txBody>
      </p:sp>
      <p:sp>
        <p:nvSpPr>
          <p:cNvPr id="68" name="text 11.67"/>
          <p:cNvSpPr txBox="1"/>
          <p:nvPr/>
        </p:nvSpPr>
        <p:spPr>
          <a:xfrm>
            <a:off x="9651759" y="4292493"/>
            <a:ext cx="1879553" cy="31848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Arena shooter: low health shrinks you; small bodies feel more recoil.</a:t>
            </a:r>
            <a:endParaRPr lang="en-US" sz="950" dirty="0"/>
          </a:p>
        </p:txBody>
      </p:sp>
      <p:sp>
        <p:nvSpPr>
          <p:cNvPr id="69" name="text 11.68"/>
          <p:cNvSpPr txBox="1"/>
          <p:nvPr/>
        </p:nvSpPr>
        <p:spPr>
          <a:xfrm>
            <a:off x="9651759" y="4851279"/>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MULTIPLAYER</a:t>
            </a:r>
            <a:endParaRPr lang="en-US" sz="700" dirty="0"/>
          </a:p>
        </p:txBody>
      </p:sp>
      <p:sp>
        <p:nvSpPr>
          <p:cNvPr id="70" name="text 11.69"/>
          <p:cNvSpPr txBox="1"/>
          <p:nvPr/>
        </p:nvSpPr>
        <p:spPr>
          <a:xfrm>
            <a:off x="9651759" y="4990975"/>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Up to 6 local. No LAN listed.</a:t>
            </a:r>
            <a:endParaRPr lang="en-US" sz="950" dirty="0"/>
          </a:p>
        </p:txBody>
      </p:sp>
      <p:sp>
        <p:nvSpPr>
          <p:cNvPr id="71" name="text 11.70"/>
          <p:cNvSpPr txBox="1"/>
          <p:nvPr/>
        </p:nvSpPr>
        <p:spPr>
          <a:xfrm>
            <a:off x="9651759" y="5549761"/>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8F55F5"/>
                </a:solidFill>
                <a:latin typeface="Arial" pitchFamily="34" charset="0"/>
                <a:ea typeface="Arial" pitchFamily="34" charset="-122"/>
                <a:cs typeface="Arial" pitchFamily="34" charset="-120"/>
              </a:rPr>
              <a:t>FINANCIALS</a:t>
            </a:r>
            <a:endParaRPr lang="en-US" sz="700" dirty="0"/>
          </a:p>
        </p:txBody>
      </p:sp>
      <p:sp>
        <p:nvSpPr>
          <p:cNvPr id="72" name="text 11.71"/>
          <p:cNvSpPr txBox="1"/>
          <p:nvPr/>
        </p:nvSpPr>
        <p:spPr>
          <a:xfrm>
            <a:off x="9651759" y="5689458"/>
            <a:ext cx="1879553" cy="159254"/>
          </a:xfrm>
          <a:prstGeom prst="rect">
            <a:avLst/>
          </a:prstGeom>
          <a:noFill/>
          <a:ln/>
        </p:spPr>
        <p:txBody>
          <a:bodyPr wrap="square" lIns="0" tIns="0" rIns="0" bIns="0" rtlCol="0" anchor="t"/>
          <a:lstStyle/>
          <a:p>
            <a:pPr algn="l" indent="0" marL="0">
              <a:lnSpc>
                <a:spcPts val="1250"/>
              </a:lnSpc>
              <a:buNone/>
            </a:pPr>
            <a:r>
              <a:rPr lang="en-US" sz="950" dirty="0">
                <a:solidFill>
                  <a:srgbClr val="3B4A66"/>
                </a:solidFill>
                <a:latin typeface="Arial" pitchFamily="34" charset="0"/>
                <a:ea typeface="Arial" pitchFamily="34" charset="-122"/>
                <a:cs typeface="Arial" pitchFamily="34" charset="-120"/>
              </a:rPr>
              <a:t>$4.99. Sales not disclosed.</a:t>
            </a:r>
            <a:endParaRPr lang="en-US" sz="950" dirty="0"/>
          </a:p>
        </p:txBody>
      </p:sp>
      <p:sp>
        <p:nvSpPr>
          <p:cNvPr id="73" name="text 11.72"/>
          <p:cNvSpPr txBox="1"/>
          <p:nvPr/>
        </p:nvSpPr>
        <p:spPr>
          <a:xfrm>
            <a:off x="609585" y="6554326"/>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Screenshots: official Steam media, © publishers. “Owner est.” = third-party estimates via SteamDB, not sales. 2026-10-17 [7].</a:t>
            </a:r>
            <a:endParaRPr lang="en-US" sz="850" dirty="0"/>
          </a:p>
        </p:txBody>
      </p:sp>
      <p:sp>
        <p:nvSpPr>
          <p:cNvPr id="74" name="shape 11.73"/>
          <p:cNvSpPr/>
          <p:nvPr/>
        </p:nvSpPr>
        <p:spPr>
          <a:xfrm>
            <a:off x="609585" y="266693"/>
            <a:ext cx="1182261"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75" name="shape 11.74"/>
          <p:cNvSpPr/>
          <p:nvPr/>
        </p:nvSpPr>
        <p:spPr>
          <a:xfrm>
            <a:off x="711182" y="355591"/>
            <a:ext cx="114297" cy="114297"/>
          </a:xfrm>
          <a:prstGeom prst="roundRect">
            <a:avLst>
              <a:gd name="adj" fmla="val 33333"/>
            </a:avLst>
          </a:prstGeom>
          <a:solidFill>
            <a:srgbClr val="8F55F5"/>
          </a:solidFill>
          <a:ln/>
        </p:spPr>
      </p:sp>
      <p:sp>
        <p:nvSpPr>
          <p:cNvPr id="76" name="shape 11.7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77" name="shape 11.76"/>
          <p:cNvSpPr/>
          <p:nvPr/>
        </p:nvSpPr>
        <p:spPr>
          <a:xfrm>
            <a:off x="10058149" y="368291"/>
            <a:ext cx="101597" cy="101597"/>
          </a:xfrm>
          <a:prstGeom prst="roundRect">
            <a:avLst>
              <a:gd name="adj" fmla="val 31250"/>
            </a:avLst>
          </a:prstGeom>
          <a:solidFill>
            <a:srgbClr val="16233F"/>
          </a:solidFill>
          <a:ln/>
        </p:spPr>
      </p:sp>
      <p:sp>
        <p:nvSpPr>
          <p:cNvPr id="78" name="shape 11.77"/>
          <p:cNvSpPr/>
          <p:nvPr/>
        </p:nvSpPr>
        <p:spPr>
          <a:xfrm>
            <a:off x="10223244" y="368291"/>
            <a:ext cx="101597" cy="101597"/>
          </a:xfrm>
          <a:prstGeom prst="roundRect">
            <a:avLst>
              <a:gd name="adj" fmla="val 31250"/>
            </a:avLst>
          </a:prstGeom>
          <a:solidFill>
            <a:srgbClr val="16233F"/>
          </a:solidFill>
          <a:ln/>
        </p:spPr>
      </p:sp>
      <p:sp>
        <p:nvSpPr>
          <p:cNvPr id="79" name="shape 11.78"/>
          <p:cNvSpPr/>
          <p:nvPr/>
        </p:nvSpPr>
        <p:spPr>
          <a:xfrm>
            <a:off x="10388340" y="368291"/>
            <a:ext cx="101597" cy="101597"/>
          </a:xfrm>
          <a:prstGeom prst="roundRect">
            <a:avLst>
              <a:gd name="adj" fmla="val 31250"/>
            </a:avLst>
          </a:prstGeom>
          <a:solidFill>
            <a:srgbClr val="8F55F5"/>
          </a:solidFill>
          <a:ln/>
        </p:spPr>
      </p:sp>
      <p:sp>
        <p:nvSpPr>
          <p:cNvPr id="80" name="shape 11.79"/>
          <p:cNvSpPr/>
          <p:nvPr/>
        </p:nvSpPr>
        <p:spPr>
          <a:xfrm>
            <a:off x="10553436" y="368291"/>
            <a:ext cx="101597" cy="101597"/>
          </a:xfrm>
          <a:prstGeom prst="roundRect">
            <a:avLst>
              <a:gd name="adj" fmla="val 31250"/>
            </a:avLst>
          </a:prstGeom>
          <a:solidFill>
            <a:srgbClr val="C7D4E8"/>
          </a:solidFill>
          <a:ln/>
        </p:spPr>
      </p:sp>
      <p:sp>
        <p:nvSpPr>
          <p:cNvPr id="81" name="shape 11.80"/>
          <p:cNvSpPr/>
          <p:nvPr/>
        </p:nvSpPr>
        <p:spPr>
          <a:xfrm>
            <a:off x="10718532" y="368291"/>
            <a:ext cx="101597" cy="101597"/>
          </a:xfrm>
          <a:prstGeom prst="roundRect">
            <a:avLst>
              <a:gd name="adj" fmla="val 31250"/>
            </a:avLst>
          </a:prstGeom>
          <a:solidFill>
            <a:srgbClr val="C7D4E8"/>
          </a:solidFill>
          <a:ln/>
        </p:spPr>
      </p:sp>
      <p:sp>
        <p:nvSpPr>
          <p:cNvPr id="82" name="shape 11.81"/>
          <p:cNvSpPr/>
          <p:nvPr/>
        </p:nvSpPr>
        <p:spPr>
          <a:xfrm>
            <a:off x="10883628" y="368291"/>
            <a:ext cx="101597" cy="101597"/>
          </a:xfrm>
          <a:prstGeom prst="roundRect">
            <a:avLst>
              <a:gd name="adj" fmla="val 31250"/>
            </a:avLst>
          </a:prstGeom>
          <a:solidFill>
            <a:srgbClr val="C7D4E8"/>
          </a:solidFill>
          <a:ln/>
        </p:spPr>
      </p:sp>
      <p:sp>
        <p:nvSpPr>
          <p:cNvPr id="83" name="text 11.8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11</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84" name="text 11.83"/>
          <p:cNvSpPr txBox="1"/>
          <p:nvPr/>
        </p:nvSpPr>
        <p:spPr>
          <a:xfrm>
            <a:off x="927077" y="349241"/>
            <a:ext cx="72322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03 · Market</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2.1"/>
          <p:cNvSpPr/>
          <p:nvPr/>
        </p:nvSpPr>
        <p:spPr>
          <a:xfrm>
            <a:off x="609585" y="1587460"/>
            <a:ext cx="9708907" cy="3657509"/>
          </a:xfrm>
          <a:prstGeom prst="roundRect">
            <a:avLst>
              <a:gd name="adj" fmla="val 4861"/>
            </a:avLst>
          </a:prstGeom>
          <a:solidFill>
            <a:srgbClr val="FFFFFF"/>
          </a:solidFill>
          <a:ln/>
          <a:effectLst>
            <a:outerShdw sx="100000" sy="100000" kx="0" ky="0" algn="bl" rotWithShape="0" blurRad="203200" dist="76200" dir="5400000">
              <a:srgbClr val="1E468C">
                <a:alpha val="16000"/>
              </a:srgbClr>
            </a:outerShdw>
          </a:effectLst>
        </p:spPr>
      </p:sp>
      <p:sp>
        <p:nvSpPr>
          <p:cNvPr id="3" name="shape 12.2"/>
          <p:cNvSpPr/>
          <p:nvPr/>
        </p:nvSpPr>
        <p:spPr>
          <a:xfrm>
            <a:off x="10381990" y="1498563"/>
            <a:ext cx="1187420" cy="3835304"/>
          </a:xfrm>
          <a:prstGeom prst="roundRect">
            <a:avLst>
              <a:gd name="adj" fmla="val 14973"/>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pic>
        <p:nvPicPr>
          <p:cNvPr id="4" name="raster 12.3" descr="diagram">    </p:cNvPr>
          <p:cNvPicPr>
            <a:picLocks noChangeAspect="1"/>
          </p:cNvPicPr>
          <p:nvPr/>
        </p:nvPicPr>
        <p:blipFill>
          <a:blip r:embed="rId2"/>
          <a:stretch>
            <a:fillRect/>
          </a:stretch>
        </p:blipFill>
        <p:spPr>
          <a:xfrm>
            <a:off x="4886203" y="2139897"/>
            <a:ext cx="304792" cy="304792"/>
          </a:xfrm>
          <a:prstGeom prst="rect">
            <a:avLst/>
          </a:prstGeom>
        </p:spPr>
      </p:pic>
      <p:pic>
        <p:nvPicPr>
          <p:cNvPr id="5" name="raster 12.4" descr="diagram">    </p:cNvPr>
          <p:cNvPicPr>
            <a:picLocks noChangeAspect="1"/>
          </p:cNvPicPr>
          <p:nvPr/>
        </p:nvPicPr>
        <p:blipFill>
          <a:blip r:embed="rId3"/>
          <a:stretch>
            <a:fillRect/>
          </a:stretch>
        </p:blipFill>
        <p:spPr>
          <a:xfrm>
            <a:off x="6073623" y="2139897"/>
            <a:ext cx="304792" cy="304792"/>
          </a:xfrm>
          <a:prstGeom prst="rect">
            <a:avLst/>
          </a:prstGeom>
        </p:spPr>
      </p:pic>
      <p:pic>
        <p:nvPicPr>
          <p:cNvPr id="6" name="raster 12.5" descr="diagram">    </p:cNvPr>
          <p:cNvPicPr>
            <a:picLocks noChangeAspect="1"/>
          </p:cNvPicPr>
          <p:nvPr/>
        </p:nvPicPr>
        <p:blipFill>
          <a:blip r:embed="rId4"/>
          <a:stretch>
            <a:fillRect/>
          </a:stretch>
        </p:blipFill>
        <p:spPr>
          <a:xfrm>
            <a:off x="7261043" y="2139897"/>
            <a:ext cx="304792" cy="304792"/>
          </a:xfrm>
          <a:prstGeom prst="rect">
            <a:avLst/>
          </a:prstGeom>
        </p:spPr>
      </p:pic>
      <p:pic>
        <p:nvPicPr>
          <p:cNvPr id="7" name="raster 12.6" descr="diagram">    </p:cNvPr>
          <p:cNvPicPr>
            <a:picLocks noChangeAspect="1"/>
          </p:cNvPicPr>
          <p:nvPr/>
        </p:nvPicPr>
        <p:blipFill>
          <a:blip r:embed="rId5"/>
          <a:stretch>
            <a:fillRect/>
          </a:stretch>
        </p:blipFill>
        <p:spPr>
          <a:xfrm>
            <a:off x="8448464" y="2139897"/>
            <a:ext cx="304792" cy="304792"/>
          </a:xfrm>
          <a:prstGeom prst="rect">
            <a:avLst/>
          </a:prstGeom>
        </p:spPr>
      </p:pic>
      <p:pic>
        <p:nvPicPr>
          <p:cNvPr id="8" name="raster 12.7" descr="diagram">    </p:cNvPr>
          <p:cNvPicPr>
            <a:picLocks noChangeAspect="1"/>
          </p:cNvPicPr>
          <p:nvPr/>
        </p:nvPicPr>
        <p:blipFill>
          <a:blip r:embed="rId6"/>
          <a:stretch>
            <a:fillRect/>
          </a:stretch>
        </p:blipFill>
        <p:spPr>
          <a:xfrm>
            <a:off x="9642234" y="2146246"/>
            <a:ext cx="292093" cy="292093"/>
          </a:xfrm>
          <a:prstGeom prst="rect">
            <a:avLst/>
          </a:prstGeom>
        </p:spPr>
      </p:pic>
      <p:pic>
        <p:nvPicPr>
          <p:cNvPr id="9" name="raster 12.8" descr="diagram">    </p:cNvPr>
          <p:cNvPicPr>
            <a:picLocks noChangeAspect="1"/>
          </p:cNvPicPr>
          <p:nvPr/>
        </p:nvPicPr>
        <p:blipFill>
          <a:blip r:embed="rId7"/>
          <a:stretch>
            <a:fillRect/>
          </a:stretch>
        </p:blipFill>
        <p:spPr>
          <a:xfrm>
            <a:off x="10823304" y="2139897"/>
            <a:ext cx="304792" cy="304792"/>
          </a:xfrm>
          <a:prstGeom prst="rect">
            <a:avLst/>
          </a:prstGeom>
        </p:spPr>
      </p:pic>
      <p:sp>
        <p:nvSpPr>
          <p:cNvPr id="10" name="shape 12.9"/>
          <p:cNvSpPr/>
          <p:nvPr/>
        </p:nvSpPr>
        <p:spPr>
          <a:xfrm>
            <a:off x="800080" y="2552636"/>
            <a:ext cx="9327917" cy="12700"/>
          </a:xfrm>
          <a:prstGeom prst="roundRect">
            <a:avLst>
              <a:gd name="adj" fmla="val 49999"/>
            </a:avLst>
          </a:prstGeom>
          <a:solidFill>
            <a:srgbClr val="DCE6F3"/>
          </a:solidFill>
          <a:ln/>
        </p:spPr>
      </p:sp>
      <p:pic>
        <p:nvPicPr>
          <p:cNvPr id="11" name="raster 12.10" descr="diagram">    </p:cNvPr>
          <p:cNvPicPr>
            <a:picLocks noChangeAspect="1"/>
          </p:cNvPicPr>
          <p:nvPr/>
        </p:nvPicPr>
        <p:blipFill>
          <a:blip r:embed="rId8"/>
          <a:stretch>
            <a:fillRect/>
          </a:stretch>
        </p:blipFill>
        <p:spPr>
          <a:xfrm>
            <a:off x="4886203" y="2660583"/>
            <a:ext cx="304792" cy="304792"/>
          </a:xfrm>
          <a:prstGeom prst="rect">
            <a:avLst/>
          </a:prstGeom>
        </p:spPr>
      </p:pic>
      <p:pic>
        <p:nvPicPr>
          <p:cNvPr id="12" name="raster 12.11" descr="diagram">    </p:cNvPr>
          <p:cNvPicPr>
            <a:picLocks noChangeAspect="1"/>
          </p:cNvPicPr>
          <p:nvPr/>
        </p:nvPicPr>
        <p:blipFill>
          <a:blip r:embed="rId9"/>
          <a:stretch>
            <a:fillRect/>
          </a:stretch>
        </p:blipFill>
        <p:spPr>
          <a:xfrm>
            <a:off x="6079973" y="2666933"/>
            <a:ext cx="292093" cy="292093"/>
          </a:xfrm>
          <a:prstGeom prst="rect">
            <a:avLst/>
          </a:prstGeom>
        </p:spPr>
      </p:pic>
      <p:pic>
        <p:nvPicPr>
          <p:cNvPr id="13" name="raster 12.12" descr="diagram">    </p:cNvPr>
          <p:cNvPicPr>
            <a:picLocks noChangeAspect="1"/>
          </p:cNvPicPr>
          <p:nvPr/>
        </p:nvPicPr>
        <p:blipFill>
          <a:blip r:embed="rId10"/>
          <a:stretch>
            <a:fillRect/>
          </a:stretch>
        </p:blipFill>
        <p:spPr>
          <a:xfrm>
            <a:off x="7267393" y="2666933"/>
            <a:ext cx="292093" cy="292093"/>
          </a:xfrm>
          <a:prstGeom prst="rect">
            <a:avLst/>
          </a:prstGeom>
        </p:spPr>
      </p:pic>
      <p:pic>
        <p:nvPicPr>
          <p:cNvPr id="14" name="raster 12.13" descr="diagram">    </p:cNvPr>
          <p:cNvPicPr>
            <a:picLocks noChangeAspect="1"/>
          </p:cNvPicPr>
          <p:nvPr/>
        </p:nvPicPr>
        <p:blipFill>
          <a:blip r:embed="rId11"/>
          <a:stretch>
            <a:fillRect/>
          </a:stretch>
        </p:blipFill>
        <p:spPr>
          <a:xfrm>
            <a:off x="8448464" y="2660583"/>
            <a:ext cx="304792" cy="304792"/>
          </a:xfrm>
          <a:prstGeom prst="rect">
            <a:avLst/>
          </a:prstGeom>
        </p:spPr>
      </p:pic>
      <p:pic>
        <p:nvPicPr>
          <p:cNvPr id="15" name="raster 12.14" descr="diagram">    </p:cNvPr>
          <p:cNvPicPr>
            <a:picLocks noChangeAspect="1"/>
          </p:cNvPicPr>
          <p:nvPr/>
        </p:nvPicPr>
        <p:blipFill>
          <a:blip r:embed="rId12"/>
          <a:stretch>
            <a:fillRect/>
          </a:stretch>
        </p:blipFill>
        <p:spPr>
          <a:xfrm>
            <a:off x="9635884" y="2660583"/>
            <a:ext cx="304792" cy="304792"/>
          </a:xfrm>
          <a:prstGeom prst="rect">
            <a:avLst/>
          </a:prstGeom>
        </p:spPr>
      </p:pic>
      <p:pic>
        <p:nvPicPr>
          <p:cNvPr id="16" name="raster 12.15" descr="diagram">    </p:cNvPr>
          <p:cNvPicPr>
            <a:picLocks noChangeAspect="1"/>
          </p:cNvPicPr>
          <p:nvPr/>
        </p:nvPicPr>
        <p:blipFill>
          <a:blip r:embed="rId13"/>
          <a:stretch>
            <a:fillRect/>
          </a:stretch>
        </p:blipFill>
        <p:spPr>
          <a:xfrm>
            <a:off x="10823304" y="2660583"/>
            <a:ext cx="304792" cy="304792"/>
          </a:xfrm>
          <a:prstGeom prst="rect">
            <a:avLst/>
          </a:prstGeom>
        </p:spPr>
      </p:pic>
      <p:sp>
        <p:nvSpPr>
          <p:cNvPr id="17" name="shape 12.16"/>
          <p:cNvSpPr/>
          <p:nvPr/>
        </p:nvSpPr>
        <p:spPr>
          <a:xfrm>
            <a:off x="800080" y="3073323"/>
            <a:ext cx="9327917" cy="12700"/>
          </a:xfrm>
          <a:prstGeom prst="roundRect">
            <a:avLst>
              <a:gd name="adj" fmla="val 49999"/>
            </a:avLst>
          </a:prstGeom>
          <a:solidFill>
            <a:srgbClr val="DCE6F3"/>
          </a:solidFill>
          <a:ln/>
        </p:spPr>
      </p:sp>
      <p:pic>
        <p:nvPicPr>
          <p:cNvPr id="18" name="raster 12.17" descr="diagram">    </p:cNvPr>
          <p:cNvPicPr>
            <a:picLocks noChangeAspect="1"/>
          </p:cNvPicPr>
          <p:nvPr/>
        </p:nvPicPr>
        <p:blipFill>
          <a:blip r:embed="rId14"/>
          <a:stretch>
            <a:fillRect/>
          </a:stretch>
        </p:blipFill>
        <p:spPr>
          <a:xfrm>
            <a:off x="4892553" y="3187620"/>
            <a:ext cx="292093" cy="292093"/>
          </a:xfrm>
          <a:prstGeom prst="rect">
            <a:avLst/>
          </a:prstGeom>
        </p:spPr>
      </p:pic>
      <p:pic>
        <p:nvPicPr>
          <p:cNvPr id="19" name="raster 12.18" descr="diagram">    </p:cNvPr>
          <p:cNvPicPr>
            <a:picLocks noChangeAspect="1"/>
          </p:cNvPicPr>
          <p:nvPr/>
        </p:nvPicPr>
        <p:blipFill>
          <a:blip r:embed="rId15"/>
          <a:stretch>
            <a:fillRect/>
          </a:stretch>
        </p:blipFill>
        <p:spPr>
          <a:xfrm>
            <a:off x="6079973" y="3187620"/>
            <a:ext cx="292093" cy="292093"/>
          </a:xfrm>
          <a:prstGeom prst="rect">
            <a:avLst/>
          </a:prstGeom>
        </p:spPr>
      </p:pic>
      <p:pic>
        <p:nvPicPr>
          <p:cNvPr id="20" name="raster 12.19" descr="diagram">    </p:cNvPr>
          <p:cNvPicPr>
            <a:picLocks noChangeAspect="1"/>
          </p:cNvPicPr>
          <p:nvPr/>
        </p:nvPicPr>
        <p:blipFill>
          <a:blip r:embed="rId16"/>
          <a:stretch>
            <a:fillRect/>
          </a:stretch>
        </p:blipFill>
        <p:spPr>
          <a:xfrm>
            <a:off x="7267393" y="3187620"/>
            <a:ext cx="292093" cy="292093"/>
          </a:xfrm>
          <a:prstGeom prst="rect">
            <a:avLst/>
          </a:prstGeom>
        </p:spPr>
      </p:pic>
      <p:pic>
        <p:nvPicPr>
          <p:cNvPr id="21" name="raster 12.20" descr="diagram">    </p:cNvPr>
          <p:cNvPicPr>
            <a:picLocks noChangeAspect="1"/>
          </p:cNvPicPr>
          <p:nvPr/>
        </p:nvPicPr>
        <p:blipFill>
          <a:blip r:embed="rId17"/>
          <a:stretch>
            <a:fillRect/>
          </a:stretch>
        </p:blipFill>
        <p:spPr>
          <a:xfrm>
            <a:off x="8454814" y="3187620"/>
            <a:ext cx="292093" cy="292093"/>
          </a:xfrm>
          <a:prstGeom prst="rect">
            <a:avLst/>
          </a:prstGeom>
        </p:spPr>
      </p:pic>
      <p:pic>
        <p:nvPicPr>
          <p:cNvPr id="22" name="raster 12.21" descr="diagram">    </p:cNvPr>
          <p:cNvPicPr>
            <a:picLocks noChangeAspect="1"/>
          </p:cNvPicPr>
          <p:nvPr/>
        </p:nvPicPr>
        <p:blipFill>
          <a:blip r:embed="rId18"/>
          <a:stretch>
            <a:fillRect/>
          </a:stretch>
        </p:blipFill>
        <p:spPr>
          <a:xfrm>
            <a:off x="9642234" y="3187620"/>
            <a:ext cx="292093" cy="292093"/>
          </a:xfrm>
          <a:prstGeom prst="rect">
            <a:avLst/>
          </a:prstGeom>
        </p:spPr>
      </p:pic>
      <p:pic>
        <p:nvPicPr>
          <p:cNvPr id="23" name="raster 12.22" descr="diagram">    </p:cNvPr>
          <p:cNvPicPr>
            <a:picLocks noChangeAspect="1"/>
          </p:cNvPicPr>
          <p:nvPr/>
        </p:nvPicPr>
        <p:blipFill>
          <a:blip r:embed="rId19"/>
          <a:stretch>
            <a:fillRect/>
          </a:stretch>
        </p:blipFill>
        <p:spPr>
          <a:xfrm>
            <a:off x="10823304" y="3181270"/>
            <a:ext cx="304792" cy="304792"/>
          </a:xfrm>
          <a:prstGeom prst="rect">
            <a:avLst/>
          </a:prstGeom>
        </p:spPr>
      </p:pic>
      <p:sp>
        <p:nvSpPr>
          <p:cNvPr id="24" name="shape 12.23"/>
          <p:cNvSpPr/>
          <p:nvPr/>
        </p:nvSpPr>
        <p:spPr>
          <a:xfrm>
            <a:off x="800080" y="3594010"/>
            <a:ext cx="9327917" cy="12700"/>
          </a:xfrm>
          <a:prstGeom prst="roundRect">
            <a:avLst>
              <a:gd name="adj" fmla="val 49999"/>
            </a:avLst>
          </a:prstGeom>
          <a:solidFill>
            <a:srgbClr val="DCE6F3"/>
          </a:solidFill>
          <a:ln/>
        </p:spPr>
      </p:sp>
      <p:pic>
        <p:nvPicPr>
          <p:cNvPr id="25" name="raster 12.24" descr="diagram">    </p:cNvPr>
          <p:cNvPicPr>
            <a:picLocks noChangeAspect="1"/>
          </p:cNvPicPr>
          <p:nvPr/>
        </p:nvPicPr>
        <p:blipFill>
          <a:blip r:embed="rId20"/>
          <a:stretch>
            <a:fillRect/>
          </a:stretch>
        </p:blipFill>
        <p:spPr>
          <a:xfrm>
            <a:off x="4892553" y="3708307"/>
            <a:ext cx="292093" cy="292093"/>
          </a:xfrm>
          <a:prstGeom prst="rect">
            <a:avLst/>
          </a:prstGeom>
        </p:spPr>
      </p:pic>
      <p:pic>
        <p:nvPicPr>
          <p:cNvPr id="26" name="raster 12.25" descr="diagram">    </p:cNvPr>
          <p:cNvPicPr>
            <a:picLocks noChangeAspect="1"/>
          </p:cNvPicPr>
          <p:nvPr/>
        </p:nvPicPr>
        <p:blipFill>
          <a:blip r:embed="rId21"/>
          <a:stretch>
            <a:fillRect/>
          </a:stretch>
        </p:blipFill>
        <p:spPr>
          <a:xfrm>
            <a:off x="6079973" y="3708307"/>
            <a:ext cx="292093" cy="292093"/>
          </a:xfrm>
          <a:prstGeom prst="rect">
            <a:avLst/>
          </a:prstGeom>
        </p:spPr>
      </p:pic>
      <p:pic>
        <p:nvPicPr>
          <p:cNvPr id="27" name="raster 12.26" descr="diagram">    </p:cNvPr>
          <p:cNvPicPr>
            <a:picLocks noChangeAspect="1"/>
          </p:cNvPicPr>
          <p:nvPr/>
        </p:nvPicPr>
        <p:blipFill>
          <a:blip r:embed="rId22"/>
          <a:stretch>
            <a:fillRect/>
          </a:stretch>
        </p:blipFill>
        <p:spPr>
          <a:xfrm>
            <a:off x="7261043" y="3701957"/>
            <a:ext cx="304792" cy="304792"/>
          </a:xfrm>
          <a:prstGeom prst="rect">
            <a:avLst/>
          </a:prstGeom>
        </p:spPr>
      </p:pic>
      <p:pic>
        <p:nvPicPr>
          <p:cNvPr id="28" name="raster 12.27" descr="diagram">    </p:cNvPr>
          <p:cNvPicPr>
            <a:picLocks noChangeAspect="1"/>
          </p:cNvPicPr>
          <p:nvPr/>
        </p:nvPicPr>
        <p:blipFill>
          <a:blip r:embed="rId23"/>
          <a:stretch>
            <a:fillRect/>
          </a:stretch>
        </p:blipFill>
        <p:spPr>
          <a:xfrm>
            <a:off x="8448464" y="3701957"/>
            <a:ext cx="304792" cy="304792"/>
          </a:xfrm>
          <a:prstGeom prst="rect">
            <a:avLst/>
          </a:prstGeom>
        </p:spPr>
      </p:pic>
      <p:pic>
        <p:nvPicPr>
          <p:cNvPr id="29" name="raster 12.28" descr="diagram">    </p:cNvPr>
          <p:cNvPicPr>
            <a:picLocks noChangeAspect="1"/>
          </p:cNvPicPr>
          <p:nvPr/>
        </p:nvPicPr>
        <p:blipFill>
          <a:blip r:embed="rId24"/>
          <a:stretch>
            <a:fillRect/>
          </a:stretch>
        </p:blipFill>
        <p:spPr>
          <a:xfrm>
            <a:off x="9642234" y="3708307"/>
            <a:ext cx="292093" cy="292093"/>
          </a:xfrm>
          <a:prstGeom prst="rect">
            <a:avLst/>
          </a:prstGeom>
        </p:spPr>
      </p:pic>
      <p:pic>
        <p:nvPicPr>
          <p:cNvPr id="30" name="raster 12.29" descr="diagram">    </p:cNvPr>
          <p:cNvPicPr>
            <a:picLocks noChangeAspect="1"/>
          </p:cNvPicPr>
          <p:nvPr/>
        </p:nvPicPr>
        <p:blipFill>
          <a:blip r:embed="rId25"/>
          <a:stretch>
            <a:fillRect/>
          </a:stretch>
        </p:blipFill>
        <p:spPr>
          <a:xfrm>
            <a:off x="10823304" y="3701957"/>
            <a:ext cx="304792" cy="304792"/>
          </a:xfrm>
          <a:prstGeom prst="rect">
            <a:avLst/>
          </a:prstGeom>
        </p:spPr>
      </p:pic>
      <p:sp>
        <p:nvSpPr>
          <p:cNvPr id="31" name="shape 12.30"/>
          <p:cNvSpPr/>
          <p:nvPr/>
        </p:nvSpPr>
        <p:spPr>
          <a:xfrm>
            <a:off x="800080" y="4114697"/>
            <a:ext cx="9327917" cy="12700"/>
          </a:xfrm>
          <a:prstGeom prst="roundRect">
            <a:avLst>
              <a:gd name="adj" fmla="val 49999"/>
            </a:avLst>
          </a:prstGeom>
          <a:solidFill>
            <a:srgbClr val="DCE6F3"/>
          </a:solidFill>
          <a:ln/>
        </p:spPr>
      </p:sp>
      <p:pic>
        <p:nvPicPr>
          <p:cNvPr id="32" name="raster 12.31" descr="diagram">    </p:cNvPr>
          <p:cNvPicPr>
            <a:picLocks noChangeAspect="1"/>
          </p:cNvPicPr>
          <p:nvPr/>
        </p:nvPicPr>
        <p:blipFill>
          <a:blip r:embed="rId26"/>
          <a:stretch>
            <a:fillRect/>
          </a:stretch>
        </p:blipFill>
        <p:spPr>
          <a:xfrm>
            <a:off x="4892553" y="4228994"/>
            <a:ext cx="292093" cy="292093"/>
          </a:xfrm>
          <a:prstGeom prst="rect">
            <a:avLst/>
          </a:prstGeom>
        </p:spPr>
      </p:pic>
      <p:pic>
        <p:nvPicPr>
          <p:cNvPr id="33" name="raster 12.32" descr="diagram">    </p:cNvPr>
          <p:cNvPicPr>
            <a:picLocks noChangeAspect="1"/>
          </p:cNvPicPr>
          <p:nvPr/>
        </p:nvPicPr>
        <p:blipFill>
          <a:blip r:embed="rId27"/>
          <a:stretch>
            <a:fillRect/>
          </a:stretch>
        </p:blipFill>
        <p:spPr>
          <a:xfrm>
            <a:off x="6079973" y="4228994"/>
            <a:ext cx="292093" cy="292093"/>
          </a:xfrm>
          <a:prstGeom prst="rect">
            <a:avLst/>
          </a:prstGeom>
        </p:spPr>
      </p:pic>
      <p:pic>
        <p:nvPicPr>
          <p:cNvPr id="34" name="raster 12.33" descr="diagram">    </p:cNvPr>
          <p:cNvPicPr>
            <a:picLocks noChangeAspect="1"/>
          </p:cNvPicPr>
          <p:nvPr/>
        </p:nvPicPr>
        <p:blipFill>
          <a:blip r:embed="rId28"/>
          <a:stretch>
            <a:fillRect/>
          </a:stretch>
        </p:blipFill>
        <p:spPr>
          <a:xfrm>
            <a:off x="7267393" y="4228994"/>
            <a:ext cx="292093" cy="292093"/>
          </a:xfrm>
          <a:prstGeom prst="rect">
            <a:avLst/>
          </a:prstGeom>
        </p:spPr>
      </p:pic>
      <p:pic>
        <p:nvPicPr>
          <p:cNvPr id="35" name="raster 12.34" descr="diagram">    </p:cNvPr>
          <p:cNvPicPr>
            <a:picLocks noChangeAspect="1"/>
          </p:cNvPicPr>
          <p:nvPr/>
        </p:nvPicPr>
        <p:blipFill>
          <a:blip r:embed="rId29"/>
          <a:stretch>
            <a:fillRect/>
          </a:stretch>
        </p:blipFill>
        <p:spPr>
          <a:xfrm>
            <a:off x="8454814" y="4228994"/>
            <a:ext cx="292093" cy="292093"/>
          </a:xfrm>
          <a:prstGeom prst="rect">
            <a:avLst/>
          </a:prstGeom>
        </p:spPr>
      </p:pic>
      <p:pic>
        <p:nvPicPr>
          <p:cNvPr id="36" name="raster 12.35" descr="diagram">    </p:cNvPr>
          <p:cNvPicPr>
            <a:picLocks noChangeAspect="1"/>
          </p:cNvPicPr>
          <p:nvPr/>
        </p:nvPicPr>
        <p:blipFill>
          <a:blip r:embed="rId30"/>
          <a:stretch>
            <a:fillRect/>
          </a:stretch>
        </p:blipFill>
        <p:spPr>
          <a:xfrm>
            <a:off x="9642234" y="4228994"/>
            <a:ext cx="292093" cy="292093"/>
          </a:xfrm>
          <a:prstGeom prst="rect">
            <a:avLst/>
          </a:prstGeom>
        </p:spPr>
      </p:pic>
      <p:pic>
        <p:nvPicPr>
          <p:cNvPr id="37" name="raster 12.36" descr="diagram">    </p:cNvPr>
          <p:cNvPicPr>
            <a:picLocks noChangeAspect="1"/>
          </p:cNvPicPr>
          <p:nvPr/>
        </p:nvPicPr>
        <p:blipFill>
          <a:blip r:embed="rId31"/>
          <a:stretch>
            <a:fillRect/>
          </a:stretch>
        </p:blipFill>
        <p:spPr>
          <a:xfrm>
            <a:off x="10823304" y="4222644"/>
            <a:ext cx="304792" cy="304792"/>
          </a:xfrm>
          <a:prstGeom prst="rect">
            <a:avLst/>
          </a:prstGeom>
        </p:spPr>
      </p:pic>
      <p:sp>
        <p:nvSpPr>
          <p:cNvPr id="38" name="shape 12.37"/>
          <p:cNvSpPr/>
          <p:nvPr/>
        </p:nvSpPr>
        <p:spPr>
          <a:xfrm>
            <a:off x="800080" y="4635384"/>
            <a:ext cx="9327917" cy="12700"/>
          </a:xfrm>
          <a:prstGeom prst="roundRect">
            <a:avLst>
              <a:gd name="adj" fmla="val 49999"/>
            </a:avLst>
          </a:prstGeom>
          <a:solidFill>
            <a:srgbClr val="DCE6F3"/>
          </a:solidFill>
          <a:ln/>
        </p:spPr>
      </p:sp>
      <p:pic>
        <p:nvPicPr>
          <p:cNvPr id="39" name="raster 12.38" descr="diagram">    </p:cNvPr>
          <p:cNvPicPr>
            <a:picLocks noChangeAspect="1"/>
          </p:cNvPicPr>
          <p:nvPr/>
        </p:nvPicPr>
        <p:blipFill>
          <a:blip r:embed="rId32"/>
          <a:stretch>
            <a:fillRect/>
          </a:stretch>
        </p:blipFill>
        <p:spPr>
          <a:xfrm>
            <a:off x="4892553" y="4749681"/>
            <a:ext cx="292093" cy="292093"/>
          </a:xfrm>
          <a:prstGeom prst="rect">
            <a:avLst/>
          </a:prstGeom>
        </p:spPr>
      </p:pic>
      <p:pic>
        <p:nvPicPr>
          <p:cNvPr id="40" name="raster 12.39" descr="diagram">    </p:cNvPr>
          <p:cNvPicPr>
            <a:picLocks noChangeAspect="1"/>
          </p:cNvPicPr>
          <p:nvPr/>
        </p:nvPicPr>
        <p:blipFill>
          <a:blip r:embed="rId33"/>
          <a:stretch>
            <a:fillRect/>
          </a:stretch>
        </p:blipFill>
        <p:spPr>
          <a:xfrm>
            <a:off x="6073623" y="4743331"/>
            <a:ext cx="304792" cy="304792"/>
          </a:xfrm>
          <a:prstGeom prst="rect">
            <a:avLst/>
          </a:prstGeom>
        </p:spPr>
      </p:pic>
      <p:pic>
        <p:nvPicPr>
          <p:cNvPr id="41" name="raster 12.40" descr="diagram">    </p:cNvPr>
          <p:cNvPicPr>
            <a:picLocks noChangeAspect="1"/>
          </p:cNvPicPr>
          <p:nvPr/>
        </p:nvPicPr>
        <p:blipFill>
          <a:blip r:embed="rId34"/>
          <a:stretch>
            <a:fillRect/>
          </a:stretch>
        </p:blipFill>
        <p:spPr>
          <a:xfrm>
            <a:off x="7267393" y="4749681"/>
            <a:ext cx="292093" cy="292093"/>
          </a:xfrm>
          <a:prstGeom prst="rect">
            <a:avLst/>
          </a:prstGeom>
        </p:spPr>
      </p:pic>
      <p:pic>
        <p:nvPicPr>
          <p:cNvPr id="42" name="raster 12.41" descr="diagram">    </p:cNvPr>
          <p:cNvPicPr>
            <a:picLocks noChangeAspect="1"/>
          </p:cNvPicPr>
          <p:nvPr/>
        </p:nvPicPr>
        <p:blipFill>
          <a:blip r:embed="rId35"/>
          <a:stretch>
            <a:fillRect/>
          </a:stretch>
        </p:blipFill>
        <p:spPr>
          <a:xfrm>
            <a:off x="8448464" y="4743331"/>
            <a:ext cx="304792" cy="304792"/>
          </a:xfrm>
          <a:prstGeom prst="rect">
            <a:avLst/>
          </a:prstGeom>
        </p:spPr>
      </p:pic>
      <p:pic>
        <p:nvPicPr>
          <p:cNvPr id="43" name="raster 12.42" descr="diagram">    </p:cNvPr>
          <p:cNvPicPr>
            <a:picLocks noChangeAspect="1"/>
          </p:cNvPicPr>
          <p:nvPr/>
        </p:nvPicPr>
        <p:blipFill>
          <a:blip r:embed="rId36"/>
          <a:stretch>
            <a:fillRect/>
          </a:stretch>
        </p:blipFill>
        <p:spPr>
          <a:xfrm>
            <a:off x="9635884" y="4743331"/>
            <a:ext cx="304792" cy="304792"/>
          </a:xfrm>
          <a:prstGeom prst="rect">
            <a:avLst/>
          </a:prstGeom>
        </p:spPr>
      </p:pic>
      <p:pic>
        <p:nvPicPr>
          <p:cNvPr id="44" name="raster 12.43" descr="diagram">    </p:cNvPr>
          <p:cNvPicPr>
            <a:picLocks noChangeAspect="1"/>
          </p:cNvPicPr>
          <p:nvPr/>
        </p:nvPicPr>
        <p:blipFill>
          <a:blip r:embed="rId37"/>
          <a:stretch>
            <a:fillRect/>
          </a:stretch>
        </p:blipFill>
        <p:spPr>
          <a:xfrm>
            <a:off x="10823304" y="4743331"/>
            <a:ext cx="304792" cy="304792"/>
          </a:xfrm>
          <a:prstGeom prst="rect">
            <a:avLst/>
          </a:prstGeom>
        </p:spPr>
      </p:pic>
      <p:pic>
        <p:nvPicPr>
          <p:cNvPr id="45" name="raster 12.44" descr="diagram">    </p:cNvPr>
          <p:cNvPicPr>
            <a:picLocks noChangeAspect="1"/>
          </p:cNvPicPr>
          <p:nvPr/>
        </p:nvPicPr>
        <p:blipFill>
          <a:blip r:embed="rId38"/>
          <a:stretch>
            <a:fillRect/>
          </a:stretch>
        </p:blipFill>
        <p:spPr>
          <a:xfrm>
            <a:off x="565136" y="5384665"/>
            <a:ext cx="2654234" cy="241294"/>
          </a:xfrm>
          <a:prstGeom prst="rect">
            <a:avLst/>
          </a:prstGeom>
        </p:spPr>
      </p:pic>
      <p:sp>
        <p:nvSpPr>
          <p:cNvPr id="46" name="text 12.45"/>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Where we sit among them</a:t>
            </a:r>
            <a:endParaRPr lang="en-US" sz="2700" dirty="0"/>
          </a:p>
        </p:txBody>
      </p:sp>
      <p:sp>
        <p:nvSpPr>
          <p:cNvPr id="47" name="text 12.46"/>
          <p:cNvSpPr txBox="1"/>
          <p:nvPr/>
        </p:nvSpPr>
        <p:spPr>
          <a:xfrm>
            <a:off x="4444889"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PARTY ANIMALS</a:t>
            </a:r>
            <a:endParaRPr lang="en-US" sz="750" dirty="0"/>
          </a:p>
        </p:txBody>
      </p:sp>
      <p:sp>
        <p:nvSpPr>
          <p:cNvPr id="48" name="text 12.47"/>
          <p:cNvSpPr txBox="1"/>
          <p:nvPr/>
        </p:nvSpPr>
        <p:spPr>
          <a:xfrm>
            <a:off x="5632309"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GANG BEASTS</a:t>
            </a:r>
            <a:endParaRPr lang="en-US" sz="750" dirty="0"/>
          </a:p>
        </p:txBody>
      </p:sp>
      <p:sp>
        <p:nvSpPr>
          <p:cNvPr id="49" name="text 12.48"/>
          <p:cNvSpPr txBox="1"/>
          <p:nvPr/>
        </p:nvSpPr>
        <p:spPr>
          <a:xfrm>
            <a:off x="681973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FALL GUYS</a:t>
            </a:r>
            <a:endParaRPr lang="en-US" sz="750" dirty="0"/>
          </a:p>
        </p:txBody>
      </p:sp>
      <p:sp>
        <p:nvSpPr>
          <p:cNvPr id="50" name="text 12.49"/>
          <p:cNvSpPr txBox="1"/>
          <p:nvPr/>
        </p:nvSpPr>
        <p:spPr>
          <a:xfrm>
            <a:off x="800715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PUMMEL PARTY</a:t>
            </a:r>
            <a:endParaRPr lang="en-US" sz="750" dirty="0"/>
          </a:p>
        </p:txBody>
      </p:sp>
      <p:sp>
        <p:nvSpPr>
          <p:cNvPr id="51" name="text 12.50"/>
          <p:cNvSpPr txBox="1"/>
          <p:nvPr/>
        </p:nvSpPr>
        <p:spPr>
          <a:xfrm>
            <a:off x="919457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SQUARENA</a:t>
            </a:r>
            <a:endParaRPr lang="en-US" sz="750" dirty="0"/>
          </a:p>
        </p:txBody>
      </p:sp>
      <p:sp>
        <p:nvSpPr>
          <p:cNvPr id="52" name="text 12.51"/>
          <p:cNvSpPr txBox="1"/>
          <p:nvPr/>
        </p:nvSpPr>
        <p:spPr>
          <a:xfrm>
            <a:off x="10381990" y="1765256"/>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ICE RUMBLE</a:t>
            </a:r>
            <a:endParaRPr lang="en-US" sz="750" dirty="0"/>
          </a:p>
        </p:txBody>
      </p:sp>
      <p:sp>
        <p:nvSpPr>
          <p:cNvPr id="53" name="text 12.52"/>
          <p:cNvSpPr txBox="1"/>
          <p:nvPr/>
        </p:nvSpPr>
        <p:spPr>
          <a:xfrm>
            <a:off x="825479" y="2209745"/>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3D characters</a:t>
            </a:r>
            <a:endParaRPr lang="en-US" sz="1100" dirty="0"/>
          </a:p>
        </p:txBody>
      </p:sp>
      <p:sp>
        <p:nvSpPr>
          <p:cNvPr id="54" name="text 12.53"/>
          <p:cNvSpPr txBox="1"/>
          <p:nvPr/>
        </p:nvSpPr>
        <p:spPr>
          <a:xfrm>
            <a:off x="825479" y="2730432"/>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Ranged attacks</a:t>
            </a:r>
            <a:endParaRPr lang="en-US" sz="1100" dirty="0"/>
          </a:p>
        </p:txBody>
      </p:sp>
      <p:sp>
        <p:nvSpPr>
          <p:cNvPr id="55" name="text 12.54"/>
          <p:cNvSpPr txBox="1"/>
          <p:nvPr/>
        </p:nvSpPr>
        <p:spPr>
          <a:xfrm>
            <a:off x="825479" y="3251119"/>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Hits lower mass, so knockback grows</a:t>
            </a:r>
            <a:endParaRPr lang="en-US" sz="1100" dirty="0"/>
          </a:p>
        </p:txBody>
      </p:sp>
      <p:sp>
        <p:nvSpPr>
          <p:cNvPr id="56" name="text 12.55"/>
          <p:cNvSpPr txBox="1"/>
          <p:nvPr/>
        </p:nvSpPr>
        <p:spPr>
          <a:xfrm>
            <a:off x="825479" y="3771806"/>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Several mini-games, one result</a:t>
            </a:r>
            <a:endParaRPr lang="en-US" sz="1100" dirty="0"/>
          </a:p>
        </p:txBody>
      </p:sp>
      <p:sp>
        <p:nvSpPr>
          <p:cNvPr id="57" name="text 12.56"/>
          <p:cNvSpPr txBox="1"/>
          <p:nvPr/>
        </p:nvSpPr>
        <p:spPr>
          <a:xfrm>
            <a:off x="825479" y="4292493"/>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Official LAN play</a:t>
            </a:r>
            <a:endParaRPr lang="en-US" sz="1100" dirty="0"/>
          </a:p>
        </p:txBody>
      </p:sp>
      <p:sp>
        <p:nvSpPr>
          <p:cNvPr id="58" name="text 12.57"/>
          <p:cNvSpPr txBox="1"/>
          <p:nvPr/>
        </p:nvSpPr>
        <p:spPr>
          <a:xfrm>
            <a:off x="825479" y="4813180"/>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Plays with no internet</a:t>
            </a:r>
            <a:endParaRPr lang="en-US" sz="1100" dirty="0"/>
          </a:p>
        </p:txBody>
      </p:sp>
      <p:sp>
        <p:nvSpPr>
          <p:cNvPr id="59" name="text 12.58"/>
          <p:cNvSpPr txBox="1"/>
          <p:nvPr/>
        </p:nvSpPr>
        <p:spPr>
          <a:xfrm>
            <a:off x="812780" y="5441814"/>
            <a:ext cx="250174"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Yes</a:t>
            </a:r>
            <a:endParaRPr lang="en-US" sz="850" dirty="0"/>
          </a:p>
        </p:txBody>
      </p:sp>
      <p:sp>
        <p:nvSpPr>
          <p:cNvPr id="60" name="text 12.59"/>
          <p:cNvSpPr txBox="1"/>
          <p:nvPr/>
        </p:nvSpPr>
        <p:spPr>
          <a:xfrm>
            <a:off x="1638259" y="5441814"/>
            <a:ext cx="35607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Partly</a:t>
            </a:r>
            <a:endParaRPr lang="en-US" sz="850" dirty="0"/>
          </a:p>
        </p:txBody>
      </p:sp>
      <p:sp>
        <p:nvSpPr>
          <p:cNvPr id="61" name="text 12.60"/>
          <p:cNvSpPr txBox="1"/>
          <p:nvPr/>
        </p:nvSpPr>
        <p:spPr>
          <a:xfrm>
            <a:off x="2527237" y="5441814"/>
            <a:ext cx="20978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No</a:t>
            </a:r>
            <a:endParaRPr lang="en-US" sz="850" dirty="0"/>
          </a:p>
        </p:txBody>
      </p:sp>
      <p:sp>
        <p:nvSpPr>
          <p:cNvPr id="62" name="text 12.61"/>
          <p:cNvSpPr txBox="1"/>
          <p:nvPr/>
        </p:nvSpPr>
        <p:spPr>
          <a:xfrm>
            <a:off x="3225719" y="5441814"/>
            <a:ext cx="1170194"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Planned (Ice Rumble)</a:t>
            </a:r>
            <a:endParaRPr lang="en-US" sz="850" dirty="0"/>
          </a:p>
        </p:txBody>
      </p:sp>
      <p:sp>
        <p:nvSpPr>
          <p:cNvPr id="63" name="text 12.62"/>
          <p:cNvSpPr txBox="1"/>
          <p:nvPr/>
        </p:nvSpPr>
        <p:spPr>
          <a:xfrm>
            <a:off x="609585" y="6377820"/>
            <a:ext cx="11010625"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“Official LAN: No” = not advertised in the game's Steam features. “Partly”: Party Animals and Pummel Party have some weapons or items; Fall Guys' playlist eliminates rather than scores. Party Animals needs internet even on one screen [8]. Ice Rumble column = planned design.</a:t>
            </a:r>
            <a:endParaRPr lang="en-US" sz="850" dirty="0"/>
          </a:p>
        </p:txBody>
      </p:sp>
      <p:sp>
        <p:nvSpPr>
          <p:cNvPr id="64" name="shape 12.63"/>
          <p:cNvSpPr/>
          <p:nvPr/>
        </p:nvSpPr>
        <p:spPr>
          <a:xfrm>
            <a:off x="609585" y="266693"/>
            <a:ext cx="1182261"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65" name="shape 12.64"/>
          <p:cNvSpPr/>
          <p:nvPr/>
        </p:nvSpPr>
        <p:spPr>
          <a:xfrm>
            <a:off x="711182" y="355591"/>
            <a:ext cx="114297" cy="114297"/>
          </a:xfrm>
          <a:prstGeom prst="roundRect">
            <a:avLst>
              <a:gd name="adj" fmla="val 33333"/>
            </a:avLst>
          </a:prstGeom>
          <a:solidFill>
            <a:srgbClr val="8F55F5"/>
          </a:solidFill>
          <a:ln/>
        </p:spPr>
      </p:sp>
      <p:sp>
        <p:nvSpPr>
          <p:cNvPr id="66" name="shape 12.6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67" name="shape 12.66"/>
          <p:cNvSpPr/>
          <p:nvPr/>
        </p:nvSpPr>
        <p:spPr>
          <a:xfrm>
            <a:off x="10058149" y="368291"/>
            <a:ext cx="101597" cy="101597"/>
          </a:xfrm>
          <a:prstGeom prst="roundRect">
            <a:avLst>
              <a:gd name="adj" fmla="val 31250"/>
            </a:avLst>
          </a:prstGeom>
          <a:solidFill>
            <a:srgbClr val="16233F"/>
          </a:solidFill>
          <a:ln/>
        </p:spPr>
      </p:sp>
      <p:sp>
        <p:nvSpPr>
          <p:cNvPr id="68" name="shape 12.67"/>
          <p:cNvSpPr/>
          <p:nvPr/>
        </p:nvSpPr>
        <p:spPr>
          <a:xfrm>
            <a:off x="10223244" y="368291"/>
            <a:ext cx="101597" cy="101597"/>
          </a:xfrm>
          <a:prstGeom prst="roundRect">
            <a:avLst>
              <a:gd name="adj" fmla="val 31250"/>
            </a:avLst>
          </a:prstGeom>
          <a:solidFill>
            <a:srgbClr val="16233F"/>
          </a:solidFill>
          <a:ln/>
        </p:spPr>
      </p:sp>
      <p:sp>
        <p:nvSpPr>
          <p:cNvPr id="69" name="shape 12.68"/>
          <p:cNvSpPr/>
          <p:nvPr/>
        </p:nvSpPr>
        <p:spPr>
          <a:xfrm>
            <a:off x="10388340" y="368291"/>
            <a:ext cx="101597" cy="101597"/>
          </a:xfrm>
          <a:prstGeom prst="roundRect">
            <a:avLst>
              <a:gd name="adj" fmla="val 31250"/>
            </a:avLst>
          </a:prstGeom>
          <a:solidFill>
            <a:srgbClr val="8F55F5"/>
          </a:solidFill>
          <a:ln/>
        </p:spPr>
      </p:sp>
      <p:sp>
        <p:nvSpPr>
          <p:cNvPr id="70" name="shape 12.69"/>
          <p:cNvSpPr/>
          <p:nvPr/>
        </p:nvSpPr>
        <p:spPr>
          <a:xfrm>
            <a:off x="10553436" y="368291"/>
            <a:ext cx="101597" cy="101597"/>
          </a:xfrm>
          <a:prstGeom prst="roundRect">
            <a:avLst>
              <a:gd name="adj" fmla="val 31250"/>
            </a:avLst>
          </a:prstGeom>
          <a:solidFill>
            <a:srgbClr val="C7D4E8"/>
          </a:solidFill>
          <a:ln/>
        </p:spPr>
      </p:sp>
      <p:sp>
        <p:nvSpPr>
          <p:cNvPr id="71" name="shape 12.70"/>
          <p:cNvSpPr/>
          <p:nvPr/>
        </p:nvSpPr>
        <p:spPr>
          <a:xfrm>
            <a:off x="10718532" y="368291"/>
            <a:ext cx="101597" cy="101597"/>
          </a:xfrm>
          <a:prstGeom prst="roundRect">
            <a:avLst>
              <a:gd name="adj" fmla="val 31250"/>
            </a:avLst>
          </a:prstGeom>
          <a:solidFill>
            <a:srgbClr val="C7D4E8"/>
          </a:solidFill>
          <a:ln/>
        </p:spPr>
      </p:sp>
      <p:sp>
        <p:nvSpPr>
          <p:cNvPr id="72" name="shape 12.71"/>
          <p:cNvSpPr/>
          <p:nvPr/>
        </p:nvSpPr>
        <p:spPr>
          <a:xfrm>
            <a:off x="10883628" y="368291"/>
            <a:ext cx="101597" cy="101597"/>
          </a:xfrm>
          <a:prstGeom prst="roundRect">
            <a:avLst>
              <a:gd name="adj" fmla="val 31250"/>
            </a:avLst>
          </a:prstGeom>
          <a:solidFill>
            <a:srgbClr val="C7D4E8"/>
          </a:solidFill>
          <a:ln/>
        </p:spPr>
      </p:sp>
      <p:sp>
        <p:nvSpPr>
          <p:cNvPr id="73" name="text 12.7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74" name="text 12.73"/>
          <p:cNvSpPr txBox="1"/>
          <p:nvPr/>
        </p:nvSpPr>
        <p:spPr>
          <a:xfrm>
            <a:off x="927077" y="349241"/>
            <a:ext cx="72322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03 · Market</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raster 13.1" descr="diagram">    </p:cNvPr>
          <p:cNvPicPr>
            <a:picLocks noChangeAspect="1"/>
          </p:cNvPicPr>
          <p:nvPr/>
        </p:nvPicPr>
        <p:blipFill>
          <a:blip r:embed="rId2"/>
          <a:stretch>
            <a:fillRect/>
          </a:stretch>
        </p:blipFill>
        <p:spPr>
          <a:xfrm>
            <a:off x="6807030" y="2044649"/>
            <a:ext cx="3784505" cy="3784505"/>
          </a:xfrm>
          <a:prstGeom prst="rect">
            <a:avLst/>
          </a:prstGeom>
        </p:spPr>
      </p:pic>
      <p:sp>
        <p:nvSpPr>
          <p:cNvPr id="3" name="shape 13.2"/>
          <p:cNvSpPr/>
          <p:nvPr/>
        </p:nvSpPr>
        <p:spPr>
          <a:xfrm>
            <a:off x="7715057" y="1600160"/>
            <a:ext cx="1968451" cy="990575"/>
          </a:xfrm>
          <a:prstGeom prst="roundRect">
            <a:avLst>
              <a:gd name="adj" fmla="val 12821"/>
            </a:avLst>
          </a:prstGeom>
          <a:solidFill>
            <a:srgbClr val="FFFFFF"/>
          </a:solidFill>
          <a:ln/>
          <a:effectLst>
            <a:outerShdw sx="100000" sy="100000" kx="0" ky="0" algn="bl" rotWithShape="0" blurRad="203200" dist="76200" dir="5400000">
              <a:srgbClr val="1E468C">
                <a:alpha val="16000"/>
              </a:srgbClr>
            </a:outerShdw>
          </a:effectLst>
        </p:spPr>
      </p:sp>
      <p:sp>
        <p:nvSpPr>
          <p:cNvPr id="4" name="shape 13.3"/>
          <p:cNvSpPr/>
          <p:nvPr/>
        </p:nvSpPr>
        <p:spPr>
          <a:xfrm>
            <a:off x="9556511" y="3441614"/>
            <a:ext cx="1968451" cy="990575"/>
          </a:xfrm>
          <a:prstGeom prst="roundRect">
            <a:avLst>
              <a:gd name="adj" fmla="val 12821"/>
            </a:avLst>
          </a:prstGeom>
          <a:solidFill>
            <a:srgbClr val="FFFFFF"/>
          </a:solidFill>
          <a:ln/>
          <a:effectLst>
            <a:outerShdw sx="100000" sy="100000" kx="0" ky="0" algn="bl" rotWithShape="0" blurRad="203200" dist="76200" dir="5400000">
              <a:srgbClr val="1E468C">
                <a:alpha val="16000"/>
              </a:srgbClr>
            </a:outerShdw>
          </a:effectLst>
        </p:spPr>
      </p:sp>
      <p:sp>
        <p:nvSpPr>
          <p:cNvPr id="5" name="shape 13.4"/>
          <p:cNvSpPr/>
          <p:nvPr/>
        </p:nvSpPr>
        <p:spPr>
          <a:xfrm>
            <a:off x="7715057" y="5283068"/>
            <a:ext cx="1968451" cy="990575"/>
          </a:xfrm>
          <a:prstGeom prst="roundRect">
            <a:avLst>
              <a:gd name="adj" fmla="val 12821"/>
            </a:avLst>
          </a:prstGeom>
          <a:solidFill>
            <a:srgbClr val="FFFFFF"/>
          </a:solidFill>
          <a:ln/>
          <a:effectLst>
            <a:outerShdw sx="100000" sy="100000" kx="0" ky="0" algn="bl" rotWithShape="0" blurRad="203200" dist="76200" dir="5400000">
              <a:srgbClr val="1E468C">
                <a:alpha val="16000"/>
              </a:srgbClr>
            </a:outerShdw>
          </a:effectLst>
        </p:spPr>
      </p:sp>
      <p:sp>
        <p:nvSpPr>
          <p:cNvPr id="6" name="shape 13.5"/>
          <p:cNvSpPr/>
          <p:nvPr/>
        </p:nvSpPr>
        <p:spPr>
          <a:xfrm>
            <a:off x="5873603" y="3441614"/>
            <a:ext cx="1968451" cy="990575"/>
          </a:xfrm>
          <a:prstGeom prst="roundRect">
            <a:avLst>
              <a:gd name="adj" fmla="val 1282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7" name="shape 13.6"/>
          <p:cNvSpPr/>
          <p:nvPr/>
        </p:nvSpPr>
        <p:spPr>
          <a:xfrm>
            <a:off x="609585" y="952476"/>
            <a:ext cx="1142971" cy="241294"/>
          </a:xfrm>
          <a:prstGeom prst="roundRect">
            <a:avLst>
              <a:gd name="adj" fmla="val 50000"/>
            </a:avLst>
          </a:prstGeom>
          <a:solidFill>
            <a:srgbClr val="FF6B1F"/>
          </a:solidFill>
          <a:ln/>
        </p:spPr>
      </p:sp>
      <p:sp>
        <p:nvSpPr>
          <p:cNvPr id="8" name="text 13.7"/>
          <p:cNvSpPr txBox="1"/>
          <p:nvPr/>
        </p:nvSpPr>
        <p:spPr>
          <a:xfrm>
            <a:off x="609585" y="952476"/>
            <a:ext cx="1142971"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THE NEW LINK</a:t>
            </a:r>
            <a:endParaRPr lang="en-US" sz="700" dirty="0"/>
          </a:p>
        </p:txBody>
      </p:sp>
      <p:sp>
        <p:nvSpPr>
          <p:cNvPr id="9" name="text 13.8"/>
          <p:cNvSpPr txBox="1"/>
          <p:nvPr/>
        </p:nvSpPr>
        <p:spPr>
          <a:xfrm>
            <a:off x="609585" y="1371566"/>
            <a:ext cx="4990975" cy="1322751"/>
          </a:xfrm>
          <a:prstGeom prst="rect">
            <a:avLst/>
          </a:prstGeom>
          <a:noFill/>
          <a:ln/>
        </p:spPr>
        <p:txBody>
          <a:bodyPr wrap="square" lIns="0" tIns="0" rIns="0" bIns="0" rtlCol="0" anchor="t"/>
          <a:lstStyle/>
          <a:p>
            <a:pPr algn="l" indent="0" marL="0">
              <a:lnSpc>
                <a:spcPts val="3470"/>
              </a:lnSpc>
              <a:buNone/>
            </a:pPr>
            <a:r>
              <a:rPr lang="en-US" sz="3100" dirty="0">
                <a:solidFill>
                  <a:srgbClr val="16233F"/>
                </a:solidFill>
                <a:latin typeface="Arial Rounded MT Bold" pitchFamily="34" charset="0"/>
                <a:ea typeface="Arial Rounded MT Bold" pitchFamily="34" charset="-122"/>
                <a:cs typeface="Arial Rounded MT Bold" pitchFamily="34" charset="-120"/>
              </a:rPr>
              <a:t>No shipped game we found ties </a:t>
            </a:r>
            <a:pPr algn="l" indent="0" marL="0">
              <a:lnSpc>
                <a:spcPts val="3470"/>
              </a:lnSpc>
              <a:buNone/>
            </a:pPr>
            <a:r>
              <a:rPr lang="en-US" sz="3100" dirty="0">
                <a:solidFill>
                  <a:srgbClr val="FF6B1F"/>
                </a:solidFill>
                <a:latin typeface="Arial Rounded MT Bold" pitchFamily="34" charset="0"/>
                <a:ea typeface="Arial Rounded MT Bold" pitchFamily="34" charset="-122"/>
                <a:cs typeface="Arial Rounded MT Bold" pitchFamily="34" charset="-120"/>
              </a:rPr>
              <a:t>knockback to the mass lost from hits.</a:t>
            </a:r>
            <a:endParaRPr lang="en-US" sz="3100" dirty="0"/>
          </a:p>
        </p:txBody>
      </p:sp>
      <p:sp>
        <p:nvSpPr>
          <p:cNvPr id="10" name="text 13.9"/>
          <p:cNvSpPr txBox="1"/>
          <p:nvPr/>
        </p:nvSpPr>
        <p:spPr>
          <a:xfrm>
            <a:off x="609585" y="3428914"/>
            <a:ext cx="4863978" cy="773292"/>
          </a:xfrm>
          <a:prstGeom prst="rect">
            <a:avLst/>
          </a:prstGeom>
          <a:noFill/>
          <a:ln/>
        </p:spPr>
        <p:txBody>
          <a:bodyPr wrap="square" lIns="0" tIns="0" rIns="0" bIns="0" rtlCol="0" anchor="t"/>
          <a:lstStyle/>
          <a:p>
            <a:pPr algn="l" indent="0" marL="0">
              <a:lnSpc>
                <a:spcPts val="2030"/>
              </a:lnSpc>
              <a:buNone/>
            </a:pPr>
            <a:r>
              <a:rPr lang="en-US" sz="1400" dirty="0">
                <a:solidFill>
                  <a:srgbClr val="3B4A66"/>
                </a:solidFill>
                <a:latin typeface="Arial" pitchFamily="34" charset="0"/>
                <a:ea typeface="Arial" pitchFamily="34" charset="-122"/>
                <a:cs typeface="Arial" pitchFamily="34" charset="-120"/>
              </a:rPr>
              <a:t>Mass Knockout builds every hit on one physical value: mass. Links 01 to 03 have relatives in other games. </a:t>
            </a:r>
            <a:pPr algn="l" indent="0" marL="0">
              <a:lnSpc>
                <a:spcPts val="2030"/>
              </a:lnSpc>
              <a:buNone/>
            </a:pPr>
            <a:r>
              <a:rPr lang="en-US" sz="1400" b="1" dirty="0">
                <a:solidFill>
                  <a:srgbClr val="16233F"/>
                </a:solidFill>
                <a:latin typeface="Arial" pitchFamily="34" charset="0"/>
                <a:ea typeface="Arial" pitchFamily="34" charset="-122"/>
                <a:cs typeface="Arial" pitchFamily="34" charset="-120"/>
              </a:rPr>
              <a:t>Link 04 we did not find.</a:t>
            </a:r>
            <a:endParaRPr lang="en-US" sz="1400" dirty="0"/>
          </a:p>
        </p:txBody>
      </p:sp>
      <p:sp>
        <p:nvSpPr>
          <p:cNvPr id="11" name="text 13.10"/>
          <p:cNvSpPr txBox="1"/>
          <p:nvPr/>
        </p:nvSpPr>
        <p:spPr>
          <a:xfrm>
            <a:off x="609585" y="5968851"/>
            <a:ext cx="499097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Prior-art search of shipped games, Oct 2026 [9–10]. Evidence on the next slide.</a:t>
            </a:r>
            <a:endParaRPr lang="en-US" sz="850" dirty="0"/>
          </a:p>
        </p:txBody>
      </p:sp>
      <p:pic>
        <p:nvPicPr>
          <p:cNvPr id="12" name="raster 13.11" descr="diagram">    </p:cNvPr>
          <p:cNvPicPr>
            <a:picLocks noChangeAspect="1"/>
          </p:cNvPicPr>
          <p:nvPr/>
        </p:nvPicPr>
        <p:blipFill>
          <a:blip r:embed="rId3"/>
          <a:stretch>
            <a:fillRect/>
          </a:stretch>
        </p:blipFill>
        <p:spPr>
          <a:xfrm>
            <a:off x="8445289" y="3428914"/>
            <a:ext cx="507987" cy="507987"/>
          </a:xfrm>
          <a:prstGeom prst="rect">
            <a:avLst/>
          </a:prstGeom>
        </p:spPr>
      </p:pic>
      <p:sp>
        <p:nvSpPr>
          <p:cNvPr id="13" name="text 13.12"/>
          <p:cNvSpPr txBox="1"/>
          <p:nvPr/>
        </p:nvSpPr>
        <p:spPr>
          <a:xfrm>
            <a:off x="8000800" y="4000400"/>
            <a:ext cx="1396965" cy="253994"/>
          </a:xfrm>
          <a:prstGeom prst="rect">
            <a:avLst/>
          </a:prstGeom>
          <a:noFill/>
          <a:ln/>
        </p:spPr>
        <p:txBody>
          <a:bodyPr wrap="square" lIns="0" tIns="0" rIns="0" bIns="0" rtlCol="0" anchor="t"/>
          <a:lstStyle/>
          <a:p>
            <a:pPr algn="ctr" indent="0" marL="0">
              <a:lnSpc>
                <a:spcPts val="2000"/>
              </a:lnSpc>
              <a:buNone/>
            </a:pPr>
            <a:r>
              <a:rPr lang="en-US" sz="2000" dirty="0">
                <a:solidFill>
                  <a:srgbClr val="16233F"/>
                </a:solidFill>
                <a:latin typeface="Arial Rounded MT Bold" pitchFamily="34" charset="0"/>
                <a:ea typeface="Arial Rounded MT Bold" pitchFamily="34" charset="-122"/>
                <a:cs typeface="Arial Rounded MT Bold" pitchFamily="34" charset="-120"/>
              </a:rPr>
              <a:t>Mass</a:t>
            </a:r>
            <a:endParaRPr lang="en-US" sz="2000" dirty="0"/>
          </a:p>
        </p:txBody>
      </p:sp>
      <p:sp>
        <p:nvSpPr>
          <p:cNvPr id="14" name="text 13.13"/>
          <p:cNvSpPr txBox="1"/>
          <p:nvPr/>
        </p:nvSpPr>
        <p:spPr>
          <a:xfrm>
            <a:off x="8000800" y="4292493"/>
            <a:ext cx="1396965"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ONE VALUE</a:t>
            </a:r>
            <a:endParaRPr lang="en-US" sz="750" dirty="0"/>
          </a:p>
        </p:txBody>
      </p:sp>
      <p:sp>
        <p:nvSpPr>
          <p:cNvPr id="15" name="text 13.14"/>
          <p:cNvSpPr txBox="1"/>
          <p:nvPr/>
        </p:nvSpPr>
        <p:spPr>
          <a:xfrm>
            <a:off x="7854754" y="1739857"/>
            <a:ext cx="868569"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01 Shoot</a:t>
            </a:r>
            <a:endParaRPr lang="en-US" sz="1400" dirty="0"/>
          </a:p>
        </p:txBody>
      </p:sp>
      <p:sp>
        <p:nvSpPr>
          <p:cNvPr id="16" name="text 13.15"/>
          <p:cNvSpPr txBox="1"/>
          <p:nvPr/>
        </p:nvSpPr>
        <p:spPr>
          <a:xfrm>
            <a:off x="7854754" y="1993850"/>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A real projectile. Free; only the fire rate limits it.</a:t>
            </a:r>
            <a:endParaRPr lang="en-US" sz="1000" dirty="0"/>
          </a:p>
        </p:txBody>
      </p:sp>
      <p:sp>
        <p:nvSpPr>
          <p:cNvPr id="17" name="text 13.16"/>
          <p:cNvSpPr txBox="1"/>
          <p:nvPr/>
        </p:nvSpPr>
        <p:spPr>
          <a:xfrm>
            <a:off x="9696208" y="3581310"/>
            <a:ext cx="790113"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02 Push</a:t>
            </a:r>
            <a:endParaRPr lang="en-US" sz="1400" dirty="0"/>
          </a:p>
        </p:txBody>
      </p:sp>
      <p:sp>
        <p:nvSpPr>
          <p:cNvPr id="18" name="text 13.17"/>
          <p:cNvSpPr txBox="1"/>
          <p:nvPr/>
        </p:nvSpPr>
        <p:spPr>
          <a:xfrm>
            <a:off x="9696208" y="3835304"/>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A hit pushes the target back from the shot’s direction.</a:t>
            </a:r>
            <a:endParaRPr lang="en-US" sz="1000" dirty="0"/>
          </a:p>
        </p:txBody>
      </p:sp>
      <p:sp>
        <p:nvSpPr>
          <p:cNvPr id="19" name="text 13.18"/>
          <p:cNvSpPr txBox="1"/>
          <p:nvPr/>
        </p:nvSpPr>
        <p:spPr>
          <a:xfrm>
            <a:off x="7854754" y="5422764"/>
            <a:ext cx="828920"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03 Drain</a:t>
            </a:r>
            <a:endParaRPr lang="en-US" sz="1400" dirty="0"/>
          </a:p>
        </p:txBody>
      </p:sp>
      <p:sp>
        <p:nvSpPr>
          <p:cNvPr id="20" name="text 13.19"/>
          <p:cNvSpPr txBox="1"/>
          <p:nvPr/>
        </p:nvSpPr>
        <p:spPr>
          <a:xfrm>
            <a:off x="7854754" y="5676758"/>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The hit lowers its mass. Its size stays the same.</a:t>
            </a:r>
            <a:endParaRPr lang="en-US" sz="1000" dirty="0"/>
          </a:p>
        </p:txBody>
      </p:sp>
      <p:sp>
        <p:nvSpPr>
          <p:cNvPr id="21" name="text 13.20"/>
          <p:cNvSpPr txBox="1"/>
          <p:nvPr/>
        </p:nvSpPr>
        <p:spPr>
          <a:xfrm>
            <a:off x="6013300" y="3581310"/>
            <a:ext cx="1009285" cy="177796"/>
          </a:xfrm>
          <a:prstGeom prst="rect">
            <a:avLst/>
          </a:prstGeom>
          <a:noFill/>
          <a:ln/>
        </p:spPr>
        <p:txBody>
          <a:bodyPr wrap="square" lIns="0" tIns="0" rIns="0" bIns="0" rtlCol="0" anchor="t"/>
          <a:lstStyle/>
          <a:p>
            <a:pPr algn="l" indent="0" marL="0">
              <a:lnSpc>
                <a:spcPts val="1400"/>
              </a:lnSpc>
              <a:buNone/>
            </a:pPr>
            <a:r>
              <a:rPr lang="en-US" sz="1400" dirty="0">
                <a:solidFill>
                  <a:srgbClr val="FF6B1F"/>
                </a:solidFill>
                <a:latin typeface="Arial Rounded MT Bold" pitchFamily="34" charset="0"/>
                <a:ea typeface="Arial Rounded MT Bold" pitchFamily="34" charset="-122"/>
                <a:cs typeface="Arial Rounded MT Bold" pitchFamily="34" charset="-120"/>
              </a:rPr>
              <a:t>04 Launch</a:t>
            </a:r>
            <a:endParaRPr lang="en-US" sz="1400" dirty="0"/>
          </a:p>
        </p:txBody>
      </p:sp>
      <p:sp>
        <p:nvSpPr>
          <p:cNvPr id="22" name="text 13.21"/>
          <p:cNvSpPr txBox="1"/>
          <p:nvPr/>
        </p:nvSpPr>
        <p:spPr>
          <a:xfrm>
            <a:off x="6013300" y="3835304"/>
            <a:ext cx="1752556" cy="342891"/>
          </a:xfrm>
          <a:prstGeom prst="rect">
            <a:avLst/>
          </a:prstGeom>
          <a:noFill/>
          <a:ln/>
        </p:spPr>
        <p:txBody>
          <a:bodyPr wrap="square" lIns="0" tIns="0" rIns="0" bIns="0" rtlCol="0" anchor="t"/>
          <a:lstStyle/>
          <a:p>
            <a:pPr algn="l" indent="0" marL="0">
              <a:lnSpc>
                <a:spcPts val="1350"/>
              </a:lnSpc>
              <a:buNone/>
            </a:pPr>
            <a:r>
              <a:rPr lang="en-US" sz="1000" dirty="0">
                <a:solidFill>
                  <a:srgbClr val="3B4A66"/>
                </a:solidFill>
                <a:latin typeface="Arial" pitchFamily="34" charset="0"/>
                <a:ea typeface="Arial" pitchFamily="34" charset="-122"/>
                <a:cs typeface="Arial" pitchFamily="34" charset="-120"/>
              </a:rPr>
              <a:t>Less mass: the same shot now sends it further.</a:t>
            </a:r>
            <a:endParaRPr lang="en-US" sz="1000" dirty="0"/>
          </a:p>
        </p:txBody>
      </p:sp>
      <p:sp>
        <p:nvSpPr>
          <p:cNvPr id="23" name="shape 13.22"/>
          <p:cNvSpPr/>
          <p:nvPr/>
        </p:nvSpPr>
        <p:spPr>
          <a:xfrm>
            <a:off x="5905352" y="4533787"/>
            <a:ext cx="1841454" cy="241294"/>
          </a:xfrm>
          <a:prstGeom prst="roundRect">
            <a:avLst>
              <a:gd name="adj" fmla="val 50000"/>
            </a:avLst>
          </a:prstGeom>
          <a:solidFill>
            <a:srgbClr val="FF6B1F"/>
          </a:solidFill>
          <a:ln/>
        </p:spPr>
      </p:sp>
      <p:sp>
        <p:nvSpPr>
          <p:cNvPr id="24" name="text 13.23"/>
          <p:cNvSpPr txBox="1"/>
          <p:nvPr/>
        </p:nvSpPr>
        <p:spPr>
          <a:xfrm>
            <a:off x="5905352" y="4533787"/>
            <a:ext cx="1841454"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 ELSEWHERE</a:t>
            </a:r>
            <a:endParaRPr lang="en-US" sz="700" dirty="0"/>
          </a:p>
        </p:txBody>
      </p:sp>
      <p:sp>
        <p:nvSpPr>
          <p:cNvPr id="25" name="shape 13.24"/>
          <p:cNvSpPr/>
          <p:nvPr/>
        </p:nvSpPr>
        <p:spPr>
          <a:xfrm>
            <a:off x="609585" y="266693"/>
            <a:ext cx="144141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13.25"/>
          <p:cNvSpPr/>
          <p:nvPr/>
        </p:nvSpPr>
        <p:spPr>
          <a:xfrm>
            <a:off x="711182" y="355591"/>
            <a:ext cx="114297" cy="114297"/>
          </a:xfrm>
          <a:prstGeom prst="roundRect">
            <a:avLst>
              <a:gd name="adj" fmla="val 33333"/>
            </a:avLst>
          </a:prstGeom>
          <a:solidFill>
            <a:srgbClr val="FF6B1F"/>
          </a:solidFill>
          <a:ln/>
        </p:spPr>
      </p:sp>
      <p:sp>
        <p:nvSpPr>
          <p:cNvPr id="27" name="shape 13.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13.27"/>
          <p:cNvSpPr/>
          <p:nvPr/>
        </p:nvSpPr>
        <p:spPr>
          <a:xfrm>
            <a:off x="10058149" y="368291"/>
            <a:ext cx="101597" cy="101597"/>
          </a:xfrm>
          <a:prstGeom prst="roundRect">
            <a:avLst>
              <a:gd name="adj" fmla="val 31250"/>
            </a:avLst>
          </a:prstGeom>
          <a:solidFill>
            <a:srgbClr val="16233F"/>
          </a:solidFill>
          <a:ln/>
        </p:spPr>
      </p:sp>
      <p:sp>
        <p:nvSpPr>
          <p:cNvPr id="29" name="shape 13.28"/>
          <p:cNvSpPr/>
          <p:nvPr/>
        </p:nvSpPr>
        <p:spPr>
          <a:xfrm>
            <a:off x="10223244" y="368291"/>
            <a:ext cx="101597" cy="101597"/>
          </a:xfrm>
          <a:prstGeom prst="roundRect">
            <a:avLst>
              <a:gd name="adj" fmla="val 31250"/>
            </a:avLst>
          </a:prstGeom>
          <a:solidFill>
            <a:srgbClr val="16233F"/>
          </a:solidFill>
          <a:ln/>
        </p:spPr>
      </p:sp>
      <p:sp>
        <p:nvSpPr>
          <p:cNvPr id="30" name="shape 13.29"/>
          <p:cNvSpPr/>
          <p:nvPr/>
        </p:nvSpPr>
        <p:spPr>
          <a:xfrm>
            <a:off x="10388340" y="368291"/>
            <a:ext cx="101597" cy="101597"/>
          </a:xfrm>
          <a:prstGeom prst="roundRect">
            <a:avLst>
              <a:gd name="adj" fmla="val 31250"/>
            </a:avLst>
          </a:prstGeom>
          <a:solidFill>
            <a:srgbClr val="16233F"/>
          </a:solidFill>
          <a:ln/>
        </p:spPr>
      </p:sp>
      <p:sp>
        <p:nvSpPr>
          <p:cNvPr id="31" name="shape 13.30"/>
          <p:cNvSpPr/>
          <p:nvPr/>
        </p:nvSpPr>
        <p:spPr>
          <a:xfrm>
            <a:off x="10553436" y="368291"/>
            <a:ext cx="101597" cy="101597"/>
          </a:xfrm>
          <a:prstGeom prst="roundRect">
            <a:avLst>
              <a:gd name="adj" fmla="val 31250"/>
            </a:avLst>
          </a:prstGeom>
          <a:solidFill>
            <a:srgbClr val="FF6B1F"/>
          </a:solidFill>
          <a:ln/>
        </p:spPr>
      </p:sp>
      <p:sp>
        <p:nvSpPr>
          <p:cNvPr id="32" name="shape 13.31"/>
          <p:cNvSpPr/>
          <p:nvPr/>
        </p:nvSpPr>
        <p:spPr>
          <a:xfrm>
            <a:off x="10718532" y="368291"/>
            <a:ext cx="101597" cy="101597"/>
          </a:xfrm>
          <a:prstGeom prst="roundRect">
            <a:avLst>
              <a:gd name="adj" fmla="val 31250"/>
            </a:avLst>
          </a:prstGeom>
          <a:solidFill>
            <a:srgbClr val="C7D4E8"/>
          </a:solidFill>
          <a:ln/>
        </p:spPr>
      </p:sp>
      <p:sp>
        <p:nvSpPr>
          <p:cNvPr id="33" name="shape 13.32"/>
          <p:cNvSpPr/>
          <p:nvPr/>
        </p:nvSpPr>
        <p:spPr>
          <a:xfrm>
            <a:off x="10883628" y="368291"/>
            <a:ext cx="101597" cy="101597"/>
          </a:xfrm>
          <a:prstGeom prst="roundRect">
            <a:avLst>
              <a:gd name="adj" fmla="val 31250"/>
            </a:avLst>
          </a:prstGeom>
          <a:solidFill>
            <a:srgbClr val="C7D4E8"/>
          </a:solidFill>
          <a:ln/>
        </p:spPr>
      </p:sp>
      <p:sp>
        <p:nvSpPr>
          <p:cNvPr id="34" name="text 13.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35" name="text 13.34"/>
          <p:cNvSpPr txBox="1"/>
          <p:nvPr/>
        </p:nvSpPr>
        <p:spPr>
          <a:xfrm>
            <a:off x="927077" y="349241"/>
            <a:ext cx="954808"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04 · Innovation</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4.1"/>
          <p:cNvSpPr/>
          <p:nvPr/>
        </p:nvSpPr>
        <p:spPr>
          <a:xfrm>
            <a:off x="609585" y="1968451"/>
            <a:ext cx="10972526" cy="736582"/>
          </a:xfrm>
          <a:prstGeom prst="roundRect">
            <a:avLst>
              <a:gd name="adj" fmla="val 17241"/>
            </a:avLst>
          </a:prstGeom>
          <a:solidFill>
            <a:srgbClr val="FFFFFF"/>
          </a:solidFill>
          <a:ln/>
          <a:effectLst>
            <a:outerShdw sx="100000" sy="100000" kx="0" ky="0" algn="bl" rotWithShape="0" blurRad="203200" dist="76200" dir="5400000">
              <a:srgbClr val="1E468C">
                <a:alpha val="16000"/>
              </a:srgbClr>
            </a:outerShdw>
          </a:effectLst>
        </p:spPr>
      </p:sp>
      <p:sp>
        <p:nvSpPr>
          <p:cNvPr id="3" name="shape 14.2"/>
          <p:cNvSpPr/>
          <p:nvPr/>
        </p:nvSpPr>
        <p:spPr>
          <a:xfrm>
            <a:off x="609585" y="2920927"/>
            <a:ext cx="10972526" cy="736582"/>
          </a:xfrm>
          <a:prstGeom prst="roundRect">
            <a:avLst>
              <a:gd name="adj" fmla="val 17241"/>
            </a:avLst>
          </a:prstGeom>
          <a:solidFill>
            <a:srgbClr val="FFFFFF"/>
          </a:solidFill>
          <a:ln/>
          <a:effectLst>
            <a:outerShdw sx="100000" sy="100000" kx="0" ky="0" algn="bl" rotWithShape="0" blurRad="203200" dist="76200" dir="5400000">
              <a:srgbClr val="1E468C">
                <a:alpha val="16000"/>
              </a:srgbClr>
            </a:outerShdw>
          </a:effectLst>
        </p:spPr>
      </p:sp>
      <p:sp>
        <p:nvSpPr>
          <p:cNvPr id="4" name="shape 14.3"/>
          <p:cNvSpPr/>
          <p:nvPr/>
        </p:nvSpPr>
        <p:spPr>
          <a:xfrm>
            <a:off x="609585" y="3873403"/>
            <a:ext cx="10972526" cy="736582"/>
          </a:xfrm>
          <a:prstGeom prst="roundRect">
            <a:avLst>
              <a:gd name="adj" fmla="val 1724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5" name="shape 14.4"/>
          <p:cNvSpPr/>
          <p:nvPr/>
        </p:nvSpPr>
        <p:spPr>
          <a:xfrm>
            <a:off x="609585" y="4825879"/>
            <a:ext cx="10972526" cy="736582"/>
          </a:xfrm>
          <a:prstGeom prst="roundRect">
            <a:avLst>
              <a:gd name="adj" fmla="val 1724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6" name="text 14.5"/>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Closest prior art for each link, and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what we did not find</a:t>
            </a:r>
            <a:endParaRPr lang="en-US" sz="2700" dirty="0"/>
          </a:p>
        </p:txBody>
      </p:sp>
      <p:sp>
        <p:nvSpPr>
          <p:cNvPr id="7" name="text 14.6"/>
          <p:cNvSpPr txBox="1"/>
          <p:nvPr/>
        </p:nvSpPr>
        <p:spPr>
          <a:xfrm>
            <a:off x="863578" y="1663658"/>
            <a:ext cx="34756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LINK</a:t>
            </a:r>
            <a:endParaRPr lang="en-US" sz="750" dirty="0"/>
          </a:p>
        </p:txBody>
      </p:sp>
      <p:sp>
        <p:nvSpPr>
          <p:cNvPr id="8" name="text 14.7"/>
          <p:cNvSpPr txBox="1"/>
          <p:nvPr/>
        </p:nvSpPr>
        <p:spPr>
          <a:xfrm>
            <a:off x="3936902" y="1663658"/>
            <a:ext cx="132595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CLOSEST PRIOR ART</a:t>
            </a:r>
            <a:endParaRPr lang="en-US" sz="750" dirty="0"/>
          </a:p>
        </p:txBody>
      </p:sp>
      <p:sp>
        <p:nvSpPr>
          <p:cNvPr id="9" name="text 14.8"/>
          <p:cNvSpPr txBox="1"/>
          <p:nvPr/>
        </p:nvSpPr>
        <p:spPr>
          <a:xfrm>
            <a:off x="9905752" y="1663658"/>
            <a:ext cx="52508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STATUS</a:t>
            </a:r>
            <a:endParaRPr lang="en-US" sz="750" dirty="0"/>
          </a:p>
        </p:txBody>
      </p:sp>
      <p:sp>
        <p:nvSpPr>
          <p:cNvPr id="10" name="text 14.9"/>
          <p:cNvSpPr txBox="1"/>
          <p:nvPr/>
        </p:nvSpPr>
        <p:spPr>
          <a:xfrm>
            <a:off x="863578" y="2222444"/>
            <a:ext cx="760665"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01–02</a:t>
            </a:r>
            <a:endParaRPr lang="en-US" sz="1800" dirty="0"/>
          </a:p>
        </p:txBody>
      </p:sp>
      <p:sp>
        <p:nvSpPr>
          <p:cNvPr id="11" name="text 14.10"/>
          <p:cNvSpPr txBox="1"/>
          <p:nvPr/>
        </p:nvSpPr>
        <p:spPr>
          <a:xfrm>
            <a:off x="2006550" y="2146246"/>
            <a:ext cx="1816055"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Shots that push</a:t>
            </a:r>
            <a:endParaRPr lang="en-US" sz="1200" dirty="0"/>
          </a:p>
        </p:txBody>
      </p:sp>
      <p:sp>
        <p:nvSpPr>
          <p:cNvPr id="12" name="text 14.11"/>
          <p:cNvSpPr txBox="1"/>
          <p:nvPr/>
        </p:nvSpPr>
        <p:spPr>
          <a:xfrm>
            <a:off x="3936902" y="2133547"/>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Knockback from attacks is standard in the genre, e.g. Smash Bros.</a:t>
            </a:r>
            <a:endParaRPr lang="en-US" sz="1100" dirty="0"/>
          </a:p>
        </p:txBody>
      </p:sp>
      <p:sp>
        <p:nvSpPr>
          <p:cNvPr id="13" name="shape 14.12"/>
          <p:cNvSpPr/>
          <p:nvPr/>
        </p:nvSpPr>
        <p:spPr>
          <a:xfrm>
            <a:off x="9969251" y="2203395"/>
            <a:ext cx="1422364" cy="266693"/>
          </a:xfrm>
          <a:prstGeom prst="roundRect">
            <a:avLst>
              <a:gd name="adj" fmla="val 50000"/>
            </a:avLst>
          </a:prstGeom>
          <a:solidFill>
            <a:srgbClr val="E9EFF8"/>
          </a:solidFill>
          <a:ln/>
        </p:spPr>
      </p:sp>
      <p:sp>
        <p:nvSpPr>
          <p:cNvPr id="14" name="text 14.13"/>
          <p:cNvSpPr txBox="1"/>
          <p:nvPr/>
        </p:nvSpPr>
        <p:spPr>
          <a:xfrm>
            <a:off x="9969251" y="2203395"/>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STANDARD</a:t>
            </a:r>
            <a:endParaRPr lang="en-US" sz="700" dirty="0"/>
          </a:p>
        </p:txBody>
      </p:sp>
      <p:sp>
        <p:nvSpPr>
          <p:cNvPr id="15" name="text 14.14"/>
          <p:cNvSpPr txBox="1"/>
          <p:nvPr/>
        </p:nvSpPr>
        <p:spPr>
          <a:xfrm>
            <a:off x="863578" y="3174921"/>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03</a:t>
            </a:r>
            <a:endParaRPr lang="en-US" sz="1800" dirty="0"/>
          </a:p>
        </p:txBody>
      </p:sp>
      <p:sp>
        <p:nvSpPr>
          <p:cNvPr id="16" name="text 14.15"/>
          <p:cNvSpPr txBox="1"/>
          <p:nvPr/>
        </p:nvSpPr>
        <p:spPr>
          <a:xfrm>
            <a:off x="1460463" y="3193970"/>
            <a:ext cx="2324042"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Hits change your body</a:t>
            </a:r>
            <a:endParaRPr lang="en-US" sz="1200" dirty="0"/>
          </a:p>
        </p:txBody>
      </p:sp>
      <p:sp>
        <p:nvSpPr>
          <p:cNvPr id="17" name="text 14.16"/>
          <p:cNvSpPr txBox="1"/>
          <p:nvPr/>
        </p:nvSpPr>
        <p:spPr>
          <a:xfrm>
            <a:off x="3936902" y="3086023"/>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Squarena (2D): lower health, smaller body. Morphies Law: hits move mass between robots.</a:t>
            </a:r>
            <a:endParaRPr lang="en-US" sz="1100" dirty="0"/>
          </a:p>
        </p:txBody>
      </p:sp>
      <p:sp>
        <p:nvSpPr>
          <p:cNvPr id="18" name="shape 14.17"/>
          <p:cNvSpPr/>
          <p:nvPr/>
        </p:nvSpPr>
        <p:spPr>
          <a:xfrm>
            <a:off x="9969251" y="3155871"/>
            <a:ext cx="1422364" cy="266693"/>
          </a:xfrm>
          <a:prstGeom prst="roundRect">
            <a:avLst>
              <a:gd name="adj" fmla="val 50000"/>
            </a:avLst>
          </a:prstGeom>
          <a:solidFill>
            <a:srgbClr val="E2F4FD"/>
          </a:solidFill>
          <a:ln/>
        </p:spPr>
      </p:sp>
      <p:sp>
        <p:nvSpPr>
          <p:cNvPr id="19" name="text 14.18"/>
          <p:cNvSpPr txBox="1"/>
          <p:nvPr/>
        </p:nvSpPr>
        <p:spPr>
          <a:xfrm>
            <a:off x="9969251" y="3155871"/>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20" name="text 14.19"/>
          <p:cNvSpPr txBox="1"/>
          <p:nvPr/>
        </p:nvSpPr>
        <p:spPr>
          <a:xfrm>
            <a:off x="863578" y="4127397"/>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04</a:t>
            </a:r>
            <a:endParaRPr lang="en-US" sz="1800" dirty="0"/>
          </a:p>
        </p:txBody>
      </p:sp>
      <p:sp>
        <p:nvSpPr>
          <p:cNvPr id="21" name="text 14.20"/>
          <p:cNvSpPr txBox="1"/>
          <p:nvPr/>
        </p:nvSpPr>
        <p:spPr>
          <a:xfrm>
            <a:off x="1460463" y="4146446"/>
            <a:ext cx="2324042" cy="190495"/>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Lighter, launched further</a:t>
            </a:r>
            <a:endParaRPr lang="en-US" sz="1200" dirty="0"/>
          </a:p>
        </p:txBody>
      </p:sp>
      <p:sp>
        <p:nvSpPr>
          <p:cNvPr id="22" name="text 14.21"/>
          <p:cNvSpPr txBox="1"/>
          <p:nvPr/>
        </p:nvSpPr>
        <p:spPr>
          <a:xfrm>
            <a:off x="3936902" y="4038499"/>
            <a:ext cx="5752956"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Smash Bros. raises knockback with a damage % counter, not mass. In Squarena, smaller bodies feel more of their own recoil.</a:t>
            </a:r>
            <a:endParaRPr lang="en-US" sz="1100" dirty="0"/>
          </a:p>
        </p:txBody>
      </p:sp>
      <p:sp>
        <p:nvSpPr>
          <p:cNvPr id="23" name="shape 14.22"/>
          <p:cNvSpPr/>
          <p:nvPr/>
        </p:nvSpPr>
        <p:spPr>
          <a:xfrm>
            <a:off x="9969251" y="4108347"/>
            <a:ext cx="1422364" cy="266693"/>
          </a:xfrm>
          <a:prstGeom prst="roundRect">
            <a:avLst>
              <a:gd name="adj" fmla="val 50000"/>
            </a:avLst>
          </a:prstGeom>
          <a:solidFill>
            <a:srgbClr val="FF6B1F"/>
          </a:solidFill>
          <a:ln/>
        </p:spPr>
      </p:sp>
      <p:sp>
        <p:nvSpPr>
          <p:cNvPr id="24" name="text 14.23"/>
          <p:cNvSpPr txBox="1"/>
          <p:nvPr/>
        </p:nvSpPr>
        <p:spPr>
          <a:xfrm>
            <a:off x="9969251" y="4108347"/>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25" name="text 14.24"/>
          <p:cNvSpPr txBox="1"/>
          <p:nvPr/>
        </p:nvSpPr>
        <p:spPr>
          <a:xfrm>
            <a:off x="863578" y="5079873"/>
            <a:ext cx="760665"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01–04</a:t>
            </a:r>
            <a:endParaRPr lang="en-US" sz="1800" dirty="0"/>
          </a:p>
        </p:txBody>
      </p:sp>
      <p:sp>
        <p:nvSpPr>
          <p:cNvPr id="26" name="text 14.25"/>
          <p:cNvSpPr txBox="1"/>
          <p:nvPr/>
        </p:nvSpPr>
        <p:spPr>
          <a:xfrm>
            <a:off x="2006550" y="5003675"/>
            <a:ext cx="1816055" cy="380990"/>
          </a:xfrm>
          <a:prstGeom prst="rect">
            <a:avLst/>
          </a:prstGeom>
          <a:noFill/>
          <a:ln/>
        </p:spPr>
        <p:txBody>
          <a:bodyPr wrap="square" lIns="0" tIns="0" rIns="0" bIns="0" rtlCol="0" anchor="t"/>
          <a:lstStyle/>
          <a:p>
            <a:pPr algn="l" indent="0" marL="0">
              <a:lnSpc>
                <a:spcPts val="1500"/>
              </a:lnSpc>
              <a:buNone/>
            </a:pPr>
            <a:r>
              <a:rPr lang="en-US" sz="1200" b="1" dirty="0">
                <a:solidFill>
                  <a:srgbClr val="16233F"/>
                </a:solidFill>
                <a:latin typeface="Arial" pitchFamily="34" charset="0"/>
                <a:ea typeface="Arial" pitchFamily="34" charset="-122"/>
                <a:cs typeface="Arial" pitchFamily="34" charset="-120"/>
              </a:rPr>
              <a:t>All four in one 3D party game</a:t>
            </a:r>
            <a:endParaRPr lang="en-US" sz="1200" dirty="0"/>
          </a:p>
        </p:txBody>
      </p:sp>
      <p:sp>
        <p:nvSpPr>
          <p:cNvPr id="27" name="text 14.26"/>
          <p:cNvSpPr txBox="1"/>
          <p:nvPr/>
        </p:nvSpPr>
        <p:spPr>
          <a:xfrm>
            <a:off x="3936902" y="4990975"/>
            <a:ext cx="5752956" cy="195575"/>
          </a:xfrm>
          <a:prstGeom prst="rect">
            <a:avLst/>
          </a:prstGeom>
          <a:noFill/>
          <a:ln/>
        </p:spPr>
        <p:txBody>
          <a:bodyPr wrap="square" lIns="0" tIns="0" rIns="0" bIns="0" rtlCol="0" anchor="t"/>
          <a:lstStyle/>
          <a:p>
            <a:pPr algn="l" indent="0" marL="0">
              <a:lnSpc>
                <a:spcPts val="1540"/>
              </a:lnSpc>
              <a:buNone/>
            </a:pPr>
            <a:r>
              <a:rPr lang="en-US" sz="1100" dirty="0">
                <a:solidFill>
                  <a:srgbClr val="6E7D9A"/>
                </a:solidFill>
                <a:latin typeface="Arial" pitchFamily="34" charset="0"/>
                <a:ea typeface="Arial" pitchFamily="34" charset="-122"/>
                <a:cs typeface="Arial" pitchFamily="34" charset="-120"/>
              </a:rPr>
              <a:t>No shipped game found.</a:t>
            </a:r>
            <a:endParaRPr lang="en-US" sz="1100" dirty="0"/>
          </a:p>
        </p:txBody>
      </p:sp>
      <p:sp>
        <p:nvSpPr>
          <p:cNvPr id="28" name="shape 14.27"/>
          <p:cNvSpPr/>
          <p:nvPr/>
        </p:nvSpPr>
        <p:spPr>
          <a:xfrm>
            <a:off x="9969251" y="5060823"/>
            <a:ext cx="1422364" cy="266693"/>
          </a:xfrm>
          <a:prstGeom prst="roundRect">
            <a:avLst>
              <a:gd name="adj" fmla="val 50000"/>
            </a:avLst>
          </a:prstGeom>
          <a:solidFill>
            <a:srgbClr val="FF6B1F"/>
          </a:solidFill>
          <a:ln/>
        </p:spPr>
      </p:sp>
      <p:sp>
        <p:nvSpPr>
          <p:cNvPr id="29" name="text 14.28"/>
          <p:cNvSpPr txBox="1"/>
          <p:nvPr/>
        </p:nvSpPr>
        <p:spPr>
          <a:xfrm>
            <a:off x="9969251" y="5060823"/>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30" name="text 14.29"/>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Prior-art search of shipped games, Oct 2026 [9–10]. “Not found” means not found after searching.</a:t>
            </a:r>
            <a:endParaRPr lang="en-US" sz="850" dirty="0"/>
          </a:p>
        </p:txBody>
      </p:sp>
      <p:sp>
        <p:nvSpPr>
          <p:cNvPr id="31" name="shape 14.30"/>
          <p:cNvSpPr/>
          <p:nvPr/>
        </p:nvSpPr>
        <p:spPr>
          <a:xfrm>
            <a:off x="609585" y="266693"/>
            <a:ext cx="144141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2" name="shape 14.31"/>
          <p:cNvSpPr/>
          <p:nvPr/>
        </p:nvSpPr>
        <p:spPr>
          <a:xfrm>
            <a:off x="711182" y="355591"/>
            <a:ext cx="114297" cy="114297"/>
          </a:xfrm>
          <a:prstGeom prst="roundRect">
            <a:avLst>
              <a:gd name="adj" fmla="val 33333"/>
            </a:avLst>
          </a:prstGeom>
          <a:solidFill>
            <a:srgbClr val="FF6B1F"/>
          </a:solidFill>
          <a:ln/>
        </p:spPr>
      </p:sp>
      <p:sp>
        <p:nvSpPr>
          <p:cNvPr id="33" name="shape 14.32"/>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4" name="shape 14.33"/>
          <p:cNvSpPr/>
          <p:nvPr/>
        </p:nvSpPr>
        <p:spPr>
          <a:xfrm>
            <a:off x="10058149" y="368291"/>
            <a:ext cx="101597" cy="101597"/>
          </a:xfrm>
          <a:prstGeom prst="roundRect">
            <a:avLst>
              <a:gd name="adj" fmla="val 31250"/>
            </a:avLst>
          </a:prstGeom>
          <a:solidFill>
            <a:srgbClr val="16233F"/>
          </a:solidFill>
          <a:ln/>
        </p:spPr>
      </p:sp>
      <p:sp>
        <p:nvSpPr>
          <p:cNvPr id="35" name="shape 14.34"/>
          <p:cNvSpPr/>
          <p:nvPr/>
        </p:nvSpPr>
        <p:spPr>
          <a:xfrm>
            <a:off x="10223244" y="368291"/>
            <a:ext cx="101597" cy="101597"/>
          </a:xfrm>
          <a:prstGeom prst="roundRect">
            <a:avLst>
              <a:gd name="adj" fmla="val 31250"/>
            </a:avLst>
          </a:prstGeom>
          <a:solidFill>
            <a:srgbClr val="16233F"/>
          </a:solidFill>
          <a:ln/>
        </p:spPr>
      </p:sp>
      <p:sp>
        <p:nvSpPr>
          <p:cNvPr id="36" name="shape 14.35"/>
          <p:cNvSpPr/>
          <p:nvPr/>
        </p:nvSpPr>
        <p:spPr>
          <a:xfrm>
            <a:off x="10388340" y="368291"/>
            <a:ext cx="101597" cy="101597"/>
          </a:xfrm>
          <a:prstGeom prst="roundRect">
            <a:avLst>
              <a:gd name="adj" fmla="val 31250"/>
            </a:avLst>
          </a:prstGeom>
          <a:solidFill>
            <a:srgbClr val="16233F"/>
          </a:solidFill>
          <a:ln/>
        </p:spPr>
      </p:sp>
      <p:sp>
        <p:nvSpPr>
          <p:cNvPr id="37" name="shape 14.36"/>
          <p:cNvSpPr/>
          <p:nvPr/>
        </p:nvSpPr>
        <p:spPr>
          <a:xfrm>
            <a:off x="10553436" y="368291"/>
            <a:ext cx="101597" cy="101597"/>
          </a:xfrm>
          <a:prstGeom prst="roundRect">
            <a:avLst>
              <a:gd name="adj" fmla="val 31250"/>
            </a:avLst>
          </a:prstGeom>
          <a:solidFill>
            <a:srgbClr val="FF6B1F"/>
          </a:solidFill>
          <a:ln/>
        </p:spPr>
      </p:sp>
      <p:sp>
        <p:nvSpPr>
          <p:cNvPr id="38" name="shape 14.37"/>
          <p:cNvSpPr/>
          <p:nvPr/>
        </p:nvSpPr>
        <p:spPr>
          <a:xfrm>
            <a:off x="10718532" y="368291"/>
            <a:ext cx="101597" cy="101597"/>
          </a:xfrm>
          <a:prstGeom prst="roundRect">
            <a:avLst>
              <a:gd name="adj" fmla="val 31250"/>
            </a:avLst>
          </a:prstGeom>
          <a:solidFill>
            <a:srgbClr val="C7D4E8"/>
          </a:solidFill>
          <a:ln/>
        </p:spPr>
      </p:sp>
      <p:sp>
        <p:nvSpPr>
          <p:cNvPr id="39" name="shape 14.38"/>
          <p:cNvSpPr/>
          <p:nvPr/>
        </p:nvSpPr>
        <p:spPr>
          <a:xfrm>
            <a:off x="10883628" y="368291"/>
            <a:ext cx="101597" cy="101597"/>
          </a:xfrm>
          <a:prstGeom prst="roundRect">
            <a:avLst>
              <a:gd name="adj" fmla="val 31250"/>
            </a:avLst>
          </a:prstGeom>
          <a:solidFill>
            <a:srgbClr val="C7D4E8"/>
          </a:solidFill>
          <a:ln/>
        </p:spPr>
      </p:sp>
      <p:sp>
        <p:nvSpPr>
          <p:cNvPr id="40" name="text 14.3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41" name="text 14.40"/>
          <p:cNvSpPr txBox="1"/>
          <p:nvPr/>
        </p:nvSpPr>
        <p:spPr>
          <a:xfrm>
            <a:off x="927077" y="349241"/>
            <a:ext cx="954808"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04 · Innovation</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5.1"/>
          <p:cNvSpPr/>
          <p:nvPr/>
        </p:nvSpPr>
        <p:spPr>
          <a:xfrm>
            <a:off x="609585" y="1714457"/>
            <a:ext cx="5714857" cy="3301917"/>
          </a:xfrm>
          <a:prstGeom prst="roundRect">
            <a:avLst>
              <a:gd name="adj" fmla="val 5769"/>
            </a:avLst>
          </a:prstGeom>
          <a:solidFill>
            <a:srgbClr val="FFFFFF"/>
          </a:solidFill>
          <a:ln w="571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15.2 adj4183" descr="arche_full.png">    </p:cNvPr>
          <p:cNvPicPr>
            <a:picLocks noChangeAspect="1"/>
          </p:cNvPicPr>
          <p:nvPr/>
        </p:nvPicPr>
        <p:blipFill>
          <a:blip r:embed="rId2"/>
          <a:stretch>
            <a:fillRect/>
          </a:stretch>
        </p:blipFill>
        <p:spPr>
          <a:xfrm>
            <a:off x="666733" y="1771606"/>
            <a:ext cx="5600560" cy="3187620"/>
          </a:xfrm>
          <a:prstGeom prst="roundRect">
            <a:avLst>
              <a:gd name="adj" fmla="val 4183"/>
            </a:avLst>
          </a:prstGeom>
        </p:spPr>
      </p:pic>
      <p:sp>
        <p:nvSpPr>
          <p:cNvPr id="4" name="shape 15.3"/>
          <p:cNvSpPr/>
          <p:nvPr/>
        </p:nvSpPr>
        <p:spPr>
          <a:xfrm>
            <a:off x="6832429" y="1714457"/>
            <a:ext cx="4749681" cy="1206470"/>
          </a:xfrm>
          <a:prstGeom prst="roundRect">
            <a:avLst>
              <a:gd name="adj" fmla="val 14737"/>
            </a:avLst>
          </a:prstGeom>
          <a:solidFill>
            <a:srgbClr val="FFFFFF"/>
          </a:solidFill>
          <a:ln/>
          <a:effectLst>
            <a:outerShdw sx="100000" sy="100000" kx="0" ky="0" algn="bl" rotWithShape="0" blurRad="203200" dist="76200" dir="5400000">
              <a:srgbClr val="1E468C">
                <a:alpha val="16000"/>
              </a:srgbClr>
            </a:outerShdw>
          </a:effectLst>
        </p:spPr>
      </p:sp>
      <p:sp>
        <p:nvSpPr>
          <p:cNvPr id="5" name="shape 15.4"/>
          <p:cNvSpPr/>
          <p:nvPr/>
        </p:nvSpPr>
        <p:spPr>
          <a:xfrm>
            <a:off x="6832429" y="3047924"/>
            <a:ext cx="4749681" cy="1206470"/>
          </a:xfrm>
          <a:prstGeom prst="roundRect">
            <a:avLst>
              <a:gd name="adj" fmla="val 14737"/>
            </a:avLst>
          </a:prstGeom>
          <a:solidFill>
            <a:srgbClr val="FFFFFF"/>
          </a:solidFill>
          <a:ln/>
          <a:effectLst>
            <a:outerShdw sx="100000" sy="100000" kx="0" ky="0" algn="bl" rotWithShape="0" blurRad="203200" dist="76200" dir="5400000">
              <a:srgbClr val="1E468C">
                <a:alpha val="16000"/>
              </a:srgbClr>
            </a:outerShdw>
          </a:effectLst>
        </p:spPr>
      </p:sp>
      <p:sp>
        <p:nvSpPr>
          <p:cNvPr id="6" name="shape 15.5"/>
          <p:cNvSpPr/>
          <p:nvPr/>
        </p:nvSpPr>
        <p:spPr>
          <a:xfrm>
            <a:off x="6832429" y="4381390"/>
            <a:ext cx="4749681" cy="1206470"/>
          </a:xfrm>
          <a:prstGeom prst="roundRect">
            <a:avLst>
              <a:gd name="adj" fmla="val 14737"/>
            </a:avLst>
          </a:prstGeom>
          <a:solidFill>
            <a:srgbClr val="FFFFFF"/>
          </a:solidFill>
          <a:ln/>
          <a:effectLst>
            <a:outerShdw sx="100000" sy="100000" kx="0" ky="0" algn="bl" rotWithShape="0" blurRad="203200" dist="76200" dir="5400000">
              <a:srgbClr val="1E468C">
                <a:alpha val="16000"/>
              </a:srgbClr>
            </a:outerShdw>
          </a:effectLst>
        </p:spPr>
      </p:sp>
      <p:sp>
        <p:nvSpPr>
          <p:cNvPr id="7" name="text 15.6"/>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Same rules, different builds: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starting mass sets how far you fly</a:t>
            </a:r>
            <a:endParaRPr lang="en-US" sz="2700" dirty="0"/>
          </a:p>
        </p:txBody>
      </p:sp>
      <p:sp>
        <p:nvSpPr>
          <p:cNvPr id="8" name="text 15.7"/>
          <p:cNvSpPr txBox="1"/>
          <p:nvPr/>
        </p:nvSpPr>
        <p:spPr>
          <a:xfrm>
            <a:off x="609585" y="5117972"/>
            <a:ext cx="5752956"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FIG 4 · Heavy, balanced and light builds of the same character. Concept render, AI-generated.</a:t>
            </a:r>
            <a:endParaRPr lang="en-US" sz="850" dirty="0"/>
          </a:p>
        </p:txBody>
      </p:sp>
      <p:sp>
        <p:nvSpPr>
          <p:cNvPr id="9" name="text 15.8"/>
          <p:cNvSpPr txBox="1"/>
          <p:nvPr/>
        </p:nvSpPr>
        <p:spPr>
          <a:xfrm>
            <a:off x="609585" y="5524362"/>
            <a:ext cx="575295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Weight classes are standard in the genre (e.g. Mario Kart). Here starting mass feeds the knockback rule directly, so a build changes how you play, not only how you look.</a:t>
            </a:r>
            <a:endParaRPr lang="en-US" sz="1050" dirty="0"/>
          </a:p>
        </p:txBody>
      </p:sp>
      <p:pic>
        <p:nvPicPr>
          <p:cNvPr id="10" name="raster 15.9" descr="diagram">    </p:cNvPr>
          <p:cNvPicPr>
            <a:picLocks noChangeAspect="1"/>
          </p:cNvPicPr>
          <p:nvPr/>
        </p:nvPicPr>
        <p:blipFill>
          <a:blip r:embed="rId3"/>
          <a:stretch>
            <a:fillRect/>
          </a:stretch>
        </p:blipFill>
        <p:spPr>
          <a:xfrm>
            <a:off x="6997525" y="1866853"/>
            <a:ext cx="406390" cy="406390"/>
          </a:xfrm>
          <a:prstGeom prst="rect">
            <a:avLst/>
          </a:prstGeom>
        </p:spPr>
      </p:pic>
      <p:sp>
        <p:nvSpPr>
          <p:cNvPr id="11" name="text 15.10"/>
          <p:cNvSpPr txBox="1"/>
          <p:nvPr/>
        </p:nvSpPr>
        <p:spPr>
          <a:xfrm>
            <a:off x="7505512" y="1955751"/>
            <a:ext cx="792216" cy="228594"/>
          </a:xfrm>
          <a:prstGeom prst="rect">
            <a:avLst/>
          </a:prstGeom>
          <a:noFill/>
          <a:ln/>
        </p:spPr>
        <p:txBody>
          <a:bodyPr wrap="square" lIns="0" tIns="0" rIns="0" bIns="0" rtlCol="0" anchor="t"/>
          <a:lstStyle/>
          <a:p>
            <a:pPr algn="l"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Heavy</a:t>
            </a:r>
            <a:endParaRPr lang="en-US" sz="1800" dirty="0"/>
          </a:p>
        </p:txBody>
      </p:sp>
      <p:sp>
        <p:nvSpPr>
          <p:cNvPr id="12" name="text 15.11"/>
          <p:cNvSpPr txBox="1"/>
          <p:nvPr/>
        </p:nvSpPr>
        <p:spPr>
          <a:xfrm>
            <a:off x="7010225" y="2324042"/>
            <a:ext cx="2641534"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More starting mass: harder to push off the edge.</a:t>
            </a:r>
            <a:endParaRPr lang="en-US" sz="1050" dirty="0"/>
          </a:p>
        </p:txBody>
      </p:sp>
      <p:sp>
        <p:nvSpPr>
          <p:cNvPr id="13" name="text 15.12"/>
          <p:cNvSpPr txBox="1"/>
          <p:nvPr/>
        </p:nvSpPr>
        <p:spPr>
          <a:xfrm>
            <a:off x="9753356" y="1993850"/>
            <a:ext cx="104935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STARTING MASS</a:t>
            </a:r>
            <a:endParaRPr lang="en-US" sz="750" dirty="0"/>
          </a:p>
        </p:txBody>
      </p:sp>
      <p:sp>
        <p:nvSpPr>
          <p:cNvPr id="14" name="text 15.13"/>
          <p:cNvSpPr txBox="1"/>
          <p:nvPr/>
        </p:nvSpPr>
        <p:spPr>
          <a:xfrm>
            <a:off x="9753356" y="2425639"/>
            <a:ext cx="127536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KNOCKBACK TAKEN</a:t>
            </a:r>
            <a:endParaRPr lang="en-US" sz="750" dirty="0"/>
          </a:p>
        </p:txBody>
      </p:sp>
      <p:sp>
        <p:nvSpPr>
          <p:cNvPr id="15" name="shape 15.14"/>
          <p:cNvSpPr/>
          <p:nvPr/>
        </p:nvSpPr>
        <p:spPr>
          <a:xfrm>
            <a:off x="9753356" y="2158946"/>
            <a:ext cx="266693" cy="114297"/>
          </a:xfrm>
          <a:prstGeom prst="roundRect">
            <a:avLst>
              <a:gd name="adj" fmla="val 50000"/>
            </a:avLst>
          </a:prstGeom>
          <a:solidFill>
            <a:srgbClr val="8F55F5"/>
          </a:solidFill>
          <a:ln/>
        </p:spPr>
      </p:sp>
      <p:sp>
        <p:nvSpPr>
          <p:cNvPr id="16" name="shape 15.15"/>
          <p:cNvSpPr/>
          <p:nvPr/>
        </p:nvSpPr>
        <p:spPr>
          <a:xfrm>
            <a:off x="10070848" y="2158946"/>
            <a:ext cx="266693" cy="114297"/>
          </a:xfrm>
          <a:prstGeom prst="roundRect">
            <a:avLst>
              <a:gd name="adj" fmla="val 50000"/>
            </a:avLst>
          </a:prstGeom>
          <a:solidFill>
            <a:srgbClr val="8F55F5"/>
          </a:solidFill>
          <a:ln/>
        </p:spPr>
      </p:sp>
      <p:sp>
        <p:nvSpPr>
          <p:cNvPr id="17" name="shape 15.16"/>
          <p:cNvSpPr/>
          <p:nvPr/>
        </p:nvSpPr>
        <p:spPr>
          <a:xfrm>
            <a:off x="10388340" y="2158946"/>
            <a:ext cx="266693" cy="114297"/>
          </a:xfrm>
          <a:prstGeom prst="roundRect">
            <a:avLst>
              <a:gd name="adj" fmla="val 50000"/>
            </a:avLst>
          </a:prstGeom>
          <a:solidFill>
            <a:srgbClr val="8F55F5"/>
          </a:solidFill>
          <a:ln/>
        </p:spPr>
      </p:sp>
      <p:sp>
        <p:nvSpPr>
          <p:cNvPr id="18" name="shape 15.17"/>
          <p:cNvSpPr/>
          <p:nvPr/>
        </p:nvSpPr>
        <p:spPr>
          <a:xfrm>
            <a:off x="10705832" y="2158946"/>
            <a:ext cx="266693" cy="114297"/>
          </a:xfrm>
          <a:prstGeom prst="roundRect">
            <a:avLst>
              <a:gd name="adj" fmla="val 50000"/>
            </a:avLst>
          </a:prstGeom>
          <a:solidFill>
            <a:srgbClr val="8F55F5"/>
          </a:solidFill>
          <a:ln/>
        </p:spPr>
      </p:sp>
      <p:sp>
        <p:nvSpPr>
          <p:cNvPr id="19" name="shape 15.18"/>
          <p:cNvSpPr/>
          <p:nvPr/>
        </p:nvSpPr>
        <p:spPr>
          <a:xfrm>
            <a:off x="11023324" y="2158946"/>
            <a:ext cx="266693" cy="114297"/>
          </a:xfrm>
          <a:prstGeom prst="roundRect">
            <a:avLst>
              <a:gd name="adj" fmla="val 50000"/>
            </a:avLst>
          </a:prstGeom>
          <a:solidFill>
            <a:srgbClr val="8F55F5"/>
          </a:solidFill>
          <a:ln/>
        </p:spPr>
      </p:sp>
      <p:sp>
        <p:nvSpPr>
          <p:cNvPr id="20" name="shape 15.19"/>
          <p:cNvSpPr/>
          <p:nvPr/>
        </p:nvSpPr>
        <p:spPr>
          <a:xfrm>
            <a:off x="9753356" y="2590735"/>
            <a:ext cx="266693" cy="114297"/>
          </a:xfrm>
          <a:prstGeom prst="roundRect">
            <a:avLst>
              <a:gd name="adj" fmla="val 50000"/>
            </a:avLst>
          </a:prstGeom>
          <a:solidFill>
            <a:srgbClr val="8F55F5"/>
          </a:solidFill>
          <a:ln/>
        </p:spPr>
      </p:sp>
      <p:sp>
        <p:nvSpPr>
          <p:cNvPr id="21" name="shape 15.20"/>
          <p:cNvSpPr/>
          <p:nvPr/>
        </p:nvSpPr>
        <p:spPr>
          <a:xfrm>
            <a:off x="10070848" y="2590735"/>
            <a:ext cx="266693" cy="114297"/>
          </a:xfrm>
          <a:prstGeom prst="roundRect">
            <a:avLst>
              <a:gd name="adj" fmla="val 50000"/>
            </a:avLst>
          </a:prstGeom>
          <a:solidFill>
            <a:srgbClr val="8F55F5"/>
          </a:solidFill>
          <a:ln/>
        </p:spPr>
      </p:sp>
      <p:sp>
        <p:nvSpPr>
          <p:cNvPr id="22" name="shape 15.21"/>
          <p:cNvSpPr/>
          <p:nvPr/>
        </p:nvSpPr>
        <p:spPr>
          <a:xfrm>
            <a:off x="10388340" y="2590735"/>
            <a:ext cx="266693" cy="114297"/>
          </a:xfrm>
          <a:prstGeom prst="roundRect">
            <a:avLst>
              <a:gd name="adj" fmla="val 50000"/>
            </a:avLst>
          </a:prstGeom>
          <a:solidFill>
            <a:srgbClr val="E4EDF9"/>
          </a:solidFill>
          <a:ln/>
        </p:spPr>
      </p:sp>
      <p:sp>
        <p:nvSpPr>
          <p:cNvPr id="23" name="shape 15.22"/>
          <p:cNvSpPr/>
          <p:nvPr/>
        </p:nvSpPr>
        <p:spPr>
          <a:xfrm>
            <a:off x="10705832" y="2590735"/>
            <a:ext cx="266693" cy="114297"/>
          </a:xfrm>
          <a:prstGeom prst="roundRect">
            <a:avLst>
              <a:gd name="adj" fmla="val 50000"/>
            </a:avLst>
          </a:prstGeom>
          <a:solidFill>
            <a:srgbClr val="E4EDF9"/>
          </a:solidFill>
          <a:ln/>
        </p:spPr>
      </p:sp>
      <p:sp>
        <p:nvSpPr>
          <p:cNvPr id="24" name="shape 15.23"/>
          <p:cNvSpPr/>
          <p:nvPr/>
        </p:nvSpPr>
        <p:spPr>
          <a:xfrm>
            <a:off x="11023324" y="2590735"/>
            <a:ext cx="266693" cy="114297"/>
          </a:xfrm>
          <a:prstGeom prst="roundRect">
            <a:avLst>
              <a:gd name="adj" fmla="val 50000"/>
            </a:avLst>
          </a:prstGeom>
          <a:solidFill>
            <a:srgbClr val="E4EDF9"/>
          </a:solidFill>
          <a:ln/>
        </p:spPr>
      </p:sp>
      <p:pic>
        <p:nvPicPr>
          <p:cNvPr id="25" name="raster 15.24" descr="diagram">    </p:cNvPr>
          <p:cNvPicPr>
            <a:picLocks noChangeAspect="1"/>
          </p:cNvPicPr>
          <p:nvPr/>
        </p:nvPicPr>
        <p:blipFill>
          <a:blip r:embed="rId4"/>
          <a:stretch>
            <a:fillRect/>
          </a:stretch>
        </p:blipFill>
        <p:spPr>
          <a:xfrm>
            <a:off x="7029274" y="3263818"/>
            <a:ext cx="342891" cy="342891"/>
          </a:xfrm>
          <a:prstGeom prst="rect">
            <a:avLst/>
          </a:prstGeom>
        </p:spPr>
      </p:pic>
      <p:sp>
        <p:nvSpPr>
          <p:cNvPr id="26" name="text 15.25"/>
          <p:cNvSpPr txBox="1"/>
          <p:nvPr/>
        </p:nvSpPr>
        <p:spPr>
          <a:xfrm>
            <a:off x="7505512" y="3289218"/>
            <a:ext cx="1177241"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Balanced</a:t>
            </a:r>
            <a:endParaRPr lang="en-US" sz="1800" dirty="0"/>
          </a:p>
        </p:txBody>
      </p:sp>
      <p:sp>
        <p:nvSpPr>
          <p:cNvPr id="27" name="text 15.26"/>
          <p:cNvSpPr txBox="1"/>
          <p:nvPr/>
        </p:nvSpPr>
        <p:spPr>
          <a:xfrm>
            <a:off x="7010225" y="3657509"/>
            <a:ext cx="2641534"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The reference build the others are tuned against.</a:t>
            </a:r>
            <a:endParaRPr lang="en-US" sz="1050" dirty="0"/>
          </a:p>
        </p:txBody>
      </p:sp>
      <p:sp>
        <p:nvSpPr>
          <p:cNvPr id="28" name="text 15.27"/>
          <p:cNvSpPr txBox="1"/>
          <p:nvPr/>
        </p:nvSpPr>
        <p:spPr>
          <a:xfrm>
            <a:off x="9753356" y="3327317"/>
            <a:ext cx="104935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STARTING MASS</a:t>
            </a:r>
            <a:endParaRPr lang="en-US" sz="750" dirty="0"/>
          </a:p>
        </p:txBody>
      </p:sp>
      <p:sp>
        <p:nvSpPr>
          <p:cNvPr id="29" name="text 15.28"/>
          <p:cNvSpPr txBox="1"/>
          <p:nvPr/>
        </p:nvSpPr>
        <p:spPr>
          <a:xfrm>
            <a:off x="9753356" y="3759106"/>
            <a:ext cx="127536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KNOCKBACK TAKEN</a:t>
            </a:r>
            <a:endParaRPr lang="en-US" sz="750" dirty="0"/>
          </a:p>
        </p:txBody>
      </p:sp>
      <p:sp>
        <p:nvSpPr>
          <p:cNvPr id="30" name="shape 15.29"/>
          <p:cNvSpPr/>
          <p:nvPr/>
        </p:nvSpPr>
        <p:spPr>
          <a:xfrm>
            <a:off x="9753356" y="3492413"/>
            <a:ext cx="266693" cy="114297"/>
          </a:xfrm>
          <a:prstGeom prst="roundRect">
            <a:avLst>
              <a:gd name="adj" fmla="val 50000"/>
            </a:avLst>
          </a:prstGeom>
          <a:solidFill>
            <a:srgbClr val="FF6B1F"/>
          </a:solidFill>
          <a:ln/>
        </p:spPr>
      </p:sp>
      <p:sp>
        <p:nvSpPr>
          <p:cNvPr id="31" name="shape 15.30"/>
          <p:cNvSpPr/>
          <p:nvPr/>
        </p:nvSpPr>
        <p:spPr>
          <a:xfrm>
            <a:off x="10070848" y="3492413"/>
            <a:ext cx="266693" cy="114297"/>
          </a:xfrm>
          <a:prstGeom prst="roundRect">
            <a:avLst>
              <a:gd name="adj" fmla="val 50000"/>
            </a:avLst>
          </a:prstGeom>
          <a:solidFill>
            <a:srgbClr val="FF6B1F"/>
          </a:solidFill>
          <a:ln/>
        </p:spPr>
      </p:sp>
      <p:sp>
        <p:nvSpPr>
          <p:cNvPr id="32" name="shape 15.31"/>
          <p:cNvSpPr/>
          <p:nvPr/>
        </p:nvSpPr>
        <p:spPr>
          <a:xfrm>
            <a:off x="10388340" y="3492413"/>
            <a:ext cx="266693" cy="114297"/>
          </a:xfrm>
          <a:prstGeom prst="roundRect">
            <a:avLst>
              <a:gd name="adj" fmla="val 50000"/>
            </a:avLst>
          </a:prstGeom>
          <a:solidFill>
            <a:srgbClr val="FF6B1F"/>
          </a:solidFill>
          <a:ln/>
        </p:spPr>
      </p:sp>
      <p:sp>
        <p:nvSpPr>
          <p:cNvPr id="33" name="shape 15.32"/>
          <p:cNvSpPr/>
          <p:nvPr/>
        </p:nvSpPr>
        <p:spPr>
          <a:xfrm>
            <a:off x="10705832" y="3492413"/>
            <a:ext cx="266693" cy="114297"/>
          </a:xfrm>
          <a:prstGeom prst="roundRect">
            <a:avLst>
              <a:gd name="adj" fmla="val 50000"/>
            </a:avLst>
          </a:prstGeom>
          <a:solidFill>
            <a:srgbClr val="E4EDF9"/>
          </a:solidFill>
          <a:ln/>
        </p:spPr>
      </p:sp>
      <p:sp>
        <p:nvSpPr>
          <p:cNvPr id="34" name="shape 15.33"/>
          <p:cNvSpPr/>
          <p:nvPr/>
        </p:nvSpPr>
        <p:spPr>
          <a:xfrm>
            <a:off x="11023324" y="3492413"/>
            <a:ext cx="266693" cy="114297"/>
          </a:xfrm>
          <a:prstGeom prst="roundRect">
            <a:avLst>
              <a:gd name="adj" fmla="val 50000"/>
            </a:avLst>
          </a:prstGeom>
          <a:solidFill>
            <a:srgbClr val="E4EDF9"/>
          </a:solidFill>
          <a:ln/>
        </p:spPr>
      </p:sp>
      <p:sp>
        <p:nvSpPr>
          <p:cNvPr id="35" name="shape 15.34"/>
          <p:cNvSpPr/>
          <p:nvPr/>
        </p:nvSpPr>
        <p:spPr>
          <a:xfrm>
            <a:off x="9753356" y="3924202"/>
            <a:ext cx="266693" cy="114297"/>
          </a:xfrm>
          <a:prstGeom prst="roundRect">
            <a:avLst>
              <a:gd name="adj" fmla="val 50000"/>
            </a:avLst>
          </a:prstGeom>
          <a:solidFill>
            <a:srgbClr val="FF6B1F"/>
          </a:solidFill>
          <a:ln/>
        </p:spPr>
      </p:sp>
      <p:sp>
        <p:nvSpPr>
          <p:cNvPr id="36" name="shape 15.35"/>
          <p:cNvSpPr/>
          <p:nvPr/>
        </p:nvSpPr>
        <p:spPr>
          <a:xfrm>
            <a:off x="10070848" y="3924202"/>
            <a:ext cx="266693" cy="114297"/>
          </a:xfrm>
          <a:prstGeom prst="roundRect">
            <a:avLst>
              <a:gd name="adj" fmla="val 50000"/>
            </a:avLst>
          </a:prstGeom>
          <a:solidFill>
            <a:srgbClr val="FF6B1F"/>
          </a:solidFill>
          <a:ln/>
        </p:spPr>
      </p:sp>
      <p:sp>
        <p:nvSpPr>
          <p:cNvPr id="37" name="shape 15.36"/>
          <p:cNvSpPr/>
          <p:nvPr/>
        </p:nvSpPr>
        <p:spPr>
          <a:xfrm>
            <a:off x="10388340" y="3924202"/>
            <a:ext cx="266693" cy="114297"/>
          </a:xfrm>
          <a:prstGeom prst="roundRect">
            <a:avLst>
              <a:gd name="adj" fmla="val 50000"/>
            </a:avLst>
          </a:prstGeom>
          <a:solidFill>
            <a:srgbClr val="FF6B1F"/>
          </a:solidFill>
          <a:ln/>
        </p:spPr>
      </p:sp>
      <p:sp>
        <p:nvSpPr>
          <p:cNvPr id="38" name="shape 15.37"/>
          <p:cNvSpPr/>
          <p:nvPr/>
        </p:nvSpPr>
        <p:spPr>
          <a:xfrm>
            <a:off x="10705832" y="3924202"/>
            <a:ext cx="266693" cy="114297"/>
          </a:xfrm>
          <a:prstGeom prst="roundRect">
            <a:avLst>
              <a:gd name="adj" fmla="val 50000"/>
            </a:avLst>
          </a:prstGeom>
          <a:solidFill>
            <a:srgbClr val="E4EDF9"/>
          </a:solidFill>
          <a:ln/>
        </p:spPr>
      </p:sp>
      <p:sp>
        <p:nvSpPr>
          <p:cNvPr id="39" name="shape 15.38"/>
          <p:cNvSpPr/>
          <p:nvPr/>
        </p:nvSpPr>
        <p:spPr>
          <a:xfrm>
            <a:off x="11023324" y="3924202"/>
            <a:ext cx="266693" cy="114297"/>
          </a:xfrm>
          <a:prstGeom prst="roundRect">
            <a:avLst>
              <a:gd name="adj" fmla="val 50000"/>
            </a:avLst>
          </a:prstGeom>
          <a:solidFill>
            <a:srgbClr val="E4EDF9"/>
          </a:solidFill>
          <a:ln/>
        </p:spPr>
      </p:sp>
      <p:pic>
        <p:nvPicPr>
          <p:cNvPr id="40" name="raster 15.39" descr="diagram">    </p:cNvPr>
          <p:cNvPicPr>
            <a:picLocks noChangeAspect="1"/>
          </p:cNvPicPr>
          <p:nvPr/>
        </p:nvPicPr>
        <p:blipFill>
          <a:blip r:embed="rId5"/>
          <a:stretch>
            <a:fillRect/>
          </a:stretch>
        </p:blipFill>
        <p:spPr>
          <a:xfrm>
            <a:off x="7061023" y="4660783"/>
            <a:ext cx="279393" cy="279393"/>
          </a:xfrm>
          <a:prstGeom prst="rect">
            <a:avLst/>
          </a:prstGeom>
        </p:spPr>
      </p:pic>
      <p:sp>
        <p:nvSpPr>
          <p:cNvPr id="41" name="text 15.40"/>
          <p:cNvSpPr txBox="1"/>
          <p:nvPr/>
        </p:nvSpPr>
        <p:spPr>
          <a:xfrm>
            <a:off x="7505512" y="4622684"/>
            <a:ext cx="659177" cy="228594"/>
          </a:xfrm>
          <a:prstGeom prst="rect">
            <a:avLst/>
          </a:prstGeom>
          <a:noFill/>
          <a:ln/>
        </p:spPr>
        <p:txBody>
          <a:bodyPr wrap="square" lIns="0" tIns="0" rIns="0" bIns="0" rtlCol="0" anchor="t"/>
          <a:lstStyle/>
          <a:p>
            <a:pPr algn="l" indent="0" marL="0">
              <a:lnSpc>
                <a:spcPts val="1800"/>
              </a:lnSpc>
              <a:buNone/>
            </a:pPr>
            <a:r>
              <a:rPr lang="en-US" sz="1800" dirty="0">
                <a:solidFill>
                  <a:srgbClr val="43B832"/>
                </a:solidFill>
                <a:latin typeface="Arial Rounded MT Bold" pitchFamily="34" charset="0"/>
                <a:ea typeface="Arial Rounded MT Bold" pitchFamily="34" charset="-122"/>
                <a:cs typeface="Arial Rounded MT Bold" pitchFamily="34" charset="-120"/>
              </a:rPr>
              <a:t>Light</a:t>
            </a:r>
            <a:endParaRPr lang="en-US" sz="1800" dirty="0"/>
          </a:p>
        </p:txBody>
      </p:sp>
      <p:sp>
        <p:nvSpPr>
          <p:cNvPr id="42" name="text 15.41"/>
          <p:cNvSpPr txBox="1"/>
          <p:nvPr/>
        </p:nvSpPr>
        <p:spPr>
          <a:xfrm>
            <a:off x="7010225" y="4990975"/>
            <a:ext cx="2641534" cy="362536"/>
          </a:xfrm>
          <a:prstGeom prst="rect">
            <a:avLst/>
          </a:prstGeom>
          <a:noFill/>
          <a:ln/>
        </p:spPr>
        <p:txBody>
          <a:bodyPr wrap="square" lIns="0" tIns="0" rIns="0" bIns="0" rtlCol="0" anchor="t"/>
          <a:lstStyle/>
          <a:p>
            <a:pPr algn="l" indent="0" marL="0">
              <a:lnSpc>
                <a:spcPts val="1430"/>
              </a:lnSpc>
              <a:buNone/>
            </a:pPr>
            <a:r>
              <a:rPr lang="en-US" sz="1050" dirty="0">
                <a:solidFill>
                  <a:srgbClr val="3B4A66"/>
                </a:solidFill>
                <a:latin typeface="Arial" pitchFamily="34" charset="0"/>
                <a:ea typeface="Arial" pitchFamily="34" charset="-122"/>
                <a:cs typeface="Arial" pitchFamily="34" charset="-120"/>
              </a:rPr>
              <a:t>Less starting mass: flies further when hit, jumps higher where jumping is on.</a:t>
            </a:r>
            <a:endParaRPr lang="en-US" sz="1050" dirty="0"/>
          </a:p>
        </p:txBody>
      </p:sp>
      <p:sp>
        <p:nvSpPr>
          <p:cNvPr id="43" name="text 15.42"/>
          <p:cNvSpPr txBox="1"/>
          <p:nvPr/>
        </p:nvSpPr>
        <p:spPr>
          <a:xfrm>
            <a:off x="9753356" y="4660783"/>
            <a:ext cx="104935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STARTING MASS</a:t>
            </a:r>
            <a:endParaRPr lang="en-US" sz="750" dirty="0"/>
          </a:p>
        </p:txBody>
      </p:sp>
      <p:sp>
        <p:nvSpPr>
          <p:cNvPr id="44" name="text 15.43"/>
          <p:cNvSpPr txBox="1"/>
          <p:nvPr/>
        </p:nvSpPr>
        <p:spPr>
          <a:xfrm>
            <a:off x="9753356" y="5092573"/>
            <a:ext cx="127536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KNOCKBACK TAKEN</a:t>
            </a:r>
            <a:endParaRPr lang="en-US" sz="750" dirty="0"/>
          </a:p>
        </p:txBody>
      </p:sp>
      <p:sp>
        <p:nvSpPr>
          <p:cNvPr id="45" name="shape 15.44"/>
          <p:cNvSpPr/>
          <p:nvPr/>
        </p:nvSpPr>
        <p:spPr>
          <a:xfrm>
            <a:off x="9753356" y="4825879"/>
            <a:ext cx="266693" cy="114297"/>
          </a:xfrm>
          <a:prstGeom prst="roundRect">
            <a:avLst>
              <a:gd name="adj" fmla="val 50000"/>
            </a:avLst>
          </a:prstGeom>
          <a:solidFill>
            <a:srgbClr val="43B832"/>
          </a:solidFill>
          <a:ln/>
        </p:spPr>
      </p:sp>
      <p:sp>
        <p:nvSpPr>
          <p:cNvPr id="46" name="shape 15.45"/>
          <p:cNvSpPr/>
          <p:nvPr/>
        </p:nvSpPr>
        <p:spPr>
          <a:xfrm>
            <a:off x="10070848" y="4825879"/>
            <a:ext cx="266693" cy="114297"/>
          </a:xfrm>
          <a:prstGeom prst="roundRect">
            <a:avLst>
              <a:gd name="adj" fmla="val 50000"/>
            </a:avLst>
          </a:prstGeom>
          <a:solidFill>
            <a:srgbClr val="43B832"/>
          </a:solidFill>
          <a:ln/>
        </p:spPr>
      </p:sp>
      <p:sp>
        <p:nvSpPr>
          <p:cNvPr id="47" name="shape 15.46"/>
          <p:cNvSpPr/>
          <p:nvPr/>
        </p:nvSpPr>
        <p:spPr>
          <a:xfrm>
            <a:off x="10388340" y="4825879"/>
            <a:ext cx="266693" cy="114297"/>
          </a:xfrm>
          <a:prstGeom prst="roundRect">
            <a:avLst>
              <a:gd name="adj" fmla="val 50000"/>
            </a:avLst>
          </a:prstGeom>
          <a:solidFill>
            <a:srgbClr val="E4EDF9"/>
          </a:solidFill>
          <a:ln/>
        </p:spPr>
      </p:sp>
      <p:sp>
        <p:nvSpPr>
          <p:cNvPr id="48" name="shape 15.47"/>
          <p:cNvSpPr/>
          <p:nvPr/>
        </p:nvSpPr>
        <p:spPr>
          <a:xfrm>
            <a:off x="10705832" y="4825879"/>
            <a:ext cx="266693" cy="114297"/>
          </a:xfrm>
          <a:prstGeom prst="roundRect">
            <a:avLst>
              <a:gd name="adj" fmla="val 50000"/>
            </a:avLst>
          </a:prstGeom>
          <a:solidFill>
            <a:srgbClr val="E4EDF9"/>
          </a:solidFill>
          <a:ln/>
        </p:spPr>
      </p:sp>
      <p:sp>
        <p:nvSpPr>
          <p:cNvPr id="49" name="shape 15.48"/>
          <p:cNvSpPr/>
          <p:nvPr/>
        </p:nvSpPr>
        <p:spPr>
          <a:xfrm>
            <a:off x="11023324" y="4825879"/>
            <a:ext cx="266693" cy="114297"/>
          </a:xfrm>
          <a:prstGeom prst="roundRect">
            <a:avLst>
              <a:gd name="adj" fmla="val 50000"/>
            </a:avLst>
          </a:prstGeom>
          <a:solidFill>
            <a:srgbClr val="E4EDF9"/>
          </a:solidFill>
          <a:ln/>
        </p:spPr>
      </p:sp>
      <p:sp>
        <p:nvSpPr>
          <p:cNvPr id="50" name="shape 15.49"/>
          <p:cNvSpPr/>
          <p:nvPr/>
        </p:nvSpPr>
        <p:spPr>
          <a:xfrm>
            <a:off x="9753356" y="5257669"/>
            <a:ext cx="266693" cy="114297"/>
          </a:xfrm>
          <a:prstGeom prst="roundRect">
            <a:avLst>
              <a:gd name="adj" fmla="val 50000"/>
            </a:avLst>
          </a:prstGeom>
          <a:solidFill>
            <a:srgbClr val="43B832"/>
          </a:solidFill>
          <a:ln/>
        </p:spPr>
      </p:sp>
      <p:sp>
        <p:nvSpPr>
          <p:cNvPr id="51" name="shape 15.50"/>
          <p:cNvSpPr/>
          <p:nvPr/>
        </p:nvSpPr>
        <p:spPr>
          <a:xfrm>
            <a:off x="10070848" y="5257669"/>
            <a:ext cx="266693" cy="114297"/>
          </a:xfrm>
          <a:prstGeom prst="roundRect">
            <a:avLst>
              <a:gd name="adj" fmla="val 50000"/>
            </a:avLst>
          </a:prstGeom>
          <a:solidFill>
            <a:srgbClr val="43B832"/>
          </a:solidFill>
          <a:ln/>
        </p:spPr>
      </p:sp>
      <p:sp>
        <p:nvSpPr>
          <p:cNvPr id="52" name="shape 15.51"/>
          <p:cNvSpPr/>
          <p:nvPr/>
        </p:nvSpPr>
        <p:spPr>
          <a:xfrm>
            <a:off x="10388340" y="5257669"/>
            <a:ext cx="266693" cy="114297"/>
          </a:xfrm>
          <a:prstGeom prst="roundRect">
            <a:avLst>
              <a:gd name="adj" fmla="val 50000"/>
            </a:avLst>
          </a:prstGeom>
          <a:solidFill>
            <a:srgbClr val="43B832"/>
          </a:solidFill>
          <a:ln/>
        </p:spPr>
      </p:sp>
      <p:sp>
        <p:nvSpPr>
          <p:cNvPr id="53" name="shape 15.52"/>
          <p:cNvSpPr/>
          <p:nvPr/>
        </p:nvSpPr>
        <p:spPr>
          <a:xfrm>
            <a:off x="10705832" y="5257669"/>
            <a:ext cx="266693" cy="114297"/>
          </a:xfrm>
          <a:prstGeom prst="roundRect">
            <a:avLst>
              <a:gd name="adj" fmla="val 50000"/>
            </a:avLst>
          </a:prstGeom>
          <a:solidFill>
            <a:srgbClr val="43B832"/>
          </a:solidFill>
          <a:ln/>
        </p:spPr>
      </p:sp>
      <p:sp>
        <p:nvSpPr>
          <p:cNvPr id="54" name="shape 15.53"/>
          <p:cNvSpPr/>
          <p:nvPr/>
        </p:nvSpPr>
        <p:spPr>
          <a:xfrm>
            <a:off x="11023324" y="5257669"/>
            <a:ext cx="266693" cy="114297"/>
          </a:xfrm>
          <a:prstGeom prst="roundRect">
            <a:avLst>
              <a:gd name="adj" fmla="val 50000"/>
            </a:avLst>
          </a:prstGeom>
          <a:solidFill>
            <a:srgbClr val="43B832"/>
          </a:solidFill>
          <a:ln/>
        </p:spPr>
      </p:sp>
      <p:sp>
        <p:nvSpPr>
          <p:cNvPr id="55" name="text 15.54"/>
          <p:cNvSpPr txBox="1"/>
          <p:nvPr/>
        </p:nvSpPr>
        <p:spPr>
          <a:xfrm>
            <a:off x="6832429" y="5905352"/>
            <a:ext cx="4787780"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Idea from our design doc: selectable character types. Not in the MVP; pips are relative.</a:t>
            </a:r>
            <a:endParaRPr lang="en-US" sz="850" dirty="0"/>
          </a:p>
        </p:txBody>
      </p:sp>
      <p:sp>
        <p:nvSpPr>
          <p:cNvPr id="56" name="shape 15.55"/>
          <p:cNvSpPr/>
          <p:nvPr/>
        </p:nvSpPr>
        <p:spPr>
          <a:xfrm>
            <a:off x="609585" y="266693"/>
            <a:ext cx="144141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57" name="shape 15.56"/>
          <p:cNvSpPr/>
          <p:nvPr/>
        </p:nvSpPr>
        <p:spPr>
          <a:xfrm>
            <a:off x="711182" y="355591"/>
            <a:ext cx="114297" cy="114297"/>
          </a:xfrm>
          <a:prstGeom prst="roundRect">
            <a:avLst>
              <a:gd name="adj" fmla="val 33333"/>
            </a:avLst>
          </a:prstGeom>
          <a:solidFill>
            <a:srgbClr val="FF6B1F"/>
          </a:solidFill>
          <a:ln/>
        </p:spPr>
      </p:sp>
      <p:sp>
        <p:nvSpPr>
          <p:cNvPr id="58" name="shape 15.57"/>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59" name="shape 15.58"/>
          <p:cNvSpPr/>
          <p:nvPr/>
        </p:nvSpPr>
        <p:spPr>
          <a:xfrm>
            <a:off x="10058149" y="368291"/>
            <a:ext cx="101597" cy="101597"/>
          </a:xfrm>
          <a:prstGeom prst="roundRect">
            <a:avLst>
              <a:gd name="adj" fmla="val 31250"/>
            </a:avLst>
          </a:prstGeom>
          <a:solidFill>
            <a:srgbClr val="16233F"/>
          </a:solidFill>
          <a:ln/>
        </p:spPr>
      </p:sp>
      <p:sp>
        <p:nvSpPr>
          <p:cNvPr id="60" name="shape 15.59"/>
          <p:cNvSpPr/>
          <p:nvPr/>
        </p:nvSpPr>
        <p:spPr>
          <a:xfrm>
            <a:off x="10223244" y="368291"/>
            <a:ext cx="101597" cy="101597"/>
          </a:xfrm>
          <a:prstGeom prst="roundRect">
            <a:avLst>
              <a:gd name="adj" fmla="val 31250"/>
            </a:avLst>
          </a:prstGeom>
          <a:solidFill>
            <a:srgbClr val="16233F"/>
          </a:solidFill>
          <a:ln/>
        </p:spPr>
      </p:sp>
      <p:sp>
        <p:nvSpPr>
          <p:cNvPr id="61" name="shape 15.60"/>
          <p:cNvSpPr/>
          <p:nvPr/>
        </p:nvSpPr>
        <p:spPr>
          <a:xfrm>
            <a:off x="10388340" y="368291"/>
            <a:ext cx="101597" cy="101597"/>
          </a:xfrm>
          <a:prstGeom prst="roundRect">
            <a:avLst>
              <a:gd name="adj" fmla="val 31250"/>
            </a:avLst>
          </a:prstGeom>
          <a:solidFill>
            <a:srgbClr val="16233F"/>
          </a:solidFill>
          <a:ln/>
        </p:spPr>
      </p:sp>
      <p:sp>
        <p:nvSpPr>
          <p:cNvPr id="62" name="shape 15.61"/>
          <p:cNvSpPr/>
          <p:nvPr/>
        </p:nvSpPr>
        <p:spPr>
          <a:xfrm>
            <a:off x="10553436" y="368291"/>
            <a:ext cx="101597" cy="101597"/>
          </a:xfrm>
          <a:prstGeom prst="roundRect">
            <a:avLst>
              <a:gd name="adj" fmla="val 31250"/>
            </a:avLst>
          </a:prstGeom>
          <a:solidFill>
            <a:srgbClr val="FF6B1F"/>
          </a:solidFill>
          <a:ln/>
        </p:spPr>
      </p:sp>
      <p:sp>
        <p:nvSpPr>
          <p:cNvPr id="63" name="shape 15.62"/>
          <p:cNvSpPr/>
          <p:nvPr/>
        </p:nvSpPr>
        <p:spPr>
          <a:xfrm>
            <a:off x="10718532" y="368291"/>
            <a:ext cx="101597" cy="101597"/>
          </a:xfrm>
          <a:prstGeom prst="roundRect">
            <a:avLst>
              <a:gd name="adj" fmla="val 31250"/>
            </a:avLst>
          </a:prstGeom>
          <a:solidFill>
            <a:srgbClr val="C7D4E8"/>
          </a:solidFill>
          <a:ln/>
        </p:spPr>
      </p:sp>
      <p:sp>
        <p:nvSpPr>
          <p:cNvPr id="64" name="shape 15.63"/>
          <p:cNvSpPr/>
          <p:nvPr/>
        </p:nvSpPr>
        <p:spPr>
          <a:xfrm>
            <a:off x="10883628" y="368291"/>
            <a:ext cx="101597" cy="101597"/>
          </a:xfrm>
          <a:prstGeom prst="roundRect">
            <a:avLst>
              <a:gd name="adj" fmla="val 31250"/>
            </a:avLst>
          </a:prstGeom>
          <a:solidFill>
            <a:srgbClr val="C7D4E8"/>
          </a:solidFill>
          <a:ln/>
        </p:spPr>
      </p:sp>
      <p:sp>
        <p:nvSpPr>
          <p:cNvPr id="65" name="text 15.6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66" name="text 15.65"/>
          <p:cNvSpPr txBox="1"/>
          <p:nvPr/>
        </p:nvSpPr>
        <p:spPr>
          <a:xfrm>
            <a:off x="927077" y="349241"/>
            <a:ext cx="954808"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04 · Innovation</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6.1"/>
          <p:cNvSpPr/>
          <p:nvPr/>
        </p:nvSpPr>
        <p:spPr>
          <a:xfrm>
            <a:off x="609585"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16.2 adj9746" descr="blk1.png">    </p:cNvPr>
          <p:cNvPicPr>
            <a:picLocks noChangeAspect="1"/>
          </p:cNvPicPr>
          <p:nvPr/>
        </p:nvPicPr>
        <p:blipFill>
          <a:blip r:embed="rId2"/>
          <a:stretch>
            <a:fillRect/>
          </a:stretch>
        </p:blipFill>
        <p:spPr>
          <a:xfrm>
            <a:off x="654034" y="1708107"/>
            <a:ext cx="2539937" cy="1498563"/>
          </a:xfrm>
          <a:prstGeom prst="roundRect">
            <a:avLst>
              <a:gd name="adj" fmla="val 9746"/>
            </a:avLst>
          </a:prstGeom>
        </p:spPr>
      </p:pic>
      <p:sp>
        <p:nvSpPr>
          <p:cNvPr id="4" name="shape 16.3"/>
          <p:cNvSpPr/>
          <p:nvPr/>
        </p:nvSpPr>
        <p:spPr>
          <a:xfrm>
            <a:off x="3390815"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5" name="img 16.4 adj9746" descr="blk2.png">    </p:cNvPr>
          <p:cNvPicPr>
            <a:picLocks noChangeAspect="1"/>
          </p:cNvPicPr>
          <p:nvPr/>
        </p:nvPicPr>
        <p:blipFill>
          <a:blip r:embed="rId3"/>
          <a:stretch>
            <a:fillRect/>
          </a:stretch>
        </p:blipFill>
        <p:spPr>
          <a:xfrm>
            <a:off x="3435264" y="1708107"/>
            <a:ext cx="2539937" cy="1498563"/>
          </a:xfrm>
          <a:prstGeom prst="roundRect">
            <a:avLst>
              <a:gd name="adj" fmla="val 9746"/>
            </a:avLst>
          </a:prstGeom>
        </p:spPr>
      </p:pic>
      <p:sp>
        <p:nvSpPr>
          <p:cNvPr id="6" name="shape 16.5"/>
          <p:cNvSpPr/>
          <p:nvPr/>
        </p:nvSpPr>
        <p:spPr>
          <a:xfrm>
            <a:off x="6172046"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7" name="img 16.6 adj9746" descr="blk3.png">    </p:cNvPr>
          <p:cNvPicPr>
            <a:picLocks noChangeAspect="1"/>
          </p:cNvPicPr>
          <p:nvPr/>
        </p:nvPicPr>
        <p:blipFill>
          <a:blip r:embed="rId4"/>
          <a:stretch>
            <a:fillRect/>
          </a:stretch>
        </p:blipFill>
        <p:spPr>
          <a:xfrm>
            <a:off x="6216495" y="1708107"/>
            <a:ext cx="2539937" cy="1498563"/>
          </a:xfrm>
          <a:prstGeom prst="roundRect">
            <a:avLst>
              <a:gd name="adj" fmla="val 9746"/>
            </a:avLst>
          </a:prstGeom>
        </p:spPr>
      </p:pic>
      <p:sp>
        <p:nvSpPr>
          <p:cNvPr id="8" name="shape 16.7"/>
          <p:cNvSpPr/>
          <p:nvPr/>
        </p:nvSpPr>
        <p:spPr>
          <a:xfrm>
            <a:off x="8953276" y="1663658"/>
            <a:ext cx="2628834" cy="1587460"/>
          </a:xfrm>
          <a:prstGeom prst="roundRect">
            <a:avLst>
              <a:gd name="adj" fmla="val 12000"/>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9" name="img 16.8 adj9746" descr="blk4.png">    </p:cNvPr>
          <p:cNvPicPr>
            <a:picLocks noChangeAspect="1"/>
          </p:cNvPicPr>
          <p:nvPr/>
        </p:nvPicPr>
        <p:blipFill>
          <a:blip r:embed="rId5"/>
          <a:stretch>
            <a:fillRect/>
          </a:stretch>
        </p:blipFill>
        <p:spPr>
          <a:xfrm>
            <a:off x="8997725" y="1708107"/>
            <a:ext cx="2539937" cy="1498563"/>
          </a:xfrm>
          <a:prstGeom prst="roundRect">
            <a:avLst>
              <a:gd name="adj" fmla="val 9746"/>
            </a:avLst>
          </a:prstGeom>
        </p:spPr>
      </p:pic>
      <p:sp>
        <p:nvSpPr>
          <p:cNvPr id="10" name="shape 16.9"/>
          <p:cNvSpPr/>
          <p:nvPr/>
        </p:nvSpPr>
        <p:spPr>
          <a:xfrm>
            <a:off x="609585" y="4190895"/>
            <a:ext cx="3555911" cy="1841454"/>
          </a:xfrm>
          <a:prstGeom prst="roundRect">
            <a:avLst>
              <a:gd name="adj" fmla="val 9655"/>
            </a:avLst>
          </a:prstGeom>
          <a:solidFill>
            <a:srgbClr val="E6F6E1"/>
          </a:solidFill>
          <a:ln/>
          <a:effectLst>
            <a:outerShdw sx="100000" sy="100000" kx="0" ky="0" algn="bl" rotWithShape="0" blurRad="203200" dist="76200" dir="5400000">
              <a:srgbClr val="1E468C">
                <a:alpha val="16000"/>
              </a:srgbClr>
            </a:outerShdw>
          </a:effectLst>
        </p:spPr>
      </p:sp>
      <p:sp>
        <p:nvSpPr>
          <p:cNvPr id="11" name="shape 16.10"/>
          <p:cNvSpPr/>
          <p:nvPr/>
        </p:nvSpPr>
        <p:spPr>
          <a:xfrm>
            <a:off x="4317892" y="4190895"/>
            <a:ext cx="3555911" cy="1841454"/>
          </a:xfrm>
          <a:prstGeom prst="roundRect">
            <a:avLst>
              <a:gd name="adj" fmla="val 9655"/>
            </a:avLst>
          </a:prstGeom>
          <a:solidFill>
            <a:srgbClr val="FFF0E6"/>
          </a:solidFill>
          <a:ln/>
          <a:effectLst>
            <a:outerShdw sx="100000" sy="100000" kx="0" ky="0" algn="bl" rotWithShape="0" blurRad="203200" dist="76200" dir="5400000">
              <a:srgbClr val="1E468C">
                <a:alpha val="16000"/>
              </a:srgbClr>
            </a:outerShdw>
          </a:effectLst>
        </p:spPr>
      </p:sp>
      <p:sp>
        <p:nvSpPr>
          <p:cNvPr id="12" name="shape 16.11"/>
          <p:cNvSpPr/>
          <p:nvPr/>
        </p:nvSpPr>
        <p:spPr>
          <a:xfrm>
            <a:off x="8026199" y="4190895"/>
            <a:ext cx="3555911" cy="1841454"/>
          </a:xfrm>
          <a:prstGeom prst="roundRect">
            <a:avLst>
              <a:gd name="adj" fmla="val 9655"/>
            </a:avLst>
          </a:prstGeom>
          <a:solidFill>
            <a:srgbClr val="E2F4FD"/>
          </a:solidFill>
          <a:ln/>
          <a:effectLst>
            <a:outerShdw sx="100000" sy="100000" kx="0" ky="0" algn="bl" rotWithShape="0" blurRad="203200" dist="76200" dir="5400000">
              <a:srgbClr val="1E468C">
                <a:alpha val="16000"/>
              </a:srgbClr>
            </a:outerShdw>
          </a:effectLst>
        </p:spPr>
      </p:sp>
      <p:pic>
        <p:nvPicPr>
          <p:cNvPr id="13" name="raster 16.12" descr="diagram">    </p:cNvPr>
          <p:cNvPicPr>
            <a:picLocks noChangeAspect="1"/>
          </p:cNvPicPr>
          <p:nvPr/>
        </p:nvPicPr>
        <p:blipFill>
          <a:blip r:embed="rId6"/>
          <a:stretch>
            <a:fillRect/>
          </a:stretch>
        </p:blipFill>
        <p:spPr>
          <a:xfrm>
            <a:off x="647684" y="3428914"/>
            <a:ext cx="10896328" cy="253994"/>
          </a:xfrm>
          <a:prstGeom prst="rect">
            <a:avLst/>
          </a:prstGeom>
        </p:spPr>
      </p:pic>
      <p:sp>
        <p:nvSpPr>
          <p:cNvPr id="14" name="text 16.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Prototype: we checked that the mass rule </a:t>
            </a:r>
            <a:pPr algn="l" indent="0" marL="0">
              <a:lnSpc>
                <a:spcPts val="3020"/>
              </a:lnSpc>
              <a:buNone/>
            </a:pPr>
            <a:r>
              <a:rPr lang="en-US" sz="2700" spc="-27" kern="0" dirty="0">
                <a:solidFill>
                  <a:srgbClr val="43B832"/>
                </a:solidFill>
                <a:latin typeface="Arial Rounded MT Bold" pitchFamily="34" charset="0"/>
                <a:ea typeface="Arial Rounded MT Bold" pitchFamily="34" charset="-122"/>
                <a:cs typeface="Arial Rounded MT Bold" pitchFamily="34" charset="-120"/>
              </a:rPr>
              <a:t>reads on screen</a:t>
            </a:r>
            <a:endParaRPr lang="en-US" sz="2700" dirty="0"/>
          </a:p>
        </p:txBody>
      </p:sp>
      <p:sp>
        <p:nvSpPr>
          <p:cNvPr id="15" name="text 16.14"/>
          <p:cNvSpPr txBox="1"/>
          <p:nvPr/>
        </p:nvSpPr>
        <p:spPr>
          <a:xfrm>
            <a:off x="609585"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16233F"/>
                </a:solidFill>
                <a:latin typeface="Arial Rounded MT Bold" pitchFamily="34" charset="0"/>
                <a:ea typeface="Arial Rounded MT Bold" pitchFamily="34" charset="-122"/>
                <a:cs typeface="Arial Rounded MT Bold" pitchFamily="34" charset="-120"/>
              </a:rPr>
              <a:t>Before</a:t>
            </a:r>
            <a:endParaRPr lang="en-US" sz="1200" dirty="0"/>
          </a:p>
        </p:txBody>
      </p:sp>
      <p:sp>
        <p:nvSpPr>
          <p:cNvPr id="16" name="text 16.15"/>
          <p:cNvSpPr txBox="1"/>
          <p:nvPr/>
        </p:nvSpPr>
        <p:spPr>
          <a:xfrm>
            <a:off x="3390815"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1</a:t>
            </a:r>
            <a:endParaRPr lang="en-US" sz="1200" dirty="0"/>
          </a:p>
        </p:txBody>
      </p:sp>
      <p:sp>
        <p:nvSpPr>
          <p:cNvPr id="17" name="text 16.16"/>
          <p:cNvSpPr txBox="1"/>
          <p:nvPr/>
        </p:nvSpPr>
        <p:spPr>
          <a:xfrm>
            <a:off x="6172046"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2</a:t>
            </a:r>
            <a:endParaRPr lang="en-US" sz="1200" dirty="0"/>
          </a:p>
        </p:txBody>
      </p:sp>
      <p:sp>
        <p:nvSpPr>
          <p:cNvPr id="18" name="text 16.17"/>
          <p:cNvSpPr txBox="1"/>
          <p:nvPr/>
        </p:nvSpPr>
        <p:spPr>
          <a:xfrm>
            <a:off x="8953276"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3</a:t>
            </a:r>
            <a:endParaRPr lang="en-US" sz="1200" dirty="0"/>
          </a:p>
        </p:txBody>
      </p:sp>
      <p:sp>
        <p:nvSpPr>
          <p:cNvPr id="19" name="text 16.18"/>
          <p:cNvSpPr txBox="1"/>
          <p:nvPr/>
        </p:nvSpPr>
        <p:spPr>
          <a:xfrm>
            <a:off x="838179" y="4432189"/>
            <a:ext cx="1152947"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43B832"/>
                </a:solidFill>
                <a:latin typeface="Arial" pitchFamily="34" charset="0"/>
                <a:ea typeface="Arial" pitchFamily="34" charset="-122"/>
                <a:cs typeface="Arial" pitchFamily="34" charset="-120"/>
              </a:rPr>
              <a:t>WHAT WE BUILT</a:t>
            </a:r>
            <a:endParaRPr lang="en-US" sz="850" dirty="0"/>
          </a:p>
        </p:txBody>
      </p:sp>
      <p:sp>
        <p:nvSpPr>
          <p:cNvPr id="20" name="text 16.19"/>
          <p:cNvSpPr txBox="1"/>
          <p:nvPr/>
        </p:nvSpPr>
        <p:spPr>
          <a:xfrm>
            <a:off x="838179" y="4686183"/>
            <a:ext cx="3136822" cy="662864"/>
          </a:xfrm>
          <a:prstGeom prst="rect">
            <a:avLst/>
          </a:prstGeom>
          <a:noFill/>
          <a:ln/>
        </p:spPr>
        <p:txBody>
          <a:bodyPr wrap="square" lIns="0" tIns="0" rIns="0" bIns="0" rtlCol="0" anchor="t"/>
          <a:lstStyle/>
          <a:p>
            <a:pPr algn="l" indent="0" marL="0">
              <a:lnSpc>
                <a:spcPts val="1740"/>
              </a:lnSpc>
              <a:buNone/>
            </a:pPr>
            <a:r>
              <a:rPr lang="en-US" sz="1200" dirty="0">
                <a:solidFill>
                  <a:srgbClr val="16233F"/>
                </a:solidFill>
                <a:latin typeface="Arial" pitchFamily="34" charset="0"/>
                <a:ea typeface="Arial" pitchFamily="34" charset="-122"/>
                <a:cs typeface="Arial" pitchFamily="34" charset="-120"/>
              </a:rPr>
              <a:t>A deterministic physics simulation of the Mass Knockout rule in Three.js, rendered frame by frame.</a:t>
            </a:r>
            <a:endParaRPr lang="en-US" sz="1200" dirty="0"/>
          </a:p>
        </p:txBody>
      </p:sp>
      <p:sp>
        <p:nvSpPr>
          <p:cNvPr id="21" name="text 16.20"/>
          <p:cNvSpPr txBox="1"/>
          <p:nvPr/>
        </p:nvSpPr>
        <p:spPr>
          <a:xfrm>
            <a:off x="4546486" y="4432189"/>
            <a:ext cx="1057768"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WHAT WE SAW</a:t>
            </a:r>
            <a:endParaRPr lang="en-US" sz="850" dirty="0"/>
          </a:p>
        </p:txBody>
      </p:sp>
      <p:sp>
        <p:nvSpPr>
          <p:cNvPr id="22" name="text 16.21"/>
          <p:cNvSpPr txBox="1"/>
          <p:nvPr/>
        </p:nvSpPr>
        <p:spPr>
          <a:xfrm>
            <a:off x="4546486" y="4686183"/>
            <a:ext cx="3136822" cy="662864"/>
          </a:xfrm>
          <a:prstGeom prst="rect">
            <a:avLst/>
          </a:prstGeom>
          <a:noFill/>
          <a:ln/>
        </p:spPr>
        <p:txBody>
          <a:bodyPr wrap="square" lIns="0" tIns="0" rIns="0" bIns="0" rtlCol="0" anchor="t"/>
          <a:lstStyle/>
          <a:p>
            <a:pPr algn="l" indent="0" marL="0">
              <a:lnSpc>
                <a:spcPts val="1740"/>
              </a:lnSpc>
              <a:buNone/>
            </a:pPr>
            <a:r>
              <a:rPr lang="en-US" sz="1200" dirty="0">
                <a:solidFill>
                  <a:srgbClr val="16233F"/>
                </a:solidFill>
                <a:latin typeface="Arial" pitchFamily="34" charset="0"/>
                <a:ea typeface="Arial" pitchFamily="34" charset="-122"/>
                <a:cs typeface="Arial" pitchFamily="34" charset="-120"/>
              </a:rPr>
              <a:t>Over three shots the target flies further each time. It also shrinks here to make the rule visible; in the game only mass drops.</a:t>
            </a:r>
            <a:endParaRPr lang="en-US" sz="1200" dirty="0"/>
          </a:p>
        </p:txBody>
      </p:sp>
      <p:sp>
        <p:nvSpPr>
          <p:cNvPr id="23" name="text 16.22"/>
          <p:cNvSpPr txBox="1"/>
          <p:nvPr/>
        </p:nvSpPr>
        <p:spPr>
          <a:xfrm>
            <a:off x="8254794" y="4432189"/>
            <a:ext cx="1138328"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FA9EA"/>
                </a:solidFill>
                <a:latin typeface="Arial" pitchFamily="34" charset="0"/>
                <a:ea typeface="Arial" pitchFamily="34" charset="-122"/>
                <a:cs typeface="Arial" pitchFamily="34" charset="-120"/>
              </a:rPr>
              <a:t>HOW WE USE IT</a:t>
            </a:r>
            <a:endParaRPr lang="en-US" sz="850" dirty="0"/>
          </a:p>
        </p:txBody>
      </p:sp>
      <p:sp>
        <p:nvSpPr>
          <p:cNvPr id="24" name="text 16.23"/>
          <p:cNvSpPr txBox="1"/>
          <p:nvPr/>
        </p:nvSpPr>
        <p:spPr>
          <a:xfrm>
            <a:off x="8254794" y="4686183"/>
            <a:ext cx="3136822" cy="662864"/>
          </a:xfrm>
          <a:prstGeom prst="rect">
            <a:avLst/>
          </a:prstGeom>
          <a:noFill/>
          <a:ln/>
        </p:spPr>
        <p:txBody>
          <a:bodyPr wrap="square" lIns="0" tIns="0" rIns="0" bIns="0" rtlCol="0" anchor="t"/>
          <a:lstStyle/>
          <a:p>
            <a:pPr algn="l" indent="0" marL="0">
              <a:lnSpc>
                <a:spcPts val="1740"/>
              </a:lnSpc>
              <a:buNone/>
            </a:pPr>
            <a:r>
              <a:rPr lang="en-US" sz="1200" dirty="0">
                <a:solidFill>
                  <a:srgbClr val="16233F"/>
                </a:solidFill>
                <a:latin typeface="Arial" pitchFamily="34" charset="0"/>
                <a:ea typeface="Arial" pitchFamily="34" charset="-122"/>
                <a:cs typeface="Arial" pitchFamily="34" charset="-120"/>
              </a:rPr>
              <a:t>It is the reference for our first Unity test of Mass Knockout in Demo 1: same scene, same rule.</a:t>
            </a:r>
            <a:endParaRPr lang="en-US" sz="1200" dirty="0"/>
          </a:p>
        </p:txBody>
      </p:sp>
      <p:sp>
        <p:nvSpPr>
          <p:cNvPr id="25" name="shape 16.24"/>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6" name="shape 16.25"/>
          <p:cNvSpPr/>
          <p:nvPr/>
        </p:nvSpPr>
        <p:spPr>
          <a:xfrm>
            <a:off x="711182" y="355591"/>
            <a:ext cx="114297" cy="114297"/>
          </a:xfrm>
          <a:prstGeom prst="roundRect">
            <a:avLst>
              <a:gd name="adj" fmla="val 33333"/>
            </a:avLst>
          </a:prstGeom>
          <a:solidFill>
            <a:srgbClr val="43B832"/>
          </a:solidFill>
          <a:ln/>
        </p:spPr>
      </p:sp>
      <p:sp>
        <p:nvSpPr>
          <p:cNvPr id="27" name="shape 16.2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8" name="shape 16.27"/>
          <p:cNvSpPr/>
          <p:nvPr/>
        </p:nvSpPr>
        <p:spPr>
          <a:xfrm>
            <a:off x="10058149" y="368291"/>
            <a:ext cx="101597" cy="101597"/>
          </a:xfrm>
          <a:prstGeom prst="roundRect">
            <a:avLst>
              <a:gd name="adj" fmla="val 31250"/>
            </a:avLst>
          </a:prstGeom>
          <a:solidFill>
            <a:srgbClr val="16233F"/>
          </a:solidFill>
          <a:ln/>
        </p:spPr>
      </p:sp>
      <p:sp>
        <p:nvSpPr>
          <p:cNvPr id="29" name="shape 16.28"/>
          <p:cNvSpPr/>
          <p:nvPr/>
        </p:nvSpPr>
        <p:spPr>
          <a:xfrm>
            <a:off x="10223244" y="368291"/>
            <a:ext cx="101597" cy="101597"/>
          </a:xfrm>
          <a:prstGeom prst="roundRect">
            <a:avLst>
              <a:gd name="adj" fmla="val 31250"/>
            </a:avLst>
          </a:prstGeom>
          <a:solidFill>
            <a:srgbClr val="16233F"/>
          </a:solidFill>
          <a:ln/>
        </p:spPr>
      </p:sp>
      <p:sp>
        <p:nvSpPr>
          <p:cNvPr id="30" name="shape 16.29"/>
          <p:cNvSpPr/>
          <p:nvPr/>
        </p:nvSpPr>
        <p:spPr>
          <a:xfrm>
            <a:off x="10388340" y="368291"/>
            <a:ext cx="101597" cy="101597"/>
          </a:xfrm>
          <a:prstGeom prst="roundRect">
            <a:avLst>
              <a:gd name="adj" fmla="val 31250"/>
            </a:avLst>
          </a:prstGeom>
          <a:solidFill>
            <a:srgbClr val="16233F"/>
          </a:solidFill>
          <a:ln/>
        </p:spPr>
      </p:sp>
      <p:sp>
        <p:nvSpPr>
          <p:cNvPr id="31" name="shape 16.30"/>
          <p:cNvSpPr/>
          <p:nvPr/>
        </p:nvSpPr>
        <p:spPr>
          <a:xfrm>
            <a:off x="10553436" y="368291"/>
            <a:ext cx="101597" cy="101597"/>
          </a:xfrm>
          <a:prstGeom prst="roundRect">
            <a:avLst>
              <a:gd name="adj" fmla="val 31250"/>
            </a:avLst>
          </a:prstGeom>
          <a:solidFill>
            <a:srgbClr val="16233F"/>
          </a:solidFill>
          <a:ln/>
        </p:spPr>
      </p:sp>
      <p:sp>
        <p:nvSpPr>
          <p:cNvPr id="32" name="shape 16.31"/>
          <p:cNvSpPr/>
          <p:nvPr/>
        </p:nvSpPr>
        <p:spPr>
          <a:xfrm>
            <a:off x="10718532" y="368291"/>
            <a:ext cx="101597" cy="101597"/>
          </a:xfrm>
          <a:prstGeom prst="roundRect">
            <a:avLst>
              <a:gd name="adj" fmla="val 31250"/>
            </a:avLst>
          </a:prstGeom>
          <a:solidFill>
            <a:srgbClr val="43B832"/>
          </a:solidFill>
          <a:ln/>
        </p:spPr>
      </p:sp>
      <p:sp>
        <p:nvSpPr>
          <p:cNvPr id="33" name="shape 16.32"/>
          <p:cNvSpPr/>
          <p:nvPr/>
        </p:nvSpPr>
        <p:spPr>
          <a:xfrm>
            <a:off x="10883628" y="368291"/>
            <a:ext cx="101597" cy="101597"/>
          </a:xfrm>
          <a:prstGeom prst="roundRect">
            <a:avLst>
              <a:gd name="adj" fmla="val 31250"/>
            </a:avLst>
          </a:prstGeom>
          <a:solidFill>
            <a:srgbClr val="C7D4E8"/>
          </a:solidFill>
          <a:ln/>
        </p:spPr>
      </p:sp>
      <p:sp>
        <p:nvSpPr>
          <p:cNvPr id="34" name="text 16.3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16</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35" name="text 16.34"/>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7.1"/>
          <p:cNvSpPr/>
          <p:nvPr/>
        </p:nvSpPr>
        <p:spPr>
          <a:xfrm>
            <a:off x="609585" y="1663658"/>
            <a:ext cx="3987700" cy="1943051"/>
          </a:xfrm>
          <a:prstGeom prst="roundRect">
            <a:avLst>
              <a:gd name="adj" fmla="val 9804"/>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3" name="img 17.2 adj7877" descr="draft_direction_A_vinyl.png">    </p:cNvPr>
          <p:cNvPicPr>
            <a:picLocks noChangeAspect="1"/>
          </p:cNvPicPr>
          <p:nvPr/>
        </p:nvPicPr>
        <p:blipFill>
          <a:blip r:embed="rId2"/>
          <a:stretch>
            <a:fillRect/>
          </a:stretch>
        </p:blipFill>
        <p:spPr>
          <a:xfrm>
            <a:off x="654034" y="1708107"/>
            <a:ext cx="3898803" cy="1854154"/>
          </a:xfrm>
          <a:prstGeom prst="roundRect">
            <a:avLst>
              <a:gd name="adj" fmla="val 7877"/>
            </a:avLst>
          </a:prstGeom>
        </p:spPr>
      </p:pic>
      <p:sp>
        <p:nvSpPr>
          <p:cNvPr id="4" name="shape 17.3"/>
          <p:cNvSpPr/>
          <p:nvPr/>
        </p:nvSpPr>
        <p:spPr>
          <a:xfrm>
            <a:off x="4749681" y="1663658"/>
            <a:ext cx="3987700" cy="1943051"/>
          </a:xfrm>
          <a:prstGeom prst="roundRect">
            <a:avLst>
              <a:gd name="adj" fmla="val 9804"/>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5" name="img 17.4 adj7877" descr="draft_direction_B_blocks.png">    </p:cNvPr>
          <p:cNvPicPr>
            <a:picLocks noChangeAspect="1"/>
          </p:cNvPicPr>
          <p:nvPr/>
        </p:nvPicPr>
        <p:blipFill>
          <a:blip r:embed="rId3"/>
          <a:stretch>
            <a:fillRect/>
          </a:stretch>
        </p:blipFill>
        <p:spPr>
          <a:xfrm>
            <a:off x="4794130" y="1708107"/>
            <a:ext cx="3898803" cy="1854154"/>
          </a:xfrm>
          <a:prstGeom prst="roundRect">
            <a:avLst>
              <a:gd name="adj" fmla="val 7877"/>
            </a:avLst>
          </a:prstGeom>
        </p:spPr>
      </p:pic>
      <p:sp>
        <p:nvSpPr>
          <p:cNvPr id="6" name="shape 17.5"/>
          <p:cNvSpPr/>
          <p:nvPr/>
        </p:nvSpPr>
        <p:spPr>
          <a:xfrm>
            <a:off x="609585" y="3987700"/>
            <a:ext cx="3987700" cy="1943051"/>
          </a:xfrm>
          <a:prstGeom prst="roundRect">
            <a:avLst>
              <a:gd name="adj" fmla="val 9804"/>
            </a:avLst>
          </a:prstGeom>
          <a:solidFill>
            <a:srgbClr val="4C8EEA"/>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7" name="img 17.6" descr="glossy_lineup.png">    </p:cNvPr>
          <p:cNvPicPr>
            <a:picLocks noChangeAspect="1"/>
          </p:cNvPicPr>
          <p:nvPr/>
        </p:nvPicPr>
        <p:blipFill>
          <a:blip r:embed="rId4"/>
          <a:stretch>
            <a:fillRect/>
          </a:stretch>
        </p:blipFill>
        <p:spPr>
          <a:xfrm>
            <a:off x="654034" y="4502335"/>
            <a:ext cx="3898803" cy="913782"/>
          </a:xfrm>
          <a:prstGeom prst="rect">
            <a:avLst/>
          </a:prstGeom>
        </p:spPr>
      </p:pic>
      <p:sp>
        <p:nvSpPr>
          <p:cNvPr id="8" name="shape 17.7"/>
          <p:cNvSpPr/>
          <p:nvPr/>
        </p:nvSpPr>
        <p:spPr>
          <a:xfrm>
            <a:off x="4749681" y="3987700"/>
            <a:ext cx="3987700" cy="1943051"/>
          </a:xfrm>
          <a:prstGeom prst="roundRect">
            <a:avLst>
              <a:gd name="adj" fmla="val 9804"/>
            </a:avLst>
          </a:prstGeom>
          <a:solidFill>
            <a:srgbClr val="FFFFFF"/>
          </a:solidFill>
          <a:ln w="44450">
            <a:solidFill>
              <a:srgbClr val="FFFFFF"/>
            </a:solidFill>
            <a:prstDash val="solid"/>
          </a:ln>
          <a:effectLst>
            <a:outerShdw sx="100000" sy="100000" kx="0" ky="0" algn="bl" rotWithShape="0" blurRad="203200" dist="76200" dir="5400000">
              <a:srgbClr val="1E468C">
                <a:alpha val="16000"/>
              </a:srgbClr>
            </a:outerShdw>
          </a:effectLst>
        </p:spPr>
      </p:sp>
      <p:pic>
        <p:nvPicPr>
          <p:cNvPr id="9" name="img 17.8 adj7877" descr="character_sheet_jelly.png">    </p:cNvPr>
          <p:cNvPicPr>
            <a:picLocks noChangeAspect="1"/>
          </p:cNvPicPr>
          <p:nvPr/>
        </p:nvPicPr>
        <p:blipFill>
          <a:blip r:embed="rId5"/>
          <a:stretch>
            <a:fillRect/>
          </a:stretch>
        </p:blipFill>
        <p:spPr>
          <a:xfrm>
            <a:off x="4794130" y="4032149"/>
            <a:ext cx="3898803" cy="1854154"/>
          </a:xfrm>
          <a:prstGeom prst="roundRect">
            <a:avLst>
              <a:gd name="adj" fmla="val 7877"/>
            </a:avLst>
          </a:prstGeom>
        </p:spPr>
      </p:pic>
      <p:sp>
        <p:nvSpPr>
          <p:cNvPr id="10" name="shape 17.9"/>
          <p:cNvSpPr/>
          <p:nvPr/>
        </p:nvSpPr>
        <p:spPr>
          <a:xfrm>
            <a:off x="8762781" y="1714457"/>
            <a:ext cx="2819330" cy="4508387"/>
          </a:xfrm>
          <a:prstGeom prst="roundRect">
            <a:avLst>
              <a:gd name="adj" fmla="val 6306"/>
            </a:avLst>
          </a:prstGeom>
          <a:solidFill>
            <a:srgbClr val="FFFFFF"/>
          </a:solidFill>
          <a:ln/>
          <a:effectLst>
            <a:outerShdw sx="100000" sy="100000" kx="0" ky="0" algn="bl" rotWithShape="0" blurRad="203200" dist="76200" dir="5400000">
              <a:srgbClr val="1E468C">
                <a:alpha val="16000"/>
              </a:srgbClr>
            </a:outerShdw>
          </a:effectLst>
        </p:spPr>
      </p:sp>
      <p:sp>
        <p:nvSpPr>
          <p:cNvPr id="11" name="text 17.10"/>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Four art directions for the same cube</a:t>
            </a:r>
            <a:endParaRPr lang="en-US" sz="2700" dirty="0"/>
          </a:p>
        </p:txBody>
      </p:sp>
      <p:sp>
        <p:nvSpPr>
          <p:cNvPr id="12" name="shape 17.11"/>
          <p:cNvSpPr/>
          <p:nvPr/>
        </p:nvSpPr>
        <p:spPr>
          <a:xfrm>
            <a:off x="609585" y="3682908"/>
            <a:ext cx="215895" cy="215895"/>
          </a:xfrm>
          <a:prstGeom prst="roundRect">
            <a:avLst>
              <a:gd name="adj" fmla="val 50000"/>
            </a:avLst>
          </a:prstGeom>
          <a:solidFill>
            <a:srgbClr val="FF6B1F"/>
          </a:solidFill>
          <a:ln/>
        </p:spPr>
      </p:sp>
      <p:sp>
        <p:nvSpPr>
          <p:cNvPr id="13" name="text 17.12"/>
          <p:cNvSpPr txBox="1"/>
          <p:nvPr/>
        </p:nvSpPr>
        <p:spPr>
          <a:xfrm>
            <a:off x="609585" y="368290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A</a:t>
            </a:r>
            <a:endParaRPr lang="en-US" sz="900" dirty="0"/>
          </a:p>
        </p:txBody>
      </p:sp>
      <p:sp>
        <p:nvSpPr>
          <p:cNvPr id="14" name="text 17.13"/>
          <p:cNvSpPr txBox="1"/>
          <p:nvPr/>
        </p:nvSpPr>
        <p:spPr>
          <a:xfrm>
            <a:off x="901677" y="3721007"/>
            <a:ext cx="650027" cy="133347"/>
          </a:xfrm>
          <a:prstGeom prst="rect">
            <a:avLst/>
          </a:prstGeom>
          <a:noFill/>
          <a:ln/>
        </p:spPr>
        <p:txBody>
          <a:bodyPr wrap="square" lIns="0" tIns="0" rIns="0" bIns="0" rtlCol="0" anchor="t"/>
          <a:lstStyle/>
          <a:p>
            <a:pPr algn="l" indent="0" marL="0">
              <a:lnSpc>
                <a:spcPts val="1050"/>
              </a:lnSpc>
              <a:buNone/>
            </a:pPr>
            <a:r>
              <a:rPr lang="en-US" sz="1050" b="1" dirty="0">
                <a:solidFill>
                  <a:srgbClr val="16233F"/>
                </a:solidFill>
                <a:latin typeface="Arial" pitchFamily="34" charset="0"/>
                <a:ea typeface="Arial" pitchFamily="34" charset="-122"/>
                <a:cs typeface="Arial" pitchFamily="34" charset="-120"/>
              </a:rPr>
              <a:t>Vinyl toy</a:t>
            </a:r>
            <a:endParaRPr lang="en-US" sz="1050" dirty="0"/>
          </a:p>
        </p:txBody>
      </p:sp>
      <p:sp>
        <p:nvSpPr>
          <p:cNvPr id="15" name="shape 17.14"/>
          <p:cNvSpPr/>
          <p:nvPr/>
        </p:nvSpPr>
        <p:spPr>
          <a:xfrm>
            <a:off x="4749681" y="3682908"/>
            <a:ext cx="215895" cy="215895"/>
          </a:xfrm>
          <a:prstGeom prst="roundRect">
            <a:avLst>
              <a:gd name="adj" fmla="val 50000"/>
            </a:avLst>
          </a:prstGeom>
          <a:solidFill>
            <a:srgbClr val="FF6B1F"/>
          </a:solidFill>
          <a:ln/>
        </p:spPr>
      </p:sp>
      <p:sp>
        <p:nvSpPr>
          <p:cNvPr id="16" name="text 17.15"/>
          <p:cNvSpPr txBox="1"/>
          <p:nvPr/>
        </p:nvSpPr>
        <p:spPr>
          <a:xfrm>
            <a:off x="4749681" y="368290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B</a:t>
            </a:r>
            <a:endParaRPr lang="en-US" sz="900" dirty="0"/>
          </a:p>
        </p:txBody>
      </p:sp>
      <p:sp>
        <p:nvSpPr>
          <p:cNvPr id="17" name="text 17.16"/>
          <p:cNvSpPr txBox="1"/>
          <p:nvPr/>
        </p:nvSpPr>
        <p:spPr>
          <a:xfrm>
            <a:off x="5041774" y="3721007"/>
            <a:ext cx="1115822" cy="133347"/>
          </a:xfrm>
          <a:prstGeom prst="rect">
            <a:avLst/>
          </a:prstGeom>
          <a:noFill/>
          <a:ln/>
        </p:spPr>
        <p:txBody>
          <a:bodyPr wrap="square" lIns="0" tIns="0" rIns="0" bIns="0" rtlCol="0" anchor="t"/>
          <a:lstStyle/>
          <a:p>
            <a:pPr algn="l" indent="0" marL="0">
              <a:lnSpc>
                <a:spcPts val="1050"/>
              </a:lnSpc>
              <a:buNone/>
            </a:pPr>
            <a:r>
              <a:rPr lang="en-US" sz="1050" b="1" dirty="0">
                <a:solidFill>
                  <a:srgbClr val="16233F"/>
                </a:solidFill>
                <a:latin typeface="Arial" pitchFamily="34" charset="0"/>
                <a:ea typeface="Arial" pitchFamily="34" charset="-122"/>
                <a:cs typeface="Arial" pitchFamily="34" charset="-120"/>
              </a:rPr>
              <a:t>Building blocks</a:t>
            </a:r>
            <a:endParaRPr lang="en-US" sz="1050" dirty="0"/>
          </a:p>
        </p:txBody>
      </p:sp>
      <p:sp>
        <p:nvSpPr>
          <p:cNvPr id="18" name="shape 17.17"/>
          <p:cNvSpPr/>
          <p:nvPr/>
        </p:nvSpPr>
        <p:spPr>
          <a:xfrm>
            <a:off x="609585" y="6006950"/>
            <a:ext cx="215895" cy="215895"/>
          </a:xfrm>
          <a:prstGeom prst="roundRect">
            <a:avLst>
              <a:gd name="adj" fmla="val 50000"/>
            </a:avLst>
          </a:prstGeom>
          <a:solidFill>
            <a:srgbClr val="FF6B1F"/>
          </a:solidFill>
          <a:ln/>
        </p:spPr>
      </p:sp>
      <p:sp>
        <p:nvSpPr>
          <p:cNvPr id="19" name="text 17.18"/>
          <p:cNvSpPr txBox="1"/>
          <p:nvPr/>
        </p:nvSpPr>
        <p:spPr>
          <a:xfrm>
            <a:off x="609585" y="6006950"/>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C</a:t>
            </a:r>
            <a:endParaRPr lang="en-US" sz="900" dirty="0"/>
          </a:p>
        </p:txBody>
      </p:sp>
      <p:sp>
        <p:nvSpPr>
          <p:cNvPr id="20" name="text 17.19"/>
          <p:cNvSpPr txBox="1"/>
          <p:nvPr/>
        </p:nvSpPr>
        <p:spPr>
          <a:xfrm>
            <a:off x="901677" y="6045049"/>
            <a:ext cx="1406720" cy="133347"/>
          </a:xfrm>
          <a:prstGeom prst="rect">
            <a:avLst/>
          </a:prstGeom>
          <a:noFill/>
          <a:ln/>
        </p:spPr>
        <p:txBody>
          <a:bodyPr wrap="square" lIns="0" tIns="0" rIns="0" bIns="0" rtlCol="0" anchor="t"/>
          <a:lstStyle/>
          <a:p>
            <a:pPr algn="l" indent="0" marL="0">
              <a:lnSpc>
                <a:spcPts val="1050"/>
              </a:lnSpc>
              <a:buNone/>
            </a:pPr>
            <a:r>
              <a:rPr lang="en-US" sz="1050" b="1" dirty="0">
                <a:solidFill>
                  <a:srgbClr val="FF6B1F"/>
                </a:solidFill>
                <a:latin typeface="Arial" pitchFamily="34" charset="0"/>
                <a:ea typeface="Arial" pitchFamily="34" charset="-122"/>
                <a:cs typeface="Arial" pitchFamily="34" charset="-120"/>
              </a:rPr>
              <a:t>Glossy toy · chosen</a:t>
            </a:r>
            <a:endParaRPr lang="en-US" sz="1050" dirty="0"/>
          </a:p>
        </p:txBody>
      </p:sp>
      <p:sp>
        <p:nvSpPr>
          <p:cNvPr id="21" name="shape 17.20"/>
          <p:cNvSpPr/>
          <p:nvPr/>
        </p:nvSpPr>
        <p:spPr>
          <a:xfrm>
            <a:off x="4749681" y="6006950"/>
            <a:ext cx="215895" cy="215895"/>
          </a:xfrm>
          <a:prstGeom prst="roundRect">
            <a:avLst>
              <a:gd name="adj" fmla="val 50000"/>
            </a:avLst>
          </a:prstGeom>
          <a:solidFill>
            <a:srgbClr val="FF6B1F"/>
          </a:solidFill>
          <a:ln/>
        </p:spPr>
      </p:sp>
      <p:sp>
        <p:nvSpPr>
          <p:cNvPr id="22" name="text 17.21"/>
          <p:cNvSpPr txBox="1"/>
          <p:nvPr/>
        </p:nvSpPr>
        <p:spPr>
          <a:xfrm>
            <a:off x="4749681" y="6006950"/>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D</a:t>
            </a:r>
            <a:endParaRPr lang="en-US" sz="900" dirty="0"/>
          </a:p>
        </p:txBody>
      </p:sp>
      <p:sp>
        <p:nvSpPr>
          <p:cNvPr id="23" name="text 17.22"/>
          <p:cNvSpPr txBox="1"/>
          <p:nvPr/>
        </p:nvSpPr>
        <p:spPr>
          <a:xfrm>
            <a:off x="5041774" y="6045049"/>
            <a:ext cx="377954" cy="133347"/>
          </a:xfrm>
          <a:prstGeom prst="rect">
            <a:avLst/>
          </a:prstGeom>
          <a:noFill/>
          <a:ln/>
        </p:spPr>
        <p:txBody>
          <a:bodyPr wrap="square" lIns="0" tIns="0" rIns="0" bIns="0" rtlCol="0" anchor="t"/>
          <a:lstStyle/>
          <a:p>
            <a:pPr algn="l" indent="0" marL="0">
              <a:lnSpc>
                <a:spcPts val="1050"/>
              </a:lnSpc>
              <a:buNone/>
            </a:pPr>
            <a:r>
              <a:rPr lang="en-US" sz="1050" b="1" dirty="0">
                <a:solidFill>
                  <a:srgbClr val="16233F"/>
                </a:solidFill>
                <a:latin typeface="Arial" pitchFamily="34" charset="0"/>
                <a:ea typeface="Arial" pitchFamily="34" charset="-122"/>
                <a:cs typeface="Arial" pitchFamily="34" charset="-120"/>
              </a:rPr>
              <a:t>Jelly</a:t>
            </a:r>
            <a:endParaRPr lang="en-US" sz="1050" dirty="0"/>
          </a:p>
        </p:txBody>
      </p:sp>
      <p:sp>
        <p:nvSpPr>
          <p:cNvPr id="24" name="text 17.23"/>
          <p:cNvSpPr txBox="1"/>
          <p:nvPr/>
        </p:nvSpPr>
        <p:spPr>
          <a:xfrm>
            <a:off x="8991375" y="1943051"/>
            <a:ext cx="719229"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PURPOSE</a:t>
            </a:r>
            <a:endParaRPr lang="en-US" sz="850" dirty="0"/>
          </a:p>
        </p:txBody>
      </p:sp>
      <p:sp>
        <p:nvSpPr>
          <p:cNvPr id="25" name="text 17.24"/>
          <p:cNvSpPr txBox="1"/>
          <p:nvPr/>
        </p:nvSpPr>
        <p:spPr>
          <a:xfrm>
            <a:off x="8991375" y="2158946"/>
            <a:ext cx="2451039" cy="579820"/>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Four looks for the same character, generated to choose a direction before modelling.</a:t>
            </a:r>
            <a:endParaRPr lang="en-US" sz="1050" dirty="0"/>
          </a:p>
        </p:txBody>
      </p:sp>
      <p:sp>
        <p:nvSpPr>
          <p:cNvPr id="26" name="text 17.25"/>
          <p:cNvSpPr txBox="1"/>
          <p:nvPr/>
        </p:nvSpPr>
        <p:spPr>
          <a:xfrm>
            <a:off x="8991375" y="3136822"/>
            <a:ext cx="140956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USED IN THIS DECK</a:t>
            </a:r>
            <a:endParaRPr lang="en-US" sz="850" dirty="0"/>
          </a:p>
        </p:txBody>
      </p:sp>
      <p:sp>
        <p:nvSpPr>
          <p:cNvPr id="27" name="text 17.26"/>
          <p:cNvSpPr txBox="1"/>
          <p:nvPr/>
        </p:nvSpPr>
        <p:spPr>
          <a:xfrm>
            <a:off x="8991375" y="3352716"/>
            <a:ext cx="2451039"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C, glossy toy. Every concept render in this deck uses it.</a:t>
            </a:r>
            <a:endParaRPr lang="en-US" sz="1050" dirty="0"/>
          </a:p>
        </p:txBody>
      </p:sp>
      <p:sp>
        <p:nvSpPr>
          <p:cNvPr id="28" name="text 17.27"/>
          <p:cNvSpPr txBox="1"/>
          <p:nvPr/>
        </p:nvSpPr>
        <p:spPr>
          <a:xfrm>
            <a:off x="8991375" y="4152796"/>
            <a:ext cx="131333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PLAYER COLOURS</a:t>
            </a:r>
            <a:endParaRPr lang="en-US" sz="850" dirty="0"/>
          </a:p>
        </p:txBody>
      </p:sp>
      <p:sp>
        <p:nvSpPr>
          <p:cNvPr id="29" name="shape 17.28"/>
          <p:cNvSpPr/>
          <p:nvPr/>
        </p:nvSpPr>
        <p:spPr>
          <a:xfrm>
            <a:off x="8991375" y="4406790"/>
            <a:ext cx="507987" cy="507987"/>
          </a:xfrm>
          <a:prstGeom prst="roundRect">
            <a:avLst>
              <a:gd name="adj" fmla="val 27500"/>
            </a:avLst>
          </a:prstGeom>
          <a:solidFill>
            <a:srgbClr val="FF6B1F"/>
          </a:solidFill>
          <a:ln/>
        </p:spPr>
      </p:sp>
      <p:sp>
        <p:nvSpPr>
          <p:cNvPr id="30" name="text 17.29"/>
          <p:cNvSpPr txBox="1"/>
          <p:nvPr/>
        </p:nvSpPr>
        <p:spPr>
          <a:xfrm>
            <a:off x="8991375"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Orange</a:t>
            </a:r>
            <a:endParaRPr lang="en-US" sz="800" dirty="0"/>
          </a:p>
        </p:txBody>
      </p:sp>
      <p:sp>
        <p:nvSpPr>
          <p:cNvPr id="31" name="shape 17.30"/>
          <p:cNvSpPr/>
          <p:nvPr/>
        </p:nvSpPr>
        <p:spPr>
          <a:xfrm>
            <a:off x="9600960" y="4406790"/>
            <a:ext cx="507987" cy="507987"/>
          </a:xfrm>
          <a:prstGeom prst="roundRect">
            <a:avLst>
              <a:gd name="adj" fmla="val 27500"/>
            </a:avLst>
          </a:prstGeom>
          <a:solidFill>
            <a:srgbClr val="1FA9EA"/>
          </a:solidFill>
          <a:ln/>
        </p:spPr>
      </p:sp>
      <p:sp>
        <p:nvSpPr>
          <p:cNvPr id="32" name="text 17.31"/>
          <p:cNvSpPr txBox="1"/>
          <p:nvPr/>
        </p:nvSpPr>
        <p:spPr>
          <a:xfrm>
            <a:off x="9600960"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Cyan</a:t>
            </a:r>
            <a:endParaRPr lang="en-US" sz="800" dirty="0"/>
          </a:p>
        </p:txBody>
      </p:sp>
      <p:sp>
        <p:nvSpPr>
          <p:cNvPr id="33" name="shape 17.32"/>
          <p:cNvSpPr/>
          <p:nvPr/>
        </p:nvSpPr>
        <p:spPr>
          <a:xfrm>
            <a:off x="10210545" y="4406790"/>
            <a:ext cx="507987" cy="507987"/>
          </a:xfrm>
          <a:prstGeom prst="roundRect">
            <a:avLst>
              <a:gd name="adj" fmla="val 27500"/>
            </a:avLst>
          </a:prstGeom>
          <a:solidFill>
            <a:srgbClr val="43B832"/>
          </a:solidFill>
          <a:ln/>
        </p:spPr>
      </p:sp>
      <p:sp>
        <p:nvSpPr>
          <p:cNvPr id="34" name="text 17.33"/>
          <p:cNvSpPr txBox="1"/>
          <p:nvPr/>
        </p:nvSpPr>
        <p:spPr>
          <a:xfrm>
            <a:off x="10210545"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Lime</a:t>
            </a:r>
            <a:endParaRPr lang="en-US" sz="800" dirty="0"/>
          </a:p>
        </p:txBody>
      </p:sp>
      <p:sp>
        <p:nvSpPr>
          <p:cNvPr id="35" name="shape 17.34"/>
          <p:cNvSpPr/>
          <p:nvPr/>
        </p:nvSpPr>
        <p:spPr>
          <a:xfrm>
            <a:off x="10820129" y="4406790"/>
            <a:ext cx="507987" cy="507987"/>
          </a:xfrm>
          <a:prstGeom prst="roundRect">
            <a:avLst>
              <a:gd name="adj" fmla="val 27500"/>
            </a:avLst>
          </a:prstGeom>
          <a:solidFill>
            <a:srgbClr val="8F55F5"/>
          </a:solidFill>
          <a:ln/>
        </p:spPr>
      </p:sp>
      <p:sp>
        <p:nvSpPr>
          <p:cNvPr id="36" name="text 17.35"/>
          <p:cNvSpPr txBox="1"/>
          <p:nvPr/>
        </p:nvSpPr>
        <p:spPr>
          <a:xfrm>
            <a:off x="10820129" y="4990975"/>
            <a:ext cx="609585" cy="142236"/>
          </a:xfrm>
          <a:prstGeom prst="rect">
            <a:avLst/>
          </a:prstGeom>
          <a:noFill/>
          <a:ln/>
        </p:spPr>
        <p:txBody>
          <a:bodyPr wrap="square" lIns="0" tIns="0" rIns="0" bIns="0" rtlCol="0" anchor="t"/>
          <a:lstStyle/>
          <a:p>
            <a:pPr algn="l" indent="0" marL="0">
              <a:lnSpc>
                <a:spcPts val="1120"/>
              </a:lnSpc>
              <a:buNone/>
            </a:pPr>
            <a:r>
              <a:rPr lang="en-US" sz="800" dirty="0">
                <a:solidFill>
                  <a:srgbClr val="16233F"/>
                </a:solidFill>
                <a:latin typeface="Arial" pitchFamily="34" charset="0"/>
                <a:ea typeface="Arial" pitchFamily="34" charset="-122"/>
                <a:cs typeface="Arial" pitchFamily="34" charset="-120"/>
              </a:rPr>
              <a:t>Purple</a:t>
            </a:r>
            <a:endParaRPr lang="en-US" sz="800" dirty="0"/>
          </a:p>
        </p:txBody>
      </p:sp>
      <p:sp>
        <p:nvSpPr>
          <p:cNvPr id="37" name="text 17.36"/>
          <p:cNvSpPr txBox="1"/>
          <p:nvPr/>
        </p:nvSpPr>
        <p:spPr>
          <a:xfrm>
            <a:off x="8991375" y="5587860"/>
            <a:ext cx="245103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All AI-generated drafts. None is gameplay.</a:t>
            </a:r>
            <a:endParaRPr lang="en-US" sz="850" dirty="0"/>
          </a:p>
        </p:txBody>
      </p:sp>
      <p:sp>
        <p:nvSpPr>
          <p:cNvPr id="38" name="shape 17.37"/>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39" name="shape 17.38"/>
          <p:cNvSpPr/>
          <p:nvPr/>
        </p:nvSpPr>
        <p:spPr>
          <a:xfrm>
            <a:off x="711182" y="355591"/>
            <a:ext cx="114297" cy="114297"/>
          </a:xfrm>
          <a:prstGeom prst="roundRect">
            <a:avLst>
              <a:gd name="adj" fmla="val 33333"/>
            </a:avLst>
          </a:prstGeom>
          <a:solidFill>
            <a:srgbClr val="43B832"/>
          </a:solidFill>
          <a:ln/>
        </p:spPr>
      </p:sp>
      <p:sp>
        <p:nvSpPr>
          <p:cNvPr id="40" name="shape 17.39"/>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1" name="shape 17.40"/>
          <p:cNvSpPr/>
          <p:nvPr/>
        </p:nvSpPr>
        <p:spPr>
          <a:xfrm>
            <a:off x="10058149" y="368291"/>
            <a:ext cx="101597" cy="101597"/>
          </a:xfrm>
          <a:prstGeom prst="roundRect">
            <a:avLst>
              <a:gd name="adj" fmla="val 31250"/>
            </a:avLst>
          </a:prstGeom>
          <a:solidFill>
            <a:srgbClr val="16233F"/>
          </a:solidFill>
          <a:ln/>
        </p:spPr>
      </p:sp>
      <p:sp>
        <p:nvSpPr>
          <p:cNvPr id="42" name="shape 17.41"/>
          <p:cNvSpPr/>
          <p:nvPr/>
        </p:nvSpPr>
        <p:spPr>
          <a:xfrm>
            <a:off x="10223244" y="368291"/>
            <a:ext cx="101597" cy="101597"/>
          </a:xfrm>
          <a:prstGeom prst="roundRect">
            <a:avLst>
              <a:gd name="adj" fmla="val 31250"/>
            </a:avLst>
          </a:prstGeom>
          <a:solidFill>
            <a:srgbClr val="16233F"/>
          </a:solidFill>
          <a:ln/>
        </p:spPr>
      </p:sp>
      <p:sp>
        <p:nvSpPr>
          <p:cNvPr id="43" name="shape 17.42"/>
          <p:cNvSpPr/>
          <p:nvPr/>
        </p:nvSpPr>
        <p:spPr>
          <a:xfrm>
            <a:off x="10388340" y="368291"/>
            <a:ext cx="101597" cy="101597"/>
          </a:xfrm>
          <a:prstGeom prst="roundRect">
            <a:avLst>
              <a:gd name="adj" fmla="val 31250"/>
            </a:avLst>
          </a:prstGeom>
          <a:solidFill>
            <a:srgbClr val="16233F"/>
          </a:solidFill>
          <a:ln/>
        </p:spPr>
      </p:sp>
      <p:sp>
        <p:nvSpPr>
          <p:cNvPr id="44" name="shape 17.43"/>
          <p:cNvSpPr/>
          <p:nvPr/>
        </p:nvSpPr>
        <p:spPr>
          <a:xfrm>
            <a:off x="10553436" y="368291"/>
            <a:ext cx="101597" cy="101597"/>
          </a:xfrm>
          <a:prstGeom prst="roundRect">
            <a:avLst>
              <a:gd name="adj" fmla="val 31250"/>
            </a:avLst>
          </a:prstGeom>
          <a:solidFill>
            <a:srgbClr val="16233F"/>
          </a:solidFill>
          <a:ln/>
        </p:spPr>
      </p:sp>
      <p:sp>
        <p:nvSpPr>
          <p:cNvPr id="45" name="shape 17.44"/>
          <p:cNvSpPr/>
          <p:nvPr/>
        </p:nvSpPr>
        <p:spPr>
          <a:xfrm>
            <a:off x="10718532" y="368291"/>
            <a:ext cx="101597" cy="101597"/>
          </a:xfrm>
          <a:prstGeom prst="roundRect">
            <a:avLst>
              <a:gd name="adj" fmla="val 31250"/>
            </a:avLst>
          </a:prstGeom>
          <a:solidFill>
            <a:srgbClr val="43B832"/>
          </a:solidFill>
          <a:ln/>
        </p:spPr>
      </p:sp>
      <p:sp>
        <p:nvSpPr>
          <p:cNvPr id="46" name="shape 17.45"/>
          <p:cNvSpPr/>
          <p:nvPr/>
        </p:nvSpPr>
        <p:spPr>
          <a:xfrm>
            <a:off x="10883628" y="368291"/>
            <a:ext cx="101597" cy="101597"/>
          </a:xfrm>
          <a:prstGeom prst="roundRect">
            <a:avLst>
              <a:gd name="adj" fmla="val 31250"/>
            </a:avLst>
          </a:prstGeom>
          <a:solidFill>
            <a:srgbClr val="C7D4E8"/>
          </a:solidFill>
          <a:ln/>
        </p:spPr>
      </p:sp>
      <p:sp>
        <p:nvSpPr>
          <p:cNvPr id="47" name="text 17.46"/>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17</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48" name="text 17.47"/>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8.1"/>
          <p:cNvSpPr/>
          <p:nvPr/>
        </p:nvSpPr>
        <p:spPr>
          <a:xfrm>
            <a:off x="609585" y="1663658"/>
            <a:ext cx="3555911" cy="3555911"/>
          </a:xfrm>
          <a:prstGeom prst="roundRect">
            <a:avLst>
              <a:gd name="adj" fmla="val 5357"/>
            </a:avLst>
          </a:prstGeom>
          <a:solidFill>
            <a:srgbClr val="FFFFFF"/>
          </a:solidFill>
          <a:ln/>
          <a:effectLst>
            <a:outerShdw sx="100000" sy="100000" kx="0" ky="0" algn="bl" rotWithShape="0" blurRad="203200" dist="76200" dir="5400000">
              <a:srgbClr val="1E468C">
                <a:alpha val="16000"/>
              </a:srgbClr>
            </a:outerShdw>
          </a:effectLst>
        </p:spPr>
      </p:sp>
      <p:pic>
        <p:nvPicPr>
          <p:cNvPr id="3" name="raster 18.2" descr="diagram">    </p:cNvPr>
          <p:cNvPicPr>
            <a:picLocks noChangeAspect="1"/>
          </p:cNvPicPr>
          <p:nvPr/>
        </p:nvPicPr>
        <p:blipFill>
          <a:blip r:embed="rId2"/>
          <a:stretch>
            <a:fillRect/>
          </a:stretch>
        </p:blipFill>
        <p:spPr>
          <a:xfrm>
            <a:off x="609585" y="1663658"/>
            <a:ext cx="3555911" cy="3555911"/>
          </a:xfrm>
          <a:prstGeom prst="rect">
            <a:avLst/>
          </a:prstGeom>
        </p:spPr>
      </p:pic>
      <p:sp>
        <p:nvSpPr>
          <p:cNvPr id="4" name="shape 18.3"/>
          <p:cNvSpPr/>
          <p:nvPr/>
        </p:nvSpPr>
        <p:spPr>
          <a:xfrm>
            <a:off x="4317892" y="1663658"/>
            <a:ext cx="3555911" cy="3555911"/>
          </a:xfrm>
          <a:prstGeom prst="roundRect">
            <a:avLst>
              <a:gd name="adj" fmla="val 5357"/>
            </a:avLst>
          </a:prstGeom>
          <a:solidFill>
            <a:srgbClr val="DFF1FF"/>
          </a:solidFill>
          <a:ln/>
          <a:effectLst>
            <a:outerShdw sx="100000" sy="100000" kx="0" ky="0" algn="bl" rotWithShape="0" blurRad="203200" dist="76200" dir="5400000">
              <a:srgbClr val="1E468C">
                <a:alpha val="16000"/>
              </a:srgbClr>
            </a:outerShdw>
          </a:effectLst>
        </p:spPr>
      </p:sp>
      <p:pic>
        <p:nvPicPr>
          <p:cNvPr id="5" name="raster 18.4" descr="diagram">    </p:cNvPr>
          <p:cNvPicPr>
            <a:picLocks noChangeAspect="1"/>
          </p:cNvPicPr>
          <p:nvPr/>
        </p:nvPicPr>
        <p:blipFill>
          <a:blip r:embed="rId3"/>
          <a:stretch>
            <a:fillRect/>
          </a:stretch>
        </p:blipFill>
        <p:spPr>
          <a:xfrm>
            <a:off x="4317892" y="1663658"/>
            <a:ext cx="3555911" cy="3555911"/>
          </a:xfrm>
          <a:prstGeom prst="rect">
            <a:avLst/>
          </a:prstGeom>
        </p:spPr>
      </p:pic>
      <p:sp>
        <p:nvSpPr>
          <p:cNvPr id="6" name="shape 18.5"/>
          <p:cNvSpPr/>
          <p:nvPr/>
        </p:nvSpPr>
        <p:spPr>
          <a:xfrm>
            <a:off x="8026199" y="1663658"/>
            <a:ext cx="3555911" cy="3555911"/>
          </a:xfrm>
          <a:prstGeom prst="roundRect">
            <a:avLst>
              <a:gd name="adj" fmla="val 5357"/>
            </a:avLst>
          </a:prstGeom>
          <a:solidFill>
            <a:srgbClr val="FF6B1F"/>
          </a:solidFill>
          <a:ln/>
          <a:effectLst>
            <a:outerShdw sx="100000" sy="100000" kx="0" ky="0" algn="bl" rotWithShape="0" blurRad="203200" dist="76200" dir="5400000">
              <a:srgbClr val="1E468C">
                <a:alpha val="16000"/>
              </a:srgbClr>
            </a:outerShdw>
          </a:effectLst>
        </p:spPr>
      </p:sp>
      <p:pic>
        <p:nvPicPr>
          <p:cNvPr id="7" name="raster 18.6" descr="diagram">    </p:cNvPr>
          <p:cNvPicPr>
            <a:picLocks noChangeAspect="1"/>
          </p:cNvPicPr>
          <p:nvPr/>
        </p:nvPicPr>
        <p:blipFill>
          <a:blip r:embed="rId4"/>
          <a:stretch>
            <a:fillRect/>
          </a:stretch>
        </p:blipFill>
        <p:spPr>
          <a:xfrm>
            <a:off x="8026199" y="1663658"/>
            <a:ext cx="3555911" cy="3555911"/>
          </a:xfrm>
          <a:prstGeom prst="rect">
            <a:avLst/>
          </a:prstGeom>
        </p:spPr>
      </p:pic>
      <p:sp>
        <p:nvSpPr>
          <p:cNvPr id="8" name="text 18.7"/>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Logo drafts</a:t>
            </a:r>
            <a:endParaRPr lang="en-US" sz="2700" dirty="0"/>
          </a:p>
        </p:txBody>
      </p:sp>
      <p:sp>
        <p:nvSpPr>
          <p:cNvPr id="9" name="text 18.8"/>
          <p:cNvSpPr txBox="1"/>
          <p:nvPr/>
        </p:nvSpPr>
        <p:spPr>
          <a:xfrm>
            <a:off x="609585" y="5435464"/>
            <a:ext cx="1611485"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DRAFT A · WORDMARK</a:t>
            </a:r>
            <a:endParaRPr lang="en-US" sz="850" dirty="0"/>
          </a:p>
        </p:txBody>
      </p:sp>
      <p:sp>
        <p:nvSpPr>
          <p:cNvPr id="10" name="text 18.9"/>
          <p:cNvSpPr txBox="1"/>
          <p:nvPr/>
        </p:nvSpPr>
        <p:spPr>
          <a:xfrm>
            <a:off x="609585" y="5651359"/>
            <a:ext cx="3594010" cy="213355"/>
          </a:xfrm>
          <a:prstGeom prst="rect">
            <a:avLst/>
          </a:prstGeom>
          <a:noFill/>
          <a:ln/>
        </p:spPr>
        <p:txBody>
          <a:bodyPr wrap="square" lIns="0" tIns="0" rIns="0" bIns="0" rtlCol="0" anchor="t"/>
          <a:lstStyle/>
          <a:p>
            <a:pPr algn="l" indent="0" marL="0">
              <a:lnSpc>
                <a:spcPts val="1680"/>
              </a:lnSpc>
              <a:buNone/>
            </a:pPr>
            <a:r>
              <a:rPr lang="en-US" sz="1200" dirty="0">
                <a:solidFill>
                  <a:srgbClr val="3B4A66"/>
                </a:solidFill>
                <a:latin typeface="Arial" pitchFamily="34" charset="0"/>
                <a:ea typeface="Arial" pitchFamily="34" charset="-122"/>
                <a:cs typeface="Arial" pitchFamily="34" charset="-120"/>
              </a:rPr>
              <a:t>Title screen, deck cover, video end card.</a:t>
            </a:r>
            <a:endParaRPr lang="en-US" sz="1200" dirty="0"/>
          </a:p>
        </p:txBody>
      </p:sp>
      <p:sp>
        <p:nvSpPr>
          <p:cNvPr id="11" name="text 18.10"/>
          <p:cNvSpPr txBox="1"/>
          <p:nvPr/>
        </p:nvSpPr>
        <p:spPr>
          <a:xfrm>
            <a:off x="4317892" y="5435464"/>
            <a:ext cx="1445317"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DRAFT B · STACKED</a:t>
            </a:r>
            <a:endParaRPr lang="en-US" sz="850" dirty="0"/>
          </a:p>
        </p:txBody>
      </p:sp>
      <p:sp>
        <p:nvSpPr>
          <p:cNvPr id="12" name="text 18.11"/>
          <p:cNvSpPr txBox="1"/>
          <p:nvPr/>
        </p:nvSpPr>
        <p:spPr>
          <a:xfrm>
            <a:off x="4317892" y="5651359"/>
            <a:ext cx="3594010" cy="213355"/>
          </a:xfrm>
          <a:prstGeom prst="rect">
            <a:avLst/>
          </a:prstGeom>
          <a:noFill/>
          <a:ln/>
        </p:spPr>
        <p:txBody>
          <a:bodyPr wrap="square" lIns="0" tIns="0" rIns="0" bIns="0" rtlCol="0" anchor="t"/>
          <a:lstStyle/>
          <a:p>
            <a:pPr algn="l" indent="0" marL="0">
              <a:lnSpc>
                <a:spcPts val="1680"/>
              </a:lnSpc>
              <a:buNone/>
            </a:pPr>
            <a:r>
              <a:rPr lang="en-US" sz="1200" dirty="0">
                <a:solidFill>
                  <a:srgbClr val="3B4A66"/>
                </a:solidFill>
                <a:latin typeface="Arial" pitchFamily="34" charset="0"/>
                <a:ea typeface="Arial" pitchFamily="34" charset="-122"/>
                <a:cs typeface="Arial" pitchFamily="34" charset="-120"/>
              </a:rPr>
              <a:t>Square formats: store capsule, lobby screen.</a:t>
            </a:r>
            <a:endParaRPr lang="en-US" sz="1200" dirty="0"/>
          </a:p>
        </p:txBody>
      </p:sp>
      <p:sp>
        <p:nvSpPr>
          <p:cNvPr id="13" name="text 18.12"/>
          <p:cNvSpPr txBox="1"/>
          <p:nvPr/>
        </p:nvSpPr>
        <p:spPr>
          <a:xfrm>
            <a:off x="8026199" y="5435464"/>
            <a:ext cx="1145690"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6233F"/>
                </a:solidFill>
                <a:latin typeface="Arial" pitchFamily="34" charset="0"/>
                <a:ea typeface="Arial" pitchFamily="34" charset="-122"/>
                <a:cs typeface="Arial" pitchFamily="34" charset="-120"/>
              </a:rPr>
              <a:t>DRAFT C · ICON</a:t>
            </a:r>
            <a:endParaRPr lang="en-US" sz="850" dirty="0"/>
          </a:p>
        </p:txBody>
      </p:sp>
      <p:sp>
        <p:nvSpPr>
          <p:cNvPr id="14" name="text 18.13"/>
          <p:cNvSpPr txBox="1"/>
          <p:nvPr/>
        </p:nvSpPr>
        <p:spPr>
          <a:xfrm>
            <a:off x="8026199" y="5651359"/>
            <a:ext cx="3594010" cy="213355"/>
          </a:xfrm>
          <a:prstGeom prst="rect">
            <a:avLst/>
          </a:prstGeom>
          <a:noFill/>
          <a:ln/>
        </p:spPr>
        <p:txBody>
          <a:bodyPr wrap="square" lIns="0" tIns="0" rIns="0" bIns="0" rtlCol="0" anchor="t"/>
          <a:lstStyle/>
          <a:p>
            <a:pPr algn="l" indent="0" marL="0">
              <a:lnSpc>
                <a:spcPts val="1680"/>
              </a:lnSpc>
              <a:buNone/>
            </a:pPr>
            <a:r>
              <a:rPr lang="en-US" sz="1200" dirty="0">
                <a:solidFill>
                  <a:srgbClr val="3B4A66"/>
                </a:solidFill>
                <a:latin typeface="Arial" pitchFamily="34" charset="0"/>
                <a:ea typeface="Arial" pitchFamily="34" charset="-122"/>
                <a:cs typeface="Arial" pitchFamily="34" charset="-120"/>
              </a:rPr>
              <a:t>Taskbar, build icon, favicon.</a:t>
            </a:r>
            <a:endParaRPr lang="en-US" sz="1200" dirty="0"/>
          </a:p>
        </p:txBody>
      </p:sp>
      <p:sp>
        <p:nvSpPr>
          <p:cNvPr id="15" name="text 18.14"/>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Drafts made for this proposal. The name is a working title; the logo is not final.</a:t>
            </a:r>
            <a:endParaRPr lang="en-US" sz="850" dirty="0"/>
          </a:p>
        </p:txBody>
      </p:sp>
      <p:sp>
        <p:nvSpPr>
          <p:cNvPr id="16" name="shape 18.15"/>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7" name="shape 18.16"/>
          <p:cNvSpPr/>
          <p:nvPr/>
        </p:nvSpPr>
        <p:spPr>
          <a:xfrm>
            <a:off x="711182" y="355591"/>
            <a:ext cx="114297" cy="114297"/>
          </a:xfrm>
          <a:prstGeom prst="roundRect">
            <a:avLst>
              <a:gd name="adj" fmla="val 33333"/>
            </a:avLst>
          </a:prstGeom>
          <a:solidFill>
            <a:srgbClr val="43B832"/>
          </a:solidFill>
          <a:ln/>
        </p:spPr>
      </p:sp>
      <p:sp>
        <p:nvSpPr>
          <p:cNvPr id="18" name="shape 18.17"/>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9" name="shape 18.18"/>
          <p:cNvSpPr/>
          <p:nvPr/>
        </p:nvSpPr>
        <p:spPr>
          <a:xfrm>
            <a:off x="10058149" y="368291"/>
            <a:ext cx="101597" cy="101597"/>
          </a:xfrm>
          <a:prstGeom prst="roundRect">
            <a:avLst>
              <a:gd name="adj" fmla="val 31250"/>
            </a:avLst>
          </a:prstGeom>
          <a:solidFill>
            <a:srgbClr val="16233F"/>
          </a:solidFill>
          <a:ln/>
        </p:spPr>
      </p:sp>
      <p:sp>
        <p:nvSpPr>
          <p:cNvPr id="20" name="shape 18.19"/>
          <p:cNvSpPr/>
          <p:nvPr/>
        </p:nvSpPr>
        <p:spPr>
          <a:xfrm>
            <a:off x="10223244" y="368291"/>
            <a:ext cx="101597" cy="101597"/>
          </a:xfrm>
          <a:prstGeom prst="roundRect">
            <a:avLst>
              <a:gd name="adj" fmla="val 31250"/>
            </a:avLst>
          </a:prstGeom>
          <a:solidFill>
            <a:srgbClr val="16233F"/>
          </a:solidFill>
          <a:ln/>
        </p:spPr>
      </p:sp>
      <p:sp>
        <p:nvSpPr>
          <p:cNvPr id="21" name="shape 18.20"/>
          <p:cNvSpPr/>
          <p:nvPr/>
        </p:nvSpPr>
        <p:spPr>
          <a:xfrm>
            <a:off x="10388340" y="368291"/>
            <a:ext cx="101597" cy="101597"/>
          </a:xfrm>
          <a:prstGeom prst="roundRect">
            <a:avLst>
              <a:gd name="adj" fmla="val 31250"/>
            </a:avLst>
          </a:prstGeom>
          <a:solidFill>
            <a:srgbClr val="16233F"/>
          </a:solidFill>
          <a:ln/>
        </p:spPr>
      </p:sp>
      <p:sp>
        <p:nvSpPr>
          <p:cNvPr id="22" name="shape 18.21"/>
          <p:cNvSpPr/>
          <p:nvPr/>
        </p:nvSpPr>
        <p:spPr>
          <a:xfrm>
            <a:off x="10553436" y="368291"/>
            <a:ext cx="101597" cy="101597"/>
          </a:xfrm>
          <a:prstGeom prst="roundRect">
            <a:avLst>
              <a:gd name="adj" fmla="val 31250"/>
            </a:avLst>
          </a:prstGeom>
          <a:solidFill>
            <a:srgbClr val="16233F"/>
          </a:solidFill>
          <a:ln/>
        </p:spPr>
      </p:sp>
      <p:sp>
        <p:nvSpPr>
          <p:cNvPr id="23" name="shape 18.22"/>
          <p:cNvSpPr/>
          <p:nvPr/>
        </p:nvSpPr>
        <p:spPr>
          <a:xfrm>
            <a:off x="10718532" y="368291"/>
            <a:ext cx="101597" cy="101597"/>
          </a:xfrm>
          <a:prstGeom prst="roundRect">
            <a:avLst>
              <a:gd name="adj" fmla="val 31250"/>
            </a:avLst>
          </a:prstGeom>
          <a:solidFill>
            <a:srgbClr val="43B832"/>
          </a:solidFill>
          <a:ln/>
        </p:spPr>
      </p:sp>
      <p:sp>
        <p:nvSpPr>
          <p:cNvPr id="24" name="shape 18.23"/>
          <p:cNvSpPr/>
          <p:nvPr/>
        </p:nvSpPr>
        <p:spPr>
          <a:xfrm>
            <a:off x="10883628" y="368291"/>
            <a:ext cx="101597" cy="101597"/>
          </a:xfrm>
          <a:prstGeom prst="roundRect">
            <a:avLst>
              <a:gd name="adj" fmla="val 31250"/>
            </a:avLst>
          </a:prstGeom>
          <a:solidFill>
            <a:srgbClr val="C7D4E8"/>
          </a:solidFill>
          <a:ln/>
        </p:spPr>
      </p:sp>
      <p:sp>
        <p:nvSpPr>
          <p:cNvPr id="25" name="text 18.2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18</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26" name="text 18.25"/>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9.1"/>
          <p:cNvSpPr/>
          <p:nvPr/>
        </p:nvSpPr>
        <p:spPr>
          <a:xfrm>
            <a:off x="609585" y="1663658"/>
            <a:ext cx="535926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sp>
        <p:nvSpPr>
          <p:cNvPr id="3" name="shape 19.2"/>
          <p:cNvSpPr/>
          <p:nvPr/>
        </p:nvSpPr>
        <p:spPr>
          <a:xfrm>
            <a:off x="6222844" y="1663658"/>
            <a:ext cx="535926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pic>
        <p:nvPicPr>
          <p:cNvPr id="4" name="raster 19.3" descr="diagram">    </p:cNvPr>
          <p:cNvPicPr>
            <a:picLocks noChangeAspect="1"/>
          </p:cNvPicPr>
          <p:nvPr/>
        </p:nvPicPr>
        <p:blipFill>
          <a:blip r:embed="rId2"/>
          <a:stretch>
            <a:fillRect/>
          </a:stretch>
        </p:blipFill>
        <p:spPr>
          <a:xfrm>
            <a:off x="1320767" y="2311342"/>
            <a:ext cx="3149521" cy="3149521"/>
          </a:xfrm>
          <a:prstGeom prst="rect">
            <a:avLst/>
          </a:prstGeom>
        </p:spPr>
      </p:pic>
      <p:pic>
        <p:nvPicPr>
          <p:cNvPr id="5" name="raster 19.4" descr="diagram">    </p:cNvPr>
          <p:cNvPicPr>
            <a:picLocks noChangeAspect="1"/>
          </p:cNvPicPr>
          <p:nvPr/>
        </p:nvPicPr>
        <p:blipFill>
          <a:blip r:embed="rId3"/>
          <a:stretch>
            <a:fillRect/>
          </a:stretch>
        </p:blipFill>
        <p:spPr>
          <a:xfrm>
            <a:off x="6883228" y="2324042"/>
            <a:ext cx="4063898" cy="3441614"/>
          </a:xfrm>
          <a:prstGeom prst="rect">
            <a:avLst/>
          </a:prstGeom>
        </p:spPr>
      </p:pic>
      <p:sp>
        <p:nvSpPr>
          <p:cNvPr id="6" name="text 19.5"/>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Level drafts, top-down: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arena</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track</a:t>
            </a:r>
            <a:endParaRPr lang="en-US" sz="2700" dirty="0"/>
          </a:p>
        </p:txBody>
      </p:sp>
      <p:sp>
        <p:nvSpPr>
          <p:cNvPr id="7" name="text 19.6"/>
          <p:cNvSpPr txBox="1"/>
          <p:nvPr/>
        </p:nvSpPr>
        <p:spPr>
          <a:xfrm>
            <a:off x="863578" y="1879553"/>
            <a:ext cx="2377222"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FF6B1F"/>
                </a:solidFill>
                <a:latin typeface="Arial" pitchFamily="34" charset="0"/>
                <a:ea typeface="Arial" pitchFamily="34" charset="-122"/>
                <a:cs typeface="Arial" pitchFamily="34" charset="-120"/>
              </a:rPr>
              <a:t>MASS KNOCKOUT · ARENA DRAFT</a:t>
            </a:r>
            <a:endParaRPr lang="en-US" sz="850" dirty="0"/>
          </a:p>
        </p:txBody>
      </p:sp>
      <p:pic>
        <p:nvPicPr>
          <p:cNvPr id="8" name="raster 19.7" descr="diagram">    </p:cNvPr>
          <p:cNvPicPr>
            <a:picLocks noChangeAspect="1"/>
          </p:cNvPicPr>
          <p:nvPr/>
        </p:nvPicPr>
        <p:blipFill>
          <a:blip r:embed="rId4"/>
          <a:stretch>
            <a:fillRect/>
          </a:stretch>
        </p:blipFill>
        <p:spPr>
          <a:xfrm>
            <a:off x="1739857" y="2730432"/>
            <a:ext cx="304792" cy="304792"/>
          </a:xfrm>
          <a:prstGeom prst="rect">
            <a:avLst/>
          </a:prstGeom>
        </p:spPr>
      </p:pic>
      <p:pic>
        <p:nvPicPr>
          <p:cNvPr id="9" name="raster 19.8" descr="diagram">    </p:cNvPr>
          <p:cNvPicPr>
            <a:picLocks noChangeAspect="1"/>
          </p:cNvPicPr>
          <p:nvPr/>
        </p:nvPicPr>
        <p:blipFill>
          <a:blip r:embed="rId5"/>
          <a:stretch>
            <a:fillRect/>
          </a:stretch>
        </p:blipFill>
        <p:spPr>
          <a:xfrm>
            <a:off x="3619410" y="2730432"/>
            <a:ext cx="304792" cy="304792"/>
          </a:xfrm>
          <a:prstGeom prst="rect">
            <a:avLst/>
          </a:prstGeom>
        </p:spPr>
      </p:pic>
      <p:pic>
        <p:nvPicPr>
          <p:cNvPr id="10" name="raster 19.9" descr="diagram">    </p:cNvPr>
          <p:cNvPicPr>
            <a:picLocks noChangeAspect="1"/>
          </p:cNvPicPr>
          <p:nvPr/>
        </p:nvPicPr>
        <p:blipFill>
          <a:blip r:embed="rId6"/>
          <a:stretch>
            <a:fillRect/>
          </a:stretch>
        </p:blipFill>
        <p:spPr>
          <a:xfrm>
            <a:off x="1739857" y="4609985"/>
            <a:ext cx="304792" cy="304792"/>
          </a:xfrm>
          <a:prstGeom prst="rect">
            <a:avLst/>
          </a:prstGeom>
        </p:spPr>
      </p:pic>
      <p:pic>
        <p:nvPicPr>
          <p:cNvPr id="11" name="raster 19.10" descr="diagram">    </p:cNvPr>
          <p:cNvPicPr>
            <a:picLocks noChangeAspect="1"/>
          </p:cNvPicPr>
          <p:nvPr/>
        </p:nvPicPr>
        <p:blipFill>
          <a:blip r:embed="rId7"/>
          <a:stretch>
            <a:fillRect/>
          </a:stretch>
        </p:blipFill>
        <p:spPr>
          <a:xfrm>
            <a:off x="3619410" y="4609985"/>
            <a:ext cx="304792" cy="304792"/>
          </a:xfrm>
          <a:prstGeom prst="rect">
            <a:avLst/>
          </a:prstGeom>
        </p:spPr>
      </p:pic>
      <p:sp>
        <p:nvSpPr>
          <p:cNvPr id="12" name="text 19.11"/>
          <p:cNvSpPr txBox="1"/>
          <p:nvPr/>
        </p:nvSpPr>
        <p:spPr>
          <a:xfrm>
            <a:off x="1498563" y="5587860"/>
            <a:ext cx="279393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OPEN EDGE: FALL OFF AND YOU ARE OUT</a:t>
            </a:r>
            <a:endParaRPr lang="en-US" sz="750" dirty="0"/>
          </a:p>
        </p:txBody>
      </p:sp>
      <p:sp>
        <p:nvSpPr>
          <p:cNvPr id="13" name="text 19.12"/>
          <p:cNvSpPr txBox="1"/>
          <p:nvPr/>
        </p:nvSpPr>
        <p:spPr>
          <a:xfrm>
            <a:off x="4584585" y="2489138"/>
            <a:ext cx="1244569"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Fall zone. No walls, no cover.</a:t>
            </a:r>
            <a:endParaRPr lang="en-US" sz="850" dirty="0"/>
          </a:p>
        </p:txBody>
      </p:sp>
      <p:sp>
        <p:nvSpPr>
          <p:cNvPr id="14" name="text 19.13"/>
          <p:cNvSpPr txBox="1"/>
          <p:nvPr/>
        </p:nvSpPr>
        <p:spPr>
          <a:xfrm>
            <a:off x="4584585" y="3746406"/>
            <a:ext cx="1244569"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One flat square platform.</a:t>
            </a:r>
            <a:endParaRPr lang="en-US" sz="850" dirty="0"/>
          </a:p>
        </p:txBody>
      </p:sp>
      <p:sp>
        <p:nvSpPr>
          <p:cNvPr id="15" name="text 19.14"/>
          <p:cNvSpPr txBox="1"/>
          <p:nvPr/>
        </p:nvSpPr>
        <p:spPr>
          <a:xfrm>
            <a:off x="4584585" y="4698883"/>
            <a:ext cx="1244569"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Spawn near corners (draft).</a:t>
            </a:r>
            <a:endParaRPr lang="en-US" sz="850" dirty="0"/>
          </a:p>
        </p:txBody>
      </p:sp>
      <p:sp>
        <p:nvSpPr>
          <p:cNvPr id="16" name="text 19.15"/>
          <p:cNvSpPr txBox="1"/>
          <p:nvPr/>
        </p:nvSpPr>
        <p:spPr>
          <a:xfrm>
            <a:off x="6476838" y="1879553"/>
            <a:ext cx="1834023"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1FA9EA"/>
                </a:solidFill>
                <a:latin typeface="Arial" pitchFamily="34" charset="0"/>
                <a:ea typeface="Arial" pitchFamily="34" charset="-122"/>
                <a:cs typeface="Arial" pitchFamily="34" charset="-120"/>
              </a:rPr>
              <a:t>ICE RACE · TRACK DRAFT</a:t>
            </a:r>
            <a:endParaRPr lang="en-US" sz="850" dirty="0"/>
          </a:p>
        </p:txBody>
      </p:sp>
      <p:sp>
        <p:nvSpPr>
          <p:cNvPr id="17" name="text 19.16"/>
          <p:cNvSpPr txBox="1"/>
          <p:nvPr/>
        </p:nvSpPr>
        <p:spPr>
          <a:xfrm>
            <a:off x="7429314" y="4279793"/>
            <a:ext cx="45315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START</a:t>
            </a:r>
            <a:endParaRPr lang="en-US" sz="750" dirty="0"/>
          </a:p>
        </p:txBody>
      </p:sp>
      <p:sp>
        <p:nvSpPr>
          <p:cNvPr id="18" name="text 19.17"/>
          <p:cNvSpPr txBox="1"/>
          <p:nvPr/>
        </p:nvSpPr>
        <p:spPr>
          <a:xfrm>
            <a:off x="8369091" y="2133547"/>
            <a:ext cx="29634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CP1</a:t>
            </a:r>
            <a:endParaRPr lang="en-US" sz="750" dirty="0"/>
          </a:p>
        </p:txBody>
      </p:sp>
      <p:sp>
        <p:nvSpPr>
          <p:cNvPr id="19" name="text 19.18"/>
          <p:cNvSpPr txBox="1"/>
          <p:nvPr/>
        </p:nvSpPr>
        <p:spPr>
          <a:xfrm>
            <a:off x="8737382" y="3479713"/>
            <a:ext cx="29634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CP2</a:t>
            </a:r>
            <a:endParaRPr lang="en-US" sz="750" dirty="0"/>
          </a:p>
        </p:txBody>
      </p:sp>
      <p:sp>
        <p:nvSpPr>
          <p:cNvPr id="20" name="text 19.19"/>
          <p:cNvSpPr txBox="1"/>
          <p:nvPr/>
        </p:nvSpPr>
        <p:spPr>
          <a:xfrm>
            <a:off x="10959826" y="5029074"/>
            <a:ext cx="29634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CP3</a:t>
            </a:r>
            <a:endParaRPr lang="en-US" sz="750" dirty="0"/>
          </a:p>
        </p:txBody>
      </p:sp>
      <p:sp>
        <p:nvSpPr>
          <p:cNvPr id="21" name="text 19.20"/>
          <p:cNvSpPr txBox="1"/>
          <p:nvPr/>
        </p:nvSpPr>
        <p:spPr>
          <a:xfrm>
            <a:off x="9842254" y="2666933"/>
            <a:ext cx="1562061" cy="302213"/>
          </a:xfrm>
          <a:prstGeom prst="rect">
            <a:avLst/>
          </a:prstGeom>
          <a:noFill/>
          <a:ln/>
        </p:spPr>
        <p:txBody>
          <a:bodyPr wrap="square" lIns="0" tIns="0" rIns="0" bIns="0" rtlCol="0" anchor="t"/>
          <a:lstStyle/>
          <a:p>
            <a:pPr algn="l" indent="0" marL="0">
              <a:lnSpc>
                <a:spcPts val="1190"/>
              </a:lnSpc>
              <a:buNone/>
            </a:pPr>
            <a:r>
              <a:rPr lang="en-US" sz="850" b="1" dirty="0">
                <a:solidFill>
                  <a:srgbClr val="B07D00"/>
                </a:solidFill>
                <a:latin typeface="Arial" pitchFamily="34" charset="0"/>
                <a:ea typeface="Arial" pitchFamily="34" charset="-122"/>
                <a:cs typeface="Arial" pitchFamily="34" charset="-120"/>
              </a:rPr>
              <a:t>Yellow:</a:t>
            </a:r>
            <a:pPr algn="l" indent="0" marL="0">
              <a:lnSpc>
                <a:spcPts val="1190"/>
              </a:lnSpc>
              <a:buNone/>
            </a:pPr>
            <a:r>
              <a:rPr lang="en-US" sz="850" dirty="0">
                <a:solidFill>
                  <a:srgbClr val="6E7D9A"/>
                </a:solidFill>
                <a:latin typeface="Arial" pitchFamily="34" charset="0"/>
                <a:ea typeface="Arial" pitchFamily="34" charset="-122"/>
                <a:cs typeface="Arial" pitchFamily="34" charset="-120"/>
              </a:rPr>
              <a:t> low-grip corners. Set up early or slide off.</a:t>
            </a:r>
            <a:endParaRPr lang="en-US" sz="850" dirty="0"/>
          </a:p>
        </p:txBody>
      </p:sp>
      <p:sp>
        <p:nvSpPr>
          <p:cNvPr id="22" name="text 19.21"/>
          <p:cNvSpPr txBox="1"/>
          <p:nvPr/>
        </p:nvSpPr>
        <p:spPr>
          <a:xfrm>
            <a:off x="9842254" y="3555911"/>
            <a:ext cx="1562061" cy="302213"/>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Pushed into the water? Restart at your last checkpoint.</a:t>
            </a:r>
            <a:endParaRPr lang="en-US" sz="850" dirty="0"/>
          </a:p>
        </p:txBody>
      </p:sp>
      <p:sp>
        <p:nvSpPr>
          <p:cNvPr id="23" name="text 19.22"/>
          <p:cNvSpPr txBox="1"/>
          <p:nvPr/>
        </p:nvSpPr>
        <p:spPr>
          <a:xfrm>
            <a:off x="609585" y="6490828"/>
            <a:ext cx="1150591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Draft layouts for blockout. The track loops: after CP3 you pass CP1 again, and every checkpoint counts +1. Sizes and checkpoint count are not set.</a:t>
            </a:r>
            <a:endParaRPr lang="en-US" sz="850" dirty="0"/>
          </a:p>
        </p:txBody>
      </p:sp>
      <p:sp>
        <p:nvSpPr>
          <p:cNvPr id="24" name="shape 19.23"/>
          <p:cNvSpPr/>
          <p:nvPr/>
        </p:nvSpPr>
        <p:spPr>
          <a:xfrm>
            <a:off x="609585" y="266693"/>
            <a:ext cx="2024310"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5" name="shape 19.24"/>
          <p:cNvSpPr/>
          <p:nvPr/>
        </p:nvSpPr>
        <p:spPr>
          <a:xfrm>
            <a:off x="711182" y="355591"/>
            <a:ext cx="114297" cy="114297"/>
          </a:xfrm>
          <a:prstGeom prst="roundRect">
            <a:avLst>
              <a:gd name="adj" fmla="val 33333"/>
            </a:avLst>
          </a:prstGeom>
          <a:solidFill>
            <a:srgbClr val="43B832"/>
          </a:solidFill>
          <a:ln/>
        </p:spPr>
      </p:sp>
      <p:sp>
        <p:nvSpPr>
          <p:cNvPr id="26" name="shape 19.25"/>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27" name="shape 19.26"/>
          <p:cNvSpPr/>
          <p:nvPr/>
        </p:nvSpPr>
        <p:spPr>
          <a:xfrm>
            <a:off x="10058149" y="368291"/>
            <a:ext cx="101597" cy="101597"/>
          </a:xfrm>
          <a:prstGeom prst="roundRect">
            <a:avLst>
              <a:gd name="adj" fmla="val 31250"/>
            </a:avLst>
          </a:prstGeom>
          <a:solidFill>
            <a:srgbClr val="16233F"/>
          </a:solidFill>
          <a:ln/>
        </p:spPr>
      </p:sp>
      <p:sp>
        <p:nvSpPr>
          <p:cNvPr id="28" name="shape 19.27"/>
          <p:cNvSpPr/>
          <p:nvPr/>
        </p:nvSpPr>
        <p:spPr>
          <a:xfrm>
            <a:off x="10223244" y="368291"/>
            <a:ext cx="101597" cy="101597"/>
          </a:xfrm>
          <a:prstGeom prst="roundRect">
            <a:avLst>
              <a:gd name="adj" fmla="val 31250"/>
            </a:avLst>
          </a:prstGeom>
          <a:solidFill>
            <a:srgbClr val="16233F"/>
          </a:solidFill>
          <a:ln/>
        </p:spPr>
      </p:sp>
      <p:sp>
        <p:nvSpPr>
          <p:cNvPr id="29" name="shape 19.28"/>
          <p:cNvSpPr/>
          <p:nvPr/>
        </p:nvSpPr>
        <p:spPr>
          <a:xfrm>
            <a:off x="10388340" y="368291"/>
            <a:ext cx="101597" cy="101597"/>
          </a:xfrm>
          <a:prstGeom prst="roundRect">
            <a:avLst>
              <a:gd name="adj" fmla="val 31250"/>
            </a:avLst>
          </a:prstGeom>
          <a:solidFill>
            <a:srgbClr val="16233F"/>
          </a:solidFill>
          <a:ln/>
        </p:spPr>
      </p:sp>
      <p:sp>
        <p:nvSpPr>
          <p:cNvPr id="30" name="shape 19.29"/>
          <p:cNvSpPr/>
          <p:nvPr/>
        </p:nvSpPr>
        <p:spPr>
          <a:xfrm>
            <a:off x="10553436" y="368291"/>
            <a:ext cx="101597" cy="101597"/>
          </a:xfrm>
          <a:prstGeom prst="roundRect">
            <a:avLst>
              <a:gd name="adj" fmla="val 31250"/>
            </a:avLst>
          </a:prstGeom>
          <a:solidFill>
            <a:srgbClr val="16233F"/>
          </a:solidFill>
          <a:ln/>
        </p:spPr>
      </p:sp>
      <p:sp>
        <p:nvSpPr>
          <p:cNvPr id="31" name="shape 19.30"/>
          <p:cNvSpPr/>
          <p:nvPr/>
        </p:nvSpPr>
        <p:spPr>
          <a:xfrm>
            <a:off x="10718532" y="368291"/>
            <a:ext cx="101597" cy="101597"/>
          </a:xfrm>
          <a:prstGeom prst="roundRect">
            <a:avLst>
              <a:gd name="adj" fmla="val 31250"/>
            </a:avLst>
          </a:prstGeom>
          <a:solidFill>
            <a:srgbClr val="43B832"/>
          </a:solidFill>
          <a:ln/>
        </p:spPr>
      </p:sp>
      <p:sp>
        <p:nvSpPr>
          <p:cNvPr id="32" name="shape 19.31"/>
          <p:cNvSpPr/>
          <p:nvPr/>
        </p:nvSpPr>
        <p:spPr>
          <a:xfrm>
            <a:off x="10883628" y="368291"/>
            <a:ext cx="101597" cy="101597"/>
          </a:xfrm>
          <a:prstGeom prst="roundRect">
            <a:avLst>
              <a:gd name="adj" fmla="val 31250"/>
            </a:avLst>
          </a:prstGeom>
          <a:solidFill>
            <a:srgbClr val="C7D4E8"/>
          </a:solidFill>
          <a:ln/>
        </p:spPr>
      </p:sp>
      <p:sp>
        <p:nvSpPr>
          <p:cNvPr id="33" name="text 19.32"/>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19</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34" name="text 19.33"/>
          <p:cNvSpPr txBox="1"/>
          <p:nvPr/>
        </p:nvSpPr>
        <p:spPr>
          <a:xfrm>
            <a:off x="927077" y="349241"/>
            <a:ext cx="1495062"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05 · Drafts &amp; prototypes</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0.1"/>
          <p:cNvSpPr/>
          <p:nvPr/>
        </p:nvSpPr>
        <p:spPr>
          <a:xfrm>
            <a:off x="609585" y="2184345"/>
            <a:ext cx="2628834" cy="1904952"/>
          </a:xfrm>
          <a:prstGeom prst="roundRect">
            <a:avLst>
              <a:gd name="adj" fmla="val 9333"/>
            </a:avLst>
          </a:prstGeom>
          <a:solidFill>
            <a:srgbClr val="E6F6E1"/>
          </a:solidFill>
          <a:ln/>
          <a:effectLst>
            <a:outerShdw sx="100000" sy="100000" kx="0" ky="0" algn="bl" rotWithShape="0" blurRad="203200" dist="76200" dir="5400000">
              <a:srgbClr val="1E468C">
                <a:alpha val="16000"/>
              </a:srgbClr>
            </a:outerShdw>
          </a:effectLst>
        </p:spPr>
      </p:sp>
      <p:sp>
        <p:nvSpPr>
          <p:cNvPr id="3" name="shape 20.2"/>
          <p:cNvSpPr/>
          <p:nvPr/>
        </p:nvSpPr>
        <p:spPr>
          <a:xfrm>
            <a:off x="3390815" y="2184345"/>
            <a:ext cx="2628834" cy="1904952"/>
          </a:xfrm>
          <a:prstGeom prst="roundRect">
            <a:avLst>
              <a:gd name="adj" fmla="val 9333"/>
            </a:avLst>
          </a:prstGeom>
          <a:solidFill>
            <a:srgbClr val="E2F4FD"/>
          </a:solidFill>
          <a:ln/>
          <a:effectLst>
            <a:outerShdw sx="100000" sy="100000" kx="0" ky="0" algn="bl" rotWithShape="0" blurRad="203200" dist="76200" dir="5400000">
              <a:srgbClr val="1E468C">
                <a:alpha val="16000"/>
              </a:srgbClr>
            </a:outerShdw>
          </a:effectLst>
        </p:spPr>
      </p:sp>
      <p:sp>
        <p:nvSpPr>
          <p:cNvPr id="4" name="shape 20.3"/>
          <p:cNvSpPr/>
          <p:nvPr/>
        </p:nvSpPr>
        <p:spPr>
          <a:xfrm>
            <a:off x="6172046" y="2184345"/>
            <a:ext cx="2628834" cy="1904952"/>
          </a:xfrm>
          <a:prstGeom prst="roundRect">
            <a:avLst>
              <a:gd name="adj" fmla="val 9333"/>
            </a:avLst>
          </a:prstGeom>
          <a:solidFill>
            <a:srgbClr val="FFF0E6"/>
          </a:solidFill>
          <a:ln/>
          <a:effectLst>
            <a:outerShdw sx="100000" sy="100000" kx="0" ky="0" algn="bl" rotWithShape="0" blurRad="203200" dist="76200" dir="5400000">
              <a:srgbClr val="1E468C">
                <a:alpha val="16000"/>
              </a:srgbClr>
            </a:outerShdw>
          </a:effectLst>
        </p:spPr>
      </p:sp>
      <p:sp>
        <p:nvSpPr>
          <p:cNvPr id="5" name="shape 20.4"/>
          <p:cNvSpPr/>
          <p:nvPr/>
        </p:nvSpPr>
        <p:spPr>
          <a:xfrm>
            <a:off x="8953276" y="2184345"/>
            <a:ext cx="2628834" cy="1904952"/>
          </a:xfrm>
          <a:prstGeom prst="roundRect">
            <a:avLst>
              <a:gd name="adj" fmla="val 9333"/>
            </a:avLst>
          </a:prstGeom>
          <a:solidFill>
            <a:srgbClr val="F0E8FF"/>
          </a:solidFill>
          <a:ln/>
          <a:effectLst>
            <a:outerShdw sx="100000" sy="100000" kx="0" ky="0" algn="bl" rotWithShape="0" blurRad="203200" dist="76200" dir="5400000">
              <a:srgbClr val="1E468C">
                <a:alpha val="16000"/>
              </a:srgbClr>
            </a:outerShdw>
          </a:effectLst>
        </p:spPr>
      </p:sp>
      <p:sp>
        <p:nvSpPr>
          <p:cNvPr id="6" name="shape 20.5"/>
          <p:cNvSpPr/>
          <p:nvPr/>
        </p:nvSpPr>
        <p:spPr>
          <a:xfrm>
            <a:off x="609585" y="4381390"/>
            <a:ext cx="3555911" cy="1879553"/>
          </a:xfrm>
          <a:prstGeom prst="roundRect">
            <a:avLst>
              <a:gd name="adj" fmla="val 9459"/>
            </a:avLst>
          </a:prstGeom>
          <a:solidFill>
            <a:srgbClr val="FFFFFF"/>
          </a:solidFill>
          <a:ln/>
          <a:effectLst>
            <a:outerShdw sx="100000" sy="100000" kx="0" ky="0" algn="bl" rotWithShape="0" blurRad="203200" dist="76200" dir="5400000">
              <a:srgbClr val="1E468C">
                <a:alpha val="16000"/>
              </a:srgbClr>
            </a:outerShdw>
          </a:effectLst>
        </p:spPr>
      </p:sp>
      <p:sp>
        <p:nvSpPr>
          <p:cNvPr id="7" name="shape 20.6"/>
          <p:cNvSpPr/>
          <p:nvPr/>
        </p:nvSpPr>
        <p:spPr>
          <a:xfrm>
            <a:off x="4317892" y="4381390"/>
            <a:ext cx="3555911" cy="1879553"/>
          </a:xfrm>
          <a:prstGeom prst="roundRect">
            <a:avLst>
              <a:gd name="adj" fmla="val 9459"/>
            </a:avLst>
          </a:prstGeom>
          <a:solidFill>
            <a:srgbClr val="FFFFFF"/>
          </a:solidFill>
          <a:ln/>
          <a:effectLst>
            <a:outerShdw sx="100000" sy="100000" kx="0" ky="0" algn="bl" rotWithShape="0" blurRad="203200" dist="76200" dir="5400000">
              <a:srgbClr val="1E468C">
                <a:alpha val="16000"/>
              </a:srgbClr>
            </a:outerShdw>
          </a:effectLst>
        </p:spPr>
      </p:sp>
      <p:sp>
        <p:nvSpPr>
          <p:cNvPr id="8" name="shape 20.7"/>
          <p:cNvSpPr/>
          <p:nvPr/>
        </p:nvSpPr>
        <p:spPr>
          <a:xfrm>
            <a:off x="8026199" y="4381390"/>
            <a:ext cx="3555911" cy="1879553"/>
          </a:xfrm>
          <a:prstGeom prst="roundRect">
            <a:avLst>
              <a:gd name="adj" fmla="val 9459"/>
            </a:avLst>
          </a:prstGeom>
          <a:solidFill>
            <a:srgbClr val="FFFFFF"/>
          </a:solidFill>
          <a:ln/>
          <a:effectLst>
            <a:outerShdw sx="100000" sy="100000" kx="0" ky="0" algn="bl" rotWithShape="0" blurRad="203200" dist="76200" dir="5400000">
              <a:srgbClr val="1E468C">
                <a:alpha val="16000"/>
              </a:srgbClr>
            </a:outerShdw>
          </a:effectLst>
        </p:spPr>
      </p:sp>
      <p:pic>
        <p:nvPicPr>
          <p:cNvPr id="9" name="raster 20.8" descr="diagram">    </p:cNvPr>
          <p:cNvPicPr>
            <a:picLocks noChangeAspect="1"/>
          </p:cNvPicPr>
          <p:nvPr/>
        </p:nvPicPr>
        <p:blipFill>
          <a:blip r:embed="rId2"/>
          <a:stretch>
            <a:fillRect/>
          </a:stretch>
        </p:blipFill>
        <p:spPr>
          <a:xfrm>
            <a:off x="1873203" y="1854154"/>
            <a:ext cx="8445289" cy="101597"/>
          </a:xfrm>
          <a:prstGeom prst="rect">
            <a:avLst/>
          </a:prstGeom>
        </p:spPr>
      </p:pic>
      <p:sp>
        <p:nvSpPr>
          <p:cNvPr id="10" name="text 20.9"/>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Roadmap: 12 weeks, four presentations,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one playable step each</a:t>
            </a:r>
            <a:endParaRPr lang="en-US" sz="2700" dirty="0"/>
          </a:p>
        </p:txBody>
      </p:sp>
      <p:sp>
        <p:nvSpPr>
          <p:cNvPr id="11" name="text 20.10"/>
          <p:cNvSpPr txBox="1"/>
          <p:nvPr/>
        </p:nvSpPr>
        <p:spPr>
          <a:xfrm>
            <a:off x="609585" y="1498563"/>
            <a:ext cx="2461357"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COURSE CHECKPOINTS · ALL MONDAYS</a:t>
            </a:r>
            <a:endParaRPr lang="en-US" sz="750" dirty="0"/>
          </a:p>
        </p:txBody>
      </p:sp>
      <p:sp>
        <p:nvSpPr>
          <p:cNvPr id="12" name="shape 20.11"/>
          <p:cNvSpPr/>
          <p:nvPr/>
        </p:nvSpPr>
        <p:spPr>
          <a:xfrm>
            <a:off x="1797005" y="1777956"/>
            <a:ext cx="253994" cy="253994"/>
          </a:xfrm>
          <a:prstGeom prst="roundRect">
            <a:avLst>
              <a:gd name="adj" fmla="val 50000"/>
            </a:avLst>
          </a:prstGeom>
          <a:solidFill>
            <a:srgbClr val="43B832"/>
          </a:solidFill>
          <a:ln/>
        </p:spPr>
      </p:sp>
      <p:sp>
        <p:nvSpPr>
          <p:cNvPr id="13" name="text 20.12"/>
          <p:cNvSpPr txBox="1"/>
          <p:nvPr/>
        </p:nvSpPr>
        <p:spPr>
          <a:xfrm>
            <a:off x="787380" y="2374841"/>
            <a:ext cx="962170" cy="266693"/>
          </a:xfrm>
          <a:prstGeom prst="rect">
            <a:avLst/>
          </a:prstGeom>
          <a:noFill/>
          <a:ln/>
        </p:spPr>
        <p:txBody>
          <a:bodyPr wrap="square" lIns="0" tIns="0" rIns="0" bIns="0" rtlCol="0" anchor="t"/>
          <a:lstStyle/>
          <a:p>
            <a:pPr algn="l" indent="0" marL="0">
              <a:lnSpc>
                <a:spcPts val="2100"/>
              </a:lnSpc>
              <a:buNone/>
            </a:pPr>
            <a:r>
              <a:rPr lang="en-US" sz="2100" dirty="0">
                <a:solidFill>
                  <a:srgbClr val="43B832"/>
                </a:solidFill>
                <a:latin typeface="Arial Rounded MT Bold" pitchFamily="34" charset="0"/>
                <a:ea typeface="Arial Rounded MT Bold" pitchFamily="34" charset="-122"/>
                <a:cs typeface="Arial Rounded MT Bold" pitchFamily="34" charset="-120"/>
              </a:rPr>
              <a:t>19 Oct</a:t>
            </a:r>
            <a:endParaRPr lang="en-US" sz="2100" dirty="0"/>
          </a:p>
        </p:txBody>
      </p:sp>
      <p:sp>
        <p:nvSpPr>
          <p:cNvPr id="14" name="text 20.13"/>
          <p:cNvSpPr txBox="1"/>
          <p:nvPr/>
        </p:nvSpPr>
        <p:spPr>
          <a:xfrm>
            <a:off x="787380" y="2717732"/>
            <a:ext cx="875300"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Proposal</a:t>
            </a:r>
            <a:endParaRPr lang="en-US" sz="1400" dirty="0"/>
          </a:p>
        </p:txBody>
      </p:sp>
      <p:sp>
        <p:nvSpPr>
          <p:cNvPr id="15" name="text 20.14"/>
          <p:cNvSpPr txBox="1"/>
          <p:nvPr/>
        </p:nvSpPr>
        <p:spPr>
          <a:xfrm>
            <a:off x="787380" y="3009825"/>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Concept, research, prototype and drafts. This deck.</a:t>
            </a:r>
            <a:endParaRPr lang="en-US" sz="1100" dirty="0"/>
          </a:p>
        </p:txBody>
      </p:sp>
      <p:sp>
        <p:nvSpPr>
          <p:cNvPr id="16" name="shape 20.15"/>
          <p:cNvSpPr/>
          <p:nvPr/>
        </p:nvSpPr>
        <p:spPr>
          <a:xfrm>
            <a:off x="2451039" y="2412940"/>
            <a:ext cx="609585" cy="215895"/>
          </a:xfrm>
          <a:prstGeom prst="roundRect">
            <a:avLst>
              <a:gd name="adj" fmla="val 50000"/>
            </a:avLst>
          </a:prstGeom>
          <a:solidFill>
            <a:srgbClr val="43B832"/>
          </a:solidFill>
          <a:ln/>
        </p:spPr>
      </p:sp>
      <p:sp>
        <p:nvSpPr>
          <p:cNvPr id="17" name="text 20.16"/>
          <p:cNvSpPr txBox="1"/>
          <p:nvPr/>
        </p:nvSpPr>
        <p:spPr>
          <a:xfrm>
            <a:off x="2451039" y="2412940"/>
            <a:ext cx="609585"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DONE</a:t>
            </a:r>
            <a:endParaRPr lang="en-US" sz="700" dirty="0"/>
          </a:p>
        </p:txBody>
      </p:sp>
      <p:sp>
        <p:nvSpPr>
          <p:cNvPr id="18" name="shape 20.17"/>
          <p:cNvSpPr/>
          <p:nvPr/>
        </p:nvSpPr>
        <p:spPr>
          <a:xfrm>
            <a:off x="4578236" y="1777956"/>
            <a:ext cx="253994" cy="253994"/>
          </a:xfrm>
          <a:prstGeom prst="roundRect">
            <a:avLst>
              <a:gd name="adj" fmla="val 50000"/>
            </a:avLst>
          </a:prstGeom>
          <a:solidFill>
            <a:srgbClr val="1FA9EA"/>
          </a:solidFill>
          <a:ln/>
        </p:spPr>
      </p:sp>
      <p:sp>
        <p:nvSpPr>
          <p:cNvPr id="19" name="text 20.18"/>
          <p:cNvSpPr txBox="1"/>
          <p:nvPr/>
        </p:nvSpPr>
        <p:spPr>
          <a:xfrm>
            <a:off x="3568611" y="2374841"/>
            <a:ext cx="1005184" cy="266693"/>
          </a:xfrm>
          <a:prstGeom prst="rect">
            <a:avLst/>
          </a:prstGeom>
          <a:noFill/>
          <a:ln/>
        </p:spPr>
        <p:txBody>
          <a:bodyPr wrap="square" lIns="0" tIns="0" rIns="0" bIns="0" rtlCol="0" anchor="t"/>
          <a:lstStyle/>
          <a:p>
            <a:pPr algn="l" indent="0" marL="0">
              <a:lnSpc>
                <a:spcPts val="2100"/>
              </a:lnSpc>
              <a:buNone/>
            </a:pPr>
            <a:r>
              <a:rPr lang="en-US" sz="2100" dirty="0">
                <a:solidFill>
                  <a:srgbClr val="1FA9EA"/>
                </a:solidFill>
                <a:latin typeface="Arial Rounded MT Bold" pitchFamily="34" charset="0"/>
                <a:ea typeface="Arial Rounded MT Bold" pitchFamily="34" charset="-122"/>
                <a:cs typeface="Arial Rounded MT Bold" pitchFamily="34" charset="-120"/>
              </a:rPr>
              <a:t>16 Nov</a:t>
            </a:r>
            <a:endParaRPr lang="en-US" sz="2100" dirty="0"/>
          </a:p>
        </p:txBody>
      </p:sp>
      <p:sp>
        <p:nvSpPr>
          <p:cNvPr id="20" name="text 20.19"/>
          <p:cNvSpPr txBox="1"/>
          <p:nvPr/>
        </p:nvSpPr>
        <p:spPr>
          <a:xfrm>
            <a:off x="3568611" y="2717732"/>
            <a:ext cx="754776"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Demo 1</a:t>
            </a:r>
            <a:endParaRPr lang="en-US" sz="1400" dirty="0"/>
          </a:p>
        </p:txBody>
      </p:sp>
      <p:sp>
        <p:nvSpPr>
          <p:cNvPr id="21" name="text 20.20"/>
          <p:cNvSpPr txBox="1"/>
          <p:nvPr/>
        </p:nvSpPr>
        <p:spPr>
          <a:xfrm>
            <a:off x="3568611" y="3009825"/>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Shared core and LAN host/join. Ice Race playable as a blockout.</a:t>
            </a:r>
            <a:endParaRPr lang="en-US" sz="1100" dirty="0"/>
          </a:p>
        </p:txBody>
      </p:sp>
      <p:sp>
        <p:nvSpPr>
          <p:cNvPr id="22" name="shape 20.21"/>
          <p:cNvSpPr/>
          <p:nvPr/>
        </p:nvSpPr>
        <p:spPr>
          <a:xfrm>
            <a:off x="7359466" y="1777956"/>
            <a:ext cx="253994" cy="253994"/>
          </a:xfrm>
          <a:prstGeom prst="roundRect">
            <a:avLst>
              <a:gd name="adj" fmla="val 50000"/>
            </a:avLst>
          </a:prstGeom>
          <a:solidFill>
            <a:srgbClr val="FF6B1F"/>
          </a:solidFill>
          <a:ln/>
        </p:spPr>
      </p:sp>
      <p:sp>
        <p:nvSpPr>
          <p:cNvPr id="23" name="text 20.22"/>
          <p:cNvSpPr txBox="1"/>
          <p:nvPr/>
        </p:nvSpPr>
        <p:spPr>
          <a:xfrm>
            <a:off x="6349841" y="2374841"/>
            <a:ext cx="1015385" cy="266693"/>
          </a:xfrm>
          <a:prstGeom prst="rect">
            <a:avLst/>
          </a:prstGeom>
          <a:noFill/>
          <a:ln/>
        </p:spPr>
        <p:txBody>
          <a:bodyPr wrap="square" lIns="0" tIns="0" rIns="0" bIns="0" rtlCol="0" anchor="t"/>
          <a:lstStyle/>
          <a:p>
            <a:pPr algn="l" indent="0" marL="0">
              <a:lnSpc>
                <a:spcPts val="2100"/>
              </a:lnSpc>
              <a:buNone/>
            </a:pPr>
            <a:r>
              <a:rPr lang="en-US" sz="2100" dirty="0">
                <a:solidFill>
                  <a:srgbClr val="FF6B1F"/>
                </a:solidFill>
                <a:latin typeface="Arial Rounded MT Bold" pitchFamily="34" charset="0"/>
                <a:ea typeface="Arial Rounded MT Bold" pitchFamily="34" charset="-122"/>
                <a:cs typeface="Arial Rounded MT Bold" pitchFamily="34" charset="-120"/>
              </a:rPr>
              <a:t>14 Dec</a:t>
            </a:r>
            <a:endParaRPr lang="en-US" sz="2100" dirty="0"/>
          </a:p>
        </p:txBody>
      </p:sp>
      <p:sp>
        <p:nvSpPr>
          <p:cNvPr id="24" name="text 20.23"/>
          <p:cNvSpPr txBox="1"/>
          <p:nvPr/>
        </p:nvSpPr>
        <p:spPr>
          <a:xfrm>
            <a:off x="6349841" y="2717732"/>
            <a:ext cx="754776"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Demo 2</a:t>
            </a:r>
            <a:endParaRPr lang="en-US" sz="1400" dirty="0"/>
          </a:p>
        </p:txBody>
      </p:sp>
      <p:sp>
        <p:nvSpPr>
          <p:cNvPr id="25" name="text 20.24"/>
          <p:cNvSpPr txBox="1"/>
          <p:nvPr/>
        </p:nvSpPr>
        <p:spPr>
          <a:xfrm>
            <a:off x="6349841" y="3009825"/>
            <a:ext cx="2324042" cy="586666"/>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Mass Knockout over LAN. A full session: playlist, rounds and the scoreboard.</a:t>
            </a:r>
            <a:endParaRPr lang="en-US" sz="1100" dirty="0"/>
          </a:p>
        </p:txBody>
      </p:sp>
      <p:sp>
        <p:nvSpPr>
          <p:cNvPr id="26" name="shape 20.25"/>
          <p:cNvSpPr/>
          <p:nvPr/>
        </p:nvSpPr>
        <p:spPr>
          <a:xfrm>
            <a:off x="10140696" y="1777956"/>
            <a:ext cx="253994" cy="253994"/>
          </a:xfrm>
          <a:prstGeom prst="roundRect">
            <a:avLst>
              <a:gd name="adj" fmla="val 50000"/>
            </a:avLst>
          </a:prstGeom>
          <a:solidFill>
            <a:srgbClr val="8F55F5"/>
          </a:solidFill>
          <a:ln/>
        </p:spPr>
      </p:sp>
      <p:sp>
        <p:nvSpPr>
          <p:cNvPr id="27" name="text 20.26"/>
          <p:cNvSpPr txBox="1"/>
          <p:nvPr/>
        </p:nvSpPr>
        <p:spPr>
          <a:xfrm>
            <a:off x="9131072" y="2374841"/>
            <a:ext cx="971004" cy="266693"/>
          </a:xfrm>
          <a:prstGeom prst="rect">
            <a:avLst/>
          </a:prstGeom>
          <a:noFill/>
          <a:ln/>
        </p:spPr>
        <p:txBody>
          <a:bodyPr wrap="square" lIns="0" tIns="0" rIns="0" bIns="0" rtlCol="0" anchor="t"/>
          <a:lstStyle/>
          <a:p>
            <a:pPr algn="l" indent="0" marL="0">
              <a:lnSpc>
                <a:spcPts val="2100"/>
              </a:lnSpc>
              <a:buNone/>
            </a:pPr>
            <a:r>
              <a:rPr lang="en-US" sz="2100" dirty="0">
                <a:solidFill>
                  <a:srgbClr val="8F55F5"/>
                </a:solidFill>
                <a:latin typeface="Arial Rounded MT Bold" pitchFamily="34" charset="0"/>
                <a:ea typeface="Arial Rounded MT Bold" pitchFamily="34" charset="-122"/>
                <a:cs typeface="Arial Rounded MT Bold" pitchFamily="34" charset="-120"/>
              </a:rPr>
              <a:t>11 Jan</a:t>
            </a:r>
            <a:endParaRPr lang="en-US" sz="2100" dirty="0"/>
          </a:p>
        </p:txBody>
      </p:sp>
      <p:sp>
        <p:nvSpPr>
          <p:cNvPr id="28" name="text 20.27"/>
          <p:cNvSpPr txBox="1"/>
          <p:nvPr/>
        </p:nvSpPr>
        <p:spPr>
          <a:xfrm>
            <a:off x="9131072" y="2717732"/>
            <a:ext cx="502896"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Final</a:t>
            </a:r>
            <a:endParaRPr lang="en-US" sz="1400" dirty="0"/>
          </a:p>
        </p:txBody>
      </p:sp>
      <p:sp>
        <p:nvSpPr>
          <p:cNvPr id="29" name="text 20.28"/>
          <p:cNvSpPr txBox="1"/>
          <p:nvPr/>
        </p:nvSpPr>
        <p:spPr>
          <a:xfrm>
            <a:off x="9131072" y="3009825"/>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Tuned, polished build. Promo video. Date subject to change.</a:t>
            </a:r>
            <a:endParaRPr lang="en-US" sz="1100" dirty="0"/>
          </a:p>
        </p:txBody>
      </p:sp>
      <p:sp>
        <p:nvSpPr>
          <p:cNvPr id="30" name="shape 20.29"/>
          <p:cNvSpPr/>
          <p:nvPr/>
        </p:nvSpPr>
        <p:spPr>
          <a:xfrm>
            <a:off x="800080" y="4559186"/>
            <a:ext cx="698483" cy="215895"/>
          </a:xfrm>
          <a:prstGeom prst="roundRect">
            <a:avLst>
              <a:gd name="adj" fmla="val 50000"/>
            </a:avLst>
          </a:prstGeom>
          <a:solidFill>
            <a:srgbClr val="E2F4FD"/>
          </a:solidFill>
          <a:ln/>
        </p:spPr>
      </p:sp>
      <p:sp>
        <p:nvSpPr>
          <p:cNvPr id="31" name="text 20.30"/>
          <p:cNvSpPr txBox="1"/>
          <p:nvPr/>
        </p:nvSpPr>
        <p:spPr>
          <a:xfrm>
            <a:off x="800080" y="4559186"/>
            <a:ext cx="698483"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RISK 01</a:t>
            </a:r>
            <a:endParaRPr lang="en-US" sz="700" dirty="0"/>
          </a:p>
        </p:txBody>
      </p:sp>
      <p:sp>
        <p:nvSpPr>
          <p:cNvPr id="32" name="text 20.31"/>
          <p:cNvSpPr txBox="1"/>
          <p:nvPr/>
        </p:nvSpPr>
        <p:spPr>
          <a:xfrm>
            <a:off x="800080" y="4902077"/>
            <a:ext cx="2425915" cy="241294"/>
          </a:xfrm>
          <a:prstGeom prst="rect">
            <a:avLst/>
          </a:prstGeom>
          <a:noFill/>
          <a:ln/>
        </p:spPr>
        <p:txBody>
          <a:bodyPr wrap="square" lIns="0" tIns="0" rIns="0" bIns="0" rtlCol="0" anchor="t"/>
          <a:lstStyle/>
          <a:p>
            <a:pPr algn="l" indent="0" marL="0">
              <a:lnSpc>
                <a:spcPts val="1900"/>
              </a:lnSpc>
              <a:buNone/>
            </a:pPr>
            <a:r>
              <a:rPr lang="en-US" sz="1900" dirty="0">
                <a:solidFill>
                  <a:srgbClr val="1FA9EA"/>
                </a:solidFill>
                <a:latin typeface="Arial Rounded MT Bold" pitchFamily="34" charset="0"/>
                <a:ea typeface="Arial Rounded MT Bold" pitchFamily="34" charset="-122"/>
                <a:cs typeface="Arial Rounded MT Bold" pitchFamily="34" charset="-120"/>
              </a:rPr>
              <a:t>Networked physics</a:t>
            </a:r>
            <a:endParaRPr lang="en-US" sz="1900" dirty="0"/>
          </a:p>
        </p:txBody>
      </p:sp>
      <p:sp>
        <p:nvSpPr>
          <p:cNvPr id="33" name="text 20.32"/>
          <p:cNvSpPr txBox="1"/>
          <p:nvPr/>
        </p:nvSpPr>
        <p:spPr>
          <a:xfrm>
            <a:off x="800080" y="5270368"/>
            <a:ext cx="3213020" cy="188590"/>
          </a:xfrm>
          <a:prstGeom prst="rect">
            <a:avLst/>
          </a:prstGeom>
          <a:noFill/>
          <a:ln/>
        </p:spPr>
        <p:txBody>
          <a:bodyPr wrap="square" lIns="0" tIns="0" rIns="0" bIns="0" rtlCol="0" anchor="t"/>
          <a:lstStyle/>
          <a:p>
            <a:pPr algn="l" indent="0" marL="0">
              <a:lnSpc>
                <a:spcPts val="1480"/>
              </a:lnSpc>
              <a:buNone/>
            </a:pPr>
            <a:r>
              <a:rPr lang="en-US" sz="1100" b="1" dirty="0">
                <a:solidFill>
                  <a:srgbClr val="16233F"/>
                </a:solidFill>
                <a:latin typeface="Arial" pitchFamily="34" charset="0"/>
                <a:ea typeface="Arial" pitchFamily="34" charset="-122"/>
                <a:cs typeface="Arial" pitchFamily="34" charset="-120"/>
              </a:rPr>
              <a:t>Clients disagree on a knockback.</a:t>
            </a:r>
            <a:endParaRPr lang="en-US" sz="1100" dirty="0"/>
          </a:p>
        </p:txBody>
      </p:sp>
      <p:sp>
        <p:nvSpPr>
          <p:cNvPr id="34" name="text 20.33"/>
          <p:cNvSpPr txBox="1"/>
          <p:nvPr/>
        </p:nvSpPr>
        <p:spPr>
          <a:xfrm>
            <a:off x="800080" y="5524362"/>
            <a:ext cx="3213020" cy="195575"/>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Host simulates; clients only render and interpolate.</a:t>
            </a:r>
            <a:endParaRPr lang="en-US" sz="1100" dirty="0"/>
          </a:p>
        </p:txBody>
      </p:sp>
      <p:sp>
        <p:nvSpPr>
          <p:cNvPr id="35" name="shape 20.34"/>
          <p:cNvSpPr/>
          <p:nvPr/>
        </p:nvSpPr>
        <p:spPr>
          <a:xfrm>
            <a:off x="4508387" y="4559186"/>
            <a:ext cx="698483" cy="215895"/>
          </a:xfrm>
          <a:prstGeom prst="roundRect">
            <a:avLst>
              <a:gd name="adj" fmla="val 50000"/>
            </a:avLst>
          </a:prstGeom>
          <a:solidFill>
            <a:srgbClr val="FFF0E6"/>
          </a:solidFill>
          <a:ln/>
        </p:spPr>
      </p:sp>
      <p:sp>
        <p:nvSpPr>
          <p:cNvPr id="36" name="text 20.35"/>
          <p:cNvSpPr txBox="1"/>
          <p:nvPr/>
        </p:nvSpPr>
        <p:spPr>
          <a:xfrm>
            <a:off x="4508387" y="4559186"/>
            <a:ext cx="698483"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RISK 02</a:t>
            </a:r>
            <a:endParaRPr lang="en-US" sz="700" dirty="0"/>
          </a:p>
        </p:txBody>
      </p:sp>
      <p:sp>
        <p:nvSpPr>
          <p:cNvPr id="37" name="text 20.36"/>
          <p:cNvSpPr txBox="1"/>
          <p:nvPr/>
        </p:nvSpPr>
        <p:spPr>
          <a:xfrm>
            <a:off x="4508387" y="4902077"/>
            <a:ext cx="1079223" cy="241294"/>
          </a:xfrm>
          <a:prstGeom prst="rect">
            <a:avLst/>
          </a:prstGeom>
          <a:noFill/>
          <a:ln/>
        </p:spPr>
        <p:txBody>
          <a:bodyPr wrap="square" lIns="0" tIns="0" rIns="0" bIns="0" rtlCol="0" anchor="t"/>
          <a:lstStyle/>
          <a:p>
            <a:pPr algn="l" indent="0" marL="0">
              <a:lnSpc>
                <a:spcPts val="1900"/>
              </a:lnSpc>
              <a:buNone/>
            </a:pPr>
            <a:r>
              <a:rPr lang="en-US" sz="1900" dirty="0">
                <a:solidFill>
                  <a:srgbClr val="FF6B1F"/>
                </a:solidFill>
                <a:latin typeface="Arial Rounded MT Bold" pitchFamily="34" charset="0"/>
                <a:ea typeface="Arial Rounded MT Bold" pitchFamily="34" charset="-122"/>
                <a:cs typeface="Arial Rounded MT Bold" pitchFamily="34" charset="-120"/>
              </a:rPr>
              <a:t>Balance</a:t>
            </a:r>
            <a:endParaRPr lang="en-US" sz="1900" dirty="0"/>
          </a:p>
        </p:txBody>
      </p:sp>
      <p:sp>
        <p:nvSpPr>
          <p:cNvPr id="38" name="text 20.37"/>
          <p:cNvSpPr txBox="1"/>
          <p:nvPr/>
        </p:nvSpPr>
        <p:spPr>
          <a:xfrm>
            <a:off x="4508387" y="5270368"/>
            <a:ext cx="3213020" cy="188590"/>
          </a:xfrm>
          <a:prstGeom prst="rect">
            <a:avLst/>
          </a:prstGeom>
          <a:noFill/>
          <a:ln/>
        </p:spPr>
        <p:txBody>
          <a:bodyPr wrap="square" lIns="0" tIns="0" rIns="0" bIns="0" rtlCol="0" anchor="t"/>
          <a:lstStyle/>
          <a:p>
            <a:pPr algn="l" indent="0" marL="0">
              <a:lnSpc>
                <a:spcPts val="1480"/>
              </a:lnSpc>
              <a:buNone/>
            </a:pPr>
            <a:r>
              <a:rPr lang="en-US" sz="1100" b="1" dirty="0">
                <a:solidFill>
                  <a:srgbClr val="16233F"/>
                </a:solidFill>
                <a:latin typeface="Arial" pitchFamily="34" charset="0"/>
                <a:ea typeface="Arial" pitchFamily="34" charset="-122"/>
                <a:cs typeface="Arial" pitchFamily="34" charset="-120"/>
              </a:rPr>
              <a:t>Hits are too easy to land.</a:t>
            </a:r>
            <a:endParaRPr lang="en-US" sz="1100" dirty="0"/>
          </a:p>
        </p:txBody>
      </p:sp>
      <p:sp>
        <p:nvSpPr>
          <p:cNvPr id="39" name="text 20.38"/>
          <p:cNvSpPr txBox="1"/>
          <p:nvPr/>
        </p:nvSpPr>
        <p:spPr>
          <a:xfrm>
            <a:off x="4508387" y="5524362"/>
            <a:ext cx="3213020"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If playtests show it, shots arc under gravity, so aiming takes skill.</a:t>
            </a:r>
            <a:endParaRPr lang="en-US" sz="1100" dirty="0"/>
          </a:p>
        </p:txBody>
      </p:sp>
      <p:sp>
        <p:nvSpPr>
          <p:cNvPr id="40" name="shape 20.39"/>
          <p:cNvSpPr/>
          <p:nvPr/>
        </p:nvSpPr>
        <p:spPr>
          <a:xfrm>
            <a:off x="8216695" y="4559186"/>
            <a:ext cx="698483" cy="215895"/>
          </a:xfrm>
          <a:prstGeom prst="roundRect">
            <a:avLst>
              <a:gd name="adj" fmla="val 50000"/>
            </a:avLst>
          </a:prstGeom>
          <a:solidFill>
            <a:srgbClr val="F0E8FF"/>
          </a:solidFill>
          <a:ln/>
        </p:spPr>
      </p:sp>
      <p:sp>
        <p:nvSpPr>
          <p:cNvPr id="41" name="text 20.40"/>
          <p:cNvSpPr txBox="1"/>
          <p:nvPr/>
        </p:nvSpPr>
        <p:spPr>
          <a:xfrm>
            <a:off x="8216695" y="4559186"/>
            <a:ext cx="698483" cy="215895"/>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8F55F5"/>
                </a:solidFill>
                <a:latin typeface="Arial" pitchFamily="34" charset="0"/>
                <a:ea typeface="Arial" pitchFamily="34" charset="-122"/>
                <a:cs typeface="Arial" pitchFamily="34" charset="-120"/>
              </a:rPr>
              <a:t>RISK 03</a:t>
            </a:r>
            <a:endParaRPr lang="en-US" sz="700" dirty="0"/>
          </a:p>
        </p:txBody>
      </p:sp>
      <p:sp>
        <p:nvSpPr>
          <p:cNvPr id="42" name="text 20.41"/>
          <p:cNvSpPr txBox="1"/>
          <p:nvPr/>
        </p:nvSpPr>
        <p:spPr>
          <a:xfrm>
            <a:off x="8216695" y="4902077"/>
            <a:ext cx="852478" cy="241294"/>
          </a:xfrm>
          <a:prstGeom prst="rect">
            <a:avLst/>
          </a:prstGeom>
          <a:noFill/>
          <a:ln/>
        </p:spPr>
        <p:txBody>
          <a:bodyPr wrap="square" lIns="0" tIns="0" rIns="0" bIns="0" rtlCol="0" anchor="t"/>
          <a:lstStyle/>
          <a:p>
            <a:pPr algn="l" indent="0" marL="0">
              <a:lnSpc>
                <a:spcPts val="1900"/>
              </a:lnSpc>
              <a:buNone/>
            </a:pPr>
            <a:r>
              <a:rPr lang="en-US" sz="1900" dirty="0">
                <a:solidFill>
                  <a:srgbClr val="8F55F5"/>
                </a:solidFill>
                <a:latin typeface="Arial Rounded MT Bold" pitchFamily="34" charset="0"/>
                <a:ea typeface="Arial Rounded MT Bold" pitchFamily="34" charset="-122"/>
                <a:cs typeface="Arial Rounded MT Bold" pitchFamily="34" charset="-120"/>
              </a:rPr>
              <a:t>Scope</a:t>
            </a:r>
            <a:endParaRPr lang="en-US" sz="1900" dirty="0"/>
          </a:p>
        </p:txBody>
      </p:sp>
      <p:sp>
        <p:nvSpPr>
          <p:cNvPr id="43" name="text 20.42"/>
          <p:cNvSpPr txBox="1"/>
          <p:nvPr/>
        </p:nvSpPr>
        <p:spPr>
          <a:xfrm>
            <a:off x="8216695" y="5270368"/>
            <a:ext cx="3213020" cy="188590"/>
          </a:xfrm>
          <a:prstGeom prst="rect">
            <a:avLst/>
          </a:prstGeom>
          <a:noFill/>
          <a:ln/>
        </p:spPr>
        <p:txBody>
          <a:bodyPr wrap="square" lIns="0" tIns="0" rIns="0" bIns="0" rtlCol="0" anchor="t"/>
          <a:lstStyle/>
          <a:p>
            <a:pPr algn="l" indent="0" marL="0">
              <a:lnSpc>
                <a:spcPts val="1480"/>
              </a:lnSpc>
              <a:buNone/>
            </a:pPr>
            <a:r>
              <a:rPr lang="en-US" sz="1100" b="1" dirty="0">
                <a:solidFill>
                  <a:srgbClr val="16233F"/>
                </a:solidFill>
                <a:latin typeface="Arial" pitchFamily="34" charset="0"/>
                <a:ea typeface="Arial" pitchFamily="34" charset="-122"/>
                <a:cs typeface="Arial" pitchFamily="34" charset="-120"/>
              </a:rPr>
              <a:t>Too many mini-games for one term.</a:t>
            </a:r>
            <a:endParaRPr lang="en-US" sz="1100" dirty="0"/>
          </a:p>
        </p:txBody>
      </p:sp>
      <p:sp>
        <p:nvSpPr>
          <p:cNvPr id="44" name="text 20.43"/>
          <p:cNvSpPr txBox="1"/>
          <p:nvPr/>
        </p:nvSpPr>
        <p:spPr>
          <a:xfrm>
            <a:off x="8216695" y="5524362"/>
            <a:ext cx="3213020" cy="391111"/>
          </a:xfrm>
          <a:prstGeom prst="rect">
            <a:avLst/>
          </a:prstGeom>
          <a:noFill/>
          <a:ln/>
        </p:spPr>
        <p:txBody>
          <a:bodyPr wrap="square" lIns="0" tIns="0" rIns="0" bIns="0" rtlCol="0" anchor="t"/>
          <a:lstStyle/>
          <a:p>
            <a:pPr algn="l" indent="0" marL="0">
              <a:lnSpc>
                <a:spcPts val="1540"/>
              </a:lnSpc>
              <a:buNone/>
            </a:pPr>
            <a:r>
              <a:rPr lang="en-US" sz="1100" dirty="0">
                <a:solidFill>
                  <a:srgbClr val="3B4A66"/>
                </a:solidFill>
                <a:latin typeface="Arial" pitchFamily="34" charset="0"/>
                <a:ea typeface="Arial" pitchFamily="34" charset="-122"/>
                <a:cs typeface="Arial" pitchFamily="34" charset="-120"/>
              </a:rPr>
              <a:t>Exactly two in the MVP. More only once both are fun.</a:t>
            </a:r>
            <a:endParaRPr lang="en-US" sz="1100" dirty="0"/>
          </a:p>
        </p:txBody>
      </p:sp>
      <p:sp>
        <p:nvSpPr>
          <p:cNvPr id="45" name="shape 20.44"/>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6" name="shape 20.45"/>
          <p:cNvSpPr/>
          <p:nvPr/>
        </p:nvSpPr>
        <p:spPr>
          <a:xfrm>
            <a:off x="711182" y="355591"/>
            <a:ext cx="114297" cy="114297"/>
          </a:xfrm>
          <a:prstGeom prst="roundRect">
            <a:avLst>
              <a:gd name="adj" fmla="val 33333"/>
            </a:avLst>
          </a:prstGeom>
          <a:solidFill>
            <a:srgbClr val="1FA9EA"/>
          </a:solidFill>
          <a:ln/>
        </p:spPr>
      </p:sp>
      <p:sp>
        <p:nvSpPr>
          <p:cNvPr id="47" name="shape 20.4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48" name="shape 20.47"/>
          <p:cNvSpPr/>
          <p:nvPr/>
        </p:nvSpPr>
        <p:spPr>
          <a:xfrm>
            <a:off x="10058149" y="368291"/>
            <a:ext cx="101597" cy="101597"/>
          </a:xfrm>
          <a:prstGeom prst="roundRect">
            <a:avLst>
              <a:gd name="adj" fmla="val 31250"/>
            </a:avLst>
          </a:prstGeom>
          <a:solidFill>
            <a:srgbClr val="16233F"/>
          </a:solidFill>
          <a:ln/>
        </p:spPr>
      </p:sp>
      <p:sp>
        <p:nvSpPr>
          <p:cNvPr id="49" name="shape 20.48"/>
          <p:cNvSpPr/>
          <p:nvPr/>
        </p:nvSpPr>
        <p:spPr>
          <a:xfrm>
            <a:off x="10223244" y="368291"/>
            <a:ext cx="101597" cy="101597"/>
          </a:xfrm>
          <a:prstGeom prst="roundRect">
            <a:avLst>
              <a:gd name="adj" fmla="val 31250"/>
            </a:avLst>
          </a:prstGeom>
          <a:solidFill>
            <a:srgbClr val="16233F"/>
          </a:solidFill>
          <a:ln/>
        </p:spPr>
      </p:sp>
      <p:sp>
        <p:nvSpPr>
          <p:cNvPr id="50" name="shape 20.49"/>
          <p:cNvSpPr/>
          <p:nvPr/>
        </p:nvSpPr>
        <p:spPr>
          <a:xfrm>
            <a:off x="10388340" y="368291"/>
            <a:ext cx="101597" cy="101597"/>
          </a:xfrm>
          <a:prstGeom prst="roundRect">
            <a:avLst>
              <a:gd name="adj" fmla="val 31250"/>
            </a:avLst>
          </a:prstGeom>
          <a:solidFill>
            <a:srgbClr val="16233F"/>
          </a:solidFill>
          <a:ln/>
        </p:spPr>
      </p:sp>
      <p:sp>
        <p:nvSpPr>
          <p:cNvPr id="51" name="shape 20.50"/>
          <p:cNvSpPr/>
          <p:nvPr/>
        </p:nvSpPr>
        <p:spPr>
          <a:xfrm>
            <a:off x="10553436" y="368291"/>
            <a:ext cx="101597" cy="101597"/>
          </a:xfrm>
          <a:prstGeom prst="roundRect">
            <a:avLst>
              <a:gd name="adj" fmla="val 31250"/>
            </a:avLst>
          </a:prstGeom>
          <a:solidFill>
            <a:srgbClr val="16233F"/>
          </a:solidFill>
          <a:ln/>
        </p:spPr>
      </p:sp>
      <p:sp>
        <p:nvSpPr>
          <p:cNvPr id="52" name="shape 20.51"/>
          <p:cNvSpPr/>
          <p:nvPr/>
        </p:nvSpPr>
        <p:spPr>
          <a:xfrm>
            <a:off x="10718532" y="368291"/>
            <a:ext cx="101597" cy="101597"/>
          </a:xfrm>
          <a:prstGeom prst="roundRect">
            <a:avLst>
              <a:gd name="adj" fmla="val 31250"/>
            </a:avLst>
          </a:prstGeom>
          <a:solidFill>
            <a:srgbClr val="16233F"/>
          </a:solidFill>
          <a:ln/>
        </p:spPr>
      </p:sp>
      <p:sp>
        <p:nvSpPr>
          <p:cNvPr id="53" name="shape 20.52"/>
          <p:cNvSpPr/>
          <p:nvPr/>
        </p:nvSpPr>
        <p:spPr>
          <a:xfrm>
            <a:off x="10883628" y="368291"/>
            <a:ext cx="101597" cy="101597"/>
          </a:xfrm>
          <a:prstGeom prst="roundRect">
            <a:avLst>
              <a:gd name="adj" fmla="val 31250"/>
            </a:avLst>
          </a:prstGeom>
          <a:solidFill>
            <a:srgbClr val="1FA9EA"/>
          </a:solidFill>
          <a:ln/>
        </p:spPr>
      </p:sp>
      <p:sp>
        <p:nvSpPr>
          <p:cNvPr id="54" name="text 20.5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20</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55" name="text 20.54"/>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1"/>
          <p:cNvSpPr/>
          <p:nvPr/>
        </p:nvSpPr>
        <p:spPr>
          <a:xfrm>
            <a:off x="609585" y="1523962"/>
            <a:ext cx="1097252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sp>
        <p:nvSpPr>
          <p:cNvPr id="3" name="shape 21.2"/>
          <p:cNvSpPr/>
          <p:nvPr/>
        </p:nvSpPr>
        <p:spPr>
          <a:xfrm>
            <a:off x="698483" y="2324042"/>
            <a:ext cx="10794730" cy="292093"/>
          </a:xfrm>
          <a:prstGeom prst="roundRect">
            <a:avLst>
              <a:gd name="adj" fmla="val 30435"/>
            </a:avLst>
          </a:prstGeom>
          <a:solidFill>
            <a:srgbClr val="F1F5FB"/>
          </a:solidFill>
          <a:ln/>
        </p:spPr>
      </p:sp>
      <p:pic>
        <p:nvPicPr>
          <p:cNvPr id="4" name="raster 21.3" descr="diagram">    </p:cNvPr>
          <p:cNvPicPr>
            <a:picLocks noChangeAspect="1"/>
          </p:cNvPicPr>
          <p:nvPr/>
        </p:nvPicPr>
        <p:blipFill>
          <a:blip r:embed="rId2"/>
          <a:stretch>
            <a:fillRect/>
          </a:stretch>
        </p:blipFill>
        <p:spPr>
          <a:xfrm>
            <a:off x="6311742" y="2578036"/>
            <a:ext cx="5168771" cy="3428914"/>
          </a:xfrm>
          <a:prstGeom prst="rect">
            <a:avLst/>
          </a:prstGeom>
        </p:spPr>
      </p:pic>
      <p:sp>
        <p:nvSpPr>
          <p:cNvPr id="5" name="shape 21.4"/>
          <p:cNvSpPr/>
          <p:nvPr/>
        </p:nvSpPr>
        <p:spPr>
          <a:xfrm>
            <a:off x="761981" y="2971726"/>
            <a:ext cx="5524362" cy="9525"/>
          </a:xfrm>
          <a:prstGeom prst="rect">
            <a:avLst/>
          </a:prstGeom>
          <a:solidFill>
            <a:srgbClr val="EEF2F8"/>
          </a:solidFill>
          <a:ln/>
        </p:spPr>
      </p:sp>
      <p:sp>
        <p:nvSpPr>
          <p:cNvPr id="6" name="shape 21.5"/>
          <p:cNvSpPr/>
          <p:nvPr/>
        </p:nvSpPr>
        <p:spPr>
          <a:xfrm>
            <a:off x="761981" y="3301917"/>
            <a:ext cx="5524362" cy="9525"/>
          </a:xfrm>
          <a:prstGeom prst="rect">
            <a:avLst/>
          </a:prstGeom>
          <a:solidFill>
            <a:srgbClr val="EEF2F8"/>
          </a:solidFill>
          <a:ln/>
        </p:spPr>
      </p:sp>
      <p:sp>
        <p:nvSpPr>
          <p:cNvPr id="7" name="shape 21.6"/>
          <p:cNvSpPr/>
          <p:nvPr/>
        </p:nvSpPr>
        <p:spPr>
          <a:xfrm>
            <a:off x="761981" y="3632109"/>
            <a:ext cx="5524362" cy="9525"/>
          </a:xfrm>
          <a:prstGeom prst="rect">
            <a:avLst/>
          </a:prstGeom>
          <a:solidFill>
            <a:srgbClr val="EEF2F8"/>
          </a:solidFill>
          <a:ln/>
        </p:spPr>
      </p:sp>
      <p:sp>
        <p:nvSpPr>
          <p:cNvPr id="8" name="shape 21.7"/>
          <p:cNvSpPr/>
          <p:nvPr/>
        </p:nvSpPr>
        <p:spPr>
          <a:xfrm>
            <a:off x="761981" y="3962301"/>
            <a:ext cx="5524362" cy="9525"/>
          </a:xfrm>
          <a:prstGeom prst="rect">
            <a:avLst/>
          </a:prstGeom>
          <a:solidFill>
            <a:srgbClr val="EEF2F8"/>
          </a:solidFill>
          <a:ln/>
        </p:spPr>
      </p:sp>
      <p:sp>
        <p:nvSpPr>
          <p:cNvPr id="9" name="shape 21.8"/>
          <p:cNvSpPr/>
          <p:nvPr/>
        </p:nvSpPr>
        <p:spPr>
          <a:xfrm>
            <a:off x="761981" y="4292493"/>
            <a:ext cx="5524362" cy="9525"/>
          </a:xfrm>
          <a:prstGeom prst="rect">
            <a:avLst/>
          </a:prstGeom>
          <a:solidFill>
            <a:srgbClr val="EEF2F8"/>
          </a:solidFill>
          <a:ln/>
        </p:spPr>
      </p:sp>
      <p:sp>
        <p:nvSpPr>
          <p:cNvPr id="10" name="shape 21.9"/>
          <p:cNvSpPr/>
          <p:nvPr/>
        </p:nvSpPr>
        <p:spPr>
          <a:xfrm>
            <a:off x="761981" y="4622684"/>
            <a:ext cx="5524362" cy="9525"/>
          </a:xfrm>
          <a:prstGeom prst="rect">
            <a:avLst/>
          </a:prstGeom>
          <a:solidFill>
            <a:srgbClr val="EEF2F8"/>
          </a:solidFill>
          <a:ln/>
        </p:spPr>
      </p:sp>
      <p:sp>
        <p:nvSpPr>
          <p:cNvPr id="11" name="shape 21.10"/>
          <p:cNvSpPr/>
          <p:nvPr/>
        </p:nvSpPr>
        <p:spPr>
          <a:xfrm>
            <a:off x="761981" y="4952876"/>
            <a:ext cx="5524362" cy="9525"/>
          </a:xfrm>
          <a:prstGeom prst="rect">
            <a:avLst/>
          </a:prstGeom>
          <a:solidFill>
            <a:srgbClr val="EEF2F8"/>
          </a:solidFill>
          <a:ln/>
        </p:spPr>
      </p:sp>
      <p:sp>
        <p:nvSpPr>
          <p:cNvPr id="12" name="shape 21.11"/>
          <p:cNvSpPr/>
          <p:nvPr/>
        </p:nvSpPr>
        <p:spPr>
          <a:xfrm>
            <a:off x="761981" y="5283068"/>
            <a:ext cx="5524362" cy="9525"/>
          </a:xfrm>
          <a:prstGeom prst="rect">
            <a:avLst/>
          </a:prstGeom>
          <a:solidFill>
            <a:srgbClr val="EEF2F8"/>
          </a:solidFill>
          <a:ln/>
        </p:spPr>
      </p:sp>
      <p:sp>
        <p:nvSpPr>
          <p:cNvPr id="13" name="shape 21.12"/>
          <p:cNvSpPr/>
          <p:nvPr/>
        </p:nvSpPr>
        <p:spPr>
          <a:xfrm>
            <a:off x="761981" y="5613260"/>
            <a:ext cx="5524362" cy="9525"/>
          </a:xfrm>
          <a:prstGeom prst="rect">
            <a:avLst/>
          </a:prstGeom>
          <a:solidFill>
            <a:srgbClr val="EEF2F8"/>
          </a:solidFill>
          <a:ln/>
        </p:spPr>
      </p:sp>
      <p:sp>
        <p:nvSpPr>
          <p:cNvPr id="14" name="text 21.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demo 1</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the shared core and Ice Race</a:t>
            </a:r>
            <a:endParaRPr lang="en-US" sz="2700" dirty="0"/>
          </a:p>
        </p:txBody>
      </p:sp>
      <p:sp>
        <p:nvSpPr>
          <p:cNvPr id="15" name="text 21.14"/>
          <p:cNvSpPr txBox="1"/>
          <p:nvPr/>
        </p:nvSpPr>
        <p:spPr>
          <a:xfrm>
            <a:off x="761981" y="1917652"/>
            <a:ext cx="45718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WBS</a:t>
            </a:r>
            <a:endParaRPr lang="en-US" sz="750" dirty="0"/>
          </a:p>
        </p:txBody>
      </p:sp>
      <p:sp>
        <p:nvSpPr>
          <p:cNvPr id="16" name="text 21.15"/>
          <p:cNvSpPr txBox="1"/>
          <p:nvPr/>
        </p:nvSpPr>
        <p:spPr>
          <a:xfrm>
            <a:off x="1244569" y="1917652"/>
            <a:ext cx="314952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TASK</a:t>
            </a:r>
            <a:endParaRPr lang="en-US" sz="750" dirty="0"/>
          </a:p>
        </p:txBody>
      </p:sp>
      <p:sp>
        <p:nvSpPr>
          <p:cNvPr id="17" name="text 21.16"/>
          <p:cNvSpPr txBox="1"/>
          <p:nvPr/>
        </p:nvSpPr>
        <p:spPr>
          <a:xfrm>
            <a:off x="4419490" y="1917652"/>
            <a:ext cx="118107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OWNER</a:t>
            </a:r>
            <a:endParaRPr lang="en-US" sz="750" dirty="0"/>
          </a:p>
        </p:txBody>
      </p:sp>
      <p:sp>
        <p:nvSpPr>
          <p:cNvPr id="18" name="text 21.17"/>
          <p:cNvSpPr txBox="1"/>
          <p:nvPr/>
        </p:nvSpPr>
        <p:spPr>
          <a:xfrm>
            <a:off x="5625959" y="1917652"/>
            <a:ext cx="67308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DURATION</a:t>
            </a:r>
            <a:endParaRPr lang="en-US" sz="750" dirty="0"/>
          </a:p>
        </p:txBody>
      </p:sp>
      <p:sp>
        <p:nvSpPr>
          <p:cNvPr id="19" name="text 21.18"/>
          <p:cNvSpPr txBox="1"/>
          <p:nvPr/>
        </p:nvSpPr>
        <p:spPr>
          <a:xfrm>
            <a:off x="636254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19–23 Oct</a:t>
            </a:r>
            <a:endParaRPr lang="en-US" sz="900" dirty="0"/>
          </a:p>
        </p:txBody>
      </p:sp>
      <p:sp>
        <p:nvSpPr>
          <p:cNvPr id="20" name="shape 21.19"/>
          <p:cNvSpPr/>
          <p:nvPr/>
        </p:nvSpPr>
        <p:spPr>
          <a:xfrm>
            <a:off x="6387940" y="1854154"/>
            <a:ext cx="1215995" cy="203195"/>
          </a:xfrm>
          <a:prstGeom prst="roundRect">
            <a:avLst>
              <a:gd name="adj" fmla="val 50000"/>
            </a:avLst>
          </a:prstGeom>
          <a:solidFill>
            <a:srgbClr val="1FA9EA"/>
          </a:solidFill>
          <a:ln/>
        </p:spPr>
      </p:sp>
      <p:sp>
        <p:nvSpPr>
          <p:cNvPr id="21" name="text 21.20"/>
          <p:cNvSpPr txBox="1"/>
          <p:nvPr/>
        </p:nvSpPr>
        <p:spPr>
          <a:xfrm>
            <a:off x="638794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3</a:t>
            </a:r>
            <a:endParaRPr lang="en-US" sz="800" dirty="0"/>
          </a:p>
        </p:txBody>
      </p:sp>
      <p:sp>
        <p:nvSpPr>
          <p:cNvPr id="22" name="text 21.21"/>
          <p:cNvSpPr txBox="1"/>
          <p:nvPr/>
        </p:nvSpPr>
        <p:spPr>
          <a:xfrm>
            <a:off x="636254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23" name="text 21.22"/>
          <p:cNvSpPr txBox="1"/>
          <p:nvPr/>
        </p:nvSpPr>
        <p:spPr>
          <a:xfrm>
            <a:off x="661584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4" name="text 21.23"/>
          <p:cNvSpPr txBox="1"/>
          <p:nvPr/>
        </p:nvSpPr>
        <p:spPr>
          <a:xfrm>
            <a:off x="68692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5" name="text 21.24"/>
          <p:cNvSpPr txBox="1"/>
          <p:nvPr/>
        </p:nvSpPr>
        <p:spPr>
          <a:xfrm>
            <a:off x="71225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6" name="text 21.25"/>
          <p:cNvSpPr txBox="1"/>
          <p:nvPr/>
        </p:nvSpPr>
        <p:spPr>
          <a:xfrm>
            <a:off x="737593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27" name="text 21.26"/>
          <p:cNvSpPr txBox="1"/>
          <p:nvPr/>
        </p:nvSpPr>
        <p:spPr>
          <a:xfrm>
            <a:off x="7629334"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26–30 Oct</a:t>
            </a:r>
            <a:endParaRPr lang="en-US" sz="900" dirty="0"/>
          </a:p>
        </p:txBody>
      </p:sp>
      <p:sp>
        <p:nvSpPr>
          <p:cNvPr id="28" name="shape 21.27"/>
          <p:cNvSpPr/>
          <p:nvPr/>
        </p:nvSpPr>
        <p:spPr>
          <a:xfrm>
            <a:off x="7654734" y="1854154"/>
            <a:ext cx="1215995" cy="203195"/>
          </a:xfrm>
          <a:prstGeom prst="roundRect">
            <a:avLst>
              <a:gd name="adj" fmla="val 50000"/>
            </a:avLst>
          </a:prstGeom>
          <a:solidFill>
            <a:srgbClr val="1FA9EA"/>
          </a:solidFill>
          <a:ln/>
        </p:spPr>
      </p:sp>
      <p:sp>
        <p:nvSpPr>
          <p:cNvPr id="29" name="text 21.28"/>
          <p:cNvSpPr txBox="1"/>
          <p:nvPr/>
        </p:nvSpPr>
        <p:spPr>
          <a:xfrm>
            <a:off x="7654734"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4</a:t>
            </a:r>
            <a:endParaRPr lang="en-US" sz="800" dirty="0"/>
          </a:p>
        </p:txBody>
      </p:sp>
      <p:sp>
        <p:nvSpPr>
          <p:cNvPr id="30" name="text 21.29"/>
          <p:cNvSpPr txBox="1"/>
          <p:nvPr/>
        </p:nvSpPr>
        <p:spPr>
          <a:xfrm>
            <a:off x="762933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1" name="text 21.30"/>
          <p:cNvSpPr txBox="1"/>
          <p:nvPr/>
        </p:nvSpPr>
        <p:spPr>
          <a:xfrm>
            <a:off x="788263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2" name="text 21.31"/>
          <p:cNvSpPr txBox="1"/>
          <p:nvPr/>
        </p:nvSpPr>
        <p:spPr>
          <a:xfrm>
            <a:off x="8136032"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33" name="text 21.32"/>
          <p:cNvSpPr txBox="1"/>
          <p:nvPr/>
        </p:nvSpPr>
        <p:spPr>
          <a:xfrm>
            <a:off x="838933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4" name="text 21.33"/>
          <p:cNvSpPr txBox="1"/>
          <p:nvPr/>
        </p:nvSpPr>
        <p:spPr>
          <a:xfrm>
            <a:off x="8642729"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5" name="text 21.34"/>
          <p:cNvSpPr txBox="1"/>
          <p:nvPr/>
        </p:nvSpPr>
        <p:spPr>
          <a:xfrm>
            <a:off x="8896128"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2–6 Nov</a:t>
            </a:r>
            <a:endParaRPr lang="en-US" sz="900" dirty="0"/>
          </a:p>
        </p:txBody>
      </p:sp>
      <p:sp>
        <p:nvSpPr>
          <p:cNvPr id="36" name="shape 21.35"/>
          <p:cNvSpPr/>
          <p:nvPr/>
        </p:nvSpPr>
        <p:spPr>
          <a:xfrm>
            <a:off x="8921527" y="1854154"/>
            <a:ext cx="1215995" cy="203195"/>
          </a:xfrm>
          <a:prstGeom prst="roundRect">
            <a:avLst>
              <a:gd name="adj" fmla="val 50000"/>
            </a:avLst>
          </a:prstGeom>
          <a:solidFill>
            <a:srgbClr val="1FA9EA"/>
          </a:solidFill>
          <a:ln/>
        </p:spPr>
      </p:sp>
      <p:sp>
        <p:nvSpPr>
          <p:cNvPr id="37" name="text 21.36"/>
          <p:cNvSpPr txBox="1"/>
          <p:nvPr/>
        </p:nvSpPr>
        <p:spPr>
          <a:xfrm>
            <a:off x="8921527"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5</a:t>
            </a:r>
            <a:endParaRPr lang="en-US" sz="800" dirty="0"/>
          </a:p>
        </p:txBody>
      </p:sp>
      <p:sp>
        <p:nvSpPr>
          <p:cNvPr id="38" name="text 21.37"/>
          <p:cNvSpPr txBox="1"/>
          <p:nvPr/>
        </p:nvSpPr>
        <p:spPr>
          <a:xfrm>
            <a:off x="889612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9" name="text 21.38"/>
          <p:cNvSpPr txBox="1"/>
          <p:nvPr/>
        </p:nvSpPr>
        <p:spPr>
          <a:xfrm>
            <a:off x="9149427"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0" name="text 21.39"/>
          <p:cNvSpPr txBox="1"/>
          <p:nvPr/>
        </p:nvSpPr>
        <p:spPr>
          <a:xfrm>
            <a:off x="9402825"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1" name="text 21.40"/>
          <p:cNvSpPr txBox="1"/>
          <p:nvPr/>
        </p:nvSpPr>
        <p:spPr>
          <a:xfrm>
            <a:off x="965612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2" name="text 21.41"/>
          <p:cNvSpPr txBox="1"/>
          <p:nvPr/>
        </p:nvSpPr>
        <p:spPr>
          <a:xfrm>
            <a:off x="990952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43" name="text 21.42"/>
          <p:cNvSpPr txBox="1"/>
          <p:nvPr/>
        </p:nvSpPr>
        <p:spPr>
          <a:xfrm>
            <a:off x="1016292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9–13 Nov</a:t>
            </a:r>
            <a:endParaRPr lang="en-US" sz="900" dirty="0"/>
          </a:p>
        </p:txBody>
      </p:sp>
      <p:sp>
        <p:nvSpPr>
          <p:cNvPr id="44" name="shape 21.43"/>
          <p:cNvSpPr/>
          <p:nvPr/>
        </p:nvSpPr>
        <p:spPr>
          <a:xfrm>
            <a:off x="10188320" y="1854154"/>
            <a:ext cx="1215995" cy="203195"/>
          </a:xfrm>
          <a:prstGeom prst="roundRect">
            <a:avLst>
              <a:gd name="adj" fmla="val 50000"/>
            </a:avLst>
          </a:prstGeom>
          <a:solidFill>
            <a:srgbClr val="1FA9EA"/>
          </a:solidFill>
          <a:ln/>
        </p:spPr>
      </p:sp>
      <p:sp>
        <p:nvSpPr>
          <p:cNvPr id="45" name="text 21.44"/>
          <p:cNvSpPr txBox="1"/>
          <p:nvPr/>
        </p:nvSpPr>
        <p:spPr>
          <a:xfrm>
            <a:off x="1018832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6</a:t>
            </a:r>
            <a:endParaRPr lang="en-US" sz="800" dirty="0"/>
          </a:p>
        </p:txBody>
      </p:sp>
      <p:sp>
        <p:nvSpPr>
          <p:cNvPr id="46" name="text 21.45"/>
          <p:cNvSpPr txBox="1"/>
          <p:nvPr/>
        </p:nvSpPr>
        <p:spPr>
          <a:xfrm>
            <a:off x="1016292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47" name="text 21.46"/>
          <p:cNvSpPr txBox="1"/>
          <p:nvPr/>
        </p:nvSpPr>
        <p:spPr>
          <a:xfrm>
            <a:off x="1041622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8" name="text 21.47"/>
          <p:cNvSpPr txBox="1"/>
          <p:nvPr/>
        </p:nvSpPr>
        <p:spPr>
          <a:xfrm>
            <a:off x="106696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9" name="text 21.48"/>
          <p:cNvSpPr txBox="1"/>
          <p:nvPr/>
        </p:nvSpPr>
        <p:spPr>
          <a:xfrm>
            <a:off x="109229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50" name="text 21.49"/>
          <p:cNvSpPr txBox="1"/>
          <p:nvPr/>
        </p:nvSpPr>
        <p:spPr>
          <a:xfrm>
            <a:off x="1117631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51" name="text 21.50"/>
          <p:cNvSpPr txBox="1"/>
          <p:nvPr/>
        </p:nvSpPr>
        <p:spPr>
          <a:xfrm>
            <a:off x="761981" y="24002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2</a:t>
            </a:r>
            <a:endParaRPr lang="en-US" sz="1150" dirty="0"/>
          </a:p>
        </p:txBody>
      </p:sp>
      <p:sp>
        <p:nvSpPr>
          <p:cNvPr id="52" name="text 21.51"/>
          <p:cNvSpPr txBox="1"/>
          <p:nvPr/>
        </p:nvSpPr>
        <p:spPr>
          <a:xfrm>
            <a:off x="1244569" y="2400240"/>
            <a:ext cx="1275995"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Demo 1 · 16 Nov</a:t>
            </a:r>
            <a:endParaRPr lang="en-US" sz="1150" dirty="0"/>
          </a:p>
        </p:txBody>
      </p:sp>
      <p:sp>
        <p:nvSpPr>
          <p:cNvPr id="53" name="text 21.52"/>
          <p:cNvSpPr txBox="1"/>
          <p:nvPr/>
        </p:nvSpPr>
        <p:spPr>
          <a:xfrm>
            <a:off x="761981" y="274313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2.1</a:t>
            </a:r>
            <a:endParaRPr lang="en-US" sz="950" dirty="0"/>
          </a:p>
        </p:txBody>
      </p:sp>
      <p:sp>
        <p:nvSpPr>
          <p:cNvPr id="54" name="text 21.53"/>
          <p:cNvSpPr txBox="1"/>
          <p:nvPr/>
        </p:nvSpPr>
        <p:spPr>
          <a:xfrm>
            <a:off x="1244569" y="273678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Unity project, scenes, build pipeline</a:t>
            </a:r>
            <a:endParaRPr lang="en-US" sz="1050" dirty="0"/>
          </a:p>
        </p:txBody>
      </p:sp>
      <p:sp>
        <p:nvSpPr>
          <p:cNvPr id="55" name="shape 21.54"/>
          <p:cNvSpPr/>
          <p:nvPr/>
        </p:nvSpPr>
        <p:spPr>
          <a:xfrm>
            <a:off x="4419490" y="2705032"/>
            <a:ext cx="977876" cy="203195"/>
          </a:xfrm>
          <a:prstGeom prst="roundRect">
            <a:avLst>
              <a:gd name="adj" fmla="val 50000"/>
            </a:avLst>
          </a:prstGeom>
          <a:solidFill>
            <a:srgbClr val="FFF0E6"/>
          </a:solidFill>
          <a:ln/>
        </p:spPr>
      </p:sp>
      <p:sp>
        <p:nvSpPr>
          <p:cNvPr id="56" name="text 21.55"/>
          <p:cNvSpPr txBox="1"/>
          <p:nvPr/>
        </p:nvSpPr>
        <p:spPr>
          <a:xfrm>
            <a:off x="4419490" y="270503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57" name="text 21.56"/>
          <p:cNvSpPr txBox="1"/>
          <p:nvPr/>
        </p:nvSpPr>
        <p:spPr>
          <a:xfrm>
            <a:off x="5625959" y="274313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58" name="shape 21.57"/>
          <p:cNvSpPr/>
          <p:nvPr/>
        </p:nvSpPr>
        <p:spPr>
          <a:xfrm>
            <a:off x="6387940" y="2717732"/>
            <a:ext cx="1215995" cy="190495"/>
          </a:xfrm>
          <a:prstGeom prst="roundRect">
            <a:avLst>
              <a:gd name="adj" fmla="val 50000"/>
            </a:avLst>
          </a:prstGeom>
          <a:solidFill>
            <a:srgbClr val="FF6B1F"/>
          </a:solidFill>
          <a:ln/>
        </p:spPr>
      </p:sp>
      <p:sp>
        <p:nvSpPr>
          <p:cNvPr id="59" name="text 21.58"/>
          <p:cNvSpPr txBox="1"/>
          <p:nvPr/>
        </p:nvSpPr>
        <p:spPr>
          <a:xfrm>
            <a:off x="761981" y="307332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2.2</a:t>
            </a:r>
            <a:endParaRPr lang="en-US" sz="950" dirty="0"/>
          </a:p>
        </p:txBody>
      </p:sp>
      <p:sp>
        <p:nvSpPr>
          <p:cNvPr id="60" name="text 21.59"/>
          <p:cNvSpPr txBox="1"/>
          <p:nvPr/>
        </p:nvSpPr>
        <p:spPr>
          <a:xfrm>
            <a:off x="1244569" y="306697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Character controller &amp; camera</a:t>
            </a:r>
            <a:endParaRPr lang="en-US" sz="1050" dirty="0"/>
          </a:p>
        </p:txBody>
      </p:sp>
      <p:sp>
        <p:nvSpPr>
          <p:cNvPr id="61" name="shape 21.60"/>
          <p:cNvSpPr/>
          <p:nvPr/>
        </p:nvSpPr>
        <p:spPr>
          <a:xfrm>
            <a:off x="4419490" y="3035224"/>
            <a:ext cx="977876" cy="203195"/>
          </a:xfrm>
          <a:prstGeom prst="roundRect">
            <a:avLst>
              <a:gd name="adj" fmla="val 50000"/>
            </a:avLst>
          </a:prstGeom>
          <a:solidFill>
            <a:srgbClr val="E6F6E1"/>
          </a:solidFill>
          <a:ln/>
        </p:spPr>
      </p:sp>
      <p:sp>
        <p:nvSpPr>
          <p:cNvPr id="62" name="text 21.61"/>
          <p:cNvSpPr txBox="1"/>
          <p:nvPr/>
        </p:nvSpPr>
        <p:spPr>
          <a:xfrm>
            <a:off x="4419490" y="303522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63" name="text 21.62"/>
          <p:cNvSpPr txBox="1"/>
          <p:nvPr/>
        </p:nvSpPr>
        <p:spPr>
          <a:xfrm>
            <a:off x="5625959" y="307332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64" name="shape 21.63"/>
          <p:cNvSpPr/>
          <p:nvPr/>
        </p:nvSpPr>
        <p:spPr>
          <a:xfrm>
            <a:off x="6387940" y="3047924"/>
            <a:ext cx="2482788" cy="190495"/>
          </a:xfrm>
          <a:prstGeom prst="roundRect">
            <a:avLst>
              <a:gd name="adj" fmla="val 50000"/>
            </a:avLst>
          </a:prstGeom>
          <a:solidFill>
            <a:srgbClr val="43B832"/>
          </a:solidFill>
          <a:ln/>
        </p:spPr>
      </p:sp>
      <p:sp>
        <p:nvSpPr>
          <p:cNvPr id="65" name="text 21.64"/>
          <p:cNvSpPr txBox="1"/>
          <p:nvPr/>
        </p:nvSpPr>
        <p:spPr>
          <a:xfrm>
            <a:off x="761981" y="340351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2.3</a:t>
            </a:r>
            <a:endParaRPr lang="en-US" sz="950" dirty="0"/>
          </a:p>
        </p:txBody>
      </p:sp>
      <p:sp>
        <p:nvSpPr>
          <p:cNvPr id="66" name="text 21.65"/>
          <p:cNvSpPr txBox="1"/>
          <p:nvPr/>
        </p:nvSpPr>
        <p:spPr>
          <a:xfrm>
            <a:off x="1244569" y="339716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LAN host / join (Netcode)</a:t>
            </a:r>
            <a:endParaRPr lang="en-US" sz="1050" dirty="0"/>
          </a:p>
        </p:txBody>
      </p:sp>
      <p:sp>
        <p:nvSpPr>
          <p:cNvPr id="67" name="shape 21.66"/>
          <p:cNvSpPr/>
          <p:nvPr/>
        </p:nvSpPr>
        <p:spPr>
          <a:xfrm>
            <a:off x="4419490" y="3365416"/>
            <a:ext cx="977876" cy="203195"/>
          </a:xfrm>
          <a:prstGeom prst="roundRect">
            <a:avLst>
              <a:gd name="adj" fmla="val 50000"/>
            </a:avLst>
          </a:prstGeom>
          <a:solidFill>
            <a:srgbClr val="FFF0E6"/>
          </a:solidFill>
          <a:ln/>
        </p:spPr>
      </p:sp>
      <p:sp>
        <p:nvSpPr>
          <p:cNvPr id="68" name="text 21.67"/>
          <p:cNvSpPr txBox="1"/>
          <p:nvPr/>
        </p:nvSpPr>
        <p:spPr>
          <a:xfrm>
            <a:off x="4419490" y="336541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69" name="text 21.68"/>
          <p:cNvSpPr txBox="1"/>
          <p:nvPr/>
        </p:nvSpPr>
        <p:spPr>
          <a:xfrm>
            <a:off x="5625959" y="340351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70" name="shape 21.69"/>
          <p:cNvSpPr/>
          <p:nvPr/>
        </p:nvSpPr>
        <p:spPr>
          <a:xfrm>
            <a:off x="7654734" y="3378116"/>
            <a:ext cx="2482788" cy="190495"/>
          </a:xfrm>
          <a:prstGeom prst="roundRect">
            <a:avLst>
              <a:gd name="adj" fmla="val 50000"/>
            </a:avLst>
          </a:prstGeom>
          <a:solidFill>
            <a:srgbClr val="FF6B1F"/>
          </a:solidFill>
          <a:ln/>
        </p:spPr>
      </p:sp>
      <p:sp>
        <p:nvSpPr>
          <p:cNvPr id="71" name="text 21.70"/>
          <p:cNvSpPr txBox="1"/>
          <p:nvPr/>
        </p:nvSpPr>
        <p:spPr>
          <a:xfrm>
            <a:off x="761981" y="37337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2.4</a:t>
            </a:r>
            <a:endParaRPr lang="en-US" sz="950" dirty="0"/>
          </a:p>
        </p:txBody>
      </p:sp>
      <p:sp>
        <p:nvSpPr>
          <p:cNvPr id="72" name="text 21.71"/>
          <p:cNvSpPr txBox="1"/>
          <p:nvPr/>
        </p:nvSpPr>
        <p:spPr>
          <a:xfrm>
            <a:off x="1244569" y="37273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Host authority &amp; state sync</a:t>
            </a:r>
            <a:endParaRPr lang="en-US" sz="1050" dirty="0"/>
          </a:p>
        </p:txBody>
      </p:sp>
      <p:sp>
        <p:nvSpPr>
          <p:cNvPr id="73" name="shape 21.72"/>
          <p:cNvSpPr/>
          <p:nvPr/>
        </p:nvSpPr>
        <p:spPr>
          <a:xfrm>
            <a:off x="4419490" y="3695608"/>
            <a:ext cx="977876" cy="203195"/>
          </a:xfrm>
          <a:prstGeom prst="roundRect">
            <a:avLst>
              <a:gd name="adj" fmla="val 50000"/>
            </a:avLst>
          </a:prstGeom>
          <a:solidFill>
            <a:srgbClr val="FFF0E6"/>
          </a:solidFill>
          <a:ln/>
        </p:spPr>
      </p:sp>
      <p:sp>
        <p:nvSpPr>
          <p:cNvPr id="74" name="text 21.73"/>
          <p:cNvSpPr txBox="1"/>
          <p:nvPr/>
        </p:nvSpPr>
        <p:spPr>
          <a:xfrm>
            <a:off x="4419490" y="36956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5" name="text 21.74"/>
          <p:cNvSpPr txBox="1"/>
          <p:nvPr/>
        </p:nvSpPr>
        <p:spPr>
          <a:xfrm>
            <a:off x="5625959" y="37337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76" name="shape 21.75"/>
          <p:cNvSpPr/>
          <p:nvPr/>
        </p:nvSpPr>
        <p:spPr>
          <a:xfrm>
            <a:off x="10188320" y="3708307"/>
            <a:ext cx="1215995" cy="190495"/>
          </a:xfrm>
          <a:prstGeom prst="roundRect">
            <a:avLst>
              <a:gd name="adj" fmla="val 50000"/>
            </a:avLst>
          </a:prstGeom>
          <a:solidFill>
            <a:srgbClr val="FF6B1F"/>
          </a:solidFill>
          <a:ln/>
        </p:spPr>
      </p:sp>
      <p:sp>
        <p:nvSpPr>
          <p:cNvPr id="77" name="text 21.76"/>
          <p:cNvSpPr txBox="1"/>
          <p:nvPr/>
        </p:nvSpPr>
        <p:spPr>
          <a:xfrm>
            <a:off x="761981" y="406389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2.5</a:t>
            </a:r>
            <a:endParaRPr lang="en-US" sz="950" dirty="0"/>
          </a:p>
        </p:txBody>
      </p:sp>
      <p:sp>
        <p:nvSpPr>
          <p:cNvPr id="78" name="text 21.77"/>
          <p:cNvSpPr txBox="1"/>
          <p:nvPr/>
        </p:nvSpPr>
        <p:spPr>
          <a:xfrm>
            <a:off x="1244569" y="405754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Ice movement profile</a:t>
            </a:r>
            <a:endParaRPr lang="en-US" sz="1050" dirty="0"/>
          </a:p>
        </p:txBody>
      </p:sp>
      <p:sp>
        <p:nvSpPr>
          <p:cNvPr id="79" name="shape 21.78"/>
          <p:cNvSpPr/>
          <p:nvPr/>
        </p:nvSpPr>
        <p:spPr>
          <a:xfrm>
            <a:off x="4419490" y="4025799"/>
            <a:ext cx="977876" cy="203195"/>
          </a:xfrm>
          <a:prstGeom prst="roundRect">
            <a:avLst>
              <a:gd name="adj" fmla="val 50000"/>
            </a:avLst>
          </a:prstGeom>
          <a:solidFill>
            <a:srgbClr val="E6F6E1"/>
          </a:solidFill>
          <a:ln/>
        </p:spPr>
      </p:sp>
      <p:sp>
        <p:nvSpPr>
          <p:cNvPr id="80" name="text 21.79"/>
          <p:cNvSpPr txBox="1"/>
          <p:nvPr/>
        </p:nvSpPr>
        <p:spPr>
          <a:xfrm>
            <a:off x="4419490" y="402579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1" name="text 21.80"/>
          <p:cNvSpPr txBox="1"/>
          <p:nvPr/>
        </p:nvSpPr>
        <p:spPr>
          <a:xfrm>
            <a:off x="5625959" y="406389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82" name="shape 21.81"/>
          <p:cNvSpPr/>
          <p:nvPr/>
        </p:nvSpPr>
        <p:spPr>
          <a:xfrm>
            <a:off x="8921527" y="4038499"/>
            <a:ext cx="1215995" cy="190495"/>
          </a:xfrm>
          <a:prstGeom prst="roundRect">
            <a:avLst>
              <a:gd name="adj" fmla="val 50000"/>
            </a:avLst>
          </a:prstGeom>
          <a:solidFill>
            <a:srgbClr val="43B832"/>
          </a:solidFill>
          <a:ln/>
        </p:spPr>
      </p:sp>
      <p:sp>
        <p:nvSpPr>
          <p:cNvPr id="83" name="text 21.82"/>
          <p:cNvSpPr txBox="1"/>
          <p:nvPr/>
        </p:nvSpPr>
        <p:spPr>
          <a:xfrm>
            <a:off x="761981" y="439409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2.6</a:t>
            </a:r>
            <a:endParaRPr lang="en-US" sz="950" dirty="0"/>
          </a:p>
        </p:txBody>
      </p:sp>
      <p:sp>
        <p:nvSpPr>
          <p:cNvPr id="84" name="text 21.83"/>
          <p:cNvSpPr txBox="1"/>
          <p:nvPr/>
        </p:nvSpPr>
        <p:spPr>
          <a:xfrm>
            <a:off x="1244569" y="438774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Ice Race track blockout &amp; checkpoints</a:t>
            </a:r>
            <a:endParaRPr lang="en-US" sz="1050" dirty="0"/>
          </a:p>
        </p:txBody>
      </p:sp>
      <p:sp>
        <p:nvSpPr>
          <p:cNvPr id="85" name="shape 21.84"/>
          <p:cNvSpPr/>
          <p:nvPr/>
        </p:nvSpPr>
        <p:spPr>
          <a:xfrm>
            <a:off x="4419490" y="4355991"/>
            <a:ext cx="977876" cy="203195"/>
          </a:xfrm>
          <a:prstGeom prst="roundRect">
            <a:avLst>
              <a:gd name="adj" fmla="val 50000"/>
            </a:avLst>
          </a:prstGeom>
          <a:solidFill>
            <a:srgbClr val="E6F6E1"/>
          </a:solidFill>
          <a:ln/>
        </p:spPr>
      </p:sp>
      <p:sp>
        <p:nvSpPr>
          <p:cNvPr id="86" name="text 21.85"/>
          <p:cNvSpPr txBox="1"/>
          <p:nvPr/>
        </p:nvSpPr>
        <p:spPr>
          <a:xfrm>
            <a:off x="4419490" y="435599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7" name="text 21.86"/>
          <p:cNvSpPr txBox="1"/>
          <p:nvPr/>
        </p:nvSpPr>
        <p:spPr>
          <a:xfrm>
            <a:off x="5625959" y="439409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88" name="shape 21.87"/>
          <p:cNvSpPr/>
          <p:nvPr/>
        </p:nvSpPr>
        <p:spPr>
          <a:xfrm>
            <a:off x="10188320" y="4368691"/>
            <a:ext cx="1215995" cy="190495"/>
          </a:xfrm>
          <a:prstGeom prst="roundRect">
            <a:avLst>
              <a:gd name="adj" fmla="val 50000"/>
            </a:avLst>
          </a:prstGeom>
          <a:solidFill>
            <a:srgbClr val="43B832"/>
          </a:solidFill>
          <a:ln/>
        </p:spPr>
      </p:sp>
      <p:sp>
        <p:nvSpPr>
          <p:cNvPr id="89" name="text 21.88"/>
          <p:cNvSpPr txBox="1"/>
          <p:nvPr/>
        </p:nvSpPr>
        <p:spPr>
          <a:xfrm>
            <a:off x="761981" y="4724282"/>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2.7</a:t>
            </a:r>
            <a:endParaRPr lang="en-US" sz="950" dirty="0"/>
          </a:p>
        </p:txBody>
      </p:sp>
      <p:sp>
        <p:nvSpPr>
          <p:cNvPr id="90" name="text 21.89"/>
          <p:cNvSpPr txBox="1"/>
          <p:nvPr/>
        </p:nvSpPr>
        <p:spPr>
          <a:xfrm>
            <a:off x="1244569" y="471793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Shot projectile &amp; fire-rate limit</a:t>
            </a:r>
            <a:endParaRPr lang="en-US" sz="1050" dirty="0"/>
          </a:p>
        </p:txBody>
      </p:sp>
      <p:sp>
        <p:nvSpPr>
          <p:cNvPr id="91" name="shape 21.90"/>
          <p:cNvSpPr/>
          <p:nvPr/>
        </p:nvSpPr>
        <p:spPr>
          <a:xfrm>
            <a:off x="4419490" y="4686183"/>
            <a:ext cx="977876" cy="203195"/>
          </a:xfrm>
          <a:prstGeom prst="roundRect">
            <a:avLst>
              <a:gd name="adj" fmla="val 50000"/>
            </a:avLst>
          </a:prstGeom>
          <a:solidFill>
            <a:srgbClr val="E2F4FD"/>
          </a:solidFill>
          <a:ln/>
        </p:spPr>
      </p:sp>
      <p:sp>
        <p:nvSpPr>
          <p:cNvPr id="92" name="text 21.91"/>
          <p:cNvSpPr txBox="1"/>
          <p:nvPr/>
        </p:nvSpPr>
        <p:spPr>
          <a:xfrm>
            <a:off x="4419490" y="4686183"/>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93" name="text 21.92"/>
          <p:cNvSpPr txBox="1"/>
          <p:nvPr/>
        </p:nvSpPr>
        <p:spPr>
          <a:xfrm>
            <a:off x="5625959" y="4724282"/>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3 wk</a:t>
            </a:r>
            <a:endParaRPr lang="en-US" sz="950" dirty="0"/>
          </a:p>
        </p:txBody>
      </p:sp>
      <p:sp>
        <p:nvSpPr>
          <p:cNvPr id="94" name="shape 21.93"/>
          <p:cNvSpPr/>
          <p:nvPr/>
        </p:nvSpPr>
        <p:spPr>
          <a:xfrm>
            <a:off x="7654734" y="4698883"/>
            <a:ext cx="3749581" cy="190495"/>
          </a:xfrm>
          <a:prstGeom prst="roundRect">
            <a:avLst>
              <a:gd name="adj" fmla="val 50000"/>
            </a:avLst>
          </a:prstGeom>
          <a:solidFill>
            <a:srgbClr val="1FA9EA"/>
          </a:solidFill>
          <a:ln/>
        </p:spPr>
      </p:sp>
      <p:sp>
        <p:nvSpPr>
          <p:cNvPr id="95" name="text 21.94"/>
          <p:cNvSpPr txBox="1"/>
          <p:nvPr/>
        </p:nvSpPr>
        <p:spPr>
          <a:xfrm>
            <a:off x="761981" y="505447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2.8</a:t>
            </a:r>
            <a:endParaRPr lang="en-US" sz="950" dirty="0"/>
          </a:p>
        </p:txBody>
      </p:sp>
      <p:sp>
        <p:nvSpPr>
          <p:cNvPr id="96" name="text 21.95"/>
          <p:cNvSpPr txBox="1"/>
          <p:nvPr/>
        </p:nvSpPr>
        <p:spPr>
          <a:xfrm>
            <a:off x="1244569" y="504812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Lobby &amp; join UI</a:t>
            </a:r>
            <a:endParaRPr lang="en-US" sz="1050" dirty="0"/>
          </a:p>
        </p:txBody>
      </p:sp>
      <p:sp>
        <p:nvSpPr>
          <p:cNvPr id="97" name="shape 21.96"/>
          <p:cNvSpPr/>
          <p:nvPr/>
        </p:nvSpPr>
        <p:spPr>
          <a:xfrm>
            <a:off x="4419490" y="5016375"/>
            <a:ext cx="977876" cy="203195"/>
          </a:xfrm>
          <a:prstGeom prst="roundRect">
            <a:avLst>
              <a:gd name="adj" fmla="val 50000"/>
            </a:avLst>
          </a:prstGeom>
          <a:solidFill>
            <a:srgbClr val="F0E8FF"/>
          </a:solidFill>
          <a:ln/>
        </p:spPr>
      </p:sp>
      <p:sp>
        <p:nvSpPr>
          <p:cNvPr id="98" name="text 21.97"/>
          <p:cNvSpPr txBox="1"/>
          <p:nvPr/>
        </p:nvSpPr>
        <p:spPr>
          <a:xfrm>
            <a:off x="4419490" y="501637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99" name="text 21.98"/>
          <p:cNvSpPr txBox="1"/>
          <p:nvPr/>
        </p:nvSpPr>
        <p:spPr>
          <a:xfrm>
            <a:off x="5625959" y="505447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100" name="shape 21.99"/>
          <p:cNvSpPr/>
          <p:nvPr/>
        </p:nvSpPr>
        <p:spPr>
          <a:xfrm>
            <a:off x="7654734" y="5029074"/>
            <a:ext cx="2482788" cy="190495"/>
          </a:xfrm>
          <a:prstGeom prst="roundRect">
            <a:avLst>
              <a:gd name="adj" fmla="val 50000"/>
            </a:avLst>
          </a:prstGeom>
          <a:solidFill>
            <a:srgbClr val="8F55F5"/>
          </a:solidFill>
          <a:ln/>
        </p:spPr>
      </p:sp>
      <p:sp>
        <p:nvSpPr>
          <p:cNvPr id="101" name="text 21.100"/>
          <p:cNvSpPr txBox="1"/>
          <p:nvPr/>
        </p:nvSpPr>
        <p:spPr>
          <a:xfrm>
            <a:off x="761981" y="538466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2.9</a:t>
            </a:r>
            <a:endParaRPr lang="en-US" sz="950" dirty="0"/>
          </a:p>
        </p:txBody>
      </p:sp>
      <p:sp>
        <p:nvSpPr>
          <p:cNvPr id="102" name="text 21.101"/>
          <p:cNvSpPr txBox="1"/>
          <p:nvPr/>
        </p:nvSpPr>
        <p:spPr>
          <a:xfrm>
            <a:off x="1244569" y="537831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Character model, four colours</a:t>
            </a:r>
            <a:endParaRPr lang="en-US" sz="1050" dirty="0"/>
          </a:p>
        </p:txBody>
      </p:sp>
      <p:sp>
        <p:nvSpPr>
          <p:cNvPr id="103" name="shape 21.102"/>
          <p:cNvSpPr/>
          <p:nvPr/>
        </p:nvSpPr>
        <p:spPr>
          <a:xfrm>
            <a:off x="4419490" y="5346566"/>
            <a:ext cx="977876" cy="203195"/>
          </a:xfrm>
          <a:prstGeom prst="roundRect">
            <a:avLst>
              <a:gd name="adj" fmla="val 50000"/>
            </a:avLst>
          </a:prstGeom>
          <a:solidFill>
            <a:srgbClr val="F0E8FF"/>
          </a:solidFill>
          <a:ln/>
        </p:spPr>
      </p:sp>
      <p:sp>
        <p:nvSpPr>
          <p:cNvPr id="104" name="text 21.103"/>
          <p:cNvSpPr txBox="1"/>
          <p:nvPr/>
        </p:nvSpPr>
        <p:spPr>
          <a:xfrm>
            <a:off x="4419490" y="534656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105" name="text 21.104"/>
          <p:cNvSpPr txBox="1"/>
          <p:nvPr/>
        </p:nvSpPr>
        <p:spPr>
          <a:xfrm>
            <a:off x="5625959" y="538466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06" name="shape 21.105"/>
          <p:cNvSpPr/>
          <p:nvPr/>
        </p:nvSpPr>
        <p:spPr>
          <a:xfrm>
            <a:off x="10188320" y="5359266"/>
            <a:ext cx="1215995" cy="190495"/>
          </a:xfrm>
          <a:prstGeom prst="roundRect">
            <a:avLst>
              <a:gd name="adj" fmla="val 50000"/>
            </a:avLst>
          </a:prstGeom>
          <a:solidFill>
            <a:srgbClr val="8F55F5"/>
          </a:solidFill>
          <a:ln/>
        </p:spPr>
      </p:sp>
      <p:sp>
        <p:nvSpPr>
          <p:cNvPr id="107" name="text 21.106"/>
          <p:cNvSpPr txBox="1"/>
          <p:nvPr/>
        </p:nvSpPr>
        <p:spPr>
          <a:xfrm>
            <a:off x="761981" y="5714857"/>
            <a:ext cx="312434"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2.10</a:t>
            </a:r>
            <a:endParaRPr lang="en-US" sz="950" dirty="0"/>
          </a:p>
        </p:txBody>
      </p:sp>
      <p:sp>
        <p:nvSpPr>
          <p:cNvPr id="108" name="text 21.107"/>
          <p:cNvSpPr txBox="1"/>
          <p:nvPr/>
        </p:nvSpPr>
        <p:spPr>
          <a:xfrm>
            <a:off x="1244569" y="570850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Demo 1 build &amp; presentation</a:t>
            </a:r>
            <a:endParaRPr lang="en-US" sz="1050" dirty="0"/>
          </a:p>
        </p:txBody>
      </p:sp>
      <p:sp>
        <p:nvSpPr>
          <p:cNvPr id="109" name="shape 21.108"/>
          <p:cNvSpPr/>
          <p:nvPr/>
        </p:nvSpPr>
        <p:spPr>
          <a:xfrm>
            <a:off x="4419490" y="5676758"/>
            <a:ext cx="977876" cy="203195"/>
          </a:xfrm>
          <a:prstGeom prst="roundRect">
            <a:avLst>
              <a:gd name="adj" fmla="val 50000"/>
            </a:avLst>
          </a:prstGeom>
          <a:solidFill>
            <a:srgbClr val="E9EFF8"/>
          </a:solidFill>
          <a:ln/>
        </p:spPr>
      </p:sp>
      <p:sp>
        <p:nvSpPr>
          <p:cNvPr id="110" name="text 21.109"/>
          <p:cNvSpPr txBox="1"/>
          <p:nvPr/>
        </p:nvSpPr>
        <p:spPr>
          <a:xfrm>
            <a:off x="4419490" y="567675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111" name="text 21.110"/>
          <p:cNvSpPr txBox="1"/>
          <p:nvPr/>
        </p:nvSpPr>
        <p:spPr>
          <a:xfrm>
            <a:off x="5625959" y="571485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12" name="shape 21.111"/>
          <p:cNvSpPr/>
          <p:nvPr/>
        </p:nvSpPr>
        <p:spPr>
          <a:xfrm>
            <a:off x="10188320" y="5689458"/>
            <a:ext cx="1215995" cy="190495"/>
          </a:xfrm>
          <a:prstGeom prst="roundRect">
            <a:avLst>
              <a:gd name="adj" fmla="val 50000"/>
            </a:avLst>
          </a:prstGeom>
          <a:solidFill>
            <a:srgbClr val="16233F"/>
          </a:solidFill>
          <a:ln/>
        </p:spPr>
      </p:sp>
      <p:sp>
        <p:nvSpPr>
          <p:cNvPr id="113" name="shape 21.112"/>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4" name="shape 21.113"/>
          <p:cNvSpPr/>
          <p:nvPr/>
        </p:nvSpPr>
        <p:spPr>
          <a:xfrm>
            <a:off x="711182" y="355591"/>
            <a:ext cx="114297" cy="114297"/>
          </a:xfrm>
          <a:prstGeom prst="roundRect">
            <a:avLst>
              <a:gd name="adj" fmla="val 33333"/>
            </a:avLst>
          </a:prstGeom>
          <a:solidFill>
            <a:srgbClr val="1FA9EA"/>
          </a:solidFill>
          <a:ln/>
        </p:spPr>
      </p:sp>
      <p:sp>
        <p:nvSpPr>
          <p:cNvPr id="115" name="shape 21.114"/>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6" name="shape 21.115"/>
          <p:cNvSpPr/>
          <p:nvPr/>
        </p:nvSpPr>
        <p:spPr>
          <a:xfrm>
            <a:off x="10058149" y="368291"/>
            <a:ext cx="101597" cy="101597"/>
          </a:xfrm>
          <a:prstGeom prst="roundRect">
            <a:avLst>
              <a:gd name="adj" fmla="val 31250"/>
            </a:avLst>
          </a:prstGeom>
          <a:solidFill>
            <a:srgbClr val="16233F"/>
          </a:solidFill>
          <a:ln/>
        </p:spPr>
      </p:sp>
      <p:sp>
        <p:nvSpPr>
          <p:cNvPr id="117" name="shape 21.116"/>
          <p:cNvSpPr/>
          <p:nvPr/>
        </p:nvSpPr>
        <p:spPr>
          <a:xfrm>
            <a:off x="10223244" y="368291"/>
            <a:ext cx="101597" cy="101597"/>
          </a:xfrm>
          <a:prstGeom prst="roundRect">
            <a:avLst>
              <a:gd name="adj" fmla="val 31250"/>
            </a:avLst>
          </a:prstGeom>
          <a:solidFill>
            <a:srgbClr val="16233F"/>
          </a:solidFill>
          <a:ln/>
        </p:spPr>
      </p:sp>
      <p:sp>
        <p:nvSpPr>
          <p:cNvPr id="118" name="shape 21.117"/>
          <p:cNvSpPr/>
          <p:nvPr/>
        </p:nvSpPr>
        <p:spPr>
          <a:xfrm>
            <a:off x="10388340" y="368291"/>
            <a:ext cx="101597" cy="101597"/>
          </a:xfrm>
          <a:prstGeom prst="roundRect">
            <a:avLst>
              <a:gd name="adj" fmla="val 31250"/>
            </a:avLst>
          </a:prstGeom>
          <a:solidFill>
            <a:srgbClr val="16233F"/>
          </a:solidFill>
          <a:ln/>
        </p:spPr>
      </p:sp>
      <p:sp>
        <p:nvSpPr>
          <p:cNvPr id="119" name="shape 21.118"/>
          <p:cNvSpPr/>
          <p:nvPr/>
        </p:nvSpPr>
        <p:spPr>
          <a:xfrm>
            <a:off x="10553436" y="368291"/>
            <a:ext cx="101597" cy="101597"/>
          </a:xfrm>
          <a:prstGeom prst="roundRect">
            <a:avLst>
              <a:gd name="adj" fmla="val 31250"/>
            </a:avLst>
          </a:prstGeom>
          <a:solidFill>
            <a:srgbClr val="16233F"/>
          </a:solidFill>
          <a:ln/>
        </p:spPr>
      </p:sp>
      <p:sp>
        <p:nvSpPr>
          <p:cNvPr id="120" name="shape 21.119"/>
          <p:cNvSpPr/>
          <p:nvPr/>
        </p:nvSpPr>
        <p:spPr>
          <a:xfrm>
            <a:off x="10718532" y="368291"/>
            <a:ext cx="101597" cy="101597"/>
          </a:xfrm>
          <a:prstGeom prst="roundRect">
            <a:avLst>
              <a:gd name="adj" fmla="val 31250"/>
            </a:avLst>
          </a:prstGeom>
          <a:solidFill>
            <a:srgbClr val="16233F"/>
          </a:solidFill>
          <a:ln/>
        </p:spPr>
      </p:sp>
      <p:sp>
        <p:nvSpPr>
          <p:cNvPr id="121" name="shape 21.120"/>
          <p:cNvSpPr/>
          <p:nvPr/>
        </p:nvSpPr>
        <p:spPr>
          <a:xfrm>
            <a:off x="10883628" y="368291"/>
            <a:ext cx="101597" cy="101597"/>
          </a:xfrm>
          <a:prstGeom prst="roundRect">
            <a:avLst>
              <a:gd name="adj" fmla="val 31250"/>
            </a:avLst>
          </a:prstGeom>
          <a:solidFill>
            <a:srgbClr val="1FA9EA"/>
          </a:solidFill>
          <a:ln/>
        </p:spPr>
      </p:sp>
      <p:sp>
        <p:nvSpPr>
          <p:cNvPr id="122" name="text 21.121"/>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21</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123" name="text 21.122"/>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2.1"/>
          <p:cNvSpPr/>
          <p:nvPr/>
        </p:nvSpPr>
        <p:spPr>
          <a:xfrm>
            <a:off x="609585" y="1523962"/>
            <a:ext cx="10972526" cy="4546486"/>
          </a:xfrm>
          <a:prstGeom prst="roundRect">
            <a:avLst>
              <a:gd name="adj" fmla="val 3911"/>
            </a:avLst>
          </a:prstGeom>
          <a:solidFill>
            <a:srgbClr val="FFFFFF"/>
          </a:solidFill>
          <a:ln/>
          <a:effectLst>
            <a:outerShdw sx="100000" sy="100000" kx="0" ky="0" algn="bl" rotWithShape="0" blurRad="203200" dist="76200" dir="5400000">
              <a:srgbClr val="1E468C">
                <a:alpha val="16000"/>
              </a:srgbClr>
            </a:outerShdw>
          </a:effectLst>
        </p:spPr>
      </p:sp>
      <p:sp>
        <p:nvSpPr>
          <p:cNvPr id="3" name="shape 22.2"/>
          <p:cNvSpPr/>
          <p:nvPr/>
        </p:nvSpPr>
        <p:spPr>
          <a:xfrm>
            <a:off x="698483" y="2324042"/>
            <a:ext cx="10794730" cy="292093"/>
          </a:xfrm>
          <a:prstGeom prst="roundRect">
            <a:avLst>
              <a:gd name="adj" fmla="val 30435"/>
            </a:avLst>
          </a:prstGeom>
          <a:solidFill>
            <a:srgbClr val="F1F5FB"/>
          </a:solidFill>
          <a:ln/>
        </p:spPr>
      </p:sp>
      <p:pic>
        <p:nvPicPr>
          <p:cNvPr id="4" name="raster 22.3" descr="diagram">    </p:cNvPr>
          <p:cNvPicPr>
            <a:picLocks noChangeAspect="1"/>
          </p:cNvPicPr>
          <p:nvPr/>
        </p:nvPicPr>
        <p:blipFill>
          <a:blip r:embed="rId2"/>
          <a:stretch>
            <a:fillRect/>
          </a:stretch>
        </p:blipFill>
        <p:spPr>
          <a:xfrm>
            <a:off x="6311742" y="2578036"/>
            <a:ext cx="5168771" cy="3428914"/>
          </a:xfrm>
          <a:prstGeom prst="rect">
            <a:avLst/>
          </a:prstGeom>
        </p:spPr>
      </p:pic>
      <p:sp>
        <p:nvSpPr>
          <p:cNvPr id="5" name="shape 22.4"/>
          <p:cNvSpPr/>
          <p:nvPr/>
        </p:nvSpPr>
        <p:spPr>
          <a:xfrm>
            <a:off x="761981" y="2971726"/>
            <a:ext cx="5524362" cy="9525"/>
          </a:xfrm>
          <a:prstGeom prst="rect">
            <a:avLst/>
          </a:prstGeom>
          <a:solidFill>
            <a:srgbClr val="EEF2F8"/>
          </a:solidFill>
          <a:ln/>
        </p:spPr>
      </p:sp>
      <p:sp>
        <p:nvSpPr>
          <p:cNvPr id="6" name="shape 22.5"/>
          <p:cNvSpPr/>
          <p:nvPr/>
        </p:nvSpPr>
        <p:spPr>
          <a:xfrm>
            <a:off x="761981" y="3301917"/>
            <a:ext cx="5524362" cy="9525"/>
          </a:xfrm>
          <a:prstGeom prst="rect">
            <a:avLst/>
          </a:prstGeom>
          <a:solidFill>
            <a:srgbClr val="EEF2F8"/>
          </a:solidFill>
          <a:ln/>
        </p:spPr>
      </p:sp>
      <p:sp>
        <p:nvSpPr>
          <p:cNvPr id="7" name="shape 22.6"/>
          <p:cNvSpPr/>
          <p:nvPr/>
        </p:nvSpPr>
        <p:spPr>
          <a:xfrm>
            <a:off x="761981" y="3632109"/>
            <a:ext cx="5524362" cy="9525"/>
          </a:xfrm>
          <a:prstGeom prst="rect">
            <a:avLst/>
          </a:prstGeom>
          <a:solidFill>
            <a:srgbClr val="EEF2F8"/>
          </a:solidFill>
          <a:ln/>
        </p:spPr>
      </p:sp>
      <p:sp>
        <p:nvSpPr>
          <p:cNvPr id="8" name="shape 22.7"/>
          <p:cNvSpPr/>
          <p:nvPr/>
        </p:nvSpPr>
        <p:spPr>
          <a:xfrm>
            <a:off x="761981" y="3962301"/>
            <a:ext cx="5524362" cy="9525"/>
          </a:xfrm>
          <a:prstGeom prst="rect">
            <a:avLst/>
          </a:prstGeom>
          <a:solidFill>
            <a:srgbClr val="EEF2F8"/>
          </a:solidFill>
          <a:ln/>
        </p:spPr>
      </p:sp>
      <p:sp>
        <p:nvSpPr>
          <p:cNvPr id="9" name="shape 22.8"/>
          <p:cNvSpPr/>
          <p:nvPr/>
        </p:nvSpPr>
        <p:spPr>
          <a:xfrm>
            <a:off x="761981" y="4292493"/>
            <a:ext cx="5524362" cy="9525"/>
          </a:xfrm>
          <a:prstGeom prst="rect">
            <a:avLst/>
          </a:prstGeom>
          <a:solidFill>
            <a:srgbClr val="EEF2F8"/>
          </a:solidFill>
          <a:ln/>
        </p:spPr>
      </p:sp>
      <p:sp>
        <p:nvSpPr>
          <p:cNvPr id="10" name="shape 22.9"/>
          <p:cNvSpPr/>
          <p:nvPr/>
        </p:nvSpPr>
        <p:spPr>
          <a:xfrm>
            <a:off x="761981" y="4622684"/>
            <a:ext cx="5524362" cy="9525"/>
          </a:xfrm>
          <a:prstGeom prst="rect">
            <a:avLst/>
          </a:prstGeom>
          <a:solidFill>
            <a:srgbClr val="EEF2F8"/>
          </a:solidFill>
          <a:ln/>
        </p:spPr>
      </p:sp>
      <p:sp>
        <p:nvSpPr>
          <p:cNvPr id="11" name="shape 22.10"/>
          <p:cNvSpPr/>
          <p:nvPr/>
        </p:nvSpPr>
        <p:spPr>
          <a:xfrm>
            <a:off x="761981" y="4952876"/>
            <a:ext cx="5524362" cy="9525"/>
          </a:xfrm>
          <a:prstGeom prst="rect">
            <a:avLst/>
          </a:prstGeom>
          <a:solidFill>
            <a:srgbClr val="EEF2F8"/>
          </a:solidFill>
          <a:ln/>
        </p:spPr>
      </p:sp>
      <p:sp>
        <p:nvSpPr>
          <p:cNvPr id="12" name="shape 22.11"/>
          <p:cNvSpPr/>
          <p:nvPr/>
        </p:nvSpPr>
        <p:spPr>
          <a:xfrm>
            <a:off x="761981" y="5283068"/>
            <a:ext cx="5524362" cy="9525"/>
          </a:xfrm>
          <a:prstGeom prst="rect">
            <a:avLst/>
          </a:prstGeom>
          <a:solidFill>
            <a:srgbClr val="EEF2F8"/>
          </a:solidFill>
          <a:ln/>
        </p:spPr>
      </p:sp>
      <p:sp>
        <p:nvSpPr>
          <p:cNvPr id="13" name="shape 22.12"/>
          <p:cNvSpPr/>
          <p:nvPr/>
        </p:nvSpPr>
        <p:spPr>
          <a:xfrm>
            <a:off x="761981" y="5613260"/>
            <a:ext cx="5524362" cy="9525"/>
          </a:xfrm>
          <a:prstGeom prst="rect">
            <a:avLst/>
          </a:prstGeom>
          <a:solidFill>
            <a:srgbClr val="EEF2F8"/>
          </a:solidFill>
          <a:ln/>
        </p:spPr>
      </p:sp>
      <p:sp>
        <p:nvSpPr>
          <p:cNvPr id="14" name="text 22.13"/>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demo 2</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Mass Knockout and the full session</a:t>
            </a:r>
            <a:endParaRPr lang="en-US" sz="2700" dirty="0"/>
          </a:p>
        </p:txBody>
      </p:sp>
      <p:sp>
        <p:nvSpPr>
          <p:cNvPr id="15" name="text 22.14"/>
          <p:cNvSpPr txBox="1"/>
          <p:nvPr/>
        </p:nvSpPr>
        <p:spPr>
          <a:xfrm>
            <a:off x="761981" y="1917652"/>
            <a:ext cx="45718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WBS</a:t>
            </a:r>
            <a:endParaRPr lang="en-US" sz="750" dirty="0"/>
          </a:p>
        </p:txBody>
      </p:sp>
      <p:sp>
        <p:nvSpPr>
          <p:cNvPr id="16" name="text 22.15"/>
          <p:cNvSpPr txBox="1"/>
          <p:nvPr/>
        </p:nvSpPr>
        <p:spPr>
          <a:xfrm>
            <a:off x="1244569" y="1917652"/>
            <a:ext cx="314952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TASK</a:t>
            </a:r>
            <a:endParaRPr lang="en-US" sz="750" dirty="0"/>
          </a:p>
        </p:txBody>
      </p:sp>
      <p:sp>
        <p:nvSpPr>
          <p:cNvPr id="17" name="text 22.16"/>
          <p:cNvSpPr txBox="1"/>
          <p:nvPr/>
        </p:nvSpPr>
        <p:spPr>
          <a:xfrm>
            <a:off x="4419490" y="1917652"/>
            <a:ext cx="118107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OWNER</a:t>
            </a:r>
            <a:endParaRPr lang="en-US" sz="750" dirty="0"/>
          </a:p>
        </p:txBody>
      </p:sp>
      <p:sp>
        <p:nvSpPr>
          <p:cNvPr id="18" name="text 22.17"/>
          <p:cNvSpPr txBox="1"/>
          <p:nvPr/>
        </p:nvSpPr>
        <p:spPr>
          <a:xfrm>
            <a:off x="5625959" y="1917652"/>
            <a:ext cx="67308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DURATION</a:t>
            </a:r>
            <a:endParaRPr lang="en-US" sz="750" dirty="0"/>
          </a:p>
        </p:txBody>
      </p:sp>
      <p:sp>
        <p:nvSpPr>
          <p:cNvPr id="19" name="text 22.18"/>
          <p:cNvSpPr txBox="1"/>
          <p:nvPr/>
        </p:nvSpPr>
        <p:spPr>
          <a:xfrm>
            <a:off x="636254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16–20 Nov</a:t>
            </a:r>
            <a:endParaRPr lang="en-US" sz="900" dirty="0"/>
          </a:p>
        </p:txBody>
      </p:sp>
      <p:sp>
        <p:nvSpPr>
          <p:cNvPr id="20" name="shape 22.19"/>
          <p:cNvSpPr/>
          <p:nvPr/>
        </p:nvSpPr>
        <p:spPr>
          <a:xfrm>
            <a:off x="6387940" y="1854154"/>
            <a:ext cx="1215995" cy="203195"/>
          </a:xfrm>
          <a:prstGeom prst="roundRect">
            <a:avLst>
              <a:gd name="adj" fmla="val 50000"/>
            </a:avLst>
          </a:prstGeom>
          <a:solidFill>
            <a:srgbClr val="FF6B1F"/>
          </a:solidFill>
          <a:ln/>
        </p:spPr>
      </p:sp>
      <p:sp>
        <p:nvSpPr>
          <p:cNvPr id="21" name="text 22.20"/>
          <p:cNvSpPr txBox="1"/>
          <p:nvPr/>
        </p:nvSpPr>
        <p:spPr>
          <a:xfrm>
            <a:off x="638794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7</a:t>
            </a:r>
            <a:endParaRPr lang="en-US" sz="800" dirty="0"/>
          </a:p>
        </p:txBody>
      </p:sp>
      <p:sp>
        <p:nvSpPr>
          <p:cNvPr id="22" name="text 22.21"/>
          <p:cNvSpPr txBox="1"/>
          <p:nvPr/>
        </p:nvSpPr>
        <p:spPr>
          <a:xfrm>
            <a:off x="636254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23" name="text 22.22"/>
          <p:cNvSpPr txBox="1"/>
          <p:nvPr/>
        </p:nvSpPr>
        <p:spPr>
          <a:xfrm>
            <a:off x="661584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4" name="text 22.23"/>
          <p:cNvSpPr txBox="1"/>
          <p:nvPr/>
        </p:nvSpPr>
        <p:spPr>
          <a:xfrm>
            <a:off x="68692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5" name="text 22.24"/>
          <p:cNvSpPr txBox="1"/>
          <p:nvPr/>
        </p:nvSpPr>
        <p:spPr>
          <a:xfrm>
            <a:off x="71225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6" name="text 22.25"/>
          <p:cNvSpPr txBox="1"/>
          <p:nvPr/>
        </p:nvSpPr>
        <p:spPr>
          <a:xfrm>
            <a:off x="737593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27" name="text 22.26"/>
          <p:cNvSpPr txBox="1"/>
          <p:nvPr/>
        </p:nvSpPr>
        <p:spPr>
          <a:xfrm>
            <a:off x="7629334"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23–27 Nov</a:t>
            </a:r>
            <a:endParaRPr lang="en-US" sz="900" dirty="0"/>
          </a:p>
        </p:txBody>
      </p:sp>
      <p:sp>
        <p:nvSpPr>
          <p:cNvPr id="28" name="shape 22.27"/>
          <p:cNvSpPr/>
          <p:nvPr/>
        </p:nvSpPr>
        <p:spPr>
          <a:xfrm>
            <a:off x="7654734" y="1854154"/>
            <a:ext cx="1215995" cy="203195"/>
          </a:xfrm>
          <a:prstGeom prst="roundRect">
            <a:avLst>
              <a:gd name="adj" fmla="val 50000"/>
            </a:avLst>
          </a:prstGeom>
          <a:solidFill>
            <a:srgbClr val="FF6B1F"/>
          </a:solidFill>
          <a:ln/>
        </p:spPr>
      </p:sp>
      <p:sp>
        <p:nvSpPr>
          <p:cNvPr id="29" name="text 22.28"/>
          <p:cNvSpPr txBox="1"/>
          <p:nvPr/>
        </p:nvSpPr>
        <p:spPr>
          <a:xfrm>
            <a:off x="7654734"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8</a:t>
            </a:r>
            <a:endParaRPr lang="en-US" sz="800" dirty="0"/>
          </a:p>
        </p:txBody>
      </p:sp>
      <p:sp>
        <p:nvSpPr>
          <p:cNvPr id="30" name="text 22.29"/>
          <p:cNvSpPr txBox="1"/>
          <p:nvPr/>
        </p:nvSpPr>
        <p:spPr>
          <a:xfrm>
            <a:off x="762933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1" name="text 22.30"/>
          <p:cNvSpPr txBox="1"/>
          <p:nvPr/>
        </p:nvSpPr>
        <p:spPr>
          <a:xfrm>
            <a:off x="788263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2" name="text 22.31"/>
          <p:cNvSpPr txBox="1"/>
          <p:nvPr/>
        </p:nvSpPr>
        <p:spPr>
          <a:xfrm>
            <a:off x="8136032"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33" name="text 22.32"/>
          <p:cNvSpPr txBox="1"/>
          <p:nvPr/>
        </p:nvSpPr>
        <p:spPr>
          <a:xfrm>
            <a:off x="838933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4" name="text 22.33"/>
          <p:cNvSpPr txBox="1"/>
          <p:nvPr/>
        </p:nvSpPr>
        <p:spPr>
          <a:xfrm>
            <a:off x="8642729"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5" name="text 22.34"/>
          <p:cNvSpPr txBox="1"/>
          <p:nvPr/>
        </p:nvSpPr>
        <p:spPr>
          <a:xfrm>
            <a:off x="8896128"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30 Nov–4 Dec</a:t>
            </a:r>
            <a:endParaRPr lang="en-US" sz="900" dirty="0"/>
          </a:p>
        </p:txBody>
      </p:sp>
      <p:sp>
        <p:nvSpPr>
          <p:cNvPr id="36" name="shape 22.35"/>
          <p:cNvSpPr/>
          <p:nvPr/>
        </p:nvSpPr>
        <p:spPr>
          <a:xfrm>
            <a:off x="8921527" y="1854154"/>
            <a:ext cx="1215995" cy="203195"/>
          </a:xfrm>
          <a:prstGeom prst="roundRect">
            <a:avLst>
              <a:gd name="adj" fmla="val 50000"/>
            </a:avLst>
          </a:prstGeom>
          <a:solidFill>
            <a:srgbClr val="FF6B1F"/>
          </a:solidFill>
          <a:ln/>
        </p:spPr>
      </p:sp>
      <p:sp>
        <p:nvSpPr>
          <p:cNvPr id="37" name="text 22.36"/>
          <p:cNvSpPr txBox="1"/>
          <p:nvPr/>
        </p:nvSpPr>
        <p:spPr>
          <a:xfrm>
            <a:off x="8921527"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9</a:t>
            </a:r>
            <a:endParaRPr lang="en-US" sz="800" dirty="0"/>
          </a:p>
        </p:txBody>
      </p:sp>
      <p:sp>
        <p:nvSpPr>
          <p:cNvPr id="38" name="text 22.37"/>
          <p:cNvSpPr txBox="1"/>
          <p:nvPr/>
        </p:nvSpPr>
        <p:spPr>
          <a:xfrm>
            <a:off x="889612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9" name="text 22.38"/>
          <p:cNvSpPr txBox="1"/>
          <p:nvPr/>
        </p:nvSpPr>
        <p:spPr>
          <a:xfrm>
            <a:off x="9149427"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0" name="text 22.39"/>
          <p:cNvSpPr txBox="1"/>
          <p:nvPr/>
        </p:nvSpPr>
        <p:spPr>
          <a:xfrm>
            <a:off x="9402825"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1" name="text 22.40"/>
          <p:cNvSpPr txBox="1"/>
          <p:nvPr/>
        </p:nvSpPr>
        <p:spPr>
          <a:xfrm>
            <a:off x="965612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2" name="text 22.41"/>
          <p:cNvSpPr txBox="1"/>
          <p:nvPr/>
        </p:nvSpPr>
        <p:spPr>
          <a:xfrm>
            <a:off x="990952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43" name="text 22.42"/>
          <p:cNvSpPr txBox="1"/>
          <p:nvPr/>
        </p:nvSpPr>
        <p:spPr>
          <a:xfrm>
            <a:off x="1016292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7–11 Dec</a:t>
            </a:r>
            <a:endParaRPr lang="en-US" sz="900" dirty="0"/>
          </a:p>
        </p:txBody>
      </p:sp>
      <p:sp>
        <p:nvSpPr>
          <p:cNvPr id="44" name="shape 22.43"/>
          <p:cNvSpPr/>
          <p:nvPr/>
        </p:nvSpPr>
        <p:spPr>
          <a:xfrm>
            <a:off x="10188320" y="1854154"/>
            <a:ext cx="1215995" cy="203195"/>
          </a:xfrm>
          <a:prstGeom prst="roundRect">
            <a:avLst>
              <a:gd name="adj" fmla="val 50000"/>
            </a:avLst>
          </a:prstGeom>
          <a:solidFill>
            <a:srgbClr val="FF6B1F"/>
          </a:solidFill>
          <a:ln/>
        </p:spPr>
      </p:sp>
      <p:sp>
        <p:nvSpPr>
          <p:cNvPr id="45" name="text 22.44"/>
          <p:cNvSpPr txBox="1"/>
          <p:nvPr/>
        </p:nvSpPr>
        <p:spPr>
          <a:xfrm>
            <a:off x="1018832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10</a:t>
            </a:r>
            <a:endParaRPr lang="en-US" sz="800" dirty="0"/>
          </a:p>
        </p:txBody>
      </p:sp>
      <p:sp>
        <p:nvSpPr>
          <p:cNvPr id="46" name="text 22.45"/>
          <p:cNvSpPr txBox="1"/>
          <p:nvPr/>
        </p:nvSpPr>
        <p:spPr>
          <a:xfrm>
            <a:off x="1016292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47" name="text 22.46"/>
          <p:cNvSpPr txBox="1"/>
          <p:nvPr/>
        </p:nvSpPr>
        <p:spPr>
          <a:xfrm>
            <a:off x="1041622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8" name="text 22.47"/>
          <p:cNvSpPr txBox="1"/>
          <p:nvPr/>
        </p:nvSpPr>
        <p:spPr>
          <a:xfrm>
            <a:off x="106696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9" name="text 22.48"/>
          <p:cNvSpPr txBox="1"/>
          <p:nvPr/>
        </p:nvSpPr>
        <p:spPr>
          <a:xfrm>
            <a:off x="109229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50" name="text 22.49"/>
          <p:cNvSpPr txBox="1"/>
          <p:nvPr/>
        </p:nvSpPr>
        <p:spPr>
          <a:xfrm>
            <a:off x="1117631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51" name="text 22.50"/>
          <p:cNvSpPr txBox="1"/>
          <p:nvPr/>
        </p:nvSpPr>
        <p:spPr>
          <a:xfrm>
            <a:off x="761981" y="24002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3</a:t>
            </a:r>
            <a:endParaRPr lang="en-US" sz="1150" dirty="0"/>
          </a:p>
        </p:txBody>
      </p:sp>
      <p:sp>
        <p:nvSpPr>
          <p:cNvPr id="52" name="text 22.51"/>
          <p:cNvSpPr txBox="1"/>
          <p:nvPr/>
        </p:nvSpPr>
        <p:spPr>
          <a:xfrm>
            <a:off x="1244569" y="2400240"/>
            <a:ext cx="1281569"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Demo 2 · 14 Dec</a:t>
            </a:r>
            <a:endParaRPr lang="en-US" sz="1150" dirty="0"/>
          </a:p>
        </p:txBody>
      </p:sp>
      <p:sp>
        <p:nvSpPr>
          <p:cNvPr id="53" name="text 22.52"/>
          <p:cNvSpPr txBox="1"/>
          <p:nvPr/>
        </p:nvSpPr>
        <p:spPr>
          <a:xfrm>
            <a:off x="761981" y="274313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3.1</a:t>
            </a:r>
            <a:endParaRPr lang="en-US" sz="950" dirty="0"/>
          </a:p>
        </p:txBody>
      </p:sp>
      <p:sp>
        <p:nvSpPr>
          <p:cNvPr id="54" name="text 22.53"/>
          <p:cNvSpPr txBox="1"/>
          <p:nvPr/>
        </p:nvSpPr>
        <p:spPr>
          <a:xfrm>
            <a:off x="1244569" y="273678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Hit detection &amp; mass loss</a:t>
            </a:r>
            <a:endParaRPr lang="en-US" sz="1050" dirty="0"/>
          </a:p>
        </p:txBody>
      </p:sp>
      <p:sp>
        <p:nvSpPr>
          <p:cNvPr id="55" name="shape 22.54"/>
          <p:cNvSpPr/>
          <p:nvPr/>
        </p:nvSpPr>
        <p:spPr>
          <a:xfrm>
            <a:off x="4419490" y="2705032"/>
            <a:ext cx="977876" cy="203195"/>
          </a:xfrm>
          <a:prstGeom prst="roundRect">
            <a:avLst>
              <a:gd name="adj" fmla="val 50000"/>
            </a:avLst>
          </a:prstGeom>
          <a:solidFill>
            <a:srgbClr val="E2F4FD"/>
          </a:solidFill>
          <a:ln/>
        </p:spPr>
      </p:sp>
      <p:sp>
        <p:nvSpPr>
          <p:cNvPr id="56" name="text 22.55"/>
          <p:cNvSpPr txBox="1"/>
          <p:nvPr/>
        </p:nvSpPr>
        <p:spPr>
          <a:xfrm>
            <a:off x="4419490" y="270503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7" name="text 22.56"/>
          <p:cNvSpPr txBox="1"/>
          <p:nvPr/>
        </p:nvSpPr>
        <p:spPr>
          <a:xfrm>
            <a:off x="5625959" y="274313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58" name="shape 22.57"/>
          <p:cNvSpPr/>
          <p:nvPr/>
        </p:nvSpPr>
        <p:spPr>
          <a:xfrm>
            <a:off x="6387940" y="2717732"/>
            <a:ext cx="1215995" cy="190495"/>
          </a:xfrm>
          <a:prstGeom prst="roundRect">
            <a:avLst>
              <a:gd name="adj" fmla="val 50000"/>
            </a:avLst>
          </a:prstGeom>
          <a:solidFill>
            <a:srgbClr val="1FA9EA"/>
          </a:solidFill>
          <a:ln/>
        </p:spPr>
      </p:sp>
      <p:sp>
        <p:nvSpPr>
          <p:cNvPr id="59" name="text 22.58"/>
          <p:cNvSpPr txBox="1"/>
          <p:nvPr/>
        </p:nvSpPr>
        <p:spPr>
          <a:xfrm>
            <a:off x="761981" y="307332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3.2</a:t>
            </a:r>
            <a:endParaRPr lang="en-US" sz="950" dirty="0"/>
          </a:p>
        </p:txBody>
      </p:sp>
      <p:sp>
        <p:nvSpPr>
          <p:cNvPr id="60" name="text 22.59"/>
          <p:cNvSpPr txBox="1"/>
          <p:nvPr/>
        </p:nvSpPr>
        <p:spPr>
          <a:xfrm>
            <a:off x="1244569" y="306697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Knockback scaled by mass</a:t>
            </a:r>
            <a:endParaRPr lang="en-US" sz="1050" dirty="0"/>
          </a:p>
        </p:txBody>
      </p:sp>
      <p:sp>
        <p:nvSpPr>
          <p:cNvPr id="61" name="shape 22.60"/>
          <p:cNvSpPr/>
          <p:nvPr/>
        </p:nvSpPr>
        <p:spPr>
          <a:xfrm>
            <a:off x="4419490" y="3035224"/>
            <a:ext cx="977876" cy="203195"/>
          </a:xfrm>
          <a:prstGeom prst="roundRect">
            <a:avLst>
              <a:gd name="adj" fmla="val 50000"/>
            </a:avLst>
          </a:prstGeom>
          <a:solidFill>
            <a:srgbClr val="E2F4FD"/>
          </a:solidFill>
          <a:ln/>
        </p:spPr>
      </p:sp>
      <p:sp>
        <p:nvSpPr>
          <p:cNvPr id="62" name="text 22.61"/>
          <p:cNvSpPr txBox="1"/>
          <p:nvPr/>
        </p:nvSpPr>
        <p:spPr>
          <a:xfrm>
            <a:off x="4419490" y="303522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63" name="text 22.62"/>
          <p:cNvSpPr txBox="1"/>
          <p:nvPr/>
        </p:nvSpPr>
        <p:spPr>
          <a:xfrm>
            <a:off x="5625959" y="307332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64" name="shape 22.63"/>
          <p:cNvSpPr/>
          <p:nvPr/>
        </p:nvSpPr>
        <p:spPr>
          <a:xfrm>
            <a:off x="7654734" y="3047924"/>
            <a:ext cx="1215995" cy="190495"/>
          </a:xfrm>
          <a:prstGeom prst="roundRect">
            <a:avLst>
              <a:gd name="adj" fmla="val 50000"/>
            </a:avLst>
          </a:prstGeom>
          <a:solidFill>
            <a:srgbClr val="1FA9EA"/>
          </a:solidFill>
          <a:ln/>
        </p:spPr>
      </p:sp>
      <p:sp>
        <p:nvSpPr>
          <p:cNvPr id="65" name="text 22.64"/>
          <p:cNvSpPr txBox="1"/>
          <p:nvPr/>
        </p:nvSpPr>
        <p:spPr>
          <a:xfrm>
            <a:off x="761981" y="340351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3.3</a:t>
            </a:r>
            <a:endParaRPr lang="en-US" sz="950" dirty="0"/>
          </a:p>
        </p:txBody>
      </p:sp>
      <p:sp>
        <p:nvSpPr>
          <p:cNvPr id="66" name="text 22.65"/>
          <p:cNvSpPr txBox="1"/>
          <p:nvPr/>
        </p:nvSpPr>
        <p:spPr>
          <a:xfrm>
            <a:off x="1244569" y="339716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Fall-out &amp; placement order</a:t>
            </a:r>
            <a:endParaRPr lang="en-US" sz="1050" dirty="0"/>
          </a:p>
        </p:txBody>
      </p:sp>
      <p:sp>
        <p:nvSpPr>
          <p:cNvPr id="67" name="shape 22.66"/>
          <p:cNvSpPr/>
          <p:nvPr/>
        </p:nvSpPr>
        <p:spPr>
          <a:xfrm>
            <a:off x="4419490" y="3365416"/>
            <a:ext cx="977876" cy="203195"/>
          </a:xfrm>
          <a:prstGeom prst="roundRect">
            <a:avLst>
              <a:gd name="adj" fmla="val 50000"/>
            </a:avLst>
          </a:prstGeom>
          <a:solidFill>
            <a:srgbClr val="E2F4FD"/>
          </a:solidFill>
          <a:ln/>
        </p:spPr>
      </p:sp>
      <p:sp>
        <p:nvSpPr>
          <p:cNvPr id="68" name="text 22.67"/>
          <p:cNvSpPr txBox="1"/>
          <p:nvPr/>
        </p:nvSpPr>
        <p:spPr>
          <a:xfrm>
            <a:off x="4419490" y="336541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69" name="text 22.68"/>
          <p:cNvSpPr txBox="1"/>
          <p:nvPr/>
        </p:nvSpPr>
        <p:spPr>
          <a:xfrm>
            <a:off x="5625959" y="340351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70" name="shape 22.69"/>
          <p:cNvSpPr/>
          <p:nvPr/>
        </p:nvSpPr>
        <p:spPr>
          <a:xfrm>
            <a:off x="8921527" y="3378116"/>
            <a:ext cx="1215995" cy="190495"/>
          </a:xfrm>
          <a:prstGeom prst="roundRect">
            <a:avLst>
              <a:gd name="adj" fmla="val 50000"/>
            </a:avLst>
          </a:prstGeom>
          <a:solidFill>
            <a:srgbClr val="1FA9EA"/>
          </a:solidFill>
          <a:ln/>
        </p:spPr>
      </p:sp>
      <p:sp>
        <p:nvSpPr>
          <p:cNvPr id="71" name="text 22.70"/>
          <p:cNvSpPr txBox="1"/>
          <p:nvPr/>
        </p:nvSpPr>
        <p:spPr>
          <a:xfrm>
            <a:off x="761981" y="37337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3.4</a:t>
            </a:r>
            <a:endParaRPr lang="en-US" sz="950" dirty="0"/>
          </a:p>
        </p:txBody>
      </p:sp>
      <p:sp>
        <p:nvSpPr>
          <p:cNvPr id="72" name="text 22.71"/>
          <p:cNvSpPr txBox="1"/>
          <p:nvPr/>
        </p:nvSpPr>
        <p:spPr>
          <a:xfrm>
            <a:off x="1244569" y="37273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Networked projectiles &amp; hits</a:t>
            </a:r>
            <a:endParaRPr lang="en-US" sz="1050" dirty="0"/>
          </a:p>
        </p:txBody>
      </p:sp>
      <p:sp>
        <p:nvSpPr>
          <p:cNvPr id="73" name="shape 22.72"/>
          <p:cNvSpPr/>
          <p:nvPr/>
        </p:nvSpPr>
        <p:spPr>
          <a:xfrm>
            <a:off x="4419490" y="3695608"/>
            <a:ext cx="977876" cy="203195"/>
          </a:xfrm>
          <a:prstGeom prst="roundRect">
            <a:avLst>
              <a:gd name="adj" fmla="val 50000"/>
            </a:avLst>
          </a:prstGeom>
          <a:solidFill>
            <a:srgbClr val="FFF0E6"/>
          </a:solidFill>
          <a:ln/>
        </p:spPr>
      </p:sp>
      <p:sp>
        <p:nvSpPr>
          <p:cNvPr id="74" name="text 22.73"/>
          <p:cNvSpPr txBox="1"/>
          <p:nvPr/>
        </p:nvSpPr>
        <p:spPr>
          <a:xfrm>
            <a:off x="4419490" y="36956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5" name="text 22.74"/>
          <p:cNvSpPr txBox="1"/>
          <p:nvPr/>
        </p:nvSpPr>
        <p:spPr>
          <a:xfrm>
            <a:off x="5625959" y="37337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3 wk</a:t>
            </a:r>
            <a:endParaRPr lang="en-US" sz="950" dirty="0"/>
          </a:p>
        </p:txBody>
      </p:sp>
      <p:sp>
        <p:nvSpPr>
          <p:cNvPr id="76" name="shape 22.75"/>
          <p:cNvSpPr/>
          <p:nvPr/>
        </p:nvSpPr>
        <p:spPr>
          <a:xfrm>
            <a:off x="6387940" y="3708307"/>
            <a:ext cx="3749581" cy="190495"/>
          </a:xfrm>
          <a:prstGeom prst="roundRect">
            <a:avLst>
              <a:gd name="adj" fmla="val 50000"/>
            </a:avLst>
          </a:prstGeom>
          <a:solidFill>
            <a:srgbClr val="FF6B1F"/>
          </a:solidFill>
          <a:ln/>
        </p:spPr>
      </p:sp>
      <p:sp>
        <p:nvSpPr>
          <p:cNvPr id="77" name="text 22.76"/>
          <p:cNvSpPr txBox="1"/>
          <p:nvPr/>
        </p:nvSpPr>
        <p:spPr>
          <a:xfrm>
            <a:off x="761981" y="406389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3.5</a:t>
            </a:r>
            <a:endParaRPr lang="en-US" sz="950" dirty="0"/>
          </a:p>
        </p:txBody>
      </p:sp>
      <p:sp>
        <p:nvSpPr>
          <p:cNvPr id="78" name="text 22.77"/>
          <p:cNvSpPr txBox="1"/>
          <p:nvPr/>
        </p:nvSpPr>
        <p:spPr>
          <a:xfrm>
            <a:off x="1244569" y="405754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Mass Knockout arena</a:t>
            </a:r>
            <a:endParaRPr lang="en-US" sz="1050" dirty="0"/>
          </a:p>
        </p:txBody>
      </p:sp>
      <p:sp>
        <p:nvSpPr>
          <p:cNvPr id="79" name="shape 22.78"/>
          <p:cNvSpPr/>
          <p:nvPr/>
        </p:nvSpPr>
        <p:spPr>
          <a:xfrm>
            <a:off x="4419490" y="4025799"/>
            <a:ext cx="977876" cy="203195"/>
          </a:xfrm>
          <a:prstGeom prst="roundRect">
            <a:avLst>
              <a:gd name="adj" fmla="val 50000"/>
            </a:avLst>
          </a:prstGeom>
          <a:solidFill>
            <a:srgbClr val="F0E8FF"/>
          </a:solidFill>
          <a:ln/>
        </p:spPr>
      </p:sp>
      <p:sp>
        <p:nvSpPr>
          <p:cNvPr id="80" name="text 22.79"/>
          <p:cNvSpPr txBox="1"/>
          <p:nvPr/>
        </p:nvSpPr>
        <p:spPr>
          <a:xfrm>
            <a:off x="4419490" y="402579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81" name="text 22.80"/>
          <p:cNvSpPr txBox="1"/>
          <p:nvPr/>
        </p:nvSpPr>
        <p:spPr>
          <a:xfrm>
            <a:off x="5625959" y="406389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82" name="shape 22.81"/>
          <p:cNvSpPr/>
          <p:nvPr/>
        </p:nvSpPr>
        <p:spPr>
          <a:xfrm>
            <a:off x="6387940" y="4038499"/>
            <a:ext cx="2482788" cy="190495"/>
          </a:xfrm>
          <a:prstGeom prst="roundRect">
            <a:avLst>
              <a:gd name="adj" fmla="val 50000"/>
            </a:avLst>
          </a:prstGeom>
          <a:solidFill>
            <a:srgbClr val="8F55F5"/>
          </a:solidFill>
          <a:ln/>
        </p:spPr>
      </p:sp>
      <p:sp>
        <p:nvSpPr>
          <p:cNvPr id="83" name="text 22.82"/>
          <p:cNvSpPr txBox="1"/>
          <p:nvPr/>
        </p:nvSpPr>
        <p:spPr>
          <a:xfrm>
            <a:off x="761981" y="439409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3.6</a:t>
            </a:r>
            <a:endParaRPr lang="en-US" sz="950" dirty="0"/>
          </a:p>
        </p:txBody>
      </p:sp>
      <p:sp>
        <p:nvSpPr>
          <p:cNvPr id="84" name="text 22.83"/>
          <p:cNvSpPr txBox="1"/>
          <p:nvPr/>
        </p:nvSpPr>
        <p:spPr>
          <a:xfrm>
            <a:off x="1244569" y="438774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Ice Race loop &amp; checkpoint scoring</a:t>
            </a:r>
            <a:endParaRPr lang="en-US" sz="1050" dirty="0"/>
          </a:p>
        </p:txBody>
      </p:sp>
      <p:sp>
        <p:nvSpPr>
          <p:cNvPr id="85" name="shape 22.84"/>
          <p:cNvSpPr/>
          <p:nvPr/>
        </p:nvSpPr>
        <p:spPr>
          <a:xfrm>
            <a:off x="4419490" y="4355991"/>
            <a:ext cx="977876" cy="203195"/>
          </a:xfrm>
          <a:prstGeom prst="roundRect">
            <a:avLst>
              <a:gd name="adj" fmla="val 50000"/>
            </a:avLst>
          </a:prstGeom>
          <a:solidFill>
            <a:srgbClr val="E6F6E1"/>
          </a:solidFill>
          <a:ln/>
        </p:spPr>
      </p:sp>
      <p:sp>
        <p:nvSpPr>
          <p:cNvPr id="86" name="text 22.85"/>
          <p:cNvSpPr txBox="1"/>
          <p:nvPr/>
        </p:nvSpPr>
        <p:spPr>
          <a:xfrm>
            <a:off x="4419490" y="435599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7" name="text 22.86"/>
          <p:cNvSpPr txBox="1"/>
          <p:nvPr/>
        </p:nvSpPr>
        <p:spPr>
          <a:xfrm>
            <a:off x="5625959" y="439409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88" name="shape 22.87"/>
          <p:cNvSpPr/>
          <p:nvPr/>
        </p:nvSpPr>
        <p:spPr>
          <a:xfrm>
            <a:off x="6387940" y="4368691"/>
            <a:ext cx="2482788" cy="190495"/>
          </a:xfrm>
          <a:prstGeom prst="roundRect">
            <a:avLst>
              <a:gd name="adj" fmla="val 50000"/>
            </a:avLst>
          </a:prstGeom>
          <a:solidFill>
            <a:srgbClr val="43B832"/>
          </a:solidFill>
          <a:ln/>
        </p:spPr>
      </p:sp>
      <p:sp>
        <p:nvSpPr>
          <p:cNvPr id="89" name="text 22.88"/>
          <p:cNvSpPr txBox="1"/>
          <p:nvPr/>
        </p:nvSpPr>
        <p:spPr>
          <a:xfrm>
            <a:off x="761981" y="4724282"/>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3.7</a:t>
            </a:r>
            <a:endParaRPr lang="en-US" sz="950" dirty="0"/>
          </a:p>
        </p:txBody>
      </p:sp>
      <p:sp>
        <p:nvSpPr>
          <p:cNvPr id="90" name="text 22.89"/>
          <p:cNvSpPr txBox="1"/>
          <p:nvPr/>
        </p:nvSpPr>
        <p:spPr>
          <a:xfrm>
            <a:off x="1244569" y="471793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Playlist, rounds &amp; end condition</a:t>
            </a:r>
            <a:endParaRPr lang="en-US" sz="1050" dirty="0"/>
          </a:p>
        </p:txBody>
      </p:sp>
      <p:sp>
        <p:nvSpPr>
          <p:cNvPr id="91" name="shape 22.90"/>
          <p:cNvSpPr/>
          <p:nvPr/>
        </p:nvSpPr>
        <p:spPr>
          <a:xfrm>
            <a:off x="4419490" y="4686183"/>
            <a:ext cx="977876" cy="203195"/>
          </a:xfrm>
          <a:prstGeom prst="roundRect">
            <a:avLst>
              <a:gd name="adj" fmla="val 50000"/>
            </a:avLst>
          </a:prstGeom>
          <a:solidFill>
            <a:srgbClr val="E6F6E1"/>
          </a:solidFill>
          <a:ln/>
        </p:spPr>
      </p:sp>
      <p:sp>
        <p:nvSpPr>
          <p:cNvPr id="92" name="text 22.91"/>
          <p:cNvSpPr txBox="1"/>
          <p:nvPr/>
        </p:nvSpPr>
        <p:spPr>
          <a:xfrm>
            <a:off x="4419490" y="4686183"/>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93" name="text 22.92"/>
          <p:cNvSpPr txBox="1"/>
          <p:nvPr/>
        </p:nvSpPr>
        <p:spPr>
          <a:xfrm>
            <a:off x="5625959" y="4724282"/>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94" name="shape 22.93"/>
          <p:cNvSpPr/>
          <p:nvPr/>
        </p:nvSpPr>
        <p:spPr>
          <a:xfrm>
            <a:off x="8921527" y="4698883"/>
            <a:ext cx="2482788" cy="190495"/>
          </a:xfrm>
          <a:prstGeom prst="roundRect">
            <a:avLst>
              <a:gd name="adj" fmla="val 50000"/>
            </a:avLst>
          </a:prstGeom>
          <a:solidFill>
            <a:srgbClr val="43B832"/>
          </a:solidFill>
          <a:ln/>
        </p:spPr>
      </p:sp>
      <p:sp>
        <p:nvSpPr>
          <p:cNvPr id="95" name="text 22.94"/>
          <p:cNvSpPr txBox="1"/>
          <p:nvPr/>
        </p:nvSpPr>
        <p:spPr>
          <a:xfrm>
            <a:off x="761981" y="505447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3.8</a:t>
            </a:r>
            <a:endParaRPr lang="en-US" sz="950" dirty="0"/>
          </a:p>
        </p:txBody>
      </p:sp>
      <p:sp>
        <p:nvSpPr>
          <p:cNvPr id="96" name="text 22.95"/>
          <p:cNvSpPr txBox="1"/>
          <p:nvPr/>
        </p:nvSpPr>
        <p:spPr>
          <a:xfrm>
            <a:off x="1244569" y="5048124"/>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Scoreboard &amp; results</a:t>
            </a:r>
            <a:endParaRPr lang="en-US" sz="1050" dirty="0"/>
          </a:p>
        </p:txBody>
      </p:sp>
      <p:sp>
        <p:nvSpPr>
          <p:cNvPr id="97" name="shape 22.96"/>
          <p:cNvSpPr/>
          <p:nvPr/>
        </p:nvSpPr>
        <p:spPr>
          <a:xfrm>
            <a:off x="4419490" y="5016375"/>
            <a:ext cx="977876" cy="203195"/>
          </a:xfrm>
          <a:prstGeom prst="roundRect">
            <a:avLst>
              <a:gd name="adj" fmla="val 50000"/>
            </a:avLst>
          </a:prstGeom>
          <a:solidFill>
            <a:srgbClr val="F0E8FF"/>
          </a:solidFill>
          <a:ln/>
        </p:spPr>
      </p:sp>
      <p:sp>
        <p:nvSpPr>
          <p:cNvPr id="98" name="text 22.97"/>
          <p:cNvSpPr txBox="1"/>
          <p:nvPr/>
        </p:nvSpPr>
        <p:spPr>
          <a:xfrm>
            <a:off x="4419490" y="5016375"/>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99" name="text 22.98"/>
          <p:cNvSpPr txBox="1"/>
          <p:nvPr/>
        </p:nvSpPr>
        <p:spPr>
          <a:xfrm>
            <a:off x="5625959" y="5054474"/>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100" name="shape 22.99"/>
          <p:cNvSpPr/>
          <p:nvPr/>
        </p:nvSpPr>
        <p:spPr>
          <a:xfrm>
            <a:off x="8921527" y="5029074"/>
            <a:ext cx="2482788" cy="190495"/>
          </a:xfrm>
          <a:prstGeom prst="roundRect">
            <a:avLst>
              <a:gd name="adj" fmla="val 50000"/>
            </a:avLst>
          </a:prstGeom>
          <a:solidFill>
            <a:srgbClr val="8F55F5"/>
          </a:solidFill>
          <a:ln/>
        </p:spPr>
      </p:sp>
      <p:sp>
        <p:nvSpPr>
          <p:cNvPr id="101" name="text 22.100"/>
          <p:cNvSpPr txBox="1"/>
          <p:nvPr/>
        </p:nvSpPr>
        <p:spPr>
          <a:xfrm>
            <a:off x="761981" y="538466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3.9</a:t>
            </a:r>
            <a:endParaRPr lang="en-US" sz="950" dirty="0"/>
          </a:p>
        </p:txBody>
      </p:sp>
      <p:sp>
        <p:nvSpPr>
          <p:cNvPr id="102" name="text 22.101"/>
          <p:cNvSpPr txBox="1"/>
          <p:nvPr/>
        </p:nvSpPr>
        <p:spPr>
          <a:xfrm>
            <a:off x="1244569" y="5378316"/>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First full-session playtest</a:t>
            </a:r>
            <a:endParaRPr lang="en-US" sz="1050" dirty="0"/>
          </a:p>
        </p:txBody>
      </p:sp>
      <p:sp>
        <p:nvSpPr>
          <p:cNvPr id="103" name="shape 22.102"/>
          <p:cNvSpPr/>
          <p:nvPr/>
        </p:nvSpPr>
        <p:spPr>
          <a:xfrm>
            <a:off x="4419490" y="5346566"/>
            <a:ext cx="977876" cy="203195"/>
          </a:xfrm>
          <a:prstGeom prst="roundRect">
            <a:avLst>
              <a:gd name="adj" fmla="val 50000"/>
            </a:avLst>
          </a:prstGeom>
          <a:solidFill>
            <a:srgbClr val="E9EFF8"/>
          </a:solidFill>
          <a:ln/>
        </p:spPr>
      </p:sp>
      <p:sp>
        <p:nvSpPr>
          <p:cNvPr id="104" name="text 22.103"/>
          <p:cNvSpPr txBox="1"/>
          <p:nvPr/>
        </p:nvSpPr>
        <p:spPr>
          <a:xfrm>
            <a:off x="4419490" y="534656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105" name="text 22.104"/>
          <p:cNvSpPr txBox="1"/>
          <p:nvPr/>
        </p:nvSpPr>
        <p:spPr>
          <a:xfrm>
            <a:off x="5625959" y="538466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06" name="shape 22.105"/>
          <p:cNvSpPr/>
          <p:nvPr/>
        </p:nvSpPr>
        <p:spPr>
          <a:xfrm>
            <a:off x="10188320" y="5359266"/>
            <a:ext cx="1215995" cy="190495"/>
          </a:xfrm>
          <a:prstGeom prst="roundRect">
            <a:avLst>
              <a:gd name="adj" fmla="val 50000"/>
            </a:avLst>
          </a:prstGeom>
          <a:solidFill>
            <a:srgbClr val="16233F"/>
          </a:solidFill>
          <a:ln/>
        </p:spPr>
      </p:sp>
      <p:sp>
        <p:nvSpPr>
          <p:cNvPr id="107" name="text 22.106"/>
          <p:cNvSpPr txBox="1"/>
          <p:nvPr/>
        </p:nvSpPr>
        <p:spPr>
          <a:xfrm>
            <a:off x="761981" y="5714857"/>
            <a:ext cx="312434"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3.10</a:t>
            </a:r>
            <a:endParaRPr lang="en-US" sz="950" dirty="0"/>
          </a:p>
        </p:txBody>
      </p:sp>
      <p:sp>
        <p:nvSpPr>
          <p:cNvPr id="108" name="text 22.107"/>
          <p:cNvSpPr txBox="1"/>
          <p:nvPr/>
        </p:nvSpPr>
        <p:spPr>
          <a:xfrm>
            <a:off x="1244569" y="570850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Demo 2 build &amp; presentation</a:t>
            </a:r>
            <a:endParaRPr lang="en-US" sz="1050" dirty="0"/>
          </a:p>
        </p:txBody>
      </p:sp>
      <p:sp>
        <p:nvSpPr>
          <p:cNvPr id="109" name="shape 22.108"/>
          <p:cNvSpPr/>
          <p:nvPr/>
        </p:nvSpPr>
        <p:spPr>
          <a:xfrm>
            <a:off x="4419490" y="5676758"/>
            <a:ext cx="977876" cy="203195"/>
          </a:xfrm>
          <a:prstGeom prst="roundRect">
            <a:avLst>
              <a:gd name="adj" fmla="val 50000"/>
            </a:avLst>
          </a:prstGeom>
          <a:solidFill>
            <a:srgbClr val="E9EFF8"/>
          </a:solidFill>
          <a:ln/>
        </p:spPr>
      </p:sp>
      <p:sp>
        <p:nvSpPr>
          <p:cNvPr id="110" name="text 22.109"/>
          <p:cNvSpPr txBox="1"/>
          <p:nvPr/>
        </p:nvSpPr>
        <p:spPr>
          <a:xfrm>
            <a:off x="4419490" y="567675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111" name="text 22.110"/>
          <p:cNvSpPr txBox="1"/>
          <p:nvPr/>
        </p:nvSpPr>
        <p:spPr>
          <a:xfrm>
            <a:off x="5625959" y="571485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112" name="shape 22.111"/>
          <p:cNvSpPr/>
          <p:nvPr/>
        </p:nvSpPr>
        <p:spPr>
          <a:xfrm>
            <a:off x="10188320" y="5689458"/>
            <a:ext cx="1215995" cy="190495"/>
          </a:xfrm>
          <a:prstGeom prst="roundRect">
            <a:avLst>
              <a:gd name="adj" fmla="val 50000"/>
            </a:avLst>
          </a:prstGeom>
          <a:solidFill>
            <a:srgbClr val="16233F"/>
          </a:solidFill>
          <a:ln/>
        </p:spPr>
      </p:sp>
      <p:sp>
        <p:nvSpPr>
          <p:cNvPr id="113" name="shape 22.112"/>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4" name="shape 22.113"/>
          <p:cNvSpPr/>
          <p:nvPr/>
        </p:nvSpPr>
        <p:spPr>
          <a:xfrm>
            <a:off x="711182" y="355591"/>
            <a:ext cx="114297" cy="114297"/>
          </a:xfrm>
          <a:prstGeom prst="roundRect">
            <a:avLst>
              <a:gd name="adj" fmla="val 33333"/>
            </a:avLst>
          </a:prstGeom>
          <a:solidFill>
            <a:srgbClr val="1FA9EA"/>
          </a:solidFill>
          <a:ln/>
        </p:spPr>
      </p:sp>
      <p:sp>
        <p:nvSpPr>
          <p:cNvPr id="115" name="shape 22.114"/>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16" name="shape 22.115"/>
          <p:cNvSpPr/>
          <p:nvPr/>
        </p:nvSpPr>
        <p:spPr>
          <a:xfrm>
            <a:off x="10058149" y="368291"/>
            <a:ext cx="101597" cy="101597"/>
          </a:xfrm>
          <a:prstGeom prst="roundRect">
            <a:avLst>
              <a:gd name="adj" fmla="val 31250"/>
            </a:avLst>
          </a:prstGeom>
          <a:solidFill>
            <a:srgbClr val="16233F"/>
          </a:solidFill>
          <a:ln/>
        </p:spPr>
      </p:sp>
      <p:sp>
        <p:nvSpPr>
          <p:cNvPr id="117" name="shape 22.116"/>
          <p:cNvSpPr/>
          <p:nvPr/>
        </p:nvSpPr>
        <p:spPr>
          <a:xfrm>
            <a:off x="10223244" y="368291"/>
            <a:ext cx="101597" cy="101597"/>
          </a:xfrm>
          <a:prstGeom prst="roundRect">
            <a:avLst>
              <a:gd name="adj" fmla="val 31250"/>
            </a:avLst>
          </a:prstGeom>
          <a:solidFill>
            <a:srgbClr val="16233F"/>
          </a:solidFill>
          <a:ln/>
        </p:spPr>
      </p:sp>
      <p:sp>
        <p:nvSpPr>
          <p:cNvPr id="118" name="shape 22.117"/>
          <p:cNvSpPr/>
          <p:nvPr/>
        </p:nvSpPr>
        <p:spPr>
          <a:xfrm>
            <a:off x="10388340" y="368291"/>
            <a:ext cx="101597" cy="101597"/>
          </a:xfrm>
          <a:prstGeom prst="roundRect">
            <a:avLst>
              <a:gd name="adj" fmla="val 31250"/>
            </a:avLst>
          </a:prstGeom>
          <a:solidFill>
            <a:srgbClr val="16233F"/>
          </a:solidFill>
          <a:ln/>
        </p:spPr>
      </p:sp>
      <p:sp>
        <p:nvSpPr>
          <p:cNvPr id="119" name="shape 22.118"/>
          <p:cNvSpPr/>
          <p:nvPr/>
        </p:nvSpPr>
        <p:spPr>
          <a:xfrm>
            <a:off x="10553436" y="368291"/>
            <a:ext cx="101597" cy="101597"/>
          </a:xfrm>
          <a:prstGeom prst="roundRect">
            <a:avLst>
              <a:gd name="adj" fmla="val 31250"/>
            </a:avLst>
          </a:prstGeom>
          <a:solidFill>
            <a:srgbClr val="16233F"/>
          </a:solidFill>
          <a:ln/>
        </p:spPr>
      </p:sp>
      <p:sp>
        <p:nvSpPr>
          <p:cNvPr id="120" name="shape 22.119"/>
          <p:cNvSpPr/>
          <p:nvPr/>
        </p:nvSpPr>
        <p:spPr>
          <a:xfrm>
            <a:off x="10718532" y="368291"/>
            <a:ext cx="101597" cy="101597"/>
          </a:xfrm>
          <a:prstGeom prst="roundRect">
            <a:avLst>
              <a:gd name="adj" fmla="val 31250"/>
            </a:avLst>
          </a:prstGeom>
          <a:solidFill>
            <a:srgbClr val="16233F"/>
          </a:solidFill>
          <a:ln/>
        </p:spPr>
      </p:sp>
      <p:sp>
        <p:nvSpPr>
          <p:cNvPr id="121" name="shape 22.120"/>
          <p:cNvSpPr/>
          <p:nvPr/>
        </p:nvSpPr>
        <p:spPr>
          <a:xfrm>
            <a:off x="10883628" y="368291"/>
            <a:ext cx="101597" cy="101597"/>
          </a:xfrm>
          <a:prstGeom prst="roundRect">
            <a:avLst>
              <a:gd name="adj" fmla="val 31250"/>
            </a:avLst>
          </a:prstGeom>
          <a:solidFill>
            <a:srgbClr val="1FA9EA"/>
          </a:solidFill>
          <a:ln/>
        </p:spPr>
      </p:sp>
      <p:sp>
        <p:nvSpPr>
          <p:cNvPr id="122" name="text 22.121"/>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123" name="text 22.122"/>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3.1"/>
          <p:cNvSpPr/>
          <p:nvPr/>
        </p:nvSpPr>
        <p:spPr>
          <a:xfrm>
            <a:off x="609585" y="1523962"/>
            <a:ext cx="10972526" cy="3225719"/>
          </a:xfrm>
          <a:prstGeom prst="roundRect">
            <a:avLst>
              <a:gd name="adj" fmla="val 5512"/>
            </a:avLst>
          </a:prstGeom>
          <a:solidFill>
            <a:srgbClr val="FFFFFF"/>
          </a:solidFill>
          <a:ln/>
          <a:effectLst>
            <a:outerShdw sx="100000" sy="100000" kx="0" ky="0" algn="bl" rotWithShape="0" blurRad="203200" dist="76200" dir="5400000">
              <a:srgbClr val="1E468C">
                <a:alpha val="16000"/>
              </a:srgbClr>
            </a:outerShdw>
          </a:effectLst>
        </p:spPr>
      </p:sp>
      <p:sp>
        <p:nvSpPr>
          <p:cNvPr id="3" name="shape 23.2"/>
          <p:cNvSpPr/>
          <p:nvPr/>
        </p:nvSpPr>
        <p:spPr>
          <a:xfrm>
            <a:off x="698483" y="2324042"/>
            <a:ext cx="10794730" cy="292093"/>
          </a:xfrm>
          <a:prstGeom prst="roundRect">
            <a:avLst>
              <a:gd name="adj" fmla="val 30435"/>
            </a:avLst>
          </a:prstGeom>
          <a:solidFill>
            <a:srgbClr val="F1F5FB"/>
          </a:solidFill>
          <a:ln/>
        </p:spPr>
      </p:sp>
      <p:pic>
        <p:nvPicPr>
          <p:cNvPr id="4" name="raster 23.3" descr="diagram">    </p:cNvPr>
          <p:cNvPicPr>
            <a:picLocks noChangeAspect="1"/>
          </p:cNvPicPr>
          <p:nvPr/>
        </p:nvPicPr>
        <p:blipFill>
          <a:blip r:embed="rId2"/>
          <a:stretch>
            <a:fillRect/>
          </a:stretch>
        </p:blipFill>
        <p:spPr>
          <a:xfrm>
            <a:off x="6311742" y="2578036"/>
            <a:ext cx="5168771" cy="2108147"/>
          </a:xfrm>
          <a:prstGeom prst="rect">
            <a:avLst/>
          </a:prstGeom>
        </p:spPr>
      </p:pic>
      <p:sp>
        <p:nvSpPr>
          <p:cNvPr id="5" name="shape 23.4"/>
          <p:cNvSpPr/>
          <p:nvPr/>
        </p:nvSpPr>
        <p:spPr>
          <a:xfrm>
            <a:off x="761981" y="2971726"/>
            <a:ext cx="5524362" cy="9525"/>
          </a:xfrm>
          <a:prstGeom prst="rect">
            <a:avLst/>
          </a:prstGeom>
          <a:solidFill>
            <a:srgbClr val="EEF2F8"/>
          </a:solidFill>
          <a:ln/>
        </p:spPr>
      </p:sp>
      <p:sp>
        <p:nvSpPr>
          <p:cNvPr id="6" name="shape 23.5"/>
          <p:cNvSpPr/>
          <p:nvPr/>
        </p:nvSpPr>
        <p:spPr>
          <a:xfrm>
            <a:off x="761981" y="3301917"/>
            <a:ext cx="5524362" cy="9525"/>
          </a:xfrm>
          <a:prstGeom prst="rect">
            <a:avLst/>
          </a:prstGeom>
          <a:solidFill>
            <a:srgbClr val="EEF2F8"/>
          </a:solidFill>
          <a:ln/>
        </p:spPr>
      </p:sp>
      <p:sp>
        <p:nvSpPr>
          <p:cNvPr id="7" name="shape 23.6"/>
          <p:cNvSpPr/>
          <p:nvPr/>
        </p:nvSpPr>
        <p:spPr>
          <a:xfrm>
            <a:off x="761981" y="3632109"/>
            <a:ext cx="5524362" cy="9525"/>
          </a:xfrm>
          <a:prstGeom prst="rect">
            <a:avLst/>
          </a:prstGeom>
          <a:solidFill>
            <a:srgbClr val="EEF2F8"/>
          </a:solidFill>
          <a:ln/>
        </p:spPr>
      </p:sp>
      <p:sp>
        <p:nvSpPr>
          <p:cNvPr id="8" name="shape 23.7"/>
          <p:cNvSpPr/>
          <p:nvPr/>
        </p:nvSpPr>
        <p:spPr>
          <a:xfrm>
            <a:off x="761981" y="3962301"/>
            <a:ext cx="5524362" cy="9525"/>
          </a:xfrm>
          <a:prstGeom prst="rect">
            <a:avLst/>
          </a:prstGeom>
          <a:solidFill>
            <a:srgbClr val="EEF2F8"/>
          </a:solidFill>
          <a:ln/>
        </p:spPr>
      </p:sp>
      <p:sp>
        <p:nvSpPr>
          <p:cNvPr id="9" name="shape 23.8"/>
          <p:cNvSpPr/>
          <p:nvPr/>
        </p:nvSpPr>
        <p:spPr>
          <a:xfrm>
            <a:off x="761981" y="4292493"/>
            <a:ext cx="5524362" cy="9525"/>
          </a:xfrm>
          <a:prstGeom prst="rect">
            <a:avLst/>
          </a:prstGeom>
          <a:solidFill>
            <a:srgbClr val="EEF2F8"/>
          </a:solidFill>
          <a:ln/>
        </p:spPr>
      </p:sp>
      <p:sp>
        <p:nvSpPr>
          <p:cNvPr id="10" name="text 23.9"/>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8F55F5"/>
                </a:solidFill>
                <a:latin typeface="Arial Rounded MT Bold" pitchFamily="34" charset="0"/>
                <a:ea typeface="Arial Rounded MT Bold" pitchFamily="34" charset="-122"/>
                <a:cs typeface="Arial Rounded MT Bold" pitchFamily="34" charset="-120"/>
              </a:rPr>
              <a:t>final</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tuning, polish and the promo video</a:t>
            </a:r>
            <a:endParaRPr lang="en-US" sz="2700" dirty="0"/>
          </a:p>
        </p:txBody>
      </p:sp>
      <p:sp>
        <p:nvSpPr>
          <p:cNvPr id="11" name="text 23.10"/>
          <p:cNvSpPr txBox="1"/>
          <p:nvPr/>
        </p:nvSpPr>
        <p:spPr>
          <a:xfrm>
            <a:off x="761981" y="1917652"/>
            <a:ext cx="457189"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WBS</a:t>
            </a:r>
            <a:endParaRPr lang="en-US" sz="750" dirty="0"/>
          </a:p>
        </p:txBody>
      </p:sp>
      <p:sp>
        <p:nvSpPr>
          <p:cNvPr id="12" name="text 23.11"/>
          <p:cNvSpPr txBox="1"/>
          <p:nvPr/>
        </p:nvSpPr>
        <p:spPr>
          <a:xfrm>
            <a:off x="1244569" y="1917652"/>
            <a:ext cx="314952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TASK</a:t>
            </a:r>
            <a:endParaRPr lang="en-US" sz="750" dirty="0"/>
          </a:p>
        </p:txBody>
      </p:sp>
      <p:sp>
        <p:nvSpPr>
          <p:cNvPr id="13" name="text 23.12"/>
          <p:cNvSpPr txBox="1"/>
          <p:nvPr/>
        </p:nvSpPr>
        <p:spPr>
          <a:xfrm>
            <a:off x="4419490" y="1917652"/>
            <a:ext cx="118107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OWNER</a:t>
            </a:r>
            <a:endParaRPr lang="en-US" sz="750" dirty="0"/>
          </a:p>
        </p:txBody>
      </p:sp>
      <p:sp>
        <p:nvSpPr>
          <p:cNvPr id="14" name="text 23.13"/>
          <p:cNvSpPr txBox="1"/>
          <p:nvPr/>
        </p:nvSpPr>
        <p:spPr>
          <a:xfrm>
            <a:off x="5625959" y="1917652"/>
            <a:ext cx="67308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DURATION</a:t>
            </a:r>
            <a:endParaRPr lang="en-US" sz="750" dirty="0"/>
          </a:p>
        </p:txBody>
      </p:sp>
      <p:sp>
        <p:nvSpPr>
          <p:cNvPr id="15" name="text 23.14"/>
          <p:cNvSpPr txBox="1"/>
          <p:nvPr/>
        </p:nvSpPr>
        <p:spPr>
          <a:xfrm>
            <a:off x="636254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14–18 Dec</a:t>
            </a:r>
            <a:endParaRPr lang="en-US" sz="900" dirty="0"/>
          </a:p>
        </p:txBody>
      </p:sp>
      <p:sp>
        <p:nvSpPr>
          <p:cNvPr id="16" name="shape 23.15"/>
          <p:cNvSpPr/>
          <p:nvPr/>
        </p:nvSpPr>
        <p:spPr>
          <a:xfrm>
            <a:off x="6387940" y="1854154"/>
            <a:ext cx="1215995" cy="203195"/>
          </a:xfrm>
          <a:prstGeom prst="roundRect">
            <a:avLst>
              <a:gd name="adj" fmla="val 50000"/>
            </a:avLst>
          </a:prstGeom>
          <a:solidFill>
            <a:srgbClr val="8F55F5"/>
          </a:solidFill>
          <a:ln/>
        </p:spPr>
      </p:sp>
      <p:sp>
        <p:nvSpPr>
          <p:cNvPr id="17" name="text 23.16"/>
          <p:cNvSpPr txBox="1"/>
          <p:nvPr/>
        </p:nvSpPr>
        <p:spPr>
          <a:xfrm>
            <a:off x="638794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11</a:t>
            </a:r>
            <a:endParaRPr lang="en-US" sz="800" dirty="0"/>
          </a:p>
        </p:txBody>
      </p:sp>
      <p:sp>
        <p:nvSpPr>
          <p:cNvPr id="18" name="text 23.17"/>
          <p:cNvSpPr txBox="1"/>
          <p:nvPr/>
        </p:nvSpPr>
        <p:spPr>
          <a:xfrm>
            <a:off x="636254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19" name="text 23.18"/>
          <p:cNvSpPr txBox="1"/>
          <p:nvPr/>
        </p:nvSpPr>
        <p:spPr>
          <a:xfrm>
            <a:off x="661584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0" name="text 23.19"/>
          <p:cNvSpPr txBox="1"/>
          <p:nvPr/>
        </p:nvSpPr>
        <p:spPr>
          <a:xfrm>
            <a:off x="68692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1" name="text 23.20"/>
          <p:cNvSpPr txBox="1"/>
          <p:nvPr/>
        </p:nvSpPr>
        <p:spPr>
          <a:xfrm>
            <a:off x="712253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2" name="text 23.21"/>
          <p:cNvSpPr txBox="1"/>
          <p:nvPr/>
        </p:nvSpPr>
        <p:spPr>
          <a:xfrm>
            <a:off x="737593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23" name="text 23.22"/>
          <p:cNvSpPr txBox="1"/>
          <p:nvPr/>
        </p:nvSpPr>
        <p:spPr>
          <a:xfrm>
            <a:off x="7629334"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21–25 Dec</a:t>
            </a:r>
            <a:endParaRPr lang="en-US" sz="900" dirty="0"/>
          </a:p>
        </p:txBody>
      </p:sp>
      <p:sp>
        <p:nvSpPr>
          <p:cNvPr id="24" name="shape 23.23"/>
          <p:cNvSpPr/>
          <p:nvPr/>
        </p:nvSpPr>
        <p:spPr>
          <a:xfrm>
            <a:off x="7654734" y="1854154"/>
            <a:ext cx="1215995" cy="203195"/>
          </a:xfrm>
          <a:prstGeom prst="roundRect">
            <a:avLst>
              <a:gd name="adj" fmla="val 50000"/>
            </a:avLst>
          </a:prstGeom>
          <a:solidFill>
            <a:srgbClr val="8F55F5"/>
          </a:solidFill>
          <a:ln/>
        </p:spPr>
      </p:sp>
      <p:sp>
        <p:nvSpPr>
          <p:cNvPr id="25" name="text 23.24"/>
          <p:cNvSpPr txBox="1"/>
          <p:nvPr/>
        </p:nvSpPr>
        <p:spPr>
          <a:xfrm>
            <a:off x="7654734"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12</a:t>
            </a:r>
            <a:endParaRPr lang="en-US" sz="800" dirty="0"/>
          </a:p>
        </p:txBody>
      </p:sp>
      <p:sp>
        <p:nvSpPr>
          <p:cNvPr id="26" name="text 23.25"/>
          <p:cNvSpPr txBox="1"/>
          <p:nvPr/>
        </p:nvSpPr>
        <p:spPr>
          <a:xfrm>
            <a:off x="762933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27" name="text 23.26"/>
          <p:cNvSpPr txBox="1"/>
          <p:nvPr/>
        </p:nvSpPr>
        <p:spPr>
          <a:xfrm>
            <a:off x="788263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28" name="text 23.27"/>
          <p:cNvSpPr txBox="1"/>
          <p:nvPr/>
        </p:nvSpPr>
        <p:spPr>
          <a:xfrm>
            <a:off x="8136032"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29" name="text 23.28"/>
          <p:cNvSpPr txBox="1"/>
          <p:nvPr/>
        </p:nvSpPr>
        <p:spPr>
          <a:xfrm>
            <a:off x="838933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0" name="text 23.29"/>
          <p:cNvSpPr txBox="1"/>
          <p:nvPr/>
        </p:nvSpPr>
        <p:spPr>
          <a:xfrm>
            <a:off x="8642729"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1" name="text 23.30"/>
          <p:cNvSpPr txBox="1"/>
          <p:nvPr/>
        </p:nvSpPr>
        <p:spPr>
          <a:xfrm>
            <a:off x="8896128"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28 Dec–1 Jan</a:t>
            </a:r>
            <a:endParaRPr lang="en-US" sz="900" dirty="0"/>
          </a:p>
        </p:txBody>
      </p:sp>
      <p:sp>
        <p:nvSpPr>
          <p:cNvPr id="32" name="shape 23.31"/>
          <p:cNvSpPr/>
          <p:nvPr/>
        </p:nvSpPr>
        <p:spPr>
          <a:xfrm>
            <a:off x="8921527" y="1854154"/>
            <a:ext cx="1215995" cy="203195"/>
          </a:xfrm>
          <a:prstGeom prst="roundRect">
            <a:avLst>
              <a:gd name="adj" fmla="val 50000"/>
            </a:avLst>
          </a:prstGeom>
          <a:solidFill>
            <a:srgbClr val="8F55F5"/>
          </a:solidFill>
          <a:ln/>
        </p:spPr>
      </p:sp>
      <p:sp>
        <p:nvSpPr>
          <p:cNvPr id="33" name="text 23.32"/>
          <p:cNvSpPr txBox="1"/>
          <p:nvPr/>
        </p:nvSpPr>
        <p:spPr>
          <a:xfrm>
            <a:off x="8921527"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13</a:t>
            </a:r>
            <a:endParaRPr lang="en-US" sz="800" dirty="0"/>
          </a:p>
        </p:txBody>
      </p:sp>
      <p:sp>
        <p:nvSpPr>
          <p:cNvPr id="34" name="text 23.33"/>
          <p:cNvSpPr txBox="1"/>
          <p:nvPr/>
        </p:nvSpPr>
        <p:spPr>
          <a:xfrm>
            <a:off x="889612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35" name="text 23.34"/>
          <p:cNvSpPr txBox="1"/>
          <p:nvPr/>
        </p:nvSpPr>
        <p:spPr>
          <a:xfrm>
            <a:off x="9149427"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6" name="text 23.35"/>
          <p:cNvSpPr txBox="1"/>
          <p:nvPr/>
        </p:nvSpPr>
        <p:spPr>
          <a:xfrm>
            <a:off x="9402825"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37" name="text 23.36"/>
          <p:cNvSpPr txBox="1"/>
          <p:nvPr/>
        </p:nvSpPr>
        <p:spPr>
          <a:xfrm>
            <a:off x="9656124"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38" name="text 23.37"/>
          <p:cNvSpPr txBox="1"/>
          <p:nvPr/>
        </p:nvSpPr>
        <p:spPr>
          <a:xfrm>
            <a:off x="9909523"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39" name="text 23.38"/>
          <p:cNvSpPr txBox="1"/>
          <p:nvPr/>
        </p:nvSpPr>
        <p:spPr>
          <a:xfrm>
            <a:off x="10162921" y="1663658"/>
            <a:ext cx="1266793" cy="137157"/>
          </a:xfrm>
          <a:prstGeom prst="rect">
            <a:avLst/>
          </a:prstGeom>
          <a:noFill/>
          <a:ln/>
        </p:spPr>
        <p:txBody>
          <a:bodyPr wrap="square" lIns="0" tIns="0" rIns="0" bIns="0" rtlCol="0" anchor="t"/>
          <a:lstStyle/>
          <a:p>
            <a:pPr algn="ctr" indent="0" marL="0">
              <a:lnSpc>
                <a:spcPts val="1080"/>
              </a:lnSpc>
              <a:buNone/>
            </a:pPr>
            <a:r>
              <a:rPr lang="en-US" sz="900" b="1" dirty="0">
                <a:solidFill>
                  <a:srgbClr val="16233F"/>
                </a:solidFill>
                <a:latin typeface="Arial" pitchFamily="34" charset="0"/>
                <a:ea typeface="Arial" pitchFamily="34" charset="-122"/>
                <a:cs typeface="Arial" pitchFamily="34" charset="-120"/>
              </a:rPr>
              <a:t>4–8 Jan</a:t>
            </a:r>
            <a:endParaRPr lang="en-US" sz="900" dirty="0"/>
          </a:p>
        </p:txBody>
      </p:sp>
      <p:sp>
        <p:nvSpPr>
          <p:cNvPr id="40" name="shape 23.39"/>
          <p:cNvSpPr/>
          <p:nvPr/>
        </p:nvSpPr>
        <p:spPr>
          <a:xfrm>
            <a:off x="10188320" y="1854154"/>
            <a:ext cx="1215995" cy="203195"/>
          </a:xfrm>
          <a:prstGeom prst="roundRect">
            <a:avLst>
              <a:gd name="adj" fmla="val 50000"/>
            </a:avLst>
          </a:prstGeom>
          <a:solidFill>
            <a:srgbClr val="8F55F5"/>
          </a:solidFill>
          <a:ln/>
        </p:spPr>
      </p:sp>
      <p:sp>
        <p:nvSpPr>
          <p:cNvPr id="41" name="text 23.40"/>
          <p:cNvSpPr txBox="1"/>
          <p:nvPr/>
        </p:nvSpPr>
        <p:spPr>
          <a:xfrm>
            <a:off x="10188320" y="1854154"/>
            <a:ext cx="1215995" cy="203195"/>
          </a:xfrm>
          <a:prstGeom prst="rect">
            <a:avLst/>
          </a:prstGeom>
          <a:noFill/>
          <a:ln/>
        </p:spPr>
        <p:txBody>
          <a:bodyPr wrap="square" lIns="0" tIns="0" rIns="0" bIns="0" rtlCol="0" anchor="ctr"/>
          <a:lstStyle/>
          <a:p>
            <a:pPr algn="ctr" indent="0" marL="0">
              <a:lnSpc>
                <a:spcPts val="800"/>
              </a:lnSpc>
              <a:buNone/>
            </a:pPr>
            <a:r>
              <a:rPr lang="en-US" sz="800" b="1" spc="64" kern="0" dirty="0">
                <a:solidFill>
                  <a:srgbClr val="FFFFFF"/>
                </a:solidFill>
                <a:latin typeface="Arial" pitchFamily="34" charset="0"/>
                <a:ea typeface="Arial" pitchFamily="34" charset="-122"/>
                <a:cs typeface="Arial" pitchFamily="34" charset="-120"/>
              </a:rPr>
              <a:t>WEEK 14</a:t>
            </a:r>
            <a:endParaRPr lang="en-US" sz="800" dirty="0"/>
          </a:p>
        </p:txBody>
      </p:sp>
      <p:sp>
        <p:nvSpPr>
          <p:cNvPr id="42" name="text 23.41"/>
          <p:cNvSpPr txBox="1"/>
          <p:nvPr/>
        </p:nvSpPr>
        <p:spPr>
          <a:xfrm>
            <a:off x="10162921"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M</a:t>
            </a:r>
            <a:endParaRPr lang="en-US" sz="750" dirty="0"/>
          </a:p>
        </p:txBody>
      </p:sp>
      <p:sp>
        <p:nvSpPr>
          <p:cNvPr id="43" name="text 23.42"/>
          <p:cNvSpPr txBox="1"/>
          <p:nvPr/>
        </p:nvSpPr>
        <p:spPr>
          <a:xfrm>
            <a:off x="10416220"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4" name="text 23.43"/>
          <p:cNvSpPr txBox="1"/>
          <p:nvPr/>
        </p:nvSpPr>
        <p:spPr>
          <a:xfrm>
            <a:off x="106696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W</a:t>
            </a:r>
            <a:endParaRPr lang="en-US" sz="750" dirty="0"/>
          </a:p>
        </p:txBody>
      </p:sp>
      <p:sp>
        <p:nvSpPr>
          <p:cNvPr id="45" name="text 23.44"/>
          <p:cNvSpPr txBox="1"/>
          <p:nvPr/>
        </p:nvSpPr>
        <p:spPr>
          <a:xfrm>
            <a:off x="10922918"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T</a:t>
            </a:r>
            <a:endParaRPr lang="en-US" sz="750" dirty="0"/>
          </a:p>
        </p:txBody>
      </p:sp>
      <p:sp>
        <p:nvSpPr>
          <p:cNvPr id="46" name="text 23.45"/>
          <p:cNvSpPr txBox="1"/>
          <p:nvPr/>
        </p:nvSpPr>
        <p:spPr>
          <a:xfrm>
            <a:off x="11176316" y="2095448"/>
            <a:ext cx="253299" cy="190495"/>
          </a:xfrm>
          <a:prstGeom prst="rect">
            <a:avLst/>
          </a:prstGeom>
          <a:noFill/>
          <a:ln/>
        </p:spPr>
        <p:txBody>
          <a:bodyPr wrap="square" lIns="0" tIns="0" rIns="0" bIns="0" rtlCol="0" anchor="ctr"/>
          <a:lstStyle/>
          <a:p>
            <a:pPr algn="ctr" indent="0" marL="0">
              <a:lnSpc>
                <a:spcPts val="750"/>
              </a:lnSpc>
              <a:buNone/>
            </a:pPr>
            <a:r>
              <a:rPr lang="en-US" sz="750" b="1" dirty="0">
                <a:solidFill>
                  <a:srgbClr val="6E7D9A"/>
                </a:solidFill>
                <a:latin typeface="Arial" pitchFamily="34" charset="0"/>
                <a:ea typeface="Arial" pitchFamily="34" charset="-122"/>
                <a:cs typeface="Arial" pitchFamily="34" charset="-120"/>
              </a:rPr>
              <a:t>F</a:t>
            </a:r>
            <a:endParaRPr lang="en-US" sz="750" dirty="0"/>
          </a:p>
        </p:txBody>
      </p:sp>
      <p:sp>
        <p:nvSpPr>
          <p:cNvPr id="47" name="text 23.46"/>
          <p:cNvSpPr txBox="1"/>
          <p:nvPr/>
        </p:nvSpPr>
        <p:spPr>
          <a:xfrm>
            <a:off x="761981" y="2400240"/>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4</a:t>
            </a:r>
            <a:endParaRPr lang="en-US" sz="1150" dirty="0"/>
          </a:p>
        </p:txBody>
      </p:sp>
      <p:sp>
        <p:nvSpPr>
          <p:cNvPr id="48" name="text 23.47"/>
          <p:cNvSpPr txBox="1"/>
          <p:nvPr/>
        </p:nvSpPr>
        <p:spPr>
          <a:xfrm>
            <a:off x="1244569" y="2400240"/>
            <a:ext cx="1050301" cy="146046"/>
          </a:xfrm>
          <a:prstGeom prst="rect">
            <a:avLst/>
          </a:prstGeom>
          <a:noFill/>
          <a:ln/>
        </p:spPr>
        <p:txBody>
          <a:bodyPr wrap="square" lIns="0" tIns="0" rIns="0" bIns="0" rtlCol="0" anchor="t"/>
          <a:lstStyle/>
          <a:p>
            <a:pPr algn="l" indent="0" marL="0">
              <a:lnSpc>
                <a:spcPts val="1150"/>
              </a:lnSpc>
              <a:buNone/>
            </a:pPr>
            <a:r>
              <a:rPr lang="en-US" sz="1150" dirty="0">
                <a:solidFill>
                  <a:srgbClr val="16233F"/>
                </a:solidFill>
                <a:latin typeface="Arial Rounded MT Bold" pitchFamily="34" charset="0"/>
                <a:ea typeface="Arial Rounded MT Bold" pitchFamily="34" charset="-122"/>
                <a:cs typeface="Arial Rounded MT Bold" pitchFamily="34" charset="-120"/>
              </a:rPr>
              <a:t>Final · 11 Jan</a:t>
            </a:r>
            <a:endParaRPr lang="en-US" sz="1150" dirty="0"/>
          </a:p>
        </p:txBody>
      </p:sp>
      <p:sp>
        <p:nvSpPr>
          <p:cNvPr id="49" name="text 23.48"/>
          <p:cNvSpPr txBox="1"/>
          <p:nvPr/>
        </p:nvSpPr>
        <p:spPr>
          <a:xfrm>
            <a:off x="761981" y="2743131"/>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4.1</a:t>
            </a:r>
            <a:endParaRPr lang="en-US" sz="950" dirty="0"/>
          </a:p>
        </p:txBody>
      </p:sp>
      <p:sp>
        <p:nvSpPr>
          <p:cNvPr id="50" name="text 23.49"/>
          <p:cNvSpPr txBox="1"/>
          <p:nvPr/>
        </p:nvSpPr>
        <p:spPr>
          <a:xfrm>
            <a:off x="1244569" y="2736782"/>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Balance tuning from playtests</a:t>
            </a:r>
            <a:endParaRPr lang="en-US" sz="1050" dirty="0"/>
          </a:p>
        </p:txBody>
      </p:sp>
      <p:sp>
        <p:nvSpPr>
          <p:cNvPr id="51" name="shape 23.50"/>
          <p:cNvSpPr/>
          <p:nvPr/>
        </p:nvSpPr>
        <p:spPr>
          <a:xfrm>
            <a:off x="4419490" y="2705032"/>
            <a:ext cx="977876" cy="203195"/>
          </a:xfrm>
          <a:prstGeom prst="roundRect">
            <a:avLst>
              <a:gd name="adj" fmla="val 50000"/>
            </a:avLst>
          </a:prstGeom>
          <a:solidFill>
            <a:srgbClr val="E9EFF8"/>
          </a:solidFill>
          <a:ln/>
        </p:spPr>
      </p:sp>
      <p:sp>
        <p:nvSpPr>
          <p:cNvPr id="52" name="text 23.51"/>
          <p:cNvSpPr txBox="1"/>
          <p:nvPr/>
        </p:nvSpPr>
        <p:spPr>
          <a:xfrm>
            <a:off x="4419490" y="2705032"/>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53" name="text 23.52"/>
          <p:cNvSpPr txBox="1"/>
          <p:nvPr/>
        </p:nvSpPr>
        <p:spPr>
          <a:xfrm>
            <a:off x="5625959" y="2743131"/>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54" name="shape 23.53"/>
          <p:cNvSpPr/>
          <p:nvPr/>
        </p:nvSpPr>
        <p:spPr>
          <a:xfrm>
            <a:off x="6387940" y="2717732"/>
            <a:ext cx="2482788" cy="190495"/>
          </a:xfrm>
          <a:prstGeom prst="roundRect">
            <a:avLst>
              <a:gd name="adj" fmla="val 50000"/>
            </a:avLst>
          </a:prstGeom>
          <a:solidFill>
            <a:srgbClr val="16233F"/>
          </a:solidFill>
          <a:ln/>
        </p:spPr>
      </p:sp>
      <p:sp>
        <p:nvSpPr>
          <p:cNvPr id="55" name="text 23.54"/>
          <p:cNvSpPr txBox="1"/>
          <p:nvPr/>
        </p:nvSpPr>
        <p:spPr>
          <a:xfrm>
            <a:off x="761981" y="3073323"/>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4.2</a:t>
            </a:r>
            <a:endParaRPr lang="en-US" sz="950" dirty="0"/>
          </a:p>
        </p:txBody>
      </p:sp>
      <p:sp>
        <p:nvSpPr>
          <p:cNvPr id="56" name="text 23.55"/>
          <p:cNvSpPr txBox="1"/>
          <p:nvPr/>
        </p:nvSpPr>
        <p:spPr>
          <a:xfrm>
            <a:off x="1244569" y="3066973"/>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VFX: trails, hit flash, splashes</a:t>
            </a:r>
            <a:endParaRPr lang="en-US" sz="1050" dirty="0"/>
          </a:p>
        </p:txBody>
      </p:sp>
      <p:sp>
        <p:nvSpPr>
          <p:cNvPr id="57" name="shape 23.56"/>
          <p:cNvSpPr/>
          <p:nvPr/>
        </p:nvSpPr>
        <p:spPr>
          <a:xfrm>
            <a:off x="4419490" y="3035224"/>
            <a:ext cx="977876" cy="203195"/>
          </a:xfrm>
          <a:prstGeom prst="roundRect">
            <a:avLst>
              <a:gd name="adj" fmla="val 50000"/>
            </a:avLst>
          </a:prstGeom>
          <a:solidFill>
            <a:srgbClr val="E2F4FD"/>
          </a:solidFill>
          <a:ln/>
        </p:spPr>
      </p:sp>
      <p:sp>
        <p:nvSpPr>
          <p:cNvPr id="58" name="text 23.57"/>
          <p:cNvSpPr txBox="1"/>
          <p:nvPr/>
        </p:nvSpPr>
        <p:spPr>
          <a:xfrm>
            <a:off x="4419490" y="3035224"/>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9" name="text 23.58"/>
          <p:cNvSpPr txBox="1"/>
          <p:nvPr/>
        </p:nvSpPr>
        <p:spPr>
          <a:xfrm>
            <a:off x="5625959" y="3073323"/>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60" name="shape 23.59"/>
          <p:cNvSpPr/>
          <p:nvPr/>
        </p:nvSpPr>
        <p:spPr>
          <a:xfrm>
            <a:off x="6387940" y="3047924"/>
            <a:ext cx="2482788" cy="190495"/>
          </a:xfrm>
          <a:prstGeom prst="roundRect">
            <a:avLst>
              <a:gd name="adj" fmla="val 50000"/>
            </a:avLst>
          </a:prstGeom>
          <a:solidFill>
            <a:srgbClr val="1FA9EA"/>
          </a:solidFill>
          <a:ln/>
        </p:spPr>
      </p:sp>
      <p:sp>
        <p:nvSpPr>
          <p:cNvPr id="61" name="text 23.60"/>
          <p:cNvSpPr txBox="1"/>
          <p:nvPr/>
        </p:nvSpPr>
        <p:spPr>
          <a:xfrm>
            <a:off x="761981" y="340351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4.3</a:t>
            </a:r>
            <a:endParaRPr lang="en-US" sz="950" dirty="0"/>
          </a:p>
        </p:txBody>
      </p:sp>
      <p:sp>
        <p:nvSpPr>
          <p:cNvPr id="62" name="text 23.61"/>
          <p:cNvSpPr txBox="1"/>
          <p:nvPr/>
        </p:nvSpPr>
        <p:spPr>
          <a:xfrm>
            <a:off x="1244569" y="3397165"/>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Sound effects &amp; music</a:t>
            </a:r>
            <a:endParaRPr lang="en-US" sz="1050" dirty="0"/>
          </a:p>
        </p:txBody>
      </p:sp>
      <p:sp>
        <p:nvSpPr>
          <p:cNvPr id="63" name="shape 23.62"/>
          <p:cNvSpPr/>
          <p:nvPr/>
        </p:nvSpPr>
        <p:spPr>
          <a:xfrm>
            <a:off x="4419490" y="3365416"/>
            <a:ext cx="977876" cy="203195"/>
          </a:xfrm>
          <a:prstGeom prst="roundRect">
            <a:avLst>
              <a:gd name="adj" fmla="val 50000"/>
            </a:avLst>
          </a:prstGeom>
          <a:solidFill>
            <a:srgbClr val="E6F6E1"/>
          </a:solidFill>
          <a:ln/>
        </p:spPr>
      </p:sp>
      <p:sp>
        <p:nvSpPr>
          <p:cNvPr id="64" name="text 23.63"/>
          <p:cNvSpPr txBox="1"/>
          <p:nvPr/>
        </p:nvSpPr>
        <p:spPr>
          <a:xfrm>
            <a:off x="4419490" y="3365416"/>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65" name="text 23.64"/>
          <p:cNvSpPr txBox="1"/>
          <p:nvPr/>
        </p:nvSpPr>
        <p:spPr>
          <a:xfrm>
            <a:off x="5625959" y="3403515"/>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2 wk</a:t>
            </a:r>
            <a:endParaRPr lang="en-US" sz="950" dirty="0"/>
          </a:p>
        </p:txBody>
      </p:sp>
      <p:sp>
        <p:nvSpPr>
          <p:cNvPr id="66" name="shape 23.65"/>
          <p:cNvSpPr/>
          <p:nvPr/>
        </p:nvSpPr>
        <p:spPr>
          <a:xfrm>
            <a:off x="7654734" y="3378116"/>
            <a:ext cx="2482788" cy="190495"/>
          </a:xfrm>
          <a:prstGeom prst="roundRect">
            <a:avLst>
              <a:gd name="adj" fmla="val 50000"/>
            </a:avLst>
          </a:prstGeom>
          <a:solidFill>
            <a:srgbClr val="43B832"/>
          </a:solidFill>
          <a:ln/>
        </p:spPr>
      </p:sp>
      <p:sp>
        <p:nvSpPr>
          <p:cNvPr id="67" name="text 23.66"/>
          <p:cNvSpPr txBox="1"/>
          <p:nvPr/>
        </p:nvSpPr>
        <p:spPr>
          <a:xfrm>
            <a:off x="761981" y="373370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4.4</a:t>
            </a:r>
            <a:endParaRPr lang="en-US" sz="950" dirty="0"/>
          </a:p>
        </p:txBody>
      </p:sp>
      <p:sp>
        <p:nvSpPr>
          <p:cNvPr id="68" name="text 23.67"/>
          <p:cNvSpPr txBox="1"/>
          <p:nvPr/>
        </p:nvSpPr>
        <p:spPr>
          <a:xfrm>
            <a:off x="1244569" y="3727357"/>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Art &amp; UI polish</a:t>
            </a:r>
            <a:endParaRPr lang="en-US" sz="1050" dirty="0"/>
          </a:p>
        </p:txBody>
      </p:sp>
      <p:sp>
        <p:nvSpPr>
          <p:cNvPr id="69" name="shape 23.68"/>
          <p:cNvSpPr/>
          <p:nvPr/>
        </p:nvSpPr>
        <p:spPr>
          <a:xfrm>
            <a:off x="4419490" y="3695608"/>
            <a:ext cx="977876" cy="203195"/>
          </a:xfrm>
          <a:prstGeom prst="roundRect">
            <a:avLst>
              <a:gd name="adj" fmla="val 50000"/>
            </a:avLst>
          </a:prstGeom>
          <a:solidFill>
            <a:srgbClr val="F0E8FF"/>
          </a:solidFill>
          <a:ln/>
        </p:spPr>
      </p:sp>
      <p:sp>
        <p:nvSpPr>
          <p:cNvPr id="70" name="text 23.69"/>
          <p:cNvSpPr txBox="1"/>
          <p:nvPr/>
        </p:nvSpPr>
        <p:spPr>
          <a:xfrm>
            <a:off x="4419490" y="3695608"/>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71" name="text 23.70"/>
          <p:cNvSpPr txBox="1"/>
          <p:nvPr/>
        </p:nvSpPr>
        <p:spPr>
          <a:xfrm>
            <a:off x="5625959" y="3733707"/>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3 wk</a:t>
            </a:r>
            <a:endParaRPr lang="en-US" sz="950" dirty="0"/>
          </a:p>
        </p:txBody>
      </p:sp>
      <p:sp>
        <p:nvSpPr>
          <p:cNvPr id="72" name="shape 23.71"/>
          <p:cNvSpPr/>
          <p:nvPr/>
        </p:nvSpPr>
        <p:spPr>
          <a:xfrm>
            <a:off x="6387940" y="3708307"/>
            <a:ext cx="3749581" cy="190495"/>
          </a:xfrm>
          <a:prstGeom prst="roundRect">
            <a:avLst>
              <a:gd name="adj" fmla="val 50000"/>
            </a:avLst>
          </a:prstGeom>
          <a:solidFill>
            <a:srgbClr val="8F55F5"/>
          </a:solidFill>
          <a:ln/>
        </p:spPr>
      </p:sp>
      <p:sp>
        <p:nvSpPr>
          <p:cNvPr id="73" name="text 23.72"/>
          <p:cNvSpPr txBox="1"/>
          <p:nvPr/>
        </p:nvSpPr>
        <p:spPr>
          <a:xfrm>
            <a:off x="761981" y="406389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4.5</a:t>
            </a:r>
            <a:endParaRPr lang="en-US" sz="950" dirty="0"/>
          </a:p>
        </p:txBody>
      </p:sp>
      <p:sp>
        <p:nvSpPr>
          <p:cNvPr id="74" name="text 23.73"/>
          <p:cNvSpPr txBox="1"/>
          <p:nvPr/>
        </p:nvSpPr>
        <p:spPr>
          <a:xfrm>
            <a:off x="1244569" y="4057549"/>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LAN stress test &amp; final build</a:t>
            </a:r>
            <a:endParaRPr lang="en-US" sz="1050" dirty="0"/>
          </a:p>
        </p:txBody>
      </p:sp>
      <p:sp>
        <p:nvSpPr>
          <p:cNvPr id="75" name="shape 23.74"/>
          <p:cNvSpPr/>
          <p:nvPr/>
        </p:nvSpPr>
        <p:spPr>
          <a:xfrm>
            <a:off x="4419490" y="4025799"/>
            <a:ext cx="977876" cy="203195"/>
          </a:xfrm>
          <a:prstGeom prst="roundRect">
            <a:avLst>
              <a:gd name="adj" fmla="val 50000"/>
            </a:avLst>
          </a:prstGeom>
          <a:solidFill>
            <a:srgbClr val="FFF0E6"/>
          </a:solidFill>
          <a:ln/>
        </p:spPr>
      </p:sp>
      <p:sp>
        <p:nvSpPr>
          <p:cNvPr id="76" name="text 23.75"/>
          <p:cNvSpPr txBox="1"/>
          <p:nvPr/>
        </p:nvSpPr>
        <p:spPr>
          <a:xfrm>
            <a:off x="4419490" y="4025799"/>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77" name="text 23.76"/>
          <p:cNvSpPr txBox="1"/>
          <p:nvPr/>
        </p:nvSpPr>
        <p:spPr>
          <a:xfrm>
            <a:off x="5625959" y="4063898"/>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78" name="shape 23.77"/>
          <p:cNvSpPr/>
          <p:nvPr/>
        </p:nvSpPr>
        <p:spPr>
          <a:xfrm>
            <a:off x="8921527" y="4038499"/>
            <a:ext cx="1215995" cy="190495"/>
          </a:xfrm>
          <a:prstGeom prst="roundRect">
            <a:avLst>
              <a:gd name="adj" fmla="val 50000"/>
            </a:avLst>
          </a:prstGeom>
          <a:solidFill>
            <a:srgbClr val="FF6B1F"/>
          </a:solidFill>
          <a:ln/>
        </p:spPr>
      </p:sp>
      <p:sp>
        <p:nvSpPr>
          <p:cNvPr id="79" name="text 23.78"/>
          <p:cNvSpPr txBox="1"/>
          <p:nvPr/>
        </p:nvSpPr>
        <p:spPr>
          <a:xfrm>
            <a:off x="761981" y="439409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E7D9A"/>
                </a:solidFill>
                <a:latin typeface="Arial" pitchFamily="34" charset="0"/>
                <a:ea typeface="Arial" pitchFamily="34" charset="-122"/>
                <a:cs typeface="Arial" pitchFamily="34" charset="-120"/>
              </a:rPr>
              <a:t>4.6</a:t>
            </a:r>
            <a:endParaRPr lang="en-US" sz="950" dirty="0"/>
          </a:p>
        </p:txBody>
      </p:sp>
      <p:sp>
        <p:nvSpPr>
          <p:cNvPr id="80" name="text 23.79"/>
          <p:cNvSpPr txBox="1"/>
          <p:nvPr/>
        </p:nvSpPr>
        <p:spPr>
          <a:xfrm>
            <a:off x="1244569" y="4387740"/>
            <a:ext cx="3124122" cy="146681"/>
          </a:xfrm>
          <a:prstGeom prst="rect">
            <a:avLst/>
          </a:prstGeom>
          <a:noFill/>
          <a:ln/>
        </p:spPr>
        <p:txBody>
          <a:bodyPr wrap="square" lIns="0" tIns="0" rIns="0" bIns="0" rtlCol="0" anchor="t"/>
          <a:lstStyle/>
          <a:p>
            <a:pPr algn="l" indent="0" marL="0">
              <a:lnSpc>
                <a:spcPts val="1160"/>
              </a:lnSpc>
              <a:buNone/>
            </a:pPr>
            <a:r>
              <a:rPr lang="en-US" sz="1050" dirty="0">
                <a:solidFill>
                  <a:srgbClr val="16233F"/>
                </a:solidFill>
                <a:latin typeface="Arial" pitchFamily="34" charset="0"/>
                <a:ea typeface="Arial" pitchFamily="34" charset="-122"/>
                <a:cs typeface="Arial" pitchFamily="34" charset="-120"/>
              </a:rPr>
              <a:t>Promo video &amp; final deck</a:t>
            </a:r>
            <a:endParaRPr lang="en-US" sz="1050" dirty="0"/>
          </a:p>
        </p:txBody>
      </p:sp>
      <p:sp>
        <p:nvSpPr>
          <p:cNvPr id="81" name="shape 23.80"/>
          <p:cNvSpPr/>
          <p:nvPr/>
        </p:nvSpPr>
        <p:spPr>
          <a:xfrm>
            <a:off x="4419490" y="4355991"/>
            <a:ext cx="977876" cy="203195"/>
          </a:xfrm>
          <a:prstGeom prst="roundRect">
            <a:avLst>
              <a:gd name="adj" fmla="val 50000"/>
            </a:avLst>
          </a:prstGeom>
          <a:solidFill>
            <a:srgbClr val="E9EFF8"/>
          </a:solidFill>
          <a:ln/>
        </p:spPr>
      </p:sp>
      <p:sp>
        <p:nvSpPr>
          <p:cNvPr id="82" name="text 23.81"/>
          <p:cNvSpPr txBox="1"/>
          <p:nvPr/>
        </p:nvSpPr>
        <p:spPr>
          <a:xfrm>
            <a:off x="4419490" y="4355991"/>
            <a:ext cx="977876" cy="203195"/>
          </a:xfrm>
          <a:prstGeom prst="rect">
            <a:avLst/>
          </a:prstGeom>
          <a:noFill/>
          <a:ln/>
        </p:spPr>
        <p:txBody>
          <a:bodyPr wrap="square" lIns="0" tIns="0" rIns="0" bIns="0" rtlCol="0" anchor="ctr"/>
          <a:lstStyle/>
          <a:p>
            <a:pPr algn="ctr" indent="0" marL="0">
              <a:lnSpc>
                <a:spcPts val="850"/>
              </a:lnSpc>
              <a:buNone/>
            </a:pPr>
            <a:r>
              <a:rPr lang="en-US" sz="850" b="1" dirty="0">
                <a:solidFill>
                  <a:srgbClr val="3B4A66"/>
                </a:solidFill>
                <a:latin typeface="Arial" pitchFamily="34" charset="0"/>
                <a:ea typeface="Arial" pitchFamily="34" charset="-122"/>
                <a:cs typeface="Arial" pitchFamily="34" charset="-120"/>
              </a:rPr>
              <a:t>Team</a:t>
            </a:r>
            <a:endParaRPr lang="en-US" sz="850" dirty="0"/>
          </a:p>
        </p:txBody>
      </p:sp>
      <p:sp>
        <p:nvSpPr>
          <p:cNvPr id="83" name="text 23.82"/>
          <p:cNvSpPr txBox="1"/>
          <p:nvPr/>
        </p:nvSpPr>
        <p:spPr>
          <a:xfrm>
            <a:off x="5625959" y="4394090"/>
            <a:ext cx="507987" cy="120647"/>
          </a:xfrm>
          <a:prstGeom prst="rect">
            <a:avLst/>
          </a:prstGeom>
          <a:noFill/>
          <a:ln/>
        </p:spPr>
        <p:txBody>
          <a:bodyPr wrap="square" lIns="0" tIns="0" rIns="0" bIns="0" rtlCol="0" anchor="t"/>
          <a:lstStyle/>
          <a:p>
            <a:pPr algn="ctr" indent="0" marL="0">
              <a:lnSpc>
                <a:spcPts val="950"/>
              </a:lnSpc>
              <a:buNone/>
            </a:pPr>
            <a:r>
              <a:rPr lang="en-US" sz="950" dirty="0">
                <a:solidFill>
                  <a:srgbClr val="3B4A66"/>
                </a:solidFill>
                <a:latin typeface="Arial" pitchFamily="34" charset="0"/>
                <a:ea typeface="Arial" pitchFamily="34" charset="-122"/>
                <a:cs typeface="Arial" pitchFamily="34" charset="-120"/>
              </a:rPr>
              <a:t>1 wk</a:t>
            </a:r>
            <a:endParaRPr lang="en-US" sz="950" dirty="0"/>
          </a:p>
        </p:txBody>
      </p:sp>
      <p:sp>
        <p:nvSpPr>
          <p:cNvPr id="84" name="shape 23.83"/>
          <p:cNvSpPr/>
          <p:nvPr/>
        </p:nvSpPr>
        <p:spPr>
          <a:xfrm>
            <a:off x="10188320" y="4368691"/>
            <a:ext cx="1215995" cy="190495"/>
          </a:xfrm>
          <a:prstGeom prst="roundRect">
            <a:avLst>
              <a:gd name="adj" fmla="val 50000"/>
            </a:avLst>
          </a:prstGeom>
          <a:solidFill>
            <a:srgbClr val="16233F"/>
          </a:solidFill>
          <a:ln/>
        </p:spPr>
      </p:sp>
      <p:sp>
        <p:nvSpPr>
          <p:cNvPr id="85" name="text 23.84"/>
          <p:cNvSpPr txBox="1"/>
          <p:nvPr/>
        </p:nvSpPr>
        <p:spPr>
          <a:xfrm>
            <a:off x="609585" y="5029074"/>
            <a:ext cx="129986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PROPOSED OWNERS</a:t>
            </a:r>
            <a:endParaRPr lang="en-US" sz="750" dirty="0"/>
          </a:p>
        </p:txBody>
      </p:sp>
      <p:sp>
        <p:nvSpPr>
          <p:cNvPr id="86" name="shape 23.85"/>
          <p:cNvSpPr/>
          <p:nvPr/>
        </p:nvSpPr>
        <p:spPr>
          <a:xfrm>
            <a:off x="2095448" y="4940176"/>
            <a:ext cx="266693" cy="266693"/>
          </a:xfrm>
          <a:prstGeom prst="roundRect">
            <a:avLst>
              <a:gd name="adj" fmla="val 28571"/>
            </a:avLst>
          </a:prstGeom>
          <a:solidFill>
            <a:srgbClr val="FF6B1F"/>
          </a:solidFill>
          <a:ln/>
        </p:spPr>
      </p:sp>
      <p:sp>
        <p:nvSpPr>
          <p:cNvPr id="87" name="text 23.86"/>
          <p:cNvSpPr txBox="1"/>
          <p:nvPr/>
        </p:nvSpPr>
        <p:spPr>
          <a:xfrm>
            <a:off x="2438339" y="4946526"/>
            <a:ext cx="332942"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Ezel</a:t>
            </a:r>
            <a:endParaRPr lang="en-US" sz="1000" dirty="0"/>
          </a:p>
        </p:txBody>
      </p:sp>
      <p:sp>
        <p:nvSpPr>
          <p:cNvPr id="88" name="text 23.87"/>
          <p:cNvSpPr txBox="1"/>
          <p:nvPr/>
        </p:nvSpPr>
        <p:spPr>
          <a:xfrm>
            <a:off x="2438339" y="5098923"/>
            <a:ext cx="788535"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Network, build</a:t>
            </a:r>
            <a:endParaRPr lang="en-US" sz="850" dirty="0"/>
          </a:p>
        </p:txBody>
      </p:sp>
      <p:sp>
        <p:nvSpPr>
          <p:cNvPr id="89" name="shape 23.88"/>
          <p:cNvSpPr/>
          <p:nvPr/>
        </p:nvSpPr>
        <p:spPr>
          <a:xfrm>
            <a:off x="4000400" y="4940176"/>
            <a:ext cx="266693" cy="266693"/>
          </a:xfrm>
          <a:prstGeom prst="roundRect">
            <a:avLst>
              <a:gd name="adj" fmla="val 28571"/>
            </a:avLst>
          </a:prstGeom>
          <a:solidFill>
            <a:srgbClr val="1FA9EA"/>
          </a:solidFill>
          <a:ln/>
        </p:spPr>
      </p:sp>
      <p:sp>
        <p:nvSpPr>
          <p:cNvPr id="90" name="text 23.89"/>
          <p:cNvSpPr txBox="1"/>
          <p:nvPr/>
        </p:nvSpPr>
        <p:spPr>
          <a:xfrm>
            <a:off x="4343291" y="4946526"/>
            <a:ext cx="82639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Abdurrahim</a:t>
            </a:r>
            <a:endParaRPr lang="en-US" sz="1000" dirty="0"/>
          </a:p>
        </p:txBody>
      </p:sp>
      <p:sp>
        <p:nvSpPr>
          <p:cNvPr id="91" name="text 23.90"/>
          <p:cNvSpPr txBox="1"/>
          <p:nvPr/>
        </p:nvSpPr>
        <p:spPr>
          <a:xfrm>
            <a:off x="4343291" y="5098923"/>
            <a:ext cx="84585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Mass Knockout</a:t>
            </a:r>
            <a:endParaRPr lang="en-US" sz="850" dirty="0"/>
          </a:p>
        </p:txBody>
      </p:sp>
      <p:sp>
        <p:nvSpPr>
          <p:cNvPr id="92" name="shape 23.91"/>
          <p:cNvSpPr/>
          <p:nvPr/>
        </p:nvSpPr>
        <p:spPr>
          <a:xfrm>
            <a:off x="5905352" y="4940176"/>
            <a:ext cx="266693" cy="266693"/>
          </a:xfrm>
          <a:prstGeom prst="roundRect">
            <a:avLst>
              <a:gd name="adj" fmla="val 28571"/>
            </a:avLst>
          </a:prstGeom>
          <a:solidFill>
            <a:srgbClr val="43B832"/>
          </a:solidFill>
          <a:ln/>
        </p:spPr>
      </p:sp>
      <p:sp>
        <p:nvSpPr>
          <p:cNvPr id="93" name="text 23.92"/>
          <p:cNvSpPr txBox="1"/>
          <p:nvPr/>
        </p:nvSpPr>
        <p:spPr>
          <a:xfrm>
            <a:off x="6248244" y="4946526"/>
            <a:ext cx="489960"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Kürşat</a:t>
            </a:r>
            <a:endParaRPr lang="en-US" sz="1000" dirty="0"/>
          </a:p>
        </p:txBody>
      </p:sp>
      <p:sp>
        <p:nvSpPr>
          <p:cNvPr id="94" name="text 23.93"/>
          <p:cNvSpPr txBox="1"/>
          <p:nvPr/>
        </p:nvSpPr>
        <p:spPr>
          <a:xfrm>
            <a:off x="6248244" y="5098923"/>
            <a:ext cx="1112877"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Movement, Ice Race</a:t>
            </a:r>
            <a:endParaRPr lang="en-US" sz="850" dirty="0"/>
          </a:p>
        </p:txBody>
      </p:sp>
      <p:sp>
        <p:nvSpPr>
          <p:cNvPr id="95" name="shape 23.94"/>
          <p:cNvSpPr/>
          <p:nvPr/>
        </p:nvSpPr>
        <p:spPr>
          <a:xfrm>
            <a:off x="7810305" y="4940176"/>
            <a:ext cx="266693" cy="266693"/>
          </a:xfrm>
          <a:prstGeom prst="roundRect">
            <a:avLst>
              <a:gd name="adj" fmla="val 28571"/>
            </a:avLst>
          </a:prstGeom>
          <a:solidFill>
            <a:srgbClr val="8F55F5"/>
          </a:solidFill>
          <a:ln/>
        </p:spPr>
      </p:sp>
      <p:sp>
        <p:nvSpPr>
          <p:cNvPr id="96" name="text 23.95"/>
          <p:cNvSpPr txBox="1"/>
          <p:nvPr/>
        </p:nvSpPr>
        <p:spPr>
          <a:xfrm>
            <a:off x="8153196" y="4946526"/>
            <a:ext cx="370172"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Ardıl</a:t>
            </a:r>
            <a:endParaRPr lang="en-US" sz="1000" dirty="0"/>
          </a:p>
        </p:txBody>
      </p:sp>
      <p:sp>
        <p:nvSpPr>
          <p:cNvPr id="97" name="text 23.96"/>
          <p:cNvSpPr txBox="1"/>
          <p:nvPr/>
        </p:nvSpPr>
        <p:spPr>
          <a:xfrm>
            <a:off x="8153196" y="5098923"/>
            <a:ext cx="839332"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Art, UI, session</a:t>
            </a:r>
            <a:endParaRPr lang="en-US" sz="850" dirty="0"/>
          </a:p>
        </p:txBody>
      </p:sp>
      <p:sp>
        <p:nvSpPr>
          <p:cNvPr id="98" name="shape 23.97"/>
          <p:cNvSpPr/>
          <p:nvPr/>
        </p:nvSpPr>
        <p:spPr>
          <a:xfrm>
            <a:off x="9715257" y="4940176"/>
            <a:ext cx="266693" cy="266693"/>
          </a:xfrm>
          <a:prstGeom prst="roundRect">
            <a:avLst>
              <a:gd name="adj" fmla="val 28571"/>
            </a:avLst>
          </a:prstGeom>
          <a:solidFill>
            <a:srgbClr val="16233F"/>
          </a:solidFill>
          <a:ln/>
        </p:spPr>
      </p:sp>
      <p:sp>
        <p:nvSpPr>
          <p:cNvPr id="99" name="text 23.98"/>
          <p:cNvSpPr txBox="1"/>
          <p:nvPr/>
        </p:nvSpPr>
        <p:spPr>
          <a:xfrm>
            <a:off x="10058149" y="4946526"/>
            <a:ext cx="405193"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Team</a:t>
            </a:r>
            <a:endParaRPr lang="en-US" sz="1000" dirty="0"/>
          </a:p>
        </p:txBody>
      </p:sp>
      <p:sp>
        <p:nvSpPr>
          <p:cNvPr id="100" name="text 23.99"/>
          <p:cNvSpPr txBox="1"/>
          <p:nvPr/>
        </p:nvSpPr>
        <p:spPr>
          <a:xfrm>
            <a:off x="10058149" y="5098923"/>
            <a:ext cx="731428" cy="151126"/>
          </a:xfrm>
          <a:prstGeom prst="rect">
            <a:avLst/>
          </a:prstGeom>
          <a:noFill/>
          <a:ln/>
        </p:spPr>
        <p:txBody>
          <a:bodyPr wrap="square" lIns="0" tIns="0" rIns="0" bIns="0" rtlCol="0" anchor="t"/>
          <a:lstStyle/>
          <a:p>
            <a:pPr algn="l" indent="0" marL="0">
              <a:lnSpc>
                <a:spcPts val="1190"/>
              </a:lnSpc>
              <a:buNone/>
            </a:pPr>
            <a:r>
              <a:rPr lang="en-US" sz="850" dirty="0">
                <a:solidFill>
                  <a:srgbClr val="6E7D9A"/>
                </a:solidFill>
                <a:latin typeface="Arial" pitchFamily="34" charset="0"/>
                <a:ea typeface="Arial" pitchFamily="34" charset="-122"/>
                <a:cs typeface="Arial" pitchFamily="34" charset="-120"/>
              </a:rPr>
              <a:t>Shared tasks</a:t>
            </a:r>
            <a:endParaRPr lang="en-US" sz="850" dirty="0"/>
          </a:p>
        </p:txBody>
      </p:sp>
      <p:sp>
        <p:nvSpPr>
          <p:cNvPr id="101" name="shape 23.100"/>
          <p:cNvSpPr/>
          <p:nvPr/>
        </p:nvSpPr>
        <p:spPr>
          <a:xfrm>
            <a:off x="609585" y="266693"/>
            <a:ext cx="1829945"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02" name="shape 23.101"/>
          <p:cNvSpPr/>
          <p:nvPr/>
        </p:nvSpPr>
        <p:spPr>
          <a:xfrm>
            <a:off x="711182" y="355591"/>
            <a:ext cx="114297" cy="114297"/>
          </a:xfrm>
          <a:prstGeom prst="roundRect">
            <a:avLst>
              <a:gd name="adj" fmla="val 33333"/>
            </a:avLst>
          </a:prstGeom>
          <a:solidFill>
            <a:srgbClr val="1FA9EA"/>
          </a:solidFill>
          <a:ln/>
        </p:spPr>
      </p:sp>
      <p:sp>
        <p:nvSpPr>
          <p:cNvPr id="103" name="shape 23.102"/>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04" name="shape 23.103"/>
          <p:cNvSpPr/>
          <p:nvPr/>
        </p:nvSpPr>
        <p:spPr>
          <a:xfrm>
            <a:off x="10058149" y="368291"/>
            <a:ext cx="101597" cy="101597"/>
          </a:xfrm>
          <a:prstGeom prst="roundRect">
            <a:avLst>
              <a:gd name="adj" fmla="val 31250"/>
            </a:avLst>
          </a:prstGeom>
          <a:solidFill>
            <a:srgbClr val="16233F"/>
          </a:solidFill>
          <a:ln/>
        </p:spPr>
      </p:sp>
      <p:sp>
        <p:nvSpPr>
          <p:cNvPr id="105" name="shape 23.104"/>
          <p:cNvSpPr/>
          <p:nvPr/>
        </p:nvSpPr>
        <p:spPr>
          <a:xfrm>
            <a:off x="10223244" y="368291"/>
            <a:ext cx="101597" cy="101597"/>
          </a:xfrm>
          <a:prstGeom prst="roundRect">
            <a:avLst>
              <a:gd name="adj" fmla="val 31250"/>
            </a:avLst>
          </a:prstGeom>
          <a:solidFill>
            <a:srgbClr val="16233F"/>
          </a:solidFill>
          <a:ln/>
        </p:spPr>
      </p:sp>
      <p:sp>
        <p:nvSpPr>
          <p:cNvPr id="106" name="shape 23.105"/>
          <p:cNvSpPr/>
          <p:nvPr/>
        </p:nvSpPr>
        <p:spPr>
          <a:xfrm>
            <a:off x="10388340" y="368291"/>
            <a:ext cx="101597" cy="101597"/>
          </a:xfrm>
          <a:prstGeom prst="roundRect">
            <a:avLst>
              <a:gd name="adj" fmla="val 31250"/>
            </a:avLst>
          </a:prstGeom>
          <a:solidFill>
            <a:srgbClr val="16233F"/>
          </a:solidFill>
          <a:ln/>
        </p:spPr>
      </p:sp>
      <p:sp>
        <p:nvSpPr>
          <p:cNvPr id="107" name="shape 23.106"/>
          <p:cNvSpPr/>
          <p:nvPr/>
        </p:nvSpPr>
        <p:spPr>
          <a:xfrm>
            <a:off x="10553436" y="368291"/>
            <a:ext cx="101597" cy="101597"/>
          </a:xfrm>
          <a:prstGeom prst="roundRect">
            <a:avLst>
              <a:gd name="adj" fmla="val 31250"/>
            </a:avLst>
          </a:prstGeom>
          <a:solidFill>
            <a:srgbClr val="16233F"/>
          </a:solidFill>
          <a:ln/>
        </p:spPr>
      </p:sp>
      <p:sp>
        <p:nvSpPr>
          <p:cNvPr id="108" name="shape 23.107"/>
          <p:cNvSpPr/>
          <p:nvPr/>
        </p:nvSpPr>
        <p:spPr>
          <a:xfrm>
            <a:off x="10718532" y="368291"/>
            <a:ext cx="101597" cy="101597"/>
          </a:xfrm>
          <a:prstGeom prst="roundRect">
            <a:avLst>
              <a:gd name="adj" fmla="val 31250"/>
            </a:avLst>
          </a:prstGeom>
          <a:solidFill>
            <a:srgbClr val="16233F"/>
          </a:solidFill>
          <a:ln/>
        </p:spPr>
      </p:sp>
      <p:sp>
        <p:nvSpPr>
          <p:cNvPr id="109" name="shape 23.108"/>
          <p:cNvSpPr/>
          <p:nvPr/>
        </p:nvSpPr>
        <p:spPr>
          <a:xfrm>
            <a:off x="10883628" y="368291"/>
            <a:ext cx="101597" cy="101597"/>
          </a:xfrm>
          <a:prstGeom prst="roundRect">
            <a:avLst>
              <a:gd name="adj" fmla="val 31250"/>
            </a:avLst>
          </a:prstGeom>
          <a:solidFill>
            <a:srgbClr val="1FA9EA"/>
          </a:solidFill>
          <a:ln/>
        </p:spPr>
      </p:sp>
      <p:sp>
        <p:nvSpPr>
          <p:cNvPr id="110" name="text 23.10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111" name="text 23.110"/>
          <p:cNvSpPr txBox="1"/>
          <p:nvPr/>
        </p:nvSpPr>
        <p:spPr>
          <a:xfrm>
            <a:off x="927077" y="349241"/>
            <a:ext cx="1400305"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06 · Development plan</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24.1" descr="podium_full.png">    </p:cNvPr>
          <p:cNvPicPr>
            <a:picLocks noChangeAspect="1"/>
          </p:cNvPicPr>
          <p:nvPr/>
        </p:nvPicPr>
        <p:blipFill>
          <a:blip r:embed="rId2"/>
          <a:stretch>
            <a:fillRect/>
          </a:stretch>
        </p:blipFill>
        <p:spPr>
          <a:xfrm>
            <a:off x="4444889" y="0"/>
            <a:ext cx="7746806" cy="6857829"/>
          </a:xfrm>
          <a:prstGeom prst="rect">
            <a:avLst/>
          </a:prstGeom>
        </p:spPr>
      </p:pic>
      <p:pic>
        <p:nvPicPr>
          <p:cNvPr id="3" name="raster 24.2" descr="diagram">    </p:cNvPr>
          <p:cNvPicPr>
            <a:picLocks noChangeAspect="1"/>
          </p:cNvPicPr>
          <p:nvPr/>
        </p:nvPicPr>
        <p:blipFill>
          <a:blip r:embed="rId3"/>
          <a:stretch>
            <a:fillRect/>
          </a:stretch>
        </p:blipFill>
        <p:spPr>
          <a:xfrm>
            <a:off x="0" y="0"/>
            <a:ext cx="12191695" cy="6857829"/>
          </a:xfrm>
          <a:prstGeom prst="rect">
            <a:avLst/>
          </a:prstGeom>
        </p:spPr>
      </p:pic>
      <p:sp>
        <p:nvSpPr>
          <p:cNvPr id="4" name="shape 24.3"/>
          <p:cNvSpPr/>
          <p:nvPr/>
        </p:nvSpPr>
        <p:spPr>
          <a:xfrm>
            <a:off x="609585" y="2095448"/>
            <a:ext cx="5460863" cy="660383"/>
          </a:xfrm>
          <a:prstGeom prst="roundRect">
            <a:avLst>
              <a:gd name="adj" fmla="val 26923"/>
            </a:avLst>
          </a:prstGeom>
          <a:solidFill>
            <a:srgbClr val="FFFFFF"/>
          </a:solidFill>
          <a:ln/>
          <a:effectLst>
            <a:outerShdw sx="100000" sy="100000" kx="0" ky="0" algn="bl" rotWithShape="0" blurRad="203200" dist="76200" dir="5400000">
              <a:srgbClr val="1E468C">
                <a:alpha val="16000"/>
              </a:srgbClr>
            </a:outerShdw>
          </a:effectLst>
        </p:spPr>
      </p:sp>
      <p:sp>
        <p:nvSpPr>
          <p:cNvPr id="5" name="shape 24.4"/>
          <p:cNvSpPr/>
          <p:nvPr/>
        </p:nvSpPr>
        <p:spPr>
          <a:xfrm>
            <a:off x="609585" y="2895528"/>
            <a:ext cx="5460863" cy="660383"/>
          </a:xfrm>
          <a:prstGeom prst="roundRect">
            <a:avLst>
              <a:gd name="adj" fmla="val 26923"/>
            </a:avLst>
          </a:prstGeom>
          <a:solidFill>
            <a:srgbClr val="FFFFFF"/>
          </a:solidFill>
          <a:ln/>
          <a:effectLst>
            <a:outerShdw sx="100000" sy="100000" kx="0" ky="0" algn="bl" rotWithShape="0" blurRad="203200" dist="76200" dir="5400000">
              <a:srgbClr val="1E468C">
                <a:alpha val="16000"/>
              </a:srgbClr>
            </a:outerShdw>
          </a:effectLst>
        </p:spPr>
      </p:sp>
      <p:sp>
        <p:nvSpPr>
          <p:cNvPr id="6" name="shape 24.5"/>
          <p:cNvSpPr/>
          <p:nvPr/>
        </p:nvSpPr>
        <p:spPr>
          <a:xfrm>
            <a:off x="609585" y="3695608"/>
            <a:ext cx="5460863" cy="660383"/>
          </a:xfrm>
          <a:prstGeom prst="roundRect">
            <a:avLst>
              <a:gd name="adj" fmla="val 26923"/>
            </a:avLst>
          </a:prstGeom>
          <a:solidFill>
            <a:srgbClr val="FFFFFF"/>
          </a:solidFill>
          <a:ln/>
          <a:effectLst>
            <a:outerShdw sx="100000" sy="100000" kx="0" ky="0" algn="bl" rotWithShape="0" blurRad="203200" dist="76200" dir="5400000">
              <a:srgbClr val="1E468C">
                <a:alpha val="16000"/>
              </a:srgbClr>
            </a:outerShdw>
          </a:effectLst>
        </p:spPr>
      </p:sp>
      <p:sp>
        <p:nvSpPr>
          <p:cNvPr id="7" name="text 24.6"/>
          <p:cNvSpPr txBox="1"/>
          <p:nvPr/>
        </p:nvSpPr>
        <p:spPr>
          <a:xfrm>
            <a:off x="609585" y="444489"/>
            <a:ext cx="1301446" cy="129537"/>
          </a:xfrm>
          <a:prstGeom prst="rect">
            <a:avLst/>
          </a:prstGeom>
          <a:noFill/>
          <a:ln/>
        </p:spPr>
        <p:txBody>
          <a:bodyPr wrap="square" lIns="0" tIns="0" rIns="0" bIns="0" rtlCol="0" anchor="t"/>
          <a:lstStyle/>
          <a:p>
            <a:pPr algn="l" indent="0" marL="0">
              <a:lnSpc>
                <a:spcPts val="1020"/>
              </a:lnSpc>
              <a:buNone/>
            </a:pPr>
            <a:r>
              <a:rPr lang="en-US" sz="850" b="1" spc="102" kern="0" dirty="0">
                <a:solidFill>
                  <a:srgbClr val="6E7D9A"/>
                </a:solidFill>
                <a:latin typeface="Arial" pitchFamily="34" charset="0"/>
                <a:ea typeface="Arial" pitchFamily="34" charset="-122"/>
                <a:cs typeface="Arial" pitchFamily="34" charset="-120"/>
              </a:rPr>
              <a:t>FINAL STANDINGS</a:t>
            </a:r>
            <a:endParaRPr lang="en-US" sz="850" dirty="0"/>
          </a:p>
        </p:txBody>
      </p:sp>
      <p:sp>
        <p:nvSpPr>
          <p:cNvPr id="8" name="text 24.7"/>
          <p:cNvSpPr txBox="1"/>
          <p:nvPr/>
        </p:nvSpPr>
        <p:spPr>
          <a:xfrm>
            <a:off x="584185" y="825479"/>
            <a:ext cx="4798849" cy="825479"/>
          </a:xfrm>
          <a:prstGeom prst="rect">
            <a:avLst/>
          </a:prstGeom>
          <a:noFill/>
          <a:ln/>
        </p:spPr>
        <p:txBody>
          <a:bodyPr wrap="square" lIns="0" tIns="0" rIns="0" bIns="0" rtlCol="0" anchor="t"/>
          <a:lstStyle/>
          <a:p>
            <a:pPr algn="l" indent="0" marL="0">
              <a:lnSpc>
                <a:spcPts val="6500"/>
              </a:lnSpc>
              <a:buNone/>
            </a:pPr>
            <a:r>
              <a:rPr lang="en-US" sz="6500" dirty="0">
                <a:solidFill>
                  <a:srgbClr val="1FA9EA"/>
                </a:solidFill>
                <a:latin typeface="Arial Rounded MT Bold" pitchFamily="34" charset="0"/>
                <a:ea typeface="Arial Rounded MT Bold" pitchFamily="34" charset="-122"/>
                <a:cs typeface="Arial Rounded MT Bold" pitchFamily="34" charset="-120"/>
              </a:rPr>
              <a:t>Ice </a:t>
            </a:r>
            <a:pPr algn="l" indent="0" marL="0">
              <a:lnSpc>
                <a:spcPts val="6500"/>
              </a:lnSpc>
              <a:buNone/>
            </a:pPr>
            <a:r>
              <a:rPr lang="en-US" sz="6500" dirty="0">
                <a:solidFill>
                  <a:srgbClr val="16233F"/>
                </a:solidFill>
                <a:latin typeface="Arial Rounded MT Bold" pitchFamily="34" charset="0"/>
                <a:ea typeface="Arial Rounded MT Bold" pitchFamily="34" charset="-122"/>
                <a:cs typeface="Arial Rounded MT Bold" pitchFamily="34" charset="-120"/>
              </a:rPr>
              <a:t>Rumble</a:t>
            </a:r>
            <a:endParaRPr lang="en-US" sz="6500" dirty="0"/>
          </a:p>
        </p:txBody>
      </p:sp>
      <p:sp>
        <p:nvSpPr>
          <p:cNvPr id="9" name="shape 24.8"/>
          <p:cNvSpPr/>
          <p:nvPr/>
        </p:nvSpPr>
        <p:spPr>
          <a:xfrm>
            <a:off x="761981" y="2273243"/>
            <a:ext cx="546086" cy="304792"/>
          </a:xfrm>
          <a:prstGeom prst="roundRect">
            <a:avLst>
              <a:gd name="adj" fmla="val 50000"/>
            </a:avLst>
          </a:prstGeom>
          <a:solidFill>
            <a:srgbClr val="FF6B1F"/>
          </a:solidFill>
          <a:ln/>
        </p:spPr>
      </p:sp>
      <p:sp>
        <p:nvSpPr>
          <p:cNvPr id="10" name="text 24.9"/>
          <p:cNvSpPr txBox="1"/>
          <p:nvPr/>
        </p:nvSpPr>
        <p:spPr>
          <a:xfrm>
            <a:off x="761981" y="227324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1st</a:t>
            </a:r>
            <a:endParaRPr lang="en-US" sz="1300" dirty="0"/>
          </a:p>
        </p:txBody>
      </p:sp>
      <p:sp>
        <p:nvSpPr>
          <p:cNvPr id="11" name="text 24.10"/>
          <p:cNvSpPr txBox="1"/>
          <p:nvPr/>
        </p:nvSpPr>
        <p:spPr>
          <a:xfrm>
            <a:off x="1473163" y="223514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2–4 players, one LAN, no internet.</a:t>
            </a:r>
            <a:endParaRPr lang="en-US" sz="1250" dirty="0"/>
          </a:p>
        </p:txBody>
      </p:sp>
      <p:sp>
        <p:nvSpPr>
          <p:cNvPr id="12" name="shape 24.11"/>
          <p:cNvSpPr/>
          <p:nvPr/>
        </p:nvSpPr>
        <p:spPr>
          <a:xfrm>
            <a:off x="761981" y="3073323"/>
            <a:ext cx="546086" cy="304792"/>
          </a:xfrm>
          <a:prstGeom prst="roundRect">
            <a:avLst>
              <a:gd name="adj" fmla="val 50000"/>
            </a:avLst>
          </a:prstGeom>
          <a:solidFill>
            <a:srgbClr val="1FA9EA"/>
          </a:solidFill>
          <a:ln/>
        </p:spPr>
      </p:sp>
      <p:sp>
        <p:nvSpPr>
          <p:cNvPr id="13" name="text 24.12"/>
          <p:cNvSpPr txBox="1"/>
          <p:nvPr/>
        </p:nvSpPr>
        <p:spPr>
          <a:xfrm>
            <a:off x="761981" y="307332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2nd</a:t>
            </a:r>
            <a:endParaRPr lang="en-US" sz="1300" dirty="0"/>
          </a:p>
        </p:txBody>
      </p:sp>
      <p:sp>
        <p:nvSpPr>
          <p:cNvPr id="14" name="text 24.13"/>
          <p:cNvSpPr txBox="1"/>
          <p:nvPr/>
        </p:nvSpPr>
        <p:spPr>
          <a:xfrm>
            <a:off x="1473163" y="303522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Two mini-games on one shared Unity core.</a:t>
            </a:r>
            <a:endParaRPr lang="en-US" sz="1250" dirty="0"/>
          </a:p>
        </p:txBody>
      </p:sp>
      <p:sp>
        <p:nvSpPr>
          <p:cNvPr id="15" name="shape 24.14"/>
          <p:cNvSpPr/>
          <p:nvPr/>
        </p:nvSpPr>
        <p:spPr>
          <a:xfrm>
            <a:off x="761981" y="3873403"/>
            <a:ext cx="546086" cy="304792"/>
          </a:xfrm>
          <a:prstGeom prst="roundRect">
            <a:avLst>
              <a:gd name="adj" fmla="val 50000"/>
            </a:avLst>
          </a:prstGeom>
          <a:solidFill>
            <a:srgbClr val="43B832"/>
          </a:solidFill>
          <a:ln/>
        </p:spPr>
      </p:sp>
      <p:sp>
        <p:nvSpPr>
          <p:cNvPr id="16" name="text 24.15"/>
          <p:cNvSpPr txBox="1"/>
          <p:nvPr/>
        </p:nvSpPr>
        <p:spPr>
          <a:xfrm>
            <a:off x="761981" y="387340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3rd</a:t>
            </a:r>
            <a:endParaRPr lang="en-US" sz="1300" dirty="0"/>
          </a:p>
        </p:txBody>
      </p:sp>
      <p:sp>
        <p:nvSpPr>
          <p:cNvPr id="17" name="text 24.16"/>
          <p:cNvSpPr txBox="1"/>
          <p:nvPr/>
        </p:nvSpPr>
        <p:spPr>
          <a:xfrm>
            <a:off x="1473163" y="383530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Every hit makes the target lighter, so the next one sends it further.</a:t>
            </a:r>
            <a:endParaRPr lang="en-US" sz="1250" dirty="0"/>
          </a:p>
        </p:txBody>
      </p:sp>
      <p:sp>
        <p:nvSpPr>
          <p:cNvPr id="18" name="text 24.17"/>
          <p:cNvSpPr txBox="1"/>
          <p:nvPr/>
        </p:nvSpPr>
        <p:spPr>
          <a:xfrm>
            <a:off x="596885" y="4889378"/>
            <a:ext cx="3899862" cy="660383"/>
          </a:xfrm>
          <a:prstGeom prst="rect">
            <a:avLst/>
          </a:prstGeom>
          <a:noFill/>
          <a:ln/>
        </p:spPr>
        <p:txBody>
          <a:bodyPr wrap="square" lIns="0" tIns="0" rIns="0" bIns="0" rtlCol="0" anchor="t"/>
          <a:lstStyle/>
          <a:p>
            <a:pPr algn="l" indent="0" marL="0">
              <a:lnSpc>
                <a:spcPts val="5200"/>
              </a:lnSpc>
              <a:buNone/>
            </a:pPr>
            <a:r>
              <a:rPr lang="en-US" sz="5200" dirty="0">
                <a:solidFill>
                  <a:srgbClr val="FF6B1F"/>
                </a:solidFill>
                <a:latin typeface="Arial Rounded MT Bold" pitchFamily="34" charset="0"/>
                <a:ea typeface="Arial Rounded MT Bold" pitchFamily="34" charset="-122"/>
                <a:cs typeface="Arial Rounded MT Bold" pitchFamily="34" charset="-120"/>
              </a:rPr>
              <a:t>Questions?</a:t>
            </a:r>
            <a:endParaRPr lang="en-US" sz="5200" dirty="0"/>
          </a:p>
        </p:txBody>
      </p:sp>
      <p:sp>
        <p:nvSpPr>
          <p:cNvPr id="19" name="text 24.18"/>
          <p:cNvSpPr txBox="1"/>
          <p:nvPr/>
        </p:nvSpPr>
        <p:spPr>
          <a:xfrm>
            <a:off x="609585" y="5968851"/>
            <a:ext cx="7022924" cy="177796"/>
          </a:xfrm>
          <a:prstGeom prst="rect">
            <a:avLst/>
          </a:prstGeom>
          <a:noFill/>
          <a:ln/>
        </p:spPr>
        <p:txBody>
          <a:bodyPr wrap="square" lIns="0" tIns="0" rIns="0" bIns="0" rtlCol="0" anchor="t"/>
          <a:lstStyle/>
          <a:p>
            <a:pPr algn="l" indent="0" marL="0">
              <a:lnSpc>
                <a:spcPts val="1400"/>
              </a:lnSpc>
              <a:buNone/>
            </a:pPr>
            <a:r>
              <a:rPr lang="en-US" sz="1000" dirty="0">
                <a:solidFill>
                  <a:srgbClr val="6E7D9A"/>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
        <p:nvSpPr>
          <p:cNvPr id="20" name="text 24.19"/>
          <p:cNvSpPr txBox="1"/>
          <p:nvPr/>
        </p:nvSpPr>
        <p:spPr>
          <a:xfrm>
            <a:off x="9224450" y="6516227"/>
            <a:ext cx="2357660" cy="151126"/>
          </a:xfrm>
          <a:prstGeom prst="rect">
            <a:avLst/>
          </a:prstGeom>
          <a:noFill/>
          <a:ln/>
        </p:spPr>
        <p:txBody>
          <a:bodyPr wrap="square" lIns="0" tIns="0" rIns="0" bIns="0" rtlCol="0" anchor="t"/>
          <a:lstStyle/>
          <a:p>
            <a:pPr algn="r" indent="0" marL="0">
              <a:lnSpc>
                <a:spcPts val="1190"/>
              </a:lnSpc>
              <a:buNone/>
            </a:pPr>
            <a:r>
              <a:rPr lang="en-US" sz="850" dirty="0">
                <a:solidFill>
                  <a:srgbClr val="FFFFFF"/>
                </a:solidFill>
                <a:latin typeface="Arial" pitchFamily="34" charset="0"/>
                <a:ea typeface="Arial" pitchFamily="34" charset="-122"/>
                <a:cs typeface="Arial" pitchFamily="34" charset="-120"/>
              </a:rPr>
              <a:t>Concept render, AI-generated. Not gameplay.</a:t>
            </a:r>
            <a:endParaRPr lang="en-US" sz="8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5.1"/>
          <p:cNvSpPr/>
          <p:nvPr/>
        </p:nvSpPr>
        <p:spPr>
          <a:xfrm>
            <a:off x="609585" y="1498563"/>
            <a:ext cx="10972526" cy="4825879"/>
          </a:xfrm>
          <a:prstGeom prst="roundRect">
            <a:avLst>
              <a:gd name="adj" fmla="val 3684"/>
            </a:avLst>
          </a:prstGeom>
          <a:solidFill>
            <a:srgbClr val="FFFFFF"/>
          </a:solidFill>
          <a:ln/>
          <a:effectLst>
            <a:outerShdw sx="100000" sy="100000" kx="0" ky="0" algn="bl" rotWithShape="0" blurRad="203200" dist="76200" dir="5400000">
              <a:srgbClr val="1E468C">
                <a:alpha val="16000"/>
              </a:srgbClr>
            </a:outerShdw>
          </a:effectLst>
        </p:spPr>
      </p:sp>
      <p:sp>
        <p:nvSpPr>
          <p:cNvPr id="3" name="text 25.2"/>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Sources</a:t>
            </a:r>
            <a:endParaRPr lang="en-US" sz="2700" dirty="0"/>
          </a:p>
        </p:txBody>
      </p:sp>
      <p:sp>
        <p:nvSpPr>
          <p:cNvPr id="4" name="text 25.3"/>
          <p:cNvSpPr txBox="1"/>
          <p:nvPr/>
        </p:nvSpPr>
        <p:spPr>
          <a:xfrm>
            <a:off x="863578" y="171445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[1] Newzoo final 2025 figures, via GameDev Reports, 2026-06-26. gamedevreports.substack.com/p/newzoo-gaming-market-surpassed-200</a:t>
            </a:r>
            <a:endParaRPr lang="en-US" sz="950" dirty="0"/>
          </a:p>
        </p:txBody>
      </p:sp>
      <p:sp>
        <p:nvSpPr>
          <p:cNvPr id="5" name="text 25.4"/>
          <p:cNvSpPr txBox="1"/>
          <p:nvPr/>
        </p:nvSpPr>
        <p:spPr>
          <a:xfrm>
            <a:off x="863578" y="210814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[2] Alinea Analytics, games with co-op on Steam, H1 2025 (proprietary estimates). alineaanalytics.substack.com/p/games-with-co-op-generated-over-4</a:t>
            </a:r>
            <a:endParaRPr lang="en-US" sz="950" dirty="0"/>
          </a:p>
        </p:txBody>
      </p:sp>
      <p:sp>
        <p:nvSpPr>
          <p:cNvPr id="6" name="text 25.5"/>
          <p:cNvSpPr txBox="1"/>
          <p:nvPr/>
        </p:nvSpPr>
        <p:spPr>
          <a:xfrm>
            <a:off x="863578" y="250183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[3] ESA Essential Facts 2026 (survey Feb 2026, n=13,545). theesa.com</a:t>
            </a:r>
            <a:endParaRPr lang="en-US" sz="950" dirty="0"/>
          </a:p>
        </p:txBody>
      </p:sp>
      <p:sp>
        <p:nvSpPr>
          <p:cNvPr id="7" name="text 25.6"/>
          <p:cNvSpPr txBox="1"/>
          <p:nvPr/>
        </p:nvSpPr>
        <p:spPr>
          <a:xfrm>
            <a:off x="863578" y="289552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[4] Steam store search, tag “Party Game” × LAN PvP / Online PvP / Shared-Split-screen PvP, 2026-10-17. Tags are user-applied.</a:t>
            </a:r>
            <a:endParaRPr lang="en-US" sz="950" dirty="0"/>
          </a:p>
        </p:txBody>
      </p:sp>
      <p:sp>
        <p:nvSpPr>
          <p:cNvPr id="8" name="text 25.7"/>
          <p:cNvSpPr txBox="1"/>
          <p:nvPr/>
        </p:nvSpPr>
        <p:spPr>
          <a:xfrm>
            <a:off x="863578" y="328921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[5] Game Developers, 2025 Steam revenue distribution (Gamalytic estimates), 2026-08-21. game-developers.org/2025-steam-game-revenue-distribution</a:t>
            </a:r>
            <a:endParaRPr lang="en-US" sz="950" dirty="0"/>
          </a:p>
        </p:txBody>
      </p:sp>
      <p:sp>
        <p:nvSpPr>
          <p:cNvPr id="9" name="text 25.8"/>
          <p:cNvSpPr txBox="1"/>
          <p:nvPr/>
        </p:nvSpPr>
        <p:spPr>
          <a:xfrm>
            <a:off x="863578" y="368290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[6] PC Gamer, Valve at GDC 2026: 5,863 games over $100K on Steam in 2025. pcgamer.com</a:t>
            </a:r>
            <a:endParaRPr lang="en-US" sz="950" dirty="0"/>
          </a:p>
        </p:txBody>
      </p:sp>
      <p:sp>
        <p:nvSpPr>
          <p:cNvPr id="10" name="text 25.9"/>
          <p:cNvSpPr txBox="1"/>
          <p:nvPr/>
        </p:nvSpPr>
        <p:spPr>
          <a:xfrm>
            <a:off x="863578" y="407659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[7] Steam store pages and SteamDB charts, apps 1260320, 285900, 1097150, 880940, 1858400: prices, peaks, reviews, owner estimates. 2026-10-17.</a:t>
            </a:r>
            <a:endParaRPr lang="en-US" sz="950" dirty="0"/>
          </a:p>
        </p:txBody>
      </p:sp>
      <p:sp>
        <p:nvSpPr>
          <p:cNvPr id="11" name="text 25.10"/>
          <p:cNvSpPr txBox="1"/>
          <p:nvPr/>
        </p:nvSpPr>
        <p:spPr>
          <a:xfrm>
            <a:off x="863578" y="447028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[8] GameRevolution / Prima Games: Party Animals requires an internet connection, including split-screen.</a:t>
            </a:r>
            <a:endParaRPr lang="en-US" sz="950" dirty="0"/>
          </a:p>
        </p:txBody>
      </p:sp>
      <p:sp>
        <p:nvSpPr>
          <p:cNvPr id="12" name="text 25.11"/>
          <p:cNvSpPr txBox="1"/>
          <p:nvPr/>
        </p:nvSpPr>
        <p:spPr>
          <a:xfrm>
            <a:off x="863578" y="486397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[9] Squarena on Steam (app 1858400); codeaclysmgames.com/squarena-details.</a:t>
            </a:r>
            <a:endParaRPr lang="en-US" sz="950" dirty="0"/>
          </a:p>
        </p:txBody>
      </p:sp>
      <p:sp>
        <p:nvSpPr>
          <p:cNvPr id="13" name="text 25.12"/>
          <p:cNvSpPr txBox="1"/>
          <p:nvPr/>
        </p:nvSpPr>
        <p:spPr>
          <a:xfrm>
            <a:off x="863578" y="5257669"/>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[10] Morphies Law official site, morphieslaw.com/game.</a:t>
            </a:r>
            <a:endParaRPr lang="en-US" sz="950" dirty="0"/>
          </a:p>
        </p:txBody>
      </p:sp>
      <p:sp>
        <p:nvSpPr>
          <p:cNvPr id="14" name="text 25.13"/>
          <p:cNvSpPr txBox="1"/>
          <p:nvPr/>
        </p:nvSpPr>
        <p:spPr>
          <a:xfrm>
            <a:off x="863578" y="5651359"/>
            <a:ext cx="10515337" cy="337732"/>
          </a:xfrm>
          <a:prstGeom prst="rect">
            <a:avLst/>
          </a:prstGeom>
          <a:noFill/>
          <a:ln/>
        </p:spPr>
        <p:txBody>
          <a:bodyPr wrap="square" lIns="0" tIns="0" rIns="0" bIns="0" rtlCol="0" anchor="t"/>
          <a:lstStyle/>
          <a:p>
            <a:pPr algn="l" indent="0" marL="0">
              <a:lnSpc>
                <a:spcPts val="1330"/>
              </a:lnSpc>
              <a:buNone/>
            </a:pPr>
            <a:r>
              <a:rPr lang="en-US" sz="950" dirty="0">
                <a:solidFill>
                  <a:srgbClr val="6E7D9A"/>
                </a:solidFill>
                <a:latin typeface="Arial" pitchFamily="34" charset="0"/>
                <a:ea typeface="Arial" pitchFamily="34" charset="-122"/>
                <a:cs typeface="Arial" pitchFamily="34" charset="-120"/>
              </a:rPr>
              <a:t>Images: all game visuals are AI concept renders (GPT Image via Higgsfield; MiniMax H3) from our own reference art, except competitor screenshots (official Steam media). Logo and level drafts made for this proposal.</a:t>
            </a:r>
            <a:endParaRPr lang="en-US" sz="950" dirty="0"/>
          </a:p>
        </p:txBody>
      </p:sp>
      <p:sp>
        <p:nvSpPr>
          <p:cNvPr id="15" name="shape 25.14"/>
          <p:cNvSpPr/>
          <p:nvPr/>
        </p:nvSpPr>
        <p:spPr>
          <a:xfrm>
            <a:off x="609585" y="266693"/>
            <a:ext cx="987996"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6" name="shape 25.15"/>
          <p:cNvSpPr/>
          <p:nvPr/>
        </p:nvSpPr>
        <p:spPr>
          <a:xfrm>
            <a:off x="711182" y="355591"/>
            <a:ext cx="114297" cy="114297"/>
          </a:xfrm>
          <a:prstGeom prst="roundRect">
            <a:avLst>
              <a:gd name="adj" fmla="val 33333"/>
            </a:avLst>
          </a:prstGeom>
          <a:solidFill>
            <a:srgbClr val="1FA9EA"/>
          </a:solidFill>
          <a:ln/>
        </p:spPr>
      </p:sp>
      <p:sp>
        <p:nvSpPr>
          <p:cNvPr id="17" name="shape 25.16"/>
          <p:cNvSpPr/>
          <p:nvPr/>
        </p:nvSpPr>
        <p:spPr>
          <a:xfrm>
            <a:off x="9842254" y="266693"/>
            <a:ext cx="1841454" cy="292093"/>
          </a:xfrm>
          <a:prstGeom prst="roundRect">
            <a:avLst>
              <a:gd name="adj" fmla="val 50000"/>
            </a:avLst>
          </a:prstGeom>
          <a:solidFill>
            <a:srgbClr val="FFFFFF"/>
          </a:solidFill>
          <a:ln/>
          <a:effectLst>
            <a:outerShdw sx="100000" sy="100000" kx="0" ky="0" algn="bl" rotWithShape="0" blurRad="203200" dist="76200" dir="5400000">
              <a:srgbClr val="1E468C">
                <a:alpha val="16000"/>
              </a:srgbClr>
            </a:outerShdw>
          </a:effectLst>
        </p:spPr>
      </p:sp>
      <p:sp>
        <p:nvSpPr>
          <p:cNvPr id="18" name="shape 25.17"/>
          <p:cNvSpPr/>
          <p:nvPr/>
        </p:nvSpPr>
        <p:spPr>
          <a:xfrm>
            <a:off x="10058149" y="368291"/>
            <a:ext cx="101597" cy="101597"/>
          </a:xfrm>
          <a:prstGeom prst="roundRect">
            <a:avLst>
              <a:gd name="adj" fmla="val 31250"/>
            </a:avLst>
          </a:prstGeom>
          <a:solidFill>
            <a:srgbClr val="C7D4E8"/>
          </a:solidFill>
          <a:ln/>
        </p:spPr>
      </p:sp>
      <p:sp>
        <p:nvSpPr>
          <p:cNvPr id="19" name="shape 25.18"/>
          <p:cNvSpPr/>
          <p:nvPr/>
        </p:nvSpPr>
        <p:spPr>
          <a:xfrm>
            <a:off x="10223244" y="368291"/>
            <a:ext cx="101597" cy="101597"/>
          </a:xfrm>
          <a:prstGeom prst="roundRect">
            <a:avLst>
              <a:gd name="adj" fmla="val 31250"/>
            </a:avLst>
          </a:prstGeom>
          <a:solidFill>
            <a:srgbClr val="C7D4E8"/>
          </a:solidFill>
          <a:ln/>
        </p:spPr>
      </p:sp>
      <p:sp>
        <p:nvSpPr>
          <p:cNvPr id="20" name="shape 25.19"/>
          <p:cNvSpPr/>
          <p:nvPr/>
        </p:nvSpPr>
        <p:spPr>
          <a:xfrm>
            <a:off x="10388340" y="368291"/>
            <a:ext cx="101597" cy="101597"/>
          </a:xfrm>
          <a:prstGeom prst="roundRect">
            <a:avLst>
              <a:gd name="adj" fmla="val 31250"/>
            </a:avLst>
          </a:prstGeom>
          <a:solidFill>
            <a:srgbClr val="C7D4E8"/>
          </a:solidFill>
          <a:ln/>
        </p:spPr>
      </p:sp>
      <p:sp>
        <p:nvSpPr>
          <p:cNvPr id="21" name="shape 25.20"/>
          <p:cNvSpPr/>
          <p:nvPr/>
        </p:nvSpPr>
        <p:spPr>
          <a:xfrm>
            <a:off x="10553436" y="368291"/>
            <a:ext cx="101597" cy="101597"/>
          </a:xfrm>
          <a:prstGeom prst="roundRect">
            <a:avLst>
              <a:gd name="adj" fmla="val 31250"/>
            </a:avLst>
          </a:prstGeom>
          <a:solidFill>
            <a:srgbClr val="C7D4E8"/>
          </a:solidFill>
          <a:ln/>
        </p:spPr>
      </p:sp>
      <p:sp>
        <p:nvSpPr>
          <p:cNvPr id="22" name="shape 25.21"/>
          <p:cNvSpPr/>
          <p:nvPr/>
        </p:nvSpPr>
        <p:spPr>
          <a:xfrm>
            <a:off x="10718532" y="368291"/>
            <a:ext cx="101597" cy="101597"/>
          </a:xfrm>
          <a:prstGeom prst="roundRect">
            <a:avLst>
              <a:gd name="adj" fmla="val 31250"/>
            </a:avLst>
          </a:prstGeom>
          <a:solidFill>
            <a:srgbClr val="C7D4E8"/>
          </a:solidFill>
          <a:ln/>
        </p:spPr>
      </p:sp>
      <p:sp>
        <p:nvSpPr>
          <p:cNvPr id="23" name="shape 25.22"/>
          <p:cNvSpPr/>
          <p:nvPr/>
        </p:nvSpPr>
        <p:spPr>
          <a:xfrm>
            <a:off x="10883628" y="368291"/>
            <a:ext cx="101597" cy="101597"/>
          </a:xfrm>
          <a:prstGeom prst="roundRect">
            <a:avLst>
              <a:gd name="adj" fmla="val 31250"/>
            </a:avLst>
          </a:prstGeom>
          <a:solidFill>
            <a:srgbClr val="C7D4E8"/>
          </a:solidFill>
          <a:ln/>
        </p:spPr>
      </p:sp>
      <p:sp>
        <p:nvSpPr>
          <p:cNvPr id="24" name="text 25.2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25</a:t>
            </a:r>
            <a:endParaRPr lang="en-US" sz="1000" dirty="0"/>
          </a:p>
        </p:txBody>
      </p:sp>
      <p:sp>
        <p:nvSpPr>
          <p:cNvPr id="25" name="text 25.24"/>
          <p:cNvSpPr txBox="1"/>
          <p:nvPr/>
        </p:nvSpPr>
        <p:spPr>
          <a:xfrm>
            <a:off x="927077" y="349241"/>
            <a:ext cx="634883" cy="114297"/>
          </a:xfrm>
          <a:prstGeom prst="rect">
            <a:avLst/>
          </a:prstGeom>
          <a:noFill/>
          <a:ln/>
        </p:spPr>
        <p:txBody>
          <a:bodyPr wrap="square" lIns="0" tIns="0" rIns="0" bIns="0" rtlCol="0" anchor="t"/>
          <a:lstStyle/>
          <a:p>
            <a:pPr algn="l" indent="0" marL="0">
              <a:lnSpc>
                <a:spcPts val="900"/>
              </a:lnSpc>
              <a:buNone/>
            </a:pPr>
            <a:r>
              <a:rPr lang="en-US" sz="900" b="1" spc="18" kern="0" dirty="0">
                <a:solidFill>
                  <a:srgbClr val="16233F"/>
                </a:solidFill>
                <a:latin typeface="Arial" pitchFamily="34" charset="0"/>
                <a:ea typeface="Arial" pitchFamily="34" charset="-122"/>
                <a:cs typeface="Arial" pitchFamily="34" charset="-120"/>
              </a:rPr>
              <a:t>Appendix</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Rounded MT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2026-10-18T06:33:18Z</dcterms:created>
  <dcterms:modified xsi:type="dcterms:W3CDTF">2026-10-18T06:33:18Z</dcterms:modified>
</cp:coreProperties>
</file>