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ac01f4c-f74a-d915-05b2-ad334feb79de}">
          <p14:sldIdLst>
            <p14:sldId id="256"/>
            <p14:sldId id="257"/>
            <p14:sldId id="258"/>
          </p14:sldIdLst>
        </p14:section>
        <p14:section name="Mechanics" id="{c09c0d3c-e859-a3eb-f5ac-54a54b16906c}">
          <p14:sldIdLst>
            <p14:sldId id="259"/>
            <p14:sldId id="260"/>
            <p14:sldId id="261"/>
            <p14:sldId id="262"/>
            <p14:sldId id="263"/>
          </p14:sldIdLst>
        </p14:section>
        <p14:section name="Technology" id="{5b4522d9-e7c6-db5c-d372-340c8423e188}">
          <p14:sldIdLst>
            <p14:sldId id="264"/>
            <p14:sldId id="265"/>
          </p14:sldIdLst>
        </p14:section>
        <p14:section name="Market" id="{3bc32cf4-b782-20b4-d669-0e6d93fd5638}">
          <p14:sldIdLst>
            <p14:sldId id="266"/>
            <p14:sldId id="267"/>
            <p14:sldId id="268"/>
          </p14:sldIdLst>
        </p14:section>
        <p14:section name="Innovation" id="{3feef4cd-1b01-c9ec-4c29-193c45509050}">
          <p14:sldIdLst>
            <p14:sldId id="269"/>
            <p14:sldId id="270"/>
          </p14:sldIdLst>
        </p14:section>
        <p14:section name="Plan" id="{4b9fd7ca-9c33-9d3b-385f-594ef6376f59}">
          <p14:sldIdLst>
            <p14:sldId id="271"/>
          </p14:sldIdLst>
        </p14:section>
        <p14:section name="Drafts" id="{9fa87e5e-8114-c9f4-5d32-9d0bbbc62415}">
          <p14:sldIdLst>
            <p14:sldId id="272"/>
            <p14:sldId id="273"/>
          </p14:sldIdLst>
        </p14:section>
        <p14:section name="Appendix" id="{06d9cfd3-b4c7-2a51-d6ab-e29704efcc83}">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Knockback multiplier as a cube shrinks</a:t>
            </a:r>
          </a:p>
        </c:rich>
      </c:tx>
      <c:layout/>
      <c:overlay val="0"/>
    </c:title>
    <c:autoTitleDeleted val="0"/>
    <c:plotArea>
      <c:layout/>
      <c:lineChart>
        <c:varyColors val="0"/>
        <c:ser>
          <c:idx val="0"/>
          <c:order val="0"/>
          <c:tx>
            <c:strRef>
              <c:f>Sheet1!$B$1</c:f>
              <c:strCache>
                <c:ptCount val="1"/>
                <c:pt idx="0">
                  <c:v>Design target (linear)</c:v>
                </c:pt>
              </c:strCache>
            </c:strRef>
          </c:tx>
          <c:spPr>
            <a:solidFill>
              <a:srgbClr val="FF7A1A"/>
            </a:solidFill>
            <a:ln w="50800" cap="flat">
              <a:solidFill>
                <a:srgbClr val="FF7A1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FF7A1A"/>
              </a:solidFill>
              <a:ln w="9525" cap="flat">
                <a:solidFill>
                  <a:srgbClr val="FF7A1A"/>
                </a:solidFill>
                <a:prstDash val="solid"/>
                <a:round/>
              </a:ln>
              <a:effectLst/>
            </c:spPr>
          </c:marker>
          <c:cat>
            <c:multiLvlStrRef>
              <c:f>Sheet1!$A$2:$A$9</c:f>
              <c:multiLvlStrCache>
                <c:ptCount val="8"/>
                <c:lvl>
                  <c:pt idx="0">
                    <c:v>1.00</c:v>
                  </c:pt>
                  <c:pt idx="1">
                    <c:v>0.95</c:v>
                  </c:pt>
                  <c:pt idx="2">
                    <c:v>0.90</c:v>
                  </c:pt>
                  <c:pt idx="3">
                    <c:v>0.85</c:v>
                  </c:pt>
                  <c:pt idx="4">
                    <c:v>0.80</c:v>
                  </c:pt>
                  <c:pt idx="5">
                    <c:v>0.75</c:v>
                  </c:pt>
                  <c:pt idx="6">
                    <c:v>0.70</c:v>
                  </c:pt>
                  <c:pt idx="7">
                    <c:v>0.65</c:v>
                  </c:pt>
                </c:lvl>
              </c:multiLvlStrCache>
            </c:multiLvlStrRef>
          </c:cat>
          <c:val>
            <c:numRef>
              <c:f>Sheet1!$B$2:$B$9</c:f>
              <c:numCache>
                <c:formatCode>General</c:formatCode>
                <c:ptCount val="8"/>
                <c:pt idx="0">
                  <c:v>1</c:v>
                </c:pt>
                <c:pt idx="1">
                  <c:v>1.1</c:v>
                </c:pt>
                <c:pt idx="2">
                  <c:v>1.2</c:v>
                </c:pt>
                <c:pt idx="3">
                  <c:v>1.3</c:v>
                </c:pt>
                <c:pt idx="4">
                  <c:v>1.4</c:v>
                </c:pt>
                <c:pt idx="5">
                  <c:v>1.5</c:v>
                </c:pt>
                <c:pt idx="6">
                  <c:v>1.6</c:v>
                </c:pt>
                <c:pt idx="7">
                  <c:v>1.7</c:v>
                </c:pt>
              </c:numCache>
            </c:numRef>
          </c:val>
          <c:smooth val="0"/>
        </c:ser>
        <c:ser>
          <c:idx val="1"/>
          <c:order val="1"/>
          <c:tx>
            <c:strRef>
              <c:f>Sheet1!$C$1</c:f>
              <c:strCache>
                <c:ptCount val="1"/>
                <c:pt idx="0">
                  <c:v>Pure physics (1 / size³)</c:v>
                </c:pt>
              </c:strCache>
            </c:strRef>
          </c:tx>
          <c:spPr>
            <a:solidFill>
              <a:srgbClr val="8B4FE3"/>
            </a:solidFill>
            <a:ln w="50800" cap="flat">
              <a:solidFill>
                <a:srgbClr val="8B4FE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8B4FE3"/>
              </a:solidFill>
              <a:ln w="9525" cap="flat">
                <a:solidFill>
                  <a:srgbClr val="8B4FE3"/>
                </a:solidFill>
                <a:prstDash val="solid"/>
                <a:round/>
              </a:ln>
              <a:effectLst/>
            </c:spPr>
          </c:marker>
          <c:cat>
            <c:multiLvlStrRef>
              <c:f>Sheet1!$A$2:$A$9</c:f>
              <c:multiLvlStrCache>
                <c:ptCount val="8"/>
                <c:lvl>
                  <c:pt idx="0">
                    <c:v>1.00</c:v>
                  </c:pt>
                  <c:pt idx="1">
                    <c:v>0.95</c:v>
                  </c:pt>
                  <c:pt idx="2">
                    <c:v>0.90</c:v>
                  </c:pt>
                  <c:pt idx="3">
                    <c:v>0.85</c:v>
                  </c:pt>
                  <c:pt idx="4">
                    <c:v>0.80</c:v>
                  </c:pt>
                  <c:pt idx="5">
                    <c:v>0.75</c:v>
                  </c:pt>
                  <c:pt idx="6">
                    <c:v>0.70</c:v>
                  </c:pt>
                  <c:pt idx="7">
                    <c:v>0.65</c:v>
                  </c:pt>
                </c:lvl>
              </c:multiLvlStrCache>
            </c:multiLvlStrRef>
          </c:cat>
          <c:val>
            <c:numRef>
              <c:f>Sheet1!$C$2:$C$9</c:f>
              <c:numCache>
                <c:formatCode>General</c:formatCode>
                <c:ptCount val="8"/>
                <c:pt idx="0">
                  <c:v>1</c:v>
                </c:pt>
                <c:pt idx="1">
                  <c:v>1.17</c:v>
                </c:pt>
                <c:pt idx="2">
                  <c:v>1.37</c:v>
                </c:pt>
                <c:pt idx="3">
                  <c:v>1.63</c:v>
                </c:pt>
                <c:pt idx="4">
                  <c:v>1.95</c:v>
                </c:pt>
                <c:pt idx="5">
                  <c:v>2.37</c:v>
                </c:pt>
                <c:pt idx="6">
                  <c:v>2.92</c:v>
                </c:pt>
                <c:pt idx="7">
                  <c:v>3.64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A9C4EE"/>
                    </a:solidFill>
                    <a:latin typeface="+mn-lt"/>
                  </a:defRPr>
                </a:pPr>
                <a:r>
                  <a:rPr sz="1200" b="0" i="0" u="none" strike="noStrike">
                    <a:solidFill>
                      <a:srgbClr val="A9C4EE"/>
                    </a:solidFill>
                    <a:latin typeface="+mn-lt"/>
                  </a:rPr>
                  <a:t>Body size (1.00 = full)</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9C4EE"/>
                </a:solidFill>
                <a:latin typeface="+mn-lt"/>
              </a:defRPr>
            </a:pPr>
            <a:endParaRPr lang="en-US"/>
          </a:p>
        </c:txPr>
        <c:crossAx val="2094734552"/>
        <c:crosses val="autoZero"/>
        <c:auto val="1"/>
        <c:lblAlgn val="ctr"/>
        <c:noMultiLvlLbl val="1"/>
      </c:catAx>
      <c:valAx>
        <c:axId val="2094734552"/>
        <c:scaling>
          <c:orientation val="minMax"/>
          <c:max val="4"/>
          <c:min val="1"/>
        </c:scaling>
        <c:delete val="0"/>
        <c:axPos val="l"/>
        <c:majorGridlines>
          <c:spPr>
            <a:ln w="9525" cap="flat">
              <a:solidFill>
                <a:srgbClr val="2A4C9E"/>
              </a:solidFill>
              <a:prstDash val="solid"/>
              <a:round/>
            </a:ln>
          </c:spPr>
        </c:majorGridlines>
        <c:title>
          <c:tx>
            <c:rich>
              <a:bodyPr/>
              <a:lstStyle/>
              <a:p>
                <a:pPr>
                  <a:defRPr sz="1200" b="0" i="0" u="none" strike="noStrike">
                    <a:solidFill>
                      <a:srgbClr val="A9C4EE"/>
                    </a:solidFill>
                    <a:latin typeface="+mn-lt"/>
                  </a:defRPr>
                </a:pPr>
                <a:r>
                  <a:rPr sz="1200" b="0" i="0" u="none" strike="noStrike">
                    <a:solidFill>
                      <a:srgbClr val="A9C4EE"/>
                    </a:solidFill>
                    <a:latin typeface="+mn-lt"/>
                  </a:rPr>
                  <a:t>Knockback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C4EE"/>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FFFFF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Steam games with the Party Game tag, by multiplayer mode (≈3,490 total)</a:t>
            </a:r>
          </a:p>
        </c:rich>
      </c:tx>
      <c:layout/>
      <c:overlay val="0"/>
    </c:title>
    <c:autoTitleDeleted val="0"/>
    <c:plotArea>
      <c:layout/>
      <c:barChart>
        <c:barDir val="bar"/>
        <c:grouping val="clustered"/>
        <c:varyColors val="0"/>
        <c:ser>
          <c:idx val="0"/>
          <c:order val="0"/>
          <c:tx>
            <c:strRef>
              <c:f>Sheet1!$B$1</c:f>
              <c:strCache>
                <c:ptCount val="1"/>
                <c:pt idx="0">
                  <c:v>Steam games tagged Party Game</c:v>
                </c:pt>
              </c:strCache>
            </c:strRef>
          </c:tx>
          <c:spPr>
            <a:solidFill>
              <a:srgbClr val="27B8F0"/>
            </a:solidFill>
            <a:effectLst/>
          </c:spPr>
          <c:invertIfNegative val="0"/>
          <c:dLbls>
            <c:numFmt formatCode="#,##0"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27B8F0"/>
              </a:solidFill>
              <a:effectLst/>
            </c:spPr>
          </c:dPt>
          <c:dPt>
            <c:idx val="1"/>
            <c:invertIfNegative val="0"/>
            <c:bubble3D val="0"/>
            <c:spPr>
              <a:solidFill>
                <a:srgbClr val="8B4FE3"/>
              </a:solidFill>
              <a:effectLst/>
            </c:spPr>
          </c:dPt>
          <c:dPt>
            <c:idx val="2"/>
            <c:invertIfNegative val="0"/>
            <c:bubble3D val="0"/>
            <c:spPr>
              <a:solidFill>
                <a:srgbClr val="FF7A1A"/>
              </a:solidFill>
              <a:effectLst/>
            </c:spPr>
          </c:dPt>
          <c:cat>
            <c:multiLvlStrRef>
              <c:f>Sheet1!$A$2:$A$4</c:f>
              <c:multiLvlStrCache>
                <c:ptCount val="3"/>
                <c:lvl>
                  <c:pt idx="0">
                    <c:v>Online PvP</c:v>
                  </c:pt>
                  <c:pt idx="1">
                    <c:v>Shared / split-screen PvP</c:v>
                  </c:pt>
                  <c:pt idx="2">
                    <c:v>LAN PvP</c:v>
                  </c:pt>
                </c:lvl>
              </c:multiLvlStrCache>
            </c:multiLvlStrRef>
          </c:cat>
          <c:val>
            <c:numRef>
              <c:f>Sheet1!$B$2:$B$4</c:f>
              <c:numCache>
                <c:formatCode>General</c:formatCode>
                <c:ptCount val="3"/>
                <c:pt idx="0">
                  <c:v>1870</c:v>
                </c:pt>
                <c:pt idx="1">
                  <c:v>1017</c:v>
                </c:pt>
                <c:pt idx="2">
                  <c:v>292</c:v>
                </c:pt>
              </c:numCache>
            </c:numRef>
          </c:val>
        </c:ser>
        <c:dLbls>
          <c:numFmt formatCode="#,##0"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FFFFFF"/>
                </a:solidFill>
                <a:latin typeface="+mn-lt"/>
              </a:defRPr>
            </a:pPr>
            <a:endParaRPr lang="en-US"/>
          </a:p>
        </c:txPr>
        <c:crossAx val="2094734552"/>
        <c:crosses val="autoZero"/>
        <c:auto val="1"/>
        <c:lblAlgn val="ctr"/>
        <c:noMultiLvlLbl val="1"/>
      </c:catAx>
      <c:valAx>
        <c:axId val="2094734552"/>
        <c:scaling>
          <c:orientation val="minMax"/>
          <c:max val="22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Intro. We are team of four. Working title Ice Rumble. One line: a LAN party game where everything you throw is a piece of you. All imagery in this deck is AI-generated concept art or simulation — we label it as such. Nothing here is recorded gameplay from a finished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The hook. In Smash, damage is an abstract percentage. Here it is physical: shooting costs you body mass, getting hit costs you body mass, and lighter bodies fly further. One rule explains the whole game. Read the five frames left to right: full size, gather, spit, fly, lighter.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How it plays in plain words. Someone hosts, friends join on the same network, rounds are short, placements become points, standings show after every round. Points are proposed and will be tuned in playtests. Sample standings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The cast. Four identical bodies in four colors. Identical on purpose: no class balance to tune, skill decides. Size runs from 1.0 down to a floor of 0.65 so nobody disappears.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The one verb. Throwing costs eight percent of your size; being hit costs twelve; and the lighter you are, the further a hit sends you. All numbers are starting points. Inspirations: Smash for the knockback feel, Osmos and Agar.io for ejecting mass as an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Visual engineering slide. Orange line: our design target, knockback rises from 1.0 to 1.7 as you shrink to the 0.65 floor. Purple line: pure physics, knockback scaling with one over size cubed, would reach 3.6 — snowballs and feels bad. We tune for fun, not realism, and reset size each round to stop snowballing. These are design targets, not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Mini-game one. A single flat platform with no walls. You throw chunks of your own body. Be upfront about the risk: if throwing makes you smaller, standing back and waiting could be optimal, so we reward knockouts, keep rounds short and will playtest. The video is an AI visualization of the intended rule, not a capture from a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Mini-game two. The challenge is momentum: input accelerates, it does not set velocity, so cubes drift. No weapons here, the same character just feels different. The prototype track is deliberately tiny: a handful of box segments and two 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Technology. Think of the project as a stack. Bottom: LAN networking. Middle: the shared core, one character, input, camera, round state machine, scoreboard. Top: mini-games as thin modules with their own tuning. That is why two polished mini-games is realistic and a third is a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Networking. One player is the host and runs the authoritative simulation; others send inputs and render what the host says. No dedicated server and no online play. Two to four players keeps bandwidth trivial. The real risk is physics drifting across machines, so we prototype that first. We plan to use Unity networking (Netcode for GameObjects is the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Market. Co-op and social games set a record on Steam: 4.1 billion dollars in the first half of 2025. 89 percent of Gen Z have played with others, and over half of play time is Friday to Sunday: this is a game-night game. Core audience: friend groups on PC and the people who host game nights. Caveat to say out loud: Steam is winner-take-all, the median 2026 game earned about 1.7 thousand dollars, so our goal for the course is a complete polished experience, not a commercial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Of about 3,490 Steam games tagged party game, only around 292 list LAN PvP — 8 percent. Most are online-first. That is a gap for classroom, dorm and club use, where everyone is in one room and nobody wants accounts or lag. We are honest that most buyers do not rank offline play first, so LAN is a differentiator, not the entire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Four comparables on look, mechanic, how you play, and the money. Fall Guys: huge but online only and elimination leaves most people watching. Party Animals: cute and brutal but needs internet. Gang Beasts: wobble comedy, melee only. Smash: the knockback reference, but Switch-only and not a party scoreboard. Be clear that sales figures marked est. are third-party estimates. We also examined Pummel Party, Ultimate Chicken Horse, Stick Fight and Mario Party Jamboree — details in the appendix and research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The innovation slide. We do not claim any single idea is brand new. Smash has damage-as-knockback, Splatoon has one verb across modes, Duck Game has LAN. The defensible claim is the combination — and the specific twist that your ammunition is your own body, so attack and vulnerability are the same resource. Be precise and honest; it makes the claim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Scope discipline. MVP is Mass Knockout and Ice Race. Spot Grab came from our first brainstorm and is a stretch. The explore ideas are ways to fix the snowball risk or deepen the mechanic; we will only keep what playtests justify.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Plan and risks. Four milestones, in the order that retires risk first: foundation and LAN, then the simpler game, then the harder game, then rounds and polish. Dates, owners and the Gantt chart are TBD until the course schedule is fixed. Name the four risks and our answer to each; the first one is the design risk we most want feedback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What exists. We built a deterministic physics blockout so the rule chain — spit, recoil, hit, shrink, knockback, ring-out — is checked before any art. We also have concept art for the characters and both arenas, and a playbook of game-feel rules from six VFX tutorials. State plainly: concept visuals are AI-generated and are not gameplay; the blockout is a simulation, not our Unity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Close. Recap: one rule, your ammo is your body, that makes a whole party game. Two polished mini-games on a LAN. Invite questions; the open items we would like feedback on are the snowball risk and whether two mini-games is the right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Backup for questions on numbers. Full source URLs are in projects/proposal/research/market-research.md.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R_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400800"/>
            <a:ext cx="5943600" cy="256032"/>
          </a:xfrm>
          <a:prstGeom prst="rect">
            <a:avLst/>
          </a:prstGeom>
          <a:noFill/>
          <a:ln/>
        </p:spPr>
        <p:txBody>
          <a:bodyPr wrap="square" lIns="0" tIns="0" rIns="0" bIns="0" rtlCol="0" anchor="ctr"/>
          <a:lstStyle/>
          <a:p>
            <a:pPr indent="0" marL="0">
              <a:buNone/>
            </a:pPr>
            <a:r>
              <a:rPr lang="en-US" sz="1000" dirty="0">
                <a:solidFill>
                  <a:srgbClr val="A9C4EE"/>
                </a:solidFill>
                <a:latin typeface="Calibri" pitchFamily="34" charset="0"/>
                <a:ea typeface="Calibri" pitchFamily="34" charset="-122"/>
                <a:cs typeface="Calibri" pitchFamily="34" charset="-120"/>
              </a:rPr>
              <a:t>ICE RUMBLE  ·  Project Proposal  ·  CMP406 GameTech F26</a:t>
            </a:r>
            <a:endParaRPr lang="en-US" sz="1000" dirty="0"/>
          </a:p>
        </p:txBody>
      </p:sp>
      <p:sp>
        <p:nvSpPr>
          <p:cNvPr id="3" name="Text 1"/>
          <p:cNvSpPr/>
          <p:nvPr>
            <p:ph idx="105" type="title" hasCustomPrompt="1"/>
          </p:nvPr>
        </p:nvSpPr>
        <p:spPr>
          <a:xfrm>
            <a:off x="548640" y="713232"/>
            <a:ext cx="11094415" cy="914400"/>
          </a:xfrm>
          <a:prstGeom prst="rect">
            <a:avLst/>
          </a:prstGeom>
          <a:noFill/>
          <a:ln/>
        </p:spPr>
        <p:txBody>
          <a:bodyPr wrap="square" rtlCol="0"/>
          <a:lstStyle>
            <a:lvl1pPr algn="l" indent="0" marL="0">
              <a:buNone/>
              <a:defRPr lang="en-US" sz="3600" b="1" dirty="0">
                <a:solidFill>
                  <a:schemeClr val="bg1"/>
                </a:solidFill>
                <a:latin typeface="Georgia" pitchFamily="34" charset="0"/>
                <a:ea typeface="Georgia" pitchFamily="34" charset="-122"/>
                <a:cs typeface="Georg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4E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R_LIGH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00800"/>
            <a:ext cx="5943600" cy="256032"/>
          </a:xfrm>
          <a:prstGeom prst="rect">
            <a:avLst/>
          </a:prstGeom>
          <a:noFill/>
          <a:ln/>
        </p:spPr>
        <p:txBody>
          <a:bodyPr wrap="square" lIns="0" tIns="0" rIns="0" bIns="0" rtlCol="0" anchor="ctr"/>
          <a:lstStyle/>
          <a:p>
            <a:pPr indent="0" marL="0">
              <a:buNone/>
            </a:pPr>
            <a:r>
              <a:rPr lang="en-US" sz="1000" dirty="0">
                <a:solidFill>
                  <a:srgbClr val="4A5F8A"/>
                </a:solidFill>
                <a:latin typeface="Calibri" pitchFamily="34" charset="0"/>
                <a:ea typeface="Calibri" pitchFamily="34" charset="-122"/>
                <a:cs typeface="Calibri" pitchFamily="34" charset="-120"/>
              </a:rPr>
              <a:t>ICE RUMBLE  ·  Project Proposal  ·  CMP406 GameTech F26</a:t>
            </a:r>
            <a:endParaRPr lang="en-US" sz="1000" dirty="0"/>
          </a:p>
        </p:txBody>
      </p:sp>
      <p:sp>
        <p:nvSpPr>
          <p:cNvPr id="3" name="Text 1"/>
          <p:cNvSpPr/>
          <p:nvPr>
            <p:ph idx="105" type="title" hasCustomPrompt="1"/>
          </p:nvPr>
        </p:nvSpPr>
        <p:spPr>
          <a:xfrm>
            <a:off x="548640" y="713232"/>
            <a:ext cx="11094415" cy="914400"/>
          </a:xfrm>
          <a:prstGeom prst="rect">
            <a:avLst/>
          </a:prstGeom>
          <a:noFill/>
          <a:ln/>
        </p:spPr>
        <p:txBody>
          <a:bodyPr wrap="square" rtlCol="0"/>
          <a:lstStyle>
            <a:lvl1pPr algn="l" indent="0" marL="0">
              <a:buNone/>
              <a:defRPr lang="en-US" sz="3600" b="1" dirty="0">
                <a:solidFill>
                  <a:schemeClr val="tx1"/>
                </a:solidFill>
                <a:latin typeface="Georgia" pitchFamily="34" charset="0"/>
                <a:ea typeface="Georgia" pitchFamily="34" charset="-122"/>
                <a:cs typeface="Georg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F8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R_FULL">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4E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video" Target="../media/media-17-1.mp4"/><Relationship Id="rId2" Type="http://schemas.microsoft.com/office/2007/relationships/media" Target="../media/media-17-1.mp4"/><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image" descr="Concept visual: an orange cube spits a piece of itself at a cyan cube on an ice platform">    </p:cNvPr>
          <p:cNvPicPr>
            <a:picLocks noChangeAspect="1"/>
          </p:cNvPicPr>
          <p:nvPr/>
        </p:nvPicPr>
        <p:blipFill>
          <a:blip r:embed="rId1"/>
          <a:srcRect l="0" r="0" t="0" b="0"/>
          <a:stretch/>
        </p:blipFill>
        <p:spPr>
          <a:xfrm>
            <a:off x="5394960" y="0"/>
            <a:ext cx="6796735" cy="6858000"/>
          </a:xfrm>
          <a:prstGeom prst="rect">
            <a:avLst/>
          </a:prstGeom>
        </p:spPr>
      </p:pic>
      <p:sp>
        <p:nvSpPr>
          <p:cNvPr id="3" name="Cover panel"/>
          <p:cNvSpPr/>
          <p:nvPr/>
        </p:nvSpPr>
        <p:spPr>
          <a:xfrm>
            <a:off x="0" y="0"/>
            <a:ext cx="5669280" cy="6858000"/>
          </a:xfrm>
          <a:prstGeom prst="rect">
            <a:avLst/>
          </a:prstGeom>
          <a:solidFill>
            <a:schemeClr val="tx1"/>
          </a:solidFill>
          <a:ln w="12700">
            <a:solidFill>
              <a:schemeClr val="tx1"/>
            </a:solidFill>
            <a:prstDash val="solid"/>
          </a:ln>
        </p:spPr>
      </p:sp>
      <p:sp>
        <p:nvSpPr>
          <p:cNvPr id="4" name="Text 1"/>
          <p:cNvSpPr txBox="1"/>
          <p:nvPr/>
        </p:nvSpPr>
        <p:spPr>
          <a:xfrm>
            <a:off x="548640" y="502920"/>
            <a:ext cx="475488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CMP406 · GAMETECH F26 · PROJECT PROPOSAL</a:t>
            </a:r>
            <a:endParaRPr lang="en-US" sz="1200" dirty="0"/>
          </a:p>
        </p:txBody>
      </p:sp>
      <p:sp>
        <p:nvSpPr>
          <p:cNvPr id="5" name="Title"/>
          <p:cNvSpPr txBox="1"/>
          <p:nvPr/>
        </p:nvSpPr>
        <p:spPr>
          <a:xfrm>
            <a:off x="548640" y="1051560"/>
            <a:ext cx="4937760" cy="2651760"/>
          </a:xfrm>
          <a:prstGeom prst="rect">
            <a:avLst/>
          </a:prstGeom>
          <a:noFill/>
          <a:ln/>
        </p:spPr>
        <p:txBody>
          <a:bodyPr wrap="square" lIns="0" tIns="0" rIns="0" bIns="0" rtlCol="0" anchor="t"/>
          <a:lstStyle/>
          <a:p>
            <a:pPr indent="0" marL="0">
              <a:lnSpc>
                <a:spcPct val="90000"/>
              </a:lnSpc>
              <a:buNone/>
            </a:pPr>
            <a:r>
              <a:rPr lang="en-US" sz="8800" b="1" dirty="0">
                <a:solidFill>
                  <a:schemeClr val="bg1"/>
                </a:solidFill>
                <a:latin typeface="Georgia" pitchFamily="34" charset="0"/>
                <a:ea typeface="Georgia" pitchFamily="34" charset="-122"/>
                <a:cs typeface="Georgia" pitchFamily="34" charset="-120"/>
              </a:rPr>
              <a:t>Ice</a:t>
            </a:r>
            <a:endParaRPr lang="en-US" sz="8800" dirty="0"/>
          </a:p>
          <a:p>
            <a:pPr indent="0" marL="0">
              <a:lnSpc>
                <a:spcPct val="90000"/>
              </a:lnSpc>
              <a:buNone/>
            </a:pPr>
            <a:r>
              <a:rPr lang="en-US" sz="8800" b="1" i="1" dirty="0">
                <a:solidFill>
                  <a:schemeClr val="accent1"/>
                </a:solidFill>
                <a:latin typeface="Georgia" pitchFamily="34" charset="0"/>
                <a:ea typeface="Georgia" pitchFamily="34" charset="-122"/>
                <a:cs typeface="Georgia" pitchFamily="34" charset="-120"/>
              </a:rPr>
              <a:t>Rumble</a:t>
            </a:r>
            <a:endParaRPr lang="en-US" sz="8800" dirty="0"/>
          </a:p>
        </p:txBody>
      </p:sp>
      <p:sp>
        <p:nvSpPr>
          <p:cNvPr id="6" name="Text 3"/>
          <p:cNvSpPr txBox="1"/>
          <p:nvPr/>
        </p:nvSpPr>
        <p:spPr>
          <a:xfrm>
            <a:off x="548640" y="3703320"/>
            <a:ext cx="1554480" cy="292608"/>
          </a:xfrm>
          <a:prstGeom prst="rect">
            <a:avLst/>
          </a:prstGeom>
          <a:solidFill>
            <a:schemeClr val="accent6"/>
          </a:solidFill>
          <a:ln/>
        </p:spPr>
        <p:txBody>
          <a:bodyPr wrap="square" lIns="0" tIns="0" rIns="0" bIns="0" rtlCol="0" anchor="ctr"/>
          <a:lstStyle/>
          <a:p>
            <a:pPr algn="ctr" indent="0" marL="0">
              <a:buNone/>
            </a:pPr>
            <a:r>
              <a:rPr lang="en-US" sz="1000" b="1" spc="300" kern="0" dirty="0">
                <a:solidFill>
                  <a:schemeClr val="tx1"/>
                </a:solidFill>
                <a:latin typeface="Calibri" pitchFamily="34" charset="0"/>
                <a:ea typeface="Calibri" pitchFamily="34" charset="-122"/>
                <a:cs typeface="Calibri" pitchFamily="34" charset="-120"/>
              </a:rPr>
              <a:t>WORKING TITLE</a:t>
            </a:r>
            <a:endParaRPr lang="en-US" sz="1000" dirty="0"/>
          </a:p>
        </p:txBody>
      </p:sp>
      <p:sp>
        <p:nvSpPr>
          <p:cNvPr id="7" name="Text 4"/>
          <p:cNvSpPr txBox="1"/>
          <p:nvPr/>
        </p:nvSpPr>
        <p:spPr>
          <a:xfrm>
            <a:off x="548640" y="4160520"/>
            <a:ext cx="4663440" cy="914400"/>
          </a:xfrm>
          <a:prstGeom prst="rect">
            <a:avLst/>
          </a:prstGeom>
          <a:noFill/>
          <a:ln/>
        </p:spPr>
        <p:txBody>
          <a:bodyPr wrap="square" lIns="0" tIns="0" rIns="0" bIns="0" rtlCol="0" anchor="t"/>
          <a:lstStyle/>
          <a:p>
            <a:pPr indent="0" marL="0">
              <a:buNone/>
            </a:pPr>
            <a:r>
              <a:rPr lang="en-US" sz="2000" i="1" dirty="0">
                <a:solidFill>
                  <a:schemeClr val="bg1"/>
                </a:solidFill>
                <a:latin typeface="Georgia" pitchFamily="34" charset="0"/>
                <a:ea typeface="Georgia" pitchFamily="34" charset="-122"/>
                <a:cs typeface="Georgia" pitchFamily="34" charset="-120"/>
              </a:rPr>
              <a:t>A LAN party game where everything you throw is a piece of you.</a:t>
            </a:r>
            <a:endParaRPr lang="en-US" sz="2000" dirty="0"/>
          </a:p>
        </p:txBody>
      </p:sp>
      <p:sp>
        <p:nvSpPr>
          <p:cNvPr id="8" name="Text 5"/>
          <p:cNvSpPr txBox="1"/>
          <p:nvPr/>
        </p:nvSpPr>
        <p:spPr>
          <a:xfrm>
            <a:off x="548640" y="5440680"/>
            <a:ext cx="2423160" cy="457200"/>
          </a:xfrm>
          <a:prstGeom prst="rect">
            <a:avLst/>
          </a:prstGeom>
          <a:noFill/>
          <a:ln/>
        </p:spPr>
        <p:txBody>
          <a:bodyPr wrap="square" lIns="0" tIns="0" rIns="0" bIns="0" rtlCol="0" anchor="t"/>
          <a:lstStyle/>
          <a:p>
            <a:pPr indent="0" marL="0">
              <a:buNone/>
            </a:pPr>
            <a:r>
              <a:rPr lang="en-US" sz="1300" b="1" dirty="0">
                <a:solidFill>
                  <a:schemeClr val="bg1"/>
                </a:solidFill>
                <a:latin typeface="Calibri" pitchFamily="34" charset="0"/>
                <a:ea typeface="Calibri" pitchFamily="34" charset="-122"/>
                <a:cs typeface="Calibri" pitchFamily="34" charset="-120"/>
              </a:rPr>
              <a:t>Ezel Bayraktar</a:t>
            </a:r>
            <a:endParaRPr lang="en-US" sz="1300" dirty="0"/>
          </a:p>
          <a:p>
            <a:pPr indent="0" marL="0">
              <a:buNone/>
            </a:pPr>
            <a:r>
              <a:rPr lang="en-US" sz="1100" dirty="0">
                <a:solidFill>
                  <a:srgbClr val="A9C4EE"/>
                </a:solidFill>
                <a:latin typeface="Calibri" pitchFamily="34" charset="0"/>
                <a:ea typeface="Calibri" pitchFamily="34" charset="-122"/>
                <a:cs typeface="Calibri" pitchFamily="34" charset="-120"/>
              </a:rPr>
              <a:t>2220356197</a:t>
            </a:r>
            <a:endParaRPr lang="en-US" sz="1300" dirty="0"/>
          </a:p>
        </p:txBody>
      </p:sp>
      <p:sp>
        <p:nvSpPr>
          <p:cNvPr id="9" name="Text 6"/>
          <p:cNvSpPr txBox="1"/>
          <p:nvPr/>
        </p:nvSpPr>
        <p:spPr>
          <a:xfrm>
            <a:off x="3063240" y="5440680"/>
            <a:ext cx="2423160" cy="457200"/>
          </a:xfrm>
          <a:prstGeom prst="rect">
            <a:avLst/>
          </a:prstGeom>
          <a:noFill/>
          <a:ln/>
        </p:spPr>
        <p:txBody>
          <a:bodyPr wrap="square" lIns="0" tIns="0" rIns="0" bIns="0" rtlCol="0" anchor="t"/>
          <a:lstStyle/>
          <a:p>
            <a:pPr indent="0" marL="0">
              <a:buNone/>
            </a:pPr>
            <a:r>
              <a:rPr lang="en-US" sz="1300" b="1" dirty="0">
                <a:solidFill>
                  <a:schemeClr val="bg1"/>
                </a:solidFill>
                <a:latin typeface="Calibri" pitchFamily="34" charset="0"/>
                <a:ea typeface="Calibri" pitchFamily="34" charset="-122"/>
                <a:cs typeface="Calibri" pitchFamily="34" charset="-120"/>
              </a:rPr>
              <a:t>Abdurrahim Özağaç</a:t>
            </a:r>
            <a:endParaRPr lang="en-US" sz="1300" dirty="0"/>
          </a:p>
          <a:p>
            <a:pPr indent="0" marL="0">
              <a:buNone/>
            </a:pPr>
            <a:r>
              <a:rPr lang="en-US" sz="1100" dirty="0">
                <a:solidFill>
                  <a:srgbClr val="A9C4EE"/>
                </a:solidFill>
                <a:latin typeface="Calibri" pitchFamily="34" charset="0"/>
                <a:ea typeface="Calibri" pitchFamily="34" charset="-122"/>
                <a:cs typeface="Calibri" pitchFamily="34" charset="-120"/>
              </a:rPr>
              <a:t>2220356033</a:t>
            </a:r>
            <a:endParaRPr lang="en-US" sz="1300" dirty="0"/>
          </a:p>
        </p:txBody>
      </p:sp>
      <p:sp>
        <p:nvSpPr>
          <p:cNvPr id="10" name="Text 7"/>
          <p:cNvSpPr txBox="1"/>
          <p:nvPr/>
        </p:nvSpPr>
        <p:spPr>
          <a:xfrm>
            <a:off x="548640" y="5943600"/>
            <a:ext cx="2423160" cy="457200"/>
          </a:xfrm>
          <a:prstGeom prst="rect">
            <a:avLst/>
          </a:prstGeom>
          <a:noFill/>
          <a:ln/>
        </p:spPr>
        <p:txBody>
          <a:bodyPr wrap="square" lIns="0" tIns="0" rIns="0" bIns="0" rtlCol="0" anchor="t"/>
          <a:lstStyle/>
          <a:p>
            <a:pPr indent="0" marL="0">
              <a:buNone/>
            </a:pPr>
            <a:r>
              <a:rPr lang="en-US" sz="1300" b="1" dirty="0">
                <a:solidFill>
                  <a:schemeClr val="bg1"/>
                </a:solidFill>
                <a:latin typeface="Calibri" pitchFamily="34" charset="0"/>
                <a:ea typeface="Calibri" pitchFamily="34" charset="-122"/>
                <a:cs typeface="Calibri" pitchFamily="34" charset="-120"/>
              </a:rPr>
              <a:t>Kürşat Hürkan Aydın</a:t>
            </a:r>
            <a:endParaRPr lang="en-US" sz="1300" dirty="0"/>
          </a:p>
          <a:p>
            <a:pPr indent="0" marL="0">
              <a:buNone/>
            </a:pPr>
            <a:r>
              <a:rPr lang="en-US" sz="1100" dirty="0">
                <a:solidFill>
                  <a:srgbClr val="A9C4EE"/>
                </a:solidFill>
                <a:latin typeface="Calibri" pitchFamily="34" charset="0"/>
                <a:ea typeface="Calibri" pitchFamily="34" charset="-122"/>
                <a:cs typeface="Calibri" pitchFamily="34" charset="-120"/>
              </a:rPr>
              <a:t>2230356008</a:t>
            </a:r>
            <a:endParaRPr lang="en-US" sz="1300" dirty="0"/>
          </a:p>
        </p:txBody>
      </p:sp>
      <p:sp>
        <p:nvSpPr>
          <p:cNvPr id="11" name="Text 8"/>
          <p:cNvSpPr txBox="1"/>
          <p:nvPr/>
        </p:nvSpPr>
        <p:spPr>
          <a:xfrm>
            <a:off x="3063240" y="5943600"/>
            <a:ext cx="2423160" cy="457200"/>
          </a:xfrm>
          <a:prstGeom prst="rect">
            <a:avLst/>
          </a:prstGeom>
          <a:noFill/>
          <a:ln/>
        </p:spPr>
        <p:txBody>
          <a:bodyPr wrap="square" lIns="0" tIns="0" rIns="0" bIns="0" rtlCol="0" anchor="t"/>
          <a:lstStyle/>
          <a:p>
            <a:pPr indent="0" marL="0">
              <a:buNone/>
            </a:pPr>
            <a:r>
              <a:rPr lang="en-US" sz="1300" b="1" dirty="0">
                <a:solidFill>
                  <a:schemeClr val="bg1"/>
                </a:solidFill>
                <a:latin typeface="Calibri" pitchFamily="34" charset="0"/>
                <a:ea typeface="Calibri" pitchFamily="34" charset="-122"/>
                <a:cs typeface="Calibri" pitchFamily="34" charset="-120"/>
              </a:rPr>
              <a:t>Ardıl Bilal Ülkü</a:t>
            </a:r>
            <a:endParaRPr lang="en-US" sz="1300" dirty="0"/>
          </a:p>
          <a:p>
            <a:pPr indent="0" marL="0">
              <a:buNone/>
            </a:pPr>
            <a:r>
              <a:rPr lang="en-US" sz="1100" dirty="0">
                <a:solidFill>
                  <a:srgbClr val="A9C4EE"/>
                </a:solidFill>
                <a:latin typeface="Calibri" pitchFamily="34" charset="0"/>
                <a:ea typeface="Calibri" pitchFamily="34" charset="-122"/>
                <a:cs typeface="Calibri" pitchFamily="34" charset="-120"/>
              </a:rPr>
              <a:t>2230356051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tx1"/>
        </a:solidFill>
      </p:bgPr>
    </p:bg>
    <p:spTree>
      <p:nvGrpSpPr>
        <p:cNvPr id="1" name=""/>
        <p:cNvGrpSpPr/>
        <p:nvPr/>
      </p:nvGrpSpPr>
      <p:grpSpPr>
        <a:xfrm>
          <a:off x="0" y="0"/>
          <a:ext cx="0" cy="0"/>
          <a:chOff x="0" y="0"/>
          <a:chExt cx="0" cy="0"/>
        </a:xfrm>
      </p:grpSpPr>
      <p:sp>
        <p:nvSpPr>
          <p:cNvPr id="2" name="Kicker"/>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01 / THE PITCH</a:t>
            </a:r>
            <a:endParaRPr lang="en-US" sz="1200" dirty="0"/>
          </a:p>
        </p:txBody>
      </p:sp>
      <p:sp>
        <p:nvSpPr>
          <p:cNvPr id="3" name="Pitch statement"/>
          <p:cNvSpPr txBox="1"/>
          <p:nvPr/>
        </p:nvSpPr>
        <p:spPr>
          <a:xfrm>
            <a:off x="548640" y="822960"/>
            <a:ext cx="11064240" cy="1920240"/>
          </a:xfrm>
          <a:prstGeom prst="rect">
            <a:avLst/>
          </a:prstGeom>
          <a:noFill/>
          <a:ln/>
        </p:spPr>
        <p:txBody>
          <a:bodyPr wrap="square" lIns="0" tIns="0" rIns="0" bIns="0" rtlCol="0" anchor="t"/>
          <a:lstStyle/>
          <a:p>
            <a:pPr indent="0" marL="0">
              <a:buNone/>
            </a:pPr>
            <a:r>
              <a:rPr lang="en-US" sz="5600" b="1" dirty="0">
                <a:solidFill>
                  <a:schemeClr val="bg1"/>
                </a:solidFill>
                <a:latin typeface="Georgia" pitchFamily="34" charset="0"/>
                <a:ea typeface="Georgia" pitchFamily="34" charset="-122"/>
                <a:cs typeface="Georgia" pitchFamily="34" charset="-120"/>
              </a:rPr>
              <a:t>Everything you throw</a:t>
            </a:r>
            <a:endParaRPr lang="en-US" sz="5600" dirty="0"/>
          </a:p>
          <a:p>
            <a:pPr indent="0" marL="0">
              <a:buNone/>
            </a:pPr>
            <a:r>
              <a:rPr lang="en-US" sz="5600" b="1" i="1" dirty="0">
                <a:solidFill>
                  <a:schemeClr val="accent1"/>
                </a:solidFill>
                <a:latin typeface="Georgia" pitchFamily="34" charset="0"/>
                <a:ea typeface="Georgia" pitchFamily="34" charset="-122"/>
                <a:cs typeface="Georgia" pitchFamily="34" charset="-120"/>
              </a:rPr>
              <a:t>is a piece of you.</a:t>
            </a:r>
            <a:endParaRPr lang="en-US" sz="5600" dirty="0"/>
          </a:p>
        </p:txBody>
      </p:sp>
      <p:sp>
        <p:nvSpPr>
          <p:cNvPr id="4" name="Text 2"/>
          <p:cNvSpPr txBox="1"/>
          <p:nvPr/>
        </p:nvSpPr>
        <p:spPr>
          <a:xfrm>
            <a:off x="548640" y="2834640"/>
            <a:ext cx="7680960" cy="1371600"/>
          </a:xfrm>
          <a:prstGeom prst="rect">
            <a:avLst/>
          </a:prstGeom>
          <a:noFill/>
          <a:ln/>
        </p:spPr>
        <p:txBody>
          <a:bodyPr wrap="square" lIns="0" tIns="0" rIns="0" bIns="0" rtlCol="0" anchor="t"/>
          <a:lstStyle/>
          <a:p>
            <a:pPr indent="0" marL="0">
              <a:spcAft>
                <a:spcPts val="600"/>
              </a:spcAft>
              <a:buNone/>
            </a:pPr>
            <a:r>
              <a:rPr lang="en-US" sz="1800" dirty="0">
                <a:solidFill>
                  <a:schemeClr val="bg1"/>
                </a:solidFill>
                <a:latin typeface="Calibri" pitchFamily="34" charset="0"/>
                <a:ea typeface="Calibri" pitchFamily="34" charset="-122"/>
                <a:cs typeface="Calibri" pitchFamily="34" charset="-120"/>
              </a:rPr>
              <a:t>Two to four friends, one local network, short chaotic mini-games and a running scoreboard. Squishy cubes have no weapons — they win by spitting chunks of their own body at each other. Every shot makes you smaller; every hit makes your rival lighter and easier to launch off the stage.</a:t>
            </a:r>
            <a:endParaRPr lang="en-US" sz="1800" dirty="0"/>
          </a:p>
        </p:txBody>
      </p:sp>
      <p:pic>
        <p:nvPicPr>
          <p:cNvPr id="5" name="Throw sequence" descr="Five-step sequence: an orange cube gathers, spits a chunk of itself, the chunk flies, and the cube ends up smaller">    </p:cNvPr>
          <p:cNvPicPr>
            <a:picLocks noChangeAspect="1"/>
          </p:cNvPicPr>
          <p:nvPr/>
        </p:nvPicPr>
        <p:blipFill>
          <a:blip r:embed="rId1"/>
          <a:stretch>
            <a:fillRect/>
          </a:stretch>
        </p:blipFill>
        <p:spPr>
          <a:xfrm>
            <a:off x="548640" y="4526280"/>
            <a:ext cx="11091672" cy="1260948"/>
          </a:xfrm>
          <a:prstGeom prst="rect">
            <a:avLst/>
          </a:prstGeom>
        </p:spPr>
      </p:pic>
      <p:sp>
        <p:nvSpPr>
          <p:cNvPr id="6" name="Text 3"/>
          <p:cNvSpPr txBox="1"/>
          <p:nvPr/>
        </p:nvSpPr>
        <p:spPr>
          <a:xfrm>
            <a:off x="548640" y="5852160"/>
            <a:ext cx="2011680" cy="274320"/>
          </a:xfrm>
          <a:prstGeom prst="rect">
            <a:avLst/>
          </a:prstGeom>
          <a:noFill/>
          <a:ln/>
        </p:spPr>
        <p:txBody>
          <a:bodyPr wrap="square" lIns="0" tIns="0" rIns="0" bIns="0" rtlCol="0" anchor="ctr"/>
          <a:lstStyle/>
          <a:p>
            <a:pPr indent="0" marL="0">
              <a:buNone/>
            </a:pPr>
            <a:r>
              <a:rPr lang="en-US" sz="1100" b="1" spc="200" kern="0" dirty="0">
                <a:solidFill>
                  <a:srgbClr val="A9C4EE"/>
                </a:solidFill>
                <a:latin typeface="Calibri" pitchFamily="34" charset="0"/>
                <a:ea typeface="Calibri" pitchFamily="34" charset="-122"/>
                <a:cs typeface="Calibri" pitchFamily="34" charset="-120"/>
              </a:rPr>
              <a:t>FULL SIZE</a:t>
            </a:r>
            <a:endParaRPr lang="en-US" sz="1100" dirty="0"/>
          </a:p>
        </p:txBody>
      </p:sp>
      <p:sp>
        <p:nvSpPr>
          <p:cNvPr id="7" name="Text 4"/>
          <p:cNvSpPr txBox="1"/>
          <p:nvPr/>
        </p:nvSpPr>
        <p:spPr>
          <a:xfrm>
            <a:off x="2770632" y="5852160"/>
            <a:ext cx="2011680" cy="274320"/>
          </a:xfrm>
          <a:prstGeom prst="rect">
            <a:avLst/>
          </a:prstGeom>
          <a:noFill/>
          <a:ln/>
        </p:spPr>
        <p:txBody>
          <a:bodyPr wrap="square" lIns="0" tIns="0" rIns="0" bIns="0" rtlCol="0" anchor="ctr"/>
          <a:lstStyle/>
          <a:p>
            <a:pPr indent="0" marL="0">
              <a:buNone/>
            </a:pPr>
            <a:r>
              <a:rPr lang="en-US" sz="1100" b="1" spc="200" kern="0" dirty="0">
                <a:solidFill>
                  <a:srgbClr val="A9C4EE"/>
                </a:solidFill>
                <a:latin typeface="Calibri" pitchFamily="34" charset="0"/>
                <a:ea typeface="Calibri" pitchFamily="34" charset="-122"/>
                <a:cs typeface="Calibri" pitchFamily="34" charset="-120"/>
              </a:rPr>
              <a:t>GATHER</a:t>
            </a:r>
            <a:endParaRPr lang="en-US" sz="1100" dirty="0"/>
          </a:p>
        </p:txBody>
      </p:sp>
      <p:sp>
        <p:nvSpPr>
          <p:cNvPr id="8" name="Text 5"/>
          <p:cNvSpPr txBox="1"/>
          <p:nvPr/>
        </p:nvSpPr>
        <p:spPr>
          <a:xfrm>
            <a:off x="4992624" y="5852160"/>
            <a:ext cx="2011680" cy="274320"/>
          </a:xfrm>
          <a:prstGeom prst="rect">
            <a:avLst/>
          </a:prstGeom>
          <a:noFill/>
          <a:ln/>
        </p:spPr>
        <p:txBody>
          <a:bodyPr wrap="square" lIns="0" tIns="0" rIns="0" bIns="0" rtlCol="0" anchor="ctr"/>
          <a:lstStyle/>
          <a:p>
            <a:pPr indent="0" marL="0">
              <a:buNone/>
            </a:pPr>
            <a:r>
              <a:rPr lang="en-US" sz="1100" b="1" spc="200" kern="0" dirty="0">
                <a:solidFill>
                  <a:srgbClr val="A9C4EE"/>
                </a:solidFill>
                <a:latin typeface="Calibri" pitchFamily="34" charset="0"/>
                <a:ea typeface="Calibri" pitchFamily="34" charset="-122"/>
                <a:cs typeface="Calibri" pitchFamily="34" charset="-120"/>
              </a:rPr>
              <a:t>SPIT</a:t>
            </a:r>
            <a:endParaRPr lang="en-US" sz="1100" dirty="0"/>
          </a:p>
        </p:txBody>
      </p:sp>
      <p:sp>
        <p:nvSpPr>
          <p:cNvPr id="9" name="Text 6"/>
          <p:cNvSpPr txBox="1"/>
          <p:nvPr/>
        </p:nvSpPr>
        <p:spPr>
          <a:xfrm>
            <a:off x="7214616" y="5852160"/>
            <a:ext cx="2011680" cy="274320"/>
          </a:xfrm>
          <a:prstGeom prst="rect">
            <a:avLst/>
          </a:prstGeom>
          <a:noFill/>
          <a:ln/>
        </p:spPr>
        <p:txBody>
          <a:bodyPr wrap="square" lIns="0" tIns="0" rIns="0" bIns="0" rtlCol="0" anchor="ctr"/>
          <a:lstStyle/>
          <a:p>
            <a:pPr indent="0" marL="0">
              <a:buNone/>
            </a:pPr>
            <a:r>
              <a:rPr lang="en-US" sz="1100" b="1" spc="200" kern="0" dirty="0">
                <a:solidFill>
                  <a:srgbClr val="A9C4EE"/>
                </a:solidFill>
                <a:latin typeface="Calibri" pitchFamily="34" charset="0"/>
                <a:ea typeface="Calibri" pitchFamily="34" charset="-122"/>
                <a:cs typeface="Calibri" pitchFamily="34" charset="-120"/>
              </a:rPr>
              <a:t>FLY</a:t>
            </a:r>
            <a:endParaRPr lang="en-US" sz="1100" dirty="0"/>
          </a:p>
        </p:txBody>
      </p:sp>
      <p:sp>
        <p:nvSpPr>
          <p:cNvPr id="10" name="Text 7"/>
          <p:cNvSpPr txBox="1"/>
          <p:nvPr/>
        </p:nvSpPr>
        <p:spPr>
          <a:xfrm>
            <a:off x="9436608" y="5852160"/>
            <a:ext cx="2011680" cy="274320"/>
          </a:xfrm>
          <a:prstGeom prst="rect">
            <a:avLst/>
          </a:prstGeom>
          <a:noFill/>
          <a:ln/>
        </p:spPr>
        <p:txBody>
          <a:bodyPr wrap="square" lIns="0" tIns="0" rIns="0" bIns="0" rtlCol="0" anchor="ctr"/>
          <a:lstStyle/>
          <a:p>
            <a:pPr indent="0" marL="0">
              <a:buNone/>
            </a:pPr>
            <a:r>
              <a:rPr lang="en-US" sz="1100" b="1" spc="200" kern="0" dirty="0">
                <a:solidFill>
                  <a:srgbClr val="A9C4EE"/>
                </a:solidFill>
                <a:latin typeface="Calibri" pitchFamily="34" charset="0"/>
                <a:ea typeface="Calibri" pitchFamily="34" charset="-122"/>
                <a:cs typeface="Calibri" pitchFamily="34" charset="-120"/>
              </a:rPr>
              <a:t>LIGHTER</a:t>
            </a:r>
            <a:endParaRPr lang="en-US" sz="1100" dirty="0"/>
          </a:p>
        </p:txBody>
      </p:sp>
      <p:sp>
        <p:nvSpPr>
          <p:cNvPr id="11" name="Caption"/>
          <p:cNvSpPr txBox="1"/>
          <p:nvPr/>
        </p:nvSpPr>
        <p:spPr>
          <a:xfrm>
            <a:off x="548640" y="6144768"/>
            <a:ext cx="8229600" cy="274320"/>
          </a:xfrm>
          <a:prstGeom prst="rect">
            <a:avLst/>
          </a:prstGeom>
          <a:noFill/>
          <a:ln/>
        </p:spPr>
        <p:txBody>
          <a:bodyPr wrap="square" lIns="0" tIns="0" rIns="0" bIns="0" rtlCol="0" anchor="ctr"/>
          <a:lstStyle/>
          <a:p>
            <a:pPr indent="0" marL="0">
              <a:buNone/>
            </a:pPr>
            <a:r>
              <a:rPr lang="en-US" sz="1100" i="1" dirty="0">
                <a:solidFill>
                  <a:srgbClr val="A9C4EE"/>
                </a:solidFill>
                <a:latin typeface="Calibri" pitchFamily="34" charset="0"/>
                <a:ea typeface="Calibri" pitchFamily="34" charset="-122"/>
                <a:cs typeface="Calibri" pitchFamily="34" charset="-120"/>
              </a:rPr>
              <a:t>FIG. 1 — Concept sequence (AI-generated illustration, not gameplay capture)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chemeClr val="accent5"/>
                </a:solidFill>
                <a:latin typeface="Calibri" pitchFamily="34" charset="0"/>
                <a:ea typeface="Calibri" pitchFamily="34" charset="-122"/>
                <a:cs typeface="Calibri" pitchFamily="34" charset="-120"/>
              </a:rPr>
              <a:t>02 / HOW A NIGHT PLAYS</a:t>
            </a:r>
            <a:endParaRPr lang="en-US" sz="1200" dirty="0"/>
          </a:p>
        </p:txBody>
      </p:sp>
      <p:sp>
        <p:nvSpPr>
          <p:cNvPr id="3" name="Text 1"/>
          <p:cNvSpPr/>
          <p:nvPr>
            <p:ph idx="105" type="title" hasCustomPrompt="1"/>
          </p:nvPr>
        </p:nvSpPr>
        <p:spPr>
          <a:xfrm>
            <a:off x="548640" y="713232"/>
            <a:ext cx="11094415" cy="914400"/>
          </a:xfrm>
          <a:prstGeom prst="rect">
            <a:avLst/>
          </a:prstGeom>
          <a:noFill/>
          <a:ln/>
        </p:spPr>
        <p:txBody>
          <a:bodyPr wrap="square" lIns="0" tIns="0" rIns="0" bIns="0" rtlCol="0" anchor="t"/>
          <a:lstStyle/>
          <a:p>
            <a:pPr algn="l" indent="0" marL="0">
              <a:buNone/>
            </a:pPr>
            <a:r>
              <a:rPr lang="en-US" sz="3600" b="1" dirty="0">
                <a:solidFill>
                  <a:schemeClr val="tx1"/>
                </a:solidFill>
                <a:latin typeface="Georgia" pitchFamily="34" charset="0"/>
                <a:ea typeface="Georgia" pitchFamily="34" charset="-122"/>
                <a:cs typeface="Georgia" pitchFamily="34" charset="-120"/>
              </a:rPr>
              <a:t>One night, a few rounds, one champion</a:t>
            </a:r>
            <a:endParaRPr lang="en-US" sz="3600" dirty="0"/>
          </a:p>
        </p:txBody>
      </p:sp>
      <p:sp>
        <p:nvSpPr>
          <p:cNvPr id="4" name="Step 01 card"/>
          <p:cNvSpPr/>
          <p:nvPr/>
        </p:nvSpPr>
        <p:spPr>
          <a:xfrm>
            <a:off x="548640" y="1828800"/>
            <a:ext cx="2560320" cy="2331720"/>
          </a:xfrm>
          <a:prstGeom prst="roundRect">
            <a:avLst>
              <a:gd name="adj" fmla="val 7059"/>
            </a:avLst>
          </a:prstGeom>
          <a:solidFill>
            <a:schemeClr val="bg1"/>
          </a:solidFill>
          <a:ln w="12700">
            <a:solidFill>
              <a:schemeClr val="bg1"/>
            </a:solidFill>
            <a:prstDash val="solid"/>
          </a:ln>
          <a:effectLst>
            <a:outerShdw sx="100000" sy="100000" kx="0" ky="0" algn="bl" rotWithShape="0" blurRad="177800" dist="38100" dir="5400000">
              <a:srgbClr val="0A1E4A">
                <a:alpha val="20000"/>
              </a:srgbClr>
            </a:outerShdw>
          </a:effectLst>
        </p:spPr>
      </p:sp>
      <p:sp>
        <p:nvSpPr>
          <p:cNvPr id="5" name="Shape 3"/>
          <p:cNvSpPr/>
          <p:nvPr/>
        </p:nvSpPr>
        <p:spPr>
          <a:xfrm>
            <a:off x="777240" y="2011680"/>
            <a:ext cx="640080" cy="640080"/>
          </a:xfrm>
          <a:prstGeom prst="ellipse">
            <a:avLst/>
          </a:prstGeom>
          <a:solidFill>
            <a:schemeClr val="accent2"/>
          </a:solidFill>
          <a:ln w="12700">
            <a:solidFill>
              <a:schemeClr val="accent2"/>
            </a:solidFill>
            <a:prstDash val="solid"/>
          </a:ln>
        </p:spPr>
      </p:sp>
      <p:sp>
        <p:nvSpPr>
          <p:cNvPr id="6" name="Text 4"/>
          <p:cNvSpPr txBox="1"/>
          <p:nvPr/>
        </p:nvSpPr>
        <p:spPr>
          <a:xfrm>
            <a:off x="777240" y="2011680"/>
            <a:ext cx="640080" cy="640080"/>
          </a:xfrm>
          <a:prstGeom prst="rect">
            <a:avLst/>
          </a:prstGeom>
          <a:noFill/>
          <a:ln/>
        </p:spPr>
        <p:txBody>
          <a:bodyPr wrap="square" lIns="0" tIns="0" rIns="0" bIns="0" rtlCol="0" anchor="ctr"/>
          <a:lstStyle/>
          <a:p>
            <a:pPr algn="ctr" indent="0" marL="0">
              <a:buNone/>
            </a:pPr>
            <a:r>
              <a:rPr lang="en-US" sz="1800" b="1" i="1" dirty="0">
                <a:solidFill>
                  <a:schemeClr val="bg1"/>
                </a:solidFill>
                <a:latin typeface="Georgia" pitchFamily="34" charset="0"/>
                <a:ea typeface="Georgia" pitchFamily="34" charset="-122"/>
                <a:cs typeface="Georgia" pitchFamily="34" charset="-120"/>
              </a:rPr>
              <a:t>01</a:t>
            </a:r>
            <a:endParaRPr lang="en-US" sz="1800" dirty="0"/>
          </a:p>
        </p:txBody>
      </p:sp>
      <p:sp>
        <p:nvSpPr>
          <p:cNvPr id="7" name="Text 5"/>
          <p:cNvSpPr txBox="1"/>
          <p:nvPr/>
        </p:nvSpPr>
        <p:spPr>
          <a:xfrm>
            <a:off x="777240" y="2743200"/>
            <a:ext cx="2103120" cy="365760"/>
          </a:xfrm>
          <a:prstGeom prst="rect">
            <a:avLst/>
          </a:prstGeom>
          <a:noFill/>
          <a:ln/>
        </p:spPr>
        <p:txBody>
          <a:bodyPr wrap="square" lIns="0" tIns="0" rIns="0" bIns="0" rtlCol="0" anchor="ctr"/>
          <a:lstStyle/>
          <a:p>
            <a:pPr indent="0" marL="0">
              <a:buNone/>
            </a:pPr>
            <a:r>
              <a:rPr lang="en-US" sz="2200" b="1" dirty="0">
                <a:solidFill>
                  <a:schemeClr val="tx1"/>
                </a:solidFill>
                <a:latin typeface="Georgia" pitchFamily="34" charset="0"/>
                <a:ea typeface="Georgia" pitchFamily="34" charset="-122"/>
                <a:cs typeface="Georgia" pitchFamily="34" charset="-120"/>
              </a:rPr>
              <a:t>Lobby</a:t>
            </a:r>
            <a:endParaRPr lang="en-US" sz="2200" dirty="0"/>
          </a:p>
        </p:txBody>
      </p:sp>
      <p:sp>
        <p:nvSpPr>
          <p:cNvPr id="8" name="Text 6"/>
          <p:cNvSpPr txBox="1"/>
          <p:nvPr/>
        </p:nvSpPr>
        <p:spPr>
          <a:xfrm>
            <a:off x="777240" y="3154680"/>
            <a:ext cx="210312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One player hosts. Friends join by local IP. Pick a color.</a:t>
            </a:r>
            <a:endParaRPr lang="en-US" sz="1400" dirty="0"/>
          </a:p>
        </p:txBody>
      </p:sp>
      <p:sp>
        <p:nvSpPr>
          <p:cNvPr id="9" name="Shape 7"/>
          <p:cNvSpPr/>
          <p:nvPr/>
        </p:nvSpPr>
        <p:spPr>
          <a:xfrm>
            <a:off x="3145536" y="2852928"/>
            <a:ext cx="210312" cy="274320"/>
          </a:xfrm>
          <a:prstGeom prst="rightArrow">
            <a:avLst/>
          </a:prstGeom>
          <a:solidFill>
            <a:schemeClr val="accent5"/>
          </a:solidFill>
          <a:ln w="12700">
            <a:solidFill>
              <a:schemeClr val="accent5"/>
            </a:solidFill>
            <a:prstDash val="solid"/>
          </a:ln>
        </p:spPr>
      </p:sp>
      <p:sp>
        <p:nvSpPr>
          <p:cNvPr id="10" name="Step 02 card"/>
          <p:cNvSpPr/>
          <p:nvPr/>
        </p:nvSpPr>
        <p:spPr>
          <a:xfrm>
            <a:off x="3392424" y="1828800"/>
            <a:ext cx="2560320" cy="2331720"/>
          </a:xfrm>
          <a:prstGeom prst="roundRect">
            <a:avLst>
              <a:gd name="adj" fmla="val 7059"/>
            </a:avLst>
          </a:prstGeom>
          <a:solidFill>
            <a:schemeClr val="bg1"/>
          </a:solidFill>
          <a:ln w="12700">
            <a:solidFill>
              <a:schemeClr val="bg1"/>
            </a:solidFill>
            <a:prstDash val="solid"/>
          </a:ln>
          <a:effectLst>
            <a:outerShdw sx="100000" sy="100000" kx="0" ky="0" algn="bl" rotWithShape="0" blurRad="177800" dist="38100" dir="5400000">
              <a:srgbClr val="0A1E4A">
                <a:alpha val="20000"/>
              </a:srgbClr>
            </a:outerShdw>
          </a:effectLst>
        </p:spPr>
      </p:sp>
      <p:sp>
        <p:nvSpPr>
          <p:cNvPr id="11" name="Shape 9"/>
          <p:cNvSpPr/>
          <p:nvPr/>
        </p:nvSpPr>
        <p:spPr>
          <a:xfrm>
            <a:off x="3621024" y="2011680"/>
            <a:ext cx="640080" cy="640080"/>
          </a:xfrm>
          <a:prstGeom prst="ellipse">
            <a:avLst/>
          </a:prstGeom>
          <a:solidFill>
            <a:schemeClr val="accent1"/>
          </a:solidFill>
          <a:ln w="12700">
            <a:solidFill>
              <a:schemeClr val="accent1"/>
            </a:solidFill>
            <a:prstDash val="solid"/>
          </a:ln>
        </p:spPr>
      </p:sp>
      <p:sp>
        <p:nvSpPr>
          <p:cNvPr id="12" name="Text 10"/>
          <p:cNvSpPr txBox="1"/>
          <p:nvPr/>
        </p:nvSpPr>
        <p:spPr>
          <a:xfrm>
            <a:off x="3621024" y="2011680"/>
            <a:ext cx="640080" cy="640080"/>
          </a:xfrm>
          <a:prstGeom prst="rect">
            <a:avLst/>
          </a:prstGeom>
          <a:noFill/>
          <a:ln/>
        </p:spPr>
        <p:txBody>
          <a:bodyPr wrap="square" lIns="0" tIns="0" rIns="0" bIns="0" rtlCol="0" anchor="ctr"/>
          <a:lstStyle/>
          <a:p>
            <a:pPr algn="ctr" indent="0" marL="0">
              <a:buNone/>
            </a:pPr>
            <a:r>
              <a:rPr lang="en-US" sz="1800" b="1" i="1" dirty="0">
                <a:solidFill>
                  <a:schemeClr val="bg1"/>
                </a:solidFill>
                <a:latin typeface="Georgia" pitchFamily="34" charset="0"/>
                <a:ea typeface="Georgia" pitchFamily="34" charset="-122"/>
                <a:cs typeface="Georgia" pitchFamily="34" charset="-120"/>
              </a:rPr>
              <a:t>02</a:t>
            </a:r>
            <a:endParaRPr lang="en-US" sz="1800" dirty="0"/>
          </a:p>
        </p:txBody>
      </p:sp>
      <p:sp>
        <p:nvSpPr>
          <p:cNvPr id="13" name="Text 11"/>
          <p:cNvSpPr txBox="1"/>
          <p:nvPr/>
        </p:nvSpPr>
        <p:spPr>
          <a:xfrm>
            <a:off x="3621024" y="2743200"/>
            <a:ext cx="2103120" cy="365760"/>
          </a:xfrm>
          <a:prstGeom prst="rect">
            <a:avLst/>
          </a:prstGeom>
          <a:noFill/>
          <a:ln/>
        </p:spPr>
        <p:txBody>
          <a:bodyPr wrap="square" lIns="0" tIns="0" rIns="0" bIns="0" rtlCol="0" anchor="ctr"/>
          <a:lstStyle/>
          <a:p>
            <a:pPr indent="0" marL="0">
              <a:buNone/>
            </a:pPr>
            <a:r>
              <a:rPr lang="en-US" sz="2200" b="1" dirty="0">
                <a:solidFill>
                  <a:schemeClr val="tx1"/>
                </a:solidFill>
                <a:latin typeface="Georgia" pitchFamily="34" charset="0"/>
                <a:ea typeface="Georgia" pitchFamily="34" charset="-122"/>
                <a:cs typeface="Georgia" pitchFamily="34" charset="-120"/>
              </a:rPr>
              <a:t>Mini-game</a:t>
            </a:r>
            <a:endParaRPr lang="en-US" sz="2200" dirty="0"/>
          </a:p>
        </p:txBody>
      </p:sp>
      <p:sp>
        <p:nvSpPr>
          <p:cNvPr id="14" name="Text 12"/>
          <p:cNvSpPr txBox="1"/>
          <p:nvPr/>
        </p:nvSpPr>
        <p:spPr>
          <a:xfrm>
            <a:off x="3621024" y="3154680"/>
            <a:ext cx="210312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60–90 second round with the same controls and different physics.</a:t>
            </a:r>
            <a:endParaRPr lang="en-US" sz="1400" dirty="0"/>
          </a:p>
        </p:txBody>
      </p:sp>
      <p:sp>
        <p:nvSpPr>
          <p:cNvPr id="15" name="Shape 13"/>
          <p:cNvSpPr/>
          <p:nvPr/>
        </p:nvSpPr>
        <p:spPr>
          <a:xfrm>
            <a:off x="5989320" y="2852928"/>
            <a:ext cx="210312" cy="274320"/>
          </a:xfrm>
          <a:prstGeom prst="rightArrow">
            <a:avLst/>
          </a:prstGeom>
          <a:solidFill>
            <a:schemeClr val="accent5"/>
          </a:solidFill>
          <a:ln w="12700">
            <a:solidFill>
              <a:schemeClr val="accent5"/>
            </a:solidFill>
            <a:prstDash val="solid"/>
          </a:ln>
        </p:spPr>
      </p:sp>
      <p:sp>
        <p:nvSpPr>
          <p:cNvPr id="16" name="Step 03 card"/>
          <p:cNvSpPr/>
          <p:nvPr/>
        </p:nvSpPr>
        <p:spPr>
          <a:xfrm>
            <a:off x="6236208" y="1828800"/>
            <a:ext cx="2560320" cy="2331720"/>
          </a:xfrm>
          <a:prstGeom prst="roundRect">
            <a:avLst>
              <a:gd name="adj" fmla="val 7059"/>
            </a:avLst>
          </a:prstGeom>
          <a:solidFill>
            <a:schemeClr val="bg1"/>
          </a:solidFill>
          <a:ln w="12700">
            <a:solidFill>
              <a:schemeClr val="bg1"/>
            </a:solidFill>
            <a:prstDash val="solid"/>
          </a:ln>
          <a:effectLst>
            <a:outerShdw sx="100000" sy="100000" kx="0" ky="0" algn="bl" rotWithShape="0" blurRad="177800" dist="38100" dir="5400000">
              <a:srgbClr val="0A1E4A">
                <a:alpha val="20000"/>
              </a:srgbClr>
            </a:outerShdw>
          </a:effectLst>
        </p:spPr>
      </p:sp>
      <p:sp>
        <p:nvSpPr>
          <p:cNvPr id="17" name="Shape 15"/>
          <p:cNvSpPr/>
          <p:nvPr/>
        </p:nvSpPr>
        <p:spPr>
          <a:xfrm>
            <a:off x="6464808" y="2011680"/>
            <a:ext cx="640080" cy="640080"/>
          </a:xfrm>
          <a:prstGeom prst="ellipse">
            <a:avLst/>
          </a:prstGeom>
          <a:solidFill>
            <a:schemeClr val="accent3"/>
          </a:solidFill>
          <a:ln w="12700">
            <a:solidFill>
              <a:schemeClr val="accent3"/>
            </a:solidFill>
            <a:prstDash val="solid"/>
          </a:ln>
        </p:spPr>
      </p:sp>
      <p:sp>
        <p:nvSpPr>
          <p:cNvPr id="18" name="Text 16"/>
          <p:cNvSpPr txBox="1"/>
          <p:nvPr/>
        </p:nvSpPr>
        <p:spPr>
          <a:xfrm>
            <a:off x="6464808" y="2011680"/>
            <a:ext cx="640080" cy="640080"/>
          </a:xfrm>
          <a:prstGeom prst="rect">
            <a:avLst/>
          </a:prstGeom>
          <a:noFill/>
          <a:ln/>
        </p:spPr>
        <p:txBody>
          <a:bodyPr wrap="square" lIns="0" tIns="0" rIns="0" bIns="0" rtlCol="0" anchor="ctr"/>
          <a:lstStyle/>
          <a:p>
            <a:pPr algn="ctr" indent="0" marL="0">
              <a:buNone/>
            </a:pPr>
            <a:r>
              <a:rPr lang="en-US" sz="1800" b="1" i="1" dirty="0">
                <a:solidFill>
                  <a:schemeClr val="bg1"/>
                </a:solidFill>
                <a:latin typeface="Georgia" pitchFamily="34" charset="0"/>
                <a:ea typeface="Georgia" pitchFamily="34" charset="-122"/>
                <a:cs typeface="Georgia" pitchFamily="34" charset="-120"/>
              </a:rPr>
              <a:t>03</a:t>
            </a:r>
            <a:endParaRPr lang="en-US" sz="1800" dirty="0"/>
          </a:p>
        </p:txBody>
      </p:sp>
      <p:sp>
        <p:nvSpPr>
          <p:cNvPr id="19" name="Text 17"/>
          <p:cNvSpPr txBox="1"/>
          <p:nvPr/>
        </p:nvSpPr>
        <p:spPr>
          <a:xfrm>
            <a:off x="6464808" y="2743200"/>
            <a:ext cx="2103120" cy="365760"/>
          </a:xfrm>
          <a:prstGeom prst="rect">
            <a:avLst/>
          </a:prstGeom>
          <a:noFill/>
          <a:ln/>
        </p:spPr>
        <p:txBody>
          <a:bodyPr wrap="square" lIns="0" tIns="0" rIns="0" bIns="0" rtlCol="0" anchor="ctr"/>
          <a:lstStyle/>
          <a:p>
            <a:pPr indent="0" marL="0">
              <a:buNone/>
            </a:pPr>
            <a:r>
              <a:rPr lang="en-US" sz="2200" b="1" dirty="0">
                <a:solidFill>
                  <a:schemeClr val="tx1"/>
                </a:solidFill>
                <a:latin typeface="Georgia" pitchFamily="34" charset="0"/>
                <a:ea typeface="Georgia" pitchFamily="34" charset="-122"/>
                <a:cs typeface="Georgia" pitchFamily="34" charset="-120"/>
              </a:rPr>
              <a:t>Placement</a:t>
            </a:r>
            <a:endParaRPr lang="en-US" sz="2200" dirty="0"/>
          </a:p>
        </p:txBody>
      </p:sp>
      <p:sp>
        <p:nvSpPr>
          <p:cNvPr id="20" name="Text 18"/>
          <p:cNvSpPr txBox="1"/>
          <p:nvPr/>
        </p:nvSpPr>
        <p:spPr>
          <a:xfrm>
            <a:off x="6464808" y="3154680"/>
            <a:ext cx="210312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1st gets 4 points, 2nd 3, 3rd 2, 4th 1 (proposed, to be playtested).</a:t>
            </a:r>
            <a:endParaRPr lang="en-US" sz="1400" dirty="0"/>
          </a:p>
        </p:txBody>
      </p:sp>
      <p:sp>
        <p:nvSpPr>
          <p:cNvPr id="21" name="Shape 19"/>
          <p:cNvSpPr/>
          <p:nvPr/>
        </p:nvSpPr>
        <p:spPr>
          <a:xfrm>
            <a:off x="8833104" y="2852928"/>
            <a:ext cx="210312" cy="274320"/>
          </a:xfrm>
          <a:prstGeom prst="rightArrow">
            <a:avLst/>
          </a:prstGeom>
          <a:solidFill>
            <a:schemeClr val="accent5"/>
          </a:solidFill>
          <a:ln w="12700">
            <a:solidFill>
              <a:schemeClr val="accent5"/>
            </a:solidFill>
            <a:prstDash val="solid"/>
          </a:ln>
        </p:spPr>
      </p:sp>
      <p:sp>
        <p:nvSpPr>
          <p:cNvPr id="22" name="Step 04 card"/>
          <p:cNvSpPr/>
          <p:nvPr/>
        </p:nvSpPr>
        <p:spPr>
          <a:xfrm>
            <a:off x="9079992" y="1828800"/>
            <a:ext cx="2560320" cy="2331720"/>
          </a:xfrm>
          <a:prstGeom prst="roundRect">
            <a:avLst>
              <a:gd name="adj" fmla="val 7059"/>
            </a:avLst>
          </a:prstGeom>
          <a:solidFill>
            <a:schemeClr val="bg1"/>
          </a:solidFill>
          <a:ln w="12700">
            <a:solidFill>
              <a:schemeClr val="bg1"/>
            </a:solidFill>
            <a:prstDash val="solid"/>
          </a:ln>
          <a:effectLst>
            <a:outerShdw sx="100000" sy="100000" kx="0" ky="0" algn="bl" rotWithShape="0" blurRad="177800" dist="38100" dir="5400000">
              <a:srgbClr val="0A1E4A">
                <a:alpha val="20000"/>
              </a:srgbClr>
            </a:outerShdw>
          </a:effectLst>
        </p:spPr>
      </p:sp>
      <p:sp>
        <p:nvSpPr>
          <p:cNvPr id="23" name="Shape 21"/>
          <p:cNvSpPr/>
          <p:nvPr/>
        </p:nvSpPr>
        <p:spPr>
          <a:xfrm>
            <a:off x="9308592" y="2011680"/>
            <a:ext cx="640080" cy="640080"/>
          </a:xfrm>
          <a:prstGeom prst="ellipse">
            <a:avLst/>
          </a:prstGeom>
          <a:solidFill>
            <a:schemeClr val="accent4"/>
          </a:solidFill>
          <a:ln w="12700">
            <a:solidFill>
              <a:schemeClr val="accent4"/>
            </a:solidFill>
            <a:prstDash val="solid"/>
          </a:ln>
        </p:spPr>
      </p:sp>
      <p:sp>
        <p:nvSpPr>
          <p:cNvPr id="24" name="Text 22"/>
          <p:cNvSpPr txBox="1"/>
          <p:nvPr/>
        </p:nvSpPr>
        <p:spPr>
          <a:xfrm>
            <a:off x="9308592" y="2011680"/>
            <a:ext cx="640080" cy="640080"/>
          </a:xfrm>
          <a:prstGeom prst="rect">
            <a:avLst/>
          </a:prstGeom>
          <a:noFill/>
          <a:ln/>
        </p:spPr>
        <p:txBody>
          <a:bodyPr wrap="square" lIns="0" tIns="0" rIns="0" bIns="0" rtlCol="0" anchor="ctr"/>
          <a:lstStyle/>
          <a:p>
            <a:pPr algn="ctr" indent="0" marL="0">
              <a:buNone/>
            </a:pPr>
            <a:r>
              <a:rPr lang="en-US" sz="1800" b="1" i="1" dirty="0">
                <a:solidFill>
                  <a:schemeClr val="bg1"/>
                </a:solidFill>
                <a:latin typeface="Georgia" pitchFamily="34" charset="0"/>
                <a:ea typeface="Georgia" pitchFamily="34" charset="-122"/>
                <a:cs typeface="Georgia" pitchFamily="34" charset="-120"/>
              </a:rPr>
              <a:t>04</a:t>
            </a:r>
            <a:endParaRPr lang="en-US" sz="1800" dirty="0"/>
          </a:p>
        </p:txBody>
      </p:sp>
      <p:sp>
        <p:nvSpPr>
          <p:cNvPr id="25" name="Text 23"/>
          <p:cNvSpPr txBox="1"/>
          <p:nvPr/>
        </p:nvSpPr>
        <p:spPr>
          <a:xfrm>
            <a:off x="9308592" y="2743200"/>
            <a:ext cx="2103120" cy="365760"/>
          </a:xfrm>
          <a:prstGeom prst="rect">
            <a:avLst/>
          </a:prstGeom>
          <a:noFill/>
          <a:ln/>
        </p:spPr>
        <p:txBody>
          <a:bodyPr wrap="square" lIns="0" tIns="0" rIns="0" bIns="0" rtlCol="0" anchor="ctr"/>
          <a:lstStyle/>
          <a:p>
            <a:pPr indent="0" marL="0">
              <a:buNone/>
            </a:pPr>
            <a:r>
              <a:rPr lang="en-US" sz="2200" b="1" dirty="0">
                <a:solidFill>
                  <a:schemeClr val="tx1"/>
                </a:solidFill>
                <a:latin typeface="Georgia" pitchFamily="34" charset="0"/>
                <a:ea typeface="Georgia" pitchFamily="34" charset="-122"/>
                <a:cs typeface="Georgia" pitchFamily="34" charset="-120"/>
              </a:rPr>
              <a:t>Standings</a:t>
            </a:r>
            <a:endParaRPr lang="en-US" sz="2200" dirty="0"/>
          </a:p>
        </p:txBody>
      </p:sp>
      <p:sp>
        <p:nvSpPr>
          <p:cNvPr id="26" name="Text 24"/>
          <p:cNvSpPr txBox="1"/>
          <p:nvPr/>
        </p:nvSpPr>
        <p:spPr>
          <a:xfrm>
            <a:off x="9308592" y="3154680"/>
            <a:ext cx="210312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scoreboard updates and the next round loads immediately.</a:t>
            </a:r>
            <a:endParaRPr lang="en-US" sz="1400" dirty="0"/>
          </a:p>
        </p:txBody>
      </p:sp>
      <p:sp>
        <p:nvSpPr>
          <p:cNvPr id="27" name="Text 25"/>
          <p:cNvSpPr txBox="1"/>
          <p:nvPr/>
        </p:nvSpPr>
        <p:spPr>
          <a:xfrm>
            <a:off x="548640" y="4343400"/>
            <a:ext cx="7315200" cy="274320"/>
          </a:xfrm>
          <a:prstGeom prst="rect">
            <a:avLst/>
          </a:prstGeom>
          <a:noFill/>
          <a:ln/>
        </p:spPr>
        <p:txBody>
          <a:bodyPr wrap="square" lIns="0" tIns="0" rIns="0" bIns="0" rtlCol="0" anchor="ctr"/>
          <a:lstStyle/>
          <a:p>
            <a:pPr indent="0" marL="0">
              <a:buNone/>
            </a:pPr>
            <a:r>
              <a:rPr lang="en-US" sz="1400" b="1" i="1" dirty="0">
                <a:solidFill>
                  <a:schemeClr val="accent5"/>
                </a:solidFill>
                <a:latin typeface="Calibri" pitchFamily="34" charset="0"/>
                <a:ea typeface="Calibri" pitchFamily="34" charset="-122"/>
                <a:cs typeface="Calibri" pitchFamily="34" charset="-120"/>
              </a:rPr>
              <a:t>↻  repeat for ~4 rounds, then the champion is crowned</a:t>
            </a:r>
            <a:endParaRPr lang="en-US" sz="1400" dirty="0"/>
          </a:p>
        </p:txBody>
      </p:sp>
      <p:sp>
        <p:nvSpPr>
          <p:cNvPr id="28" name="Scoreboard panel"/>
          <p:cNvSpPr/>
          <p:nvPr/>
        </p:nvSpPr>
        <p:spPr>
          <a:xfrm>
            <a:off x="548640" y="4800600"/>
            <a:ext cx="11091672" cy="1371600"/>
          </a:xfrm>
          <a:prstGeom prst="roundRect">
            <a:avLst>
              <a:gd name="adj" fmla="val 10000"/>
            </a:avLst>
          </a:prstGeom>
          <a:solidFill>
            <a:schemeClr val="tx1"/>
          </a:solidFill>
          <a:ln w="12700">
            <a:solidFill>
              <a:schemeClr val="tx1"/>
            </a:solidFill>
            <a:prstDash val="solid"/>
          </a:ln>
        </p:spPr>
      </p:sp>
      <p:sp>
        <p:nvSpPr>
          <p:cNvPr id="29" name="Text 27"/>
          <p:cNvSpPr txBox="1"/>
          <p:nvPr/>
        </p:nvSpPr>
        <p:spPr>
          <a:xfrm>
            <a:off x="822960" y="4937760"/>
            <a:ext cx="3657600" cy="274320"/>
          </a:xfrm>
          <a:prstGeom prst="rect">
            <a:avLst/>
          </a:prstGeom>
          <a:noFill/>
          <a:ln/>
        </p:spPr>
        <p:txBody>
          <a:bodyPr wrap="square" lIns="0" tIns="0" rIns="0" bIns="0" rtlCol="0" anchor="ctr"/>
          <a:lstStyle/>
          <a:p>
            <a:pPr indent="0" marL="0">
              <a:buNone/>
            </a:pPr>
            <a:r>
              <a:rPr lang="en-US" sz="1100" b="1" spc="300" kern="0" dirty="0">
                <a:solidFill>
                  <a:srgbClr val="A9C4EE"/>
                </a:solidFill>
                <a:latin typeface="Calibri" pitchFamily="34" charset="0"/>
                <a:ea typeface="Calibri" pitchFamily="34" charset="-122"/>
                <a:cs typeface="Calibri" pitchFamily="34" charset="-120"/>
              </a:rPr>
              <a:t>SAMPLE STANDINGS AFTER ROUND 3</a:t>
            </a:r>
            <a:endParaRPr lang="en-US" sz="1100" dirty="0"/>
          </a:p>
        </p:txBody>
      </p:sp>
      <p:sp>
        <p:nvSpPr>
          <p:cNvPr id="30" name="Shape 28"/>
          <p:cNvSpPr/>
          <p:nvPr/>
        </p:nvSpPr>
        <p:spPr>
          <a:xfrm>
            <a:off x="822960" y="5303520"/>
            <a:ext cx="457200" cy="457200"/>
          </a:xfrm>
          <a:prstGeom prst="roundRect">
            <a:avLst>
              <a:gd name="adj" fmla="val 20000"/>
            </a:avLst>
          </a:prstGeom>
          <a:solidFill>
            <a:schemeClr val="accent1"/>
          </a:solidFill>
          <a:ln w="12700">
            <a:solidFill>
              <a:schemeClr val="accent1"/>
            </a:solidFill>
            <a:prstDash val="solid"/>
          </a:ln>
        </p:spPr>
      </p:sp>
      <p:sp>
        <p:nvSpPr>
          <p:cNvPr id="31" name="Text 29"/>
          <p:cNvSpPr txBox="1"/>
          <p:nvPr/>
        </p:nvSpPr>
        <p:spPr>
          <a:xfrm>
            <a:off x="822960" y="53035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32" name="Text 30"/>
          <p:cNvSpPr txBox="1"/>
          <p:nvPr/>
        </p:nvSpPr>
        <p:spPr>
          <a:xfrm>
            <a:off x="1417320" y="5303520"/>
            <a:ext cx="1280160" cy="45720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ORANGE</a:t>
            </a:r>
            <a:endParaRPr lang="en-US" sz="1600" dirty="0"/>
          </a:p>
        </p:txBody>
      </p:sp>
      <p:sp>
        <p:nvSpPr>
          <p:cNvPr id="33" name="Text 31"/>
          <p:cNvSpPr txBox="1"/>
          <p:nvPr/>
        </p:nvSpPr>
        <p:spPr>
          <a:xfrm>
            <a:off x="2651760" y="5303520"/>
            <a:ext cx="54864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Georgia" pitchFamily="34" charset="0"/>
                <a:ea typeface="Georgia" pitchFamily="34" charset="-122"/>
                <a:cs typeface="Georgia" pitchFamily="34" charset="-120"/>
              </a:rPr>
              <a:t>10</a:t>
            </a:r>
            <a:endParaRPr lang="en-US" sz="2400" dirty="0"/>
          </a:p>
        </p:txBody>
      </p:sp>
      <p:sp>
        <p:nvSpPr>
          <p:cNvPr id="34" name="Shape 32"/>
          <p:cNvSpPr/>
          <p:nvPr/>
        </p:nvSpPr>
        <p:spPr>
          <a:xfrm>
            <a:off x="3520440" y="5303520"/>
            <a:ext cx="457200" cy="457200"/>
          </a:xfrm>
          <a:prstGeom prst="roundRect">
            <a:avLst>
              <a:gd name="adj" fmla="val 20000"/>
            </a:avLst>
          </a:prstGeom>
          <a:solidFill>
            <a:schemeClr val="accent4"/>
          </a:solidFill>
          <a:ln w="12700">
            <a:solidFill>
              <a:schemeClr val="accent4"/>
            </a:solidFill>
            <a:prstDash val="solid"/>
          </a:ln>
        </p:spPr>
      </p:sp>
      <p:sp>
        <p:nvSpPr>
          <p:cNvPr id="35" name="Text 33"/>
          <p:cNvSpPr txBox="1"/>
          <p:nvPr/>
        </p:nvSpPr>
        <p:spPr>
          <a:xfrm>
            <a:off x="3520440" y="53035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36" name="Text 34"/>
          <p:cNvSpPr txBox="1"/>
          <p:nvPr/>
        </p:nvSpPr>
        <p:spPr>
          <a:xfrm>
            <a:off x="4114800" y="5303520"/>
            <a:ext cx="1280160" cy="45720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PURPLE</a:t>
            </a:r>
            <a:endParaRPr lang="en-US" sz="1600" dirty="0"/>
          </a:p>
        </p:txBody>
      </p:sp>
      <p:sp>
        <p:nvSpPr>
          <p:cNvPr id="37" name="Text 35"/>
          <p:cNvSpPr txBox="1"/>
          <p:nvPr/>
        </p:nvSpPr>
        <p:spPr>
          <a:xfrm>
            <a:off x="5349240" y="5303520"/>
            <a:ext cx="548640" cy="457200"/>
          </a:xfrm>
          <a:prstGeom prst="rect">
            <a:avLst/>
          </a:prstGeom>
          <a:noFill/>
          <a:ln/>
        </p:spPr>
        <p:txBody>
          <a:bodyPr wrap="square" lIns="0" tIns="0" rIns="0" bIns="0" rtlCol="0" anchor="ctr"/>
          <a:lstStyle/>
          <a:p>
            <a:pPr algn="r" indent="0" marL="0">
              <a:buNone/>
            </a:pPr>
            <a:r>
              <a:rPr lang="en-US" sz="2400" b="1" dirty="0">
                <a:solidFill>
                  <a:schemeClr val="accent4"/>
                </a:solidFill>
                <a:latin typeface="Georgia" pitchFamily="34" charset="0"/>
                <a:ea typeface="Georgia" pitchFamily="34" charset="-122"/>
                <a:cs typeface="Georgia" pitchFamily="34" charset="-120"/>
              </a:rPr>
              <a:t>8</a:t>
            </a:r>
            <a:endParaRPr lang="en-US" sz="2400" dirty="0"/>
          </a:p>
        </p:txBody>
      </p:sp>
      <p:sp>
        <p:nvSpPr>
          <p:cNvPr id="38" name="Shape 36"/>
          <p:cNvSpPr/>
          <p:nvPr/>
        </p:nvSpPr>
        <p:spPr>
          <a:xfrm>
            <a:off x="6217920" y="5303520"/>
            <a:ext cx="457200" cy="457200"/>
          </a:xfrm>
          <a:prstGeom prst="roundRect">
            <a:avLst>
              <a:gd name="adj" fmla="val 20000"/>
            </a:avLst>
          </a:prstGeom>
          <a:solidFill>
            <a:schemeClr val="accent3"/>
          </a:solidFill>
          <a:ln w="12700">
            <a:solidFill>
              <a:schemeClr val="accent3"/>
            </a:solidFill>
            <a:prstDash val="solid"/>
          </a:ln>
        </p:spPr>
      </p:sp>
      <p:sp>
        <p:nvSpPr>
          <p:cNvPr id="39" name="Text 37"/>
          <p:cNvSpPr txBox="1"/>
          <p:nvPr/>
        </p:nvSpPr>
        <p:spPr>
          <a:xfrm>
            <a:off x="6217920" y="53035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40" name="Text 38"/>
          <p:cNvSpPr txBox="1"/>
          <p:nvPr/>
        </p:nvSpPr>
        <p:spPr>
          <a:xfrm>
            <a:off x="6812280" y="5303520"/>
            <a:ext cx="1280160" cy="45720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GREEN</a:t>
            </a:r>
            <a:endParaRPr lang="en-US" sz="1600" dirty="0"/>
          </a:p>
        </p:txBody>
      </p:sp>
      <p:sp>
        <p:nvSpPr>
          <p:cNvPr id="41" name="Text 39"/>
          <p:cNvSpPr txBox="1"/>
          <p:nvPr/>
        </p:nvSpPr>
        <p:spPr>
          <a:xfrm>
            <a:off x="8046720" y="5303520"/>
            <a:ext cx="548640" cy="457200"/>
          </a:xfrm>
          <a:prstGeom prst="rect">
            <a:avLst/>
          </a:prstGeom>
          <a:noFill/>
          <a:ln/>
        </p:spPr>
        <p:txBody>
          <a:bodyPr wrap="square" lIns="0" tIns="0" rIns="0" bIns="0" rtlCol="0" anchor="ctr"/>
          <a:lstStyle/>
          <a:p>
            <a:pPr algn="r" indent="0" marL="0">
              <a:buNone/>
            </a:pPr>
            <a:r>
              <a:rPr lang="en-US" sz="2400" b="1" dirty="0">
                <a:solidFill>
                  <a:schemeClr val="accent3"/>
                </a:solidFill>
                <a:latin typeface="Georgia" pitchFamily="34" charset="0"/>
                <a:ea typeface="Georgia" pitchFamily="34" charset="-122"/>
                <a:cs typeface="Georgia" pitchFamily="34" charset="-120"/>
              </a:rPr>
              <a:t>6</a:t>
            </a:r>
            <a:endParaRPr lang="en-US" sz="2400" dirty="0"/>
          </a:p>
        </p:txBody>
      </p:sp>
      <p:sp>
        <p:nvSpPr>
          <p:cNvPr id="42" name="Shape 40"/>
          <p:cNvSpPr/>
          <p:nvPr/>
        </p:nvSpPr>
        <p:spPr>
          <a:xfrm>
            <a:off x="8915400" y="5303520"/>
            <a:ext cx="457200" cy="457200"/>
          </a:xfrm>
          <a:prstGeom prst="roundRect">
            <a:avLst>
              <a:gd name="adj" fmla="val 20000"/>
            </a:avLst>
          </a:prstGeom>
          <a:solidFill>
            <a:schemeClr val="accent2"/>
          </a:solidFill>
          <a:ln w="12700">
            <a:solidFill>
              <a:schemeClr val="accent2"/>
            </a:solidFill>
            <a:prstDash val="solid"/>
          </a:ln>
        </p:spPr>
      </p:sp>
      <p:sp>
        <p:nvSpPr>
          <p:cNvPr id="43" name="Text 41"/>
          <p:cNvSpPr txBox="1"/>
          <p:nvPr/>
        </p:nvSpPr>
        <p:spPr>
          <a:xfrm>
            <a:off x="8915400" y="53035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4</a:t>
            </a:r>
            <a:endParaRPr lang="en-US" sz="1600" dirty="0"/>
          </a:p>
        </p:txBody>
      </p:sp>
      <p:sp>
        <p:nvSpPr>
          <p:cNvPr id="44" name="Text 42"/>
          <p:cNvSpPr txBox="1"/>
          <p:nvPr/>
        </p:nvSpPr>
        <p:spPr>
          <a:xfrm>
            <a:off x="9509760" y="5303520"/>
            <a:ext cx="1280160" cy="45720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CYAN</a:t>
            </a:r>
            <a:endParaRPr lang="en-US" sz="1600" dirty="0"/>
          </a:p>
        </p:txBody>
      </p:sp>
      <p:sp>
        <p:nvSpPr>
          <p:cNvPr id="45" name="Text 43"/>
          <p:cNvSpPr txBox="1"/>
          <p:nvPr/>
        </p:nvSpPr>
        <p:spPr>
          <a:xfrm>
            <a:off x="10744200" y="5303520"/>
            <a:ext cx="548640" cy="457200"/>
          </a:xfrm>
          <a:prstGeom prst="rect">
            <a:avLst/>
          </a:prstGeom>
          <a:noFill/>
          <a:ln/>
        </p:spPr>
        <p:txBody>
          <a:bodyPr wrap="square" lIns="0" tIns="0" rIns="0" bIns="0" rtlCol="0" anchor="ctr"/>
          <a:lstStyle/>
          <a:p>
            <a:pPr algn="r" indent="0" marL="0">
              <a:buNone/>
            </a:pPr>
            <a:r>
              <a:rPr lang="en-US" sz="2400" b="1" dirty="0">
                <a:solidFill>
                  <a:schemeClr val="accent2"/>
                </a:solidFill>
                <a:latin typeface="Georgia" pitchFamily="34" charset="0"/>
                <a:ea typeface="Georgia" pitchFamily="34" charset="-122"/>
                <a:cs typeface="Georgia" pitchFamily="34" charset="-120"/>
              </a:rPr>
              <a:t>5</a:t>
            </a:r>
            <a:endParaRPr lang="en-US" sz="2400" dirty="0"/>
          </a:p>
        </p:txBody>
      </p:sp>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F8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03 / THE CAST</a:t>
            </a:r>
            <a:endParaRPr lang="en-US" sz="1200" dirty="0"/>
          </a:p>
        </p:txBody>
      </p:sp>
      <p:sp>
        <p:nvSpPr>
          <p:cNvPr id="3" name="Text 1"/>
          <p:cNvSpPr/>
          <p:nvPr>
            <p:ph idx="105" type="title" hasCustomPrompt="1"/>
          </p:nvPr>
        </p:nvSpPr>
        <p:spPr>
          <a:xfrm>
            <a:off x="548640" y="713232"/>
            <a:ext cx="11094415" cy="914400"/>
          </a:xfrm>
          <a:prstGeom prst="rect">
            <a:avLst/>
          </a:prstGeom>
          <a:noFill/>
          <a:ln/>
        </p:spPr>
        <p:txBody>
          <a:bodyPr wrap="square" lIns="0" tIns="0" rIns="0" bIns="0" rtlCol="0" anchor="t"/>
          <a:lstStyle/>
          <a:p>
            <a:pPr algn="l" indent="0" marL="0">
              <a:buNone/>
            </a:pPr>
            <a:r>
              <a:rPr lang="en-US" sz="3600" b="1" dirty="0">
                <a:solidFill>
                  <a:schemeClr val="bg1"/>
                </a:solidFill>
                <a:latin typeface="Georgia" pitchFamily="34" charset="0"/>
                <a:ea typeface="Georgia" pitchFamily="34" charset="-122"/>
                <a:cs typeface="Georgia" pitchFamily="34" charset="-120"/>
              </a:rPr>
              <a:t>Four cubes, one rule set</a:t>
            </a:r>
            <a:endParaRPr lang="en-US" sz="3600" dirty="0"/>
          </a:p>
        </p:txBody>
      </p:sp>
      <p:sp>
        <p:nvSpPr>
          <p:cNvPr id="4" name="Orange card"/>
          <p:cNvSpPr/>
          <p:nvPr/>
        </p:nvSpPr>
        <p:spPr>
          <a:xfrm>
            <a:off x="548640" y="1783080"/>
            <a:ext cx="2606040" cy="3246120"/>
          </a:xfrm>
          <a:prstGeom prst="roundRect">
            <a:avLst>
              <a:gd name="adj" fmla="val 7018"/>
            </a:avLst>
          </a:prstGeom>
          <a:solidFill>
            <a:srgbClr val="0F2C6B"/>
          </a:solidFill>
          <a:ln w="12700">
            <a:solidFill>
              <a:srgbClr val="16398A"/>
            </a:solidFill>
            <a:prstDash val="solid"/>
          </a:ln>
          <a:effectLst>
            <a:outerShdw sx="100000" sy="100000" kx="0" ky="0" algn="bl" rotWithShape="0" blurRad="177800" dist="38100" dir="5400000">
              <a:srgbClr val="0A1E4A">
                <a:alpha val="20000"/>
              </a:srgbClr>
            </a:outerShdw>
          </a:effectLst>
        </p:spPr>
      </p:sp>
      <p:pic>
        <p:nvPicPr>
          <p:cNvPr id="5" name="Orange portrait" descr="Orange cube character">    </p:cNvPr>
          <p:cNvPicPr>
            <a:picLocks noChangeAspect="1"/>
          </p:cNvPicPr>
          <p:nvPr/>
        </p:nvPicPr>
        <p:blipFill>
          <a:blip r:embed="rId1"/>
          <a:stretch>
            <a:fillRect/>
          </a:stretch>
        </p:blipFill>
        <p:spPr>
          <a:xfrm>
            <a:off x="685800" y="1874520"/>
            <a:ext cx="2331720" cy="2185987"/>
          </a:xfrm>
          <a:prstGeom prst="rect">
            <a:avLst/>
          </a:prstGeom>
        </p:spPr>
      </p:pic>
      <p:sp>
        <p:nvSpPr>
          <p:cNvPr id="6" name="Text 3"/>
          <p:cNvSpPr txBox="1"/>
          <p:nvPr/>
        </p:nvSpPr>
        <p:spPr>
          <a:xfrm>
            <a:off x="777240" y="4160520"/>
            <a:ext cx="2194560" cy="274320"/>
          </a:xfrm>
          <a:prstGeom prst="rect">
            <a:avLst/>
          </a:prstGeom>
          <a:noFill/>
          <a:ln/>
        </p:spPr>
        <p:txBody>
          <a:bodyPr wrap="square" lIns="0" tIns="0" rIns="0" bIns="0" rtlCol="0" anchor="ctr"/>
          <a:lstStyle/>
          <a:p>
            <a:pPr indent="0" marL="0">
              <a:buNone/>
            </a:pPr>
            <a:r>
              <a:rPr lang="en-US" sz="1300" b="1" spc="300" kern="0" dirty="0">
                <a:solidFill>
                  <a:schemeClr val="accent1"/>
                </a:solidFill>
                <a:latin typeface="Calibri" pitchFamily="34" charset="0"/>
                <a:ea typeface="Calibri" pitchFamily="34" charset="-122"/>
                <a:cs typeface="Calibri" pitchFamily="34" charset="-120"/>
              </a:rPr>
              <a:t>ORANGE</a:t>
            </a:r>
            <a:endParaRPr lang="en-US" sz="1300" dirty="0"/>
          </a:p>
        </p:txBody>
      </p:sp>
      <p:sp>
        <p:nvSpPr>
          <p:cNvPr id="7" name="Text 4"/>
          <p:cNvSpPr txBox="1"/>
          <p:nvPr/>
        </p:nvSpPr>
        <p:spPr>
          <a:xfrm>
            <a:off x="777240" y="4462272"/>
            <a:ext cx="2194560" cy="457200"/>
          </a:xfrm>
          <a:prstGeom prst="rect">
            <a:avLst/>
          </a:prstGeom>
          <a:noFill/>
          <a:ln/>
        </p:spPr>
        <p:txBody>
          <a:bodyPr wrap="square" lIns="0" tIns="0" rIns="0" bIns="0" rtlCol="0" anchor="t"/>
          <a:lstStyle/>
          <a:p>
            <a:pPr indent="0" marL="0">
              <a:buNone/>
            </a:pPr>
            <a:r>
              <a:rPr lang="en-US" sz="1500" i="1" dirty="0">
                <a:solidFill>
                  <a:schemeClr val="bg1"/>
                </a:solidFill>
                <a:latin typeface="Georgia" pitchFamily="34" charset="0"/>
                <a:ea typeface="Georgia" pitchFamily="34" charset="-122"/>
                <a:cs typeface="Georgia" pitchFamily="34" charset="-120"/>
              </a:rPr>
              <a:t>Loud and first to throw.</a:t>
            </a:r>
            <a:endParaRPr lang="en-US" sz="1500" dirty="0"/>
          </a:p>
        </p:txBody>
      </p:sp>
      <p:sp>
        <p:nvSpPr>
          <p:cNvPr id="8" name="Cyan card"/>
          <p:cNvSpPr/>
          <p:nvPr/>
        </p:nvSpPr>
        <p:spPr>
          <a:xfrm>
            <a:off x="3364992" y="1783080"/>
            <a:ext cx="2606040" cy="3246120"/>
          </a:xfrm>
          <a:prstGeom prst="roundRect">
            <a:avLst>
              <a:gd name="adj" fmla="val 7018"/>
            </a:avLst>
          </a:prstGeom>
          <a:solidFill>
            <a:srgbClr val="0F2C6B"/>
          </a:solidFill>
          <a:ln w="12700">
            <a:solidFill>
              <a:srgbClr val="16398A"/>
            </a:solidFill>
            <a:prstDash val="solid"/>
          </a:ln>
          <a:effectLst>
            <a:outerShdw sx="100000" sy="100000" kx="0" ky="0" algn="bl" rotWithShape="0" blurRad="177800" dist="38100" dir="5400000">
              <a:srgbClr val="0A1E4A">
                <a:alpha val="20000"/>
              </a:srgbClr>
            </a:outerShdw>
          </a:effectLst>
        </p:spPr>
      </p:sp>
      <p:pic>
        <p:nvPicPr>
          <p:cNvPr id="9" name="Cyan portrait" descr="Cyan cube character">    </p:cNvPr>
          <p:cNvPicPr>
            <a:picLocks noChangeAspect="1"/>
          </p:cNvPicPr>
          <p:nvPr/>
        </p:nvPicPr>
        <p:blipFill>
          <a:blip r:embed="rId2"/>
          <a:stretch>
            <a:fillRect/>
          </a:stretch>
        </p:blipFill>
        <p:spPr>
          <a:xfrm>
            <a:off x="3502152" y="1874520"/>
            <a:ext cx="2331720" cy="2185987"/>
          </a:xfrm>
          <a:prstGeom prst="rect">
            <a:avLst/>
          </a:prstGeom>
        </p:spPr>
      </p:pic>
      <p:sp>
        <p:nvSpPr>
          <p:cNvPr id="10" name="Text 6"/>
          <p:cNvSpPr txBox="1"/>
          <p:nvPr/>
        </p:nvSpPr>
        <p:spPr>
          <a:xfrm>
            <a:off x="3593592" y="4160520"/>
            <a:ext cx="2194560" cy="274320"/>
          </a:xfrm>
          <a:prstGeom prst="rect">
            <a:avLst/>
          </a:prstGeom>
          <a:noFill/>
          <a:ln/>
        </p:spPr>
        <p:txBody>
          <a:bodyPr wrap="square" lIns="0" tIns="0" rIns="0" bIns="0" rtlCol="0" anchor="ctr"/>
          <a:lstStyle/>
          <a:p>
            <a:pPr indent="0" marL="0">
              <a:buNone/>
            </a:pPr>
            <a:r>
              <a:rPr lang="en-US" sz="1300" b="1" spc="300" kern="0" dirty="0">
                <a:solidFill>
                  <a:schemeClr val="accent2"/>
                </a:solidFill>
                <a:latin typeface="Calibri" pitchFamily="34" charset="0"/>
                <a:ea typeface="Calibri" pitchFamily="34" charset="-122"/>
                <a:cs typeface="Calibri" pitchFamily="34" charset="-120"/>
              </a:rPr>
              <a:t>CYAN</a:t>
            </a:r>
            <a:endParaRPr lang="en-US" sz="1300" dirty="0"/>
          </a:p>
        </p:txBody>
      </p:sp>
      <p:sp>
        <p:nvSpPr>
          <p:cNvPr id="11" name="Text 7"/>
          <p:cNvSpPr txBox="1"/>
          <p:nvPr/>
        </p:nvSpPr>
        <p:spPr>
          <a:xfrm>
            <a:off x="3593592" y="4462272"/>
            <a:ext cx="2194560" cy="457200"/>
          </a:xfrm>
          <a:prstGeom prst="rect">
            <a:avLst/>
          </a:prstGeom>
          <a:noFill/>
          <a:ln/>
        </p:spPr>
        <p:txBody>
          <a:bodyPr wrap="square" lIns="0" tIns="0" rIns="0" bIns="0" rtlCol="0" anchor="t"/>
          <a:lstStyle/>
          <a:p>
            <a:pPr indent="0" marL="0">
              <a:buNone/>
            </a:pPr>
            <a:r>
              <a:rPr lang="en-US" sz="1500" i="1" dirty="0">
                <a:solidFill>
                  <a:schemeClr val="bg1"/>
                </a:solidFill>
                <a:latin typeface="Georgia" pitchFamily="34" charset="0"/>
                <a:ea typeface="Georgia" pitchFamily="34" charset="-122"/>
                <a:cs typeface="Georgia" pitchFamily="34" charset="-120"/>
              </a:rPr>
              <a:t>Slides further than anyone.</a:t>
            </a:r>
            <a:endParaRPr lang="en-US" sz="1500" dirty="0"/>
          </a:p>
        </p:txBody>
      </p:sp>
      <p:sp>
        <p:nvSpPr>
          <p:cNvPr id="12" name="Green card"/>
          <p:cNvSpPr/>
          <p:nvPr/>
        </p:nvSpPr>
        <p:spPr>
          <a:xfrm>
            <a:off x="6181344" y="1783080"/>
            <a:ext cx="2606040" cy="3246120"/>
          </a:xfrm>
          <a:prstGeom prst="roundRect">
            <a:avLst>
              <a:gd name="adj" fmla="val 7018"/>
            </a:avLst>
          </a:prstGeom>
          <a:solidFill>
            <a:srgbClr val="0F2C6B"/>
          </a:solidFill>
          <a:ln w="12700">
            <a:solidFill>
              <a:srgbClr val="16398A"/>
            </a:solidFill>
            <a:prstDash val="solid"/>
          </a:ln>
          <a:effectLst>
            <a:outerShdw sx="100000" sy="100000" kx="0" ky="0" algn="bl" rotWithShape="0" blurRad="177800" dist="38100" dir="5400000">
              <a:srgbClr val="0A1E4A">
                <a:alpha val="20000"/>
              </a:srgbClr>
            </a:outerShdw>
          </a:effectLst>
        </p:spPr>
      </p:sp>
      <p:pic>
        <p:nvPicPr>
          <p:cNvPr id="13" name="Green portrait" descr="Green cube character">    </p:cNvPr>
          <p:cNvPicPr>
            <a:picLocks noChangeAspect="1"/>
          </p:cNvPicPr>
          <p:nvPr/>
        </p:nvPicPr>
        <p:blipFill>
          <a:blip r:embed="rId3"/>
          <a:stretch>
            <a:fillRect/>
          </a:stretch>
        </p:blipFill>
        <p:spPr>
          <a:xfrm>
            <a:off x="6318504" y="1874520"/>
            <a:ext cx="2331720" cy="2185987"/>
          </a:xfrm>
          <a:prstGeom prst="rect">
            <a:avLst/>
          </a:prstGeom>
        </p:spPr>
      </p:pic>
      <p:sp>
        <p:nvSpPr>
          <p:cNvPr id="14" name="Text 9"/>
          <p:cNvSpPr txBox="1"/>
          <p:nvPr/>
        </p:nvSpPr>
        <p:spPr>
          <a:xfrm>
            <a:off x="6409944" y="4160520"/>
            <a:ext cx="2194560" cy="274320"/>
          </a:xfrm>
          <a:prstGeom prst="rect">
            <a:avLst/>
          </a:prstGeom>
          <a:noFill/>
          <a:ln/>
        </p:spPr>
        <p:txBody>
          <a:bodyPr wrap="square" lIns="0" tIns="0" rIns="0" bIns="0" rtlCol="0" anchor="ctr"/>
          <a:lstStyle/>
          <a:p>
            <a:pPr indent="0" marL="0">
              <a:buNone/>
            </a:pPr>
            <a:r>
              <a:rPr lang="en-US" sz="1300" b="1" spc="300" kern="0" dirty="0">
                <a:solidFill>
                  <a:schemeClr val="accent3"/>
                </a:solidFill>
                <a:latin typeface="Calibri" pitchFamily="34" charset="0"/>
                <a:ea typeface="Calibri" pitchFamily="34" charset="-122"/>
                <a:cs typeface="Calibri" pitchFamily="34" charset="-120"/>
              </a:rPr>
              <a:t>GREEN</a:t>
            </a:r>
            <a:endParaRPr lang="en-US" sz="1300" dirty="0"/>
          </a:p>
        </p:txBody>
      </p:sp>
      <p:sp>
        <p:nvSpPr>
          <p:cNvPr id="15" name="Text 10"/>
          <p:cNvSpPr txBox="1"/>
          <p:nvPr/>
        </p:nvSpPr>
        <p:spPr>
          <a:xfrm>
            <a:off x="6409944" y="4462272"/>
            <a:ext cx="2194560" cy="457200"/>
          </a:xfrm>
          <a:prstGeom prst="rect">
            <a:avLst/>
          </a:prstGeom>
          <a:noFill/>
          <a:ln/>
        </p:spPr>
        <p:txBody>
          <a:bodyPr wrap="square" lIns="0" tIns="0" rIns="0" bIns="0" rtlCol="0" anchor="t"/>
          <a:lstStyle/>
          <a:p>
            <a:pPr indent="0" marL="0">
              <a:buNone/>
            </a:pPr>
            <a:r>
              <a:rPr lang="en-US" sz="1500" i="1" dirty="0">
                <a:solidFill>
                  <a:schemeClr val="bg1"/>
                </a:solidFill>
                <a:latin typeface="Georgia" pitchFamily="34" charset="0"/>
                <a:ea typeface="Georgia" pitchFamily="34" charset="-122"/>
                <a:cs typeface="Georgia" pitchFamily="34" charset="-120"/>
              </a:rPr>
              <a:t>Waits, then strikes.</a:t>
            </a:r>
            <a:endParaRPr lang="en-US" sz="1500" dirty="0"/>
          </a:p>
        </p:txBody>
      </p:sp>
      <p:sp>
        <p:nvSpPr>
          <p:cNvPr id="16" name="Purple card"/>
          <p:cNvSpPr/>
          <p:nvPr/>
        </p:nvSpPr>
        <p:spPr>
          <a:xfrm>
            <a:off x="8997696" y="1783080"/>
            <a:ext cx="2606040" cy="3246120"/>
          </a:xfrm>
          <a:prstGeom prst="roundRect">
            <a:avLst>
              <a:gd name="adj" fmla="val 7018"/>
            </a:avLst>
          </a:prstGeom>
          <a:solidFill>
            <a:srgbClr val="0F2C6B"/>
          </a:solidFill>
          <a:ln w="12700">
            <a:solidFill>
              <a:srgbClr val="16398A"/>
            </a:solidFill>
            <a:prstDash val="solid"/>
          </a:ln>
          <a:effectLst>
            <a:outerShdw sx="100000" sy="100000" kx="0" ky="0" algn="bl" rotWithShape="0" blurRad="177800" dist="38100" dir="5400000">
              <a:srgbClr val="0A1E4A">
                <a:alpha val="20000"/>
              </a:srgbClr>
            </a:outerShdw>
          </a:effectLst>
        </p:spPr>
      </p:sp>
      <p:pic>
        <p:nvPicPr>
          <p:cNvPr id="17" name="Purple portrait" descr="Purple cube character">    </p:cNvPr>
          <p:cNvPicPr>
            <a:picLocks noChangeAspect="1"/>
          </p:cNvPicPr>
          <p:nvPr/>
        </p:nvPicPr>
        <p:blipFill>
          <a:blip r:embed="rId4"/>
          <a:stretch>
            <a:fillRect/>
          </a:stretch>
        </p:blipFill>
        <p:spPr>
          <a:xfrm>
            <a:off x="9134856" y="1874520"/>
            <a:ext cx="2331720" cy="2185987"/>
          </a:xfrm>
          <a:prstGeom prst="rect">
            <a:avLst/>
          </a:prstGeom>
        </p:spPr>
      </p:pic>
      <p:sp>
        <p:nvSpPr>
          <p:cNvPr id="18" name="Text 12"/>
          <p:cNvSpPr txBox="1"/>
          <p:nvPr/>
        </p:nvSpPr>
        <p:spPr>
          <a:xfrm>
            <a:off x="9226296" y="4160520"/>
            <a:ext cx="2194560" cy="274320"/>
          </a:xfrm>
          <a:prstGeom prst="rect">
            <a:avLst/>
          </a:prstGeom>
          <a:noFill/>
          <a:ln/>
        </p:spPr>
        <p:txBody>
          <a:bodyPr wrap="square" lIns="0" tIns="0" rIns="0" bIns="0" rtlCol="0" anchor="ctr"/>
          <a:lstStyle/>
          <a:p>
            <a:pPr indent="0" marL="0">
              <a:buNone/>
            </a:pPr>
            <a:r>
              <a:rPr lang="en-US" sz="1300" b="1" spc="300" kern="0" dirty="0">
                <a:solidFill>
                  <a:schemeClr val="accent4"/>
                </a:solidFill>
                <a:latin typeface="Calibri" pitchFamily="34" charset="0"/>
                <a:ea typeface="Calibri" pitchFamily="34" charset="-122"/>
                <a:cs typeface="Calibri" pitchFamily="34" charset="-120"/>
              </a:rPr>
              <a:t>PURPLE</a:t>
            </a:r>
            <a:endParaRPr lang="en-US" sz="1300" dirty="0"/>
          </a:p>
        </p:txBody>
      </p:sp>
      <p:sp>
        <p:nvSpPr>
          <p:cNvPr id="19" name="Text 13"/>
          <p:cNvSpPr txBox="1"/>
          <p:nvPr/>
        </p:nvSpPr>
        <p:spPr>
          <a:xfrm>
            <a:off x="9226296" y="4462272"/>
            <a:ext cx="2194560" cy="457200"/>
          </a:xfrm>
          <a:prstGeom prst="rect">
            <a:avLst/>
          </a:prstGeom>
          <a:noFill/>
          <a:ln/>
        </p:spPr>
        <p:txBody>
          <a:bodyPr wrap="square" lIns="0" tIns="0" rIns="0" bIns="0" rtlCol="0" anchor="t"/>
          <a:lstStyle/>
          <a:p>
            <a:pPr indent="0" marL="0">
              <a:buNone/>
            </a:pPr>
            <a:r>
              <a:rPr lang="en-US" sz="1500" i="1" dirty="0">
                <a:solidFill>
                  <a:schemeClr val="bg1"/>
                </a:solidFill>
                <a:latin typeface="Georgia" pitchFamily="34" charset="0"/>
                <a:ea typeface="Georgia" pitchFamily="34" charset="-122"/>
                <a:cs typeface="Georgia" pitchFamily="34" charset="-120"/>
              </a:rPr>
              <a:t>Chaos with a grin.</a:t>
            </a:r>
            <a:endParaRPr lang="en-US" sz="1500" dirty="0"/>
          </a:p>
        </p:txBody>
      </p:sp>
      <p:sp>
        <p:nvSpPr>
          <p:cNvPr id="20" name="Text 14"/>
          <p:cNvSpPr txBox="1"/>
          <p:nvPr/>
        </p:nvSpPr>
        <p:spPr>
          <a:xfrm>
            <a:off x="548640" y="5212080"/>
            <a:ext cx="7863840" cy="914400"/>
          </a:xfrm>
          <a:prstGeom prst="rect">
            <a:avLst/>
          </a:prstGeom>
          <a:noFill/>
          <a:ln/>
        </p:spPr>
        <p:txBody>
          <a:bodyPr wrap="square" lIns="0" tIns="0" rIns="0" bIns="0" rtlCol="0" anchor="t"/>
          <a:lstStyle/>
          <a:p>
            <a:pPr indent="0" marL="0">
              <a:spcAft>
                <a:spcPts val="600"/>
              </a:spcAft>
              <a:buNone/>
            </a:pPr>
            <a:r>
              <a:rPr lang="en-US" sz="1600" dirty="0">
                <a:solidFill>
                  <a:schemeClr val="bg1"/>
                </a:solidFill>
                <a:latin typeface="Calibri" pitchFamily="34" charset="0"/>
                <a:ea typeface="Calibri" pitchFamily="34" charset="-122"/>
                <a:cs typeface="Calibri" pitchFamily="34" charset="-120"/>
              </a:rPr>
              <a:t>The same body for everyone — rounded cube, big eyes, tiny arms and feet. Color is identity; skill decides the winner. One shared character prefab keeps the project small and the rules readable at a glance.</a:t>
            </a:r>
            <a:endParaRPr lang="en-US" sz="1600" dirty="0"/>
          </a:p>
        </p:txBody>
      </p:sp>
      <p:sp>
        <p:nvSpPr>
          <p:cNvPr id="21" name="Text 15"/>
          <p:cNvSpPr txBox="1"/>
          <p:nvPr/>
        </p:nvSpPr>
        <p:spPr>
          <a:xfrm>
            <a:off x="8778240" y="5212080"/>
            <a:ext cx="2834640" cy="731520"/>
          </a:xfrm>
          <a:prstGeom prst="rect">
            <a:avLst/>
          </a:prstGeom>
          <a:noFill/>
          <a:ln/>
        </p:spPr>
        <p:txBody>
          <a:bodyPr wrap="square" lIns="0" tIns="0" rIns="0" bIns="0" rtlCol="0" anchor="t"/>
          <a:lstStyle/>
          <a:p>
            <a:pPr indent="0" marL="0">
              <a:buNone/>
            </a:pPr>
            <a:r>
              <a:rPr lang="en-US" sz="1500" b="1" dirty="0">
                <a:solidFill>
                  <a:schemeClr val="accent6"/>
                </a:solidFill>
                <a:latin typeface="Calibri" pitchFamily="34" charset="0"/>
                <a:ea typeface="Calibri" pitchFamily="34" charset="-122"/>
                <a:cs typeface="Calibri" pitchFamily="34" charset="-120"/>
              </a:rPr>
              <a:t>Size</a:t>
            </a:r>
            <a:endParaRPr lang="en-US" sz="1500" dirty="0"/>
          </a:p>
          <a:p>
            <a:pPr indent="0" marL="0">
              <a:buNone/>
            </a:pPr>
            <a:r>
              <a:rPr lang="en-US" sz="1500" dirty="0">
                <a:solidFill>
                  <a:schemeClr val="bg1"/>
                </a:solidFill>
                <a:latin typeface="Calibri" pitchFamily="34" charset="0"/>
                <a:ea typeface="Calibri" pitchFamily="34" charset="-122"/>
                <a:cs typeface="Calibri" pitchFamily="34" charset="-120"/>
              </a:rPr>
              <a:t>full 1.0  →  minimum 0.65</a:t>
            </a:r>
            <a:endParaRPr lang="en-US" sz="1500" dirty="0"/>
          </a:p>
        </p:txBody>
      </p:sp>
      <p:sp>
        <p:nvSpPr>
          <p:cNvPr id="22" name="Caption"/>
          <p:cNvSpPr txBox="1"/>
          <p:nvPr/>
        </p:nvSpPr>
        <p:spPr>
          <a:xfrm>
            <a:off x="548640" y="6126480"/>
            <a:ext cx="8229600" cy="274320"/>
          </a:xfrm>
          <a:prstGeom prst="rect">
            <a:avLst/>
          </a:prstGeom>
          <a:noFill/>
          <a:ln/>
        </p:spPr>
        <p:txBody>
          <a:bodyPr wrap="square" lIns="0" tIns="0" rIns="0" bIns="0" rtlCol="0" anchor="ctr"/>
          <a:lstStyle/>
          <a:p>
            <a:pPr indent="0" marL="0">
              <a:buNone/>
            </a:pPr>
            <a:r>
              <a:rPr lang="en-US" sz="1100" i="1" dirty="0">
                <a:solidFill>
                  <a:srgbClr val="A9C4EE"/>
                </a:solidFill>
                <a:latin typeface="Calibri" pitchFamily="34" charset="0"/>
                <a:ea typeface="Calibri" pitchFamily="34" charset="-122"/>
                <a:cs typeface="Calibri" pitchFamily="34" charset="-120"/>
              </a:rPr>
              <a:t>FIG. 2 — Character sheet (AI-generated concept art; final models TBD)</a:t>
            </a:r>
            <a:endParaRPr lang="en-US" sz="1100" dirty="0"/>
          </a:p>
        </p:txBody>
      </p:sp>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4E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chemeClr val="accent5"/>
                </a:solidFill>
                <a:latin typeface="Calibri" pitchFamily="34" charset="0"/>
                <a:ea typeface="Calibri" pitchFamily="34" charset="-122"/>
                <a:cs typeface="Calibri" pitchFamily="34" charset="-120"/>
              </a:rPr>
              <a:t>04 / THE CORE VERB</a:t>
            </a:r>
            <a:endParaRPr lang="en-US" sz="1200" dirty="0"/>
          </a:p>
        </p:txBody>
      </p:sp>
      <p:sp>
        <p:nvSpPr>
          <p:cNvPr id="3" name="Text 1"/>
          <p:cNvSpPr/>
          <p:nvPr>
            <p:ph idx="105" type="title" hasCustomPrompt="1"/>
          </p:nvPr>
        </p:nvSpPr>
        <p:spPr>
          <a:xfrm>
            <a:off x="548640" y="713232"/>
            <a:ext cx="11094415" cy="914400"/>
          </a:xfrm>
          <a:prstGeom prst="rect">
            <a:avLst/>
          </a:prstGeom>
          <a:noFill/>
          <a:ln/>
        </p:spPr>
        <p:txBody>
          <a:bodyPr wrap="square" lIns="0" tIns="0" rIns="0" bIns="0" rtlCol="0" anchor="t"/>
          <a:lstStyle/>
          <a:p>
            <a:pPr algn="l" indent="0" marL="0">
              <a:buNone/>
            </a:pPr>
            <a:r>
              <a:rPr lang="en-US" sz="3600" b="1" dirty="0">
                <a:solidFill>
                  <a:schemeClr val="tx1"/>
                </a:solidFill>
                <a:latin typeface="Georgia" pitchFamily="34" charset="0"/>
                <a:ea typeface="Georgia" pitchFamily="34" charset="-122"/>
                <a:cs typeface="Georgia" pitchFamily="34" charset="-120"/>
              </a:rPr>
              <a:t>Every shot costs you</a:t>
            </a:r>
            <a:endParaRPr lang="en-US" sz="3600" dirty="0"/>
          </a:p>
        </p:txBody>
      </p:sp>
      <p:sp>
        <p:nvSpPr>
          <p:cNvPr id="4" name="Text 2"/>
          <p:cNvSpPr txBox="1"/>
          <p:nvPr/>
        </p:nvSpPr>
        <p:spPr>
          <a:xfrm>
            <a:off x="548640" y="1783080"/>
            <a:ext cx="2103120" cy="822960"/>
          </a:xfrm>
          <a:prstGeom prst="rect">
            <a:avLst/>
          </a:prstGeom>
          <a:noFill/>
          <a:ln/>
        </p:spPr>
        <p:txBody>
          <a:bodyPr wrap="square" lIns="0" tIns="0" rIns="0" bIns="0" rtlCol="0" anchor="t"/>
          <a:lstStyle/>
          <a:p>
            <a:pPr indent="0" marL="0">
              <a:buNone/>
            </a:pPr>
            <a:r>
              <a:rPr lang="en-US" sz="4600" b="1" i="1" dirty="0">
                <a:solidFill>
                  <a:schemeClr val="accent1"/>
                </a:solidFill>
                <a:latin typeface="Georgia" pitchFamily="34" charset="0"/>
                <a:ea typeface="Georgia" pitchFamily="34" charset="-122"/>
                <a:cs typeface="Georgia" pitchFamily="34" charset="-120"/>
              </a:rPr>
              <a:t>−0.08</a:t>
            </a:r>
            <a:endParaRPr lang="en-US" sz="4600" dirty="0"/>
          </a:p>
        </p:txBody>
      </p:sp>
      <p:sp>
        <p:nvSpPr>
          <p:cNvPr id="5" name="Text 3"/>
          <p:cNvSpPr txBox="1"/>
          <p:nvPr/>
        </p:nvSpPr>
        <p:spPr>
          <a:xfrm>
            <a:off x="2788920" y="1801368"/>
            <a:ext cx="2743200" cy="274320"/>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SIZE PER THROW</a:t>
            </a:r>
            <a:endParaRPr lang="en-US" sz="1200" dirty="0"/>
          </a:p>
        </p:txBody>
      </p:sp>
      <p:sp>
        <p:nvSpPr>
          <p:cNvPr id="6" name="Text 4"/>
          <p:cNvSpPr txBox="1"/>
          <p:nvPr/>
        </p:nvSpPr>
        <p:spPr>
          <a:xfrm>
            <a:off x="2788920" y="2112264"/>
            <a:ext cx="2834640" cy="8686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 chunk of your own body leaves as the projectile. A miss still costs you.</a:t>
            </a:r>
            <a:endParaRPr lang="en-US" sz="1500" dirty="0"/>
          </a:p>
        </p:txBody>
      </p:sp>
      <p:sp>
        <p:nvSpPr>
          <p:cNvPr id="7" name="Text 5"/>
          <p:cNvSpPr txBox="1"/>
          <p:nvPr/>
        </p:nvSpPr>
        <p:spPr>
          <a:xfrm>
            <a:off x="548640" y="3200400"/>
            <a:ext cx="2103120" cy="822960"/>
          </a:xfrm>
          <a:prstGeom prst="rect">
            <a:avLst/>
          </a:prstGeom>
          <a:noFill/>
          <a:ln/>
        </p:spPr>
        <p:txBody>
          <a:bodyPr wrap="square" lIns="0" tIns="0" rIns="0" bIns="0" rtlCol="0" anchor="t"/>
          <a:lstStyle/>
          <a:p>
            <a:pPr indent="0" marL="0">
              <a:buNone/>
            </a:pPr>
            <a:r>
              <a:rPr lang="en-US" sz="4600" b="1" i="1" dirty="0">
                <a:solidFill>
                  <a:schemeClr val="accent2"/>
                </a:solidFill>
                <a:latin typeface="Georgia" pitchFamily="34" charset="0"/>
                <a:ea typeface="Georgia" pitchFamily="34" charset="-122"/>
                <a:cs typeface="Georgia" pitchFamily="34" charset="-120"/>
              </a:rPr>
              <a:t>−0.12</a:t>
            </a:r>
            <a:endParaRPr lang="en-US" sz="4600" dirty="0"/>
          </a:p>
        </p:txBody>
      </p:sp>
      <p:sp>
        <p:nvSpPr>
          <p:cNvPr id="8" name="Text 6"/>
          <p:cNvSpPr txBox="1"/>
          <p:nvPr/>
        </p:nvSpPr>
        <p:spPr>
          <a:xfrm>
            <a:off x="2788920" y="3218688"/>
            <a:ext cx="2743200" cy="274320"/>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SIZE WHEN HIT</a:t>
            </a:r>
            <a:endParaRPr lang="en-US" sz="1200" dirty="0"/>
          </a:p>
        </p:txBody>
      </p:sp>
      <p:sp>
        <p:nvSpPr>
          <p:cNvPr id="9" name="Text 7"/>
          <p:cNvSpPr txBox="1"/>
          <p:nvPr/>
        </p:nvSpPr>
        <p:spPr>
          <a:xfrm>
            <a:off x="2788920" y="3529584"/>
            <a:ext cx="2834640" cy="8686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The target squashes, splashes cyan fragments and loses mass.</a:t>
            </a:r>
            <a:endParaRPr lang="en-US" sz="1500" dirty="0"/>
          </a:p>
        </p:txBody>
      </p:sp>
      <p:sp>
        <p:nvSpPr>
          <p:cNvPr id="10" name="Text 8"/>
          <p:cNvSpPr txBox="1"/>
          <p:nvPr/>
        </p:nvSpPr>
        <p:spPr>
          <a:xfrm>
            <a:off x="548640" y="4617720"/>
            <a:ext cx="2103120" cy="822960"/>
          </a:xfrm>
          <a:prstGeom prst="rect">
            <a:avLst/>
          </a:prstGeom>
          <a:noFill/>
          <a:ln/>
        </p:spPr>
        <p:txBody>
          <a:bodyPr wrap="square" lIns="0" tIns="0" rIns="0" bIns="0" rtlCol="0" anchor="t"/>
          <a:lstStyle/>
          <a:p>
            <a:pPr indent="0" marL="0">
              <a:buNone/>
            </a:pPr>
            <a:r>
              <a:rPr lang="en-US" sz="4600" b="1" i="1" dirty="0">
                <a:solidFill>
                  <a:schemeClr val="accent4"/>
                </a:solidFill>
                <a:latin typeface="Georgia" pitchFamily="34" charset="0"/>
                <a:ea typeface="Georgia" pitchFamily="34" charset="-122"/>
                <a:cs typeface="Georgia" pitchFamily="34" charset="-120"/>
              </a:rPr>
              <a:t>+70%</a:t>
            </a:r>
            <a:endParaRPr lang="en-US" sz="4600" dirty="0"/>
          </a:p>
        </p:txBody>
      </p:sp>
      <p:sp>
        <p:nvSpPr>
          <p:cNvPr id="11" name="Text 9"/>
          <p:cNvSpPr txBox="1"/>
          <p:nvPr/>
        </p:nvSpPr>
        <p:spPr>
          <a:xfrm>
            <a:off x="2788920" y="4636008"/>
            <a:ext cx="2743200" cy="274320"/>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KNOCKBACK AT MINIMUM SIZE</a:t>
            </a:r>
            <a:endParaRPr lang="en-US" sz="1200" dirty="0"/>
          </a:p>
        </p:txBody>
      </p:sp>
      <p:sp>
        <p:nvSpPr>
          <p:cNvPr id="12" name="Text 10"/>
          <p:cNvSpPr txBox="1"/>
          <p:nvPr/>
        </p:nvSpPr>
        <p:spPr>
          <a:xfrm>
            <a:off x="2788920" y="4946904"/>
            <a:ext cx="2834640" cy="8686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Lighter bodies launch further, so each hit makes the next one stronger.</a:t>
            </a:r>
            <a:endParaRPr lang="en-US" sz="1500" dirty="0"/>
          </a:p>
        </p:txBody>
      </p:sp>
      <p:pic>
        <p:nvPicPr>
          <p:cNvPr id="13" name="Knockout concept" descr="Concept visual: orange cube throws a chunk of itself at cyan, which squashes and splashes">    </p:cNvPr>
          <p:cNvPicPr>
            <a:picLocks noChangeAspect="1"/>
          </p:cNvPicPr>
          <p:nvPr/>
        </p:nvPicPr>
        <p:blipFill>
          <a:blip r:embed="rId1"/>
          <a:stretch>
            <a:fillRect/>
          </a:stretch>
        </p:blipFill>
        <p:spPr>
          <a:xfrm>
            <a:off x="5989320" y="1783080"/>
            <a:ext cx="5650992" cy="3229138"/>
          </a:xfrm>
          <a:prstGeom prst="rect">
            <a:avLst/>
          </a:prstGeom>
        </p:spPr>
      </p:pic>
      <p:sp>
        <p:nvSpPr>
          <p:cNvPr id="14" name="Caption"/>
          <p:cNvSpPr txBox="1"/>
          <p:nvPr/>
        </p:nvSpPr>
        <p:spPr>
          <a:xfrm>
            <a:off x="5989320" y="5103658"/>
            <a:ext cx="5669280" cy="274320"/>
          </a:xfrm>
          <a:prstGeom prst="rect">
            <a:avLst/>
          </a:prstGeom>
          <a:noFill/>
          <a:ln/>
        </p:spPr>
        <p:txBody>
          <a:bodyPr wrap="square" lIns="0" tIns="0" rIns="0" bIns="0" rtlCol="0" anchor="ctr"/>
          <a:lstStyle/>
          <a:p>
            <a:pPr indent="0" marL="0">
              <a:buNone/>
            </a:pPr>
            <a:r>
              <a:rPr lang="en-US" sz="1100" i="1" dirty="0">
                <a:solidFill>
                  <a:srgbClr val="4A5F8A"/>
                </a:solidFill>
                <a:latin typeface="Calibri" pitchFamily="34" charset="0"/>
                <a:ea typeface="Calibri" pitchFamily="34" charset="-122"/>
                <a:cs typeface="Calibri" pitchFamily="34" charset="-120"/>
              </a:rPr>
              <a:t>FIG. 3 — Orange has just spat a piece of itself at Cyan (AI concept visual)</a:t>
            </a:r>
            <a:endParaRPr lang="en-US" sz="1100" dirty="0"/>
          </a:p>
        </p:txBody>
      </p:sp>
      <p:sp>
        <p:nvSpPr>
          <p:cNvPr id="15" name="Text 12"/>
          <p:cNvSpPr txBox="1"/>
          <p:nvPr/>
        </p:nvSpPr>
        <p:spPr>
          <a:xfrm>
            <a:off x="548640" y="5989320"/>
            <a:ext cx="5486400" cy="274320"/>
          </a:xfrm>
          <a:prstGeom prst="rect">
            <a:avLst/>
          </a:prstGeom>
          <a:noFill/>
          <a:ln/>
        </p:spPr>
        <p:txBody>
          <a:bodyPr wrap="square" lIns="0" tIns="0" rIns="0" bIns="0" rtlCol="0" anchor="ctr"/>
          <a:lstStyle/>
          <a:p>
            <a:pPr indent="0" marL="0">
              <a:buNone/>
            </a:pPr>
            <a:r>
              <a:rPr lang="en-US" sz="1100" i="1" dirty="0">
                <a:solidFill>
                  <a:srgbClr val="4A5F8A"/>
                </a:solidFill>
                <a:latin typeface="Calibri" pitchFamily="34" charset="0"/>
                <a:ea typeface="Calibri" pitchFamily="34" charset="-122"/>
                <a:cs typeface="Calibri" pitchFamily="34" charset="-120"/>
              </a:rPr>
              <a:t>Values are illustrative starting points for playtesting, not final tuning.</a:t>
            </a:r>
            <a:endParaRPr lang="en-US" sz="1100" dirty="0"/>
          </a:p>
        </p:txBody>
      </p:sp>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F8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05 / THE PHYSICS</a:t>
            </a:r>
            <a:endParaRPr lang="en-US" sz="1200" dirty="0"/>
          </a:p>
        </p:txBody>
      </p:sp>
      <p:sp>
        <p:nvSpPr>
          <p:cNvPr id="3" name="Text 1"/>
          <p:cNvSpPr/>
          <p:nvPr>
            <p:ph idx="105" type="title" hasCustomPrompt="1"/>
          </p:nvPr>
        </p:nvSpPr>
        <p:spPr>
          <a:xfrm>
            <a:off x="548640" y="713232"/>
            <a:ext cx="11094415" cy="914400"/>
          </a:xfrm>
          <a:prstGeom prst="rect">
            <a:avLst/>
          </a:prstGeom>
          <a:noFill/>
          <a:ln/>
        </p:spPr>
        <p:txBody>
          <a:bodyPr wrap="square" lIns="0" tIns="0" rIns="0" bIns="0" rtlCol="0" anchor="t"/>
          <a:lstStyle/>
          <a:p>
            <a:pPr algn="l" indent="0" marL="0">
              <a:buNone/>
            </a:pPr>
            <a:r>
              <a:rPr lang="en-US" sz="3600" b="1" dirty="0">
                <a:solidFill>
                  <a:schemeClr val="bg1"/>
                </a:solidFill>
                <a:latin typeface="Georgia" pitchFamily="34" charset="0"/>
                <a:ea typeface="Georgia" pitchFamily="34" charset="-122"/>
                <a:cs typeface="Georgia" pitchFamily="34" charset="-120"/>
              </a:rPr>
              <a:t>Lighter means launched further</a:t>
            </a:r>
            <a:endParaRPr lang="en-US" sz="3600" dirty="0"/>
          </a:p>
        </p:txBody>
      </p:sp>
      <p:graphicFrame>
        <p:nvGraphicFramePr>
          <p:cNvPr id="4" name="Chart 0" descr=""/>
          <p:cNvGraphicFramePr/>
          <p:nvPr/>
        </p:nvGraphicFramePr>
        <p:xfrm>
          <a:off x="548640" y="16916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001000" y="1783080"/>
            <a:ext cx="1417320" cy="640080"/>
          </a:xfrm>
          <a:prstGeom prst="rect">
            <a:avLst/>
          </a:prstGeom>
          <a:noFill/>
          <a:ln/>
        </p:spPr>
        <p:txBody>
          <a:bodyPr wrap="square" lIns="0" tIns="0" rIns="0" bIns="0" rtlCol="0" anchor="t"/>
          <a:lstStyle/>
          <a:p>
            <a:pPr indent="0" marL="0">
              <a:buNone/>
            </a:pPr>
            <a:r>
              <a:rPr lang="en-US" sz="3000" b="1" i="1" dirty="0">
                <a:solidFill>
                  <a:schemeClr val="accent1"/>
                </a:solidFill>
                <a:latin typeface="Georgia" pitchFamily="34" charset="0"/>
                <a:ea typeface="Georgia" pitchFamily="34" charset="-122"/>
                <a:cs typeface="Georgia" pitchFamily="34" charset="-120"/>
              </a:rPr>
              <a:t>×1.7</a:t>
            </a:r>
            <a:endParaRPr lang="en-US" sz="3000" dirty="0"/>
          </a:p>
        </p:txBody>
      </p:sp>
      <p:sp>
        <p:nvSpPr>
          <p:cNvPr id="6" name="Text 3"/>
          <p:cNvSpPr txBox="1"/>
          <p:nvPr/>
        </p:nvSpPr>
        <p:spPr>
          <a:xfrm>
            <a:off x="9464040" y="1828800"/>
            <a:ext cx="2176272" cy="11887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Design target at the 0.65 floor — felt, not frustrating.</a:t>
            </a:r>
            <a:endParaRPr lang="en-US" sz="1400" dirty="0"/>
          </a:p>
        </p:txBody>
      </p:sp>
      <p:sp>
        <p:nvSpPr>
          <p:cNvPr id="7" name="Text 4"/>
          <p:cNvSpPr txBox="1"/>
          <p:nvPr/>
        </p:nvSpPr>
        <p:spPr>
          <a:xfrm>
            <a:off x="8001000" y="3154680"/>
            <a:ext cx="1417320" cy="640080"/>
          </a:xfrm>
          <a:prstGeom prst="rect">
            <a:avLst/>
          </a:prstGeom>
          <a:noFill/>
          <a:ln/>
        </p:spPr>
        <p:txBody>
          <a:bodyPr wrap="square" lIns="0" tIns="0" rIns="0" bIns="0" rtlCol="0" anchor="t"/>
          <a:lstStyle/>
          <a:p>
            <a:pPr indent="0" marL="0">
              <a:buNone/>
            </a:pPr>
            <a:r>
              <a:rPr lang="en-US" sz="3000" b="1" i="1" dirty="0">
                <a:solidFill>
                  <a:schemeClr val="accent4"/>
                </a:solidFill>
                <a:latin typeface="Georgia" pitchFamily="34" charset="0"/>
                <a:ea typeface="Georgia" pitchFamily="34" charset="-122"/>
                <a:cs typeface="Georgia" pitchFamily="34" charset="-120"/>
              </a:rPr>
              <a:t>×3.6</a:t>
            </a:r>
            <a:endParaRPr lang="en-US" sz="3000" dirty="0"/>
          </a:p>
        </p:txBody>
      </p:sp>
      <p:sp>
        <p:nvSpPr>
          <p:cNvPr id="8" name="Text 5"/>
          <p:cNvSpPr txBox="1"/>
          <p:nvPr/>
        </p:nvSpPr>
        <p:spPr>
          <a:xfrm>
            <a:off x="9464040" y="3200400"/>
            <a:ext cx="2176272" cy="11887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What real physics would give. Too punishing for a party game.</a:t>
            </a:r>
            <a:endParaRPr lang="en-US" sz="1400" dirty="0"/>
          </a:p>
        </p:txBody>
      </p:sp>
      <p:sp>
        <p:nvSpPr>
          <p:cNvPr id="9" name="Text 6"/>
          <p:cNvSpPr txBox="1"/>
          <p:nvPr/>
        </p:nvSpPr>
        <p:spPr>
          <a:xfrm>
            <a:off x="8001000" y="4526280"/>
            <a:ext cx="1417320" cy="640080"/>
          </a:xfrm>
          <a:prstGeom prst="rect">
            <a:avLst/>
          </a:prstGeom>
          <a:noFill/>
          <a:ln/>
        </p:spPr>
        <p:txBody>
          <a:bodyPr wrap="square" lIns="0" tIns="0" rIns="0" bIns="0" rtlCol="0" anchor="t"/>
          <a:lstStyle/>
          <a:p>
            <a:pPr indent="0" marL="0">
              <a:buNone/>
            </a:pPr>
            <a:r>
              <a:rPr lang="en-US" sz="3000" b="1" i="1" dirty="0">
                <a:solidFill>
                  <a:schemeClr val="accent2"/>
                </a:solidFill>
                <a:latin typeface="Georgia" pitchFamily="34" charset="0"/>
                <a:ea typeface="Georgia" pitchFamily="34" charset="-122"/>
                <a:cs typeface="Georgia" pitchFamily="34" charset="-120"/>
              </a:rPr>
              <a:t>Reset</a:t>
            </a:r>
            <a:endParaRPr lang="en-US" sz="3000" dirty="0"/>
          </a:p>
        </p:txBody>
      </p:sp>
      <p:sp>
        <p:nvSpPr>
          <p:cNvPr id="10" name="Text 7"/>
          <p:cNvSpPr txBox="1"/>
          <p:nvPr/>
        </p:nvSpPr>
        <p:spPr>
          <a:xfrm>
            <a:off x="9464040" y="4572000"/>
            <a:ext cx="2176272" cy="11887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Size resets every round, so one bad exchange cannot decide a night.</a:t>
            </a:r>
            <a:endParaRPr lang="en-US" sz="1400" dirty="0"/>
          </a:p>
        </p:txBody>
      </p:sp>
      <p:sp>
        <p:nvSpPr>
          <p:cNvPr id="11" name="Text 8"/>
          <p:cNvSpPr txBox="1"/>
          <p:nvPr/>
        </p:nvSpPr>
        <p:spPr>
          <a:xfrm>
            <a:off x="548640" y="6053328"/>
            <a:ext cx="7315200" cy="274320"/>
          </a:xfrm>
          <a:prstGeom prst="rect">
            <a:avLst/>
          </a:prstGeom>
          <a:noFill/>
          <a:ln/>
        </p:spPr>
        <p:txBody>
          <a:bodyPr wrap="square" lIns="0" tIns="0" rIns="0" bIns="0" rtlCol="0" anchor="ctr"/>
          <a:lstStyle/>
          <a:p>
            <a:pPr indent="0" marL="0">
              <a:buNone/>
            </a:pPr>
            <a:r>
              <a:rPr lang="en-US" sz="1100" i="1" dirty="0">
                <a:solidFill>
                  <a:srgbClr val="A9C4EE"/>
                </a:solidFill>
                <a:latin typeface="Calibri" pitchFamily="34" charset="0"/>
                <a:ea typeface="Calibri" pitchFamily="34" charset="-122"/>
                <a:cs typeface="Calibri" pitchFamily="34" charset="-120"/>
              </a:rPr>
              <a:t>Curves are illustrative design targets to be validated in the prototype.</a:t>
            </a:r>
            <a:endParaRPr lang="en-US" sz="1100" dirty="0"/>
          </a:p>
        </p:txBody>
      </p:sp>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4E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06 / MINI-GAME ONE</a:t>
            </a:r>
            <a:endParaRPr lang="en-US" sz="1200" dirty="0"/>
          </a:p>
        </p:txBody>
      </p:sp>
      <p:sp>
        <p:nvSpPr>
          <p:cNvPr id="3" name="Text 1"/>
          <p:cNvSpPr/>
          <p:nvPr>
            <p:ph idx="105" type="title" hasCustomPrompt="1"/>
          </p:nvPr>
        </p:nvSpPr>
        <p:spPr>
          <a:xfrm>
            <a:off x="548640" y="713232"/>
            <a:ext cx="11094415" cy="914400"/>
          </a:xfrm>
          <a:prstGeom prst="rect">
            <a:avLst/>
          </a:prstGeom>
          <a:noFill/>
          <a:ln/>
        </p:spPr>
        <p:txBody>
          <a:bodyPr wrap="square" lIns="0" tIns="0" rIns="0" bIns="0" rtlCol="0" anchor="t"/>
          <a:lstStyle/>
          <a:p>
            <a:pPr algn="l" indent="0" marL="0">
              <a:buNone/>
            </a:pPr>
            <a:r>
              <a:rPr lang="en-US" sz="3600" b="1" dirty="0">
                <a:solidFill>
                  <a:schemeClr val="bg1"/>
                </a:solidFill>
                <a:latin typeface="Georgia" pitchFamily="34" charset="0"/>
                <a:ea typeface="Georgia" pitchFamily="34" charset="-122"/>
                <a:cs typeface="Georgia" pitchFamily="34" charset="-120"/>
              </a:rPr>
              <a:t>Mass Knockout</a:t>
            </a:r>
            <a:endParaRPr lang="en-US" sz="3600" dirty="0"/>
          </a:p>
        </p:txBody>
      </p:sp>
      <p:pic>
        <p:nvPicPr>
          <p:cNvPr id="3" name="Mass Knockout preview 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91640"/>
            <a:ext cx="6675120" cy="3814354"/>
          </a:xfrm>
          <a:prstGeom prst="rect">
            <a:avLst/>
          </a:prstGeom>
        </p:spPr>
      </p:pic>
      <p:sp>
        <p:nvSpPr>
          <p:cNvPr id="5" name="Caption"/>
          <p:cNvSpPr txBox="1"/>
          <p:nvPr/>
        </p:nvSpPr>
        <p:spPr>
          <a:xfrm>
            <a:off x="548640" y="5597434"/>
            <a:ext cx="6675120" cy="274320"/>
          </a:xfrm>
          <a:prstGeom prst="rect">
            <a:avLst/>
          </a:prstGeom>
          <a:noFill/>
          <a:ln/>
        </p:spPr>
        <p:txBody>
          <a:bodyPr wrap="square" lIns="0" tIns="0" rIns="0" bIns="0" rtlCol="0" anchor="ctr"/>
          <a:lstStyle/>
          <a:p>
            <a:pPr indent="0" marL="0">
              <a:buNone/>
            </a:pPr>
            <a:r>
              <a:rPr lang="en-US" sz="1100" i="1" dirty="0">
                <a:solidFill>
                  <a:srgbClr val="A9C4EE"/>
                </a:solidFill>
                <a:latin typeface="Calibri" pitchFamily="34" charset="0"/>
                <a:ea typeface="Calibri" pitchFamily="34" charset="-122"/>
                <a:cs typeface="Calibri" pitchFamily="34" charset="-120"/>
              </a:rPr>
              <a:t>AI-generated preview of the intended mechanic — not recorded gameplay</a:t>
            </a:r>
            <a:endParaRPr lang="en-US" sz="1100" dirty="0"/>
          </a:p>
        </p:txBody>
      </p:sp>
      <p:sp>
        <p:nvSpPr>
          <p:cNvPr id="6" name="Text 3"/>
          <p:cNvSpPr txBox="1"/>
          <p:nvPr/>
        </p:nvSpPr>
        <p:spPr>
          <a:xfrm>
            <a:off x="7543800" y="1691640"/>
            <a:ext cx="4114800" cy="3291840"/>
          </a:xfrm>
          <a:prstGeom prst="rect">
            <a:avLst/>
          </a:prstGeom>
          <a:noFill/>
          <a:ln/>
        </p:spPr>
        <p:txBody>
          <a:bodyPr wrap="square" lIns="0" tIns="0" rIns="0" bIns="0" rtlCol="0" anchor="t"/>
          <a:lstStyle/>
          <a:p>
            <a:pPr indent="0" marL="0">
              <a:spcAft>
                <a:spcPts val="800"/>
              </a:spcAft>
              <a:buNone/>
            </a:pPr>
            <a:r>
              <a:rPr lang="en-US" sz="1600" b="1" dirty="0">
                <a:solidFill>
                  <a:schemeClr val="accent6"/>
                </a:solidFill>
                <a:latin typeface="Calibri" pitchFamily="34" charset="0"/>
                <a:ea typeface="Calibri" pitchFamily="34" charset="-122"/>
                <a:cs typeface="Calibri" pitchFamily="34" charset="-120"/>
              </a:rPr>
              <a:t>One flat ice platform, no walls.</a:t>
            </a:r>
            <a:endParaRPr lang="en-US" sz="1600" dirty="0"/>
          </a:p>
          <a:p>
            <a:pPr indent="0" marL="0">
              <a:spcAft>
                <a:spcPts val="800"/>
              </a:spcAft>
              <a:buNone/>
            </a:pPr>
            <a:r>
              <a:rPr lang="en-US" sz="1600" dirty="0">
                <a:solidFill>
                  <a:schemeClr val="bg1"/>
                </a:solidFill>
                <a:latin typeface="Calibri" pitchFamily="34" charset="0"/>
                <a:ea typeface="Calibri" pitchFamily="34" charset="-122"/>
                <a:cs typeface="Calibri" pitchFamily="34" charset="-120"/>
              </a:rPr>
              <a:t>Throw chunks of yourself to push rivals off the edge.</a:t>
            </a:r>
            <a:endParaRPr lang="en-US" sz="1600" dirty="0"/>
          </a:p>
          <a:p>
            <a:pPr indent="0" marL="0">
              <a:spcAft>
                <a:spcPts val="800"/>
              </a:spcAft>
              <a:buNone/>
            </a:pPr>
            <a:r>
              <a:rPr lang="en-US" sz="600" dirty="0">
                <a:solidFill>
                  <a:schemeClr val="bg1"/>
                </a:solidFill>
                <a:latin typeface="Calibri" pitchFamily="34" charset="0"/>
                <a:ea typeface="Calibri" pitchFamily="34" charset="-122"/>
                <a:cs typeface="Calibri" pitchFamily="34" charset="-120"/>
              </a:rPr>
              <a:t> </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Aim and throw</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Each throw shrinks you; a hit shrinks them</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Smaller cubes get knocked further</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Last hitter scores the knockout; victims respawn after 2 s</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Round ends on a timer: most knockouts wins</a:t>
            </a:r>
            <a:endParaRPr lang="en-US" sz="1600" dirty="0"/>
          </a:p>
        </p:txBody>
      </p:sp>
      <p:sp>
        <p:nvSpPr>
          <p:cNvPr id="7" name="Shape 4"/>
          <p:cNvSpPr/>
          <p:nvPr/>
        </p:nvSpPr>
        <p:spPr>
          <a:xfrm>
            <a:off x="7543800" y="4892040"/>
            <a:ext cx="4096512" cy="1051560"/>
          </a:xfrm>
          <a:prstGeom prst="roundRect">
            <a:avLst>
              <a:gd name="adj" fmla="val 13043"/>
            </a:avLst>
          </a:prstGeom>
          <a:solidFill>
            <a:srgbClr val="0F2C6B"/>
          </a:solidFill>
          <a:ln w="12700">
            <a:solidFill>
              <a:srgbClr val="16398A"/>
            </a:solidFill>
            <a:prstDash val="solid"/>
          </a:ln>
        </p:spPr>
      </p:sp>
      <p:sp>
        <p:nvSpPr>
          <p:cNvPr id="8" name="Text 5"/>
          <p:cNvSpPr txBox="1"/>
          <p:nvPr/>
        </p:nvSpPr>
        <p:spPr>
          <a:xfrm>
            <a:off x="7726680" y="4983480"/>
            <a:ext cx="3749040" cy="868680"/>
          </a:xfrm>
          <a:prstGeom prst="rect">
            <a:avLst/>
          </a:prstGeom>
          <a:noFill/>
          <a:ln/>
        </p:spPr>
        <p:txBody>
          <a:bodyPr wrap="square" lIns="0" tIns="0" rIns="0" bIns="0" rtlCol="0" anchor="ctr"/>
          <a:lstStyle/>
          <a:p>
            <a:pPr indent="0" marL="0">
              <a:buNone/>
            </a:pPr>
            <a:r>
              <a:rPr lang="en-US" sz="1400" b="1" dirty="0">
                <a:solidFill>
                  <a:schemeClr val="accent6"/>
                </a:solidFill>
                <a:latin typeface="Calibri" pitchFamily="34" charset="0"/>
                <a:ea typeface="Calibri" pitchFamily="34" charset="-122"/>
                <a:cs typeface="Calibri" pitchFamily="34" charset="-120"/>
              </a:rPr>
              <a:t>Design risk  </a:t>
            </a:r>
            <a:pPr indent="0" marL="0">
              <a:buNone/>
            </a:pPr>
            <a:r>
              <a:rPr lang="en-US" sz="1400" dirty="0">
                <a:solidFill>
                  <a:schemeClr val="bg1"/>
                </a:solidFill>
                <a:latin typeface="Calibri" pitchFamily="34" charset="0"/>
                <a:ea typeface="Calibri" pitchFamily="34" charset="-122"/>
                <a:cs typeface="Calibri" pitchFamily="34" charset="-120"/>
              </a:rPr>
              <a:t>if throwing shrinks you, waiting becomes optimal. We reward knockouts and keep rounds short.</a:t>
            </a:r>
            <a:endParaRPr lang="en-US" sz="1400" dirty="0"/>
          </a:p>
        </p:txBody>
      </p:sp>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4E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07 / MINI-GAME TWO</a:t>
            </a:r>
            <a:endParaRPr lang="en-US" sz="1200" dirty="0"/>
          </a:p>
        </p:txBody>
      </p:sp>
      <p:sp>
        <p:nvSpPr>
          <p:cNvPr id="3" name="Text 1"/>
          <p:cNvSpPr/>
          <p:nvPr>
            <p:ph idx="105" type="title" hasCustomPrompt="1"/>
          </p:nvPr>
        </p:nvSpPr>
        <p:spPr>
          <a:xfrm>
            <a:off x="548640" y="713232"/>
            <a:ext cx="11094415" cy="914400"/>
          </a:xfrm>
          <a:prstGeom prst="rect">
            <a:avLst/>
          </a:prstGeom>
          <a:noFill/>
          <a:ln/>
        </p:spPr>
        <p:txBody>
          <a:bodyPr wrap="square" lIns="0" tIns="0" rIns="0" bIns="0" rtlCol="0" anchor="t"/>
          <a:lstStyle/>
          <a:p>
            <a:pPr algn="l" indent="0" marL="0">
              <a:buNone/>
            </a:pPr>
            <a:r>
              <a:rPr lang="en-US" sz="3600" b="1" dirty="0">
                <a:solidFill>
                  <a:schemeClr val="bg1"/>
                </a:solidFill>
                <a:latin typeface="Georgia" pitchFamily="34" charset="0"/>
                <a:ea typeface="Georgia" pitchFamily="34" charset="-122"/>
                <a:cs typeface="Georgia" pitchFamily="34" charset="-120"/>
              </a:rPr>
              <a:t>Ice Race</a:t>
            </a:r>
            <a:endParaRPr lang="en-US" sz="3600" dirty="0"/>
          </a:p>
        </p:txBody>
      </p:sp>
      <p:pic>
        <p:nvPicPr>
          <p:cNvPr id="3" name="Ice Race preview 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91640"/>
            <a:ext cx="6675120" cy="3814354"/>
          </a:xfrm>
          <a:prstGeom prst="rect">
            <a:avLst/>
          </a:prstGeom>
        </p:spPr>
      </p:pic>
      <p:sp>
        <p:nvSpPr>
          <p:cNvPr id="5" name="Caption"/>
          <p:cNvSpPr txBox="1"/>
          <p:nvPr/>
        </p:nvSpPr>
        <p:spPr>
          <a:xfrm>
            <a:off x="548640" y="5597434"/>
            <a:ext cx="6675120" cy="274320"/>
          </a:xfrm>
          <a:prstGeom prst="rect">
            <a:avLst/>
          </a:prstGeom>
          <a:noFill/>
          <a:ln/>
        </p:spPr>
        <p:txBody>
          <a:bodyPr wrap="square" lIns="0" tIns="0" rIns="0" bIns="0" rtlCol="0" anchor="ctr"/>
          <a:lstStyle/>
          <a:p>
            <a:pPr indent="0" marL="0">
              <a:buNone/>
            </a:pPr>
            <a:r>
              <a:rPr lang="en-US" sz="1100" i="1" dirty="0">
                <a:solidFill>
                  <a:srgbClr val="A9C4EE"/>
                </a:solidFill>
                <a:latin typeface="Calibri" pitchFamily="34" charset="0"/>
                <a:ea typeface="Calibri" pitchFamily="34" charset="-122"/>
                <a:cs typeface="Calibri" pitchFamily="34" charset="-120"/>
              </a:rPr>
              <a:t>AI-generated preview of the intended mechanic — not recorded gameplay</a:t>
            </a:r>
            <a:endParaRPr lang="en-US" sz="1100" dirty="0"/>
          </a:p>
        </p:txBody>
      </p:sp>
      <p:sp>
        <p:nvSpPr>
          <p:cNvPr id="6" name="Text 3"/>
          <p:cNvSpPr txBox="1"/>
          <p:nvPr/>
        </p:nvSpPr>
        <p:spPr>
          <a:xfrm>
            <a:off x="7543800" y="1691640"/>
            <a:ext cx="4114800" cy="3474720"/>
          </a:xfrm>
          <a:prstGeom prst="rect">
            <a:avLst/>
          </a:prstGeom>
          <a:noFill/>
          <a:ln/>
        </p:spPr>
        <p:txBody>
          <a:bodyPr wrap="square" lIns="0" tIns="0" rIns="0" bIns="0" rtlCol="0" anchor="t"/>
          <a:lstStyle/>
          <a:p>
            <a:pPr indent="0" marL="0">
              <a:spcAft>
                <a:spcPts val="800"/>
              </a:spcAft>
              <a:buNone/>
            </a:pPr>
            <a:r>
              <a:rPr lang="en-US" sz="1600" b="1" dirty="0">
                <a:solidFill>
                  <a:schemeClr val="accent6"/>
                </a:solidFill>
                <a:latin typeface="Calibri" pitchFamily="34" charset="0"/>
                <a:ea typeface="Calibri" pitchFamily="34" charset="-122"/>
                <a:cs typeface="Calibri" pitchFamily="34" charset="-120"/>
              </a:rPr>
              <a:t>Momentum is the opponent.</a:t>
            </a:r>
            <a:endParaRPr lang="en-US" sz="1600" dirty="0"/>
          </a:p>
          <a:p>
            <a:pPr indent="0" marL="0">
              <a:spcAft>
                <a:spcPts val="800"/>
              </a:spcAft>
              <a:buNone/>
            </a:pPr>
            <a:r>
              <a:rPr lang="en-US" sz="1600" dirty="0">
                <a:solidFill>
                  <a:schemeClr val="bg1"/>
                </a:solidFill>
                <a:latin typeface="Calibri" pitchFamily="34" charset="0"/>
                <a:ea typeface="Calibri" pitchFamily="34" charset="-122"/>
                <a:cs typeface="Calibri" pitchFamily="34" charset="-120"/>
              </a:rPr>
              <a:t>A ribbon of ice above the void: steer early or slide off.</a:t>
            </a:r>
            <a:endParaRPr lang="en-US" sz="1600" dirty="0"/>
          </a:p>
          <a:p>
            <a:pPr indent="0" marL="0">
              <a:spcAft>
                <a:spcPts val="800"/>
              </a:spcAft>
              <a:buNone/>
            </a:pPr>
            <a:r>
              <a:rPr lang="en-US" sz="600" dirty="0">
                <a:solidFill>
                  <a:schemeClr val="bg1"/>
                </a:solidFill>
                <a:latin typeface="Calibri" pitchFamily="34" charset="0"/>
                <a:ea typeface="Calibri" pitchFamily="34" charset="-122"/>
                <a:cs typeface="Calibri" pitchFamily="34" charset="-120"/>
              </a:rPr>
              <a:t> </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Input accelerates — it never sets velocity</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Low grip: a cube can face the corner and still drift outward</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Checkpoints respawn you after a fall</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No weapons: same grip and acceleration for all</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First across the line wins; unfinished racers rank by progress</a:t>
            </a:r>
            <a:endParaRPr lang="en-US" sz="1600" dirty="0"/>
          </a:p>
        </p:txBody>
      </p:sp>
      <p:sp>
        <p:nvSpPr>
          <p:cNvPr id="7" name="Text 4"/>
          <p:cNvSpPr txBox="1"/>
          <p:nvPr/>
        </p:nvSpPr>
        <p:spPr>
          <a:xfrm>
            <a:off x="7543800" y="5257800"/>
            <a:ext cx="4096512" cy="640080"/>
          </a:xfrm>
          <a:prstGeom prst="rect">
            <a:avLst/>
          </a:prstGeom>
          <a:noFill/>
          <a:ln/>
        </p:spPr>
        <p:txBody>
          <a:bodyPr wrap="square" lIns="0" tIns="0" rIns="0" bIns="0" rtlCol="0" anchor="t"/>
          <a:lstStyle/>
          <a:p>
            <a:pPr indent="0" marL="0">
              <a:buNone/>
            </a:pPr>
            <a:r>
              <a:rPr lang="en-US" sz="1400" i="1" dirty="0">
                <a:solidFill>
                  <a:srgbClr val="A9C4EE"/>
                </a:solidFill>
                <a:latin typeface="Calibri" pitchFamily="34" charset="0"/>
                <a:ea typeface="Calibri" pitchFamily="34" charset="-122"/>
                <a:cs typeface="Calibri" pitchFamily="34" charset="-120"/>
              </a:rPr>
              <a:t>Prototype track: 5–8 box segments, 2 turns, 2 checkpoints. No moving platforms.</a:t>
            </a:r>
            <a:endParaRPr lang="en-US" sz="1400" dirty="0"/>
          </a:p>
        </p:txBody>
      </p:sp>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4E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chemeClr val="accent5"/>
                </a:solidFill>
                <a:latin typeface="Calibri" pitchFamily="34" charset="0"/>
                <a:ea typeface="Calibri" pitchFamily="34" charset="-122"/>
                <a:cs typeface="Calibri" pitchFamily="34" charset="-120"/>
              </a:rPr>
              <a:t>08 / SHARED SYSTEMS</a:t>
            </a:r>
            <a:endParaRPr lang="en-US" sz="1200" dirty="0"/>
          </a:p>
        </p:txBody>
      </p:sp>
      <p:sp>
        <p:nvSpPr>
          <p:cNvPr id="3" name="Text 1"/>
          <p:cNvSpPr/>
          <p:nvPr>
            <p:ph idx="105" type="title" hasCustomPrompt="1"/>
          </p:nvPr>
        </p:nvSpPr>
        <p:spPr>
          <a:xfrm>
            <a:off x="548640" y="713232"/>
            <a:ext cx="11094415" cy="914400"/>
          </a:xfrm>
          <a:prstGeom prst="rect">
            <a:avLst/>
          </a:prstGeom>
          <a:noFill/>
          <a:ln/>
        </p:spPr>
        <p:txBody>
          <a:bodyPr wrap="square" lIns="0" tIns="0" rIns="0" bIns="0" rtlCol="0" anchor="t"/>
          <a:lstStyle/>
          <a:p>
            <a:pPr algn="l" indent="0" marL="0">
              <a:buNone/>
            </a:pPr>
            <a:r>
              <a:rPr lang="en-US" sz="3600" b="1" dirty="0">
                <a:solidFill>
                  <a:schemeClr val="tx1"/>
                </a:solidFill>
                <a:latin typeface="Georgia" pitchFamily="34" charset="0"/>
                <a:ea typeface="Georgia" pitchFamily="34" charset="-122"/>
                <a:cs typeface="Georgia" pitchFamily="34" charset="-120"/>
              </a:rPr>
              <a:t>Build once, play many</a:t>
            </a:r>
            <a:endParaRPr lang="en-US" sz="3600" dirty="0"/>
          </a:p>
        </p:txBody>
      </p:sp>
      <p:sp>
        <p:nvSpPr>
          <p:cNvPr id="4" name="ICE RACE module"/>
          <p:cNvSpPr/>
          <p:nvPr/>
        </p:nvSpPr>
        <p:spPr>
          <a:xfrm>
            <a:off x="548640" y="1783080"/>
            <a:ext cx="3593592" cy="1097280"/>
          </a:xfrm>
          <a:prstGeom prst="roundRect">
            <a:avLst>
              <a:gd name="adj" fmla="val 12500"/>
            </a:avLst>
          </a:prstGeom>
          <a:solidFill>
            <a:schemeClr val="accent5"/>
          </a:solidFill>
          <a:ln w="25400">
            <a:solidFill>
              <a:schemeClr val="accent5"/>
            </a:solidFill>
            <a:prstDash val="solid"/>
          </a:ln>
        </p:spPr>
      </p:sp>
      <p:sp>
        <p:nvSpPr>
          <p:cNvPr id="5" name="Text 3"/>
          <p:cNvSpPr txBox="1"/>
          <p:nvPr/>
        </p:nvSpPr>
        <p:spPr>
          <a:xfrm>
            <a:off x="731520" y="1828800"/>
            <a:ext cx="3246120" cy="1005840"/>
          </a:xfrm>
          <a:prstGeom prst="rect">
            <a:avLst/>
          </a:prstGeom>
          <a:noFill/>
          <a:ln/>
        </p:spPr>
        <p:txBody>
          <a:bodyPr wrap="square" lIns="0" tIns="0" rIns="0" bIns="0" rtlCol="0" anchor="ctr"/>
          <a:lstStyle/>
          <a:p>
            <a:pPr indent="0" marL="0">
              <a:buNone/>
            </a:pPr>
            <a:r>
              <a:rPr lang="en-US" sz="1800" b="1" dirty="0">
                <a:solidFill>
                  <a:schemeClr val="bg1"/>
                </a:solidFill>
                <a:latin typeface="Georgia" pitchFamily="34" charset="0"/>
                <a:ea typeface="Georgia" pitchFamily="34" charset="-122"/>
                <a:cs typeface="Georgia" pitchFamily="34" charset="-120"/>
              </a:rPr>
              <a:t>ICE RACE</a:t>
            </a:r>
            <a:endParaRPr lang="en-US" sz="1800" dirty="0"/>
          </a:p>
          <a:p>
            <a:pPr indent="0" marL="0">
              <a:buNone/>
            </a:pPr>
            <a:r>
              <a:rPr lang="en-US" sz="1300" dirty="0">
                <a:solidFill>
                  <a:schemeClr val="bg1"/>
                </a:solidFill>
                <a:latin typeface="Calibri" pitchFamily="34" charset="0"/>
                <a:ea typeface="Calibri" pitchFamily="34" charset="-122"/>
                <a:cs typeface="Calibri" pitchFamily="34" charset="-120"/>
              </a:rPr>
              <a:t>low grip · checkpoints · finish order</a:t>
            </a:r>
            <a:endParaRPr lang="en-US" sz="1800" dirty="0"/>
          </a:p>
        </p:txBody>
      </p:sp>
      <p:sp>
        <p:nvSpPr>
          <p:cNvPr id="6" name="MASS KNOCKOUT module"/>
          <p:cNvSpPr/>
          <p:nvPr/>
        </p:nvSpPr>
        <p:spPr>
          <a:xfrm>
            <a:off x="4297680" y="1783080"/>
            <a:ext cx="3593592" cy="1097280"/>
          </a:xfrm>
          <a:prstGeom prst="roundRect">
            <a:avLst>
              <a:gd name="adj" fmla="val 12500"/>
            </a:avLst>
          </a:prstGeom>
          <a:solidFill>
            <a:schemeClr val="accent1"/>
          </a:solidFill>
          <a:ln w="25400">
            <a:solidFill>
              <a:schemeClr val="accent1"/>
            </a:solidFill>
            <a:prstDash val="solid"/>
          </a:ln>
        </p:spPr>
      </p:sp>
      <p:sp>
        <p:nvSpPr>
          <p:cNvPr id="7" name="Text 5"/>
          <p:cNvSpPr txBox="1"/>
          <p:nvPr/>
        </p:nvSpPr>
        <p:spPr>
          <a:xfrm>
            <a:off x="4480560" y="1828800"/>
            <a:ext cx="3246120" cy="1005840"/>
          </a:xfrm>
          <a:prstGeom prst="rect">
            <a:avLst/>
          </a:prstGeom>
          <a:noFill/>
          <a:ln/>
        </p:spPr>
        <p:txBody>
          <a:bodyPr wrap="square" lIns="0" tIns="0" rIns="0" bIns="0" rtlCol="0" anchor="ctr"/>
          <a:lstStyle/>
          <a:p>
            <a:pPr indent="0" marL="0">
              <a:buNone/>
            </a:pPr>
            <a:r>
              <a:rPr lang="en-US" sz="1800" b="1" dirty="0">
                <a:solidFill>
                  <a:schemeClr val="bg1"/>
                </a:solidFill>
                <a:latin typeface="Georgia" pitchFamily="34" charset="0"/>
                <a:ea typeface="Georgia" pitchFamily="34" charset="-122"/>
                <a:cs typeface="Georgia" pitchFamily="34" charset="-120"/>
              </a:rPr>
              <a:t>MASS KNOCKOUT</a:t>
            </a:r>
            <a:endParaRPr lang="en-US" sz="1800" dirty="0"/>
          </a:p>
          <a:p>
            <a:pPr indent="0" marL="0">
              <a:buNone/>
            </a:pPr>
            <a:r>
              <a:rPr lang="en-US" sz="1300" dirty="0">
                <a:solidFill>
                  <a:schemeClr val="bg1"/>
                </a:solidFill>
                <a:latin typeface="Calibri" pitchFamily="34" charset="0"/>
                <a:ea typeface="Calibri" pitchFamily="34" charset="-122"/>
                <a:cs typeface="Calibri" pitchFamily="34" charset="-120"/>
              </a:rPr>
              <a:t>mass throw · impulse · ring-out</a:t>
            </a:r>
            <a:endParaRPr lang="en-US" sz="1800" dirty="0"/>
          </a:p>
        </p:txBody>
      </p:sp>
      <p:sp>
        <p:nvSpPr>
          <p:cNvPr id="8" name="+ NEXT MINI-GAME module"/>
          <p:cNvSpPr/>
          <p:nvPr/>
        </p:nvSpPr>
        <p:spPr>
          <a:xfrm>
            <a:off x="8046720" y="1783080"/>
            <a:ext cx="3593592" cy="1097280"/>
          </a:xfrm>
          <a:prstGeom prst="roundRect">
            <a:avLst>
              <a:gd name="adj" fmla="val 12500"/>
            </a:avLst>
          </a:prstGeom>
          <a:solidFill>
            <a:schemeClr val="bg2"/>
          </a:solidFill>
          <a:ln w="25400">
            <a:solidFill>
              <a:schemeClr val="accent4"/>
            </a:solidFill>
            <a:prstDash val="dash"/>
          </a:ln>
        </p:spPr>
      </p:sp>
      <p:sp>
        <p:nvSpPr>
          <p:cNvPr id="9" name="Text 7"/>
          <p:cNvSpPr txBox="1"/>
          <p:nvPr/>
        </p:nvSpPr>
        <p:spPr>
          <a:xfrm>
            <a:off x="8229600" y="1828800"/>
            <a:ext cx="3246120" cy="1005840"/>
          </a:xfrm>
          <a:prstGeom prst="rect">
            <a:avLst/>
          </a:prstGeom>
          <a:noFill/>
          <a:ln/>
        </p:spPr>
        <p:txBody>
          <a:bodyPr wrap="square" lIns="0" tIns="0" rIns="0" bIns="0" rtlCol="0" anchor="ctr"/>
          <a:lstStyle/>
          <a:p>
            <a:pPr indent="0" marL="0">
              <a:buNone/>
            </a:pPr>
            <a:r>
              <a:rPr lang="en-US" sz="1800" b="1" dirty="0">
                <a:solidFill>
                  <a:schemeClr val="accent4"/>
                </a:solidFill>
                <a:latin typeface="Georgia" pitchFamily="34" charset="0"/>
                <a:ea typeface="Georgia" pitchFamily="34" charset="-122"/>
                <a:cs typeface="Georgia" pitchFamily="34" charset="-120"/>
              </a:rPr>
              <a:t>+ NEXT MINI-GAME</a:t>
            </a:r>
            <a:endParaRPr lang="en-US" sz="1800" dirty="0"/>
          </a:p>
          <a:p>
            <a:pPr indent="0" marL="0">
              <a:buNone/>
            </a:pPr>
            <a:r>
              <a:rPr lang="en-US" sz="1300" dirty="0">
                <a:solidFill>
                  <a:schemeClr val="accent4"/>
                </a:solidFill>
                <a:latin typeface="Calibri" pitchFamily="34" charset="0"/>
                <a:ea typeface="Calibri" pitchFamily="34" charset="-122"/>
                <a:cs typeface="Calibri" pitchFamily="34" charset="-120"/>
              </a:rPr>
              <a:t>reuses everything below</a:t>
            </a:r>
            <a:endParaRPr lang="en-US" sz="1800" dirty="0"/>
          </a:p>
        </p:txBody>
      </p:sp>
      <p:sp>
        <p:nvSpPr>
          <p:cNvPr id="10" name="Shared core"/>
          <p:cNvSpPr/>
          <p:nvPr/>
        </p:nvSpPr>
        <p:spPr>
          <a:xfrm>
            <a:off x="548640" y="3108960"/>
            <a:ext cx="11091672" cy="1417320"/>
          </a:xfrm>
          <a:prstGeom prst="roundRect">
            <a:avLst>
              <a:gd name="adj" fmla="val 9677"/>
            </a:avLst>
          </a:prstGeom>
          <a:solidFill>
            <a:schemeClr val="tx1"/>
          </a:solidFill>
          <a:ln w="12700">
            <a:solidFill>
              <a:schemeClr val="tx1"/>
            </a:solidFill>
            <a:prstDash val="solid"/>
          </a:ln>
        </p:spPr>
      </p:sp>
      <p:sp>
        <p:nvSpPr>
          <p:cNvPr id="11" name="Text 9"/>
          <p:cNvSpPr txBox="1"/>
          <p:nvPr/>
        </p:nvSpPr>
        <p:spPr>
          <a:xfrm>
            <a:off x="822960" y="3200400"/>
            <a:ext cx="2743200" cy="274320"/>
          </a:xfrm>
          <a:prstGeom prst="rect">
            <a:avLst/>
          </a:prstGeom>
          <a:noFill/>
          <a:ln/>
        </p:spPr>
        <p:txBody>
          <a:bodyPr wrap="square" lIns="0" tIns="0" rIns="0" bIns="0" rtlCol="0" anchor="ctr"/>
          <a:lstStyle/>
          <a:p>
            <a:pPr indent="0" marL="0">
              <a:buNone/>
            </a:pPr>
            <a:r>
              <a:rPr lang="en-US" sz="1100" b="1" spc="300" kern="0" dirty="0">
                <a:solidFill>
                  <a:schemeClr val="accent2"/>
                </a:solidFill>
                <a:latin typeface="Calibri" pitchFamily="34" charset="0"/>
                <a:ea typeface="Calibri" pitchFamily="34" charset="-122"/>
                <a:cs typeface="Calibri" pitchFamily="34" charset="-120"/>
              </a:rPr>
              <a:t>SHARED CORE</a:t>
            </a:r>
            <a:endParaRPr lang="en-US" sz="1100" dirty="0"/>
          </a:p>
        </p:txBody>
      </p:sp>
      <p:sp>
        <p:nvSpPr>
          <p:cNvPr id="12" name="Text 10"/>
          <p:cNvSpPr txBox="1"/>
          <p:nvPr/>
        </p:nvSpPr>
        <p:spPr>
          <a:xfrm>
            <a:off x="822960" y="3611880"/>
            <a:ext cx="2011680" cy="685800"/>
          </a:xfrm>
          <a:prstGeom prst="rect">
            <a:avLst/>
          </a:prstGeom>
          <a:solidFill>
            <a:srgbClr val="16398A"/>
          </a:solidFill>
          <a:ln/>
        </p:spPr>
        <p:txBody>
          <a:bodyPr wrap="square" lIns="50800" tIns="50800" rIns="50800" bIns="5080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Character prefab</a:t>
            </a:r>
            <a:endParaRPr lang="en-US" sz="1400" dirty="0"/>
          </a:p>
        </p:txBody>
      </p:sp>
      <p:sp>
        <p:nvSpPr>
          <p:cNvPr id="13" name="Text 11"/>
          <p:cNvSpPr txBox="1"/>
          <p:nvPr/>
        </p:nvSpPr>
        <p:spPr>
          <a:xfrm>
            <a:off x="2953512" y="3611880"/>
            <a:ext cx="2011680" cy="685800"/>
          </a:xfrm>
          <a:prstGeom prst="rect">
            <a:avLst/>
          </a:prstGeom>
          <a:solidFill>
            <a:srgbClr val="16398A"/>
          </a:solidFill>
          <a:ln/>
        </p:spPr>
        <p:txBody>
          <a:bodyPr wrap="square" lIns="50800" tIns="50800" rIns="50800" bIns="5080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Input + camera</a:t>
            </a:r>
            <a:endParaRPr lang="en-US" sz="1400" dirty="0"/>
          </a:p>
        </p:txBody>
      </p:sp>
      <p:sp>
        <p:nvSpPr>
          <p:cNvPr id="14" name="Text 12"/>
          <p:cNvSpPr txBox="1"/>
          <p:nvPr/>
        </p:nvSpPr>
        <p:spPr>
          <a:xfrm>
            <a:off x="5084064" y="3611880"/>
            <a:ext cx="2011680" cy="685800"/>
          </a:xfrm>
          <a:prstGeom prst="rect">
            <a:avLst/>
          </a:prstGeom>
          <a:solidFill>
            <a:srgbClr val="16398A"/>
          </a:solidFill>
          <a:ln/>
        </p:spPr>
        <p:txBody>
          <a:bodyPr wrap="square" lIns="50800" tIns="50800" rIns="50800" bIns="5080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Round state machine</a:t>
            </a:r>
            <a:endParaRPr lang="en-US" sz="1400" dirty="0"/>
          </a:p>
        </p:txBody>
      </p:sp>
      <p:sp>
        <p:nvSpPr>
          <p:cNvPr id="15" name="Text 13"/>
          <p:cNvSpPr txBox="1"/>
          <p:nvPr/>
        </p:nvSpPr>
        <p:spPr>
          <a:xfrm>
            <a:off x="7214616" y="3611880"/>
            <a:ext cx="2011680" cy="685800"/>
          </a:xfrm>
          <a:prstGeom prst="rect">
            <a:avLst/>
          </a:prstGeom>
          <a:solidFill>
            <a:srgbClr val="16398A"/>
          </a:solidFill>
          <a:ln/>
        </p:spPr>
        <p:txBody>
          <a:bodyPr wrap="square" lIns="50800" tIns="50800" rIns="50800" bIns="5080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Scoreboard + results</a:t>
            </a:r>
            <a:endParaRPr lang="en-US" sz="1400" dirty="0"/>
          </a:p>
        </p:txBody>
      </p:sp>
      <p:sp>
        <p:nvSpPr>
          <p:cNvPr id="16" name="Text 14"/>
          <p:cNvSpPr txBox="1"/>
          <p:nvPr/>
        </p:nvSpPr>
        <p:spPr>
          <a:xfrm>
            <a:off x="9345168" y="3611880"/>
            <a:ext cx="2011680" cy="685800"/>
          </a:xfrm>
          <a:prstGeom prst="rect">
            <a:avLst/>
          </a:prstGeom>
          <a:solidFill>
            <a:srgbClr val="16398A"/>
          </a:solidFill>
          <a:ln/>
        </p:spPr>
        <p:txBody>
          <a:bodyPr wrap="square" lIns="50800" tIns="50800" rIns="50800" bIns="5080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Fall detector</a:t>
            </a:r>
            <a:endParaRPr lang="en-US" sz="1400" dirty="0"/>
          </a:p>
        </p:txBody>
      </p:sp>
      <p:sp>
        <p:nvSpPr>
          <p:cNvPr id="17" name="Network layer"/>
          <p:cNvSpPr/>
          <p:nvPr/>
        </p:nvSpPr>
        <p:spPr>
          <a:xfrm>
            <a:off x="548640" y="4754880"/>
            <a:ext cx="11091672" cy="777240"/>
          </a:xfrm>
          <a:prstGeom prst="roundRect">
            <a:avLst>
              <a:gd name="adj" fmla="val 17647"/>
            </a:avLst>
          </a:prstGeom>
          <a:solidFill>
            <a:schemeClr val="accent2"/>
          </a:solidFill>
          <a:ln w="12700">
            <a:solidFill>
              <a:schemeClr val="accent2"/>
            </a:solidFill>
            <a:prstDash val="solid"/>
          </a:ln>
        </p:spPr>
      </p:sp>
      <p:sp>
        <p:nvSpPr>
          <p:cNvPr id="18" name="Text 16"/>
          <p:cNvSpPr txBox="1"/>
          <p:nvPr/>
        </p:nvSpPr>
        <p:spPr>
          <a:xfrm>
            <a:off x="822960" y="4754880"/>
            <a:ext cx="10515600" cy="7772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LAN host / client layer  ·  host-authoritative physics, projectiles and score  ·  no dedicated server</a:t>
            </a:r>
            <a:endParaRPr lang="en-US" sz="1600" dirty="0"/>
          </a:p>
        </p:txBody>
      </p:sp>
      <p:sp>
        <p:nvSpPr>
          <p:cNvPr id="19" name="Text 17"/>
          <p:cNvSpPr txBox="1"/>
          <p:nvPr/>
        </p:nvSpPr>
        <p:spPr>
          <a:xfrm>
            <a:off x="548640" y="5669280"/>
            <a:ext cx="10607040" cy="640080"/>
          </a:xfrm>
          <a:prstGeom prst="rect">
            <a:avLst/>
          </a:prstGeom>
          <a:noFill/>
          <a:ln/>
        </p:spPr>
        <p:txBody>
          <a:bodyPr wrap="square" lIns="0" tIns="0" rIns="0" bIns="0" rtlCol="0" anchor="t"/>
          <a:lstStyle/>
          <a:p>
            <a:pPr indent="0" marL="0">
              <a:spcAft>
                <a:spcPts val="600"/>
              </a:spcAft>
              <a:buNone/>
            </a:pPr>
            <a:r>
              <a:rPr lang="en-US" sz="1500" dirty="0">
                <a:solidFill>
                  <a:schemeClr val="tx1"/>
                </a:solidFill>
                <a:latin typeface="Calibri" pitchFamily="34" charset="0"/>
                <a:ea typeface="Calibri" pitchFamily="34" charset="-122"/>
                <a:cs typeface="Calibri" pitchFamily="34" charset="-120"/>
              </a:rPr>
              <a:t>Each new mini-game is a small module: its own tuning (grip, speed, cooldown) and win rule on top of systems we build once. The MVP ships two modules; a third is a stretch goal.</a:t>
            </a:r>
            <a:endParaRPr lang="en-US" sz="1500" dirty="0"/>
          </a:p>
        </p:txBody>
      </p:sp>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F8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09 / NETWORKING</a:t>
            </a:r>
            <a:endParaRPr lang="en-US" sz="1200" dirty="0"/>
          </a:p>
        </p:txBody>
      </p:sp>
      <p:sp>
        <p:nvSpPr>
          <p:cNvPr id="3" name="Text 1"/>
          <p:cNvSpPr/>
          <p:nvPr>
            <p:ph idx="105" type="title" hasCustomPrompt="1"/>
          </p:nvPr>
        </p:nvSpPr>
        <p:spPr>
          <a:xfrm>
            <a:off x="548640" y="713232"/>
            <a:ext cx="11094415" cy="914400"/>
          </a:xfrm>
          <a:prstGeom prst="rect">
            <a:avLst/>
          </a:prstGeom>
          <a:noFill/>
          <a:ln/>
        </p:spPr>
        <p:txBody>
          <a:bodyPr wrap="square" lIns="0" tIns="0" rIns="0" bIns="0" rtlCol="0" anchor="t"/>
          <a:lstStyle/>
          <a:p>
            <a:pPr algn="l" indent="0" marL="0">
              <a:buNone/>
            </a:pPr>
            <a:r>
              <a:rPr lang="en-US" sz="3600" b="1" dirty="0">
                <a:solidFill>
                  <a:schemeClr val="bg1"/>
                </a:solidFill>
                <a:latin typeface="Georgia" pitchFamily="34" charset="0"/>
                <a:ea typeface="Georgia" pitchFamily="34" charset="-122"/>
                <a:cs typeface="Georgia" pitchFamily="34" charset="-120"/>
              </a:rPr>
              <a:t>A living-room network</a:t>
            </a:r>
            <a:endParaRPr lang="en-US" sz="3600" dirty="0"/>
          </a:p>
        </p:txBody>
      </p:sp>
      <p:sp>
        <p:nvSpPr>
          <p:cNvPr id="4" name="Host node"/>
          <p:cNvSpPr/>
          <p:nvPr/>
        </p:nvSpPr>
        <p:spPr>
          <a:xfrm>
            <a:off x="1143000" y="2788920"/>
            <a:ext cx="2743200" cy="1600200"/>
          </a:xfrm>
          <a:prstGeom prst="roundRect">
            <a:avLst>
              <a:gd name="adj" fmla="val 11429"/>
            </a:avLst>
          </a:prstGeom>
          <a:solidFill>
            <a:schemeClr val="accent1"/>
          </a:solidFill>
          <a:ln w="12700">
            <a:solidFill>
              <a:schemeClr val="accent1"/>
            </a:solidFill>
            <a:prstDash val="solid"/>
          </a:ln>
          <a:effectLst>
            <a:outerShdw sx="100000" sy="100000" kx="0" ky="0" algn="bl" rotWithShape="0" blurRad="177800" dist="38100" dir="5400000">
              <a:srgbClr val="0A1E4A">
                <a:alpha val="20000"/>
              </a:srgbClr>
            </a:outerShdw>
          </a:effectLst>
        </p:spPr>
      </p:sp>
      <p:sp>
        <p:nvSpPr>
          <p:cNvPr id="5" name="Text 3"/>
          <p:cNvSpPr txBox="1"/>
          <p:nvPr/>
        </p:nvSpPr>
        <p:spPr>
          <a:xfrm>
            <a:off x="1143000" y="2788920"/>
            <a:ext cx="2743200" cy="1600200"/>
          </a:xfrm>
          <a:prstGeom prst="rect">
            <a:avLst/>
          </a:prstGeom>
          <a:noFill/>
          <a:ln/>
        </p:spPr>
        <p:txBody>
          <a:bodyPr wrap="square" lIns="0" tIns="0" rIns="0" bIns="0" rtlCol="0" anchor="ctr"/>
          <a:lstStyle/>
          <a:p>
            <a:pPr algn="ctr" indent="0" marL="0">
              <a:buNone/>
            </a:pPr>
            <a:r>
              <a:rPr lang="en-US" sz="2400" b="1" dirty="0">
                <a:solidFill>
                  <a:schemeClr val="tx1"/>
                </a:solidFill>
                <a:latin typeface="Georgia" pitchFamily="34" charset="0"/>
                <a:ea typeface="Georgia" pitchFamily="34" charset="-122"/>
                <a:cs typeface="Georgia" pitchFamily="34" charset="-120"/>
              </a:rPr>
              <a:t>HOST</a:t>
            </a:r>
            <a:endParaRPr lang="en-US" sz="2400" dirty="0"/>
          </a:p>
          <a:p>
            <a:pPr algn="ctr" indent="0" marL="0">
              <a:buNone/>
            </a:pPr>
            <a:r>
              <a:rPr lang="en-US" sz="1400" dirty="0">
                <a:solidFill>
                  <a:schemeClr val="tx1"/>
                </a:solidFill>
                <a:latin typeface="Calibri" pitchFamily="34" charset="0"/>
                <a:ea typeface="Calibri" pitchFamily="34" charset="-122"/>
                <a:cs typeface="Calibri" pitchFamily="34" charset="-120"/>
              </a:rPr>
              <a:t>runs the simulation</a:t>
            </a:r>
            <a:endParaRPr lang="en-US" sz="2400" dirty="0"/>
          </a:p>
          <a:p>
            <a:pPr algn="ctr" indent="0" marL="0">
              <a:buNone/>
            </a:pPr>
            <a:r>
              <a:rPr lang="en-US" sz="1400" dirty="0">
                <a:solidFill>
                  <a:schemeClr val="tx1"/>
                </a:solidFill>
                <a:latin typeface="Calibri" pitchFamily="34" charset="0"/>
                <a:ea typeface="Calibri" pitchFamily="34" charset="-122"/>
                <a:cs typeface="Calibri" pitchFamily="34" charset="-120"/>
              </a:rPr>
              <a:t>and also plays</a:t>
            </a:r>
            <a:endParaRPr lang="en-US" sz="2400" dirty="0"/>
          </a:p>
        </p:txBody>
      </p:sp>
      <p:sp>
        <p:nvSpPr>
          <p:cNvPr id="6" name="Shape 4"/>
          <p:cNvSpPr/>
          <p:nvPr/>
        </p:nvSpPr>
        <p:spPr>
          <a:xfrm flipV="1">
            <a:off x="3886200" y="3589020"/>
            <a:ext cx="1600200" cy="-1303020"/>
          </a:xfrm>
          <a:prstGeom prst="line">
            <a:avLst/>
          </a:prstGeom>
          <a:noFill/>
          <a:ln w="25400">
            <a:solidFill>
              <a:srgbClr val="A9C4EE"/>
            </a:solidFill>
            <a:prstDash val="dash"/>
          </a:ln>
        </p:spPr>
      </p:sp>
      <p:sp>
        <p:nvSpPr>
          <p:cNvPr id="7" name="Client 1"/>
          <p:cNvSpPr/>
          <p:nvPr/>
        </p:nvSpPr>
        <p:spPr>
          <a:xfrm>
            <a:off x="5486400" y="1783080"/>
            <a:ext cx="2103120" cy="1005840"/>
          </a:xfrm>
          <a:prstGeom prst="roundRect">
            <a:avLst>
              <a:gd name="adj" fmla="val 13636"/>
            </a:avLst>
          </a:prstGeom>
          <a:solidFill>
            <a:schemeClr val="accent2"/>
          </a:solidFill>
          <a:ln w="12700">
            <a:solidFill>
              <a:schemeClr val="accent2"/>
            </a:solidFill>
            <a:prstDash val="solid"/>
          </a:ln>
        </p:spPr>
      </p:sp>
      <p:sp>
        <p:nvSpPr>
          <p:cNvPr id="8" name="Text 6"/>
          <p:cNvSpPr txBox="1"/>
          <p:nvPr/>
        </p:nvSpPr>
        <p:spPr>
          <a:xfrm>
            <a:off x="5486400" y="1783080"/>
            <a:ext cx="2103120" cy="1005840"/>
          </a:xfrm>
          <a:prstGeom prst="rect">
            <a:avLst/>
          </a:prstGeom>
          <a:noFill/>
          <a:ln/>
        </p:spPr>
        <p:txBody>
          <a:bodyPr wrap="square" lIns="0" tIns="0" rIns="0" bIns="0" rtlCol="0" anchor="ctr"/>
          <a:lstStyle/>
          <a:p>
            <a:pPr algn="ctr" indent="0" marL="0">
              <a:buNone/>
            </a:pPr>
            <a:r>
              <a:rPr lang="en-US" sz="1800" b="1" dirty="0">
                <a:solidFill>
                  <a:schemeClr val="tx1"/>
                </a:solidFill>
                <a:latin typeface="Georgia" pitchFamily="34" charset="0"/>
                <a:ea typeface="Georgia" pitchFamily="34" charset="-122"/>
                <a:cs typeface="Georgia" pitchFamily="34" charset="-120"/>
              </a:rPr>
              <a:t>CLIENT 2</a:t>
            </a:r>
            <a:endParaRPr lang="en-US" sz="1800" dirty="0"/>
          </a:p>
          <a:p>
            <a:pPr algn="ctr" indent="0" marL="0">
              <a:buNone/>
            </a:pPr>
            <a:r>
              <a:rPr lang="en-US" sz="1300" dirty="0">
                <a:solidFill>
                  <a:schemeClr val="tx1"/>
                </a:solidFill>
                <a:latin typeface="Calibri" pitchFamily="34" charset="0"/>
                <a:ea typeface="Calibri" pitchFamily="34" charset="-122"/>
                <a:cs typeface="Calibri" pitchFamily="34" charset="-120"/>
              </a:rPr>
              <a:t>sends input</a:t>
            </a:r>
            <a:endParaRPr lang="en-US" sz="1800" dirty="0"/>
          </a:p>
        </p:txBody>
      </p:sp>
      <p:sp>
        <p:nvSpPr>
          <p:cNvPr id="9" name="Shape 7"/>
          <p:cNvSpPr/>
          <p:nvPr/>
        </p:nvSpPr>
        <p:spPr>
          <a:xfrm>
            <a:off x="3886200" y="3589020"/>
            <a:ext cx="1600200" cy="68580"/>
          </a:xfrm>
          <a:prstGeom prst="line">
            <a:avLst/>
          </a:prstGeom>
          <a:noFill/>
          <a:ln w="25400">
            <a:solidFill>
              <a:srgbClr val="A9C4EE"/>
            </a:solidFill>
            <a:prstDash val="dash"/>
          </a:ln>
        </p:spPr>
      </p:sp>
      <p:sp>
        <p:nvSpPr>
          <p:cNvPr id="10" name="Client 2"/>
          <p:cNvSpPr/>
          <p:nvPr/>
        </p:nvSpPr>
        <p:spPr>
          <a:xfrm>
            <a:off x="5486400" y="3154680"/>
            <a:ext cx="2103120" cy="1005840"/>
          </a:xfrm>
          <a:prstGeom prst="roundRect">
            <a:avLst>
              <a:gd name="adj" fmla="val 13636"/>
            </a:avLst>
          </a:prstGeom>
          <a:solidFill>
            <a:schemeClr val="accent3"/>
          </a:solidFill>
          <a:ln w="12700">
            <a:solidFill>
              <a:schemeClr val="accent3"/>
            </a:solidFill>
            <a:prstDash val="solid"/>
          </a:ln>
        </p:spPr>
      </p:sp>
      <p:sp>
        <p:nvSpPr>
          <p:cNvPr id="11" name="Text 9"/>
          <p:cNvSpPr txBox="1"/>
          <p:nvPr/>
        </p:nvSpPr>
        <p:spPr>
          <a:xfrm>
            <a:off x="5486400" y="3154680"/>
            <a:ext cx="2103120" cy="1005840"/>
          </a:xfrm>
          <a:prstGeom prst="rect">
            <a:avLst/>
          </a:prstGeom>
          <a:noFill/>
          <a:ln/>
        </p:spPr>
        <p:txBody>
          <a:bodyPr wrap="square" lIns="0" tIns="0" rIns="0" bIns="0" rtlCol="0" anchor="ctr"/>
          <a:lstStyle/>
          <a:p>
            <a:pPr algn="ctr" indent="0" marL="0">
              <a:buNone/>
            </a:pPr>
            <a:r>
              <a:rPr lang="en-US" sz="1800" b="1" dirty="0">
                <a:solidFill>
                  <a:schemeClr val="tx1"/>
                </a:solidFill>
                <a:latin typeface="Georgia" pitchFamily="34" charset="0"/>
                <a:ea typeface="Georgia" pitchFamily="34" charset="-122"/>
                <a:cs typeface="Georgia" pitchFamily="34" charset="-120"/>
              </a:rPr>
              <a:t>CLIENT 3</a:t>
            </a:r>
            <a:endParaRPr lang="en-US" sz="1800" dirty="0"/>
          </a:p>
          <a:p>
            <a:pPr algn="ctr" indent="0" marL="0">
              <a:buNone/>
            </a:pPr>
            <a:r>
              <a:rPr lang="en-US" sz="1300" dirty="0">
                <a:solidFill>
                  <a:schemeClr val="tx1"/>
                </a:solidFill>
                <a:latin typeface="Calibri" pitchFamily="34" charset="0"/>
                <a:ea typeface="Calibri" pitchFamily="34" charset="-122"/>
                <a:cs typeface="Calibri" pitchFamily="34" charset="-120"/>
              </a:rPr>
              <a:t>sends input</a:t>
            </a:r>
            <a:endParaRPr lang="en-US" sz="1800" dirty="0"/>
          </a:p>
        </p:txBody>
      </p:sp>
      <p:sp>
        <p:nvSpPr>
          <p:cNvPr id="12" name="Shape 10"/>
          <p:cNvSpPr/>
          <p:nvPr/>
        </p:nvSpPr>
        <p:spPr>
          <a:xfrm>
            <a:off x="3886200" y="3589020"/>
            <a:ext cx="1600200" cy="1440180"/>
          </a:xfrm>
          <a:prstGeom prst="line">
            <a:avLst/>
          </a:prstGeom>
          <a:noFill/>
          <a:ln w="25400">
            <a:solidFill>
              <a:srgbClr val="A9C4EE"/>
            </a:solidFill>
            <a:prstDash val="dash"/>
          </a:ln>
        </p:spPr>
      </p:sp>
      <p:sp>
        <p:nvSpPr>
          <p:cNvPr id="13" name="Client 3"/>
          <p:cNvSpPr/>
          <p:nvPr/>
        </p:nvSpPr>
        <p:spPr>
          <a:xfrm>
            <a:off x="5486400" y="4526280"/>
            <a:ext cx="2103120" cy="1005840"/>
          </a:xfrm>
          <a:prstGeom prst="roundRect">
            <a:avLst>
              <a:gd name="adj" fmla="val 13636"/>
            </a:avLst>
          </a:prstGeom>
          <a:solidFill>
            <a:schemeClr val="accent4"/>
          </a:solidFill>
          <a:ln w="12700">
            <a:solidFill>
              <a:schemeClr val="accent4"/>
            </a:solidFill>
            <a:prstDash val="solid"/>
          </a:ln>
        </p:spPr>
      </p:sp>
      <p:sp>
        <p:nvSpPr>
          <p:cNvPr id="14" name="Text 12"/>
          <p:cNvSpPr txBox="1"/>
          <p:nvPr/>
        </p:nvSpPr>
        <p:spPr>
          <a:xfrm>
            <a:off x="5486400" y="4526280"/>
            <a:ext cx="2103120" cy="1005840"/>
          </a:xfrm>
          <a:prstGeom prst="rect">
            <a:avLst/>
          </a:prstGeom>
          <a:noFill/>
          <a:ln/>
        </p:spPr>
        <p:txBody>
          <a:bodyPr wrap="square" lIns="0" tIns="0" rIns="0" bIns="0" rtlCol="0" anchor="ctr"/>
          <a:lstStyle/>
          <a:p>
            <a:pPr algn="ctr" indent="0" marL="0">
              <a:buNone/>
            </a:pPr>
            <a:r>
              <a:rPr lang="en-US" sz="1800" b="1" dirty="0">
                <a:solidFill>
                  <a:schemeClr val="tx1"/>
                </a:solidFill>
                <a:latin typeface="Georgia" pitchFamily="34" charset="0"/>
                <a:ea typeface="Georgia" pitchFamily="34" charset="-122"/>
                <a:cs typeface="Georgia" pitchFamily="34" charset="-120"/>
              </a:rPr>
              <a:t>CLIENT 4</a:t>
            </a:r>
            <a:endParaRPr lang="en-US" sz="1800" dirty="0"/>
          </a:p>
          <a:p>
            <a:pPr algn="ctr" indent="0" marL="0">
              <a:buNone/>
            </a:pPr>
            <a:r>
              <a:rPr lang="en-US" sz="1300" dirty="0">
                <a:solidFill>
                  <a:schemeClr val="tx1"/>
                </a:solidFill>
                <a:latin typeface="Calibri" pitchFamily="34" charset="0"/>
                <a:ea typeface="Calibri" pitchFamily="34" charset="-122"/>
                <a:cs typeface="Calibri" pitchFamily="34" charset="-120"/>
              </a:rPr>
              <a:t>sends input</a:t>
            </a:r>
            <a:endParaRPr lang="en-US" sz="1800" dirty="0"/>
          </a:p>
        </p:txBody>
      </p:sp>
      <p:sp>
        <p:nvSpPr>
          <p:cNvPr id="15" name="Text 13"/>
          <p:cNvSpPr txBox="1"/>
          <p:nvPr/>
        </p:nvSpPr>
        <p:spPr>
          <a:xfrm>
            <a:off x="1143000" y="4617720"/>
            <a:ext cx="4114800" cy="274320"/>
          </a:xfrm>
          <a:prstGeom prst="rect">
            <a:avLst/>
          </a:prstGeom>
          <a:noFill/>
          <a:ln/>
        </p:spPr>
        <p:txBody>
          <a:bodyPr wrap="square" lIns="0" tIns="0" rIns="0" bIns="0" rtlCol="0" anchor="ctr"/>
          <a:lstStyle/>
          <a:p>
            <a:pPr indent="0" marL="0">
              <a:buNone/>
            </a:pPr>
            <a:r>
              <a:rPr lang="en-US" sz="1200" b="1" dirty="0">
                <a:solidFill>
                  <a:schemeClr val="accent6"/>
                </a:solidFill>
                <a:latin typeface="Calibri" pitchFamily="34" charset="0"/>
                <a:ea typeface="Calibri" pitchFamily="34" charset="-122"/>
                <a:cs typeface="Calibri" pitchFamily="34" charset="-120"/>
              </a:rPr>
              <a:t>clients send inputs  →   ←  host sends state</a:t>
            </a:r>
            <a:endParaRPr lang="en-US" sz="1200" dirty="0"/>
          </a:p>
        </p:txBody>
      </p:sp>
      <p:sp>
        <p:nvSpPr>
          <p:cNvPr id="16" name="Text 14"/>
          <p:cNvSpPr txBox="1"/>
          <p:nvPr/>
        </p:nvSpPr>
        <p:spPr>
          <a:xfrm>
            <a:off x="1143000" y="5074920"/>
            <a:ext cx="6400800" cy="274320"/>
          </a:xfrm>
          <a:prstGeom prst="rect">
            <a:avLst/>
          </a:prstGeom>
          <a:noFill/>
          <a:ln/>
        </p:spPr>
        <p:txBody>
          <a:bodyPr wrap="square" lIns="0" tIns="0" rIns="0" bIns="0" rtlCol="0" anchor="ctr"/>
          <a:lstStyle/>
          <a:p>
            <a:pPr indent="0" marL="0">
              <a:buNone/>
            </a:pPr>
            <a:r>
              <a:rPr lang="en-US" sz="1100" b="1" spc="300" kern="0" dirty="0">
                <a:solidFill>
                  <a:srgbClr val="A9C4EE"/>
                </a:solidFill>
                <a:latin typeface="Calibri" pitchFamily="34" charset="0"/>
                <a:ea typeface="Calibri" pitchFamily="34" charset="-122"/>
                <a:cs typeface="Calibri" pitchFamily="34" charset="-120"/>
              </a:rPr>
              <a:t>LOCAL NETWORK · ONE ROUTER OR HOTSPOT</a:t>
            </a:r>
            <a:endParaRPr lang="en-US" sz="1100" dirty="0"/>
          </a:p>
        </p:txBody>
      </p:sp>
      <p:sp>
        <p:nvSpPr>
          <p:cNvPr id="17" name="Text 15"/>
          <p:cNvSpPr txBox="1"/>
          <p:nvPr/>
        </p:nvSpPr>
        <p:spPr>
          <a:xfrm>
            <a:off x="8229600" y="1783080"/>
            <a:ext cx="3383280" cy="3017520"/>
          </a:xfrm>
          <a:prstGeom prst="rect">
            <a:avLst/>
          </a:prstGeom>
          <a:noFill/>
          <a:ln/>
        </p:spPr>
        <p:txBody>
          <a:bodyPr wrap="square" lIns="0" tIns="0" rIns="0" bIns="0" rtlCol="0" anchor="t"/>
          <a:lstStyle/>
          <a:p>
            <a:pPr indent="0" marL="0">
              <a:spcAft>
                <a:spcPts val="800"/>
              </a:spcAft>
              <a:buNone/>
            </a:pPr>
            <a:r>
              <a:rPr lang="en-US" sz="1600" b="1" dirty="0">
                <a:solidFill>
                  <a:schemeClr val="accent6"/>
                </a:solidFill>
                <a:latin typeface="Calibri" pitchFamily="34" charset="0"/>
                <a:ea typeface="Calibri" pitchFamily="34" charset="-122"/>
                <a:cs typeface="Calibri" pitchFamily="34" charset="-120"/>
              </a:rPr>
              <a:t>No servers, no accounts</a:t>
            </a:r>
            <a:endParaRPr lang="en-US" sz="1600" dirty="0"/>
          </a:p>
          <a:p>
            <a:pPr indent="0" marL="0">
              <a:spcAft>
                <a:spcPts val="800"/>
              </a:spcAft>
              <a:buNone/>
            </a:pPr>
            <a:r>
              <a:rPr lang="en-US" sz="1600" dirty="0">
                <a:solidFill>
                  <a:schemeClr val="bg1"/>
                </a:solidFill>
                <a:latin typeface="Calibri" pitchFamily="34" charset="0"/>
                <a:ea typeface="Calibri" pitchFamily="34" charset="-122"/>
                <a:cs typeface="Calibri" pitchFamily="34" charset="-120"/>
              </a:rPr>
              <a:t>The host owns physics, projectiles and score; clients send input and render snapshots.</a:t>
            </a:r>
            <a:endParaRPr lang="en-US" sz="1600" dirty="0"/>
          </a:p>
          <a:p>
            <a:pPr indent="0" marL="0">
              <a:spcAft>
                <a:spcPts val="800"/>
              </a:spcAft>
              <a:buNone/>
            </a:pPr>
            <a:r>
              <a:rPr lang="en-US" sz="600" dirty="0">
                <a:solidFill>
                  <a:schemeClr val="bg1"/>
                </a:solidFill>
                <a:latin typeface="Calibri" pitchFamily="34" charset="0"/>
                <a:ea typeface="Calibri" pitchFamily="34" charset="-122"/>
                <a:cs typeface="Calibri" pitchFamily="34" charset="-120"/>
              </a:rPr>
              <a:t> </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Join by LAN address</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2–4 players keeps sync cheap</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Online play is out of scope</a:t>
            </a:r>
            <a:endParaRPr lang="en-US" sz="1600" dirty="0"/>
          </a:p>
        </p:txBody>
      </p:sp>
      <p:sp>
        <p:nvSpPr>
          <p:cNvPr id="18" name="Shape 16"/>
          <p:cNvSpPr/>
          <p:nvPr/>
        </p:nvSpPr>
        <p:spPr>
          <a:xfrm>
            <a:off x="8229600" y="4754880"/>
            <a:ext cx="3410712" cy="1188720"/>
          </a:xfrm>
          <a:prstGeom prst="roundRect">
            <a:avLst>
              <a:gd name="adj" fmla="val 11538"/>
            </a:avLst>
          </a:prstGeom>
          <a:solidFill>
            <a:srgbClr val="0F2C6B"/>
          </a:solidFill>
          <a:ln w="12700">
            <a:solidFill>
              <a:srgbClr val="16398A"/>
            </a:solidFill>
            <a:prstDash val="solid"/>
          </a:ln>
        </p:spPr>
      </p:sp>
      <p:sp>
        <p:nvSpPr>
          <p:cNvPr id="19" name="Text 17"/>
          <p:cNvSpPr txBox="1"/>
          <p:nvPr/>
        </p:nvSpPr>
        <p:spPr>
          <a:xfrm>
            <a:off x="8412480" y="4828032"/>
            <a:ext cx="3063240" cy="1051560"/>
          </a:xfrm>
          <a:prstGeom prst="rect">
            <a:avLst/>
          </a:prstGeom>
          <a:noFill/>
          <a:ln/>
        </p:spPr>
        <p:txBody>
          <a:bodyPr wrap="square" lIns="0" tIns="0" rIns="0" bIns="0" rtlCol="0" anchor="ctr"/>
          <a:lstStyle/>
          <a:p>
            <a:pPr indent="0" marL="0">
              <a:buNone/>
            </a:pPr>
            <a:r>
              <a:rPr lang="en-US" sz="1300" b="1" dirty="0">
                <a:solidFill>
                  <a:schemeClr val="accent6"/>
                </a:solidFill>
                <a:latin typeface="Calibri" pitchFamily="34" charset="0"/>
                <a:ea typeface="Calibri" pitchFamily="34" charset="-122"/>
                <a:cs typeface="Calibri" pitchFamily="34" charset="-120"/>
              </a:rPr>
              <a:t>Honest risk  </a:t>
            </a:r>
            <a:pPr indent="0" marL="0">
              <a:buNone/>
            </a:pPr>
            <a:r>
              <a:rPr lang="en-US" sz="1300" dirty="0">
                <a:solidFill>
                  <a:schemeClr val="bg1"/>
                </a:solidFill>
                <a:latin typeface="Calibri" pitchFamily="34" charset="0"/>
                <a:ea typeface="Calibri" pitchFamily="34" charset="-122"/>
                <a:cs typeface="Calibri" pitchFamily="34" charset="-120"/>
              </a:rPr>
              <a:t>networked rigidbody physics will drift; we start with the simplest scene to learn what breaks.</a:t>
            </a:r>
            <a:endParaRPr lang="en-US" sz="1300" dirty="0"/>
          </a:p>
        </p:txBody>
      </p:sp>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4E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chemeClr val="accent5"/>
                </a:solidFill>
                <a:latin typeface="Calibri" pitchFamily="34" charset="0"/>
                <a:ea typeface="Calibri" pitchFamily="34" charset="-122"/>
                <a:cs typeface="Calibri" pitchFamily="34" charset="-120"/>
              </a:rPr>
              <a:t>10 / MARKET AND AUDIENCE</a:t>
            </a:r>
            <a:endParaRPr lang="en-US" sz="1200" dirty="0"/>
          </a:p>
        </p:txBody>
      </p:sp>
      <p:sp>
        <p:nvSpPr>
          <p:cNvPr id="3" name="Text 1"/>
          <p:cNvSpPr/>
          <p:nvPr>
            <p:ph idx="105" type="title" hasCustomPrompt="1"/>
          </p:nvPr>
        </p:nvSpPr>
        <p:spPr>
          <a:xfrm>
            <a:off x="548640" y="713232"/>
            <a:ext cx="11094415" cy="914400"/>
          </a:xfrm>
          <a:prstGeom prst="rect">
            <a:avLst/>
          </a:prstGeom>
          <a:noFill/>
          <a:ln/>
        </p:spPr>
        <p:txBody>
          <a:bodyPr wrap="square" lIns="0" tIns="0" rIns="0" bIns="0" rtlCol="0" anchor="t"/>
          <a:lstStyle/>
          <a:p>
            <a:pPr algn="l" indent="0" marL="0">
              <a:buNone/>
            </a:pPr>
            <a:r>
              <a:rPr lang="en-US" sz="3600" b="1" dirty="0">
                <a:solidFill>
                  <a:schemeClr val="tx1"/>
                </a:solidFill>
                <a:latin typeface="Georgia" pitchFamily="34" charset="0"/>
                <a:ea typeface="Georgia" pitchFamily="34" charset="-122"/>
                <a:cs typeface="Georgia" pitchFamily="34" charset="-120"/>
              </a:rPr>
              <a:t>Friends are the market</a:t>
            </a:r>
            <a:endParaRPr lang="en-US" sz="3600" dirty="0"/>
          </a:p>
        </p:txBody>
      </p:sp>
      <p:sp>
        <p:nvSpPr>
          <p:cNvPr id="4" name="Stat 1"/>
          <p:cNvSpPr/>
          <p:nvPr/>
        </p:nvSpPr>
        <p:spPr>
          <a:xfrm>
            <a:off x="548640" y="1783080"/>
            <a:ext cx="3593592" cy="2286000"/>
          </a:xfrm>
          <a:prstGeom prst="roundRect">
            <a:avLst>
              <a:gd name="adj" fmla="val 7200"/>
            </a:avLst>
          </a:prstGeom>
          <a:solidFill>
            <a:schemeClr val="bg1"/>
          </a:solidFill>
          <a:ln w="12700">
            <a:solidFill>
              <a:schemeClr val="bg1"/>
            </a:solidFill>
            <a:prstDash val="solid"/>
          </a:ln>
          <a:effectLst>
            <a:outerShdw sx="100000" sy="100000" kx="0" ky="0" algn="bl" rotWithShape="0" blurRad="177800" dist="38100" dir="5400000">
              <a:srgbClr val="0A1E4A">
                <a:alpha val="20000"/>
              </a:srgbClr>
            </a:outerShdw>
          </a:effectLst>
        </p:spPr>
      </p:sp>
      <p:sp>
        <p:nvSpPr>
          <p:cNvPr id="5" name="Text 3"/>
          <p:cNvSpPr txBox="1"/>
          <p:nvPr/>
        </p:nvSpPr>
        <p:spPr>
          <a:xfrm>
            <a:off x="822960" y="1874520"/>
            <a:ext cx="3108960" cy="914400"/>
          </a:xfrm>
          <a:prstGeom prst="rect">
            <a:avLst/>
          </a:prstGeom>
          <a:noFill/>
          <a:ln/>
        </p:spPr>
        <p:txBody>
          <a:bodyPr wrap="square" lIns="0" tIns="0" rIns="0" bIns="0" rtlCol="0" anchor="ctr"/>
          <a:lstStyle/>
          <a:p>
            <a:pPr indent="0" marL="0">
              <a:buNone/>
            </a:pPr>
            <a:r>
              <a:rPr lang="en-US" sz="5400" b="1" i="1" dirty="0">
                <a:solidFill>
                  <a:schemeClr val="accent1"/>
                </a:solidFill>
                <a:latin typeface="Georgia" pitchFamily="34" charset="0"/>
                <a:ea typeface="Georgia" pitchFamily="34" charset="-122"/>
                <a:cs typeface="Georgia" pitchFamily="34" charset="-120"/>
              </a:rPr>
              <a:t>$4.1B</a:t>
            </a:r>
            <a:endParaRPr lang="en-US" sz="5400" dirty="0"/>
          </a:p>
        </p:txBody>
      </p:sp>
      <p:sp>
        <p:nvSpPr>
          <p:cNvPr id="6" name="Text 4"/>
          <p:cNvSpPr txBox="1"/>
          <p:nvPr/>
        </p:nvSpPr>
        <p:spPr>
          <a:xfrm>
            <a:off x="822960" y="2834640"/>
            <a:ext cx="3108960" cy="7772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Co-op games grossed on Steam in H1 2025 — an all-time record</a:t>
            </a:r>
            <a:endParaRPr lang="en-US" sz="1500" dirty="0"/>
          </a:p>
        </p:txBody>
      </p:sp>
      <p:sp>
        <p:nvSpPr>
          <p:cNvPr id="7" name="Text 5"/>
          <p:cNvSpPr txBox="1"/>
          <p:nvPr/>
        </p:nvSpPr>
        <p:spPr>
          <a:xfrm>
            <a:off x="822960" y="3657600"/>
            <a:ext cx="3108960" cy="274320"/>
          </a:xfrm>
          <a:prstGeom prst="rect">
            <a:avLst/>
          </a:prstGeom>
          <a:noFill/>
          <a:ln/>
        </p:spPr>
        <p:txBody>
          <a:bodyPr wrap="square" lIns="0" tIns="0" rIns="0" bIns="0" rtlCol="0" anchor="ctr"/>
          <a:lstStyle/>
          <a:p>
            <a:pPr indent="0" marL="0">
              <a:buNone/>
            </a:pPr>
            <a:r>
              <a:rPr lang="en-US" sz="1100" i="1" dirty="0">
                <a:solidFill>
                  <a:srgbClr val="4A5F8A"/>
                </a:solidFill>
                <a:latin typeface="Calibri" pitchFamily="34" charset="0"/>
                <a:ea typeface="Calibri" pitchFamily="34" charset="-122"/>
                <a:cs typeface="Calibri" pitchFamily="34" charset="-120"/>
              </a:rPr>
              <a:t>Alinea Analytics, Aug 2025</a:t>
            </a:r>
            <a:endParaRPr lang="en-US" sz="1100" dirty="0"/>
          </a:p>
        </p:txBody>
      </p:sp>
      <p:sp>
        <p:nvSpPr>
          <p:cNvPr id="8" name="Stat 2"/>
          <p:cNvSpPr/>
          <p:nvPr/>
        </p:nvSpPr>
        <p:spPr>
          <a:xfrm>
            <a:off x="4297680" y="1783080"/>
            <a:ext cx="3593592" cy="2286000"/>
          </a:xfrm>
          <a:prstGeom prst="roundRect">
            <a:avLst>
              <a:gd name="adj" fmla="val 7200"/>
            </a:avLst>
          </a:prstGeom>
          <a:solidFill>
            <a:schemeClr val="bg1"/>
          </a:solidFill>
          <a:ln w="12700">
            <a:solidFill>
              <a:schemeClr val="bg1"/>
            </a:solidFill>
            <a:prstDash val="solid"/>
          </a:ln>
          <a:effectLst>
            <a:outerShdw sx="100000" sy="100000" kx="0" ky="0" algn="bl" rotWithShape="0" blurRad="177800" dist="38100" dir="5400000">
              <a:srgbClr val="0A1E4A">
                <a:alpha val="20000"/>
              </a:srgbClr>
            </a:outerShdw>
          </a:effectLst>
        </p:spPr>
      </p:sp>
      <p:sp>
        <p:nvSpPr>
          <p:cNvPr id="9" name="Text 7"/>
          <p:cNvSpPr txBox="1"/>
          <p:nvPr/>
        </p:nvSpPr>
        <p:spPr>
          <a:xfrm>
            <a:off x="4572000" y="1874520"/>
            <a:ext cx="3108960" cy="914400"/>
          </a:xfrm>
          <a:prstGeom prst="rect">
            <a:avLst/>
          </a:prstGeom>
          <a:noFill/>
          <a:ln/>
        </p:spPr>
        <p:txBody>
          <a:bodyPr wrap="square" lIns="0" tIns="0" rIns="0" bIns="0" rtlCol="0" anchor="ctr"/>
          <a:lstStyle/>
          <a:p>
            <a:pPr indent="0" marL="0">
              <a:buNone/>
            </a:pPr>
            <a:r>
              <a:rPr lang="en-US" sz="5400" b="1" i="1" dirty="0">
                <a:solidFill>
                  <a:schemeClr val="accent5"/>
                </a:solidFill>
                <a:latin typeface="Georgia" pitchFamily="34" charset="0"/>
                <a:ea typeface="Georgia" pitchFamily="34" charset="-122"/>
                <a:cs typeface="Georgia" pitchFamily="34" charset="-120"/>
              </a:rPr>
              <a:t>89%</a:t>
            </a:r>
            <a:endParaRPr lang="en-US" sz="5400" dirty="0"/>
          </a:p>
        </p:txBody>
      </p:sp>
      <p:sp>
        <p:nvSpPr>
          <p:cNvPr id="10" name="Text 8"/>
          <p:cNvSpPr txBox="1"/>
          <p:nvPr/>
        </p:nvSpPr>
        <p:spPr>
          <a:xfrm>
            <a:off x="4572000" y="2834640"/>
            <a:ext cx="3108960" cy="7772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of Gen Z have played video games with other people</a:t>
            </a:r>
            <a:endParaRPr lang="en-US" sz="1500" dirty="0"/>
          </a:p>
        </p:txBody>
      </p:sp>
      <p:sp>
        <p:nvSpPr>
          <p:cNvPr id="11" name="Text 9"/>
          <p:cNvSpPr txBox="1"/>
          <p:nvPr/>
        </p:nvSpPr>
        <p:spPr>
          <a:xfrm>
            <a:off x="4572000" y="3657600"/>
            <a:ext cx="3108960" cy="274320"/>
          </a:xfrm>
          <a:prstGeom prst="rect">
            <a:avLst/>
          </a:prstGeom>
          <a:noFill/>
          <a:ln/>
        </p:spPr>
        <p:txBody>
          <a:bodyPr wrap="square" lIns="0" tIns="0" rIns="0" bIns="0" rtlCol="0" anchor="ctr"/>
          <a:lstStyle/>
          <a:p>
            <a:pPr indent="0" marL="0">
              <a:buNone/>
            </a:pPr>
            <a:r>
              <a:rPr lang="en-US" sz="1100" i="1" dirty="0">
                <a:solidFill>
                  <a:srgbClr val="4A5F8A"/>
                </a:solidFill>
                <a:latin typeface="Calibri" pitchFamily="34" charset="0"/>
                <a:ea typeface="Calibri" pitchFamily="34" charset="-122"/>
                <a:cs typeface="Calibri" pitchFamily="34" charset="-120"/>
              </a:rPr>
              <a:t>ESA Essential Facts 2026</a:t>
            </a:r>
            <a:endParaRPr lang="en-US" sz="1100" dirty="0"/>
          </a:p>
        </p:txBody>
      </p:sp>
      <p:sp>
        <p:nvSpPr>
          <p:cNvPr id="12" name="Stat 3"/>
          <p:cNvSpPr/>
          <p:nvPr/>
        </p:nvSpPr>
        <p:spPr>
          <a:xfrm>
            <a:off x="8046720" y="1783080"/>
            <a:ext cx="3593592" cy="2286000"/>
          </a:xfrm>
          <a:prstGeom prst="roundRect">
            <a:avLst>
              <a:gd name="adj" fmla="val 7200"/>
            </a:avLst>
          </a:prstGeom>
          <a:solidFill>
            <a:schemeClr val="bg1"/>
          </a:solidFill>
          <a:ln w="12700">
            <a:solidFill>
              <a:schemeClr val="bg1"/>
            </a:solidFill>
            <a:prstDash val="solid"/>
          </a:ln>
          <a:effectLst>
            <a:outerShdw sx="100000" sy="100000" kx="0" ky="0" algn="bl" rotWithShape="0" blurRad="177800" dist="38100" dir="5400000">
              <a:srgbClr val="0A1E4A">
                <a:alpha val="20000"/>
              </a:srgbClr>
            </a:outerShdw>
          </a:effectLst>
        </p:spPr>
      </p:sp>
      <p:sp>
        <p:nvSpPr>
          <p:cNvPr id="13" name="Text 11"/>
          <p:cNvSpPr txBox="1"/>
          <p:nvPr/>
        </p:nvSpPr>
        <p:spPr>
          <a:xfrm>
            <a:off x="8321040" y="1874520"/>
            <a:ext cx="3108960" cy="914400"/>
          </a:xfrm>
          <a:prstGeom prst="rect">
            <a:avLst/>
          </a:prstGeom>
          <a:noFill/>
          <a:ln/>
        </p:spPr>
        <p:txBody>
          <a:bodyPr wrap="square" lIns="0" tIns="0" rIns="0" bIns="0" rtlCol="0" anchor="ctr"/>
          <a:lstStyle/>
          <a:p>
            <a:pPr indent="0" marL="0">
              <a:buNone/>
            </a:pPr>
            <a:r>
              <a:rPr lang="en-US" sz="5400" b="1" i="1" dirty="0">
                <a:solidFill>
                  <a:schemeClr val="accent4"/>
                </a:solidFill>
                <a:latin typeface="Georgia" pitchFamily="34" charset="0"/>
                <a:ea typeface="Georgia" pitchFamily="34" charset="-122"/>
                <a:cs typeface="Georgia" pitchFamily="34" charset="-120"/>
              </a:rPr>
              <a:t>55%</a:t>
            </a:r>
            <a:endParaRPr lang="en-US" sz="5400" dirty="0"/>
          </a:p>
        </p:txBody>
      </p:sp>
      <p:sp>
        <p:nvSpPr>
          <p:cNvPr id="14" name="Text 12"/>
          <p:cNvSpPr txBox="1"/>
          <p:nvPr/>
        </p:nvSpPr>
        <p:spPr>
          <a:xfrm>
            <a:off x="8321040" y="2834640"/>
            <a:ext cx="3108960" cy="7772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of all play time happens Friday to Sunday: game night</a:t>
            </a:r>
            <a:endParaRPr lang="en-US" sz="1500" dirty="0"/>
          </a:p>
        </p:txBody>
      </p:sp>
      <p:sp>
        <p:nvSpPr>
          <p:cNvPr id="15" name="Text 13"/>
          <p:cNvSpPr txBox="1"/>
          <p:nvPr/>
        </p:nvSpPr>
        <p:spPr>
          <a:xfrm>
            <a:off x="8321040" y="3657600"/>
            <a:ext cx="3108960" cy="274320"/>
          </a:xfrm>
          <a:prstGeom prst="rect">
            <a:avLst/>
          </a:prstGeom>
          <a:noFill/>
          <a:ln/>
        </p:spPr>
        <p:txBody>
          <a:bodyPr wrap="square" lIns="0" tIns="0" rIns="0" bIns="0" rtlCol="0" anchor="ctr"/>
          <a:lstStyle/>
          <a:p>
            <a:pPr indent="0" marL="0">
              <a:buNone/>
            </a:pPr>
            <a:r>
              <a:rPr lang="en-US" sz="1100" i="1" dirty="0">
                <a:solidFill>
                  <a:srgbClr val="4A5F8A"/>
                </a:solidFill>
                <a:latin typeface="Calibri" pitchFamily="34" charset="0"/>
                <a:ea typeface="Calibri" pitchFamily="34" charset="-122"/>
                <a:cs typeface="Calibri" pitchFamily="34" charset="-120"/>
              </a:rPr>
              <a:t>ESA Essential Facts 2026</a:t>
            </a:r>
            <a:endParaRPr lang="en-US" sz="1100" dirty="0"/>
          </a:p>
        </p:txBody>
      </p:sp>
      <p:sp>
        <p:nvSpPr>
          <p:cNvPr id="16" name="Shape 14"/>
          <p:cNvSpPr/>
          <p:nvPr/>
        </p:nvSpPr>
        <p:spPr>
          <a:xfrm>
            <a:off x="548640" y="4434840"/>
            <a:ext cx="502920" cy="502920"/>
          </a:xfrm>
          <a:prstGeom prst="ellipse">
            <a:avLst/>
          </a:prstGeom>
          <a:solidFill>
            <a:schemeClr val="accent2"/>
          </a:solidFill>
          <a:ln w="12700">
            <a:solidFill>
              <a:schemeClr val="accent2"/>
            </a:solidFill>
            <a:prstDash val="solid"/>
          </a:ln>
        </p:spPr>
      </p:sp>
      <p:sp>
        <p:nvSpPr>
          <p:cNvPr id="17" name="Text 15"/>
          <p:cNvSpPr txBox="1"/>
          <p:nvPr/>
        </p:nvSpPr>
        <p:spPr>
          <a:xfrm>
            <a:off x="1234440" y="4407408"/>
            <a:ext cx="4572000" cy="365760"/>
          </a:xfrm>
          <a:prstGeom prst="rect">
            <a:avLst/>
          </a:prstGeom>
          <a:noFill/>
          <a:ln/>
        </p:spPr>
        <p:txBody>
          <a:bodyPr wrap="square" lIns="0" tIns="0" rIns="0" bIns="0" rtlCol="0" anchor="ctr"/>
          <a:lstStyle/>
          <a:p>
            <a:pPr indent="0" marL="0">
              <a:buNone/>
            </a:pPr>
            <a:r>
              <a:rPr lang="en-US" sz="1900" b="1" dirty="0">
                <a:solidFill>
                  <a:schemeClr val="tx1"/>
                </a:solidFill>
                <a:latin typeface="Georgia" pitchFamily="34" charset="0"/>
                <a:ea typeface="Georgia" pitchFamily="34" charset="-122"/>
                <a:cs typeface="Georgia" pitchFamily="34" charset="-120"/>
              </a:rPr>
              <a:t>Friend groups on PC, 16–29</a:t>
            </a:r>
            <a:endParaRPr lang="en-US" sz="1900" dirty="0"/>
          </a:p>
        </p:txBody>
      </p:sp>
      <p:sp>
        <p:nvSpPr>
          <p:cNvPr id="18" name="Text 16"/>
          <p:cNvSpPr txBox="1"/>
          <p:nvPr/>
        </p:nvSpPr>
        <p:spPr>
          <a:xfrm>
            <a:off x="1234440" y="4800600"/>
            <a:ext cx="466344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Students and early-career players who already buy cheap social games such as R.E.P.O. (19M players in 2025).</a:t>
            </a:r>
            <a:endParaRPr lang="en-US" sz="1400" dirty="0"/>
          </a:p>
        </p:txBody>
      </p:sp>
      <p:sp>
        <p:nvSpPr>
          <p:cNvPr id="19" name="Shape 17"/>
          <p:cNvSpPr/>
          <p:nvPr/>
        </p:nvSpPr>
        <p:spPr>
          <a:xfrm>
            <a:off x="6172200" y="4434840"/>
            <a:ext cx="502920" cy="502920"/>
          </a:xfrm>
          <a:prstGeom prst="ellipse">
            <a:avLst/>
          </a:prstGeom>
          <a:solidFill>
            <a:schemeClr val="accent3"/>
          </a:solidFill>
          <a:ln w="12700">
            <a:solidFill>
              <a:schemeClr val="accent3"/>
            </a:solidFill>
            <a:prstDash val="solid"/>
          </a:ln>
        </p:spPr>
      </p:sp>
      <p:sp>
        <p:nvSpPr>
          <p:cNvPr id="20" name="Text 18"/>
          <p:cNvSpPr txBox="1"/>
          <p:nvPr/>
        </p:nvSpPr>
        <p:spPr>
          <a:xfrm>
            <a:off x="6858000" y="4407408"/>
            <a:ext cx="4572000" cy="365760"/>
          </a:xfrm>
          <a:prstGeom prst="rect">
            <a:avLst/>
          </a:prstGeom>
          <a:noFill/>
          <a:ln/>
        </p:spPr>
        <p:txBody>
          <a:bodyPr wrap="square" lIns="0" tIns="0" rIns="0" bIns="0" rtlCol="0" anchor="ctr"/>
          <a:lstStyle/>
          <a:p>
            <a:pPr indent="0" marL="0">
              <a:buNone/>
            </a:pPr>
            <a:r>
              <a:rPr lang="en-US" sz="1900" b="1" dirty="0">
                <a:solidFill>
                  <a:schemeClr val="tx1"/>
                </a:solidFill>
                <a:latin typeface="Georgia" pitchFamily="34" charset="0"/>
                <a:ea typeface="Georgia" pitchFamily="34" charset="-122"/>
                <a:cs typeface="Georgia" pitchFamily="34" charset="-120"/>
              </a:rPr>
              <a:t>Game-night hosts</a:t>
            </a:r>
            <a:endParaRPr lang="en-US" sz="1900" dirty="0"/>
          </a:p>
        </p:txBody>
      </p:sp>
      <p:sp>
        <p:nvSpPr>
          <p:cNvPr id="21" name="Text 19"/>
          <p:cNvSpPr txBox="1"/>
          <p:nvPr/>
        </p:nvSpPr>
        <p:spPr>
          <a:xfrm>
            <a:off x="6858000" y="4800600"/>
            <a:ext cx="466344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Dorms, student societies, LAN clubs and family evenings where one person sets it up for the room.</a:t>
            </a:r>
            <a:endParaRPr lang="en-US" sz="1400" dirty="0"/>
          </a:p>
        </p:txBody>
      </p:sp>
      <p:sp>
        <p:nvSpPr>
          <p:cNvPr id="22" name="Text 20"/>
          <p:cNvSpPr txBox="1"/>
          <p:nvPr/>
        </p:nvSpPr>
        <p:spPr>
          <a:xfrm>
            <a:off x="548640" y="5897880"/>
            <a:ext cx="9144000" cy="274320"/>
          </a:xfrm>
          <a:prstGeom prst="rect">
            <a:avLst/>
          </a:prstGeom>
          <a:noFill/>
          <a:ln/>
        </p:spPr>
        <p:txBody>
          <a:bodyPr wrap="square" lIns="0" tIns="0" rIns="0" bIns="0" rtlCol="0" anchor="ctr"/>
          <a:lstStyle/>
          <a:p>
            <a:pPr indent="0" marL="0">
              <a:buNone/>
            </a:pPr>
            <a:r>
              <a:rPr lang="en-US" sz="1200" i="1" dirty="0">
                <a:solidFill>
                  <a:srgbClr val="4A5F8A"/>
                </a:solidFill>
                <a:latin typeface="Calibri" pitchFamily="34" charset="0"/>
                <a:ea typeface="Calibri" pitchFamily="34" charset="-122"/>
                <a:cs typeface="Calibri" pitchFamily="34" charset="-120"/>
              </a:rPr>
              <a:t>Indie party games on Steam sit in a $5–20 price band. Full sources in the appendix.</a:t>
            </a:r>
            <a:endParaRPr lang="en-US" sz="1200" dirty="0"/>
          </a:p>
        </p:txBody>
      </p:sp>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F8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11 / THE LAN GAP</a:t>
            </a:r>
            <a:endParaRPr lang="en-US" sz="1200" dirty="0"/>
          </a:p>
        </p:txBody>
      </p:sp>
      <p:sp>
        <p:nvSpPr>
          <p:cNvPr id="3" name="Text 1"/>
          <p:cNvSpPr/>
          <p:nvPr>
            <p:ph idx="105" type="title" hasCustomPrompt="1"/>
          </p:nvPr>
        </p:nvSpPr>
        <p:spPr>
          <a:xfrm>
            <a:off x="548640" y="713232"/>
            <a:ext cx="11094415" cy="914400"/>
          </a:xfrm>
          <a:prstGeom prst="rect">
            <a:avLst/>
          </a:prstGeom>
          <a:noFill/>
          <a:ln/>
        </p:spPr>
        <p:txBody>
          <a:bodyPr wrap="square" lIns="0" tIns="0" rIns="0" bIns="0" rtlCol="0" anchor="t"/>
          <a:lstStyle/>
          <a:p>
            <a:pPr algn="l" indent="0" marL="0">
              <a:buNone/>
            </a:pPr>
            <a:r>
              <a:rPr lang="en-US" sz="3600" b="1" dirty="0">
                <a:solidFill>
                  <a:schemeClr val="bg1"/>
                </a:solidFill>
                <a:latin typeface="Georgia" pitchFamily="34" charset="0"/>
                <a:ea typeface="Georgia" pitchFamily="34" charset="-122"/>
                <a:cs typeface="Georgia" pitchFamily="34" charset="-120"/>
              </a:rPr>
              <a:t>Almost nobody plays the room</a:t>
            </a:r>
            <a:endParaRPr lang="en-US" sz="3600" dirty="0"/>
          </a:p>
        </p:txBody>
      </p:sp>
      <p:graphicFrame>
        <p:nvGraphicFramePr>
          <p:cNvPr id="4" name="Chart 0" descr=""/>
          <p:cNvGraphicFramePr/>
          <p:nvPr/>
        </p:nvGraphicFramePr>
        <p:xfrm>
          <a:off x="548640" y="1691640"/>
          <a:ext cx="694944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955280" y="1737360"/>
            <a:ext cx="3657600" cy="1097280"/>
          </a:xfrm>
          <a:prstGeom prst="rect">
            <a:avLst/>
          </a:prstGeom>
          <a:noFill/>
          <a:ln/>
        </p:spPr>
        <p:txBody>
          <a:bodyPr wrap="square" lIns="0" tIns="0" rIns="0" bIns="0" rtlCol="0" anchor="t"/>
          <a:lstStyle/>
          <a:p>
            <a:pPr indent="0" marL="0">
              <a:buNone/>
            </a:pPr>
            <a:r>
              <a:rPr lang="en-US" sz="8000" b="1" i="1" dirty="0">
                <a:solidFill>
                  <a:schemeClr val="accent1"/>
                </a:solidFill>
                <a:latin typeface="Georgia" pitchFamily="34" charset="0"/>
                <a:ea typeface="Georgia" pitchFamily="34" charset="-122"/>
                <a:cs typeface="Georgia" pitchFamily="34" charset="-120"/>
              </a:rPr>
              <a:t>≈8%</a:t>
            </a:r>
            <a:endParaRPr lang="en-US" sz="8000" dirty="0"/>
          </a:p>
        </p:txBody>
      </p:sp>
      <p:sp>
        <p:nvSpPr>
          <p:cNvPr id="6" name="Text 3"/>
          <p:cNvSpPr txBox="1"/>
          <p:nvPr/>
        </p:nvSpPr>
        <p:spPr>
          <a:xfrm>
            <a:off x="7955280" y="2926080"/>
            <a:ext cx="3657600" cy="1188720"/>
          </a:xfrm>
          <a:prstGeom prst="rect">
            <a:avLst/>
          </a:prstGeom>
          <a:noFill/>
          <a:ln/>
        </p:spPr>
        <p:txBody>
          <a:bodyPr wrap="square" lIns="0" tIns="0" rIns="0" bIns="0" rtlCol="0" anchor="t"/>
          <a:lstStyle/>
          <a:p>
            <a:pPr indent="0" marL="0">
              <a:spcAft>
                <a:spcPts val="600"/>
              </a:spcAft>
              <a:buNone/>
            </a:pPr>
            <a:r>
              <a:rPr lang="en-US" sz="1600" dirty="0">
                <a:solidFill>
                  <a:schemeClr val="bg1"/>
                </a:solidFill>
                <a:latin typeface="Calibri" pitchFamily="34" charset="0"/>
                <a:ea typeface="Calibri" pitchFamily="34" charset="-122"/>
                <a:cs typeface="Calibri" pitchFamily="34" charset="-120"/>
              </a:rPr>
              <a:t>of Steam party games list LAN multiplayer. Fall Guys is online-only, and Party Animals needs internet even for split-screen.</a:t>
            </a:r>
            <a:endParaRPr lang="en-US" sz="1600" dirty="0"/>
          </a:p>
        </p:txBody>
      </p:sp>
      <p:sp>
        <p:nvSpPr>
          <p:cNvPr id="7" name="Shape 4"/>
          <p:cNvSpPr/>
          <p:nvPr/>
        </p:nvSpPr>
        <p:spPr>
          <a:xfrm>
            <a:off x="7955280" y="4251960"/>
            <a:ext cx="3685032" cy="1554480"/>
          </a:xfrm>
          <a:prstGeom prst="roundRect">
            <a:avLst>
              <a:gd name="adj" fmla="val 8824"/>
            </a:avLst>
          </a:prstGeom>
          <a:solidFill>
            <a:srgbClr val="0F2C6B"/>
          </a:solidFill>
          <a:ln w="12700">
            <a:solidFill>
              <a:srgbClr val="16398A"/>
            </a:solidFill>
            <a:prstDash val="solid"/>
          </a:ln>
        </p:spPr>
      </p:sp>
      <p:sp>
        <p:nvSpPr>
          <p:cNvPr id="8" name="Text 5"/>
          <p:cNvSpPr txBox="1"/>
          <p:nvPr/>
        </p:nvSpPr>
        <p:spPr>
          <a:xfrm>
            <a:off x="8138160" y="4343400"/>
            <a:ext cx="3337560" cy="1371600"/>
          </a:xfrm>
          <a:prstGeom prst="rect">
            <a:avLst/>
          </a:prstGeom>
          <a:noFill/>
          <a:ln/>
        </p:spPr>
        <p:txBody>
          <a:bodyPr wrap="square" lIns="0" tIns="0" rIns="0" bIns="0" rtlCol="0" anchor="ctr"/>
          <a:lstStyle/>
          <a:p>
            <a:pPr indent="0" marL="0">
              <a:buNone/>
            </a:pPr>
            <a:r>
              <a:rPr lang="en-US" sz="1400" b="1" dirty="0">
                <a:solidFill>
                  <a:schemeClr val="accent6"/>
                </a:solidFill>
                <a:latin typeface="Calibri" pitchFamily="34" charset="0"/>
                <a:ea typeface="Calibri" pitchFamily="34" charset="-122"/>
                <a:cs typeface="Calibri" pitchFamily="34" charset="-120"/>
              </a:rPr>
              <a:t>Be honest: </a:t>
            </a:r>
            <a:pPr indent="0" marL="0">
              <a:buNone/>
            </a:pPr>
            <a:r>
              <a:rPr lang="en-US" sz="1400" dirty="0">
                <a:solidFill>
                  <a:schemeClr val="bg1"/>
                </a:solidFill>
                <a:latin typeface="Calibri" pitchFamily="34" charset="0"/>
                <a:ea typeface="Calibri" pitchFamily="34" charset="-122"/>
                <a:cs typeface="Calibri" pitchFamily="34" charset="-120"/>
              </a:rPr>
              <a:t>only 13% of US adult players call offline multiplayer a top buying factor. LAN is our differentiator, not the whole pitch.</a:t>
            </a:r>
            <a:endParaRPr lang="en-US" sz="1400" dirty="0"/>
          </a:p>
        </p:txBody>
      </p:sp>
      <p:sp>
        <p:nvSpPr>
          <p:cNvPr id="9" name="Text 6"/>
          <p:cNvSpPr txBox="1"/>
          <p:nvPr/>
        </p:nvSpPr>
        <p:spPr>
          <a:xfrm>
            <a:off x="548640" y="5943600"/>
            <a:ext cx="10058400" cy="274320"/>
          </a:xfrm>
          <a:prstGeom prst="rect">
            <a:avLst/>
          </a:prstGeom>
          <a:noFill/>
          <a:ln/>
        </p:spPr>
        <p:txBody>
          <a:bodyPr wrap="square" lIns="0" tIns="0" rIns="0" bIns="0" rtlCol="0" anchor="ctr"/>
          <a:lstStyle/>
          <a:p>
            <a:pPr indent="0" marL="0">
              <a:buNone/>
            </a:pPr>
            <a:r>
              <a:rPr lang="en-US" sz="1100" i="1" dirty="0">
                <a:solidFill>
                  <a:srgbClr val="A9C4EE"/>
                </a:solidFill>
                <a:latin typeface="Calibri" pitchFamily="34" charset="0"/>
                <a:ea typeface="Calibri" pitchFamily="34" charset="-122"/>
                <a:cs typeface="Calibri" pitchFamily="34" charset="-120"/>
              </a:rPr>
              <a:t>Source: Steam store search, 17 Oct 2026 (tags are user-applied; counts include unreleased titles). ESA 2026.</a:t>
            </a:r>
            <a:endParaRPr lang="en-US" sz="1100" dirty="0"/>
          </a:p>
        </p:txBody>
      </p:sp>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4E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chemeClr val="accent5"/>
                </a:solidFill>
                <a:latin typeface="Calibri" pitchFamily="34" charset="0"/>
                <a:ea typeface="Calibri" pitchFamily="34" charset="-122"/>
                <a:cs typeface="Calibri" pitchFamily="34" charset="-120"/>
              </a:rPr>
              <a:t>12 / THE COMPETITION</a:t>
            </a:r>
            <a:endParaRPr lang="en-US" sz="1200" dirty="0"/>
          </a:p>
        </p:txBody>
      </p:sp>
      <p:sp>
        <p:nvSpPr>
          <p:cNvPr id="3" name="Text 1"/>
          <p:cNvSpPr/>
          <p:nvPr>
            <p:ph idx="105" type="title" hasCustomPrompt="1"/>
          </p:nvPr>
        </p:nvSpPr>
        <p:spPr>
          <a:xfrm>
            <a:off x="548640" y="713232"/>
            <a:ext cx="11094415" cy="914400"/>
          </a:xfrm>
          <a:prstGeom prst="rect">
            <a:avLst/>
          </a:prstGeom>
          <a:noFill/>
          <a:ln/>
        </p:spPr>
        <p:txBody>
          <a:bodyPr wrap="square" lIns="0" tIns="0" rIns="0" bIns="0" rtlCol="0" anchor="t"/>
          <a:lstStyle/>
          <a:p>
            <a:pPr algn="l" indent="0" marL="0">
              <a:buNone/>
            </a:pPr>
            <a:r>
              <a:rPr lang="en-US" sz="3600" b="1" dirty="0">
                <a:solidFill>
                  <a:schemeClr val="tx1"/>
                </a:solidFill>
                <a:latin typeface="Georgia" pitchFamily="34" charset="0"/>
                <a:ea typeface="Georgia" pitchFamily="34" charset="-122"/>
                <a:cs typeface="Georgia" pitchFamily="34" charset="-120"/>
              </a:rPr>
              <a:t>Four games we're measured against</a:t>
            </a:r>
            <a:endParaRPr lang="en-US" sz="3600" dirty="0"/>
          </a:p>
        </p:txBody>
      </p:sp>
      <p:graphicFrame>
        <p:nvGraphicFramePr>
          <p:cNvPr id="14" name="Comparables 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417320"/>
                <a:gridCol w="1828800"/>
                <a:gridCol w="2103120"/>
                <a:gridCol w="1600200"/>
                <a:gridCol w="2148840"/>
                <a:gridCol w="1993392"/>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Game</a:t>
                      </a:r>
                      <a:endParaRPr lang="en-US" sz="1200" dirty="0">
                        <a:latin typeface="Calibri" charset="0"/>
                        <a:ea typeface="Calibri" charset="0"/>
                        <a:cs typeface="Calibri" charset="0"/>
                      </a:endParaRPr>
                    </a:p>
                  </a:txBody>
                  <a:tcPr marL="91440" marR="91440" marT="45720" marB="45720">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081A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Look and theme</a:t>
                      </a:r>
                      <a:endParaRPr lang="en-US" sz="1200" dirty="0">
                        <a:latin typeface="Calibri" charset="0"/>
                        <a:ea typeface="Calibri" charset="0"/>
                        <a:cs typeface="Calibri" charset="0"/>
                      </a:endParaRPr>
                    </a:p>
                  </a:txBody>
                  <a:tcPr marL="91440" marR="91440" marT="45720" marB="45720">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081A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Core mechanic</a:t>
                      </a:r>
                      <a:endParaRPr lang="en-US" sz="1200" dirty="0">
                        <a:latin typeface="Calibri" charset="0"/>
                        <a:ea typeface="Calibri" charset="0"/>
                        <a:cs typeface="Calibri" charset="0"/>
                      </a:endParaRPr>
                    </a:p>
                  </a:txBody>
                  <a:tcPr marL="91440" marR="91440" marT="45720" marB="45720">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081A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Plays</a:t>
                      </a:r>
                      <a:endParaRPr lang="en-US" sz="1200" dirty="0">
                        <a:latin typeface="Calibri" charset="0"/>
                        <a:ea typeface="Calibri" charset="0"/>
                        <a:cs typeface="Calibri" charset="0"/>
                      </a:endParaRPr>
                    </a:p>
                  </a:txBody>
                  <a:tcPr marL="91440" marR="91440" marT="45720" marB="45720">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081A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numbers</a:t>
                      </a:r>
                      <a:endParaRPr lang="en-US" sz="1200" dirty="0">
                        <a:latin typeface="Calibri" charset="0"/>
                        <a:ea typeface="Calibri" charset="0"/>
                        <a:cs typeface="Calibri" charset="0"/>
                      </a:endParaRPr>
                    </a:p>
                  </a:txBody>
                  <a:tcPr marL="91440" marR="91440" marT="45720" marB="45720">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081A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leaves open</a:t>
                      </a:r>
                      <a:endParaRPr lang="en-US" sz="1200" dirty="0">
                        <a:latin typeface="Calibri" charset="0"/>
                        <a:ea typeface="Calibri" charset="0"/>
                        <a:cs typeface="Calibri" charset="0"/>
                      </a:endParaRPr>
                    </a:p>
                  </a:txBody>
                  <a:tcPr marL="91440" marR="91440" marT="45720" marB="45720">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081A3E"/>
                    </a:solidFill>
                  </a:tcPr>
                </a:tc>
              </a:tr>
              <a:tr h="749808">
                <a:tc>
                  <a:txBody>
                    <a:bodyPr/>
                    <a:lstStyle/>
                    <a:p>
                      <a:pPr indent="0" marL="0">
                        <a:buNone/>
                      </a:pPr>
                      <a:r>
                        <a:rPr lang="en-US" sz="1400" b="1" dirty="0">
                          <a:solidFill>
                            <a:srgbClr val="081A3E"/>
                          </a:solidFill>
                          <a:latin typeface="Georgia" pitchFamily="34" charset="0"/>
                          <a:ea typeface="Georgia" pitchFamily="34" charset="-122"/>
                          <a:cs typeface="Georgia" pitchFamily="34" charset="-120"/>
                        </a:rPr>
                        <a:t>Fall Guys</a:t>
                      </a:r>
                      <a:endParaRPr lang="en-US" sz="1400" dirty="0">
                        <a:latin typeface="Georgia" charset="0"/>
                        <a:ea typeface="Georgia" charset="0"/>
                        <a:cs typeface="Georgia"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FF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Pastel jellybeans, game-show set</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FF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Obstacle-course survival and shoving</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FF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Online only</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FF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11M PC copies (2020); 50M players by 2022; free-to-play since 2022</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FF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No LAN, no shooting; most players are out early and just watch</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081A3E"/>
                          </a:solidFill>
                          <a:latin typeface="Georgia" pitchFamily="34" charset="0"/>
                          <a:ea typeface="Georgia" pitchFamily="34" charset="-122"/>
                          <a:cs typeface="Georgia" pitchFamily="34" charset="-120"/>
                        </a:rPr>
                        <a:t>Party Animals</a:t>
                      </a:r>
                      <a:endParaRPr lang="en-US" sz="1400" dirty="0">
                        <a:latin typeface="Georgia" charset="0"/>
                        <a:ea typeface="Georgia" charset="0"/>
                        <a:cs typeface="Georgia"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3F9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Plush animals, slapstick</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3F9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Ragdoll brawling, grab and throw</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3F9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Online; split-screen needs internet</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3F9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≈2.6M copies est. at $19.99; 104k Steam peak</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3F9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No offline or LAN play; melee only</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3F9FF"/>
                    </a:solidFill>
                  </a:tcPr>
                </a:tc>
              </a:tr>
              <a:tr h="749808">
                <a:tc>
                  <a:txBody>
                    <a:bodyPr/>
                    <a:lstStyle/>
                    <a:p>
                      <a:pPr indent="0" marL="0">
                        <a:buNone/>
                      </a:pPr>
                      <a:r>
                        <a:rPr lang="en-US" sz="1400" b="1" dirty="0">
                          <a:solidFill>
                            <a:srgbClr val="081A3E"/>
                          </a:solidFill>
                          <a:latin typeface="Georgia" pitchFamily="34" charset="0"/>
                          <a:ea typeface="Georgia" pitchFamily="34" charset="-122"/>
                          <a:cs typeface="Georgia" pitchFamily="34" charset="-120"/>
                        </a:rPr>
                        <a:t>Gang Beasts</a:t>
                      </a:r>
                      <a:endParaRPr lang="en-US" sz="1400" dirty="0">
                        <a:latin typeface="Georgia" charset="0"/>
                        <a:ea typeface="Georgia" charset="0"/>
                        <a:cs typeface="Georgia"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FF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Wobbly gel-blob people</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FF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Clumsy ring-out brawling</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FF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Local and online</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FF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≈2.5M copies est. at $19.99 (estimates vary)</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FF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Melee only; no scoring across varied mini-games</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081A3E"/>
                          </a:solidFill>
                          <a:latin typeface="Georgia" pitchFamily="34" charset="0"/>
                          <a:ea typeface="Georgia" pitchFamily="34" charset="-122"/>
                          <a:cs typeface="Georgia" pitchFamily="34" charset="-120"/>
                        </a:rPr>
                        <a:t>Smash Ultimate</a:t>
                      </a:r>
                      <a:endParaRPr lang="en-US" sz="1400" dirty="0">
                        <a:latin typeface="Georgia" charset="0"/>
                        <a:ea typeface="Georgia" charset="0"/>
                        <a:cs typeface="Georgia"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3F9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Polished Nintendo crossover</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3F9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Damage % raises knockback, ring-out KO</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3F9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Local wireless up to 8, online</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3F9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38.1M units on Switch at $59.99 (Nintendo, 2026)</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3F9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Switch only, steep skill curve, not a party scoreboard</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3F9FF"/>
                    </a:solidFill>
                  </a:tcPr>
                </a:tc>
              </a:tr>
              <a:tr h="822960">
                <a:tc>
                  <a:txBody>
                    <a:bodyPr/>
                    <a:lstStyle/>
                    <a:p>
                      <a:pPr indent="0" marL="0">
                        <a:buNone/>
                      </a:pPr>
                      <a:r>
                        <a:rPr lang="en-US" sz="1400" b="1" dirty="0">
                          <a:solidFill>
                            <a:srgbClr val="FFFFFF"/>
                          </a:solidFill>
                          <a:latin typeface="Georgia" pitchFamily="34" charset="0"/>
                          <a:ea typeface="Georgia" pitchFamily="34" charset="-122"/>
                          <a:cs typeface="Georgia" pitchFamily="34" charset="-120"/>
                        </a:rPr>
                        <a:t>Ice Rumble</a:t>
                      </a:r>
                      <a:endParaRPr lang="en-US" sz="1400" dirty="0">
                        <a:latin typeface="Georgia" charset="0"/>
                        <a:ea typeface="Georgia" charset="0"/>
                        <a:cs typeface="Georgia"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7A1A"/>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Soft rounded cubes on an ice-blue void</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7A1A"/>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Throw your own mass; lighter means launched further</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7A1A"/>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LAN, 2–4, one host</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7A1A"/>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Concept stage; indie price band $5–20</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7A1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3D physics throwing + mass knockback + scoreboard + LAN</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7A1A"/>
                    </a:solidFill>
                  </a:tcPr>
                </a:tc>
              </a:tr>
            </a:tbl>
          </a:graphicData>
        </a:graphic>
      </p:graphicFrame>
      <p:sp>
        <p:nvSpPr>
          <p:cNvPr id="5" name="Text 2"/>
          <p:cNvSpPr txBox="1"/>
          <p:nvPr/>
        </p:nvSpPr>
        <p:spPr>
          <a:xfrm>
            <a:off x="548640" y="5989320"/>
            <a:ext cx="11064240" cy="365760"/>
          </a:xfrm>
          <a:prstGeom prst="rect">
            <a:avLst/>
          </a:prstGeom>
          <a:noFill/>
          <a:ln/>
        </p:spPr>
        <p:txBody>
          <a:bodyPr wrap="square" lIns="0" tIns="0" rIns="0" bIns="0" rtlCol="0" anchor="t"/>
          <a:lstStyle/>
          <a:p>
            <a:pPr indent="0" marL="0">
              <a:buNone/>
            </a:pPr>
            <a:r>
              <a:rPr lang="en-US" sz="1000" i="1" dirty="0">
                <a:solidFill>
                  <a:srgbClr val="4A5F8A"/>
                </a:solidFill>
                <a:latin typeface="Calibri" pitchFamily="34" charset="0"/>
                <a:ea typeface="Calibri" pitchFamily="34" charset="-122"/>
                <a:cs typeface="Calibri" pitchFamily="34" charset="-120"/>
              </a:rPr>
              <a:t>Sources: Mediatonic via Vandal (2020); Shacknews (2022); SteamDB, Raijin estimates, Steam pages (17 Oct 2026); Nintendo IR (30 Jun 2026). "est." = third-party estimate, not an official figure.</a:t>
            </a:r>
            <a:endParaRPr lang="en-US" sz="1000" dirty="0"/>
          </a:p>
        </p:txBody>
      </p:sp>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F8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13 / WHAT IS NEW</a:t>
            </a:r>
            <a:endParaRPr lang="en-US" sz="1200" dirty="0"/>
          </a:p>
        </p:txBody>
      </p:sp>
      <p:sp>
        <p:nvSpPr>
          <p:cNvPr id="3" name="Text 1"/>
          <p:cNvSpPr/>
          <p:nvPr>
            <p:ph idx="105" type="title" hasCustomPrompt="1"/>
          </p:nvPr>
        </p:nvSpPr>
        <p:spPr>
          <a:xfrm>
            <a:off x="548640" y="713232"/>
            <a:ext cx="11094415" cy="914400"/>
          </a:xfrm>
          <a:prstGeom prst="rect">
            <a:avLst/>
          </a:prstGeom>
          <a:noFill/>
          <a:ln/>
        </p:spPr>
        <p:txBody>
          <a:bodyPr wrap="square" lIns="0" tIns="0" rIns="0" bIns="0" rtlCol="0" anchor="t"/>
          <a:lstStyle/>
          <a:p>
            <a:pPr algn="l" indent="0" marL="0">
              <a:buNone/>
            </a:pPr>
            <a:r>
              <a:rPr lang="en-US" sz="3600" b="1" dirty="0">
                <a:solidFill>
                  <a:schemeClr val="bg1"/>
                </a:solidFill>
                <a:latin typeface="Georgia" pitchFamily="34" charset="0"/>
                <a:ea typeface="Georgia" pitchFamily="34" charset="-122"/>
                <a:cs typeface="Georgia" pitchFamily="34" charset="-120"/>
              </a:rPr>
              <a:t>What nobody else puts together</a:t>
            </a:r>
            <a:endParaRPr lang="en-US" sz="3600" dirty="0"/>
          </a:p>
        </p:txBody>
      </p:sp>
      <p:sp>
        <p:nvSpPr>
          <p:cNvPr id="4" name="Innovation 01"/>
          <p:cNvSpPr/>
          <p:nvPr/>
        </p:nvSpPr>
        <p:spPr>
          <a:xfrm>
            <a:off x="548640" y="1783080"/>
            <a:ext cx="3593592" cy="2926080"/>
          </a:xfrm>
          <a:prstGeom prst="roundRect">
            <a:avLst>
              <a:gd name="adj" fmla="val 5625"/>
            </a:avLst>
          </a:prstGeom>
          <a:solidFill>
            <a:srgbClr val="0F2C6B"/>
          </a:solidFill>
          <a:ln w="12700">
            <a:solidFill>
              <a:srgbClr val="16398A"/>
            </a:solidFill>
            <a:prstDash val="solid"/>
          </a:ln>
          <a:effectLst>
            <a:outerShdw sx="100000" sy="100000" kx="0" ky="0" algn="bl" rotWithShape="0" blurRad="177800" dist="38100" dir="5400000">
              <a:srgbClr val="0A1E4A">
                <a:alpha val="20000"/>
              </a:srgbClr>
            </a:outerShdw>
          </a:effectLst>
        </p:spPr>
      </p:sp>
      <p:sp>
        <p:nvSpPr>
          <p:cNvPr id="5" name="Text 3"/>
          <p:cNvSpPr txBox="1"/>
          <p:nvPr/>
        </p:nvSpPr>
        <p:spPr>
          <a:xfrm>
            <a:off x="822960" y="1874520"/>
            <a:ext cx="1097280" cy="640080"/>
          </a:xfrm>
          <a:prstGeom prst="rect">
            <a:avLst/>
          </a:prstGeom>
          <a:noFill/>
          <a:ln/>
        </p:spPr>
        <p:txBody>
          <a:bodyPr wrap="square" lIns="0" tIns="0" rIns="0" bIns="0" rtlCol="0" anchor="ctr"/>
          <a:lstStyle/>
          <a:p>
            <a:pPr indent="0" marL="0">
              <a:buNone/>
            </a:pPr>
            <a:r>
              <a:rPr lang="en-US" sz="3400" b="1" i="1" dirty="0">
                <a:solidFill>
                  <a:schemeClr val="accent1"/>
                </a:solidFill>
                <a:latin typeface="Georgia" pitchFamily="34" charset="0"/>
                <a:ea typeface="Georgia" pitchFamily="34" charset="-122"/>
                <a:cs typeface="Georgia" pitchFamily="34" charset="-120"/>
              </a:rPr>
              <a:t>01</a:t>
            </a:r>
            <a:endParaRPr lang="en-US" sz="3400" dirty="0"/>
          </a:p>
        </p:txBody>
      </p:sp>
      <p:sp>
        <p:nvSpPr>
          <p:cNvPr id="6" name="Text 4"/>
          <p:cNvSpPr txBox="1"/>
          <p:nvPr/>
        </p:nvSpPr>
        <p:spPr>
          <a:xfrm>
            <a:off x="822960" y="2560320"/>
            <a:ext cx="3063240" cy="411480"/>
          </a:xfrm>
          <a:prstGeom prst="rect">
            <a:avLst/>
          </a:prstGeom>
          <a:noFill/>
          <a:ln/>
        </p:spPr>
        <p:txBody>
          <a:bodyPr wrap="square" lIns="0" tIns="0" rIns="0" bIns="0" rtlCol="0" anchor="ctr"/>
          <a:lstStyle/>
          <a:p>
            <a:pPr indent="0" marL="0">
              <a:buNone/>
            </a:pPr>
            <a:r>
              <a:rPr lang="en-US" sz="2000" b="1" dirty="0">
                <a:solidFill>
                  <a:schemeClr val="bg1"/>
                </a:solidFill>
                <a:latin typeface="Georgia" pitchFamily="34" charset="0"/>
                <a:ea typeface="Georgia" pitchFamily="34" charset="-122"/>
                <a:cs typeface="Georgia" pitchFamily="34" charset="-120"/>
              </a:rPr>
              <a:t>Your ammo is your body</a:t>
            </a:r>
            <a:endParaRPr lang="en-US" sz="2000" dirty="0"/>
          </a:p>
        </p:txBody>
      </p:sp>
      <p:sp>
        <p:nvSpPr>
          <p:cNvPr id="7" name="Text 5"/>
          <p:cNvSpPr txBox="1"/>
          <p:nvPr/>
        </p:nvSpPr>
        <p:spPr>
          <a:xfrm>
            <a:off x="822960" y="3017520"/>
            <a:ext cx="3063240" cy="16459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Smash turns damage into a percentage counter. Literal mass loss only appears in obscure titles and mods. Here it is physical, visible and shared by every player.</a:t>
            </a:r>
            <a:endParaRPr lang="en-US" sz="1400" dirty="0"/>
          </a:p>
        </p:txBody>
      </p:sp>
      <p:sp>
        <p:nvSpPr>
          <p:cNvPr id="8" name="Innovation 02"/>
          <p:cNvSpPr/>
          <p:nvPr/>
        </p:nvSpPr>
        <p:spPr>
          <a:xfrm>
            <a:off x="4297680" y="1783080"/>
            <a:ext cx="3593592" cy="2926080"/>
          </a:xfrm>
          <a:prstGeom prst="roundRect">
            <a:avLst>
              <a:gd name="adj" fmla="val 5625"/>
            </a:avLst>
          </a:prstGeom>
          <a:solidFill>
            <a:srgbClr val="0F2C6B"/>
          </a:solidFill>
          <a:ln w="12700">
            <a:solidFill>
              <a:srgbClr val="16398A"/>
            </a:solidFill>
            <a:prstDash val="solid"/>
          </a:ln>
          <a:effectLst>
            <a:outerShdw sx="100000" sy="100000" kx="0" ky="0" algn="bl" rotWithShape="0" blurRad="177800" dist="38100" dir="5400000">
              <a:srgbClr val="0A1E4A">
                <a:alpha val="20000"/>
              </a:srgbClr>
            </a:outerShdw>
          </a:effectLst>
        </p:spPr>
      </p:sp>
      <p:sp>
        <p:nvSpPr>
          <p:cNvPr id="9" name="Text 7"/>
          <p:cNvSpPr txBox="1"/>
          <p:nvPr/>
        </p:nvSpPr>
        <p:spPr>
          <a:xfrm>
            <a:off x="4572000" y="1874520"/>
            <a:ext cx="1097280" cy="640080"/>
          </a:xfrm>
          <a:prstGeom prst="rect">
            <a:avLst/>
          </a:prstGeom>
          <a:noFill/>
          <a:ln/>
        </p:spPr>
        <p:txBody>
          <a:bodyPr wrap="square" lIns="0" tIns="0" rIns="0" bIns="0" rtlCol="0" anchor="ctr"/>
          <a:lstStyle/>
          <a:p>
            <a:pPr indent="0" marL="0">
              <a:buNone/>
            </a:pPr>
            <a:r>
              <a:rPr lang="en-US" sz="3400" b="1" i="1" dirty="0">
                <a:solidFill>
                  <a:schemeClr val="accent2"/>
                </a:solidFill>
                <a:latin typeface="Georgia" pitchFamily="34" charset="0"/>
                <a:ea typeface="Georgia" pitchFamily="34" charset="-122"/>
                <a:cs typeface="Georgia" pitchFamily="34" charset="-120"/>
              </a:rPr>
              <a:t>02</a:t>
            </a:r>
            <a:endParaRPr lang="en-US" sz="3400" dirty="0"/>
          </a:p>
        </p:txBody>
      </p:sp>
      <p:sp>
        <p:nvSpPr>
          <p:cNvPr id="10" name="Text 8"/>
          <p:cNvSpPr txBox="1"/>
          <p:nvPr/>
        </p:nvSpPr>
        <p:spPr>
          <a:xfrm>
            <a:off x="4572000" y="2560320"/>
            <a:ext cx="3063240" cy="411480"/>
          </a:xfrm>
          <a:prstGeom prst="rect">
            <a:avLst/>
          </a:prstGeom>
          <a:noFill/>
          <a:ln/>
        </p:spPr>
        <p:txBody>
          <a:bodyPr wrap="square" lIns="0" tIns="0" rIns="0" bIns="0" rtlCol="0" anchor="ctr"/>
          <a:lstStyle/>
          <a:p>
            <a:pPr indent="0" marL="0">
              <a:buNone/>
            </a:pPr>
            <a:r>
              <a:rPr lang="en-US" sz="2000" b="1" dirty="0">
                <a:solidFill>
                  <a:schemeClr val="bg1"/>
                </a:solidFill>
                <a:latin typeface="Georgia" pitchFamily="34" charset="0"/>
                <a:ea typeface="Georgia" pitchFamily="34" charset="-122"/>
                <a:cs typeface="Georgia" pitchFamily="34" charset="-120"/>
              </a:rPr>
              <a:t>One verb, many games</a:t>
            </a:r>
            <a:endParaRPr lang="en-US" sz="2000" dirty="0"/>
          </a:p>
        </p:txBody>
      </p:sp>
      <p:sp>
        <p:nvSpPr>
          <p:cNvPr id="11" name="Text 9"/>
          <p:cNvSpPr txBox="1"/>
          <p:nvPr/>
        </p:nvSpPr>
        <p:spPr>
          <a:xfrm>
            <a:off x="4572000" y="3017520"/>
            <a:ext cx="3063240" cy="16459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Splatoon proves a single shooting verb can carry many modes, but on Switch. PC party games change controls every round. We keep one and remix its physics.</a:t>
            </a:r>
            <a:endParaRPr lang="en-US" sz="1400" dirty="0"/>
          </a:p>
        </p:txBody>
      </p:sp>
      <p:sp>
        <p:nvSpPr>
          <p:cNvPr id="12" name="Innovation 03"/>
          <p:cNvSpPr/>
          <p:nvPr/>
        </p:nvSpPr>
        <p:spPr>
          <a:xfrm>
            <a:off x="8046720" y="1783080"/>
            <a:ext cx="3593592" cy="2926080"/>
          </a:xfrm>
          <a:prstGeom prst="roundRect">
            <a:avLst>
              <a:gd name="adj" fmla="val 5625"/>
            </a:avLst>
          </a:prstGeom>
          <a:solidFill>
            <a:srgbClr val="0F2C6B"/>
          </a:solidFill>
          <a:ln w="12700">
            <a:solidFill>
              <a:srgbClr val="16398A"/>
            </a:solidFill>
            <a:prstDash val="solid"/>
          </a:ln>
          <a:effectLst>
            <a:outerShdw sx="100000" sy="100000" kx="0" ky="0" algn="bl" rotWithShape="0" blurRad="177800" dist="38100" dir="5400000">
              <a:srgbClr val="0A1E4A">
                <a:alpha val="20000"/>
              </a:srgbClr>
            </a:outerShdw>
          </a:effectLst>
        </p:spPr>
      </p:sp>
      <p:sp>
        <p:nvSpPr>
          <p:cNvPr id="13" name="Text 11"/>
          <p:cNvSpPr txBox="1"/>
          <p:nvPr/>
        </p:nvSpPr>
        <p:spPr>
          <a:xfrm>
            <a:off x="8321040" y="1874520"/>
            <a:ext cx="1097280" cy="640080"/>
          </a:xfrm>
          <a:prstGeom prst="rect">
            <a:avLst/>
          </a:prstGeom>
          <a:noFill/>
          <a:ln/>
        </p:spPr>
        <p:txBody>
          <a:bodyPr wrap="square" lIns="0" tIns="0" rIns="0" bIns="0" rtlCol="0" anchor="ctr"/>
          <a:lstStyle/>
          <a:p>
            <a:pPr indent="0" marL="0">
              <a:buNone/>
            </a:pPr>
            <a:r>
              <a:rPr lang="en-US" sz="3400" b="1" i="1" dirty="0">
                <a:solidFill>
                  <a:schemeClr val="accent3"/>
                </a:solidFill>
                <a:latin typeface="Georgia" pitchFamily="34" charset="0"/>
                <a:ea typeface="Georgia" pitchFamily="34" charset="-122"/>
                <a:cs typeface="Georgia" pitchFamily="34" charset="-120"/>
              </a:rPr>
              <a:t>03</a:t>
            </a:r>
            <a:endParaRPr lang="en-US" sz="3400" dirty="0"/>
          </a:p>
        </p:txBody>
      </p:sp>
      <p:sp>
        <p:nvSpPr>
          <p:cNvPr id="14" name="Text 12"/>
          <p:cNvSpPr txBox="1"/>
          <p:nvPr/>
        </p:nvSpPr>
        <p:spPr>
          <a:xfrm>
            <a:off x="8321040" y="2560320"/>
            <a:ext cx="3063240" cy="411480"/>
          </a:xfrm>
          <a:prstGeom prst="rect">
            <a:avLst/>
          </a:prstGeom>
          <a:noFill/>
          <a:ln/>
        </p:spPr>
        <p:txBody>
          <a:bodyPr wrap="square" lIns="0" tIns="0" rIns="0" bIns="0" rtlCol="0" anchor="ctr"/>
          <a:lstStyle/>
          <a:p>
            <a:pPr indent="0" marL="0">
              <a:buNone/>
            </a:pPr>
            <a:r>
              <a:rPr lang="en-US" sz="2000" b="1" dirty="0">
                <a:solidFill>
                  <a:schemeClr val="bg1"/>
                </a:solidFill>
                <a:latin typeface="Georgia" pitchFamily="34" charset="0"/>
                <a:ea typeface="Georgia" pitchFamily="34" charset="-122"/>
                <a:cs typeface="Georgia" pitchFamily="34" charset="-120"/>
              </a:rPr>
              <a:t>A party night on LAN</a:t>
            </a:r>
            <a:endParaRPr lang="en-US" sz="2000" dirty="0"/>
          </a:p>
        </p:txBody>
      </p:sp>
      <p:sp>
        <p:nvSpPr>
          <p:cNvPr id="15" name="Text 13"/>
          <p:cNvSpPr txBox="1"/>
          <p:nvPr/>
        </p:nvSpPr>
        <p:spPr>
          <a:xfrm>
            <a:off x="8321040" y="3017520"/>
            <a:ext cx="3063240" cy="16459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Only ≈8% of Steam party games list LAN. Fall Guys and Party Animals need internet. One host, one room, zero accounts.</a:t>
            </a:r>
            <a:endParaRPr lang="en-US" sz="1400" dirty="0"/>
          </a:p>
        </p:txBody>
      </p:sp>
      <p:sp>
        <p:nvSpPr>
          <p:cNvPr id="16" name="Combination callout"/>
          <p:cNvSpPr/>
          <p:nvPr/>
        </p:nvSpPr>
        <p:spPr>
          <a:xfrm>
            <a:off x="548640" y="4937760"/>
            <a:ext cx="11091672" cy="1143000"/>
          </a:xfrm>
          <a:prstGeom prst="roundRect">
            <a:avLst>
              <a:gd name="adj" fmla="val 14400"/>
            </a:avLst>
          </a:prstGeom>
          <a:solidFill>
            <a:schemeClr val="accent1"/>
          </a:solidFill>
          <a:ln w="12700">
            <a:solidFill>
              <a:schemeClr val="accent1"/>
            </a:solidFill>
            <a:prstDash val="solid"/>
          </a:ln>
        </p:spPr>
      </p:sp>
      <p:sp>
        <p:nvSpPr>
          <p:cNvPr id="17" name="Text 15"/>
          <p:cNvSpPr txBox="1"/>
          <p:nvPr/>
        </p:nvSpPr>
        <p:spPr>
          <a:xfrm>
            <a:off x="868680" y="4937760"/>
            <a:ext cx="10424160" cy="1143000"/>
          </a:xfrm>
          <a:prstGeom prst="rect">
            <a:avLst/>
          </a:prstGeom>
          <a:noFill/>
          <a:ln/>
        </p:spPr>
        <p:txBody>
          <a:bodyPr wrap="square" lIns="0" tIns="0" rIns="0" bIns="0" rtlCol="0" anchor="ctr"/>
          <a:lstStyle/>
          <a:p>
            <a:pPr indent="0" marL="0">
              <a:buNone/>
            </a:pPr>
            <a:r>
              <a:rPr lang="en-US" sz="1900" b="1" dirty="0">
                <a:solidFill>
                  <a:schemeClr val="tx1"/>
                </a:solidFill>
                <a:latin typeface="Georgia" pitchFamily="34" charset="0"/>
                <a:ea typeface="Georgia" pitchFamily="34" charset="-122"/>
                <a:cs typeface="Georgia" pitchFamily="34" charset="-120"/>
              </a:rPr>
              <a:t>The combination is the claim: </a:t>
            </a:r>
            <a:pPr indent="0" marL="0">
              <a:buNone/>
            </a:pPr>
            <a:r>
              <a:rPr lang="en-US" sz="1900" dirty="0">
                <a:solidFill>
                  <a:schemeClr val="tx1"/>
                </a:solidFill>
                <a:latin typeface="Georgia" pitchFamily="34" charset="0"/>
                <a:ea typeface="Georgia" pitchFamily="34" charset="-122"/>
                <a:cs typeface="Georgia" pitchFamily="34" charset="-120"/>
              </a:rPr>
              <a:t>3D physics throwing + mass knockback + a mini-game scoreboard + LAN hosting on PC. None of the eight games we examined does all four.</a:t>
            </a:r>
            <a:endParaRPr lang="en-US" sz="1900" dirty="0"/>
          </a:p>
        </p:txBody>
      </p:sp>
      <p:sp>
        <p:nvSpPr>
          <p:cNvPr id="18" name="Text 16"/>
          <p:cNvSpPr txBox="1"/>
          <p:nvPr/>
        </p:nvSpPr>
        <p:spPr>
          <a:xfrm>
            <a:off x="548640" y="6126480"/>
            <a:ext cx="10058400" cy="228600"/>
          </a:xfrm>
          <a:prstGeom prst="rect">
            <a:avLst/>
          </a:prstGeom>
          <a:noFill/>
          <a:ln/>
        </p:spPr>
        <p:txBody>
          <a:bodyPr wrap="square" lIns="0" tIns="0" rIns="0" bIns="0" rtlCol="0" anchor="ctr"/>
          <a:lstStyle/>
          <a:p>
            <a:pPr indent="0" marL="0">
              <a:buNone/>
            </a:pPr>
            <a:r>
              <a:rPr lang="en-US" sz="1100" i="1" dirty="0">
                <a:solidFill>
                  <a:srgbClr val="A9C4EE"/>
                </a:solidFill>
                <a:latin typeface="Calibri" pitchFamily="34" charset="0"/>
                <a:ea typeface="Calibri" pitchFamily="34" charset="-122"/>
                <a:cs typeface="Calibri" pitchFamily="34" charset="-120"/>
              </a:rPr>
              <a:t>Ancestors we borrow from: Smash (knockback), Osmos and Agar.io (ejecting mass as an action).</a:t>
            </a:r>
            <a:endParaRPr lang="en-US" sz="1100" dirty="0"/>
          </a:p>
        </p:txBody>
      </p:sp>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4E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chemeClr val="accent5"/>
                </a:solidFill>
                <a:latin typeface="Calibri" pitchFamily="34" charset="0"/>
                <a:ea typeface="Calibri" pitchFamily="34" charset="-122"/>
                <a:cs typeface="Calibri" pitchFamily="34" charset="-120"/>
              </a:rPr>
              <a:t>14 / WHERE IT CAN GO</a:t>
            </a:r>
            <a:endParaRPr lang="en-US" sz="1200" dirty="0"/>
          </a:p>
        </p:txBody>
      </p:sp>
      <p:sp>
        <p:nvSpPr>
          <p:cNvPr id="3" name="Text 1"/>
          <p:cNvSpPr/>
          <p:nvPr>
            <p:ph idx="105" type="title" hasCustomPrompt="1"/>
          </p:nvPr>
        </p:nvSpPr>
        <p:spPr>
          <a:xfrm>
            <a:off x="548640" y="713232"/>
            <a:ext cx="11094415" cy="914400"/>
          </a:xfrm>
          <a:prstGeom prst="rect">
            <a:avLst/>
          </a:prstGeom>
          <a:noFill/>
          <a:ln/>
        </p:spPr>
        <p:txBody>
          <a:bodyPr wrap="square" lIns="0" tIns="0" rIns="0" bIns="0" rtlCol="0" anchor="t"/>
          <a:lstStyle/>
          <a:p>
            <a:pPr algn="l" indent="0" marL="0">
              <a:buNone/>
            </a:pPr>
            <a:r>
              <a:rPr lang="en-US" sz="3600" b="1" dirty="0">
                <a:solidFill>
                  <a:schemeClr val="tx1"/>
                </a:solidFill>
                <a:latin typeface="Georgia" pitchFamily="34" charset="0"/>
                <a:ea typeface="Georgia" pitchFamily="34" charset="-122"/>
                <a:cs typeface="Georgia" pitchFamily="34" charset="-120"/>
              </a:rPr>
              <a:t>Where it can go next</a:t>
            </a:r>
            <a:endParaRPr lang="en-US" sz="3600" dirty="0"/>
          </a:p>
        </p:txBody>
      </p:sp>
      <p:sp>
        <p:nvSpPr>
          <p:cNvPr id="4" name="Idea Mass Knockout"/>
          <p:cNvSpPr/>
          <p:nvPr/>
        </p:nvSpPr>
        <p:spPr>
          <a:xfrm>
            <a:off x="548640" y="1783080"/>
            <a:ext cx="3593592" cy="1965960"/>
          </a:xfrm>
          <a:prstGeom prst="roundRect">
            <a:avLst>
              <a:gd name="adj" fmla="val 8372"/>
            </a:avLst>
          </a:prstGeom>
          <a:solidFill>
            <a:schemeClr val="bg1"/>
          </a:solidFill>
          <a:ln w="12700">
            <a:solidFill>
              <a:schemeClr val="bg1"/>
            </a:solidFill>
            <a:prstDash val="solid"/>
          </a:ln>
          <a:effectLst>
            <a:outerShdw sx="100000" sy="100000" kx="0" ky="0" algn="bl" rotWithShape="0" blurRad="177800" dist="38100" dir="5400000">
              <a:srgbClr val="0A1E4A">
                <a:alpha val="20000"/>
              </a:srgbClr>
            </a:outerShdw>
          </a:effectLst>
        </p:spPr>
      </p:sp>
      <p:sp>
        <p:nvSpPr>
          <p:cNvPr id="5" name="Text 3"/>
          <p:cNvSpPr txBox="1"/>
          <p:nvPr/>
        </p:nvSpPr>
        <p:spPr>
          <a:xfrm>
            <a:off x="822960" y="2011680"/>
            <a:ext cx="640080" cy="274320"/>
          </a:xfrm>
          <a:prstGeom prst="rect">
            <a:avLst/>
          </a:prstGeom>
          <a:solidFill>
            <a:schemeClr val="accent6"/>
          </a:solidFill>
          <a:ln/>
        </p:spPr>
        <p:txBody>
          <a:bodyPr wrap="square" lIns="0" tIns="0" rIns="0" bIns="0" rtlCol="0" anchor="ctr"/>
          <a:lstStyle/>
          <a:p>
            <a:pPr algn="ctr" indent="0" marL="0">
              <a:buNone/>
            </a:pPr>
            <a:r>
              <a:rPr lang="en-US" sz="1000" b="1" spc="200" kern="0" dirty="0">
                <a:solidFill>
                  <a:schemeClr val="tx1"/>
                </a:solidFill>
                <a:latin typeface="Calibri" pitchFamily="34" charset="0"/>
                <a:ea typeface="Calibri" pitchFamily="34" charset="-122"/>
                <a:cs typeface="Calibri" pitchFamily="34" charset="-120"/>
              </a:rPr>
              <a:t>MVP</a:t>
            </a:r>
            <a:endParaRPr lang="en-US" sz="1000" dirty="0"/>
          </a:p>
        </p:txBody>
      </p:sp>
      <p:sp>
        <p:nvSpPr>
          <p:cNvPr id="6" name="Text 4"/>
          <p:cNvSpPr txBox="1"/>
          <p:nvPr/>
        </p:nvSpPr>
        <p:spPr>
          <a:xfrm>
            <a:off x="822960" y="2423160"/>
            <a:ext cx="3063240" cy="411480"/>
          </a:xfrm>
          <a:prstGeom prst="rect">
            <a:avLst/>
          </a:prstGeom>
          <a:noFill/>
          <a:ln/>
        </p:spPr>
        <p:txBody>
          <a:bodyPr wrap="square" lIns="0" tIns="0" rIns="0" bIns="0" rtlCol="0" anchor="ctr"/>
          <a:lstStyle/>
          <a:p>
            <a:pPr indent="0" marL="0">
              <a:buNone/>
            </a:pPr>
            <a:r>
              <a:rPr lang="en-US" sz="2100" b="1" dirty="0">
                <a:solidFill>
                  <a:schemeClr val="tx1"/>
                </a:solidFill>
                <a:latin typeface="Georgia" pitchFamily="34" charset="0"/>
                <a:ea typeface="Georgia" pitchFamily="34" charset="-122"/>
                <a:cs typeface="Georgia" pitchFamily="34" charset="-120"/>
              </a:rPr>
              <a:t>Mass Knockout</a:t>
            </a:r>
            <a:endParaRPr lang="en-US" sz="2100" dirty="0"/>
          </a:p>
        </p:txBody>
      </p:sp>
      <p:sp>
        <p:nvSpPr>
          <p:cNvPr id="7" name="Text 5"/>
          <p:cNvSpPr txBox="1"/>
          <p:nvPr/>
        </p:nvSpPr>
        <p:spPr>
          <a:xfrm>
            <a:off x="822960" y="2880360"/>
            <a:ext cx="306324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Throw your own mass, last hitter scores.</a:t>
            </a:r>
            <a:endParaRPr lang="en-US" sz="1400" dirty="0"/>
          </a:p>
        </p:txBody>
      </p:sp>
      <p:sp>
        <p:nvSpPr>
          <p:cNvPr id="8" name="Idea Ice Race"/>
          <p:cNvSpPr/>
          <p:nvPr/>
        </p:nvSpPr>
        <p:spPr>
          <a:xfrm>
            <a:off x="4297680" y="1783080"/>
            <a:ext cx="3593592" cy="1965960"/>
          </a:xfrm>
          <a:prstGeom prst="roundRect">
            <a:avLst>
              <a:gd name="adj" fmla="val 8372"/>
            </a:avLst>
          </a:prstGeom>
          <a:solidFill>
            <a:schemeClr val="bg1"/>
          </a:solidFill>
          <a:ln w="12700">
            <a:solidFill>
              <a:schemeClr val="bg1"/>
            </a:solidFill>
            <a:prstDash val="solid"/>
          </a:ln>
          <a:effectLst>
            <a:outerShdw sx="100000" sy="100000" kx="0" ky="0" algn="bl" rotWithShape="0" blurRad="177800" dist="38100" dir="5400000">
              <a:srgbClr val="0A1E4A">
                <a:alpha val="20000"/>
              </a:srgbClr>
            </a:outerShdw>
          </a:effectLst>
        </p:spPr>
      </p:sp>
      <p:sp>
        <p:nvSpPr>
          <p:cNvPr id="9" name="Text 7"/>
          <p:cNvSpPr txBox="1"/>
          <p:nvPr/>
        </p:nvSpPr>
        <p:spPr>
          <a:xfrm>
            <a:off x="4572000" y="2011680"/>
            <a:ext cx="640080" cy="274320"/>
          </a:xfrm>
          <a:prstGeom prst="rect">
            <a:avLst/>
          </a:prstGeom>
          <a:solidFill>
            <a:schemeClr val="accent6"/>
          </a:solidFill>
          <a:ln/>
        </p:spPr>
        <p:txBody>
          <a:bodyPr wrap="square" lIns="0" tIns="0" rIns="0" bIns="0" rtlCol="0" anchor="ctr"/>
          <a:lstStyle/>
          <a:p>
            <a:pPr algn="ctr" indent="0" marL="0">
              <a:buNone/>
            </a:pPr>
            <a:r>
              <a:rPr lang="en-US" sz="1000" b="1" spc="200" kern="0" dirty="0">
                <a:solidFill>
                  <a:schemeClr val="tx1"/>
                </a:solidFill>
                <a:latin typeface="Calibri" pitchFamily="34" charset="0"/>
                <a:ea typeface="Calibri" pitchFamily="34" charset="-122"/>
                <a:cs typeface="Calibri" pitchFamily="34" charset="-120"/>
              </a:rPr>
              <a:t>MVP</a:t>
            </a:r>
            <a:endParaRPr lang="en-US" sz="1000" dirty="0"/>
          </a:p>
        </p:txBody>
      </p:sp>
      <p:sp>
        <p:nvSpPr>
          <p:cNvPr id="10" name="Text 8"/>
          <p:cNvSpPr txBox="1"/>
          <p:nvPr/>
        </p:nvSpPr>
        <p:spPr>
          <a:xfrm>
            <a:off x="4572000" y="2423160"/>
            <a:ext cx="3063240" cy="411480"/>
          </a:xfrm>
          <a:prstGeom prst="rect">
            <a:avLst/>
          </a:prstGeom>
          <a:noFill/>
          <a:ln/>
        </p:spPr>
        <p:txBody>
          <a:bodyPr wrap="square" lIns="0" tIns="0" rIns="0" bIns="0" rtlCol="0" anchor="ctr"/>
          <a:lstStyle/>
          <a:p>
            <a:pPr indent="0" marL="0">
              <a:buNone/>
            </a:pPr>
            <a:r>
              <a:rPr lang="en-US" sz="2100" b="1" dirty="0">
                <a:solidFill>
                  <a:schemeClr val="tx1"/>
                </a:solidFill>
                <a:latin typeface="Georgia" pitchFamily="34" charset="0"/>
                <a:ea typeface="Georgia" pitchFamily="34" charset="-122"/>
                <a:cs typeface="Georgia" pitchFamily="34" charset="-120"/>
              </a:rPr>
              <a:t>Ice Race</a:t>
            </a:r>
            <a:endParaRPr lang="en-US" sz="2100" dirty="0"/>
          </a:p>
        </p:txBody>
      </p:sp>
      <p:sp>
        <p:nvSpPr>
          <p:cNvPr id="11" name="Text 9"/>
          <p:cNvSpPr txBox="1"/>
          <p:nvPr/>
        </p:nvSpPr>
        <p:spPr>
          <a:xfrm>
            <a:off x="4572000" y="2880360"/>
            <a:ext cx="306324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Momentum racing with no weapons.</a:t>
            </a:r>
            <a:endParaRPr lang="en-US" sz="1400" dirty="0"/>
          </a:p>
        </p:txBody>
      </p:sp>
      <p:sp>
        <p:nvSpPr>
          <p:cNvPr id="12" name="Idea Spot Grab"/>
          <p:cNvSpPr/>
          <p:nvPr/>
        </p:nvSpPr>
        <p:spPr>
          <a:xfrm>
            <a:off x="8046720" y="1783080"/>
            <a:ext cx="3593592" cy="1965960"/>
          </a:xfrm>
          <a:prstGeom prst="roundRect">
            <a:avLst>
              <a:gd name="adj" fmla="val 8372"/>
            </a:avLst>
          </a:prstGeom>
          <a:solidFill>
            <a:schemeClr val="bg1"/>
          </a:solidFill>
          <a:ln w="12700">
            <a:solidFill>
              <a:schemeClr val="bg1"/>
            </a:solidFill>
            <a:prstDash val="solid"/>
          </a:ln>
          <a:effectLst>
            <a:outerShdw sx="100000" sy="100000" kx="0" ky="0" algn="bl" rotWithShape="0" blurRad="177800" dist="38100" dir="5400000">
              <a:srgbClr val="0A1E4A">
                <a:alpha val="20000"/>
              </a:srgbClr>
            </a:outerShdw>
          </a:effectLst>
        </p:spPr>
      </p:sp>
      <p:sp>
        <p:nvSpPr>
          <p:cNvPr id="13" name="Text 11"/>
          <p:cNvSpPr txBox="1"/>
          <p:nvPr/>
        </p:nvSpPr>
        <p:spPr>
          <a:xfrm>
            <a:off x="8321040" y="2011680"/>
            <a:ext cx="1005840" cy="274320"/>
          </a:xfrm>
          <a:prstGeom prst="rect">
            <a:avLst/>
          </a:prstGeom>
          <a:solidFill>
            <a:schemeClr val="accent2"/>
          </a:solidFill>
          <a:ln/>
        </p:spPr>
        <p:txBody>
          <a:bodyPr wrap="square" lIns="0" tIns="0" rIns="0" bIns="0" rtlCol="0" anchor="ctr"/>
          <a:lstStyle/>
          <a:p>
            <a:pPr algn="ctr" indent="0" marL="0">
              <a:buNone/>
            </a:pPr>
            <a:r>
              <a:rPr lang="en-US" sz="1000" b="1" spc="200" kern="0" dirty="0">
                <a:solidFill>
                  <a:schemeClr val="tx1"/>
                </a:solidFill>
                <a:latin typeface="Calibri" pitchFamily="34" charset="0"/>
                <a:ea typeface="Calibri" pitchFamily="34" charset="-122"/>
                <a:cs typeface="Calibri" pitchFamily="34" charset="-120"/>
              </a:rPr>
              <a:t>STRETCH</a:t>
            </a:r>
            <a:endParaRPr lang="en-US" sz="1000" dirty="0"/>
          </a:p>
        </p:txBody>
      </p:sp>
      <p:sp>
        <p:nvSpPr>
          <p:cNvPr id="14" name="Text 12"/>
          <p:cNvSpPr txBox="1"/>
          <p:nvPr/>
        </p:nvSpPr>
        <p:spPr>
          <a:xfrm>
            <a:off x="8321040" y="2423160"/>
            <a:ext cx="3063240" cy="411480"/>
          </a:xfrm>
          <a:prstGeom prst="rect">
            <a:avLst/>
          </a:prstGeom>
          <a:noFill/>
          <a:ln/>
        </p:spPr>
        <p:txBody>
          <a:bodyPr wrap="square" lIns="0" tIns="0" rIns="0" bIns="0" rtlCol="0" anchor="ctr"/>
          <a:lstStyle/>
          <a:p>
            <a:pPr indent="0" marL="0">
              <a:buNone/>
            </a:pPr>
            <a:r>
              <a:rPr lang="en-US" sz="2100" b="1" dirty="0">
                <a:solidFill>
                  <a:schemeClr val="tx1"/>
                </a:solidFill>
                <a:latin typeface="Georgia" pitchFamily="34" charset="0"/>
                <a:ea typeface="Georgia" pitchFamily="34" charset="-122"/>
                <a:cs typeface="Georgia" pitchFamily="34" charset="-120"/>
              </a:rPr>
              <a:t>Spot Grab</a:t>
            </a:r>
            <a:endParaRPr lang="en-US" sz="2100" dirty="0"/>
          </a:p>
        </p:txBody>
      </p:sp>
      <p:sp>
        <p:nvSpPr>
          <p:cNvPr id="15" name="Text 13"/>
          <p:cNvSpPr txBox="1"/>
          <p:nvPr/>
        </p:nvSpPr>
        <p:spPr>
          <a:xfrm>
            <a:off x="8321040" y="2880360"/>
            <a:ext cx="306324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Fewer safe spots than players; size decides who fits.</a:t>
            </a:r>
            <a:endParaRPr lang="en-US" sz="1400" dirty="0"/>
          </a:p>
        </p:txBody>
      </p:sp>
      <p:sp>
        <p:nvSpPr>
          <p:cNvPr id="16" name="Idea Mass pickups"/>
          <p:cNvSpPr/>
          <p:nvPr/>
        </p:nvSpPr>
        <p:spPr>
          <a:xfrm>
            <a:off x="548640" y="3931920"/>
            <a:ext cx="3593592" cy="1965960"/>
          </a:xfrm>
          <a:prstGeom prst="roundRect">
            <a:avLst>
              <a:gd name="adj" fmla="val 8372"/>
            </a:avLst>
          </a:prstGeom>
          <a:solidFill>
            <a:schemeClr val="bg1"/>
          </a:solidFill>
          <a:ln w="12700">
            <a:solidFill>
              <a:schemeClr val="bg1"/>
            </a:solidFill>
            <a:prstDash val="solid"/>
          </a:ln>
          <a:effectLst>
            <a:outerShdw sx="100000" sy="100000" kx="0" ky="0" algn="bl" rotWithShape="0" blurRad="177800" dist="38100" dir="5400000">
              <a:srgbClr val="0A1E4A">
                <a:alpha val="20000"/>
              </a:srgbClr>
            </a:outerShdw>
          </a:effectLst>
        </p:spPr>
      </p:sp>
      <p:sp>
        <p:nvSpPr>
          <p:cNvPr id="17" name="Text 15"/>
          <p:cNvSpPr txBox="1"/>
          <p:nvPr/>
        </p:nvSpPr>
        <p:spPr>
          <a:xfrm>
            <a:off x="822960" y="4160520"/>
            <a:ext cx="1005840" cy="274320"/>
          </a:xfrm>
          <a:prstGeom prst="rect">
            <a:avLst/>
          </a:prstGeom>
          <a:solidFill>
            <a:srgbClr val="E8F3FD"/>
          </a:solidFill>
          <a:ln/>
        </p:spPr>
        <p:txBody>
          <a:bodyPr wrap="square" lIns="0" tIns="0" rIns="0" bIns="0" rtlCol="0" anchor="ctr"/>
          <a:lstStyle/>
          <a:p>
            <a:pPr algn="ctr" indent="0" marL="0">
              <a:buNone/>
            </a:pPr>
            <a:r>
              <a:rPr lang="en-US" sz="1000" b="1" spc="200" kern="0" dirty="0">
                <a:solidFill>
                  <a:schemeClr val="tx1"/>
                </a:solidFill>
                <a:latin typeface="Calibri" pitchFamily="34" charset="0"/>
                <a:ea typeface="Calibri" pitchFamily="34" charset="-122"/>
                <a:cs typeface="Calibri" pitchFamily="34" charset="-120"/>
              </a:rPr>
              <a:t>EXPLORE</a:t>
            </a:r>
            <a:endParaRPr lang="en-US" sz="1000" dirty="0"/>
          </a:p>
        </p:txBody>
      </p:sp>
      <p:sp>
        <p:nvSpPr>
          <p:cNvPr id="18" name="Text 16"/>
          <p:cNvSpPr txBox="1"/>
          <p:nvPr/>
        </p:nvSpPr>
        <p:spPr>
          <a:xfrm>
            <a:off x="822960" y="4572000"/>
            <a:ext cx="3063240" cy="411480"/>
          </a:xfrm>
          <a:prstGeom prst="rect">
            <a:avLst/>
          </a:prstGeom>
          <a:noFill/>
          <a:ln/>
        </p:spPr>
        <p:txBody>
          <a:bodyPr wrap="square" lIns="0" tIns="0" rIns="0" bIns="0" rtlCol="0" anchor="ctr"/>
          <a:lstStyle/>
          <a:p>
            <a:pPr indent="0" marL="0">
              <a:buNone/>
            </a:pPr>
            <a:r>
              <a:rPr lang="en-US" sz="2100" b="1" dirty="0">
                <a:solidFill>
                  <a:schemeClr val="tx1"/>
                </a:solidFill>
                <a:latin typeface="Georgia" pitchFamily="34" charset="0"/>
                <a:ea typeface="Georgia" pitchFamily="34" charset="-122"/>
                <a:cs typeface="Georgia" pitchFamily="34" charset="-120"/>
              </a:rPr>
              <a:t>Mass pickups</a:t>
            </a:r>
            <a:endParaRPr lang="en-US" sz="2100" dirty="0"/>
          </a:p>
        </p:txBody>
      </p:sp>
      <p:sp>
        <p:nvSpPr>
          <p:cNvPr id="19" name="Text 17"/>
          <p:cNvSpPr txBox="1"/>
          <p:nvPr/>
        </p:nvSpPr>
        <p:spPr>
          <a:xfrm>
            <a:off x="822960" y="5029200"/>
            <a:ext cx="306324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Regrow by touching glowing chunks, a built-in comeback.</a:t>
            </a:r>
            <a:endParaRPr lang="en-US" sz="1400" dirty="0"/>
          </a:p>
        </p:txBody>
      </p:sp>
      <p:sp>
        <p:nvSpPr>
          <p:cNvPr id="20" name="Idea Ghost cannons"/>
          <p:cNvSpPr/>
          <p:nvPr/>
        </p:nvSpPr>
        <p:spPr>
          <a:xfrm>
            <a:off x="4297680" y="3931920"/>
            <a:ext cx="3593592" cy="1965960"/>
          </a:xfrm>
          <a:prstGeom prst="roundRect">
            <a:avLst>
              <a:gd name="adj" fmla="val 8372"/>
            </a:avLst>
          </a:prstGeom>
          <a:solidFill>
            <a:schemeClr val="bg1"/>
          </a:solidFill>
          <a:ln w="12700">
            <a:solidFill>
              <a:schemeClr val="bg1"/>
            </a:solidFill>
            <a:prstDash val="solid"/>
          </a:ln>
          <a:effectLst>
            <a:outerShdw sx="100000" sy="100000" kx="0" ky="0" algn="bl" rotWithShape="0" blurRad="177800" dist="38100" dir="5400000">
              <a:srgbClr val="0A1E4A">
                <a:alpha val="20000"/>
              </a:srgbClr>
            </a:outerShdw>
          </a:effectLst>
        </p:spPr>
      </p:sp>
      <p:sp>
        <p:nvSpPr>
          <p:cNvPr id="21" name="Text 19"/>
          <p:cNvSpPr txBox="1"/>
          <p:nvPr/>
        </p:nvSpPr>
        <p:spPr>
          <a:xfrm>
            <a:off x="4572000" y="4160520"/>
            <a:ext cx="1005840" cy="274320"/>
          </a:xfrm>
          <a:prstGeom prst="rect">
            <a:avLst/>
          </a:prstGeom>
          <a:solidFill>
            <a:srgbClr val="E8F3FD"/>
          </a:solidFill>
          <a:ln/>
        </p:spPr>
        <p:txBody>
          <a:bodyPr wrap="square" lIns="0" tIns="0" rIns="0" bIns="0" rtlCol="0" anchor="ctr"/>
          <a:lstStyle/>
          <a:p>
            <a:pPr algn="ctr" indent="0" marL="0">
              <a:buNone/>
            </a:pPr>
            <a:r>
              <a:rPr lang="en-US" sz="1000" b="1" spc="200" kern="0" dirty="0">
                <a:solidFill>
                  <a:schemeClr val="tx1"/>
                </a:solidFill>
                <a:latin typeface="Calibri" pitchFamily="34" charset="0"/>
                <a:ea typeface="Calibri" pitchFamily="34" charset="-122"/>
                <a:cs typeface="Calibri" pitchFamily="34" charset="-120"/>
              </a:rPr>
              <a:t>EXPLORE</a:t>
            </a:r>
            <a:endParaRPr lang="en-US" sz="1000" dirty="0"/>
          </a:p>
        </p:txBody>
      </p:sp>
      <p:sp>
        <p:nvSpPr>
          <p:cNvPr id="22" name="Text 20"/>
          <p:cNvSpPr txBox="1"/>
          <p:nvPr/>
        </p:nvSpPr>
        <p:spPr>
          <a:xfrm>
            <a:off x="4572000" y="4572000"/>
            <a:ext cx="3063240" cy="411480"/>
          </a:xfrm>
          <a:prstGeom prst="rect">
            <a:avLst/>
          </a:prstGeom>
          <a:noFill/>
          <a:ln/>
        </p:spPr>
        <p:txBody>
          <a:bodyPr wrap="square" lIns="0" tIns="0" rIns="0" bIns="0" rtlCol="0" anchor="ctr"/>
          <a:lstStyle/>
          <a:p>
            <a:pPr indent="0" marL="0">
              <a:buNone/>
            </a:pPr>
            <a:r>
              <a:rPr lang="en-US" sz="2100" b="1" dirty="0">
                <a:solidFill>
                  <a:schemeClr val="tx1"/>
                </a:solidFill>
                <a:latin typeface="Georgia" pitchFamily="34" charset="0"/>
                <a:ea typeface="Georgia" pitchFamily="34" charset="-122"/>
                <a:cs typeface="Georgia" pitchFamily="34" charset="-120"/>
              </a:rPr>
              <a:t>Ghost cannons</a:t>
            </a:r>
            <a:endParaRPr lang="en-US" sz="2100" dirty="0"/>
          </a:p>
        </p:txBody>
      </p:sp>
      <p:sp>
        <p:nvSpPr>
          <p:cNvPr id="23" name="Text 21"/>
          <p:cNvSpPr txBox="1"/>
          <p:nvPr/>
        </p:nvSpPr>
        <p:spPr>
          <a:xfrm>
            <a:off x="4572000" y="5029200"/>
            <a:ext cx="306324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Knocked-out players keep playing from the rim (Bomberman precedent).</a:t>
            </a:r>
            <a:endParaRPr lang="en-US" sz="1400" dirty="0"/>
          </a:p>
        </p:txBody>
      </p:sp>
      <p:sp>
        <p:nvSpPr>
          <p:cNvPr id="24" name="Idea Light and fast"/>
          <p:cNvSpPr/>
          <p:nvPr/>
        </p:nvSpPr>
        <p:spPr>
          <a:xfrm>
            <a:off x="8046720" y="3931920"/>
            <a:ext cx="3593592" cy="1965960"/>
          </a:xfrm>
          <a:prstGeom prst="roundRect">
            <a:avLst>
              <a:gd name="adj" fmla="val 8372"/>
            </a:avLst>
          </a:prstGeom>
          <a:solidFill>
            <a:schemeClr val="bg1"/>
          </a:solidFill>
          <a:ln w="12700">
            <a:solidFill>
              <a:schemeClr val="bg1"/>
            </a:solidFill>
            <a:prstDash val="solid"/>
          </a:ln>
          <a:effectLst>
            <a:outerShdw sx="100000" sy="100000" kx="0" ky="0" algn="bl" rotWithShape="0" blurRad="177800" dist="38100" dir="5400000">
              <a:srgbClr val="0A1E4A">
                <a:alpha val="20000"/>
              </a:srgbClr>
            </a:outerShdw>
          </a:effectLst>
        </p:spPr>
      </p:sp>
      <p:sp>
        <p:nvSpPr>
          <p:cNvPr id="25" name="Text 23"/>
          <p:cNvSpPr txBox="1"/>
          <p:nvPr/>
        </p:nvSpPr>
        <p:spPr>
          <a:xfrm>
            <a:off x="8321040" y="4160520"/>
            <a:ext cx="1005840" cy="274320"/>
          </a:xfrm>
          <a:prstGeom prst="rect">
            <a:avLst/>
          </a:prstGeom>
          <a:solidFill>
            <a:srgbClr val="E8F3FD"/>
          </a:solidFill>
          <a:ln/>
        </p:spPr>
        <p:txBody>
          <a:bodyPr wrap="square" lIns="0" tIns="0" rIns="0" bIns="0" rtlCol="0" anchor="ctr"/>
          <a:lstStyle/>
          <a:p>
            <a:pPr algn="ctr" indent="0" marL="0">
              <a:buNone/>
            </a:pPr>
            <a:r>
              <a:rPr lang="en-US" sz="1000" b="1" spc="200" kern="0" dirty="0">
                <a:solidFill>
                  <a:schemeClr val="tx1"/>
                </a:solidFill>
                <a:latin typeface="Calibri" pitchFamily="34" charset="0"/>
                <a:ea typeface="Calibri" pitchFamily="34" charset="-122"/>
                <a:cs typeface="Calibri" pitchFamily="34" charset="-120"/>
              </a:rPr>
              <a:t>EXPLORE</a:t>
            </a:r>
            <a:endParaRPr lang="en-US" sz="1000" dirty="0"/>
          </a:p>
        </p:txBody>
      </p:sp>
      <p:sp>
        <p:nvSpPr>
          <p:cNvPr id="26" name="Text 24"/>
          <p:cNvSpPr txBox="1"/>
          <p:nvPr/>
        </p:nvSpPr>
        <p:spPr>
          <a:xfrm>
            <a:off x="8321040" y="4572000"/>
            <a:ext cx="3063240" cy="411480"/>
          </a:xfrm>
          <a:prstGeom prst="rect">
            <a:avLst/>
          </a:prstGeom>
          <a:noFill/>
          <a:ln/>
        </p:spPr>
        <p:txBody>
          <a:bodyPr wrap="square" lIns="0" tIns="0" rIns="0" bIns="0" rtlCol="0" anchor="ctr"/>
          <a:lstStyle/>
          <a:p>
            <a:pPr indent="0" marL="0">
              <a:buNone/>
            </a:pPr>
            <a:r>
              <a:rPr lang="en-US" sz="2100" b="1" dirty="0">
                <a:solidFill>
                  <a:schemeClr val="tx1"/>
                </a:solidFill>
                <a:latin typeface="Georgia" pitchFamily="34" charset="0"/>
                <a:ea typeface="Georgia" pitchFamily="34" charset="-122"/>
                <a:cs typeface="Georgia" pitchFamily="34" charset="-120"/>
              </a:rPr>
              <a:t>Light and fast</a:t>
            </a:r>
            <a:endParaRPr lang="en-US" sz="2100" dirty="0"/>
          </a:p>
        </p:txBody>
      </p:sp>
      <p:sp>
        <p:nvSpPr>
          <p:cNvPr id="27" name="Text 25"/>
          <p:cNvSpPr txBox="1"/>
          <p:nvPr/>
        </p:nvSpPr>
        <p:spPr>
          <a:xfrm>
            <a:off x="8321040" y="5029200"/>
            <a:ext cx="306324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Small cubes move faster but fall easier: a risk-reward trade.</a:t>
            </a:r>
            <a:endParaRPr lang="en-US" sz="1400" dirty="0"/>
          </a:p>
        </p:txBody>
      </p:sp>
      <p:sp>
        <p:nvSpPr>
          <p:cNvPr id="28" name="Text 26"/>
          <p:cNvSpPr txBox="1"/>
          <p:nvPr/>
        </p:nvSpPr>
        <p:spPr>
          <a:xfrm>
            <a:off x="548640" y="6035040"/>
            <a:ext cx="10058400" cy="274320"/>
          </a:xfrm>
          <a:prstGeom prst="rect">
            <a:avLst/>
          </a:prstGeom>
          <a:noFill/>
          <a:ln/>
        </p:spPr>
        <p:txBody>
          <a:bodyPr wrap="square" lIns="0" tIns="0" rIns="0" bIns="0" rtlCol="0" anchor="ctr"/>
          <a:lstStyle/>
          <a:p>
            <a:pPr indent="0" marL="0">
              <a:buNone/>
            </a:pPr>
            <a:r>
              <a:rPr lang="en-US" sz="1200" i="1" dirty="0">
                <a:solidFill>
                  <a:srgbClr val="4A5F8A"/>
                </a:solidFill>
                <a:latin typeface="Calibri" pitchFamily="34" charset="0"/>
                <a:ea typeface="Calibri" pitchFamily="34" charset="-122"/>
                <a:cs typeface="Calibri" pitchFamily="34" charset="-120"/>
              </a:rPr>
              <a:t>MVP is two polished mini-games. Everything else is a candidate we will playtest before building.</a:t>
            </a:r>
            <a:endParaRPr lang="en-US" sz="1200" dirty="0"/>
          </a:p>
        </p:txBody>
      </p:sp>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F8A"/>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chemeClr val="accent5"/>
                </a:solidFill>
                <a:latin typeface="Calibri" pitchFamily="34" charset="0"/>
                <a:ea typeface="Calibri" pitchFamily="34" charset="-122"/>
                <a:cs typeface="Calibri" pitchFamily="34" charset="-120"/>
              </a:rPr>
              <a:t>15 / PLAN AND RISKS</a:t>
            </a:r>
            <a:endParaRPr lang="en-US" sz="1200" dirty="0"/>
          </a:p>
        </p:txBody>
      </p:sp>
      <p:sp>
        <p:nvSpPr>
          <p:cNvPr id="3" name="Text 1"/>
          <p:cNvSpPr/>
          <p:nvPr>
            <p:ph idx="105" type="title" hasCustomPrompt="1"/>
          </p:nvPr>
        </p:nvSpPr>
        <p:spPr>
          <a:xfrm>
            <a:off x="548640" y="713232"/>
            <a:ext cx="11094415" cy="914400"/>
          </a:xfrm>
          <a:prstGeom prst="rect">
            <a:avLst/>
          </a:prstGeom>
          <a:noFill/>
          <a:ln/>
        </p:spPr>
        <p:txBody>
          <a:bodyPr wrap="square" lIns="0" tIns="0" rIns="0" bIns="0" rtlCol="0" anchor="t"/>
          <a:lstStyle/>
          <a:p>
            <a:pPr algn="l" indent="0" marL="0">
              <a:buNone/>
            </a:pPr>
            <a:r>
              <a:rPr lang="en-US" sz="3600" b="1" dirty="0">
                <a:solidFill>
                  <a:schemeClr val="tx1"/>
                </a:solidFill>
                <a:latin typeface="Georgia" pitchFamily="34" charset="0"/>
                <a:ea typeface="Georgia" pitchFamily="34" charset="-122"/>
                <a:cs typeface="Georgia" pitchFamily="34" charset="-120"/>
              </a:rPr>
              <a:t>Plan, risks and what is still open</a:t>
            </a:r>
            <a:endParaRPr lang="en-US" sz="3600" dirty="0"/>
          </a:p>
        </p:txBody>
      </p:sp>
      <p:sp>
        <p:nvSpPr>
          <p:cNvPr id="4" name="Shape 2"/>
          <p:cNvSpPr/>
          <p:nvPr/>
        </p:nvSpPr>
        <p:spPr>
          <a:xfrm>
            <a:off x="548640" y="1828800"/>
            <a:ext cx="640080" cy="640080"/>
          </a:xfrm>
          <a:prstGeom prst="ellipse">
            <a:avLst/>
          </a:prstGeom>
          <a:solidFill>
            <a:schemeClr val="accent5"/>
          </a:solidFill>
          <a:ln w="12700">
            <a:solidFill>
              <a:schemeClr val="accent5"/>
            </a:solidFill>
            <a:prstDash val="solid"/>
          </a:ln>
        </p:spPr>
      </p:sp>
      <p:sp>
        <p:nvSpPr>
          <p:cNvPr id="5" name="Text 3"/>
          <p:cNvSpPr txBox="1"/>
          <p:nvPr/>
        </p:nvSpPr>
        <p:spPr>
          <a:xfrm>
            <a:off x="548640" y="18288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latin typeface="Georgia" pitchFamily="34" charset="0"/>
                <a:ea typeface="Georgia" pitchFamily="34" charset="-122"/>
                <a:cs typeface="Georgia" pitchFamily="34" charset="-120"/>
              </a:rPr>
              <a:t>M1</a:t>
            </a:r>
            <a:endParaRPr lang="en-US" sz="1600" dirty="0"/>
          </a:p>
        </p:txBody>
      </p:sp>
      <p:sp>
        <p:nvSpPr>
          <p:cNvPr id="6" name="Text 4"/>
          <p:cNvSpPr txBox="1"/>
          <p:nvPr/>
        </p:nvSpPr>
        <p:spPr>
          <a:xfrm>
            <a:off x="1371600" y="1783080"/>
            <a:ext cx="3017520" cy="365760"/>
          </a:xfrm>
          <a:prstGeom prst="rect">
            <a:avLst/>
          </a:prstGeom>
          <a:noFill/>
          <a:ln/>
        </p:spPr>
        <p:txBody>
          <a:bodyPr wrap="square" lIns="0" tIns="0" rIns="0" bIns="0" rtlCol="0" anchor="ctr"/>
          <a:lstStyle/>
          <a:p>
            <a:pPr indent="0" marL="0">
              <a:buNone/>
            </a:pPr>
            <a:r>
              <a:rPr lang="en-US" sz="1800" b="1" dirty="0">
                <a:solidFill>
                  <a:schemeClr val="tx1"/>
                </a:solidFill>
                <a:latin typeface="Georgia" pitchFamily="34" charset="0"/>
                <a:ea typeface="Georgia" pitchFamily="34" charset="-122"/>
                <a:cs typeface="Georgia" pitchFamily="34" charset="-120"/>
              </a:rPr>
              <a:t>Foundation</a:t>
            </a:r>
            <a:endParaRPr lang="en-US" sz="1800" dirty="0"/>
          </a:p>
        </p:txBody>
      </p:sp>
      <p:sp>
        <p:nvSpPr>
          <p:cNvPr id="7" name="Text 5"/>
          <p:cNvSpPr txBox="1"/>
          <p:nvPr/>
        </p:nvSpPr>
        <p:spPr>
          <a:xfrm>
            <a:off x="1371600" y="2148840"/>
            <a:ext cx="338328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Character, camera, LAN lobby, fall detector</a:t>
            </a:r>
            <a:endParaRPr lang="en-US" sz="1300" dirty="0"/>
          </a:p>
        </p:txBody>
      </p:sp>
      <p:sp>
        <p:nvSpPr>
          <p:cNvPr id="8" name="Text 6"/>
          <p:cNvSpPr txBox="1"/>
          <p:nvPr/>
        </p:nvSpPr>
        <p:spPr>
          <a:xfrm>
            <a:off x="3840480" y="1828800"/>
            <a:ext cx="914400" cy="274320"/>
          </a:xfrm>
          <a:prstGeom prst="rect">
            <a:avLst/>
          </a:prstGeom>
          <a:noFill/>
          <a:ln/>
        </p:spPr>
        <p:txBody>
          <a:bodyPr wrap="square" lIns="0" tIns="0" rIns="0" bIns="0" rtlCol="0" anchor="ctr"/>
          <a:lstStyle/>
          <a:p>
            <a:pPr algn="r" indent="0" marL="0">
              <a:buNone/>
            </a:pPr>
            <a:r>
              <a:rPr lang="en-US" sz="1100" i="1" dirty="0">
                <a:solidFill>
                  <a:srgbClr val="4A5F8A"/>
                </a:solidFill>
                <a:latin typeface="Calibri" pitchFamily="34" charset="0"/>
                <a:ea typeface="Calibri" pitchFamily="34" charset="-122"/>
                <a:cs typeface="Calibri" pitchFamily="34" charset="-120"/>
              </a:rPr>
              <a:t>dates TBD</a:t>
            </a:r>
            <a:endParaRPr lang="en-US" sz="1100" dirty="0"/>
          </a:p>
        </p:txBody>
      </p:sp>
      <p:sp>
        <p:nvSpPr>
          <p:cNvPr id="9" name="Shape 7"/>
          <p:cNvSpPr/>
          <p:nvPr/>
        </p:nvSpPr>
        <p:spPr>
          <a:xfrm>
            <a:off x="548640" y="2852928"/>
            <a:ext cx="640080" cy="640080"/>
          </a:xfrm>
          <a:prstGeom prst="ellipse">
            <a:avLst/>
          </a:prstGeom>
          <a:solidFill>
            <a:schemeClr val="accent5"/>
          </a:solidFill>
          <a:ln w="12700">
            <a:solidFill>
              <a:schemeClr val="accent5"/>
            </a:solidFill>
            <a:prstDash val="solid"/>
          </a:ln>
        </p:spPr>
      </p:sp>
      <p:sp>
        <p:nvSpPr>
          <p:cNvPr id="10" name="Text 8"/>
          <p:cNvSpPr txBox="1"/>
          <p:nvPr/>
        </p:nvSpPr>
        <p:spPr>
          <a:xfrm>
            <a:off x="548640" y="2852928"/>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latin typeface="Georgia" pitchFamily="34" charset="0"/>
                <a:ea typeface="Georgia" pitchFamily="34" charset="-122"/>
                <a:cs typeface="Georgia" pitchFamily="34" charset="-120"/>
              </a:rPr>
              <a:t>M2</a:t>
            </a:r>
            <a:endParaRPr lang="en-US" sz="1600" dirty="0"/>
          </a:p>
        </p:txBody>
      </p:sp>
      <p:sp>
        <p:nvSpPr>
          <p:cNvPr id="11" name="Text 9"/>
          <p:cNvSpPr txBox="1"/>
          <p:nvPr/>
        </p:nvSpPr>
        <p:spPr>
          <a:xfrm>
            <a:off x="1371600" y="2807208"/>
            <a:ext cx="3017520" cy="365760"/>
          </a:xfrm>
          <a:prstGeom prst="rect">
            <a:avLst/>
          </a:prstGeom>
          <a:noFill/>
          <a:ln/>
        </p:spPr>
        <p:txBody>
          <a:bodyPr wrap="square" lIns="0" tIns="0" rIns="0" bIns="0" rtlCol="0" anchor="ctr"/>
          <a:lstStyle/>
          <a:p>
            <a:pPr indent="0" marL="0">
              <a:buNone/>
            </a:pPr>
            <a:r>
              <a:rPr lang="en-US" sz="1800" b="1" dirty="0">
                <a:solidFill>
                  <a:schemeClr val="tx1"/>
                </a:solidFill>
                <a:latin typeface="Georgia" pitchFamily="34" charset="0"/>
                <a:ea typeface="Georgia" pitchFamily="34" charset="-122"/>
                <a:cs typeface="Georgia" pitchFamily="34" charset="-120"/>
              </a:rPr>
              <a:t>Ice Race</a:t>
            </a:r>
            <a:endParaRPr lang="en-US" sz="1800" dirty="0"/>
          </a:p>
        </p:txBody>
      </p:sp>
      <p:sp>
        <p:nvSpPr>
          <p:cNvPr id="12" name="Text 10"/>
          <p:cNvSpPr txBox="1"/>
          <p:nvPr/>
        </p:nvSpPr>
        <p:spPr>
          <a:xfrm>
            <a:off x="1371600" y="3172968"/>
            <a:ext cx="338328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Momentum, track, checkpoints, finish order</a:t>
            </a:r>
            <a:endParaRPr lang="en-US" sz="1300" dirty="0"/>
          </a:p>
        </p:txBody>
      </p:sp>
      <p:sp>
        <p:nvSpPr>
          <p:cNvPr id="13" name="Text 11"/>
          <p:cNvSpPr txBox="1"/>
          <p:nvPr/>
        </p:nvSpPr>
        <p:spPr>
          <a:xfrm>
            <a:off x="3840480" y="2852928"/>
            <a:ext cx="914400" cy="274320"/>
          </a:xfrm>
          <a:prstGeom prst="rect">
            <a:avLst/>
          </a:prstGeom>
          <a:noFill/>
          <a:ln/>
        </p:spPr>
        <p:txBody>
          <a:bodyPr wrap="square" lIns="0" tIns="0" rIns="0" bIns="0" rtlCol="0" anchor="ctr"/>
          <a:lstStyle/>
          <a:p>
            <a:pPr algn="r" indent="0" marL="0">
              <a:buNone/>
            </a:pPr>
            <a:r>
              <a:rPr lang="en-US" sz="1100" i="1" dirty="0">
                <a:solidFill>
                  <a:srgbClr val="4A5F8A"/>
                </a:solidFill>
                <a:latin typeface="Calibri" pitchFamily="34" charset="0"/>
                <a:ea typeface="Calibri" pitchFamily="34" charset="-122"/>
                <a:cs typeface="Calibri" pitchFamily="34" charset="-120"/>
              </a:rPr>
              <a:t>dates TBD</a:t>
            </a:r>
            <a:endParaRPr lang="en-US" sz="1100" dirty="0"/>
          </a:p>
        </p:txBody>
      </p:sp>
      <p:sp>
        <p:nvSpPr>
          <p:cNvPr id="14" name="Shape 12"/>
          <p:cNvSpPr/>
          <p:nvPr/>
        </p:nvSpPr>
        <p:spPr>
          <a:xfrm>
            <a:off x="548640" y="3877056"/>
            <a:ext cx="640080" cy="640080"/>
          </a:xfrm>
          <a:prstGeom prst="ellipse">
            <a:avLst/>
          </a:prstGeom>
          <a:solidFill>
            <a:schemeClr val="accent5"/>
          </a:solidFill>
          <a:ln w="12700">
            <a:solidFill>
              <a:schemeClr val="accent5"/>
            </a:solidFill>
            <a:prstDash val="solid"/>
          </a:ln>
        </p:spPr>
      </p:sp>
      <p:sp>
        <p:nvSpPr>
          <p:cNvPr id="15" name="Text 13"/>
          <p:cNvSpPr txBox="1"/>
          <p:nvPr/>
        </p:nvSpPr>
        <p:spPr>
          <a:xfrm>
            <a:off x="548640" y="3877056"/>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latin typeface="Georgia" pitchFamily="34" charset="0"/>
                <a:ea typeface="Georgia" pitchFamily="34" charset="-122"/>
                <a:cs typeface="Georgia" pitchFamily="34" charset="-120"/>
              </a:rPr>
              <a:t>M3</a:t>
            </a:r>
            <a:endParaRPr lang="en-US" sz="1600" dirty="0"/>
          </a:p>
        </p:txBody>
      </p:sp>
      <p:sp>
        <p:nvSpPr>
          <p:cNvPr id="16" name="Text 14"/>
          <p:cNvSpPr txBox="1"/>
          <p:nvPr/>
        </p:nvSpPr>
        <p:spPr>
          <a:xfrm>
            <a:off x="1371600" y="3831336"/>
            <a:ext cx="3017520" cy="365760"/>
          </a:xfrm>
          <a:prstGeom prst="rect">
            <a:avLst/>
          </a:prstGeom>
          <a:noFill/>
          <a:ln/>
        </p:spPr>
        <p:txBody>
          <a:bodyPr wrap="square" lIns="0" tIns="0" rIns="0" bIns="0" rtlCol="0" anchor="ctr"/>
          <a:lstStyle/>
          <a:p>
            <a:pPr indent="0" marL="0">
              <a:buNone/>
            </a:pPr>
            <a:r>
              <a:rPr lang="en-US" sz="1800" b="1" dirty="0">
                <a:solidFill>
                  <a:schemeClr val="tx1"/>
                </a:solidFill>
                <a:latin typeface="Georgia" pitchFamily="34" charset="0"/>
                <a:ea typeface="Georgia" pitchFamily="34" charset="-122"/>
                <a:cs typeface="Georgia" pitchFamily="34" charset="-120"/>
              </a:rPr>
              <a:t>Mass Knockout</a:t>
            </a:r>
            <a:endParaRPr lang="en-US" sz="1800" dirty="0"/>
          </a:p>
        </p:txBody>
      </p:sp>
      <p:sp>
        <p:nvSpPr>
          <p:cNvPr id="17" name="Text 15"/>
          <p:cNvSpPr txBox="1"/>
          <p:nvPr/>
        </p:nvSpPr>
        <p:spPr>
          <a:xfrm>
            <a:off x="1371600" y="4197096"/>
            <a:ext cx="338328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Mass throw, impulse, ring-out, respawn</a:t>
            </a:r>
            <a:endParaRPr lang="en-US" sz="1300" dirty="0"/>
          </a:p>
        </p:txBody>
      </p:sp>
      <p:sp>
        <p:nvSpPr>
          <p:cNvPr id="18" name="Text 16"/>
          <p:cNvSpPr txBox="1"/>
          <p:nvPr/>
        </p:nvSpPr>
        <p:spPr>
          <a:xfrm>
            <a:off x="3840480" y="3877056"/>
            <a:ext cx="914400" cy="274320"/>
          </a:xfrm>
          <a:prstGeom prst="rect">
            <a:avLst/>
          </a:prstGeom>
          <a:noFill/>
          <a:ln/>
        </p:spPr>
        <p:txBody>
          <a:bodyPr wrap="square" lIns="0" tIns="0" rIns="0" bIns="0" rtlCol="0" anchor="ctr"/>
          <a:lstStyle/>
          <a:p>
            <a:pPr algn="r" indent="0" marL="0">
              <a:buNone/>
            </a:pPr>
            <a:r>
              <a:rPr lang="en-US" sz="1100" i="1" dirty="0">
                <a:solidFill>
                  <a:srgbClr val="4A5F8A"/>
                </a:solidFill>
                <a:latin typeface="Calibri" pitchFamily="34" charset="0"/>
                <a:ea typeface="Calibri" pitchFamily="34" charset="-122"/>
                <a:cs typeface="Calibri" pitchFamily="34" charset="-120"/>
              </a:rPr>
              <a:t>dates TBD</a:t>
            </a:r>
            <a:endParaRPr lang="en-US" sz="1100" dirty="0"/>
          </a:p>
        </p:txBody>
      </p:sp>
      <p:sp>
        <p:nvSpPr>
          <p:cNvPr id="19" name="Shape 17"/>
          <p:cNvSpPr/>
          <p:nvPr/>
        </p:nvSpPr>
        <p:spPr>
          <a:xfrm>
            <a:off x="548640" y="4901184"/>
            <a:ext cx="640080" cy="640080"/>
          </a:xfrm>
          <a:prstGeom prst="ellipse">
            <a:avLst/>
          </a:prstGeom>
          <a:solidFill>
            <a:schemeClr val="accent5"/>
          </a:solidFill>
          <a:ln w="12700">
            <a:solidFill>
              <a:schemeClr val="accent5"/>
            </a:solidFill>
            <a:prstDash val="solid"/>
          </a:ln>
        </p:spPr>
      </p:sp>
      <p:sp>
        <p:nvSpPr>
          <p:cNvPr id="20" name="Text 18"/>
          <p:cNvSpPr txBox="1"/>
          <p:nvPr/>
        </p:nvSpPr>
        <p:spPr>
          <a:xfrm>
            <a:off x="548640" y="4901184"/>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latin typeface="Georgia" pitchFamily="34" charset="0"/>
                <a:ea typeface="Georgia" pitchFamily="34" charset="-122"/>
                <a:cs typeface="Georgia" pitchFamily="34" charset="-120"/>
              </a:rPr>
              <a:t>M4</a:t>
            </a:r>
            <a:endParaRPr lang="en-US" sz="1600" dirty="0"/>
          </a:p>
        </p:txBody>
      </p:sp>
      <p:sp>
        <p:nvSpPr>
          <p:cNvPr id="21" name="Text 19"/>
          <p:cNvSpPr txBox="1"/>
          <p:nvPr/>
        </p:nvSpPr>
        <p:spPr>
          <a:xfrm>
            <a:off x="1371600" y="4855464"/>
            <a:ext cx="3017520" cy="365760"/>
          </a:xfrm>
          <a:prstGeom prst="rect">
            <a:avLst/>
          </a:prstGeom>
          <a:noFill/>
          <a:ln/>
        </p:spPr>
        <p:txBody>
          <a:bodyPr wrap="square" lIns="0" tIns="0" rIns="0" bIns="0" rtlCol="0" anchor="ctr"/>
          <a:lstStyle/>
          <a:p>
            <a:pPr indent="0" marL="0">
              <a:buNone/>
            </a:pPr>
            <a:r>
              <a:rPr lang="en-US" sz="1800" b="1" dirty="0">
                <a:solidFill>
                  <a:schemeClr val="tx1"/>
                </a:solidFill>
                <a:latin typeface="Georgia" pitchFamily="34" charset="0"/>
                <a:ea typeface="Georgia" pitchFamily="34" charset="-122"/>
                <a:cs typeface="Georgia" pitchFamily="34" charset="-120"/>
              </a:rPr>
              <a:t>Round system + polish</a:t>
            </a:r>
            <a:endParaRPr lang="en-US" sz="1800" dirty="0"/>
          </a:p>
        </p:txBody>
      </p:sp>
      <p:sp>
        <p:nvSpPr>
          <p:cNvPr id="22" name="Text 20"/>
          <p:cNvSpPr txBox="1"/>
          <p:nvPr/>
        </p:nvSpPr>
        <p:spPr>
          <a:xfrm>
            <a:off x="1371600" y="5221224"/>
            <a:ext cx="338328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Scoreboard, results, hit feedback, UI</a:t>
            </a:r>
            <a:endParaRPr lang="en-US" sz="1300" dirty="0"/>
          </a:p>
        </p:txBody>
      </p:sp>
      <p:sp>
        <p:nvSpPr>
          <p:cNvPr id="23" name="Text 21"/>
          <p:cNvSpPr txBox="1"/>
          <p:nvPr/>
        </p:nvSpPr>
        <p:spPr>
          <a:xfrm>
            <a:off x="3840480" y="4901184"/>
            <a:ext cx="914400" cy="274320"/>
          </a:xfrm>
          <a:prstGeom prst="rect">
            <a:avLst/>
          </a:prstGeom>
          <a:noFill/>
          <a:ln/>
        </p:spPr>
        <p:txBody>
          <a:bodyPr wrap="square" lIns="0" tIns="0" rIns="0" bIns="0" rtlCol="0" anchor="ctr"/>
          <a:lstStyle/>
          <a:p>
            <a:pPr algn="r" indent="0" marL="0">
              <a:buNone/>
            </a:pPr>
            <a:r>
              <a:rPr lang="en-US" sz="1100" i="1" dirty="0">
                <a:solidFill>
                  <a:srgbClr val="4A5F8A"/>
                </a:solidFill>
                <a:latin typeface="Calibri" pitchFamily="34" charset="0"/>
                <a:ea typeface="Calibri" pitchFamily="34" charset="-122"/>
                <a:cs typeface="Calibri" pitchFamily="34" charset="-120"/>
              </a:rPr>
              <a:t>dates TBD</a:t>
            </a:r>
            <a:endParaRPr lang="en-US" sz="1100" dirty="0"/>
          </a:p>
        </p:txBody>
      </p:sp>
      <p:graphicFrame>
        <p:nvGraphicFramePr>
          <p:cNvPr id="17" name="Risk table"/>
          <p:cNvGraphicFramePr>
            <a:graphicFrameLocks noGrp="1"/>
          </p:cNvGraphicFramePr>
          <p:nvPr>
            <p:extLst>
              <p:ext uri="{D42A27DB-BD31-4B8C-83A1-F6EECF244321}">
                <p14:modId xmlns:p14="http://schemas.microsoft.com/office/powerpoint/2010/main" val="1579011935"/>
              </p:ext>
            </p:extLst>
          </p:nvPr>
        </p:nvGraphicFramePr>
        <p:xfrm>
          <a:off x="5257800" y="1783080"/>
          <a:ext cx="6382512" cy="914400"/>
        </p:xfrm>
        <a:graphic>
          <a:graphicData uri="http://schemas.openxmlformats.org/drawingml/2006/table">
            <a:tbl>
              <a:tblPr/>
              <a:tblGrid>
                <a:gridCol w="2468880"/>
                <a:gridCol w="3913632"/>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marL="91440" marR="91440" marT="45720" marB="45720">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081A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Our answer</a:t>
                      </a:r>
                      <a:endParaRPr lang="en-US" sz="1200" dirty="0">
                        <a:latin typeface="Calibri" charset="0"/>
                        <a:ea typeface="Calibri" charset="0"/>
                        <a:cs typeface="Calibri" charset="0"/>
                      </a:endParaRPr>
                    </a:p>
                  </a:txBody>
                  <a:tcPr marL="91440" marR="91440" marT="45720" marB="45720">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081A3E"/>
                    </a:solidFill>
                  </a:tcPr>
                </a:tc>
              </a:tr>
              <a:tr h="713232">
                <a:tc>
                  <a:txBody>
                    <a:bodyPr/>
                    <a:lstStyle/>
                    <a:p>
                      <a:pPr indent="0" marL="0">
                        <a:buNone/>
                      </a:pPr>
                      <a:r>
                        <a:rPr lang="en-US" sz="1200" b="1" dirty="0">
                          <a:solidFill>
                            <a:srgbClr val="081A3E"/>
                          </a:solidFill>
                          <a:latin typeface="Calibri" pitchFamily="34" charset="0"/>
                          <a:ea typeface="Calibri" pitchFamily="34" charset="-122"/>
                          <a:cs typeface="Calibri" pitchFamily="34" charset="-120"/>
                        </a:rPr>
                        <a:t>Snowball: hit, lighter, hit more</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FF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Reset size each round; pickups or speed bonus if needed</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081A3E"/>
                          </a:solidFill>
                          <a:latin typeface="Calibri" pitchFamily="34" charset="0"/>
                          <a:ea typeface="Calibri" pitchFamily="34" charset="-122"/>
                          <a:cs typeface="Calibri" pitchFamily="34" charset="-120"/>
                        </a:rPr>
                        <a:t>Waiting becomes optimal</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3F9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Reward knockouts; short rounds; playtest early</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3F9FF"/>
                    </a:solidFill>
                  </a:tcPr>
                </a:tc>
              </a:tr>
              <a:tr h="713232">
                <a:tc>
                  <a:txBody>
                    <a:bodyPr/>
                    <a:lstStyle/>
                    <a:p>
                      <a:pPr indent="0" marL="0">
                        <a:buNone/>
                      </a:pPr>
                      <a:r>
                        <a:rPr lang="en-US" sz="1200" b="1" dirty="0">
                          <a:solidFill>
                            <a:srgbClr val="081A3E"/>
                          </a:solidFill>
                          <a:latin typeface="Calibri" pitchFamily="34" charset="0"/>
                          <a:ea typeface="Calibri" pitchFamily="34" charset="-122"/>
                          <a:cs typeface="Calibri" pitchFamily="34" charset="-120"/>
                        </a:rPr>
                        <a:t>Physics drifting on LAN</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FF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Host-authoritative, 2–4 players, simplest scene first</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081A3E"/>
                          </a:solidFill>
                          <a:latin typeface="Calibri" pitchFamily="34" charset="0"/>
                          <a:ea typeface="Calibri" pitchFamily="34" charset="-122"/>
                          <a:cs typeface="Calibri" pitchFamily="34" charset="-120"/>
                        </a:rPr>
                        <a:t>AI art is not gameplay</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3F9FF"/>
                    </a:solidFill>
                  </a:tcPr>
                </a:tc>
                <a:tc>
                  <a:txBody>
                    <a:bodyPr/>
                    <a:lstStyle/>
                    <a:p>
                      <a:pPr indent="0" marL="0">
                        <a:buNone/>
                      </a:pPr>
                      <a:r>
                        <a:rPr lang="en-US" sz="1200" dirty="0">
                          <a:solidFill>
                            <a:srgbClr val="081A3E"/>
                          </a:solidFill>
                          <a:latin typeface="Calibri" pitchFamily="34" charset="0"/>
                          <a:ea typeface="Calibri" pitchFamily="34" charset="-122"/>
                          <a:cs typeface="Calibri" pitchFamily="34" charset="-120"/>
                        </a:rPr>
                        <a:t>Label it; build a graybox before any claims</a:t>
                      </a:r>
                      <a:endParaRPr lang="en-US" sz="1200" dirty="0">
                        <a:latin typeface="Calibri" charset="0"/>
                        <a:ea typeface="Calibri" charset="0"/>
                        <a:cs typeface="Calibri" charset="0"/>
                      </a:endParaRPr>
                    </a:p>
                  </a:txBody>
                  <a:tcPr marL="91440" marR="91440" marT="45720" marB="45720" anchor="ctr">
                    <a:lnL w="6350" cap="flat" cmpd="sng" algn="ctr">
                      <a:solidFill>
                        <a:srgbClr val="C9DDF5"/>
                      </a:solidFill>
                      <a:prstDash val="solid"/>
                      <a:round/>
                      <a:headEnd type="none" w="med" len="med"/>
                      <a:tailEnd type="none" w="med" len="med"/>
                    </a:lnL>
                    <a:lnR w="6350" cap="flat" cmpd="sng" algn="ctr">
                      <a:solidFill>
                        <a:srgbClr val="C9DDF5"/>
                      </a:solidFill>
                      <a:prstDash val="solid"/>
                      <a:round/>
                      <a:headEnd type="none" w="med" len="med"/>
                      <a:tailEnd type="none" w="med" len="med"/>
                    </a:lnR>
                    <a:lnT w="6350" cap="flat" cmpd="sng" algn="ctr">
                      <a:solidFill>
                        <a:srgbClr val="C9DDF5"/>
                      </a:solidFill>
                      <a:prstDash val="solid"/>
                      <a:round/>
                      <a:headEnd type="none" w="med" len="med"/>
                      <a:tailEnd type="none" w="med" len="med"/>
                    </a:lnT>
                    <a:lnB w="6350" cap="flat" cmpd="sng" algn="ctr">
                      <a:solidFill>
                        <a:srgbClr val="C9DDF5"/>
                      </a:solidFill>
                      <a:prstDash val="solid"/>
                      <a:round/>
                      <a:headEnd type="none" w="med" len="med"/>
                      <a:tailEnd type="none" w="med" len="med"/>
                    </a:lnB>
                    <a:solidFill>
                      <a:srgbClr val="F3F9FF"/>
                    </a:solidFill>
                  </a:tcPr>
                </a:tc>
              </a:tr>
            </a:tbl>
          </a:graphicData>
        </a:graphic>
      </p:graphicFrame>
      <p:sp>
        <p:nvSpPr>
          <p:cNvPr id="25" name="Shape 22"/>
          <p:cNvSpPr/>
          <p:nvPr/>
        </p:nvSpPr>
        <p:spPr>
          <a:xfrm>
            <a:off x="5257800" y="5166360"/>
            <a:ext cx="6382512" cy="777240"/>
          </a:xfrm>
          <a:prstGeom prst="roundRect">
            <a:avLst>
              <a:gd name="adj" fmla="val 17647"/>
            </a:avLst>
          </a:prstGeom>
          <a:solidFill>
            <a:schemeClr val="tx1"/>
          </a:solidFill>
          <a:ln w="12700">
            <a:solidFill>
              <a:schemeClr val="tx1"/>
            </a:solidFill>
            <a:prstDash val="solid"/>
          </a:ln>
        </p:spPr>
      </p:sp>
      <p:sp>
        <p:nvSpPr>
          <p:cNvPr id="26" name="Text 23"/>
          <p:cNvSpPr txBox="1"/>
          <p:nvPr/>
        </p:nvSpPr>
        <p:spPr>
          <a:xfrm>
            <a:off x="5440680" y="5166360"/>
            <a:ext cx="6035040" cy="777240"/>
          </a:xfrm>
          <a:prstGeom prst="rect">
            <a:avLst/>
          </a:prstGeom>
          <a:noFill/>
          <a:ln/>
        </p:spPr>
        <p:txBody>
          <a:bodyPr wrap="square" lIns="0" tIns="0" rIns="0" bIns="0" rtlCol="0" anchor="ctr"/>
          <a:lstStyle/>
          <a:p>
            <a:pPr indent="0" marL="0">
              <a:buNone/>
            </a:pPr>
            <a:r>
              <a:rPr lang="en-US" sz="1400" b="1" dirty="0">
                <a:solidFill>
                  <a:schemeClr val="accent6"/>
                </a:solidFill>
                <a:latin typeface="Calibri" pitchFamily="34" charset="0"/>
                <a:ea typeface="Calibri" pitchFamily="34" charset="-122"/>
                <a:cs typeface="Calibri" pitchFamily="34" charset="-120"/>
              </a:rPr>
              <a:t>Still TBD  </a:t>
            </a:r>
            <a:pPr indent="0" marL="0">
              <a:buNone/>
            </a:pPr>
            <a:r>
              <a:rPr lang="en-US" sz="1400" dirty="0">
                <a:solidFill>
                  <a:schemeClr val="bg1"/>
                </a:solidFill>
                <a:latin typeface="Calibri" pitchFamily="34" charset="0"/>
                <a:ea typeface="Calibri" pitchFamily="34" charset="-122"/>
                <a:cs typeface="Calibri" pitchFamily="34" charset="-120"/>
              </a:rPr>
              <a:t>Gantt chart, milestone dates and task owners will be added once the course schedule is fixed.</a:t>
            </a:r>
            <a:endParaRPr lang="en-US" sz="1400" dirty="0"/>
          </a:p>
        </p:txBody>
      </p:sp>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F8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16 / WHAT ALREADY EXISTS</a:t>
            </a:r>
            <a:endParaRPr lang="en-US" sz="1200" dirty="0"/>
          </a:p>
        </p:txBody>
      </p:sp>
      <p:sp>
        <p:nvSpPr>
          <p:cNvPr id="3" name="Text 1"/>
          <p:cNvSpPr/>
          <p:nvPr>
            <p:ph idx="105" type="title" hasCustomPrompt="1"/>
          </p:nvPr>
        </p:nvSpPr>
        <p:spPr>
          <a:xfrm>
            <a:off x="548640" y="713232"/>
            <a:ext cx="11094415" cy="914400"/>
          </a:xfrm>
          <a:prstGeom prst="rect">
            <a:avLst/>
          </a:prstGeom>
          <a:noFill/>
          <a:ln/>
        </p:spPr>
        <p:txBody>
          <a:bodyPr wrap="square" lIns="0" tIns="0" rIns="0" bIns="0" rtlCol="0" anchor="t"/>
          <a:lstStyle/>
          <a:p>
            <a:pPr algn="l" indent="0" marL="0">
              <a:buNone/>
            </a:pPr>
            <a:r>
              <a:rPr lang="en-US" sz="3600" b="1" dirty="0">
                <a:solidFill>
                  <a:schemeClr val="bg1"/>
                </a:solidFill>
                <a:latin typeface="Georgia" pitchFamily="34" charset="0"/>
                <a:ea typeface="Georgia" pitchFamily="34" charset="-122"/>
                <a:cs typeface="Georgia" pitchFamily="34" charset="-120"/>
              </a:rPr>
              <a:t>Drafts, concepts and a physics blockout</a:t>
            </a:r>
            <a:endParaRPr lang="en-US" sz="3600" dirty="0"/>
          </a:p>
        </p:txBody>
      </p:sp>
      <p:pic>
        <p:nvPicPr>
          <p:cNvPr id="3" name="Physics blockout 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91640"/>
            <a:ext cx="5669280" cy="3239589"/>
          </a:xfrm>
          <a:prstGeom prst="rect">
            <a:avLst/>
          </a:prstGeom>
        </p:spPr>
      </p:pic>
      <p:sp>
        <p:nvSpPr>
          <p:cNvPr id="5" name="Caption"/>
          <p:cNvSpPr txBox="1"/>
          <p:nvPr/>
        </p:nvSpPr>
        <p:spPr>
          <a:xfrm>
            <a:off x="548640" y="5022669"/>
            <a:ext cx="5669280" cy="274320"/>
          </a:xfrm>
          <a:prstGeom prst="rect">
            <a:avLst/>
          </a:prstGeom>
          <a:noFill/>
          <a:ln/>
        </p:spPr>
        <p:txBody>
          <a:bodyPr wrap="square" lIns="0" tIns="0" rIns="0" bIns="0" rtlCol="0" anchor="ctr"/>
          <a:lstStyle/>
          <a:p>
            <a:pPr indent="0" marL="0">
              <a:buNone/>
            </a:pPr>
            <a:r>
              <a:rPr lang="en-US" sz="1100" i="1" dirty="0">
                <a:solidFill>
                  <a:srgbClr val="A9C4EE"/>
                </a:solidFill>
                <a:latin typeface="Calibri" pitchFamily="34" charset="0"/>
                <a:ea typeface="Calibri" pitchFamily="34" charset="-122"/>
                <a:cs typeface="Calibri" pitchFamily="34" charset="-120"/>
              </a:rPr>
              <a:t>Physics blockout: a deterministic simulation of spit, recoil, hit, shrink, knockback and ring-out</a:t>
            </a:r>
            <a:endParaRPr lang="en-US" sz="1100" dirty="0"/>
          </a:p>
        </p:txBody>
      </p:sp>
      <p:sp>
        <p:nvSpPr>
          <p:cNvPr id="6" name="Shape 3"/>
          <p:cNvSpPr/>
          <p:nvPr/>
        </p:nvSpPr>
        <p:spPr>
          <a:xfrm>
            <a:off x="6720840" y="1764792"/>
            <a:ext cx="256032" cy="256032"/>
          </a:xfrm>
          <a:prstGeom prst="ellipse">
            <a:avLst/>
          </a:prstGeom>
          <a:solidFill>
            <a:schemeClr val="accent2"/>
          </a:solidFill>
          <a:ln w="12700">
            <a:solidFill>
              <a:schemeClr val="accent2"/>
            </a:solidFill>
            <a:prstDash val="solid"/>
          </a:ln>
        </p:spPr>
      </p:sp>
      <p:sp>
        <p:nvSpPr>
          <p:cNvPr id="7" name="Text 4"/>
          <p:cNvSpPr txBox="1"/>
          <p:nvPr/>
        </p:nvSpPr>
        <p:spPr>
          <a:xfrm>
            <a:off x="7132320" y="1691640"/>
            <a:ext cx="4480560" cy="365760"/>
          </a:xfrm>
          <a:prstGeom prst="rect">
            <a:avLst/>
          </a:prstGeom>
          <a:noFill/>
          <a:ln/>
        </p:spPr>
        <p:txBody>
          <a:bodyPr wrap="square" lIns="0" tIns="0" rIns="0" bIns="0" rtlCol="0" anchor="ctr"/>
          <a:lstStyle/>
          <a:p>
            <a:pPr indent="0" marL="0">
              <a:buNone/>
            </a:pPr>
            <a:r>
              <a:rPr lang="en-US" sz="1800" b="1" dirty="0">
                <a:solidFill>
                  <a:schemeClr val="bg1"/>
                </a:solidFill>
                <a:latin typeface="Georgia" pitchFamily="34" charset="0"/>
                <a:ea typeface="Georgia" pitchFamily="34" charset="-122"/>
                <a:cs typeface="Georgia" pitchFamily="34" charset="-120"/>
              </a:rPr>
              <a:t>Rules verified in simulation</a:t>
            </a:r>
            <a:endParaRPr lang="en-US" sz="1800" dirty="0"/>
          </a:p>
        </p:txBody>
      </p:sp>
      <p:sp>
        <p:nvSpPr>
          <p:cNvPr id="8" name="Text 5"/>
          <p:cNvSpPr txBox="1"/>
          <p:nvPr/>
        </p:nvSpPr>
        <p:spPr>
          <a:xfrm>
            <a:off x="7132320" y="2075688"/>
            <a:ext cx="4480560" cy="685800"/>
          </a:xfrm>
          <a:prstGeom prst="rect">
            <a:avLst/>
          </a:prstGeom>
          <a:noFill/>
          <a:ln/>
        </p:spPr>
        <p:txBody>
          <a:bodyPr wrap="square" lIns="0" tIns="0" rIns="0" bIns="0" rtlCol="0" anchor="t"/>
          <a:lstStyle/>
          <a:p>
            <a:pPr indent="0" marL="0">
              <a:buNone/>
            </a:pPr>
            <a:r>
              <a:rPr lang="en-US" sz="1400" dirty="0">
                <a:solidFill>
                  <a:srgbClr val="A9C4EE"/>
                </a:solidFill>
                <a:latin typeface="Calibri" pitchFamily="34" charset="0"/>
                <a:ea typeface="Calibri" pitchFamily="34" charset="-122"/>
                <a:cs typeface="Calibri" pitchFamily="34" charset="-120"/>
              </a:rPr>
              <a:t>A fixed-step graybox proves the rule chain works before any art or networking.</a:t>
            </a:r>
            <a:endParaRPr lang="en-US" sz="1400" dirty="0"/>
          </a:p>
        </p:txBody>
      </p:sp>
      <p:sp>
        <p:nvSpPr>
          <p:cNvPr id="9" name="Shape 6"/>
          <p:cNvSpPr/>
          <p:nvPr/>
        </p:nvSpPr>
        <p:spPr>
          <a:xfrm>
            <a:off x="6720840" y="2862072"/>
            <a:ext cx="256032" cy="256032"/>
          </a:xfrm>
          <a:prstGeom prst="ellipse">
            <a:avLst/>
          </a:prstGeom>
          <a:solidFill>
            <a:schemeClr val="accent1"/>
          </a:solidFill>
          <a:ln w="12700">
            <a:solidFill>
              <a:schemeClr val="accent1"/>
            </a:solidFill>
            <a:prstDash val="solid"/>
          </a:ln>
        </p:spPr>
      </p:sp>
      <p:sp>
        <p:nvSpPr>
          <p:cNvPr id="10" name="Text 7"/>
          <p:cNvSpPr txBox="1"/>
          <p:nvPr/>
        </p:nvSpPr>
        <p:spPr>
          <a:xfrm>
            <a:off x="7132320" y="2788920"/>
            <a:ext cx="4480560" cy="365760"/>
          </a:xfrm>
          <a:prstGeom prst="rect">
            <a:avLst/>
          </a:prstGeom>
          <a:noFill/>
          <a:ln/>
        </p:spPr>
        <p:txBody>
          <a:bodyPr wrap="square" lIns="0" tIns="0" rIns="0" bIns="0" rtlCol="0" anchor="ctr"/>
          <a:lstStyle/>
          <a:p>
            <a:pPr indent="0" marL="0">
              <a:buNone/>
            </a:pPr>
            <a:r>
              <a:rPr lang="en-US" sz="1800" b="1" dirty="0">
                <a:solidFill>
                  <a:schemeClr val="bg1"/>
                </a:solidFill>
                <a:latin typeface="Georgia" pitchFamily="34" charset="0"/>
                <a:ea typeface="Georgia" pitchFamily="34" charset="-122"/>
                <a:cs typeface="Georgia" pitchFamily="34" charset="-120"/>
              </a:rPr>
              <a:t>Concept art and UI mockups</a:t>
            </a:r>
            <a:endParaRPr lang="en-US" sz="1800" dirty="0"/>
          </a:p>
        </p:txBody>
      </p:sp>
      <p:sp>
        <p:nvSpPr>
          <p:cNvPr id="11" name="Text 8"/>
          <p:cNvSpPr txBox="1"/>
          <p:nvPr/>
        </p:nvSpPr>
        <p:spPr>
          <a:xfrm>
            <a:off x="7132320" y="3172968"/>
            <a:ext cx="4480560" cy="685800"/>
          </a:xfrm>
          <a:prstGeom prst="rect">
            <a:avLst/>
          </a:prstGeom>
          <a:noFill/>
          <a:ln/>
        </p:spPr>
        <p:txBody>
          <a:bodyPr wrap="square" lIns="0" tIns="0" rIns="0" bIns="0" rtlCol="0" anchor="t"/>
          <a:lstStyle/>
          <a:p>
            <a:pPr indent="0" marL="0">
              <a:buNone/>
            </a:pPr>
            <a:r>
              <a:rPr lang="en-US" sz="1400" dirty="0">
                <a:solidFill>
                  <a:srgbClr val="A9C4EE"/>
                </a:solidFill>
                <a:latin typeface="Calibri" pitchFamily="34" charset="0"/>
                <a:ea typeface="Calibri" pitchFamily="34" charset="-122"/>
                <a:cs typeface="Calibri" pitchFamily="34" charset="-120"/>
              </a:rPr>
              <a:t>Four characters, two arenas and HUD drafts (AI-generated, labelled as such).</a:t>
            </a:r>
            <a:endParaRPr lang="en-US" sz="1400" dirty="0"/>
          </a:p>
        </p:txBody>
      </p:sp>
      <p:sp>
        <p:nvSpPr>
          <p:cNvPr id="12" name="Shape 9"/>
          <p:cNvSpPr/>
          <p:nvPr/>
        </p:nvSpPr>
        <p:spPr>
          <a:xfrm>
            <a:off x="6720840" y="3959352"/>
            <a:ext cx="256032" cy="256032"/>
          </a:xfrm>
          <a:prstGeom prst="ellipse">
            <a:avLst/>
          </a:prstGeom>
          <a:solidFill>
            <a:schemeClr val="accent3"/>
          </a:solidFill>
          <a:ln w="12700">
            <a:solidFill>
              <a:schemeClr val="accent3"/>
            </a:solidFill>
            <a:prstDash val="solid"/>
          </a:ln>
        </p:spPr>
      </p:sp>
      <p:sp>
        <p:nvSpPr>
          <p:cNvPr id="13" name="Text 10"/>
          <p:cNvSpPr txBox="1"/>
          <p:nvPr/>
        </p:nvSpPr>
        <p:spPr>
          <a:xfrm>
            <a:off x="7132320" y="3886200"/>
            <a:ext cx="4480560" cy="365760"/>
          </a:xfrm>
          <a:prstGeom prst="rect">
            <a:avLst/>
          </a:prstGeom>
          <a:noFill/>
          <a:ln/>
        </p:spPr>
        <p:txBody>
          <a:bodyPr wrap="square" lIns="0" tIns="0" rIns="0" bIns="0" rtlCol="0" anchor="ctr"/>
          <a:lstStyle/>
          <a:p>
            <a:pPr indent="0" marL="0">
              <a:buNone/>
            </a:pPr>
            <a:r>
              <a:rPr lang="en-US" sz="1800" b="1" dirty="0">
                <a:solidFill>
                  <a:schemeClr val="bg1"/>
                </a:solidFill>
                <a:latin typeface="Georgia" pitchFamily="34" charset="0"/>
                <a:ea typeface="Georgia" pitchFamily="34" charset="-122"/>
                <a:cs typeface="Georgia" pitchFamily="34" charset="-120"/>
              </a:rPr>
              <a:t>Gameplay-feel playbook</a:t>
            </a:r>
            <a:endParaRPr lang="en-US" sz="1800" dirty="0"/>
          </a:p>
        </p:txBody>
      </p:sp>
      <p:sp>
        <p:nvSpPr>
          <p:cNvPr id="14" name="Text 11"/>
          <p:cNvSpPr txBox="1"/>
          <p:nvPr/>
        </p:nvSpPr>
        <p:spPr>
          <a:xfrm>
            <a:off x="7132320" y="4270248"/>
            <a:ext cx="4480560" cy="685800"/>
          </a:xfrm>
          <a:prstGeom prst="rect">
            <a:avLst/>
          </a:prstGeom>
          <a:noFill/>
          <a:ln/>
        </p:spPr>
        <p:txBody>
          <a:bodyPr wrap="square" lIns="0" tIns="0" rIns="0" bIns="0" rtlCol="0" anchor="t"/>
          <a:lstStyle/>
          <a:p>
            <a:pPr indent="0" marL="0">
              <a:buNone/>
            </a:pPr>
            <a:r>
              <a:rPr lang="en-US" sz="1400" dirty="0">
                <a:solidFill>
                  <a:srgbClr val="A9C4EE"/>
                </a:solidFill>
                <a:latin typeface="Calibri" pitchFamily="34" charset="0"/>
                <a:ea typeface="Calibri" pitchFamily="34" charset="-122"/>
                <a:cs typeface="Calibri" pitchFamily="34" charset="-120"/>
              </a:rPr>
              <a:t>Hit-stop, squash and follow-through rules distilled from six VFX tutorials.</a:t>
            </a:r>
            <a:endParaRPr lang="en-US" sz="1400" dirty="0"/>
          </a:p>
        </p:txBody>
      </p:sp>
      <p:pic>
        <p:nvPicPr>
          <p:cNvPr id="15" name="Ice Race concept" descr="Ice Race concept">    </p:cNvPr>
          <p:cNvPicPr>
            <a:picLocks noChangeAspect="1"/>
          </p:cNvPicPr>
          <p:nvPr/>
        </p:nvPicPr>
        <p:blipFill>
          <a:blip r:embed="rId4"/>
          <a:stretch>
            <a:fillRect/>
          </a:stretch>
        </p:blipFill>
        <p:spPr>
          <a:xfrm>
            <a:off x="6720840" y="5074920"/>
            <a:ext cx="2194560" cy="1254034"/>
          </a:xfrm>
          <a:prstGeom prst="rect">
            <a:avLst/>
          </a:prstGeom>
        </p:spPr>
      </p:pic>
      <p:pic>
        <p:nvPicPr>
          <p:cNvPr id="16" name="Mass Knockout concept" descr="Mass Knockout concept">    </p:cNvPr>
          <p:cNvPicPr>
            <a:picLocks noChangeAspect="1"/>
          </p:cNvPicPr>
          <p:nvPr/>
        </p:nvPicPr>
        <p:blipFill>
          <a:blip r:embed="rId5"/>
          <a:stretch>
            <a:fillRect/>
          </a:stretch>
        </p:blipFill>
        <p:spPr>
          <a:xfrm>
            <a:off x="9098280" y="5074920"/>
            <a:ext cx="2194560" cy="1254034"/>
          </a:xfrm>
          <a:prstGeom prst="rect">
            <a:avLst/>
          </a:prstGeom>
        </p:spPr>
      </p:pic>
      <p:sp>
        <p:nvSpPr>
          <p:cNvPr id="17" name="Text 12"/>
          <p:cNvSpPr txBox="1"/>
          <p:nvPr/>
        </p:nvSpPr>
        <p:spPr>
          <a:xfrm>
            <a:off x="548640" y="5440680"/>
            <a:ext cx="5669280" cy="640080"/>
          </a:xfrm>
          <a:prstGeom prst="rect">
            <a:avLst/>
          </a:prstGeom>
          <a:noFill/>
          <a:ln/>
        </p:spPr>
        <p:txBody>
          <a:bodyPr wrap="square" lIns="0" tIns="0" rIns="0" bIns="0" rtlCol="0" anchor="t"/>
          <a:lstStyle/>
          <a:p>
            <a:pPr indent="0" marL="0">
              <a:buNone/>
            </a:pPr>
            <a:r>
              <a:rPr lang="en-US" sz="1200" i="1" dirty="0">
                <a:solidFill>
                  <a:srgbClr val="A9C4EE"/>
                </a:solidFill>
                <a:latin typeface="Calibri" pitchFamily="34" charset="0"/>
                <a:ea typeface="Calibri" pitchFamily="34" charset="-122"/>
                <a:cs typeface="Calibri" pitchFamily="34" charset="-120"/>
              </a:rPr>
              <a:t>Concept visuals are AI-generated and not recorded gameplay. The blockout is a real simulation, not a game build.</a:t>
            </a:r>
            <a:endParaRPr lang="en-US" sz="1200" dirty="0"/>
          </a:p>
        </p:txBody>
      </p:sp>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4E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Closing backdrop" descr="Concept visual: four cubes race along an ice track above a blue void">    </p:cNvPr>
          <p:cNvPicPr>
            <a:picLocks noChangeAspect="1"/>
          </p:cNvPicPr>
          <p:nvPr/>
        </p:nvPicPr>
        <p:blipFill>
          <a:blip r:embed="rId1"/>
          <a:srcRect l="0" r="0" t="0" b="0"/>
          <a:stretch/>
        </p:blipFill>
        <p:spPr>
          <a:xfrm>
            <a:off x="0" y="0"/>
            <a:ext cx="12191695" cy="6858000"/>
          </a:xfrm>
          <a:prstGeom prst="rect">
            <a:avLst/>
          </a:prstGeom>
        </p:spPr>
      </p:pic>
      <p:sp>
        <p:nvSpPr>
          <p:cNvPr id="3" name="Backdrop scrim"/>
          <p:cNvSpPr/>
          <p:nvPr/>
        </p:nvSpPr>
        <p:spPr>
          <a:xfrm>
            <a:off x="0" y="0"/>
            <a:ext cx="12191695" cy="6858000"/>
          </a:xfrm>
          <a:prstGeom prst="rect">
            <a:avLst/>
          </a:prstGeom>
          <a:solidFill>
            <a:schemeClr val="tx1">
              <a:alpha val="82000"/>
            </a:schemeClr>
          </a:solidFill>
          <a:ln w="12700">
            <a:solidFill>
              <a:schemeClr val="tx1"/>
            </a:solidFill>
            <a:prstDash val="solid"/>
          </a:ln>
        </p:spPr>
      </p:sp>
      <p:sp>
        <p:nvSpPr>
          <p:cNvPr id="4" name="Closing line"/>
          <p:cNvSpPr txBox="1"/>
          <p:nvPr/>
        </p:nvSpPr>
        <p:spPr>
          <a:xfrm>
            <a:off x="548640" y="1737360"/>
            <a:ext cx="11064240" cy="2103120"/>
          </a:xfrm>
          <a:prstGeom prst="rect">
            <a:avLst/>
          </a:prstGeom>
          <a:noFill/>
          <a:ln/>
        </p:spPr>
        <p:txBody>
          <a:bodyPr wrap="square" lIns="0" tIns="0" rIns="0" bIns="0" rtlCol="0" anchor="ctr"/>
          <a:lstStyle/>
          <a:p>
            <a:pPr indent="0" marL="0">
              <a:buNone/>
            </a:pPr>
            <a:r>
              <a:rPr lang="en-US" sz="5800" b="1" dirty="0">
                <a:solidFill>
                  <a:schemeClr val="bg1"/>
                </a:solidFill>
                <a:latin typeface="Georgia" pitchFamily="34" charset="0"/>
                <a:ea typeface="Georgia" pitchFamily="34" charset="-122"/>
                <a:cs typeface="Georgia" pitchFamily="34" charset="-120"/>
              </a:rPr>
              <a:t>Throw a little. </a:t>
            </a:r>
            <a:pPr indent="0" marL="0">
              <a:buNone/>
            </a:pPr>
            <a:r>
              <a:rPr lang="en-US" sz="5800" b="1" i="1" dirty="0">
                <a:solidFill>
                  <a:schemeClr val="accent1"/>
                </a:solidFill>
                <a:latin typeface="Georgia" pitchFamily="34" charset="0"/>
                <a:ea typeface="Georgia" pitchFamily="34" charset="-122"/>
                <a:cs typeface="Georgia" pitchFamily="34" charset="-120"/>
              </a:rPr>
              <a:t>Lose a little.</a:t>
            </a:r>
            <a:endParaRPr lang="en-US" sz="5800" dirty="0"/>
          </a:p>
          <a:p>
            <a:pPr indent="0" marL="0">
              <a:buNone/>
            </a:pPr>
            <a:r>
              <a:rPr lang="en-US" sz="5800" b="1" dirty="0">
                <a:solidFill>
                  <a:schemeClr val="bg1"/>
                </a:solidFill>
                <a:latin typeface="Georgia" pitchFamily="34" charset="0"/>
                <a:ea typeface="Georgia" pitchFamily="34" charset="-122"/>
                <a:cs typeface="Georgia" pitchFamily="34" charset="-120"/>
              </a:rPr>
              <a:t>Win it all.</a:t>
            </a:r>
            <a:endParaRPr lang="en-US" sz="5800" dirty="0"/>
          </a:p>
        </p:txBody>
      </p:sp>
      <p:sp>
        <p:nvSpPr>
          <p:cNvPr id="5" name="Text 2"/>
          <p:cNvSpPr txBox="1"/>
          <p:nvPr/>
        </p:nvSpPr>
        <p:spPr>
          <a:xfrm>
            <a:off x="548640" y="4114800"/>
            <a:ext cx="7315200" cy="548640"/>
          </a:xfrm>
          <a:prstGeom prst="rect">
            <a:avLst/>
          </a:prstGeom>
          <a:noFill/>
          <a:ln/>
        </p:spPr>
        <p:txBody>
          <a:bodyPr wrap="square" lIns="0" tIns="0" rIns="0" bIns="0" rtlCol="0" anchor="ctr"/>
          <a:lstStyle/>
          <a:p>
            <a:pPr indent="0" marL="0">
              <a:buNone/>
            </a:pPr>
            <a:r>
              <a:rPr lang="en-US" sz="2600" dirty="0">
                <a:solidFill>
                  <a:schemeClr val="bg1"/>
                </a:solidFill>
                <a:latin typeface="Calibri" pitchFamily="34" charset="0"/>
                <a:ea typeface="Calibri" pitchFamily="34" charset="-122"/>
                <a:cs typeface="Calibri" pitchFamily="34" charset="-120"/>
              </a:rPr>
              <a:t>Thank you — questions?</a:t>
            </a:r>
            <a:endParaRPr lang="en-US" sz="2600" dirty="0"/>
          </a:p>
        </p:txBody>
      </p:sp>
      <p:sp>
        <p:nvSpPr>
          <p:cNvPr id="6" name="Text 3"/>
          <p:cNvSpPr txBox="1"/>
          <p:nvPr/>
        </p:nvSpPr>
        <p:spPr>
          <a:xfrm>
            <a:off x="548640" y="5989320"/>
            <a:ext cx="10972800" cy="365760"/>
          </a:xfrm>
          <a:prstGeom prst="rect">
            <a:avLst/>
          </a:prstGeom>
          <a:noFill/>
          <a:ln/>
        </p:spPr>
        <p:txBody>
          <a:bodyPr wrap="square" lIns="0" tIns="0" rIns="0" bIns="0" rtlCol="0" anchor="ctr"/>
          <a:lstStyle/>
          <a:p>
            <a:pPr indent="0" marL="0">
              <a:buNone/>
            </a:pPr>
            <a:r>
              <a:rPr lang="en-US" sz="1400" dirty="0">
                <a:solidFill>
                  <a:srgbClr val="A9C4EE"/>
                </a:solidFill>
                <a:latin typeface="Calibri" pitchFamily="34" charset="0"/>
                <a:ea typeface="Calibri" pitchFamily="34" charset="-122"/>
                <a:cs typeface="Calibri" pitchFamily="34" charset="-120"/>
              </a:rPr>
              <a:t>Ezel Bayraktar · Abdurrahim Özağaç · Kürşat Hürkan Aydın · Ardıl Bilal Ülkü</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chemeClr val="accent5"/>
                </a:solidFill>
                <a:latin typeface="Calibri" pitchFamily="34" charset="0"/>
                <a:ea typeface="Calibri" pitchFamily="34" charset="-122"/>
                <a:cs typeface="Calibri" pitchFamily="34" charset="-120"/>
              </a:rPr>
              <a:t>APPENDIX / SOURCES AND CAVEATS</a:t>
            </a:r>
            <a:endParaRPr lang="en-US" sz="1200" dirty="0"/>
          </a:p>
        </p:txBody>
      </p:sp>
      <p:sp>
        <p:nvSpPr>
          <p:cNvPr id="3" name="Text 1"/>
          <p:cNvSpPr/>
          <p:nvPr>
            <p:ph idx="105" type="title" hasCustomPrompt="1"/>
          </p:nvPr>
        </p:nvSpPr>
        <p:spPr>
          <a:xfrm>
            <a:off x="548640" y="713232"/>
            <a:ext cx="11094415" cy="914400"/>
          </a:xfrm>
          <a:prstGeom prst="rect">
            <a:avLst/>
          </a:prstGeom>
          <a:noFill/>
          <a:ln/>
        </p:spPr>
        <p:txBody>
          <a:bodyPr wrap="square" lIns="0" tIns="0" rIns="0" bIns="0" rtlCol="0" anchor="t"/>
          <a:lstStyle/>
          <a:p>
            <a:pPr algn="l" indent="0" marL="0">
              <a:buNone/>
            </a:pPr>
            <a:r>
              <a:rPr lang="en-US" sz="3600" b="1" dirty="0">
                <a:solidFill>
                  <a:schemeClr val="tx1"/>
                </a:solidFill>
                <a:latin typeface="Georgia" pitchFamily="34" charset="0"/>
                <a:ea typeface="Georgia" pitchFamily="34" charset="-122"/>
                <a:cs typeface="Georgia" pitchFamily="34" charset="-120"/>
              </a:rPr>
              <a:t>Sources and caveats</a:t>
            </a:r>
            <a:endParaRPr lang="en-US" sz="3600" dirty="0"/>
          </a:p>
        </p:txBody>
      </p:sp>
      <p:sp>
        <p:nvSpPr>
          <p:cNvPr id="4" name="Text 2"/>
          <p:cNvSpPr txBox="1"/>
          <p:nvPr/>
        </p:nvSpPr>
        <p:spPr>
          <a:xfrm>
            <a:off x="548640" y="1737360"/>
            <a:ext cx="5669280" cy="4114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Newzoo 2025 market report, via GameDev Reports (26 Jun 2026)</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Alinea Analytics: co-op H1 2025 and 2025 year in review (Aug and Dec 2025)</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ESA Essential Facts 2026 (survey Feb 2026, n = 13,545)</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Steam store search, SteamDB, SteamCharts, Raijin (all pulled 17 Oct 2026)</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Nintendo IR top-selling titles (as of 30 Jun 2026)</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Fall Guys: Mediatonic via Vandal (Dec 2020), Shacknews (Jul 2022)</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Splatoon 3 and Party Animals pages, Prima Games, Push Square (Bomberman precedent)</a:t>
            </a:r>
            <a:endParaRPr lang="en-US" sz="1400" dirty="0"/>
          </a:p>
        </p:txBody>
      </p:sp>
      <p:sp>
        <p:nvSpPr>
          <p:cNvPr id="5" name="Shape 3"/>
          <p:cNvSpPr/>
          <p:nvPr/>
        </p:nvSpPr>
        <p:spPr>
          <a:xfrm>
            <a:off x="6583680" y="1737360"/>
            <a:ext cx="5056632" cy="4206240"/>
          </a:xfrm>
          <a:prstGeom prst="roundRect">
            <a:avLst>
              <a:gd name="adj" fmla="val 3913"/>
            </a:avLst>
          </a:prstGeom>
          <a:solidFill>
            <a:schemeClr val="bg1"/>
          </a:solidFill>
          <a:ln w="12700">
            <a:solidFill>
              <a:schemeClr val="bg1"/>
            </a:solidFill>
            <a:prstDash val="solid"/>
          </a:ln>
          <a:effectLst>
            <a:outerShdw sx="100000" sy="100000" kx="0" ky="0" algn="bl" rotWithShape="0" blurRad="177800" dist="38100" dir="5400000">
              <a:srgbClr val="0A1E4A">
                <a:alpha val="20000"/>
              </a:srgbClr>
            </a:outerShdw>
          </a:effectLst>
        </p:spPr>
      </p:sp>
      <p:sp>
        <p:nvSpPr>
          <p:cNvPr id="6" name="Text 4"/>
          <p:cNvSpPr txBox="1"/>
          <p:nvPr/>
        </p:nvSpPr>
        <p:spPr>
          <a:xfrm>
            <a:off x="6858000" y="1874520"/>
            <a:ext cx="2743200" cy="274320"/>
          </a:xfrm>
          <a:prstGeom prst="rect">
            <a:avLst/>
          </a:prstGeom>
          <a:noFill/>
          <a:ln/>
        </p:spPr>
        <p:txBody>
          <a:bodyPr wrap="square" lIns="0" tIns="0" rIns="0" bIns="0" rtlCol="0" anchor="ctr"/>
          <a:lstStyle/>
          <a:p>
            <a:pPr indent="0" marL="0">
              <a:buNone/>
            </a:pPr>
            <a:r>
              <a:rPr lang="en-US" sz="1200" b="1" spc="300" kern="0" dirty="0">
                <a:solidFill>
                  <a:schemeClr val="accent5"/>
                </a:solidFill>
                <a:latin typeface="Calibri" pitchFamily="34" charset="0"/>
                <a:ea typeface="Calibri" pitchFamily="34" charset="-122"/>
                <a:cs typeface="Calibri" pitchFamily="34" charset="-120"/>
              </a:rPr>
              <a:t>CAVEATS</a:t>
            </a:r>
            <a:endParaRPr lang="en-US" sz="1200" dirty="0"/>
          </a:p>
        </p:txBody>
      </p:sp>
      <p:sp>
        <p:nvSpPr>
          <p:cNvPr id="7" name="Text 5"/>
          <p:cNvSpPr txBox="1"/>
          <p:nvPr/>
        </p:nvSpPr>
        <p:spPr>
          <a:xfrm>
            <a:off x="6858000" y="2240280"/>
            <a:ext cx="457200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Raijin sales numbers are model estimates and change between snapshots.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Steam tags are user-applied; counts include unreleased titles.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All imagery is AI-generated concept art or simulation, not gameplay from a build.</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Tuning values are starting points for playtesting.</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The full research file with every source link is in the project folder.</a:t>
            </a:r>
            <a:endParaRPr lang="en-US" sz="1400" dirty="0"/>
          </a:p>
        </p:txBody>
      </p:sp>
      <p:sp>
        <p:nvSpPr>
          <p:cNvPr id="25" name="Slide Number Placeholder 0"/>
          <p:cNvSpPr>
            <a:spLocks noGrp="1"/>
          </p:cNvSpPr>
          <p:nvPr>
            <p:ph type="sldNum" sz="quarter" idx="4294967295"/>
          </p:nvPr>
        </p:nvSpPr>
        <p:spPr>
          <a:xfrm>
            <a:off x="11064240" y="6382512"/>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F8A"/>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Ice Rumble">
  <a:themeElements>
    <a:clrScheme name="Ice Rumble">
      <a:dk1>
        <a:srgbClr val="081A3E"/>
      </a:dk1>
      <a:lt1>
        <a:srgbClr val="FFFFFF"/>
      </a:lt1>
      <a:dk2>
        <a:srgbClr val="123C8F"/>
      </a:dk2>
      <a:lt2>
        <a:srgbClr val="E8F3FD"/>
      </a:lt2>
      <a:accent1>
        <a:srgbClr val="FF7A1A"/>
      </a:accent1>
      <a:accent2>
        <a:srgbClr val="27B8F0"/>
      </a:accent2>
      <a:accent3>
        <a:srgbClr val="3EC43A"/>
      </a:accent3>
      <a:accent4>
        <a:srgbClr val="8B4FE3"/>
      </a:accent4>
      <a:accent5>
        <a:srgbClr val="1457D6"/>
      </a:accent5>
      <a:accent6>
        <a:srgbClr val="FFC83D"/>
      </a:accent6>
      <a:hlink>
        <a:srgbClr val="1457D6"/>
      </a:hlink>
      <a:folHlink>
        <a:srgbClr val="8B4FE3"/>
      </a:folHlink>
    </a:clrScheme>
    <a:fontScheme name="Ice Rumbl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Ice Rumble — Project Proposal</dc:title>
  <dc:subject>CMP406 GameTech F26 — game proposal</dc:subject>
  <dc:creator>Ezel Bayraktar, Abdurrahim Özağaç, Kürşat Hürkan Aydın, Ardıl Bilal Ülkü</dc:creator>
  <cp:lastModifiedBy>Ezel Bayraktar, Abdurrahim Özağaç, Kürşat Hürkan Aydın, Ardıl Bilal Ülkü</cp:lastModifiedBy>
  <cp:revision>1</cp:revision>
  <dcterms:created xsi:type="dcterms:W3CDTF">2026-10-17T06:20:46Z</dcterms:created>
  <dcterms:modified xsi:type="dcterms:W3CDTF">2026-10-17T06:20:46Z</dcterms:modified>
</cp:coreProperties>
</file>