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85c3772-1a38-5f7f-ca4b-8ff12ea59da9}">
          <p14:sldIdLst>
            <p14:sldId id="256"/>
            <p14:sldId id="257"/>
            <p14:sldId id="258"/>
          </p14:sldIdLst>
        </p14:section>
        <p14:section name="Mechanics" id="{30a7f283-87ef-abb4-7fd9-a6dd0122e707}">
          <p14:sldIdLst>
            <p14:sldId id="259"/>
            <p14:sldId id="260"/>
            <p14:sldId id="261"/>
            <p14:sldId id="262"/>
            <p14:sldId id="263"/>
            <p14:sldId id="264"/>
            <p14:sldId id="265"/>
          </p14:sldIdLst>
        </p14:section>
        <p14:section name="Innovation" id="{bbcd70e9-5963-efad-d39a-9e99dccb8377}">
          <p14:sldIdLst>
            <p14:sldId id="266"/>
            <p14:sldId id="267"/>
          </p14:sldIdLst>
        </p14:section>
        <p14:section name="Market" id="{92053f06-c39b-5587-e13a-ba19cb37b751}">
          <p14:sldIdLst>
            <p14:sldId id="268"/>
            <p14:sldId id="269"/>
            <p14:sldId id="270"/>
          </p14:sldIdLst>
        </p14:section>
        <p14:section name="Plan" id="{c45ed91d-c70a-4e75-119c-02c41a117b4f}">
          <p14:sldIdLst>
            <p14:sldId id="271"/>
            <p14:sldId id="272"/>
            <p14:sldId id="273"/>
          </p14:sldIdLst>
        </p14:section>
        <p14:section name="Appendix" id="{548ecdd9-5a55-e723-d10a-2a7aac1af924}">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Knockback</c:v>
                </c:pt>
              </c:strCache>
            </c:strRef>
          </c:tx>
          <c:spPr>
            <a:solidFill>
              <a:srgbClr val="FF5A1F"/>
            </a:solidFill>
            <a:ln w="38100" cap="flat">
              <a:solidFill>
                <a:srgbClr val="FF5A1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FF5A1F"/>
              </a:solidFill>
              <a:ln w="9525" cap="flat">
                <a:solidFill>
                  <a:srgbClr val="FF5A1F"/>
                </a:solidFill>
                <a:prstDash val="solid"/>
                <a:round/>
              </a:ln>
              <a:effectLst/>
            </c:spPr>
          </c:marker>
          <c:cat>
            <c:multiLvlStrRef>
              <c:f>Sheet1!$A$2:$A$9</c:f>
              <c:multiLvlStrCache>
                <c:ptCount val="8"/>
                <c:lvl>
                  <c:pt idx="0">
                    <c:v>Full mass</c:v>
                  </c:pt>
                  <c:pt idx="1">
                    <c:v/>
                  </c:pt>
                  <c:pt idx="2">
                    <c:v/>
                  </c:pt>
                  <c:pt idx="3">
                    <c:v/>
                  </c:pt>
                  <c:pt idx="4">
                    <c:v/>
                  </c:pt>
                  <c:pt idx="5">
                    <c:v/>
                  </c:pt>
                  <c:pt idx="6">
                    <c:v/>
                  </c:pt>
                  <c:pt idx="7">
                    <c:v>Minimum</c:v>
                  </c:pt>
                </c:lvl>
              </c:multiLvlStrCache>
            </c:multiLvlStrRef>
          </c:cat>
          <c:val>
            <c:numRef>
              <c:f>Sheet1!$B$2:$B$9</c:f>
              <c:numCache>
                <c:formatCode>General</c:formatCode>
                <c:ptCount val="8"/>
                <c:pt idx="0">
                  <c:v>1</c:v>
                </c:pt>
                <c:pt idx="1">
                  <c:v>1.0526315789473684</c:v>
                </c:pt>
                <c:pt idx="2">
                  <c:v>1.1111111111111112</c:v>
                </c:pt>
                <c:pt idx="3">
                  <c:v>1.1764705882352942</c:v>
                </c:pt>
                <c:pt idx="4">
                  <c:v>1.25</c:v>
                </c:pt>
                <c:pt idx="5">
                  <c:v>1.3333333333333333</c:v>
                </c:pt>
                <c:pt idx="6">
                  <c:v>1.4285714285714286</c:v>
                </c:pt>
                <c:pt idx="7">
                  <c:v>1.5384615384615383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8D3C8"/>
            </a:solidFill>
            <a:prstDash val="solid"/>
            <a:round/>
          </a:ln>
        </c:spPr>
        <c:txPr>
          <a:bodyPr/>
          <a:lstStyle/>
          <a:p>
            <a:pPr>
              <a:defRPr sz="1000" b="0" i="0" u="none" strike="noStrike">
                <a:solidFill>
                  <a:srgbClr val="5C616B"/>
                </a:solidFill>
                <a:latin typeface="+mn-lt"/>
              </a:defRPr>
            </a:pPr>
            <a:endParaRPr lang="en-US"/>
          </a:p>
        </c:txPr>
        <c:crossAx val="2094734552"/>
        <c:crosses val="autoZero"/>
        <c:auto val="1"/>
        <c:lblAlgn val="ctr"/>
        <c:noMultiLvlLbl val="1"/>
      </c:catAx>
      <c:valAx>
        <c:axId val="2094734552"/>
        <c:scaling>
          <c:orientation val="minMax"/>
          <c:max val="1.6"/>
          <c:min val="0.9"/>
        </c:scaling>
        <c:delete val="1"/>
        <c:axPos val="l"/>
        <c:majorGridlines>
          <c:spPr>
            <a:ln w="6350" cap="flat">
              <a:solidFill>
                <a:srgbClr val="EEEA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Other</c:v>
                </c:pt>
              </c:strCache>
            </c:strRef>
          </c:tx>
          <c:spPr>
            <a:solidFill>
              <a:srgbClr val="A7A39A"/>
            </a:solidFill>
            <a:effectLst/>
          </c:spPr>
          <c:invertIfNegative val="0"/>
          <c:dLbls>
            <c:numFmt formatCode="#,##0;;;" sourceLinked="0"/>
            <c:txPr>
              <a:bodyPr/>
              <a:lstStyle/>
              <a:p>
                <a:pPr>
                  <a:defRPr b="1"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Sheet1!$A$2:$A$4</c:f>
              <c:multiLvlStrCache>
                <c:ptCount val="3"/>
                <c:lvl>
                  <c:pt idx="0">
                    <c:v>Online PvP</c:v>
                  </c:pt>
                  <c:pt idx="1">
                    <c:v>Split-screen PvP</c:v>
                  </c:pt>
                  <c:pt idx="2">
                    <c:v>LAN PvP</c:v>
                  </c:pt>
                </c:lvl>
              </c:multiLvlStrCache>
            </c:multiLvlStrRef>
          </c:cat>
          <c:val>
            <c:numRef>
              <c:f>Sheet1!$B$2:$B$4</c:f>
              <c:numCache>
                <c:formatCode>General</c:formatCode>
                <c:ptCount val="3"/>
                <c:pt idx="0">
                  <c:v>1870</c:v>
                </c:pt>
                <c:pt idx="1">
                  <c:v>1017</c:v>
                </c:pt>
                <c:pt idx="2">
                  <c:v>0</c:v>
                </c:pt>
              </c:numCache>
            </c:numRef>
          </c:val>
        </c:ser>
        <c:ser>
          <c:idx val="1"/>
          <c:order val="1"/>
          <c:tx>
            <c:strRef>
              <c:f>Sheet1!$C$1</c:f>
              <c:strCache>
                <c:ptCount val="1"/>
                <c:pt idx="0">
                  <c:v>LAN</c:v>
                </c:pt>
              </c:strCache>
            </c:strRef>
          </c:tx>
          <c:spPr>
            <a:solidFill>
              <a:srgbClr val="FF5A1F"/>
            </a:solidFill>
            <a:effectLst/>
          </c:spPr>
          <c:invertIfNegative val="0"/>
          <c:dLbls>
            <c:numFmt formatCode="#,##0;;;" sourceLinked="0"/>
            <c:txPr>
              <a:bodyPr/>
              <a:lstStyle/>
              <a:p>
                <a:pPr>
                  <a:defRPr b="1"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Sheet1!$A$2:$A$4</c:f>
              <c:multiLvlStrCache>
                <c:ptCount val="3"/>
                <c:lvl>
                  <c:pt idx="0">
                    <c:v>Online PvP</c:v>
                  </c:pt>
                  <c:pt idx="1">
                    <c:v>Split-screen PvP</c:v>
                  </c:pt>
                  <c:pt idx="2">
                    <c:v>LAN PvP</c:v>
                  </c:pt>
                </c:lvl>
              </c:multiLvlStrCache>
            </c:multiLvlStrRef>
          </c:cat>
          <c:val>
            <c:numRef>
              <c:f>Sheet1!$C$2:$C$4</c:f>
              <c:numCache>
                <c:formatCode>General</c:formatCode>
                <c:ptCount val="3"/>
                <c:pt idx="0">
                  <c:v>0</c:v>
                </c:pt>
                <c:pt idx="1">
                  <c:v>0</c:v>
                </c:pt>
                <c:pt idx="2">
                  <c:v>292</c:v>
                </c:pt>
              </c:numCache>
            </c:numRef>
          </c:val>
        </c:ser>
        <c:dLbls>
          <c:numFmt formatCode="#,##0;;;" sourceLinked="0"/>
          <c:txPr>
            <a:bodyPr/>
            <a:lstStyle/>
            <a:p>
              <a:pPr>
                <a:defRPr b="1" i="0" strike="noStrike" sz="1100" u="none">
                  <a:solidFill>
                    <a:srgbClr val="FFFFFF"/>
                  </a:solidFill>
                  <a:latin typeface="+mn-lt"/>
                </a:defRPr>
              </a:pPr>
            </a:p>
          </c:txPr>
          <c:dLblPos val="inEnd"/>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4161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Ice Rumble is a working title. It is a party game for two to four players on one local network: short physics mini-games, with points carried on one scoreboard. All images in this deck are AI concept renders made from our own reference art; none of them is gameplay.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Plain-language summary. Who: two to four friends, each on a PC, in the same room, one PC hosts. What: a session is a run of short mini-games; your place in each round gives points; the scoreboard decides the night. Scope: two mini-games for the course, both built on the same shared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session loop. The host owns the lobby and the round order. Only points carry over between rounds; mass and position reset, so a bad round never makes the next one harder. We also plan catch-up scoring: whoever won the last round earns slightly fewer points in the next one, and whoever came last earns slightly more, so trailing players stay in contention until the final. Placement points 4, 3, 2, 1 and the size of the adjustment are proposals we will tune in playtests.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resource does three jobs. Shooting spends it, getting hit loses it, and the less you have, the further you fly. We present the rule, not the numbers: the exact costs are tuning values we will set in playtests.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rule charges both sides. If only the shooter paid, hiding would win. If only the target paid, spamming would win. Charging both makes each shot a trade that only pays off when it lands, so aim and timing become the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obvious objection: shooting costs mass, so why not just wait? A waiting cube does stay heavy and hard to push. But points come from knockouts, not survival, so waiting scores nothing. Respawning at full mass stops snowballing, and a short timer removes the stall. If playtests still show stalling, we have two fallbacks: shrink the arena, or let cubes re-absorb spent globs.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Mass Knockout. One flat platform with open edges. Spitting costs you mass; hits cost the target mass and push it; lighter cubes fly further. The last cube to hit someone gets the knockout. Rounds are timed and ranked by knockouts. Respawns are at full mass.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Ice Race. No shooting here; the skill is momentum. Input sets acceleration, sideways grip is low, so you have to set up corners early. Falling sends you back to the last checkpoint. Finish order gives placement, and anyone unfinished at the timeout is ranked by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The mini-games sit on top of a shared core. Each one implements the same small contract: set up with the players, run, report placement. Below that sit the character, camera, round state machine, scoreboard and lobby, then the LAN layer, where the host is authoritative. Unity Netcode for GameObjects is our candidate library, not a final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throw end to end. The client only sends intent. The host checks the cooldown, takes mass from the shooter, simulates the glob, applies the hit and knockback, and sends one snapshot to everyone. Clients interpolate. Own movement is predicted locally for feel; anything that decides a result lives on the 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framework, not a finished design. Characters can differ in starting mass and speed. Weight classes are common in the genre; what is different here is that mass is also ammunition, so a heavy build has more shots and a light build fewer. We would tune this after the two MVP mini-games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rule is that losing mass makes the next incoming hit launch you further. We searched for this and did not find it in any shipped game. The other links have relatives, and we name them: Osmos and Agar.io spend body mass, but to move; Squarena shrinks you as you lose health, in 2D; Morphies Law moves mass between robots; Crisol spends your blood as ammunition. Smash Bros. raises knockback with a percentage counter, not with mass. Mass Knockout puts all four links on one physical value that the player can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potential. PC is a 43.6 billion dollar market that grew 12 percent in 2025; games with co-op made an estimated 4.1 billion on Steam in the first half of 2025; most players play with others. Only about 8 percent of Steam party games list LAN. Revenue is very uneven: most releases earn little, but thousands pass 100 thousand dollars. LAN is how we stand out, not why people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comparables, each chosen for one reason. Party Animals and Gang Beasts share our audience and physics comedy. Fall Guys and Pummel Party share our session format of short rounds. Squarena is the closest mechanic: it shrinks you as you lose health, in 2D. Owner numbers are third-party estimates and we label them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Positioning. Each competitor covers part of this table. Squarena is the only one where damage changes your size, and none ties knockback to lost mass. None advertises official LAN. The Ice Rumble column is our plan, not shipped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Drafts and prototypes. Left: a real prototype, a deterministic physics simulation of the Mass Knockout rule, which showed the escalating knockback reads clearly. Right: four art-direction drafts for the same character. The concept renders in this deck follow the glossy-toy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order. The shared core comes first, then the LAN layer, then the two mini-games, with Mass Knockout highlighted as the riskier one, then the session loop and tuning. Milestone dates and owners are still to be decided. Three main risks, each with its mitigation.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a LAN party game, two mini-games on one shared core, and one rule that makes every shot a trade.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research notes with all sources are in research/market-research.md.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PER">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548640" y="713232"/>
            <a:ext cx="11094415" cy="0"/>
          </a:xfrm>
          <a:prstGeom prst="line">
            <a:avLst/>
          </a:prstGeom>
          <a:noFill/>
          <a:ln w="9525">
            <a:solidFill>
              <a:srgbClr val="D8D3C8"/>
            </a:solidFill>
            <a:prstDash val="solid"/>
          </a:ln>
        </p:spPr>
      </p:sp>
      <p:sp>
        <p:nvSpPr>
          <p:cNvPr id="3" name="Text 1"/>
          <p:cNvSpPr/>
          <p:nvPr/>
        </p:nvSpPr>
        <p:spPr>
          <a:xfrm>
            <a:off x="7680960" y="384048"/>
            <a:ext cx="3291840" cy="237744"/>
          </a:xfrm>
          <a:prstGeom prst="rect">
            <a:avLst/>
          </a:prstGeom>
          <a:noFill/>
          <a:ln/>
        </p:spPr>
        <p:txBody>
          <a:bodyPr wrap="square" lIns="0" tIns="0" rIns="0" bIns="0" rtlCol="0" anchor="ctr"/>
          <a:lstStyle/>
          <a:p>
            <a:pPr algn="r" indent="0" marL="0">
              <a:buNone/>
            </a:pPr>
            <a:r>
              <a:rPr lang="en-US" sz="900" spc="100" kern="0" dirty="0">
                <a:solidFill>
                  <a:srgbClr val="5C616B"/>
                </a:solidFill>
                <a:latin typeface="Courier New" pitchFamily="34" charset="0"/>
                <a:ea typeface="Courier New" pitchFamily="34" charset="-122"/>
                <a:cs typeface="Courier New" pitchFamily="34" charset="-120"/>
              </a:rPr>
              <a:t>ICE RUMBLE  /  GAME PROPOSAL</a:t>
            </a:r>
            <a:endParaRPr lang="en-US" sz="900" dirty="0"/>
          </a:p>
        </p:txBody>
      </p:sp>
      <p:sp>
        <p:nvSpPr>
          <p:cNvPr id="4" name="Shape 2"/>
          <p:cNvSpPr/>
          <p:nvPr/>
        </p:nvSpPr>
        <p:spPr>
          <a:xfrm>
            <a:off x="548640" y="6446520"/>
            <a:ext cx="100584" cy="100584"/>
          </a:xfrm>
          <a:prstGeom prst="rect">
            <a:avLst/>
          </a:prstGeom>
          <a:solidFill>
            <a:srgbClr val="FF5A1F"/>
          </a:solidFill>
          <a:ln w="12700">
            <a:solidFill>
              <a:srgbClr val="FF5A1F"/>
            </a:solidFill>
            <a:prstDash val="solid"/>
          </a:ln>
        </p:spPr>
      </p:sp>
      <p:sp>
        <p:nvSpPr>
          <p:cNvPr id="5" name="Shape 3"/>
          <p:cNvSpPr/>
          <p:nvPr/>
        </p:nvSpPr>
        <p:spPr>
          <a:xfrm>
            <a:off x="704088" y="6446520"/>
            <a:ext cx="100584" cy="100584"/>
          </a:xfrm>
          <a:prstGeom prst="rect">
            <a:avLst/>
          </a:prstGeom>
          <a:solidFill>
            <a:srgbClr val="1EA5E6"/>
          </a:solidFill>
          <a:ln w="12700">
            <a:solidFill>
              <a:srgbClr val="1EA5E6"/>
            </a:solidFill>
            <a:prstDash val="solid"/>
          </a:ln>
        </p:spPr>
      </p:sp>
      <p:sp>
        <p:nvSpPr>
          <p:cNvPr id="6" name="Shape 4"/>
          <p:cNvSpPr/>
          <p:nvPr/>
        </p:nvSpPr>
        <p:spPr>
          <a:xfrm>
            <a:off x="859536" y="6446520"/>
            <a:ext cx="100584" cy="100584"/>
          </a:xfrm>
          <a:prstGeom prst="rect">
            <a:avLst/>
          </a:prstGeom>
          <a:solidFill>
            <a:srgbClr val="3DB83A"/>
          </a:solidFill>
          <a:ln w="12700">
            <a:solidFill>
              <a:srgbClr val="3DB83A"/>
            </a:solidFill>
            <a:prstDash val="solid"/>
          </a:ln>
        </p:spPr>
      </p:sp>
      <p:sp>
        <p:nvSpPr>
          <p:cNvPr id="7" name="Shape 5"/>
          <p:cNvSpPr/>
          <p:nvPr/>
        </p:nvSpPr>
        <p:spPr>
          <a:xfrm>
            <a:off x="1014984" y="6446520"/>
            <a:ext cx="100584" cy="100584"/>
          </a:xfrm>
          <a:prstGeom prst="rect">
            <a:avLst/>
          </a:prstGeom>
          <a:solidFill>
            <a:srgbClr val="8048E0"/>
          </a:solidFill>
          <a:ln w="12700">
            <a:solidFill>
              <a:srgbClr val="8048E0"/>
            </a:solidFill>
            <a:prstDash val="solid"/>
          </a:ln>
        </p:spPr>
      </p:sp>
      <p:sp>
        <p:nvSpPr>
          <p:cNvPr id="8" name="Text 6"/>
          <p:cNvSpPr/>
          <p:nvPr/>
        </p:nvSpPr>
        <p:spPr>
          <a:xfrm>
            <a:off x="1280160" y="6382512"/>
            <a:ext cx="4572000" cy="237744"/>
          </a:xfrm>
          <a:prstGeom prst="rect">
            <a:avLst/>
          </a:prstGeom>
          <a:noFill/>
          <a:ln/>
        </p:spPr>
        <p:txBody>
          <a:bodyPr wrap="square" lIns="0" tIns="0" rIns="0" bIns="0" rtlCol="0" anchor="ctr"/>
          <a:lstStyle/>
          <a:p>
            <a:pPr indent="0" marL="0">
              <a:buNone/>
            </a:pPr>
            <a:r>
              <a:rPr lang="en-US" sz="850" spc="100" kern="0" dirty="0">
                <a:solidFill>
                  <a:srgbClr val="5C616B"/>
                </a:solidFill>
                <a:latin typeface="Courier New" pitchFamily="34" charset="0"/>
                <a:ea typeface="Courier New" pitchFamily="34" charset="-122"/>
                <a:cs typeface="Courier New" pitchFamily="34" charset="-120"/>
              </a:rPr>
              <a:t>CMP406 GAMETECH  ·  FALL 2026</a:t>
            </a:r>
            <a:endParaRPr lang="en-US" sz="850" dirty="0"/>
          </a:p>
        </p:txBody>
      </p:sp>
      <p:sp>
        <p:nvSpPr>
          <p:cNvPr id="9" name="Text 7"/>
          <p:cNvSpPr/>
          <p:nvPr>
            <p:ph idx="107" type="body" hasCustomPrompt="1"/>
          </p:nvPr>
        </p:nvSpPr>
        <p:spPr>
          <a:xfrm>
            <a:off x="548640" y="384048"/>
            <a:ext cx="6949440" cy="237744"/>
          </a:xfrm>
          <a:prstGeom prst="rect">
            <a:avLst/>
          </a:prstGeom>
          <a:noFill/>
          <a:ln/>
        </p:spPr>
        <p:txBody>
          <a:bodyPr wrap="square" rtlCol="0"/>
          <a:lstStyle>
            <a:lvl1pPr indent="0" marL="0">
              <a:buNone/>
              <a:defRPr lang="en-US" sz="950" b="1" spc="150" kern="0" dirty="0">
                <a:solidFill>
                  <a:schemeClr val="accent1"/>
                </a:solidFill>
                <a:latin typeface="Courier New" pitchFamily="34" charset="0"/>
                <a:ea typeface="Courier New" pitchFamily="34" charset="-122"/>
                <a:cs typeface="Courier New" pitchFamily="34" charset="-120"/>
              </a:defRPr>
            </a:lvl1pPr>
          </a:lstStyle>
          <a:p>
            <a:pPr indent="0" marL="0">
              <a:buNone/>
            </a:pPr>
            <a:endParaRPr lang="en-US" sz="950" dirty="0"/>
          </a:p>
        </p:txBody>
      </p:sp>
      <p:sp>
        <p:nvSpPr>
          <p:cNvPr id="10" name="Text 7"/>
          <p:cNvSpPr/>
          <p:nvPr>
            <p:ph idx="108" type="title" hasCustomPrompt="1"/>
          </p:nvPr>
        </p:nvSpPr>
        <p:spPr>
          <a:xfrm>
            <a:off x="548640" y="896112"/>
            <a:ext cx="11094415" cy="868680"/>
          </a:xfrm>
          <a:prstGeom prst="rect">
            <a:avLst/>
          </a:prstGeom>
          <a:noFill/>
          <a:ln/>
        </p:spPr>
        <p:txBody>
          <a:bodyPr wrap="square" rtlCol="0"/>
          <a:lstStyle>
            <a:lvl1pPr algn="l" indent="0" marL="0">
              <a:buNone/>
              <a:defRPr lang="en-US" sz="3000" b="1" dirty="0">
                <a:solidFill>
                  <a:schemeClr val="tx1"/>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64240" y="384048"/>
            <a:ext cx="576072"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5C616B"/>
                </a:solidFill>
                <a:latin typeface="Courier New"/>
                <a:ea typeface="Courier New"/>
                <a:cs typeface="Courier New"/>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K">
    <p:bg>
      <p:bgPr>
        <a:solidFill>
          <a:schemeClr val="tx1"/>
        </a:solidFill>
      </p:bgPr>
    </p:bg>
    <p:spTree>
      <p:nvGrpSpPr>
        <p:cNvPr id="1" name=""/>
        <p:cNvGrpSpPr/>
        <p:nvPr/>
      </p:nvGrpSpPr>
      <p:grpSpPr>
        <a:xfrm>
          <a:off x="0" y="0"/>
          <a:ext cx="0" cy="0"/>
          <a:chOff x="0" y="0"/>
          <a:chExt cx="0" cy="0"/>
        </a:xfrm>
      </p:grpSpPr>
      <p:sp>
        <p:nvSpPr>
          <p:cNvPr id="2" name="Shape 0"/>
          <p:cNvSpPr/>
          <p:nvPr/>
        </p:nvSpPr>
        <p:spPr>
          <a:xfrm>
            <a:off x="548640" y="713232"/>
            <a:ext cx="11094415" cy="0"/>
          </a:xfrm>
          <a:prstGeom prst="line">
            <a:avLst/>
          </a:prstGeom>
          <a:noFill/>
          <a:ln w="9525">
            <a:solidFill>
              <a:srgbClr val="3A3F4A"/>
            </a:solidFill>
            <a:prstDash val="solid"/>
          </a:ln>
        </p:spPr>
      </p:sp>
      <p:sp>
        <p:nvSpPr>
          <p:cNvPr id="3" name="Text 1"/>
          <p:cNvSpPr/>
          <p:nvPr/>
        </p:nvSpPr>
        <p:spPr>
          <a:xfrm>
            <a:off x="7680960" y="384048"/>
            <a:ext cx="3291840" cy="237744"/>
          </a:xfrm>
          <a:prstGeom prst="rect">
            <a:avLst/>
          </a:prstGeom>
          <a:noFill/>
          <a:ln/>
        </p:spPr>
        <p:txBody>
          <a:bodyPr wrap="square" lIns="0" tIns="0" rIns="0" bIns="0" rtlCol="0" anchor="ctr"/>
          <a:lstStyle/>
          <a:p>
            <a:pPr algn="r" indent="0" marL="0">
              <a:buNone/>
            </a:pPr>
            <a:r>
              <a:rPr lang="en-US" sz="900" spc="100" kern="0" dirty="0">
                <a:solidFill>
                  <a:srgbClr val="8E95A3"/>
                </a:solidFill>
                <a:latin typeface="Courier New" pitchFamily="34" charset="0"/>
                <a:ea typeface="Courier New" pitchFamily="34" charset="-122"/>
                <a:cs typeface="Courier New" pitchFamily="34" charset="-120"/>
              </a:rPr>
              <a:t>ICE RUMBLE  /  GAME PROPOSAL</a:t>
            </a:r>
            <a:endParaRPr lang="en-US" sz="900" dirty="0"/>
          </a:p>
        </p:txBody>
      </p:sp>
      <p:sp>
        <p:nvSpPr>
          <p:cNvPr id="4" name="Shape 2"/>
          <p:cNvSpPr/>
          <p:nvPr/>
        </p:nvSpPr>
        <p:spPr>
          <a:xfrm>
            <a:off x="548640" y="6446520"/>
            <a:ext cx="100584" cy="100584"/>
          </a:xfrm>
          <a:prstGeom prst="rect">
            <a:avLst/>
          </a:prstGeom>
          <a:solidFill>
            <a:srgbClr val="FF5A1F"/>
          </a:solidFill>
          <a:ln w="12700">
            <a:solidFill>
              <a:srgbClr val="FF5A1F"/>
            </a:solidFill>
            <a:prstDash val="solid"/>
          </a:ln>
        </p:spPr>
      </p:sp>
      <p:sp>
        <p:nvSpPr>
          <p:cNvPr id="5" name="Shape 3"/>
          <p:cNvSpPr/>
          <p:nvPr/>
        </p:nvSpPr>
        <p:spPr>
          <a:xfrm>
            <a:off x="704088" y="6446520"/>
            <a:ext cx="100584" cy="100584"/>
          </a:xfrm>
          <a:prstGeom prst="rect">
            <a:avLst/>
          </a:prstGeom>
          <a:solidFill>
            <a:srgbClr val="1EA5E6"/>
          </a:solidFill>
          <a:ln w="12700">
            <a:solidFill>
              <a:srgbClr val="1EA5E6"/>
            </a:solidFill>
            <a:prstDash val="solid"/>
          </a:ln>
        </p:spPr>
      </p:sp>
      <p:sp>
        <p:nvSpPr>
          <p:cNvPr id="6" name="Shape 4"/>
          <p:cNvSpPr/>
          <p:nvPr/>
        </p:nvSpPr>
        <p:spPr>
          <a:xfrm>
            <a:off x="859536" y="6446520"/>
            <a:ext cx="100584" cy="100584"/>
          </a:xfrm>
          <a:prstGeom prst="rect">
            <a:avLst/>
          </a:prstGeom>
          <a:solidFill>
            <a:srgbClr val="3DB83A"/>
          </a:solidFill>
          <a:ln w="12700">
            <a:solidFill>
              <a:srgbClr val="3DB83A"/>
            </a:solidFill>
            <a:prstDash val="solid"/>
          </a:ln>
        </p:spPr>
      </p:sp>
      <p:sp>
        <p:nvSpPr>
          <p:cNvPr id="7" name="Shape 5"/>
          <p:cNvSpPr/>
          <p:nvPr/>
        </p:nvSpPr>
        <p:spPr>
          <a:xfrm>
            <a:off x="1014984" y="6446520"/>
            <a:ext cx="100584" cy="100584"/>
          </a:xfrm>
          <a:prstGeom prst="rect">
            <a:avLst/>
          </a:prstGeom>
          <a:solidFill>
            <a:srgbClr val="8048E0"/>
          </a:solidFill>
          <a:ln w="12700">
            <a:solidFill>
              <a:srgbClr val="8048E0"/>
            </a:solidFill>
            <a:prstDash val="solid"/>
          </a:ln>
        </p:spPr>
      </p:sp>
      <p:sp>
        <p:nvSpPr>
          <p:cNvPr id="8" name="Text 6"/>
          <p:cNvSpPr/>
          <p:nvPr/>
        </p:nvSpPr>
        <p:spPr>
          <a:xfrm>
            <a:off x="1280160" y="6382512"/>
            <a:ext cx="4572000" cy="237744"/>
          </a:xfrm>
          <a:prstGeom prst="rect">
            <a:avLst/>
          </a:prstGeom>
          <a:noFill/>
          <a:ln/>
        </p:spPr>
        <p:txBody>
          <a:bodyPr wrap="square" lIns="0" tIns="0" rIns="0" bIns="0" rtlCol="0" anchor="ctr"/>
          <a:lstStyle/>
          <a:p>
            <a:pPr indent="0" marL="0">
              <a:buNone/>
            </a:pPr>
            <a:r>
              <a:rPr lang="en-US" sz="850" spc="100" kern="0" dirty="0">
                <a:solidFill>
                  <a:srgbClr val="8E95A3"/>
                </a:solidFill>
                <a:latin typeface="Courier New" pitchFamily="34" charset="0"/>
                <a:ea typeface="Courier New" pitchFamily="34" charset="-122"/>
                <a:cs typeface="Courier New" pitchFamily="34" charset="-120"/>
              </a:rPr>
              <a:t>CMP406 GAMETECH  ·  FALL 2026</a:t>
            </a:r>
            <a:endParaRPr lang="en-US" sz="850" dirty="0"/>
          </a:p>
        </p:txBody>
      </p:sp>
      <p:sp>
        <p:nvSpPr>
          <p:cNvPr id="9" name="Text 7"/>
          <p:cNvSpPr/>
          <p:nvPr>
            <p:ph idx="107" type="body" hasCustomPrompt="1"/>
          </p:nvPr>
        </p:nvSpPr>
        <p:spPr>
          <a:xfrm>
            <a:off x="548640" y="384048"/>
            <a:ext cx="6949440" cy="237744"/>
          </a:xfrm>
          <a:prstGeom prst="rect">
            <a:avLst/>
          </a:prstGeom>
          <a:noFill/>
          <a:ln/>
        </p:spPr>
        <p:txBody>
          <a:bodyPr wrap="square" rtlCol="0"/>
          <a:lstStyle>
            <a:lvl1pPr indent="0" marL="0">
              <a:buNone/>
              <a:defRPr lang="en-US" sz="950" b="1" spc="150" kern="0" dirty="0">
                <a:solidFill>
                  <a:schemeClr val="accent1"/>
                </a:solidFill>
                <a:latin typeface="Courier New" pitchFamily="34" charset="0"/>
                <a:ea typeface="Courier New" pitchFamily="34" charset="-122"/>
                <a:cs typeface="Courier New" pitchFamily="34" charset="-120"/>
              </a:defRPr>
            </a:lvl1pPr>
          </a:lstStyle>
          <a:p>
            <a:pPr indent="0" marL="0">
              <a:buNone/>
            </a:pPr>
            <a:endParaRPr lang="en-US" sz="950" dirty="0"/>
          </a:p>
        </p:txBody>
      </p:sp>
      <p:sp>
        <p:nvSpPr>
          <p:cNvPr id="10" name="Text 7"/>
          <p:cNvSpPr/>
          <p:nvPr>
            <p:ph idx="108" type="title" hasCustomPrompt="1"/>
          </p:nvPr>
        </p:nvSpPr>
        <p:spPr>
          <a:xfrm>
            <a:off x="548640" y="896112"/>
            <a:ext cx="11094415" cy="868680"/>
          </a:xfrm>
          <a:prstGeom prst="rect">
            <a:avLst/>
          </a:prstGeom>
          <a:noFill/>
          <a:ln/>
        </p:spPr>
        <p:txBody>
          <a:bodyPr wrap="square" rtlCol="0"/>
          <a:lstStyle>
            <a:lvl1pPr algn="l" indent="0" marL="0">
              <a:buNone/>
              <a:defRPr lang="en-US" sz="3000" b="1" dirty="0">
                <a:solidFill>
                  <a:schemeClr val="bg1"/>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64240" y="384048"/>
            <a:ext cx="576072"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8E95A3"/>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EED">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384048"/>
            <a:ext cx="576072"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5C616B"/>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jpeg"/><Relationship Id="rId3" Type="http://schemas.openxmlformats.org/officeDocument/2006/relationships/image" Target="../media/image-4-3.jpe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store.steampowered.com/app/1260320" TargetMode="External"/><Relationship Id="rId4" Type="http://schemas.openxmlformats.org/officeDocument/2006/relationships/hyperlink" Target="https://store.steampowered.com/app/285900" TargetMode="External"/><Relationship Id="rId6" Type="http://schemas.openxmlformats.org/officeDocument/2006/relationships/hyperlink" Target="https://store.steampowered.com/app/1097150" TargetMode="External"/><Relationship Id="rId8" Type="http://schemas.openxmlformats.org/officeDocument/2006/relationships/hyperlink" Target="https://store.steampowered.com/app/880940" TargetMode="External"/><Relationship Id="rId10" Type="http://schemas.openxmlformats.org/officeDocument/2006/relationships/hyperlink" Target="https://store.steampowered.com/app/1858400" TargetMode="External"/><Relationship Id="rId1" Type="http://schemas.openxmlformats.org/officeDocument/2006/relationships/image" Target="../media/image-14-1.jpeg"/><Relationship Id="rId3" Type="http://schemas.openxmlformats.org/officeDocument/2006/relationships/image" Target="../media/image-14-2.jpeg"/><Relationship Id="rId5" Type="http://schemas.openxmlformats.org/officeDocument/2006/relationships/image" Target="../media/image-14-3.jpeg"/><Relationship Id="rId7" Type="http://schemas.openxmlformats.org/officeDocument/2006/relationships/image" Target="../media/image-14-4.jpeg"/><Relationship Id="rId9" Type="http://schemas.openxmlformats.org/officeDocument/2006/relationships/image" Target="../media/image-14-5.jpeg"/><Relationship Id="rId11" Type="http://schemas.openxmlformats.org/officeDocument/2006/relationships/slideLayout" Target="../slideLayouts/slideLayout2.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jpeg"/><Relationship Id="rId3" Type="http://schemas.openxmlformats.org/officeDocument/2006/relationships/image" Target="../media/image-16-3.jpeg"/><Relationship Id="rId4" Type="http://schemas.openxmlformats.org/officeDocument/2006/relationships/image" Target="../media/image-16-4.jpeg"/><Relationship Id="rId5" Type="http://schemas.openxmlformats.org/officeDocument/2006/relationships/image" Target="../media/image-16-5.jpeg"/><Relationship Id="rId6" Type="http://schemas.openxmlformats.org/officeDocument/2006/relationships/image" Target="../media/image-16-6.jpeg"/><Relationship Id="rId7" Type="http://schemas.openxmlformats.org/officeDocument/2006/relationships/image" Target="../media/image-16-7.jpeg"/><Relationship Id="rId8" Type="http://schemas.openxmlformats.org/officeDocument/2006/relationships/image" Target="../media/image-16-8.jpeg"/><Relationship Id="rId9" Type="http://schemas.openxmlformats.org/officeDocument/2006/relationships/slideLayout" Target="../slideLayouts/slideLayout2.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Ice Race concept render" descr="Cover: Ice Race concept render">    </p:cNvPr>
          <p:cNvPicPr>
            <a:picLocks noChangeAspect="1"/>
          </p:cNvPicPr>
          <p:nvPr/>
        </p:nvPicPr>
        <p:blipFill>
          <a:blip r:embed="rId1"/>
          <a:stretch>
            <a:fillRect/>
          </a:stretch>
        </p:blipFill>
        <p:spPr>
          <a:xfrm>
            <a:off x="0" y="0"/>
            <a:ext cx="12191695" cy="6858000"/>
          </a:xfrm>
          <a:prstGeom prst="rect">
            <a:avLst/>
          </a:prstGeom>
        </p:spPr>
      </p:pic>
      <p:pic>
        <p:nvPicPr>
          <p:cNvPr id="3" name="Dark fade for legibility" descr="Dark fade for legibility">    </p:cNvPr>
          <p:cNvPicPr>
            <a:picLocks noChangeAspect="1"/>
          </p:cNvPicPr>
          <p:nvPr/>
        </p:nvPicPr>
        <p:blipFill>
          <a:blip r:embed="rId2"/>
          <a:stretch>
            <a:fillRect/>
          </a:stretch>
        </p:blipFill>
        <p:spPr>
          <a:xfrm>
            <a:off x="0" y="0"/>
            <a:ext cx="12191695" cy="6858000"/>
          </a:xfrm>
          <a:prstGeom prst="rect">
            <a:avLst/>
          </a:prstGeom>
        </p:spPr>
      </p:pic>
      <p:sp>
        <p:nvSpPr>
          <p:cNvPr id="4" name="Text 0"/>
          <p:cNvSpPr txBox="1"/>
          <p:nvPr/>
        </p:nvSpPr>
        <p:spPr>
          <a:xfrm>
            <a:off x="548640" y="548640"/>
            <a:ext cx="6400800" cy="274320"/>
          </a:xfrm>
          <a:prstGeom prst="rect">
            <a:avLst/>
          </a:prstGeom>
          <a:noFill/>
          <a:ln/>
        </p:spPr>
        <p:txBody>
          <a:bodyPr wrap="square" lIns="0" tIns="0" rIns="0" bIns="0" rtlCol="0" anchor="t"/>
          <a:lstStyle/>
          <a:p>
            <a:pPr indent="0" marL="0">
              <a:buNone/>
            </a:pPr>
            <a:r>
              <a:rPr lang="en-US" sz="900" b="1" spc="120" kern="0" dirty="0">
                <a:solidFill>
                  <a:srgbClr val="C9CDD6"/>
                </a:solidFill>
                <a:latin typeface="Courier New" pitchFamily="34" charset="0"/>
                <a:ea typeface="Courier New" pitchFamily="34" charset="-122"/>
                <a:cs typeface="Courier New" pitchFamily="34" charset="-120"/>
              </a:rPr>
              <a:t>CMP406 GAMETECH  ·  FALL 2026  ·  GAME PROPOSAL</a:t>
            </a:r>
            <a:endParaRPr lang="en-US" sz="900" dirty="0"/>
          </a:p>
        </p:txBody>
      </p:sp>
      <p:sp>
        <p:nvSpPr>
          <p:cNvPr id="5" name="Text 1"/>
          <p:cNvSpPr txBox="1"/>
          <p:nvPr/>
        </p:nvSpPr>
        <p:spPr>
          <a:xfrm>
            <a:off x="548640" y="1874520"/>
            <a:ext cx="6400800" cy="1097280"/>
          </a:xfrm>
          <a:prstGeom prst="rect">
            <a:avLst/>
          </a:prstGeom>
          <a:noFill/>
          <a:ln/>
        </p:spPr>
        <p:txBody>
          <a:bodyPr wrap="square" lIns="0" tIns="0" rIns="0" bIns="0" rtlCol="0" anchor="b"/>
          <a:lstStyle/>
          <a:p>
            <a:pPr indent="0" marL="0">
              <a:buNone/>
            </a:pPr>
            <a:r>
              <a:rPr lang="en-US" sz="6600" b="1" dirty="0">
                <a:solidFill>
                  <a:schemeClr val="bg1"/>
                </a:solidFill>
                <a:latin typeface="Arial" pitchFamily="34" charset="0"/>
                <a:ea typeface="Arial" pitchFamily="34" charset="-122"/>
                <a:cs typeface="Arial" pitchFamily="34" charset="-120"/>
              </a:rPr>
              <a:t>Ice Rumble</a:t>
            </a:r>
            <a:endParaRPr lang="en-US" sz="6600" dirty="0"/>
          </a:p>
        </p:txBody>
      </p:sp>
      <p:sp>
        <p:nvSpPr>
          <p:cNvPr id="6" name="Text 2"/>
          <p:cNvSpPr txBox="1"/>
          <p:nvPr/>
        </p:nvSpPr>
        <p:spPr>
          <a:xfrm>
            <a:off x="585216" y="3035808"/>
            <a:ext cx="2743200" cy="228600"/>
          </a:xfrm>
          <a:prstGeom prst="rect">
            <a:avLst/>
          </a:prstGeom>
          <a:noFill/>
          <a:ln/>
        </p:spPr>
        <p:txBody>
          <a:bodyPr wrap="square" lIns="0" tIns="0" rIns="0" bIns="0" rtlCol="0" anchor="t"/>
          <a:lstStyle/>
          <a:p>
            <a:pPr indent="0" marL="0">
              <a:buNone/>
            </a:pPr>
            <a:r>
              <a:rPr lang="en-US" sz="900" spc="120" kern="0" dirty="0">
                <a:solidFill>
                  <a:srgbClr val="8E95A3"/>
                </a:solidFill>
                <a:latin typeface="Courier New" pitchFamily="34" charset="0"/>
                <a:ea typeface="Courier New" pitchFamily="34" charset="-122"/>
                <a:cs typeface="Courier New" pitchFamily="34" charset="-120"/>
              </a:rPr>
              <a:t>WORKING TITLE</a:t>
            </a:r>
            <a:endParaRPr lang="en-US" sz="900" dirty="0"/>
          </a:p>
        </p:txBody>
      </p:sp>
      <p:sp>
        <p:nvSpPr>
          <p:cNvPr id="7" name="Text 3"/>
          <p:cNvSpPr txBox="1"/>
          <p:nvPr/>
        </p:nvSpPr>
        <p:spPr>
          <a:xfrm>
            <a:off x="548640" y="3429000"/>
            <a:ext cx="4846320" cy="868680"/>
          </a:xfrm>
          <a:prstGeom prst="rect">
            <a:avLst/>
          </a:prstGeom>
          <a:noFill/>
          <a:ln/>
        </p:spPr>
        <p:txBody>
          <a:bodyPr wrap="square" lIns="0" tIns="0" rIns="0" bIns="0" rtlCol="0" anchor="t"/>
          <a:lstStyle/>
          <a:p>
            <a:pPr indent="0" marL="0">
              <a:buNone/>
            </a:pPr>
            <a:r>
              <a:rPr lang="en-US" sz="1900" dirty="0">
                <a:solidFill>
                  <a:schemeClr val="bg1"/>
                </a:solidFill>
              </a:rPr>
              <a:t>A LAN party game for 2–4 players: short physics mini-games, one shared scoreboard.</a:t>
            </a:r>
            <a:endParaRPr lang="en-US" sz="1900" dirty="0"/>
          </a:p>
        </p:txBody>
      </p:sp>
      <p:sp>
        <p:nvSpPr>
          <p:cNvPr id="8" name="Player colour 1"/>
          <p:cNvSpPr/>
          <p:nvPr/>
        </p:nvSpPr>
        <p:spPr>
          <a:xfrm>
            <a:off x="548640" y="4526280"/>
            <a:ext cx="182880" cy="182880"/>
          </a:xfrm>
          <a:prstGeom prst="rect">
            <a:avLst/>
          </a:prstGeom>
          <a:solidFill>
            <a:srgbClr val="FF5A1F"/>
          </a:solidFill>
          <a:ln w="12700">
            <a:solidFill>
              <a:srgbClr val="FF5A1F"/>
            </a:solidFill>
            <a:prstDash val="solid"/>
          </a:ln>
        </p:spPr>
      </p:sp>
      <p:sp>
        <p:nvSpPr>
          <p:cNvPr id="9" name="Player colour 2"/>
          <p:cNvSpPr/>
          <p:nvPr/>
        </p:nvSpPr>
        <p:spPr>
          <a:xfrm>
            <a:off x="822960" y="4526280"/>
            <a:ext cx="182880" cy="182880"/>
          </a:xfrm>
          <a:prstGeom prst="rect">
            <a:avLst/>
          </a:prstGeom>
          <a:solidFill>
            <a:srgbClr val="1EA5E6"/>
          </a:solidFill>
          <a:ln w="12700">
            <a:solidFill>
              <a:srgbClr val="1EA5E6"/>
            </a:solidFill>
            <a:prstDash val="solid"/>
          </a:ln>
        </p:spPr>
      </p:sp>
      <p:sp>
        <p:nvSpPr>
          <p:cNvPr id="10" name="Player colour 3"/>
          <p:cNvSpPr/>
          <p:nvPr/>
        </p:nvSpPr>
        <p:spPr>
          <a:xfrm>
            <a:off x="1097280" y="4526280"/>
            <a:ext cx="182880" cy="182880"/>
          </a:xfrm>
          <a:prstGeom prst="rect">
            <a:avLst/>
          </a:prstGeom>
          <a:solidFill>
            <a:srgbClr val="3DB83A"/>
          </a:solidFill>
          <a:ln w="12700">
            <a:solidFill>
              <a:srgbClr val="3DB83A"/>
            </a:solidFill>
            <a:prstDash val="solid"/>
          </a:ln>
        </p:spPr>
      </p:sp>
      <p:sp>
        <p:nvSpPr>
          <p:cNvPr id="11" name="Player colour 4"/>
          <p:cNvSpPr/>
          <p:nvPr/>
        </p:nvSpPr>
        <p:spPr>
          <a:xfrm>
            <a:off x="1371600" y="4526280"/>
            <a:ext cx="182880" cy="182880"/>
          </a:xfrm>
          <a:prstGeom prst="rect">
            <a:avLst/>
          </a:prstGeom>
          <a:solidFill>
            <a:srgbClr val="8048E0"/>
          </a:solidFill>
          <a:ln w="12700">
            <a:solidFill>
              <a:srgbClr val="8048E0"/>
            </a:solidFill>
            <a:prstDash val="solid"/>
          </a:ln>
        </p:spPr>
      </p:sp>
      <p:sp>
        <p:nvSpPr>
          <p:cNvPr id="12" name="Shape 8"/>
          <p:cNvSpPr/>
          <p:nvPr/>
        </p:nvSpPr>
        <p:spPr>
          <a:xfrm>
            <a:off x="548640" y="5435918"/>
            <a:ext cx="4846320" cy="9525"/>
          </a:xfrm>
          <a:prstGeom prst="rect">
            <a:avLst/>
          </a:prstGeom>
          <a:solidFill>
            <a:srgbClr val="3A3F4A"/>
          </a:solidFill>
          <a:ln w="12700">
            <a:solidFill>
              <a:srgbClr val="3A3F4A"/>
            </a:solidFill>
            <a:prstDash val="solid"/>
          </a:ln>
        </p:spPr>
      </p:sp>
      <p:sp>
        <p:nvSpPr>
          <p:cNvPr id="13" name="Text 9"/>
          <p:cNvSpPr txBox="1"/>
          <p:nvPr/>
        </p:nvSpPr>
        <p:spPr>
          <a:xfrm>
            <a:off x="548640" y="5577840"/>
            <a:ext cx="2377440" cy="365760"/>
          </a:xfrm>
          <a:prstGeom prst="rect">
            <a:avLst/>
          </a:prstGeom>
          <a:noFill/>
          <a:ln/>
        </p:spPr>
        <p:txBody>
          <a:bodyPr wrap="square" lIns="0" tIns="0" rIns="0" bIns="0" rtlCol="0" anchor="t"/>
          <a:lstStyle/>
          <a:p>
            <a:pPr indent="0" marL="0">
              <a:buNone/>
            </a:pPr>
            <a:r>
              <a:rPr lang="en-US" sz="1100" b="1" dirty="0">
                <a:solidFill>
                  <a:schemeClr val="bg1"/>
                </a:solidFill>
              </a:rPr>
              <a:t>Ezel Bayraktar</a:t>
            </a:r>
            <a:endParaRPr lang="en-US" sz="1100" dirty="0"/>
          </a:p>
          <a:p>
            <a:pPr indent="0" marL="0">
              <a:buNone/>
            </a:pPr>
            <a:r>
              <a:rPr lang="en-US" sz="850" dirty="0">
                <a:solidFill>
                  <a:srgbClr val="8E95A3"/>
                </a:solidFill>
                <a:latin typeface="Courier New" pitchFamily="34" charset="0"/>
                <a:ea typeface="Courier New" pitchFamily="34" charset="-122"/>
                <a:cs typeface="Courier New" pitchFamily="34" charset="-120"/>
              </a:rPr>
              <a:t>2220356197</a:t>
            </a:r>
            <a:endParaRPr lang="en-US" sz="1100" dirty="0"/>
          </a:p>
        </p:txBody>
      </p:sp>
      <p:sp>
        <p:nvSpPr>
          <p:cNvPr id="14" name="Text 10"/>
          <p:cNvSpPr txBox="1"/>
          <p:nvPr/>
        </p:nvSpPr>
        <p:spPr>
          <a:xfrm>
            <a:off x="3017520" y="5577840"/>
            <a:ext cx="2377440" cy="365760"/>
          </a:xfrm>
          <a:prstGeom prst="rect">
            <a:avLst/>
          </a:prstGeom>
          <a:noFill/>
          <a:ln/>
        </p:spPr>
        <p:txBody>
          <a:bodyPr wrap="square" lIns="0" tIns="0" rIns="0" bIns="0" rtlCol="0" anchor="t"/>
          <a:lstStyle/>
          <a:p>
            <a:pPr indent="0" marL="0">
              <a:buNone/>
            </a:pPr>
            <a:r>
              <a:rPr lang="en-US" sz="1100" b="1" dirty="0">
                <a:solidFill>
                  <a:schemeClr val="bg1"/>
                </a:solidFill>
              </a:rPr>
              <a:t>Abdurrahim Özağaç</a:t>
            </a:r>
            <a:endParaRPr lang="en-US" sz="1100" dirty="0"/>
          </a:p>
          <a:p>
            <a:pPr indent="0" marL="0">
              <a:buNone/>
            </a:pPr>
            <a:r>
              <a:rPr lang="en-US" sz="850" dirty="0">
                <a:solidFill>
                  <a:srgbClr val="8E95A3"/>
                </a:solidFill>
                <a:latin typeface="Courier New" pitchFamily="34" charset="0"/>
                <a:ea typeface="Courier New" pitchFamily="34" charset="-122"/>
                <a:cs typeface="Courier New" pitchFamily="34" charset="-120"/>
              </a:rPr>
              <a:t>2220356033</a:t>
            </a:r>
            <a:endParaRPr lang="en-US" sz="1100" dirty="0"/>
          </a:p>
        </p:txBody>
      </p:sp>
      <p:sp>
        <p:nvSpPr>
          <p:cNvPr id="15" name="Text 11"/>
          <p:cNvSpPr txBox="1"/>
          <p:nvPr/>
        </p:nvSpPr>
        <p:spPr>
          <a:xfrm>
            <a:off x="548640" y="5961888"/>
            <a:ext cx="2377440" cy="365760"/>
          </a:xfrm>
          <a:prstGeom prst="rect">
            <a:avLst/>
          </a:prstGeom>
          <a:noFill/>
          <a:ln/>
        </p:spPr>
        <p:txBody>
          <a:bodyPr wrap="square" lIns="0" tIns="0" rIns="0" bIns="0" rtlCol="0" anchor="t"/>
          <a:lstStyle/>
          <a:p>
            <a:pPr indent="0" marL="0">
              <a:buNone/>
            </a:pPr>
            <a:r>
              <a:rPr lang="en-US" sz="1100" b="1" dirty="0">
                <a:solidFill>
                  <a:schemeClr val="bg1"/>
                </a:solidFill>
              </a:rPr>
              <a:t>Kürşat Hürkan Aydın</a:t>
            </a:r>
            <a:endParaRPr lang="en-US" sz="1100" dirty="0"/>
          </a:p>
          <a:p>
            <a:pPr indent="0" marL="0">
              <a:buNone/>
            </a:pPr>
            <a:r>
              <a:rPr lang="en-US" sz="850" dirty="0">
                <a:solidFill>
                  <a:srgbClr val="8E95A3"/>
                </a:solidFill>
                <a:latin typeface="Courier New" pitchFamily="34" charset="0"/>
                <a:ea typeface="Courier New" pitchFamily="34" charset="-122"/>
                <a:cs typeface="Courier New" pitchFamily="34" charset="-120"/>
              </a:rPr>
              <a:t>2230356008</a:t>
            </a:r>
            <a:endParaRPr lang="en-US" sz="1100" dirty="0"/>
          </a:p>
        </p:txBody>
      </p:sp>
      <p:sp>
        <p:nvSpPr>
          <p:cNvPr id="16" name="Text 12"/>
          <p:cNvSpPr txBox="1"/>
          <p:nvPr/>
        </p:nvSpPr>
        <p:spPr>
          <a:xfrm>
            <a:off x="3017520" y="5961888"/>
            <a:ext cx="2377440" cy="365760"/>
          </a:xfrm>
          <a:prstGeom prst="rect">
            <a:avLst/>
          </a:prstGeom>
          <a:noFill/>
          <a:ln/>
        </p:spPr>
        <p:txBody>
          <a:bodyPr wrap="square" lIns="0" tIns="0" rIns="0" bIns="0" rtlCol="0" anchor="t"/>
          <a:lstStyle/>
          <a:p>
            <a:pPr indent="0" marL="0">
              <a:buNone/>
            </a:pPr>
            <a:r>
              <a:rPr lang="en-US" sz="1100" b="1" dirty="0">
                <a:solidFill>
                  <a:schemeClr val="bg1"/>
                </a:solidFill>
              </a:rPr>
              <a:t>Ardıl Bilal Ülkü</a:t>
            </a:r>
            <a:endParaRPr lang="en-US" sz="1100" dirty="0"/>
          </a:p>
          <a:p>
            <a:pPr indent="0" marL="0">
              <a:buNone/>
            </a:pPr>
            <a:r>
              <a:rPr lang="en-US" sz="850" dirty="0">
                <a:solidFill>
                  <a:srgbClr val="8E95A3"/>
                </a:solidFill>
                <a:latin typeface="Courier New" pitchFamily="34" charset="0"/>
                <a:ea typeface="Courier New" pitchFamily="34" charset="-122"/>
                <a:cs typeface="Courier New" pitchFamily="34" charset="-120"/>
              </a:rPr>
              <a:t>2230356051</a:t>
            </a:r>
            <a:endParaRPr lang="en-US" sz="1100" dirty="0"/>
          </a:p>
        </p:txBody>
      </p:sp>
      <p:sp>
        <p:nvSpPr>
          <p:cNvPr id="17" name="Text 13"/>
          <p:cNvSpPr txBox="1"/>
          <p:nvPr/>
        </p:nvSpPr>
        <p:spPr>
          <a:xfrm>
            <a:off x="548640" y="6492240"/>
            <a:ext cx="4572000" cy="182880"/>
          </a:xfrm>
          <a:prstGeom prst="rect">
            <a:avLst/>
          </a:prstGeom>
          <a:noFill/>
          <a:ln/>
        </p:spPr>
        <p:txBody>
          <a:bodyPr wrap="square" lIns="0" tIns="0" rIns="0" bIns="0" rtlCol="0" anchor="t"/>
          <a:lstStyle/>
          <a:p>
            <a:pPr indent="0" marL="0">
              <a:buNone/>
            </a:pPr>
            <a:r>
              <a:rPr lang="en-US" sz="800" spc="30" kern="0" dirty="0">
                <a:solidFill>
                  <a:srgbClr val="8E95A3"/>
                </a:solidFill>
                <a:latin typeface="Courier New" pitchFamily="34" charset="0"/>
                <a:ea typeface="Courier New" pitchFamily="34" charset="-122"/>
                <a:cs typeface="Courier New" pitchFamily="34" charset="-120"/>
              </a:rPr>
              <a:t>Concept render, AI-generated. Not gameplay.</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p:nvPr>
            <p:ph idx="107" type="body" hasCustomPrompt="1"/>
          </p:nvPr>
        </p:nvSpPr>
        <p:spPr>
          <a:xfrm>
            <a:off x="548640" y="384048"/>
            <a:ext cx="6949440" cy="237744"/>
          </a:xfrm>
          <a:prstGeom prst="rect">
            <a:avLst/>
          </a:prstGeom>
          <a:noFill/>
          <a:ln/>
        </p:spPr>
        <p:txBody>
          <a:bodyPr wrap="square" lIns="0" tIns="0" rIns="0" bIns="0" rtlCol="0" anchor="ctr"/>
          <a:lstStyle/>
          <a:p>
            <a:pPr indent="0" marL="0">
              <a:buNone/>
            </a:pPr>
            <a:r>
              <a:rPr lang="en-US" sz="950" b="1" spc="150" kern="0" dirty="0">
                <a:solidFill>
                  <a:schemeClr val="accent1"/>
                </a:solidFill>
                <a:latin typeface="Courier New" pitchFamily="34" charset="0"/>
                <a:ea typeface="Courier New" pitchFamily="34" charset="-122"/>
                <a:cs typeface="Courier New" pitchFamily="34" charset="-120"/>
              </a:rPr>
              <a:t>01 — THE GAME</a:t>
            </a:r>
            <a:endParaRPr lang="en-US" sz="950" dirty="0"/>
          </a:p>
        </p:txBody>
      </p:sp>
      <p:sp>
        <p:nvSpPr>
          <p:cNvPr id="3" name="Text 7"/>
          <p:cNvSpPr/>
          <p:nvPr>
            <p:ph idx="108"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A LAN party game made of short physics mini-games</a:t>
            </a:r>
            <a:endParaRPr lang="en-US" sz="3000" dirty="0"/>
          </a:p>
        </p:txBody>
      </p:sp>
      <p:sp>
        <p:nvSpPr>
          <p:cNvPr id="4" name="Shape 2"/>
          <p:cNvSpPr/>
          <p:nvPr/>
        </p:nvSpPr>
        <p:spPr>
          <a:xfrm>
            <a:off x="548640" y="1833181"/>
            <a:ext cx="5257800" cy="9525"/>
          </a:xfrm>
          <a:prstGeom prst="rect">
            <a:avLst/>
          </a:prstGeom>
          <a:solidFill>
            <a:srgbClr val="D8D3C8"/>
          </a:solidFill>
          <a:ln w="12700">
            <a:solidFill>
              <a:srgbClr val="D8D3C8"/>
            </a:solidFill>
            <a:prstDash val="solid"/>
          </a:ln>
        </p:spPr>
      </p:sp>
      <p:sp>
        <p:nvSpPr>
          <p:cNvPr id="5" name="Text 3"/>
          <p:cNvSpPr txBox="1"/>
          <p:nvPr/>
        </p:nvSpPr>
        <p:spPr>
          <a:xfrm>
            <a:off x="548640" y="1965960"/>
            <a:ext cx="1737360" cy="274320"/>
          </a:xfrm>
          <a:prstGeom prst="rect">
            <a:avLst/>
          </a:prstGeom>
          <a:noFill/>
          <a:ln/>
        </p:spPr>
        <p:txBody>
          <a:bodyPr wrap="square" lIns="0" tIns="0" rIns="0" bIns="0" rtlCol="0" anchor="t"/>
          <a:lstStyle/>
          <a:p>
            <a:pPr indent="0" marL="0">
              <a:buNone/>
            </a:pPr>
            <a:r>
              <a:rPr lang="en-US" sz="900" b="1" spc="120" kern="0" dirty="0">
                <a:solidFill>
                  <a:schemeClr val="accent1"/>
                </a:solidFill>
                <a:latin typeface="Courier New" pitchFamily="34" charset="0"/>
                <a:ea typeface="Courier New" pitchFamily="34" charset="-122"/>
                <a:cs typeface="Courier New" pitchFamily="34" charset="-120"/>
              </a:rPr>
              <a:t>01  PLAYERS</a:t>
            </a:r>
            <a:endParaRPr lang="en-US" sz="900" dirty="0"/>
          </a:p>
        </p:txBody>
      </p:sp>
      <p:sp>
        <p:nvSpPr>
          <p:cNvPr id="6" name="Text 4"/>
          <p:cNvSpPr txBox="1"/>
          <p:nvPr/>
        </p:nvSpPr>
        <p:spPr>
          <a:xfrm>
            <a:off x="2331720" y="1938528"/>
            <a:ext cx="3474720" cy="868680"/>
          </a:xfrm>
          <a:prstGeom prst="rect">
            <a:avLst/>
          </a:prstGeom>
          <a:noFill/>
          <a:ln/>
        </p:spPr>
        <p:txBody>
          <a:bodyPr wrap="square" lIns="0" tIns="0" rIns="0" bIns="0" rtlCol="0" anchor="t"/>
          <a:lstStyle/>
          <a:p>
            <a:pPr indent="0" marL="0">
              <a:buNone/>
            </a:pPr>
            <a:r>
              <a:rPr lang="en-US" sz="1300" dirty="0">
                <a:solidFill>
                  <a:schemeClr val="tx1"/>
                </a:solidFill>
              </a:rPr>
              <a:t>2–4 people in the same room, each on their own PC. One PC hosts; the others join over the local network. No internet, no accounts.</a:t>
            </a:r>
            <a:endParaRPr lang="en-US" sz="1300" dirty="0"/>
          </a:p>
        </p:txBody>
      </p:sp>
      <p:sp>
        <p:nvSpPr>
          <p:cNvPr id="7" name="Shape 5"/>
          <p:cNvSpPr/>
          <p:nvPr/>
        </p:nvSpPr>
        <p:spPr>
          <a:xfrm>
            <a:off x="548640" y="2839021"/>
            <a:ext cx="5257800" cy="9525"/>
          </a:xfrm>
          <a:prstGeom prst="rect">
            <a:avLst/>
          </a:prstGeom>
          <a:solidFill>
            <a:srgbClr val="D8D3C8"/>
          </a:solidFill>
          <a:ln w="12700">
            <a:solidFill>
              <a:srgbClr val="D8D3C8"/>
            </a:solidFill>
            <a:prstDash val="solid"/>
          </a:ln>
        </p:spPr>
      </p:sp>
      <p:sp>
        <p:nvSpPr>
          <p:cNvPr id="8" name="Text 6"/>
          <p:cNvSpPr txBox="1"/>
          <p:nvPr/>
        </p:nvSpPr>
        <p:spPr>
          <a:xfrm>
            <a:off x="548640" y="2971800"/>
            <a:ext cx="1737360" cy="274320"/>
          </a:xfrm>
          <a:prstGeom prst="rect">
            <a:avLst/>
          </a:prstGeom>
          <a:noFill/>
          <a:ln/>
        </p:spPr>
        <p:txBody>
          <a:bodyPr wrap="square" lIns="0" tIns="0" rIns="0" bIns="0" rtlCol="0" anchor="t"/>
          <a:lstStyle/>
          <a:p>
            <a:pPr indent="0" marL="0">
              <a:buNone/>
            </a:pPr>
            <a:r>
              <a:rPr lang="en-US" sz="900" b="1" spc="120" kern="0" dirty="0">
                <a:solidFill>
                  <a:schemeClr val="accent1"/>
                </a:solidFill>
                <a:latin typeface="Courier New" pitchFamily="34" charset="0"/>
                <a:ea typeface="Courier New" pitchFamily="34" charset="-122"/>
                <a:cs typeface="Courier New" pitchFamily="34" charset="-120"/>
              </a:rPr>
              <a:t>02  SESSION</a:t>
            </a:r>
            <a:endParaRPr lang="en-US" sz="900" dirty="0"/>
          </a:p>
        </p:txBody>
      </p:sp>
      <p:sp>
        <p:nvSpPr>
          <p:cNvPr id="9" name="Text 7"/>
          <p:cNvSpPr txBox="1"/>
          <p:nvPr/>
        </p:nvSpPr>
        <p:spPr>
          <a:xfrm>
            <a:off x="2331720" y="2944368"/>
            <a:ext cx="3474720" cy="868680"/>
          </a:xfrm>
          <a:prstGeom prst="rect">
            <a:avLst/>
          </a:prstGeom>
          <a:noFill/>
          <a:ln/>
        </p:spPr>
        <p:txBody>
          <a:bodyPr wrap="square" lIns="0" tIns="0" rIns="0" bIns="0" rtlCol="0" anchor="t"/>
          <a:lstStyle/>
          <a:p>
            <a:pPr indent="0" marL="0">
              <a:buNone/>
            </a:pPr>
            <a:r>
              <a:rPr lang="en-US" sz="1300" dirty="0">
                <a:solidFill>
                  <a:schemeClr val="tx1"/>
                </a:solidFill>
              </a:rPr>
              <a:t>A playlist of short mini-games. Placement in each round earns points, and one scoreboard runs across the whole session.</a:t>
            </a:r>
            <a:endParaRPr lang="en-US" sz="1300" dirty="0"/>
          </a:p>
        </p:txBody>
      </p:sp>
      <p:sp>
        <p:nvSpPr>
          <p:cNvPr id="10" name="Shape 8"/>
          <p:cNvSpPr/>
          <p:nvPr/>
        </p:nvSpPr>
        <p:spPr>
          <a:xfrm>
            <a:off x="548640" y="3844862"/>
            <a:ext cx="5257800" cy="9525"/>
          </a:xfrm>
          <a:prstGeom prst="rect">
            <a:avLst/>
          </a:prstGeom>
          <a:solidFill>
            <a:srgbClr val="D8D3C8"/>
          </a:solidFill>
          <a:ln w="12700">
            <a:solidFill>
              <a:srgbClr val="D8D3C8"/>
            </a:solidFill>
            <a:prstDash val="solid"/>
          </a:ln>
        </p:spPr>
      </p:sp>
      <p:sp>
        <p:nvSpPr>
          <p:cNvPr id="11" name="Text 9"/>
          <p:cNvSpPr txBox="1"/>
          <p:nvPr/>
        </p:nvSpPr>
        <p:spPr>
          <a:xfrm>
            <a:off x="548640" y="3977640"/>
            <a:ext cx="1737360" cy="274320"/>
          </a:xfrm>
          <a:prstGeom prst="rect">
            <a:avLst/>
          </a:prstGeom>
          <a:noFill/>
          <a:ln/>
        </p:spPr>
        <p:txBody>
          <a:bodyPr wrap="square" lIns="0" tIns="0" rIns="0" bIns="0" rtlCol="0" anchor="t"/>
          <a:lstStyle/>
          <a:p>
            <a:pPr indent="0" marL="0">
              <a:buNone/>
            </a:pPr>
            <a:r>
              <a:rPr lang="en-US" sz="900" b="1" spc="120" kern="0" dirty="0">
                <a:solidFill>
                  <a:schemeClr val="accent1"/>
                </a:solidFill>
                <a:latin typeface="Courier New" pitchFamily="34" charset="0"/>
                <a:ea typeface="Courier New" pitchFamily="34" charset="-122"/>
                <a:cs typeface="Courier New" pitchFamily="34" charset="-120"/>
              </a:rPr>
              <a:t>03  CHARACTERS</a:t>
            </a:r>
            <a:endParaRPr lang="en-US" sz="900" dirty="0"/>
          </a:p>
        </p:txBody>
      </p:sp>
      <p:sp>
        <p:nvSpPr>
          <p:cNvPr id="12" name="Text 10"/>
          <p:cNvSpPr txBox="1"/>
          <p:nvPr/>
        </p:nvSpPr>
        <p:spPr>
          <a:xfrm>
            <a:off x="2331720" y="3950208"/>
            <a:ext cx="3474720" cy="868680"/>
          </a:xfrm>
          <a:prstGeom prst="rect">
            <a:avLst/>
          </a:prstGeom>
          <a:noFill/>
          <a:ln/>
        </p:spPr>
        <p:txBody>
          <a:bodyPr wrap="square" lIns="0" tIns="0" rIns="0" bIns="0" rtlCol="0" anchor="t"/>
          <a:lstStyle/>
          <a:p>
            <a:pPr indent="0" marL="0">
              <a:buNone/>
            </a:pPr>
            <a:r>
              <a:rPr lang="en-US" sz="1300" dirty="0">
                <a:solidFill>
                  <a:schemeClr val="tx1"/>
                </a:solidFill>
              </a:rPr>
              <a:t>Every player controls the same cube character, in one of four colours, in every mini-game. Controls stay the same.</a:t>
            </a:r>
            <a:endParaRPr lang="en-US" sz="1300" dirty="0"/>
          </a:p>
        </p:txBody>
      </p:sp>
      <p:sp>
        <p:nvSpPr>
          <p:cNvPr id="13" name="Shape 11"/>
          <p:cNvSpPr/>
          <p:nvPr/>
        </p:nvSpPr>
        <p:spPr>
          <a:xfrm>
            <a:off x="548640" y="4850702"/>
            <a:ext cx="5257800" cy="9525"/>
          </a:xfrm>
          <a:prstGeom prst="rect">
            <a:avLst/>
          </a:prstGeom>
          <a:solidFill>
            <a:srgbClr val="D8D3C8"/>
          </a:solidFill>
          <a:ln w="12700">
            <a:solidFill>
              <a:srgbClr val="D8D3C8"/>
            </a:solidFill>
            <a:prstDash val="solid"/>
          </a:ln>
        </p:spPr>
      </p:sp>
      <p:sp>
        <p:nvSpPr>
          <p:cNvPr id="14" name="Text 12"/>
          <p:cNvSpPr txBox="1"/>
          <p:nvPr/>
        </p:nvSpPr>
        <p:spPr>
          <a:xfrm>
            <a:off x="548640" y="4983480"/>
            <a:ext cx="1737360" cy="274320"/>
          </a:xfrm>
          <a:prstGeom prst="rect">
            <a:avLst/>
          </a:prstGeom>
          <a:noFill/>
          <a:ln/>
        </p:spPr>
        <p:txBody>
          <a:bodyPr wrap="square" lIns="0" tIns="0" rIns="0" bIns="0" rtlCol="0" anchor="t"/>
          <a:lstStyle/>
          <a:p>
            <a:pPr indent="0" marL="0">
              <a:buNone/>
            </a:pPr>
            <a:r>
              <a:rPr lang="en-US" sz="900" b="1" spc="120" kern="0" dirty="0">
                <a:solidFill>
                  <a:schemeClr val="accent1"/>
                </a:solidFill>
                <a:latin typeface="Courier New" pitchFamily="34" charset="0"/>
                <a:ea typeface="Courier New" pitchFamily="34" charset="-122"/>
                <a:cs typeface="Courier New" pitchFamily="34" charset="-120"/>
              </a:rPr>
              <a:t>04  MVP SCOPE</a:t>
            </a:r>
            <a:endParaRPr lang="en-US" sz="900" dirty="0"/>
          </a:p>
        </p:txBody>
      </p:sp>
      <p:sp>
        <p:nvSpPr>
          <p:cNvPr id="15" name="Text 13"/>
          <p:cNvSpPr txBox="1"/>
          <p:nvPr/>
        </p:nvSpPr>
        <p:spPr>
          <a:xfrm>
            <a:off x="2331720" y="4956048"/>
            <a:ext cx="3474720" cy="868680"/>
          </a:xfrm>
          <a:prstGeom prst="rect">
            <a:avLst/>
          </a:prstGeom>
          <a:noFill/>
          <a:ln/>
        </p:spPr>
        <p:txBody>
          <a:bodyPr wrap="square" lIns="0" tIns="0" rIns="0" bIns="0" rtlCol="0" anchor="t"/>
          <a:lstStyle/>
          <a:p>
            <a:pPr indent="0" marL="0">
              <a:buNone/>
            </a:pPr>
            <a:r>
              <a:rPr lang="en-US" sz="1300" dirty="0">
                <a:solidFill>
                  <a:schemeClr val="tx1"/>
                </a:solidFill>
              </a:rPr>
              <a:t>Two mini-games, Mass Knockout and Ice Race, on one shared Unity core: character, camera, networking and scoreboard.</a:t>
            </a:r>
            <a:endParaRPr lang="en-US" sz="1300" dirty="0"/>
          </a:p>
        </p:txBody>
      </p:sp>
      <p:sp>
        <p:nvSpPr>
          <p:cNvPr id="16" name="Shape 14"/>
          <p:cNvSpPr/>
          <p:nvPr/>
        </p:nvSpPr>
        <p:spPr>
          <a:xfrm>
            <a:off x="548640" y="5856542"/>
            <a:ext cx="5257800" cy="9525"/>
          </a:xfrm>
          <a:prstGeom prst="rect">
            <a:avLst/>
          </a:prstGeom>
          <a:solidFill>
            <a:srgbClr val="D8D3C8"/>
          </a:solidFill>
          <a:ln w="12700">
            <a:solidFill>
              <a:srgbClr val="D8D3C8"/>
            </a:solidFill>
            <a:prstDash val="solid"/>
          </a:ln>
        </p:spPr>
      </p:sp>
      <p:pic>
        <p:nvPicPr>
          <p:cNvPr id="17" name="Four players on a podium" descr="Four players on a podium">    </p:cNvPr>
          <p:cNvPicPr>
            <a:picLocks noChangeAspect="1"/>
          </p:cNvPicPr>
          <p:nvPr/>
        </p:nvPicPr>
        <p:blipFill>
          <a:blip r:embed="rId1"/>
          <a:stretch>
            <a:fillRect/>
          </a:stretch>
        </p:blipFill>
        <p:spPr>
          <a:xfrm>
            <a:off x="6035040" y="1837944"/>
            <a:ext cx="5605272" cy="4206240"/>
          </a:xfrm>
          <a:prstGeom prst="rect">
            <a:avLst/>
          </a:prstGeom>
        </p:spPr>
      </p:pic>
      <p:sp>
        <p:nvSpPr>
          <p:cNvPr id="18" name="Text 15"/>
          <p:cNvSpPr txBox="1"/>
          <p:nvPr/>
        </p:nvSpPr>
        <p:spPr>
          <a:xfrm>
            <a:off x="6035040" y="6108192"/>
            <a:ext cx="5605272" cy="182880"/>
          </a:xfrm>
          <a:prstGeom prst="rect">
            <a:avLst/>
          </a:prstGeom>
          <a:noFill/>
          <a:ln/>
        </p:spPr>
        <p:txBody>
          <a:bodyPr wrap="square" lIns="0" tIns="0" rIns="0" bIns="0" rtlCol="0" anchor="t"/>
          <a:lstStyle/>
          <a:p>
            <a:pPr indent="0" marL="0">
              <a:buNone/>
            </a:pPr>
            <a:r>
              <a:rPr lang="en-US" sz="800" spc="30" kern="0" dirty="0">
                <a:solidFill>
                  <a:srgbClr val="5C616B"/>
                </a:solidFill>
                <a:latin typeface="Courier New" pitchFamily="34" charset="0"/>
                <a:ea typeface="Courier New" pitchFamily="34" charset="-122"/>
                <a:cs typeface="Courier New" pitchFamily="34" charset="-120"/>
              </a:rPr>
              <a:t>FIG 1  End of a round: placement decides points. Concept render, AI-generated. Not gameplay.</a:t>
            </a:r>
            <a:endParaRPr lang="en-US" sz="800" dirty="0"/>
          </a:p>
        </p:txBody>
      </p:sp>
      <p:sp>
        <p:nvSpPr>
          <p:cNvPr id="25" name="Slide Number Placeholder 0"/>
          <p:cNvSpPr>
            <a:spLocks noGrp="1"/>
          </p:cNvSpPr>
          <p:nvPr>
            <p:ph type="sldNum" sz="quarter" idx="4294967295"/>
          </p:nvPr>
        </p:nvSpPr>
        <p:spPr>
          <a:xfrm>
            <a:off x="11064240" y="384048"/>
            <a:ext cx="576072"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5C616B"/>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p:nvPr>
            <p:ph idx="107" type="body" hasCustomPrompt="1"/>
          </p:nvPr>
        </p:nvSpPr>
        <p:spPr>
          <a:xfrm>
            <a:off x="548640" y="384048"/>
            <a:ext cx="6949440" cy="237744"/>
          </a:xfrm>
          <a:prstGeom prst="rect">
            <a:avLst/>
          </a:prstGeom>
          <a:noFill/>
          <a:ln/>
        </p:spPr>
        <p:txBody>
          <a:bodyPr wrap="square" lIns="0" tIns="0" rIns="0" bIns="0" rtlCol="0" anchor="ctr"/>
          <a:lstStyle/>
          <a:p>
            <a:pPr indent="0" marL="0">
              <a:buNone/>
            </a:pPr>
            <a:r>
              <a:rPr lang="en-US" sz="950" b="1" spc="150" kern="0" dirty="0">
                <a:solidFill>
                  <a:schemeClr val="accent1"/>
                </a:solidFill>
                <a:latin typeface="Courier New" pitchFamily="34" charset="0"/>
                <a:ea typeface="Courier New" pitchFamily="34" charset="-122"/>
                <a:cs typeface="Courier New" pitchFamily="34" charset="-120"/>
              </a:rPr>
              <a:t>02 — SESSION FLOW</a:t>
            </a:r>
            <a:endParaRPr lang="en-US" sz="950" dirty="0"/>
          </a:p>
        </p:txBody>
      </p:sp>
      <p:sp>
        <p:nvSpPr>
          <p:cNvPr id="3" name="Text 7"/>
          <p:cNvSpPr/>
          <p:nvPr>
            <p:ph idx="108"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How a session runs: lobby, rounds, standings</a:t>
            </a:r>
            <a:endParaRPr lang="en-US" sz="3000" dirty="0"/>
          </a:p>
        </p:txBody>
      </p:sp>
      <p:sp>
        <p:nvSpPr>
          <p:cNvPr id="4" name="Step LOBBY"/>
          <p:cNvSpPr/>
          <p:nvPr/>
        </p:nvSpPr>
        <p:spPr>
          <a:xfrm>
            <a:off x="548640" y="2057400"/>
            <a:ext cx="1984248" cy="1600200"/>
          </a:xfrm>
          <a:prstGeom prst="rect">
            <a:avLst/>
          </a:prstGeom>
          <a:solidFill>
            <a:srgbClr val="FFFFFF"/>
          </a:solidFill>
          <a:ln w="9525">
            <a:solidFill>
              <a:srgbClr val="D8D3C8"/>
            </a:solidFill>
            <a:prstDash val="solid"/>
          </a:ln>
        </p:spPr>
      </p:sp>
      <p:sp>
        <p:nvSpPr>
          <p:cNvPr id="5" name="Text 3"/>
          <p:cNvSpPr txBox="1"/>
          <p:nvPr/>
        </p:nvSpPr>
        <p:spPr>
          <a:xfrm>
            <a:off x="713232" y="2221992"/>
            <a:ext cx="548640" cy="228600"/>
          </a:xfrm>
          <a:prstGeom prst="rect">
            <a:avLst/>
          </a:prstGeom>
          <a:noFill/>
          <a:ln/>
        </p:spPr>
        <p:txBody>
          <a:bodyPr wrap="square" lIns="0" tIns="0" rIns="0" bIns="0" rtlCol="0" anchor="t"/>
          <a:lstStyle/>
          <a:p>
            <a:pPr indent="0" marL="0">
              <a:buNone/>
            </a:pPr>
            <a:r>
              <a:rPr lang="en-US" sz="900" b="1" spc="120" kern="0" dirty="0">
                <a:solidFill>
                  <a:schemeClr val="accent1"/>
                </a:solidFill>
                <a:latin typeface="Courier New" pitchFamily="34" charset="0"/>
                <a:ea typeface="Courier New" pitchFamily="34" charset="-122"/>
                <a:cs typeface="Courier New" pitchFamily="34" charset="-120"/>
              </a:rPr>
              <a:t>01</a:t>
            </a:r>
            <a:endParaRPr lang="en-US" sz="900" dirty="0"/>
          </a:p>
        </p:txBody>
      </p:sp>
      <p:sp>
        <p:nvSpPr>
          <p:cNvPr id="6" name="Text 4"/>
          <p:cNvSpPr txBox="1"/>
          <p:nvPr/>
        </p:nvSpPr>
        <p:spPr>
          <a:xfrm>
            <a:off x="713232" y="2478024"/>
            <a:ext cx="1655064" cy="292608"/>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LOBBY</a:t>
            </a:r>
            <a:endParaRPr lang="en-US" sz="1400" dirty="0"/>
          </a:p>
        </p:txBody>
      </p:sp>
      <p:sp>
        <p:nvSpPr>
          <p:cNvPr id="7" name="Text 5"/>
          <p:cNvSpPr txBox="1"/>
          <p:nvPr/>
        </p:nvSpPr>
        <p:spPr>
          <a:xfrm>
            <a:off x="713232" y="2807208"/>
            <a:ext cx="1655064" cy="777240"/>
          </a:xfrm>
          <a:prstGeom prst="rect">
            <a:avLst/>
          </a:prstGeom>
          <a:noFill/>
          <a:ln/>
        </p:spPr>
        <p:txBody>
          <a:bodyPr wrap="square" lIns="0" tIns="0" rIns="0" bIns="0" rtlCol="0" anchor="t"/>
          <a:lstStyle/>
          <a:p>
            <a:pPr indent="0" marL="0">
              <a:buNone/>
            </a:pPr>
            <a:r>
              <a:rPr lang="en-US" sz="1200" dirty="0">
                <a:solidFill>
                  <a:srgbClr val="5C616B"/>
                </a:solidFill>
              </a:rPr>
              <a:t>Host starts a session. Others join with the host’s local IP.</a:t>
            </a:r>
            <a:endParaRPr lang="en-US" sz="1200" dirty="0"/>
          </a:p>
        </p:txBody>
      </p:sp>
      <p:sp>
        <p:nvSpPr>
          <p:cNvPr id="8" name="Shape 6"/>
          <p:cNvSpPr/>
          <p:nvPr/>
        </p:nvSpPr>
        <p:spPr>
          <a:xfrm>
            <a:off x="2551176" y="2857500"/>
            <a:ext cx="164592" cy="0"/>
          </a:xfrm>
          <a:prstGeom prst="line">
            <a:avLst/>
          </a:prstGeom>
          <a:noFill/>
          <a:ln w="15875">
            <a:solidFill>
              <a:srgbClr val="14161B"/>
            </a:solidFill>
            <a:prstDash val="solid"/>
            <a:tailEnd type="triangle"/>
          </a:ln>
        </p:spPr>
      </p:sp>
      <p:sp>
        <p:nvSpPr>
          <p:cNvPr id="9" name="Step ROUND"/>
          <p:cNvSpPr/>
          <p:nvPr/>
        </p:nvSpPr>
        <p:spPr>
          <a:xfrm>
            <a:off x="2734056" y="2057400"/>
            <a:ext cx="1984248" cy="1600200"/>
          </a:xfrm>
          <a:prstGeom prst="rect">
            <a:avLst/>
          </a:prstGeom>
          <a:solidFill>
            <a:srgbClr val="FFFFFF"/>
          </a:solidFill>
          <a:ln w="9525">
            <a:solidFill>
              <a:srgbClr val="D8D3C8"/>
            </a:solidFill>
            <a:prstDash val="solid"/>
          </a:ln>
        </p:spPr>
      </p:sp>
      <p:sp>
        <p:nvSpPr>
          <p:cNvPr id="10" name="Text 8"/>
          <p:cNvSpPr txBox="1"/>
          <p:nvPr/>
        </p:nvSpPr>
        <p:spPr>
          <a:xfrm>
            <a:off x="2898648" y="2221992"/>
            <a:ext cx="548640" cy="228600"/>
          </a:xfrm>
          <a:prstGeom prst="rect">
            <a:avLst/>
          </a:prstGeom>
          <a:noFill/>
          <a:ln/>
        </p:spPr>
        <p:txBody>
          <a:bodyPr wrap="square" lIns="0" tIns="0" rIns="0" bIns="0" rtlCol="0" anchor="t"/>
          <a:lstStyle/>
          <a:p>
            <a:pPr indent="0" marL="0">
              <a:buNone/>
            </a:pPr>
            <a:r>
              <a:rPr lang="en-US" sz="900" b="1" spc="120" kern="0" dirty="0">
                <a:solidFill>
                  <a:schemeClr val="accent1"/>
                </a:solidFill>
                <a:latin typeface="Courier New" pitchFamily="34" charset="0"/>
                <a:ea typeface="Courier New" pitchFamily="34" charset="-122"/>
                <a:cs typeface="Courier New" pitchFamily="34" charset="-120"/>
              </a:rPr>
              <a:t>02</a:t>
            </a:r>
            <a:endParaRPr lang="en-US" sz="900" dirty="0"/>
          </a:p>
        </p:txBody>
      </p:sp>
      <p:sp>
        <p:nvSpPr>
          <p:cNvPr id="11" name="Text 9"/>
          <p:cNvSpPr txBox="1"/>
          <p:nvPr/>
        </p:nvSpPr>
        <p:spPr>
          <a:xfrm>
            <a:off x="2898648" y="2478024"/>
            <a:ext cx="1655064" cy="292608"/>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ROUND</a:t>
            </a:r>
            <a:endParaRPr lang="en-US" sz="1400" dirty="0"/>
          </a:p>
        </p:txBody>
      </p:sp>
      <p:sp>
        <p:nvSpPr>
          <p:cNvPr id="12" name="Text 10"/>
          <p:cNvSpPr txBox="1"/>
          <p:nvPr/>
        </p:nvSpPr>
        <p:spPr>
          <a:xfrm>
            <a:off x="2898648" y="2807208"/>
            <a:ext cx="1655064" cy="777240"/>
          </a:xfrm>
          <a:prstGeom prst="rect">
            <a:avLst/>
          </a:prstGeom>
          <a:noFill/>
          <a:ln/>
        </p:spPr>
        <p:txBody>
          <a:bodyPr wrap="square" lIns="0" tIns="0" rIns="0" bIns="0" rtlCol="0" anchor="t"/>
          <a:lstStyle/>
          <a:p>
            <a:pPr indent="0" marL="0">
              <a:buNone/>
            </a:pPr>
            <a:r>
              <a:rPr lang="en-US" sz="1200" dirty="0">
                <a:solidFill>
                  <a:srgbClr val="5C616B"/>
                </a:solidFill>
              </a:rPr>
              <a:t>Host picks the next mini-game. Everyone loads the same arena.</a:t>
            </a:r>
            <a:endParaRPr lang="en-US" sz="1200" dirty="0"/>
          </a:p>
        </p:txBody>
      </p:sp>
      <p:sp>
        <p:nvSpPr>
          <p:cNvPr id="13" name="Shape 11"/>
          <p:cNvSpPr/>
          <p:nvPr/>
        </p:nvSpPr>
        <p:spPr>
          <a:xfrm>
            <a:off x="4736592" y="2857500"/>
            <a:ext cx="164592" cy="0"/>
          </a:xfrm>
          <a:prstGeom prst="line">
            <a:avLst/>
          </a:prstGeom>
          <a:noFill/>
          <a:ln w="15875">
            <a:solidFill>
              <a:srgbClr val="14161B"/>
            </a:solidFill>
            <a:prstDash val="solid"/>
            <a:tailEnd type="triangle"/>
          </a:ln>
        </p:spPr>
      </p:sp>
      <p:sp>
        <p:nvSpPr>
          <p:cNvPr id="14" name="Step PLAY"/>
          <p:cNvSpPr/>
          <p:nvPr/>
        </p:nvSpPr>
        <p:spPr>
          <a:xfrm>
            <a:off x="4919472" y="2057400"/>
            <a:ext cx="1984248" cy="1600200"/>
          </a:xfrm>
          <a:prstGeom prst="rect">
            <a:avLst/>
          </a:prstGeom>
          <a:solidFill>
            <a:srgbClr val="14161B"/>
          </a:solidFill>
          <a:ln w="12700">
            <a:solidFill>
              <a:srgbClr val="14161B"/>
            </a:solidFill>
            <a:prstDash val="solid"/>
          </a:ln>
        </p:spPr>
      </p:sp>
      <p:sp>
        <p:nvSpPr>
          <p:cNvPr id="15" name="Text 13"/>
          <p:cNvSpPr txBox="1"/>
          <p:nvPr/>
        </p:nvSpPr>
        <p:spPr>
          <a:xfrm>
            <a:off x="5084064" y="2221992"/>
            <a:ext cx="548640" cy="228600"/>
          </a:xfrm>
          <a:prstGeom prst="rect">
            <a:avLst/>
          </a:prstGeom>
          <a:noFill/>
          <a:ln/>
        </p:spPr>
        <p:txBody>
          <a:bodyPr wrap="square" lIns="0" tIns="0" rIns="0" bIns="0" rtlCol="0" anchor="t"/>
          <a:lstStyle/>
          <a:p>
            <a:pPr indent="0" marL="0">
              <a:buNone/>
            </a:pPr>
            <a:r>
              <a:rPr lang="en-US" sz="900" b="1" spc="120" kern="0" dirty="0">
                <a:solidFill>
                  <a:schemeClr val="accent1"/>
                </a:solidFill>
                <a:latin typeface="Courier New" pitchFamily="34" charset="0"/>
                <a:ea typeface="Courier New" pitchFamily="34" charset="-122"/>
                <a:cs typeface="Courier New" pitchFamily="34" charset="-120"/>
              </a:rPr>
              <a:t>03</a:t>
            </a:r>
            <a:endParaRPr lang="en-US" sz="900" dirty="0"/>
          </a:p>
        </p:txBody>
      </p:sp>
      <p:sp>
        <p:nvSpPr>
          <p:cNvPr id="16" name="Text 14"/>
          <p:cNvSpPr txBox="1"/>
          <p:nvPr/>
        </p:nvSpPr>
        <p:spPr>
          <a:xfrm>
            <a:off x="5084064" y="2478024"/>
            <a:ext cx="1655064" cy="292608"/>
          </a:xfrm>
          <a:prstGeom prst="rect">
            <a:avLst/>
          </a:prstGeom>
          <a:noFill/>
          <a:ln/>
        </p:spPr>
        <p:txBody>
          <a:bodyPr wrap="square" lIns="0" tIns="0" rIns="0" bIns="0" rtlCol="0" anchor="t"/>
          <a:lstStyle/>
          <a:p>
            <a:pPr indent="0" marL="0">
              <a:buNone/>
            </a:pPr>
            <a:r>
              <a:rPr lang="en-US" sz="1400" b="1" dirty="0">
                <a:solidFill>
                  <a:schemeClr val="bg1"/>
                </a:solidFill>
                <a:latin typeface="Arial" pitchFamily="34" charset="0"/>
                <a:ea typeface="Arial" pitchFamily="34" charset="-122"/>
                <a:cs typeface="Arial" pitchFamily="34" charset="-120"/>
              </a:rPr>
              <a:t>PLAY</a:t>
            </a:r>
            <a:endParaRPr lang="en-US" sz="1400" dirty="0"/>
          </a:p>
        </p:txBody>
      </p:sp>
      <p:sp>
        <p:nvSpPr>
          <p:cNvPr id="17" name="Text 15"/>
          <p:cNvSpPr txBox="1"/>
          <p:nvPr/>
        </p:nvSpPr>
        <p:spPr>
          <a:xfrm>
            <a:off x="5084064" y="2807208"/>
            <a:ext cx="1655064" cy="777240"/>
          </a:xfrm>
          <a:prstGeom prst="rect">
            <a:avLst/>
          </a:prstGeom>
          <a:noFill/>
          <a:ln/>
        </p:spPr>
        <p:txBody>
          <a:bodyPr wrap="square" lIns="0" tIns="0" rIns="0" bIns="0" rtlCol="0" anchor="t"/>
          <a:lstStyle/>
          <a:p>
            <a:pPr indent="0" marL="0">
              <a:buNone/>
            </a:pPr>
            <a:r>
              <a:rPr lang="en-US" sz="1200" dirty="0">
                <a:solidFill>
                  <a:srgbClr val="D5D8DF"/>
                </a:solidFill>
              </a:rPr>
              <a:t>Host runs the physics. Clients send input and render the result.</a:t>
            </a:r>
            <a:endParaRPr lang="en-US" sz="1200" dirty="0"/>
          </a:p>
        </p:txBody>
      </p:sp>
      <p:sp>
        <p:nvSpPr>
          <p:cNvPr id="18" name="Shape 16"/>
          <p:cNvSpPr/>
          <p:nvPr/>
        </p:nvSpPr>
        <p:spPr>
          <a:xfrm>
            <a:off x="6922008" y="2857500"/>
            <a:ext cx="164592" cy="0"/>
          </a:xfrm>
          <a:prstGeom prst="line">
            <a:avLst/>
          </a:prstGeom>
          <a:noFill/>
          <a:ln w="15875">
            <a:solidFill>
              <a:srgbClr val="14161B"/>
            </a:solidFill>
            <a:prstDash val="solid"/>
            <a:tailEnd type="triangle"/>
          </a:ln>
        </p:spPr>
      </p:sp>
      <p:sp>
        <p:nvSpPr>
          <p:cNvPr id="19" name="Step PLACE"/>
          <p:cNvSpPr/>
          <p:nvPr/>
        </p:nvSpPr>
        <p:spPr>
          <a:xfrm>
            <a:off x="7104888" y="2057400"/>
            <a:ext cx="1984248" cy="1600200"/>
          </a:xfrm>
          <a:prstGeom prst="rect">
            <a:avLst/>
          </a:prstGeom>
          <a:solidFill>
            <a:srgbClr val="FFFFFF"/>
          </a:solidFill>
          <a:ln w="9525">
            <a:solidFill>
              <a:srgbClr val="D8D3C8"/>
            </a:solidFill>
            <a:prstDash val="solid"/>
          </a:ln>
        </p:spPr>
      </p:sp>
      <p:sp>
        <p:nvSpPr>
          <p:cNvPr id="20" name="Text 18"/>
          <p:cNvSpPr txBox="1"/>
          <p:nvPr/>
        </p:nvSpPr>
        <p:spPr>
          <a:xfrm>
            <a:off x="7269480" y="2221992"/>
            <a:ext cx="548640" cy="228600"/>
          </a:xfrm>
          <a:prstGeom prst="rect">
            <a:avLst/>
          </a:prstGeom>
          <a:noFill/>
          <a:ln/>
        </p:spPr>
        <p:txBody>
          <a:bodyPr wrap="square" lIns="0" tIns="0" rIns="0" bIns="0" rtlCol="0" anchor="t"/>
          <a:lstStyle/>
          <a:p>
            <a:pPr indent="0" marL="0">
              <a:buNone/>
            </a:pPr>
            <a:r>
              <a:rPr lang="en-US" sz="900" b="1" spc="120" kern="0" dirty="0">
                <a:solidFill>
                  <a:schemeClr val="accent1"/>
                </a:solidFill>
                <a:latin typeface="Courier New" pitchFamily="34" charset="0"/>
                <a:ea typeface="Courier New" pitchFamily="34" charset="-122"/>
                <a:cs typeface="Courier New" pitchFamily="34" charset="-120"/>
              </a:rPr>
              <a:t>04</a:t>
            </a:r>
            <a:endParaRPr lang="en-US" sz="900" dirty="0"/>
          </a:p>
        </p:txBody>
      </p:sp>
      <p:sp>
        <p:nvSpPr>
          <p:cNvPr id="21" name="Text 19"/>
          <p:cNvSpPr txBox="1"/>
          <p:nvPr/>
        </p:nvSpPr>
        <p:spPr>
          <a:xfrm>
            <a:off x="7269480" y="2478024"/>
            <a:ext cx="1655064" cy="292608"/>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PLACE</a:t>
            </a:r>
            <a:endParaRPr lang="en-US" sz="1400" dirty="0"/>
          </a:p>
        </p:txBody>
      </p:sp>
      <p:sp>
        <p:nvSpPr>
          <p:cNvPr id="22" name="Text 20"/>
          <p:cNvSpPr txBox="1"/>
          <p:nvPr/>
        </p:nvSpPr>
        <p:spPr>
          <a:xfrm>
            <a:off x="7269480" y="2807208"/>
            <a:ext cx="1655064" cy="777240"/>
          </a:xfrm>
          <a:prstGeom prst="rect">
            <a:avLst/>
          </a:prstGeom>
          <a:noFill/>
          <a:ln/>
        </p:spPr>
        <p:txBody>
          <a:bodyPr wrap="square" lIns="0" tIns="0" rIns="0" bIns="0" rtlCol="0" anchor="t"/>
          <a:lstStyle/>
          <a:p>
            <a:pPr indent="0" marL="0">
              <a:buNone/>
            </a:pPr>
            <a:r>
              <a:rPr lang="en-US" sz="1200" dirty="0">
                <a:solidFill>
                  <a:srgbClr val="5C616B"/>
                </a:solidFill>
              </a:rPr>
              <a:t>Round ends. Placement becomes points (4 / 3 / 2 / 1, proposed).</a:t>
            </a:r>
            <a:endParaRPr lang="en-US" sz="1200" dirty="0"/>
          </a:p>
        </p:txBody>
      </p:sp>
      <p:sp>
        <p:nvSpPr>
          <p:cNvPr id="23" name="Shape 21"/>
          <p:cNvSpPr/>
          <p:nvPr/>
        </p:nvSpPr>
        <p:spPr>
          <a:xfrm>
            <a:off x="9107424" y="2857500"/>
            <a:ext cx="164592" cy="0"/>
          </a:xfrm>
          <a:prstGeom prst="line">
            <a:avLst/>
          </a:prstGeom>
          <a:noFill/>
          <a:ln w="15875">
            <a:solidFill>
              <a:srgbClr val="14161B"/>
            </a:solidFill>
            <a:prstDash val="solid"/>
            <a:tailEnd type="triangle"/>
          </a:ln>
        </p:spPr>
      </p:sp>
      <p:sp>
        <p:nvSpPr>
          <p:cNvPr id="24" name="Step STANDINGS"/>
          <p:cNvSpPr/>
          <p:nvPr/>
        </p:nvSpPr>
        <p:spPr>
          <a:xfrm>
            <a:off x="9290304" y="2057400"/>
            <a:ext cx="1984248" cy="1600200"/>
          </a:xfrm>
          <a:prstGeom prst="rect">
            <a:avLst/>
          </a:prstGeom>
          <a:solidFill>
            <a:srgbClr val="FFFFFF"/>
          </a:solidFill>
          <a:ln w="9525">
            <a:solidFill>
              <a:srgbClr val="D8D3C8"/>
            </a:solidFill>
            <a:prstDash val="solid"/>
          </a:ln>
        </p:spPr>
      </p:sp>
      <p:sp>
        <p:nvSpPr>
          <p:cNvPr id="25" name="Text 23"/>
          <p:cNvSpPr txBox="1"/>
          <p:nvPr/>
        </p:nvSpPr>
        <p:spPr>
          <a:xfrm>
            <a:off x="9454896" y="2221992"/>
            <a:ext cx="548640" cy="228600"/>
          </a:xfrm>
          <a:prstGeom prst="rect">
            <a:avLst/>
          </a:prstGeom>
          <a:noFill/>
          <a:ln/>
        </p:spPr>
        <p:txBody>
          <a:bodyPr wrap="square" lIns="0" tIns="0" rIns="0" bIns="0" rtlCol="0" anchor="t"/>
          <a:lstStyle/>
          <a:p>
            <a:pPr indent="0" marL="0">
              <a:buNone/>
            </a:pPr>
            <a:r>
              <a:rPr lang="en-US" sz="900" b="1" spc="120" kern="0" dirty="0">
                <a:solidFill>
                  <a:schemeClr val="accent1"/>
                </a:solidFill>
                <a:latin typeface="Courier New" pitchFamily="34" charset="0"/>
                <a:ea typeface="Courier New" pitchFamily="34" charset="-122"/>
                <a:cs typeface="Courier New" pitchFamily="34" charset="-120"/>
              </a:rPr>
              <a:t>05</a:t>
            </a:r>
            <a:endParaRPr lang="en-US" sz="900" dirty="0"/>
          </a:p>
        </p:txBody>
      </p:sp>
      <p:sp>
        <p:nvSpPr>
          <p:cNvPr id="26" name="Text 24"/>
          <p:cNvSpPr txBox="1"/>
          <p:nvPr/>
        </p:nvSpPr>
        <p:spPr>
          <a:xfrm>
            <a:off x="9454896" y="2478024"/>
            <a:ext cx="1655064" cy="292608"/>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STANDINGS</a:t>
            </a:r>
            <a:endParaRPr lang="en-US" sz="1400" dirty="0"/>
          </a:p>
        </p:txBody>
      </p:sp>
      <p:sp>
        <p:nvSpPr>
          <p:cNvPr id="27" name="Text 25"/>
          <p:cNvSpPr txBox="1"/>
          <p:nvPr/>
        </p:nvSpPr>
        <p:spPr>
          <a:xfrm>
            <a:off x="9454896" y="2807208"/>
            <a:ext cx="1655064" cy="777240"/>
          </a:xfrm>
          <a:prstGeom prst="rect">
            <a:avLst/>
          </a:prstGeom>
          <a:noFill/>
          <a:ln/>
        </p:spPr>
        <p:txBody>
          <a:bodyPr wrap="square" lIns="0" tIns="0" rIns="0" bIns="0" rtlCol="0" anchor="t"/>
          <a:lstStyle/>
          <a:p>
            <a:pPr indent="0" marL="0">
              <a:buNone/>
            </a:pPr>
            <a:r>
              <a:rPr lang="en-US" sz="1200" dirty="0">
                <a:solidFill>
                  <a:srgbClr val="5C616B"/>
                </a:solidFill>
              </a:rPr>
              <a:t>Scoreboard updates. After the last round: overall winner.</a:t>
            </a:r>
            <a:endParaRPr lang="en-US" sz="1200" dirty="0"/>
          </a:p>
        </p:txBody>
      </p:sp>
      <p:sp>
        <p:nvSpPr>
          <p:cNvPr id="28" name="Shape 26"/>
          <p:cNvSpPr/>
          <p:nvPr/>
        </p:nvSpPr>
        <p:spPr>
          <a:xfrm>
            <a:off x="10282428" y="3657600"/>
            <a:ext cx="0" cy="411480"/>
          </a:xfrm>
          <a:prstGeom prst="line">
            <a:avLst/>
          </a:prstGeom>
          <a:noFill/>
          <a:ln w="15875">
            <a:solidFill>
              <a:schemeClr val="accent1"/>
            </a:solidFill>
            <a:prstDash val="solid"/>
          </a:ln>
        </p:spPr>
      </p:sp>
      <p:sp>
        <p:nvSpPr>
          <p:cNvPr id="29" name="Shape 27"/>
          <p:cNvSpPr/>
          <p:nvPr/>
        </p:nvSpPr>
        <p:spPr>
          <a:xfrm>
            <a:off x="3726180" y="4069080"/>
            <a:ext cx="6556248" cy="0"/>
          </a:xfrm>
          <a:prstGeom prst="line">
            <a:avLst/>
          </a:prstGeom>
          <a:noFill/>
          <a:ln w="15875">
            <a:solidFill>
              <a:schemeClr val="accent1"/>
            </a:solidFill>
            <a:prstDash val="solid"/>
          </a:ln>
        </p:spPr>
      </p:sp>
      <p:sp>
        <p:nvSpPr>
          <p:cNvPr id="30" name="Shape 28"/>
          <p:cNvSpPr/>
          <p:nvPr/>
        </p:nvSpPr>
        <p:spPr>
          <a:xfrm flipV="1">
            <a:off x="3726180" y="3657600"/>
            <a:ext cx="0" cy="411480"/>
          </a:xfrm>
          <a:prstGeom prst="line">
            <a:avLst/>
          </a:prstGeom>
          <a:noFill/>
          <a:ln w="15875">
            <a:solidFill>
              <a:schemeClr val="accent1"/>
            </a:solidFill>
            <a:prstDash val="solid"/>
            <a:tailEnd type="triangle"/>
          </a:ln>
        </p:spPr>
      </p:sp>
      <p:sp>
        <p:nvSpPr>
          <p:cNvPr id="31" name="Loop label background"/>
          <p:cNvSpPr/>
          <p:nvPr/>
        </p:nvSpPr>
        <p:spPr>
          <a:xfrm>
            <a:off x="6044184" y="3941064"/>
            <a:ext cx="1920240" cy="256032"/>
          </a:xfrm>
          <a:prstGeom prst="rect">
            <a:avLst/>
          </a:prstGeom>
          <a:solidFill>
            <a:srgbClr val="F2EFE9"/>
          </a:solidFill>
          <a:ln w="12700">
            <a:solidFill>
              <a:srgbClr val="F2EFE9"/>
            </a:solidFill>
            <a:prstDash val="solid"/>
          </a:ln>
        </p:spPr>
      </p:sp>
      <p:sp>
        <p:nvSpPr>
          <p:cNvPr id="32" name="Text 30"/>
          <p:cNvSpPr txBox="1"/>
          <p:nvPr/>
        </p:nvSpPr>
        <p:spPr>
          <a:xfrm>
            <a:off x="6044184" y="3959352"/>
            <a:ext cx="1920240" cy="219456"/>
          </a:xfrm>
          <a:prstGeom prst="rect">
            <a:avLst/>
          </a:prstGeom>
          <a:noFill/>
          <a:ln/>
        </p:spPr>
        <p:txBody>
          <a:bodyPr wrap="square" lIns="0" tIns="0" rIns="0" bIns="0" rtlCol="0" anchor="t"/>
          <a:lstStyle/>
          <a:p>
            <a:pPr algn="ctr" indent="0" marL="0">
              <a:buNone/>
            </a:pPr>
            <a:r>
              <a:rPr lang="en-US" sz="900" b="1" spc="120" kern="0" dirty="0">
                <a:solidFill>
                  <a:schemeClr val="accent1"/>
                </a:solidFill>
                <a:latin typeface="Courier New" pitchFamily="34" charset="0"/>
                <a:ea typeface="Courier New" pitchFamily="34" charset="-122"/>
                <a:cs typeface="Courier New" pitchFamily="34" charset="-120"/>
              </a:rPr>
              <a:t>NEXT MINI-GAME</a:t>
            </a:r>
            <a:endParaRPr lang="en-US" sz="900" dirty="0"/>
          </a:p>
        </p:txBody>
      </p:sp>
      <p:sp>
        <p:nvSpPr>
          <p:cNvPr id="33" name="Shape 31"/>
          <p:cNvSpPr/>
          <p:nvPr/>
        </p:nvSpPr>
        <p:spPr>
          <a:xfrm>
            <a:off x="548640" y="4841558"/>
            <a:ext cx="11094415" cy="9525"/>
          </a:xfrm>
          <a:prstGeom prst="rect">
            <a:avLst/>
          </a:prstGeom>
          <a:solidFill>
            <a:srgbClr val="D8D3C8"/>
          </a:solidFill>
          <a:ln w="12700">
            <a:solidFill>
              <a:srgbClr val="D8D3C8"/>
            </a:solidFill>
            <a:prstDash val="solid"/>
          </a:ln>
        </p:spPr>
      </p:sp>
      <p:sp>
        <p:nvSpPr>
          <p:cNvPr id="34" name="Text 32"/>
          <p:cNvSpPr txBox="1"/>
          <p:nvPr/>
        </p:nvSpPr>
        <p:spPr>
          <a:xfrm>
            <a:off x="548640" y="5029200"/>
            <a:ext cx="2103120" cy="274320"/>
          </a:xfrm>
          <a:prstGeom prst="rect">
            <a:avLst/>
          </a:prstGeom>
          <a:noFill/>
          <a:ln/>
        </p:spPr>
        <p:txBody>
          <a:bodyPr wrap="square" lIns="0" tIns="0" rIns="0" bIns="0" rtlCol="0" anchor="t"/>
          <a:lstStyle/>
          <a:p>
            <a:pPr indent="0" marL="0">
              <a:buNone/>
            </a:pPr>
            <a:r>
              <a:rPr lang="en-US" sz="900" b="1" spc="120" kern="0" dirty="0">
                <a:solidFill>
                  <a:schemeClr val="tx1"/>
                </a:solidFill>
                <a:latin typeface="Courier New" pitchFamily="34" charset="0"/>
                <a:ea typeface="Courier New" pitchFamily="34" charset="-122"/>
                <a:cs typeface="Courier New" pitchFamily="34" charset="-120"/>
              </a:rPr>
              <a:t>BETWEEN ROUNDS</a:t>
            </a:r>
            <a:endParaRPr lang="en-US" sz="900" dirty="0"/>
          </a:p>
        </p:txBody>
      </p:sp>
      <p:sp>
        <p:nvSpPr>
          <p:cNvPr id="35" name="Text 33"/>
          <p:cNvSpPr txBox="1"/>
          <p:nvPr/>
        </p:nvSpPr>
        <p:spPr>
          <a:xfrm>
            <a:off x="2834640" y="5010912"/>
            <a:ext cx="2788920" cy="914400"/>
          </a:xfrm>
          <a:prstGeom prst="rect">
            <a:avLst/>
          </a:prstGeom>
          <a:noFill/>
          <a:ln/>
        </p:spPr>
        <p:txBody>
          <a:bodyPr wrap="square" lIns="0" tIns="0" rIns="0" bIns="0" rtlCol="0" anchor="t"/>
          <a:lstStyle/>
          <a:p>
            <a:pPr indent="0" marL="0">
              <a:buNone/>
            </a:pPr>
            <a:r>
              <a:rPr lang="en-US" sz="1200" b="1" dirty="0">
                <a:solidFill>
                  <a:schemeClr val="tx1"/>
                </a:solidFill>
              </a:rPr>
              <a:t>Points  </a:t>
            </a:r>
            <a:pPr indent="0" marL="0">
              <a:buNone/>
            </a:pPr>
            <a:r>
              <a:rPr lang="en-US" sz="1200" dirty="0">
                <a:solidFill>
                  <a:srgbClr val="5C616B"/>
                </a:solidFill>
              </a:rPr>
              <a:t>The only thing that accumulates.</a:t>
            </a:r>
            <a:endParaRPr lang="en-US" sz="1200" dirty="0"/>
          </a:p>
        </p:txBody>
      </p:sp>
      <p:sp>
        <p:nvSpPr>
          <p:cNvPr id="36" name="Text 34"/>
          <p:cNvSpPr txBox="1"/>
          <p:nvPr/>
        </p:nvSpPr>
        <p:spPr>
          <a:xfrm>
            <a:off x="5806440" y="5010912"/>
            <a:ext cx="2788920" cy="914400"/>
          </a:xfrm>
          <a:prstGeom prst="rect">
            <a:avLst/>
          </a:prstGeom>
          <a:noFill/>
          <a:ln/>
        </p:spPr>
        <p:txBody>
          <a:bodyPr wrap="square" lIns="0" tIns="0" rIns="0" bIns="0" rtlCol="0" anchor="t"/>
          <a:lstStyle/>
          <a:p>
            <a:pPr indent="0" marL="0">
              <a:buNone/>
            </a:pPr>
            <a:r>
              <a:rPr lang="en-US" sz="1200" b="1" dirty="0">
                <a:solidFill>
                  <a:schemeClr val="tx1"/>
                </a:solidFill>
              </a:rPr>
              <a:t>Catch-up  </a:t>
            </a:r>
            <a:pPr indent="0" marL="0">
              <a:buNone/>
            </a:pPr>
            <a:r>
              <a:rPr lang="en-US" sz="1200" dirty="0">
                <a:solidFill>
                  <a:srgbClr val="5C616B"/>
                </a:solidFill>
              </a:rPr>
              <a:t>The last round’s winner earns slightly fewer points in the next one; last place earns slightly more. Nobody drops out of the race before the final.</a:t>
            </a:r>
            <a:endParaRPr lang="en-US" sz="1200" dirty="0"/>
          </a:p>
        </p:txBody>
      </p:sp>
      <p:sp>
        <p:nvSpPr>
          <p:cNvPr id="37" name="Text 35"/>
          <p:cNvSpPr txBox="1"/>
          <p:nvPr/>
        </p:nvSpPr>
        <p:spPr>
          <a:xfrm>
            <a:off x="8778240" y="5010912"/>
            <a:ext cx="2788920" cy="914400"/>
          </a:xfrm>
          <a:prstGeom prst="rect">
            <a:avLst/>
          </a:prstGeom>
          <a:noFill/>
          <a:ln/>
        </p:spPr>
        <p:txBody>
          <a:bodyPr wrap="square" lIns="0" tIns="0" rIns="0" bIns="0" rtlCol="0" anchor="t"/>
          <a:lstStyle/>
          <a:p>
            <a:pPr indent="0" marL="0">
              <a:buNone/>
            </a:pPr>
            <a:r>
              <a:rPr lang="en-US" sz="1200" b="1" dirty="0">
                <a:solidFill>
                  <a:schemeClr val="tx1"/>
                </a:solidFill>
              </a:rPr>
              <a:t>Nothing physical  </a:t>
            </a:r>
            <a:pPr indent="0" marL="0">
              <a:buNone/>
            </a:pPr>
            <a:r>
              <a:rPr lang="en-US" sz="1200" dirty="0">
                <a:solidFill>
                  <a:srgbClr val="5C616B"/>
                </a:solidFill>
              </a:rPr>
              <a:t>Mass and position reset every round, so one bad round does not snowball.</a:t>
            </a:r>
            <a:endParaRPr lang="en-US" sz="1200" dirty="0"/>
          </a:p>
        </p:txBody>
      </p:sp>
      <p:sp>
        <p:nvSpPr>
          <p:cNvPr id="25" name="Slide Number Placeholder 0"/>
          <p:cNvSpPr>
            <a:spLocks noGrp="1"/>
          </p:cNvSpPr>
          <p:nvPr>
            <p:ph type="sldNum" sz="quarter" idx="4294967295"/>
          </p:nvPr>
        </p:nvSpPr>
        <p:spPr>
          <a:xfrm>
            <a:off x="11064240" y="384048"/>
            <a:ext cx="576072"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5C616B"/>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p:nvPr>
            <p:ph idx="107" type="body" hasCustomPrompt="1"/>
          </p:nvPr>
        </p:nvSpPr>
        <p:spPr>
          <a:xfrm>
            <a:off x="548640" y="384048"/>
            <a:ext cx="6949440" cy="237744"/>
          </a:xfrm>
          <a:prstGeom prst="rect">
            <a:avLst/>
          </a:prstGeom>
          <a:noFill/>
          <a:ln/>
        </p:spPr>
        <p:txBody>
          <a:bodyPr wrap="square" lIns="0" tIns="0" rIns="0" bIns="0" rtlCol="0" anchor="ctr"/>
          <a:lstStyle/>
          <a:p>
            <a:pPr indent="0" marL="0">
              <a:buNone/>
            </a:pPr>
            <a:r>
              <a:rPr lang="en-US" sz="950" b="1" spc="150" kern="0" dirty="0">
                <a:solidFill>
                  <a:schemeClr val="accent1"/>
                </a:solidFill>
                <a:latin typeface="Courier New" pitchFamily="34" charset="0"/>
                <a:ea typeface="Courier New" pitchFamily="34" charset="-122"/>
                <a:cs typeface="Courier New" pitchFamily="34" charset="-120"/>
              </a:rPr>
              <a:t>03 — CORE MECHANIC</a:t>
            </a:r>
            <a:endParaRPr lang="en-US" sz="950" dirty="0"/>
          </a:p>
        </p:txBody>
      </p:sp>
      <p:sp>
        <p:nvSpPr>
          <p:cNvPr id="3" name="Text 7"/>
          <p:cNvSpPr/>
          <p:nvPr>
            <p:ph idx="108"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Your mass is your health, your ammunition and your weight</a:t>
            </a:r>
            <a:endParaRPr lang="en-US" sz="3000" dirty="0"/>
          </a:p>
        </p:txBody>
      </p:sp>
      <p:pic>
        <p:nvPicPr>
          <p:cNvPr id="4" name="Mechanic step SHOOT" descr="Mechanic step SHOOT">    </p:cNvPr>
          <p:cNvPicPr>
            <a:picLocks noChangeAspect="1"/>
          </p:cNvPicPr>
          <p:nvPr/>
        </p:nvPicPr>
        <p:blipFill>
          <a:blip r:embed="rId1"/>
          <a:stretch>
            <a:fillRect/>
          </a:stretch>
        </p:blipFill>
        <p:spPr>
          <a:xfrm>
            <a:off x="548640" y="1874520"/>
            <a:ext cx="3511296" cy="2651760"/>
          </a:xfrm>
          <a:prstGeom prst="rect">
            <a:avLst/>
          </a:prstGeom>
        </p:spPr>
      </p:pic>
      <p:sp>
        <p:nvSpPr>
          <p:cNvPr id="5" name="Step number 1"/>
          <p:cNvSpPr/>
          <p:nvPr/>
        </p:nvSpPr>
        <p:spPr>
          <a:xfrm>
            <a:off x="548640" y="1874520"/>
            <a:ext cx="457200" cy="457200"/>
          </a:xfrm>
          <a:prstGeom prst="rect">
            <a:avLst/>
          </a:prstGeom>
          <a:solidFill>
            <a:srgbClr val="14161B"/>
          </a:solidFill>
          <a:ln w="12700">
            <a:solidFill>
              <a:srgbClr val="14161B"/>
            </a:solidFill>
            <a:prstDash val="solid"/>
          </a:ln>
        </p:spPr>
      </p:sp>
      <p:sp>
        <p:nvSpPr>
          <p:cNvPr id="6" name="Text 3"/>
          <p:cNvSpPr txBox="1"/>
          <p:nvPr/>
        </p:nvSpPr>
        <p:spPr>
          <a:xfrm>
            <a:off x="548640" y="18745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1</a:t>
            </a:r>
            <a:endParaRPr lang="en-US" sz="1400" dirty="0"/>
          </a:p>
        </p:txBody>
      </p:sp>
      <p:sp>
        <p:nvSpPr>
          <p:cNvPr id="7" name="Text 4"/>
          <p:cNvSpPr txBox="1"/>
          <p:nvPr/>
        </p:nvSpPr>
        <p:spPr>
          <a:xfrm>
            <a:off x="548640" y="4681728"/>
            <a:ext cx="3511296" cy="292608"/>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SHOOT</a:t>
            </a:r>
            <a:endParaRPr lang="en-US" sz="1500" dirty="0"/>
          </a:p>
        </p:txBody>
      </p:sp>
      <p:sp>
        <p:nvSpPr>
          <p:cNvPr id="8" name="Text 5"/>
          <p:cNvSpPr txBox="1"/>
          <p:nvPr/>
        </p:nvSpPr>
        <p:spPr>
          <a:xfrm>
            <a:off x="548640" y="4992624"/>
            <a:ext cx="3383280" cy="685800"/>
          </a:xfrm>
          <a:prstGeom prst="rect">
            <a:avLst/>
          </a:prstGeom>
          <a:noFill/>
          <a:ln/>
        </p:spPr>
        <p:txBody>
          <a:bodyPr wrap="square" lIns="0" tIns="0" rIns="0" bIns="0" rtlCol="0" anchor="t"/>
          <a:lstStyle/>
          <a:p>
            <a:pPr indent="0" marL="0">
              <a:buNone/>
            </a:pPr>
            <a:r>
              <a:rPr lang="en-US" sz="1250" dirty="0">
                <a:solidFill>
                  <a:srgbClr val="5C616B"/>
                </a:solidFill>
              </a:rPr>
              <a:t>A cube spits out a piece of its own body. Every shot makes it smaller, hit or miss.</a:t>
            </a:r>
            <a:endParaRPr lang="en-US" sz="1250" dirty="0"/>
          </a:p>
        </p:txBody>
      </p:sp>
      <p:pic>
        <p:nvPicPr>
          <p:cNvPr id="9" name="Mechanic step HIT" descr="Mechanic step HIT">    </p:cNvPr>
          <p:cNvPicPr>
            <a:picLocks noChangeAspect="1"/>
          </p:cNvPicPr>
          <p:nvPr/>
        </p:nvPicPr>
        <p:blipFill>
          <a:blip r:embed="rId2"/>
          <a:stretch>
            <a:fillRect/>
          </a:stretch>
        </p:blipFill>
        <p:spPr>
          <a:xfrm>
            <a:off x="4265676" y="1874520"/>
            <a:ext cx="3511296" cy="2651760"/>
          </a:xfrm>
          <a:prstGeom prst="rect">
            <a:avLst/>
          </a:prstGeom>
        </p:spPr>
      </p:pic>
      <p:sp>
        <p:nvSpPr>
          <p:cNvPr id="10" name="Step number 2"/>
          <p:cNvSpPr/>
          <p:nvPr/>
        </p:nvSpPr>
        <p:spPr>
          <a:xfrm>
            <a:off x="4265676" y="1874520"/>
            <a:ext cx="457200" cy="457200"/>
          </a:xfrm>
          <a:prstGeom prst="rect">
            <a:avLst/>
          </a:prstGeom>
          <a:solidFill>
            <a:srgbClr val="14161B"/>
          </a:solidFill>
          <a:ln w="12700">
            <a:solidFill>
              <a:srgbClr val="14161B"/>
            </a:solidFill>
            <a:prstDash val="solid"/>
          </a:ln>
        </p:spPr>
      </p:sp>
      <p:sp>
        <p:nvSpPr>
          <p:cNvPr id="11" name="Text 7"/>
          <p:cNvSpPr txBox="1"/>
          <p:nvPr/>
        </p:nvSpPr>
        <p:spPr>
          <a:xfrm>
            <a:off x="4265676" y="18745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2</a:t>
            </a:r>
            <a:endParaRPr lang="en-US" sz="1400" dirty="0"/>
          </a:p>
        </p:txBody>
      </p:sp>
      <p:sp>
        <p:nvSpPr>
          <p:cNvPr id="12" name="Text 8"/>
          <p:cNvSpPr txBox="1"/>
          <p:nvPr/>
        </p:nvSpPr>
        <p:spPr>
          <a:xfrm>
            <a:off x="4265676" y="4681728"/>
            <a:ext cx="3511296" cy="292608"/>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HIT</a:t>
            </a:r>
            <a:endParaRPr lang="en-US" sz="1500" dirty="0"/>
          </a:p>
        </p:txBody>
      </p:sp>
      <p:sp>
        <p:nvSpPr>
          <p:cNvPr id="13" name="Text 9"/>
          <p:cNvSpPr txBox="1"/>
          <p:nvPr/>
        </p:nvSpPr>
        <p:spPr>
          <a:xfrm>
            <a:off x="4265676" y="4992624"/>
            <a:ext cx="3383280" cy="685800"/>
          </a:xfrm>
          <a:prstGeom prst="rect">
            <a:avLst/>
          </a:prstGeom>
          <a:noFill/>
          <a:ln/>
        </p:spPr>
        <p:txBody>
          <a:bodyPr wrap="square" lIns="0" tIns="0" rIns="0" bIns="0" rtlCol="0" anchor="t"/>
          <a:lstStyle/>
          <a:p>
            <a:pPr indent="0" marL="0">
              <a:buNone/>
            </a:pPr>
            <a:r>
              <a:rPr lang="en-US" sz="1250" dirty="0">
                <a:solidFill>
                  <a:srgbClr val="5C616B"/>
                </a:solidFill>
              </a:rPr>
              <a:t>The target loses mass on impact and is pushed back along the line of the shot.</a:t>
            </a:r>
            <a:endParaRPr lang="en-US" sz="1250" dirty="0"/>
          </a:p>
        </p:txBody>
      </p:sp>
      <p:pic>
        <p:nvPicPr>
          <p:cNvPr id="14" name="Mechanic step FALL" descr="Mechanic step FALL">    </p:cNvPr>
          <p:cNvPicPr>
            <a:picLocks noChangeAspect="1"/>
          </p:cNvPicPr>
          <p:nvPr/>
        </p:nvPicPr>
        <p:blipFill>
          <a:blip r:embed="rId3"/>
          <a:stretch>
            <a:fillRect/>
          </a:stretch>
        </p:blipFill>
        <p:spPr>
          <a:xfrm>
            <a:off x="7982712" y="1874520"/>
            <a:ext cx="3511296" cy="2651760"/>
          </a:xfrm>
          <a:prstGeom prst="rect">
            <a:avLst/>
          </a:prstGeom>
        </p:spPr>
      </p:pic>
      <p:sp>
        <p:nvSpPr>
          <p:cNvPr id="15" name="Step number 3"/>
          <p:cNvSpPr/>
          <p:nvPr/>
        </p:nvSpPr>
        <p:spPr>
          <a:xfrm>
            <a:off x="7982712" y="1874520"/>
            <a:ext cx="457200" cy="457200"/>
          </a:xfrm>
          <a:prstGeom prst="rect">
            <a:avLst/>
          </a:prstGeom>
          <a:solidFill>
            <a:srgbClr val="14161B"/>
          </a:solidFill>
          <a:ln w="12700">
            <a:solidFill>
              <a:srgbClr val="14161B"/>
            </a:solidFill>
            <a:prstDash val="solid"/>
          </a:ln>
        </p:spPr>
      </p:sp>
      <p:sp>
        <p:nvSpPr>
          <p:cNvPr id="16" name="Text 11"/>
          <p:cNvSpPr txBox="1"/>
          <p:nvPr/>
        </p:nvSpPr>
        <p:spPr>
          <a:xfrm>
            <a:off x="7982712" y="18745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3</a:t>
            </a:r>
            <a:endParaRPr lang="en-US" sz="1400" dirty="0"/>
          </a:p>
        </p:txBody>
      </p:sp>
      <p:sp>
        <p:nvSpPr>
          <p:cNvPr id="17" name="Text 12"/>
          <p:cNvSpPr txBox="1"/>
          <p:nvPr/>
        </p:nvSpPr>
        <p:spPr>
          <a:xfrm>
            <a:off x="7982712" y="4681728"/>
            <a:ext cx="3511296" cy="292608"/>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FALL</a:t>
            </a:r>
            <a:endParaRPr lang="en-US" sz="1500" dirty="0"/>
          </a:p>
        </p:txBody>
      </p:sp>
      <p:sp>
        <p:nvSpPr>
          <p:cNvPr id="18" name="Text 13"/>
          <p:cNvSpPr txBox="1"/>
          <p:nvPr/>
        </p:nvSpPr>
        <p:spPr>
          <a:xfrm>
            <a:off x="7982712" y="4992624"/>
            <a:ext cx="3383280" cy="685800"/>
          </a:xfrm>
          <a:prstGeom prst="rect">
            <a:avLst/>
          </a:prstGeom>
          <a:noFill/>
          <a:ln/>
        </p:spPr>
        <p:txBody>
          <a:bodyPr wrap="square" lIns="0" tIns="0" rIns="0" bIns="0" rtlCol="0" anchor="t"/>
          <a:lstStyle/>
          <a:p>
            <a:pPr indent="0" marL="0">
              <a:buNone/>
            </a:pPr>
            <a:r>
              <a:rPr lang="en-US" sz="1250" dirty="0">
                <a:solidFill>
                  <a:srgbClr val="5C616B"/>
                </a:solidFill>
              </a:rPr>
              <a:t>Less mass means the same hit pushes further. Off the edge is a knockout.</a:t>
            </a:r>
            <a:endParaRPr lang="en-US" sz="1250" dirty="0"/>
          </a:p>
        </p:txBody>
      </p:sp>
      <p:sp>
        <p:nvSpPr>
          <p:cNvPr id="19" name="Text 14"/>
          <p:cNvSpPr txBox="1"/>
          <p:nvPr/>
        </p:nvSpPr>
        <p:spPr>
          <a:xfrm>
            <a:off x="548640" y="5943600"/>
            <a:ext cx="11094415" cy="182880"/>
          </a:xfrm>
          <a:prstGeom prst="rect">
            <a:avLst/>
          </a:prstGeom>
          <a:noFill/>
          <a:ln/>
        </p:spPr>
        <p:txBody>
          <a:bodyPr wrap="square" lIns="0" tIns="0" rIns="0" bIns="0" rtlCol="0" anchor="t"/>
          <a:lstStyle/>
          <a:p>
            <a:pPr indent="0" marL="0">
              <a:buNone/>
            </a:pPr>
            <a:r>
              <a:rPr lang="en-US" sz="800" spc="30" kern="0" dirty="0">
                <a:solidFill>
                  <a:srgbClr val="5C616B"/>
                </a:solidFill>
                <a:latin typeface="Courier New" pitchFamily="34" charset="0"/>
                <a:ea typeface="Courier New" pitchFamily="34" charset="-122"/>
                <a:cs typeface="Courier New" pitchFamily="34" charset="-120"/>
              </a:rPr>
              <a:t>FIG 2  Three moments of one exchange in Mass Knockout. Concept render, AI-generated. Not gameplay.</a:t>
            </a:r>
            <a:endParaRPr lang="en-US" sz="800" dirty="0"/>
          </a:p>
        </p:txBody>
      </p:sp>
      <p:sp>
        <p:nvSpPr>
          <p:cNvPr id="25" name="Slide Number Placeholder 0"/>
          <p:cNvSpPr>
            <a:spLocks noGrp="1"/>
          </p:cNvSpPr>
          <p:nvPr>
            <p:ph type="sldNum" sz="quarter" idx="4294967295"/>
          </p:nvPr>
        </p:nvSpPr>
        <p:spPr>
          <a:xfrm>
            <a:off x="11064240" y="384048"/>
            <a:ext cx="576072"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5C616B"/>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p:nvPr>
            <p:ph idx="107" type="body" hasCustomPrompt="1"/>
          </p:nvPr>
        </p:nvSpPr>
        <p:spPr>
          <a:xfrm>
            <a:off x="548640" y="384048"/>
            <a:ext cx="6949440" cy="237744"/>
          </a:xfrm>
          <a:prstGeom prst="rect">
            <a:avLst/>
          </a:prstGeom>
          <a:noFill/>
          <a:ln/>
        </p:spPr>
        <p:txBody>
          <a:bodyPr wrap="square" lIns="0" tIns="0" rIns="0" bIns="0" rtlCol="0" anchor="ctr"/>
          <a:lstStyle/>
          <a:p>
            <a:pPr indent="0" marL="0">
              <a:buNone/>
            </a:pPr>
            <a:r>
              <a:rPr lang="en-US" sz="950" b="1" spc="150" kern="0" dirty="0">
                <a:solidFill>
                  <a:schemeClr val="accent1"/>
                </a:solidFill>
                <a:latin typeface="Courier New" pitchFamily="34" charset="0"/>
                <a:ea typeface="Courier New" pitchFamily="34" charset="-122"/>
                <a:cs typeface="Courier New" pitchFamily="34" charset="-120"/>
              </a:rPr>
              <a:t>04 — DESIGN REASONING</a:t>
            </a:r>
            <a:endParaRPr lang="en-US" sz="950" dirty="0"/>
          </a:p>
        </p:txBody>
      </p:sp>
      <p:sp>
        <p:nvSpPr>
          <p:cNvPr id="3" name="Text 7"/>
          <p:cNvSpPr/>
          <p:nvPr>
            <p:ph idx="108"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Why both the shooter and the target lose mass</a:t>
            </a:r>
            <a:endParaRPr lang="en-US" sz="3000" dirty="0"/>
          </a:p>
        </p:txBody>
      </p:sp>
      <p:sp>
        <p:nvSpPr>
          <p:cNvPr id="4" name="IF ONLY THE SHOOTER PAID"/>
          <p:cNvSpPr/>
          <p:nvPr/>
        </p:nvSpPr>
        <p:spPr>
          <a:xfrm>
            <a:off x="548640" y="1965960"/>
            <a:ext cx="3511296" cy="2468880"/>
          </a:xfrm>
          <a:prstGeom prst="rect">
            <a:avLst/>
          </a:prstGeom>
          <a:solidFill>
            <a:srgbClr val="FFFFFF"/>
          </a:solidFill>
          <a:ln w="9525">
            <a:solidFill>
              <a:srgbClr val="D8D3C8"/>
            </a:solidFill>
            <a:prstDash val="solid"/>
          </a:ln>
        </p:spPr>
      </p:sp>
      <p:sp>
        <p:nvSpPr>
          <p:cNvPr id="5" name="Text 3"/>
          <p:cNvSpPr txBox="1"/>
          <p:nvPr/>
        </p:nvSpPr>
        <p:spPr>
          <a:xfrm>
            <a:off x="777240" y="2221992"/>
            <a:ext cx="3108960" cy="274320"/>
          </a:xfrm>
          <a:prstGeom prst="rect">
            <a:avLst/>
          </a:prstGeom>
          <a:noFill/>
          <a:ln/>
        </p:spPr>
        <p:txBody>
          <a:bodyPr wrap="square" lIns="0" tIns="0" rIns="0" bIns="0" rtlCol="0" anchor="t"/>
          <a:lstStyle/>
          <a:p>
            <a:pPr indent="0" marL="0">
              <a:buNone/>
            </a:pPr>
            <a:r>
              <a:rPr lang="en-US" sz="900" b="1" spc="120" kern="0" dirty="0">
                <a:solidFill>
                  <a:schemeClr val="tx1"/>
                </a:solidFill>
                <a:latin typeface="Courier New" pitchFamily="34" charset="0"/>
                <a:ea typeface="Courier New" pitchFamily="34" charset="-122"/>
                <a:cs typeface="Courier New" pitchFamily="34" charset="-120"/>
              </a:rPr>
              <a:t>IF ONLY THE SHOOTER PAID</a:t>
            </a:r>
            <a:endParaRPr lang="en-US" sz="900" dirty="0"/>
          </a:p>
        </p:txBody>
      </p:sp>
      <p:sp>
        <p:nvSpPr>
          <p:cNvPr id="6" name="Text 4"/>
          <p:cNvSpPr txBox="1"/>
          <p:nvPr/>
        </p:nvSpPr>
        <p:spPr>
          <a:xfrm>
            <a:off x="777240" y="2624328"/>
            <a:ext cx="3054096" cy="1371600"/>
          </a:xfrm>
          <a:prstGeom prst="rect">
            <a:avLst/>
          </a:prstGeom>
          <a:noFill/>
          <a:ln/>
        </p:spPr>
        <p:txBody>
          <a:bodyPr wrap="square" lIns="0" tIns="0" rIns="0" bIns="0" rtlCol="0" anchor="t"/>
          <a:lstStyle/>
          <a:p>
            <a:pPr indent="0" marL="0">
              <a:buNone/>
            </a:pPr>
            <a:r>
              <a:rPr lang="en-US" sz="1500" dirty="0">
                <a:solidFill>
                  <a:schemeClr val="tx1"/>
                </a:solidFill>
              </a:rPr>
              <a:t>Shooting is pure loss. The best play is to never shoot and wait for the others to weaken each other.</a:t>
            </a:r>
            <a:endParaRPr lang="en-US" sz="1500" dirty="0"/>
          </a:p>
        </p:txBody>
      </p:sp>
      <p:sp>
        <p:nvSpPr>
          <p:cNvPr id="7" name="Shape 5"/>
          <p:cNvSpPr/>
          <p:nvPr/>
        </p:nvSpPr>
        <p:spPr>
          <a:xfrm>
            <a:off x="777240" y="3771710"/>
            <a:ext cx="3054096" cy="9525"/>
          </a:xfrm>
          <a:prstGeom prst="rect">
            <a:avLst/>
          </a:prstGeom>
          <a:solidFill>
            <a:srgbClr val="D8D3C8"/>
          </a:solidFill>
          <a:ln w="12700">
            <a:solidFill>
              <a:srgbClr val="D8D3C8"/>
            </a:solidFill>
            <a:prstDash val="solid"/>
          </a:ln>
        </p:spPr>
      </p:sp>
      <p:sp>
        <p:nvSpPr>
          <p:cNvPr id="8" name="Text 6"/>
          <p:cNvSpPr txBox="1"/>
          <p:nvPr/>
        </p:nvSpPr>
        <p:spPr>
          <a:xfrm>
            <a:off x="777240" y="3959352"/>
            <a:ext cx="3054096" cy="256032"/>
          </a:xfrm>
          <a:prstGeom prst="rect">
            <a:avLst/>
          </a:prstGeom>
          <a:noFill/>
          <a:ln/>
        </p:spPr>
        <p:txBody>
          <a:bodyPr wrap="square" lIns="0" tIns="0" rIns="0" bIns="0" rtlCol="0" anchor="t"/>
          <a:lstStyle/>
          <a:p>
            <a:pPr indent="0" marL="0">
              <a:buNone/>
            </a:pPr>
            <a:r>
              <a:rPr lang="en-US" sz="900" b="1" spc="120" kern="0" dirty="0">
                <a:solidFill>
                  <a:srgbClr val="5C616B"/>
                </a:solidFill>
                <a:latin typeface="Courier New" pitchFamily="34" charset="0"/>
                <a:ea typeface="Courier New" pitchFamily="34" charset="-122"/>
                <a:cs typeface="Courier New" pitchFamily="34" charset="-120"/>
              </a:rPr>
              <a:t>REWARDS HIDING</a:t>
            </a:r>
            <a:endParaRPr lang="en-US" sz="900" dirty="0"/>
          </a:p>
        </p:txBody>
      </p:sp>
      <p:sp>
        <p:nvSpPr>
          <p:cNvPr id="9" name="IF ONLY THE TARGET PAID"/>
          <p:cNvSpPr/>
          <p:nvPr/>
        </p:nvSpPr>
        <p:spPr>
          <a:xfrm>
            <a:off x="4265676" y="1965960"/>
            <a:ext cx="3511296" cy="2468880"/>
          </a:xfrm>
          <a:prstGeom prst="rect">
            <a:avLst/>
          </a:prstGeom>
          <a:solidFill>
            <a:srgbClr val="FFFFFF"/>
          </a:solidFill>
          <a:ln w="9525">
            <a:solidFill>
              <a:srgbClr val="D8D3C8"/>
            </a:solidFill>
            <a:prstDash val="solid"/>
          </a:ln>
        </p:spPr>
      </p:sp>
      <p:sp>
        <p:nvSpPr>
          <p:cNvPr id="10" name="Text 8"/>
          <p:cNvSpPr txBox="1"/>
          <p:nvPr/>
        </p:nvSpPr>
        <p:spPr>
          <a:xfrm>
            <a:off x="4494276" y="2221992"/>
            <a:ext cx="3108960" cy="274320"/>
          </a:xfrm>
          <a:prstGeom prst="rect">
            <a:avLst/>
          </a:prstGeom>
          <a:noFill/>
          <a:ln/>
        </p:spPr>
        <p:txBody>
          <a:bodyPr wrap="square" lIns="0" tIns="0" rIns="0" bIns="0" rtlCol="0" anchor="t"/>
          <a:lstStyle/>
          <a:p>
            <a:pPr indent="0" marL="0">
              <a:buNone/>
            </a:pPr>
            <a:r>
              <a:rPr lang="en-US" sz="900" b="1" spc="120" kern="0" dirty="0">
                <a:solidFill>
                  <a:schemeClr val="tx1"/>
                </a:solidFill>
                <a:latin typeface="Courier New" pitchFamily="34" charset="0"/>
                <a:ea typeface="Courier New" pitchFamily="34" charset="-122"/>
                <a:cs typeface="Courier New" pitchFamily="34" charset="-120"/>
              </a:rPr>
              <a:t>IF ONLY THE TARGET PAID</a:t>
            </a:r>
            <a:endParaRPr lang="en-US" sz="900" dirty="0"/>
          </a:p>
        </p:txBody>
      </p:sp>
      <p:sp>
        <p:nvSpPr>
          <p:cNvPr id="11" name="Text 9"/>
          <p:cNvSpPr txBox="1"/>
          <p:nvPr/>
        </p:nvSpPr>
        <p:spPr>
          <a:xfrm>
            <a:off x="4494276" y="2624328"/>
            <a:ext cx="3054096" cy="1371600"/>
          </a:xfrm>
          <a:prstGeom prst="rect">
            <a:avLst/>
          </a:prstGeom>
          <a:noFill/>
          <a:ln/>
        </p:spPr>
        <p:txBody>
          <a:bodyPr wrap="square" lIns="0" tIns="0" rIns="0" bIns="0" rtlCol="0" anchor="t"/>
          <a:lstStyle/>
          <a:p>
            <a:pPr indent="0" marL="0">
              <a:buNone/>
            </a:pPr>
            <a:r>
              <a:rPr lang="en-US" sz="1500" dirty="0">
                <a:solidFill>
                  <a:schemeClr val="tx1"/>
                </a:solidFill>
              </a:rPr>
              <a:t>Shooting is free. The best play is to shoot nonstop in every direction.</a:t>
            </a:r>
            <a:endParaRPr lang="en-US" sz="1500" dirty="0"/>
          </a:p>
        </p:txBody>
      </p:sp>
      <p:sp>
        <p:nvSpPr>
          <p:cNvPr id="12" name="Shape 10"/>
          <p:cNvSpPr/>
          <p:nvPr/>
        </p:nvSpPr>
        <p:spPr>
          <a:xfrm>
            <a:off x="4494276" y="3771710"/>
            <a:ext cx="3054096" cy="9525"/>
          </a:xfrm>
          <a:prstGeom prst="rect">
            <a:avLst/>
          </a:prstGeom>
          <a:solidFill>
            <a:srgbClr val="D8D3C8"/>
          </a:solidFill>
          <a:ln w="12700">
            <a:solidFill>
              <a:srgbClr val="D8D3C8"/>
            </a:solidFill>
            <a:prstDash val="solid"/>
          </a:ln>
        </p:spPr>
      </p:sp>
      <p:sp>
        <p:nvSpPr>
          <p:cNvPr id="13" name="Text 11"/>
          <p:cNvSpPr txBox="1"/>
          <p:nvPr/>
        </p:nvSpPr>
        <p:spPr>
          <a:xfrm>
            <a:off x="4494276" y="3959352"/>
            <a:ext cx="3054096" cy="256032"/>
          </a:xfrm>
          <a:prstGeom prst="rect">
            <a:avLst/>
          </a:prstGeom>
          <a:noFill/>
          <a:ln/>
        </p:spPr>
        <p:txBody>
          <a:bodyPr wrap="square" lIns="0" tIns="0" rIns="0" bIns="0" rtlCol="0" anchor="t"/>
          <a:lstStyle/>
          <a:p>
            <a:pPr indent="0" marL="0">
              <a:buNone/>
            </a:pPr>
            <a:r>
              <a:rPr lang="en-US" sz="900" b="1" spc="120" kern="0" dirty="0">
                <a:solidFill>
                  <a:srgbClr val="5C616B"/>
                </a:solidFill>
                <a:latin typeface="Courier New" pitchFamily="34" charset="0"/>
                <a:ea typeface="Courier New" pitchFamily="34" charset="-122"/>
                <a:cs typeface="Courier New" pitchFamily="34" charset="-120"/>
              </a:rPr>
              <a:t>REWARDS SPAM</a:t>
            </a:r>
            <a:endParaRPr lang="en-US" sz="900" dirty="0"/>
          </a:p>
        </p:txBody>
      </p:sp>
      <p:sp>
        <p:nvSpPr>
          <p:cNvPr id="14" name="BOTH PAY: OUR RULE"/>
          <p:cNvSpPr/>
          <p:nvPr/>
        </p:nvSpPr>
        <p:spPr>
          <a:xfrm>
            <a:off x="7982712" y="1965960"/>
            <a:ext cx="3511296" cy="2468880"/>
          </a:xfrm>
          <a:prstGeom prst="rect">
            <a:avLst/>
          </a:prstGeom>
          <a:solidFill>
            <a:srgbClr val="14161B"/>
          </a:solidFill>
          <a:ln w="12700">
            <a:solidFill>
              <a:srgbClr val="14161B"/>
            </a:solidFill>
            <a:prstDash val="solid"/>
          </a:ln>
        </p:spPr>
      </p:sp>
      <p:sp>
        <p:nvSpPr>
          <p:cNvPr id="15" name="Text 13"/>
          <p:cNvSpPr txBox="1"/>
          <p:nvPr/>
        </p:nvSpPr>
        <p:spPr>
          <a:xfrm>
            <a:off x="8211312" y="2221992"/>
            <a:ext cx="3108960" cy="274320"/>
          </a:xfrm>
          <a:prstGeom prst="rect">
            <a:avLst/>
          </a:prstGeom>
          <a:noFill/>
          <a:ln/>
        </p:spPr>
        <p:txBody>
          <a:bodyPr wrap="square" lIns="0" tIns="0" rIns="0" bIns="0" rtlCol="0" anchor="t"/>
          <a:lstStyle/>
          <a:p>
            <a:pPr indent="0" marL="0">
              <a:buNone/>
            </a:pPr>
            <a:r>
              <a:rPr lang="en-US" sz="900" b="1" spc="120" kern="0" dirty="0">
                <a:solidFill>
                  <a:schemeClr val="accent1"/>
                </a:solidFill>
                <a:latin typeface="Courier New" pitchFamily="34" charset="0"/>
                <a:ea typeface="Courier New" pitchFamily="34" charset="-122"/>
                <a:cs typeface="Courier New" pitchFamily="34" charset="-120"/>
              </a:rPr>
              <a:t>BOTH PAY: OUR RULE</a:t>
            </a:r>
            <a:endParaRPr lang="en-US" sz="900" dirty="0"/>
          </a:p>
        </p:txBody>
      </p:sp>
      <p:sp>
        <p:nvSpPr>
          <p:cNvPr id="16" name="Text 14"/>
          <p:cNvSpPr txBox="1"/>
          <p:nvPr/>
        </p:nvSpPr>
        <p:spPr>
          <a:xfrm>
            <a:off x="8211312" y="2624328"/>
            <a:ext cx="3054096" cy="1371600"/>
          </a:xfrm>
          <a:prstGeom prst="rect">
            <a:avLst/>
          </a:prstGeom>
          <a:noFill/>
          <a:ln/>
        </p:spPr>
        <p:txBody>
          <a:bodyPr wrap="square" lIns="0" tIns="0" rIns="0" bIns="0" rtlCol="0" anchor="t"/>
          <a:lstStyle/>
          <a:p>
            <a:pPr indent="0" marL="0">
              <a:buNone/>
            </a:pPr>
            <a:r>
              <a:rPr lang="en-US" sz="1500" dirty="0">
                <a:solidFill>
                  <a:schemeClr val="bg1"/>
                </a:solidFill>
              </a:rPr>
              <a:t>Every shot is a trade. A hit should take more from the target than the shot cost you, and a miss costs only you.</a:t>
            </a:r>
            <a:endParaRPr lang="en-US" sz="1500" dirty="0"/>
          </a:p>
        </p:txBody>
      </p:sp>
      <p:sp>
        <p:nvSpPr>
          <p:cNvPr id="17" name="Shape 15"/>
          <p:cNvSpPr/>
          <p:nvPr/>
        </p:nvSpPr>
        <p:spPr>
          <a:xfrm>
            <a:off x="8211312" y="3771710"/>
            <a:ext cx="3054096" cy="9525"/>
          </a:xfrm>
          <a:prstGeom prst="rect">
            <a:avLst/>
          </a:prstGeom>
          <a:solidFill>
            <a:srgbClr val="3A3F4A"/>
          </a:solidFill>
          <a:ln w="12700">
            <a:solidFill>
              <a:srgbClr val="3A3F4A"/>
            </a:solidFill>
            <a:prstDash val="solid"/>
          </a:ln>
        </p:spPr>
      </p:sp>
      <p:sp>
        <p:nvSpPr>
          <p:cNvPr id="18" name="Text 16"/>
          <p:cNvSpPr txBox="1"/>
          <p:nvPr/>
        </p:nvSpPr>
        <p:spPr>
          <a:xfrm>
            <a:off x="8211312" y="3959352"/>
            <a:ext cx="3054096" cy="256032"/>
          </a:xfrm>
          <a:prstGeom prst="rect">
            <a:avLst/>
          </a:prstGeom>
          <a:noFill/>
          <a:ln/>
        </p:spPr>
        <p:txBody>
          <a:bodyPr wrap="square" lIns="0" tIns="0" rIns="0" bIns="0" rtlCol="0" anchor="t"/>
          <a:lstStyle/>
          <a:p>
            <a:pPr indent="0" marL="0">
              <a:buNone/>
            </a:pPr>
            <a:r>
              <a:rPr lang="en-US" sz="900" b="1" spc="120" kern="0" dirty="0">
                <a:solidFill>
                  <a:schemeClr val="accent1"/>
                </a:solidFill>
                <a:latin typeface="Courier New" pitchFamily="34" charset="0"/>
                <a:ea typeface="Courier New" pitchFamily="34" charset="-122"/>
                <a:cs typeface="Courier New" pitchFamily="34" charset="-120"/>
              </a:rPr>
              <a:t>REWARDS AIM AND TIMING</a:t>
            </a:r>
            <a:endParaRPr lang="en-US" sz="900" dirty="0"/>
          </a:p>
        </p:txBody>
      </p:sp>
      <p:sp>
        <p:nvSpPr>
          <p:cNvPr id="19" name="Text 17"/>
          <p:cNvSpPr txBox="1"/>
          <p:nvPr/>
        </p:nvSpPr>
        <p:spPr>
          <a:xfrm>
            <a:off x="548640" y="4846320"/>
            <a:ext cx="11094415"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Spending mass only pays off when the shot lands, so accuracy becomes the skill.</a:t>
            </a:r>
            <a:endParaRPr lang="en-US" sz="1800" dirty="0"/>
          </a:p>
        </p:txBody>
      </p:sp>
      <p:sp>
        <p:nvSpPr>
          <p:cNvPr id="20" name="Text 18"/>
          <p:cNvSpPr txBox="1"/>
          <p:nvPr/>
        </p:nvSpPr>
        <p:spPr>
          <a:xfrm>
            <a:off x="548640" y="5321808"/>
            <a:ext cx="8229600" cy="201168"/>
          </a:xfrm>
          <a:prstGeom prst="rect">
            <a:avLst/>
          </a:prstGeom>
          <a:noFill/>
          <a:ln/>
        </p:spPr>
        <p:txBody>
          <a:bodyPr wrap="square" lIns="0" tIns="0" rIns="0" bIns="0" rtlCol="0" anchor="t"/>
          <a:lstStyle/>
          <a:p>
            <a:pPr indent="0" marL="0">
              <a:buNone/>
            </a:pPr>
            <a:r>
              <a:rPr lang="en-US" sz="800" spc="30" kern="0" dirty="0">
                <a:solidFill>
                  <a:srgbClr val="5C616B"/>
                </a:solidFill>
                <a:latin typeface="Courier New" pitchFamily="34" charset="0"/>
                <a:ea typeface="Courier New" pitchFamily="34" charset="-122"/>
                <a:cs typeface="Courier New" pitchFamily="34" charset="-120"/>
              </a:rPr>
              <a:t>Exact costs are tuning values. We fix them in playtests, not on paper.</a:t>
            </a:r>
            <a:endParaRPr lang="en-US" sz="800" dirty="0"/>
          </a:p>
        </p:txBody>
      </p:sp>
      <p:sp>
        <p:nvSpPr>
          <p:cNvPr id="25" name="Slide Number Placeholder 0"/>
          <p:cNvSpPr>
            <a:spLocks noGrp="1"/>
          </p:cNvSpPr>
          <p:nvPr>
            <p:ph type="sldNum" sz="quarter" idx="4294967295"/>
          </p:nvPr>
        </p:nvSpPr>
        <p:spPr>
          <a:xfrm>
            <a:off x="11064240" y="384048"/>
            <a:ext cx="576072"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5C616B"/>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p:nvPr>
            <p:ph idx="107" type="body" hasCustomPrompt="1"/>
          </p:nvPr>
        </p:nvSpPr>
        <p:spPr>
          <a:xfrm>
            <a:off x="548640" y="384048"/>
            <a:ext cx="6949440" cy="237744"/>
          </a:xfrm>
          <a:prstGeom prst="rect">
            <a:avLst/>
          </a:prstGeom>
          <a:noFill/>
          <a:ln/>
        </p:spPr>
        <p:txBody>
          <a:bodyPr wrap="square" lIns="0" tIns="0" rIns="0" bIns="0" rtlCol="0" anchor="ctr"/>
          <a:lstStyle/>
          <a:p>
            <a:pPr indent="0" marL="0">
              <a:buNone/>
            </a:pPr>
            <a:r>
              <a:rPr lang="en-US" sz="950" b="1" spc="150" kern="0" dirty="0">
                <a:solidFill>
                  <a:schemeClr val="accent1"/>
                </a:solidFill>
                <a:latin typeface="Courier New" pitchFamily="34" charset="0"/>
                <a:ea typeface="Courier New" pitchFamily="34" charset="-122"/>
                <a:cs typeface="Courier New" pitchFamily="34" charset="-120"/>
              </a:rPr>
              <a:t>04 — DESIGN REASONING</a:t>
            </a:r>
            <a:endParaRPr lang="en-US" sz="950" dirty="0"/>
          </a:p>
        </p:txBody>
      </p:sp>
      <p:sp>
        <p:nvSpPr>
          <p:cNvPr id="3" name="Text 7"/>
          <p:cNvSpPr/>
          <p:nvPr>
            <p:ph idx="108"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Can a player win by never shooting?</a:t>
            </a:r>
            <a:endParaRPr lang="en-US" sz="3000" dirty="0"/>
          </a:p>
        </p:txBody>
      </p:sp>
      <p:sp>
        <p:nvSpPr>
          <p:cNvPr id="4" name="Text 2"/>
          <p:cNvSpPr txBox="1"/>
          <p:nvPr/>
        </p:nvSpPr>
        <p:spPr>
          <a:xfrm>
            <a:off x="548640" y="1938528"/>
            <a:ext cx="2743200" cy="256032"/>
          </a:xfrm>
          <a:prstGeom prst="rect">
            <a:avLst/>
          </a:prstGeom>
          <a:noFill/>
          <a:ln/>
        </p:spPr>
        <p:txBody>
          <a:bodyPr wrap="square" lIns="0" tIns="0" rIns="0" bIns="0" rtlCol="0" anchor="t"/>
          <a:lstStyle/>
          <a:p>
            <a:pPr indent="0" marL="0">
              <a:buNone/>
            </a:pPr>
            <a:r>
              <a:rPr lang="en-US" sz="900" b="1" spc="120" kern="0" dirty="0">
                <a:solidFill>
                  <a:schemeClr val="accent1"/>
                </a:solidFill>
                <a:latin typeface="Courier New" pitchFamily="34" charset="0"/>
                <a:ea typeface="Courier New" pitchFamily="34" charset="-122"/>
                <a:cs typeface="Courier New" pitchFamily="34" charset="-120"/>
              </a:rPr>
              <a:t>THE RISK</a:t>
            </a:r>
            <a:endParaRPr lang="en-US" sz="900" dirty="0"/>
          </a:p>
        </p:txBody>
      </p:sp>
      <p:sp>
        <p:nvSpPr>
          <p:cNvPr id="5" name="Text 3"/>
          <p:cNvSpPr txBox="1"/>
          <p:nvPr/>
        </p:nvSpPr>
        <p:spPr>
          <a:xfrm>
            <a:off x="548640" y="2240280"/>
            <a:ext cx="5486400" cy="868680"/>
          </a:xfrm>
          <a:prstGeom prst="rect">
            <a:avLst/>
          </a:prstGeom>
          <a:noFill/>
          <a:ln/>
        </p:spPr>
        <p:txBody>
          <a:bodyPr wrap="square" lIns="0" tIns="0" rIns="0" bIns="0" rtlCol="0" anchor="t"/>
          <a:lstStyle/>
          <a:p>
            <a:pPr indent="0" marL="0">
              <a:buNone/>
            </a:pPr>
            <a:r>
              <a:rPr lang="en-US" sz="1400" dirty="0">
                <a:solidFill>
                  <a:schemeClr val="tx1"/>
                </a:solidFill>
              </a:rPr>
              <a:t>A cube that never shoots keeps its mass, so it stays heavy and hard to push. If the last cube standing won, waiting could be the best strategy.</a:t>
            </a:r>
            <a:endParaRPr lang="en-US" sz="1400" dirty="0"/>
          </a:p>
        </p:txBody>
      </p:sp>
      <p:sp>
        <p:nvSpPr>
          <p:cNvPr id="6" name="Text 4"/>
          <p:cNvSpPr txBox="1"/>
          <p:nvPr/>
        </p:nvSpPr>
        <p:spPr>
          <a:xfrm>
            <a:off x="548640" y="3291840"/>
            <a:ext cx="5486400" cy="256032"/>
          </a:xfrm>
          <a:prstGeom prst="rect">
            <a:avLst/>
          </a:prstGeom>
          <a:noFill/>
          <a:ln/>
        </p:spPr>
        <p:txBody>
          <a:bodyPr wrap="square" lIns="0" tIns="0" rIns="0" bIns="0" rtlCol="0" anchor="t"/>
          <a:lstStyle/>
          <a:p>
            <a:pPr indent="0" marL="0">
              <a:buNone/>
            </a:pPr>
            <a:r>
              <a:rPr lang="en-US" sz="900" b="1" spc="120" kern="0" dirty="0">
                <a:solidFill>
                  <a:schemeClr val="accent1"/>
                </a:solidFill>
                <a:latin typeface="Courier New" pitchFamily="34" charset="0"/>
                <a:ea typeface="Courier New" pitchFamily="34" charset="-122"/>
                <a:cs typeface="Courier New" pitchFamily="34" charset="-120"/>
              </a:rPr>
              <a:t>OUR ANSWER: SCORE KNOCKOUTS, NOT SURVIVAL</a:t>
            </a:r>
            <a:endParaRPr lang="en-US" sz="900" dirty="0"/>
          </a:p>
        </p:txBody>
      </p:sp>
      <p:sp>
        <p:nvSpPr>
          <p:cNvPr id="7" name="Text 5"/>
          <p:cNvSpPr txBox="1"/>
          <p:nvPr/>
        </p:nvSpPr>
        <p:spPr>
          <a:xfrm>
            <a:off x="548640" y="3639312"/>
            <a:ext cx="27432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1</a:t>
            </a:r>
            <a:endParaRPr lang="en-US" sz="1200" dirty="0"/>
          </a:p>
        </p:txBody>
      </p:sp>
      <p:sp>
        <p:nvSpPr>
          <p:cNvPr id="8" name="Text 6"/>
          <p:cNvSpPr txBox="1"/>
          <p:nvPr/>
        </p:nvSpPr>
        <p:spPr>
          <a:xfrm>
            <a:off x="868680" y="3639312"/>
            <a:ext cx="5166360" cy="530352"/>
          </a:xfrm>
          <a:prstGeom prst="rect">
            <a:avLst/>
          </a:prstGeom>
          <a:noFill/>
          <a:ln/>
        </p:spPr>
        <p:txBody>
          <a:bodyPr wrap="square" lIns="0" tIns="0" rIns="0" bIns="0" rtlCol="0" anchor="t"/>
          <a:lstStyle/>
          <a:p>
            <a:pPr indent="0" marL="0">
              <a:buNone/>
            </a:pPr>
            <a:r>
              <a:rPr lang="en-US" sz="1300" b="1" dirty="0">
                <a:solidFill>
                  <a:schemeClr val="tx1"/>
                </a:solidFill>
              </a:rPr>
              <a:t>Points come from knockouts. </a:t>
            </a:r>
            <a:pPr indent="0" marL="0">
              <a:buNone/>
            </a:pPr>
            <a:r>
              <a:rPr lang="en-US" sz="1300" dirty="0">
                <a:solidFill>
                  <a:srgbClr val="5C616B"/>
                </a:solidFill>
              </a:rPr>
              <a:t>A cube that never shoots scores nothing, however heavy it is.</a:t>
            </a:r>
            <a:endParaRPr lang="en-US" sz="1300" dirty="0"/>
          </a:p>
        </p:txBody>
      </p:sp>
      <p:sp>
        <p:nvSpPr>
          <p:cNvPr id="9" name="Text 7"/>
          <p:cNvSpPr txBox="1"/>
          <p:nvPr/>
        </p:nvSpPr>
        <p:spPr>
          <a:xfrm>
            <a:off x="548640" y="4206240"/>
            <a:ext cx="27432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2</a:t>
            </a:r>
            <a:endParaRPr lang="en-US" sz="1200" dirty="0"/>
          </a:p>
        </p:txBody>
      </p:sp>
      <p:sp>
        <p:nvSpPr>
          <p:cNvPr id="10" name="Text 8"/>
          <p:cNvSpPr txBox="1"/>
          <p:nvPr/>
        </p:nvSpPr>
        <p:spPr>
          <a:xfrm>
            <a:off x="868680" y="4206240"/>
            <a:ext cx="5166360" cy="530352"/>
          </a:xfrm>
          <a:prstGeom prst="rect">
            <a:avLst/>
          </a:prstGeom>
          <a:noFill/>
          <a:ln/>
        </p:spPr>
        <p:txBody>
          <a:bodyPr wrap="square" lIns="0" tIns="0" rIns="0" bIns="0" rtlCol="0" anchor="t"/>
          <a:lstStyle/>
          <a:p>
            <a:pPr indent="0" marL="0">
              <a:buNone/>
            </a:pPr>
            <a:r>
              <a:rPr lang="en-US" sz="1300" b="1" dirty="0">
                <a:solidFill>
                  <a:schemeClr val="tx1"/>
                </a:solidFill>
              </a:rPr>
              <a:t>Respawn at full mass. </a:t>
            </a:r>
            <a:pPr indent="0" marL="0">
              <a:buNone/>
            </a:pPr>
            <a:r>
              <a:rPr lang="en-US" sz="1300" dirty="0">
                <a:solidFill>
                  <a:srgbClr val="5C616B"/>
                </a:solidFill>
              </a:rPr>
              <a:t>A knocked-out cube returns after a short delay, so falling behind does not snowball.</a:t>
            </a:r>
            <a:endParaRPr lang="en-US" sz="1300" dirty="0"/>
          </a:p>
        </p:txBody>
      </p:sp>
      <p:sp>
        <p:nvSpPr>
          <p:cNvPr id="11" name="Text 9"/>
          <p:cNvSpPr txBox="1"/>
          <p:nvPr/>
        </p:nvSpPr>
        <p:spPr>
          <a:xfrm>
            <a:off x="548640" y="4773168"/>
            <a:ext cx="27432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3</a:t>
            </a:r>
            <a:endParaRPr lang="en-US" sz="1200" dirty="0"/>
          </a:p>
        </p:txBody>
      </p:sp>
      <p:sp>
        <p:nvSpPr>
          <p:cNvPr id="12" name="Text 10"/>
          <p:cNvSpPr txBox="1"/>
          <p:nvPr/>
        </p:nvSpPr>
        <p:spPr>
          <a:xfrm>
            <a:off x="868680" y="4773168"/>
            <a:ext cx="5166360" cy="530352"/>
          </a:xfrm>
          <a:prstGeom prst="rect">
            <a:avLst/>
          </a:prstGeom>
          <a:noFill/>
          <a:ln/>
        </p:spPr>
        <p:txBody>
          <a:bodyPr wrap="square" lIns="0" tIns="0" rIns="0" bIns="0" rtlCol="0" anchor="t"/>
          <a:lstStyle/>
          <a:p>
            <a:pPr indent="0" marL="0">
              <a:buNone/>
            </a:pPr>
            <a:r>
              <a:rPr lang="en-US" sz="1300" b="1" dirty="0">
                <a:solidFill>
                  <a:schemeClr val="tx1"/>
                </a:solidFill>
              </a:rPr>
              <a:t>Short round timer. </a:t>
            </a:r>
            <a:pPr indent="0" marL="0">
              <a:buNone/>
            </a:pPr>
            <a:r>
              <a:rPr lang="en-US" sz="1300" dirty="0">
                <a:solidFill>
                  <a:srgbClr val="5C616B"/>
                </a:solidFill>
              </a:rPr>
              <a:t>Waiting out the clock earns no points.</a:t>
            </a:r>
            <a:endParaRPr lang="en-US" sz="1300" dirty="0"/>
          </a:p>
        </p:txBody>
      </p:sp>
      <p:sp>
        <p:nvSpPr>
          <p:cNvPr id="13" name="Text 11"/>
          <p:cNvSpPr txBox="1"/>
          <p:nvPr/>
        </p:nvSpPr>
        <p:spPr>
          <a:xfrm>
            <a:off x="548640" y="5440680"/>
            <a:ext cx="5486400" cy="365760"/>
          </a:xfrm>
          <a:prstGeom prst="rect">
            <a:avLst/>
          </a:prstGeom>
          <a:noFill/>
          <a:ln/>
        </p:spPr>
        <p:txBody>
          <a:bodyPr wrap="square" lIns="0" tIns="0" rIns="0" bIns="0" rtlCol="0" anchor="t"/>
          <a:lstStyle/>
          <a:p>
            <a:pPr indent="0" marL="0">
              <a:buNone/>
            </a:pPr>
            <a:r>
              <a:rPr lang="en-US" sz="850" spc="30" kern="0" dirty="0">
                <a:solidFill>
                  <a:schemeClr val="tx1"/>
                </a:solidFill>
                <a:latin typeface="Courier New" pitchFamily="34" charset="0"/>
                <a:ea typeface="Courier New" pitchFamily="34" charset="-122"/>
                <a:cs typeface="Courier New" pitchFamily="34" charset="-120"/>
              </a:rPr>
              <a:t>FALLBACK IF PLAYTESTS STILL SHOW STALLING: A SHRINKING ARENA, OR LETTING CUBES RE-ABSORB SPENT GLOBS.</a:t>
            </a:r>
            <a:endParaRPr lang="en-US" sz="850" dirty="0"/>
          </a:p>
        </p:txBody>
      </p:sp>
      <p:sp>
        <p:nvSpPr>
          <p:cNvPr id="14" name="Chart frame"/>
          <p:cNvSpPr/>
          <p:nvPr/>
        </p:nvSpPr>
        <p:spPr>
          <a:xfrm>
            <a:off x="6446520" y="1874520"/>
            <a:ext cx="5193792" cy="3977640"/>
          </a:xfrm>
          <a:prstGeom prst="rect">
            <a:avLst/>
          </a:prstGeom>
          <a:solidFill>
            <a:srgbClr val="FFFFFF"/>
          </a:solidFill>
          <a:ln w="9525">
            <a:solidFill>
              <a:srgbClr val="D8D3C8"/>
            </a:solidFill>
            <a:prstDash val="solid"/>
          </a:ln>
        </p:spPr>
      </p:sp>
      <p:sp>
        <p:nvSpPr>
          <p:cNvPr id="15" name="Text 13"/>
          <p:cNvSpPr txBox="1"/>
          <p:nvPr/>
        </p:nvSpPr>
        <p:spPr>
          <a:xfrm>
            <a:off x="6675120" y="2057400"/>
            <a:ext cx="4754880" cy="256032"/>
          </a:xfrm>
          <a:prstGeom prst="rect">
            <a:avLst/>
          </a:prstGeom>
          <a:noFill/>
          <a:ln/>
        </p:spPr>
        <p:txBody>
          <a:bodyPr wrap="square" lIns="0" tIns="0" rIns="0" bIns="0" rtlCol="0" anchor="t"/>
          <a:lstStyle/>
          <a:p>
            <a:pPr indent="0" marL="0">
              <a:buNone/>
            </a:pPr>
            <a:r>
              <a:rPr lang="en-US" sz="900" b="1" spc="120" kern="0" dirty="0">
                <a:solidFill>
                  <a:schemeClr val="tx1"/>
                </a:solidFill>
                <a:latin typeface="Courier New" pitchFamily="34" charset="0"/>
                <a:ea typeface="Courier New" pitchFamily="34" charset="-122"/>
                <a:cs typeface="Courier New" pitchFamily="34" charset="-120"/>
              </a:rPr>
              <a:t>SAME HIT, LESS MASS, MORE KNOCKBACK</a:t>
            </a:r>
            <a:endParaRPr lang="en-US" sz="900" dirty="0"/>
          </a:p>
        </p:txBody>
      </p:sp>
      <p:graphicFrame>
        <p:nvGraphicFramePr>
          <p:cNvPr id="16" name="Chart 0" descr=""/>
          <p:cNvGraphicFramePr/>
          <p:nvPr/>
        </p:nvGraphicFramePr>
        <p:xfrm>
          <a:off x="6583680" y="2377440"/>
          <a:ext cx="4937760" cy="292608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txBox="1"/>
          <p:nvPr/>
        </p:nvSpPr>
        <p:spPr>
          <a:xfrm>
            <a:off x="6675120" y="5394960"/>
            <a:ext cx="4754880" cy="320040"/>
          </a:xfrm>
          <a:prstGeom prst="rect">
            <a:avLst/>
          </a:prstGeom>
          <a:noFill/>
          <a:ln/>
        </p:spPr>
        <p:txBody>
          <a:bodyPr wrap="square" lIns="0" tIns="0" rIns="0" bIns="0" rtlCol="0" anchor="t"/>
          <a:lstStyle/>
          <a:p>
            <a:pPr indent="0" marL="0">
              <a:buNone/>
            </a:pPr>
            <a:r>
              <a:rPr lang="en-US" sz="800" spc="30" kern="0" dirty="0">
                <a:solidFill>
                  <a:srgbClr val="5C616B"/>
                </a:solidFill>
                <a:latin typeface="Courier New" pitchFamily="34" charset="0"/>
                <a:ea typeface="Courier New" pitchFamily="34" charset="-122"/>
                <a:cs typeface="Courier New" pitchFamily="34" charset="-120"/>
              </a:rPr>
              <a:t>Shape only. Axis values come from tuning. → Mass decreases from left to right.</a:t>
            </a:r>
            <a:endParaRPr lang="en-US" sz="800" dirty="0"/>
          </a:p>
        </p:txBody>
      </p:sp>
      <p:sp>
        <p:nvSpPr>
          <p:cNvPr id="25" name="Slide Number Placeholder 0"/>
          <p:cNvSpPr>
            <a:spLocks noGrp="1"/>
          </p:cNvSpPr>
          <p:nvPr>
            <p:ph type="sldNum" sz="quarter" idx="4294967295"/>
          </p:nvPr>
        </p:nvSpPr>
        <p:spPr>
          <a:xfrm>
            <a:off x="11064240" y="384048"/>
            <a:ext cx="576072"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5C616B"/>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p:nvPr>
            <p:ph idx="107" type="body" hasCustomPrompt="1"/>
          </p:nvPr>
        </p:nvSpPr>
        <p:spPr>
          <a:xfrm>
            <a:off x="548640" y="384048"/>
            <a:ext cx="6949440" cy="237744"/>
          </a:xfrm>
          <a:prstGeom prst="rect">
            <a:avLst/>
          </a:prstGeom>
          <a:noFill/>
          <a:ln/>
        </p:spPr>
        <p:txBody>
          <a:bodyPr wrap="square" lIns="0" tIns="0" rIns="0" bIns="0" rtlCol="0" anchor="ctr"/>
          <a:lstStyle/>
          <a:p>
            <a:pPr indent="0" marL="0">
              <a:buNone/>
            </a:pPr>
            <a:r>
              <a:rPr lang="en-US" sz="950" b="1" spc="150" kern="0" dirty="0">
                <a:solidFill>
                  <a:schemeClr val="accent1"/>
                </a:solidFill>
                <a:latin typeface="Courier New" pitchFamily="34" charset="0"/>
                <a:ea typeface="Courier New" pitchFamily="34" charset="-122"/>
                <a:cs typeface="Courier New" pitchFamily="34" charset="-120"/>
              </a:rPr>
              <a:t>05 — MINI-GAME 1</a:t>
            </a:r>
            <a:endParaRPr lang="en-US" sz="950" dirty="0"/>
          </a:p>
        </p:txBody>
      </p:sp>
      <p:sp>
        <p:nvSpPr>
          <p:cNvPr id="3" name="Text 7"/>
          <p:cNvSpPr/>
          <p:nvPr>
            <p:ph idx="108"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Mass Knockout</a:t>
            </a:r>
            <a:endParaRPr lang="en-US" sz="3000" dirty="0"/>
          </a:p>
        </p:txBody>
      </p:sp>
      <p:pic>
        <p:nvPicPr>
          <p:cNvPr id="4" name="Mass Knockout concept render" descr="Mass Knockout concept render">    </p:cNvPr>
          <p:cNvPicPr>
            <a:picLocks noChangeAspect="1"/>
          </p:cNvPicPr>
          <p:nvPr/>
        </p:nvPicPr>
        <p:blipFill>
          <a:blip r:embed="rId1"/>
          <a:stretch>
            <a:fillRect/>
          </a:stretch>
        </p:blipFill>
        <p:spPr>
          <a:xfrm>
            <a:off x="548640" y="1828800"/>
            <a:ext cx="7223760" cy="4069080"/>
          </a:xfrm>
          <a:prstGeom prst="rect">
            <a:avLst/>
          </a:prstGeom>
        </p:spPr>
      </p:pic>
      <p:sp>
        <p:nvSpPr>
          <p:cNvPr id="5" name="Text 2"/>
          <p:cNvSpPr txBox="1"/>
          <p:nvPr/>
        </p:nvSpPr>
        <p:spPr>
          <a:xfrm>
            <a:off x="548640" y="5961888"/>
            <a:ext cx="7223760" cy="182880"/>
          </a:xfrm>
          <a:prstGeom prst="rect">
            <a:avLst/>
          </a:prstGeom>
          <a:noFill/>
          <a:ln/>
        </p:spPr>
        <p:txBody>
          <a:bodyPr wrap="square" lIns="0" tIns="0" rIns="0" bIns="0" rtlCol="0" anchor="t"/>
          <a:lstStyle/>
          <a:p>
            <a:pPr indent="0" marL="0">
              <a:buNone/>
            </a:pPr>
            <a:r>
              <a:rPr lang="en-US" sz="800" spc="30" kern="0" dirty="0">
                <a:solidFill>
                  <a:srgbClr val="8E95A3"/>
                </a:solidFill>
                <a:latin typeface="Courier New" pitchFamily="34" charset="0"/>
                <a:ea typeface="Courier New" pitchFamily="34" charset="-122"/>
                <a:cs typeface="Courier New" pitchFamily="34" charset="-120"/>
              </a:rPr>
              <a:t>FIG 3  Orange spits a piece of itself; Cyan is hit near the edge. Concept render, AI-generated. Not gameplay.</a:t>
            </a:r>
            <a:endParaRPr lang="en-US" sz="800" dirty="0"/>
          </a:p>
        </p:txBody>
      </p:sp>
      <p:sp>
        <p:nvSpPr>
          <p:cNvPr id="6" name="Text 3"/>
          <p:cNvSpPr txBox="1"/>
          <p:nvPr/>
        </p:nvSpPr>
        <p:spPr>
          <a:xfrm>
            <a:off x="8092440" y="1828800"/>
            <a:ext cx="3566160" cy="228600"/>
          </a:xfrm>
          <a:prstGeom prst="rect">
            <a:avLst/>
          </a:prstGeom>
          <a:noFill/>
          <a:ln/>
        </p:spPr>
        <p:txBody>
          <a:bodyPr wrap="square" lIns="0" tIns="0" rIns="0" bIns="0" rtlCol="0" anchor="t"/>
          <a:lstStyle/>
          <a:p>
            <a:pPr indent="0" marL="0">
              <a:buNone/>
            </a:pPr>
            <a:r>
              <a:rPr lang="en-US" sz="900" b="1" spc="120" kern="0" dirty="0">
                <a:solidFill>
                  <a:schemeClr val="accent1"/>
                </a:solidFill>
                <a:latin typeface="Courier New" pitchFamily="34" charset="0"/>
                <a:ea typeface="Courier New" pitchFamily="34" charset="-122"/>
                <a:cs typeface="Courier New" pitchFamily="34" charset="-120"/>
              </a:rPr>
              <a:t>GOAL</a:t>
            </a:r>
            <a:endParaRPr lang="en-US" sz="900" dirty="0"/>
          </a:p>
        </p:txBody>
      </p:sp>
      <p:sp>
        <p:nvSpPr>
          <p:cNvPr id="7" name="Text 4"/>
          <p:cNvSpPr txBox="1"/>
          <p:nvPr/>
        </p:nvSpPr>
        <p:spPr>
          <a:xfrm>
            <a:off x="8092440" y="2084832"/>
            <a:ext cx="3547872" cy="457200"/>
          </a:xfrm>
          <a:prstGeom prst="rect">
            <a:avLst/>
          </a:prstGeom>
          <a:noFill/>
          <a:ln/>
        </p:spPr>
        <p:txBody>
          <a:bodyPr wrap="square" lIns="0" tIns="0" rIns="0" bIns="0" rtlCol="0" anchor="t"/>
          <a:lstStyle/>
          <a:p>
            <a:pPr indent="0" marL="0">
              <a:buNone/>
            </a:pPr>
            <a:r>
              <a:rPr lang="en-US" sz="1250" dirty="0">
                <a:solidFill>
                  <a:srgbClr val="E3E6EC"/>
                </a:solidFill>
              </a:rPr>
              <a:t>Knock other cubes off the floating platform.</a:t>
            </a:r>
            <a:endParaRPr lang="en-US" sz="1250" dirty="0"/>
          </a:p>
        </p:txBody>
      </p:sp>
      <p:sp>
        <p:nvSpPr>
          <p:cNvPr id="8" name="Text 5"/>
          <p:cNvSpPr txBox="1"/>
          <p:nvPr/>
        </p:nvSpPr>
        <p:spPr>
          <a:xfrm>
            <a:off x="8092440" y="2651760"/>
            <a:ext cx="3566160" cy="228600"/>
          </a:xfrm>
          <a:prstGeom prst="rect">
            <a:avLst/>
          </a:prstGeom>
          <a:noFill/>
          <a:ln/>
        </p:spPr>
        <p:txBody>
          <a:bodyPr wrap="square" lIns="0" tIns="0" rIns="0" bIns="0" rtlCol="0" anchor="t"/>
          <a:lstStyle/>
          <a:p>
            <a:pPr indent="0" marL="0">
              <a:buNone/>
            </a:pPr>
            <a:r>
              <a:rPr lang="en-US" sz="900" b="1" spc="120" kern="0" dirty="0">
                <a:solidFill>
                  <a:schemeClr val="accent1"/>
                </a:solidFill>
                <a:latin typeface="Courier New" pitchFamily="34" charset="0"/>
                <a:ea typeface="Courier New" pitchFamily="34" charset="-122"/>
                <a:cs typeface="Courier New" pitchFamily="34" charset="-120"/>
              </a:rPr>
              <a:t>CONTROLS</a:t>
            </a:r>
            <a:endParaRPr lang="en-US" sz="900" dirty="0"/>
          </a:p>
        </p:txBody>
      </p:sp>
      <p:sp>
        <p:nvSpPr>
          <p:cNvPr id="9" name="Text 6"/>
          <p:cNvSpPr txBox="1"/>
          <p:nvPr/>
        </p:nvSpPr>
        <p:spPr>
          <a:xfrm>
            <a:off x="8092440" y="2907792"/>
            <a:ext cx="3547872" cy="457200"/>
          </a:xfrm>
          <a:prstGeom prst="rect">
            <a:avLst/>
          </a:prstGeom>
          <a:noFill/>
          <a:ln/>
        </p:spPr>
        <p:txBody>
          <a:bodyPr wrap="square" lIns="0" tIns="0" rIns="0" bIns="0" rtlCol="0" anchor="t"/>
          <a:lstStyle/>
          <a:p>
            <a:pPr indent="0" marL="0">
              <a:buNone/>
            </a:pPr>
            <a:r>
              <a:rPr lang="en-US" sz="1250" dirty="0">
                <a:solidFill>
                  <a:srgbClr val="E3E6EC"/>
                </a:solidFill>
              </a:rPr>
              <a:t>Move, aim, spit. A short cooldown between shots.</a:t>
            </a:r>
            <a:endParaRPr lang="en-US" sz="1250" dirty="0"/>
          </a:p>
        </p:txBody>
      </p:sp>
      <p:sp>
        <p:nvSpPr>
          <p:cNvPr id="10" name="Text 7"/>
          <p:cNvSpPr txBox="1"/>
          <p:nvPr/>
        </p:nvSpPr>
        <p:spPr>
          <a:xfrm>
            <a:off x="8092440" y="3474720"/>
            <a:ext cx="3566160" cy="228600"/>
          </a:xfrm>
          <a:prstGeom prst="rect">
            <a:avLst/>
          </a:prstGeom>
          <a:noFill/>
          <a:ln/>
        </p:spPr>
        <p:txBody>
          <a:bodyPr wrap="square" lIns="0" tIns="0" rIns="0" bIns="0" rtlCol="0" anchor="t"/>
          <a:lstStyle/>
          <a:p>
            <a:pPr indent="0" marL="0">
              <a:buNone/>
            </a:pPr>
            <a:r>
              <a:rPr lang="en-US" sz="900" b="1" spc="120" kern="0" dirty="0">
                <a:solidFill>
                  <a:schemeClr val="accent1"/>
                </a:solidFill>
                <a:latin typeface="Courier New" pitchFamily="34" charset="0"/>
                <a:ea typeface="Courier New" pitchFamily="34" charset="-122"/>
                <a:cs typeface="Courier New" pitchFamily="34" charset="-120"/>
              </a:rPr>
              <a:t>SCORING</a:t>
            </a:r>
            <a:endParaRPr lang="en-US" sz="900" dirty="0"/>
          </a:p>
        </p:txBody>
      </p:sp>
      <p:sp>
        <p:nvSpPr>
          <p:cNvPr id="11" name="Text 8"/>
          <p:cNvSpPr txBox="1"/>
          <p:nvPr/>
        </p:nvSpPr>
        <p:spPr>
          <a:xfrm>
            <a:off x="8092440" y="3730752"/>
            <a:ext cx="3547872" cy="713232"/>
          </a:xfrm>
          <a:prstGeom prst="rect">
            <a:avLst/>
          </a:prstGeom>
          <a:noFill/>
          <a:ln/>
        </p:spPr>
        <p:txBody>
          <a:bodyPr wrap="square" lIns="0" tIns="0" rIns="0" bIns="0" rtlCol="0" anchor="t"/>
          <a:lstStyle/>
          <a:p>
            <a:pPr indent="0" marL="0">
              <a:buNone/>
            </a:pPr>
            <a:r>
              <a:rPr lang="en-US" sz="1250" dirty="0">
                <a:solidFill>
                  <a:srgbClr val="E3E6EC"/>
                </a:solidFill>
              </a:rPr>
              <a:t>A knockout goes to the last cube that hit the one that fell. Most knockouts when the timer ends wins the round.</a:t>
            </a:r>
            <a:endParaRPr lang="en-US" sz="1250" dirty="0"/>
          </a:p>
        </p:txBody>
      </p:sp>
      <p:sp>
        <p:nvSpPr>
          <p:cNvPr id="12" name="Text 9"/>
          <p:cNvSpPr txBox="1"/>
          <p:nvPr/>
        </p:nvSpPr>
        <p:spPr>
          <a:xfrm>
            <a:off x="8092440" y="4553712"/>
            <a:ext cx="3566160" cy="228600"/>
          </a:xfrm>
          <a:prstGeom prst="rect">
            <a:avLst/>
          </a:prstGeom>
          <a:noFill/>
          <a:ln/>
        </p:spPr>
        <p:txBody>
          <a:bodyPr wrap="square" lIns="0" tIns="0" rIns="0" bIns="0" rtlCol="0" anchor="t"/>
          <a:lstStyle/>
          <a:p>
            <a:pPr indent="0" marL="0">
              <a:buNone/>
            </a:pPr>
            <a:r>
              <a:rPr lang="en-US" sz="900" b="1" spc="120" kern="0" dirty="0">
                <a:solidFill>
                  <a:schemeClr val="accent1"/>
                </a:solidFill>
                <a:latin typeface="Courier New" pitchFamily="34" charset="0"/>
                <a:ea typeface="Courier New" pitchFamily="34" charset="-122"/>
                <a:cs typeface="Courier New" pitchFamily="34" charset="-120"/>
              </a:rPr>
              <a:t>RESPAWN</a:t>
            </a:r>
            <a:endParaRPr lang="en-US" sz="900" dirty="0"/>
          </a:p>
        </p:txBody>
      </p:sp>
      <p:sp>
        <p:nvSpPr>
          <p:cNvPr id="13" name="Text 10"/>
          <p:cNvSpPr txBox="1"/>
          <p:nvPr/>
        </p:nvSpPr>
        <p:spPr>
          <a:xfrm>
            <a:off x="8092440" y="4809744"/>
            <a:ext cx="3547872" cy="457200"/>
          </a:xfrm>
          <a:prstGeom prst="rect">
            <a:avLst/>
          </a:prstGeom>
          <a:noFill/>
          <a:ln/>
        </p:spPr>
        <p:txBody>
          <a:bodyPr wrap="square" lIns="0" tIns="0" rIns="0" bIns="0" rtlCol="0" anchor="t"/>
          <a:lstStyle/>
          <a:p>
            <a:pPr indent="0" marL="0">
              <a:buNone/>
            </a:pPr>
            <a:r>
              <a:rPr lang="en-US" sz="1250" dirty="0">
                <a:solidFill>
                  <a:srgbClr val="E3E6EC"/>
                </a:solidFill>
              </a:rPr>
              <a:t>After a short delay, at full mass.</a:t>
            </a:r>
            <a:endParaRPr lang="en-US" sz="1250" dirty="0"/>
          </a:p>
        </p:txBody>
      </p:sp>
      <p:sp>
        <p:nvSpPr>
          <p:cNvPr id="14" name="Text 11"/>
          <p:cNvSpPr txBox="1"/>
          <p:nvPr/>
        </p:nvSpPr>
        <p:spPr>
          <a:xfrm>
            <a:off x="8092440" y="5376672"/>
            <a:ext cx="3566160" cy="228600"/>
          </a:xfrm>
          <a:prstGeom prst="rect">
            <a:avLst/>
          </a:prstGeom>
          <a:noFill/>
          <a:ln/>
        </p:spPr>
        <p:txBody>
          <a:bodyPr wrap="square" lIns="0" tIns="0" rIns="0" bIns="0" rtlCol="0" anchor="t"/>
          <a:lstStyle/>
          <a:p>
            <a:pPr indent="0" marL="0">
              <a:buNone/>
            </a:pPr>
            <a:r>
              <a:rPr lang="en-US" sz="900" b="1" spc="120" kern="0" dirty="0">
                <a:solidFill>
                  <a:schemeClr val="accent1"/>
                </a:solidFill>
                <a:latin typeface="Courier New" pitchFamily="34" charset="0"/>
                <a:ea typeface="Courier New" pitchFamily="34" charset="-122"/>
                <a:cs typeface="Courier New" pitchFamily="34" charset="-120"/>
              </a:rPr>
              <a:t>ARENA</a:t>
            </a:r>
            <a:endParaRPr lang="en-US" sz="900" dirty="0"/>
          </a:p>
        </p:txBody>
      </p:sp>
      <p:sp>
        <p:nvSpPr>
          <p:cNvPr id="15" name="Text 12"/>
          <p:cNvSpPr txBox="1"/>
          <p:nvPr/>
        </p:nvSpPr>
        <p:spPr>
          <a:xfrm>
            <a:off x="8092440" y="5632704"/>
            <a:ext cx="3547872" cy="457200"/>
          </a:xfrm>
          <a:prstGeom prst="rect">
            <a:avLst/>
          </a:prstGeom>
          <a:noFill/>
          <a:ln/>
        </p:spPr>
        <p:txBody>
          <a:bodyPr wrap="square" lIns="0" tIns="0" rIns="0" bIns="0" rtlCol="0" anchor="t"/>
          <a:lstStyle/>
          <a:p>
            <a:pPr indent="0" marL="0">
              <a:buNone/>
            </a:pPr>
            <a:r>
              <a:rPr lang="en-US" sz="1250" dirty="0">
                <a:solidFill>
                  <a:srgbClr val="E3E6EC"/>
                </a:solidFill>
              </a:rPr>
              <a:t>One flat square platform. Open edges, no walls.</a:t>
            </a:r>
            <a:endParaRPr lang="en-US" sz="1250" dirty="0"/>
          </a:p>
        </p:txBody>
      </p:sp>
      <p:sp>
        <p:nvSpPr>
          <p:cNvPr id="25" name="Slide Number Placeholder 0"/>
          <p:cNvSpPr>
            <a:spLocks noGrp="1"/>
          </p:cNvSpPr>
          <p:nvPr>
            <p:ph type="sldNum" sz="quarter" idx="4294967295"/>
          </p:nvPr>
        </p:nvSpPr>
        <p:spPr>
          <a:xfrm>
            <a:off x="11064240" y="384048"/>
            <a:ext cx="576072"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8E95A3"/>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p:nvPr>
            <p:ph idx="107" type="body" hasCustomPrompt="1"/>
          </p:nvPr>
        </p:nvSpPr>
        <p:spPr>
          <a:xfrm>
            <a:off x="548640" y="384048"/>
            <a:ext cx="6949440" cy="237744"/>
          </a:xfrm>
          <a:prstGeom prst="rect">
            <a:avLst/>
          </a:prstGeom>
          <a:noFill/>
          <a:ln/>
        </p:spPr>
        <p:txBody>
          <a:bodyPr wrap="square" lIns="0" tIns="0" rIns="0" bIns="0" rtlCol="0" anchor="ctr"/>
          <a:lstStyle/>
          <a:p>
            <a:pPr indent="0" marL="0">
              <a:buNone/>
            </a:pPr>
            <a:r>
              <a:rPr lang="en-US" sz="950" b="1" spc="150" kern="0" dirty="0">
                <a:solidFill>
                  <a:schemeClr val="accent1"/>
                </a:solidFill>
                <a:latin typeface="Courier New" pitchFamily="34" charset="0"/>
                <a:ea typeface="Courier New" pitchFamily="34" charset="-122"/>
                <a:cs typeface="Courier New" pitchFamily="34" charset="-120"/>
              </a:rPr>
              <a:t>06 — MINI-GAME 2</a:t>
            </a:r>
            <a:endParaRPr lang="en-US" sz="950" dirty="0"/>
          </a:p>
        </p:txBody>
      </p:sp>
      <p:sp>
        <p:nvSpPr>
          <p:cNvPr id="3" name="Text 7"/>
          <p:cNvSpPr/>
          <p:nvPr>
            <p:ph idx="108"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Ice Race</a:t>
            </a:r>
            <a:endParaRPr lang="en-US" sz="3000" dirty="0"/>
          </a:p>
        </p:txBody>
      </p:sp>
      <p:pic>
        <p:nvPicPr>
          <p:cNvPr id="4" name="Ice Race concept render" descr="Ice Race concept render">    </p:cNvPr>
          <p:cNvPicPr>
            <a:picLocks noChangeAspect="1"/>
          </p:cNvPicPr>
          <p:nvPr/>
        </p:nvPicPr>
        <p:blipFill>
          <a:blip r:embed="rId1"/>
          <a:stretch>
            <a:fillRect/>
          </a:stretch>
        </p:blipFill>
        <p:spPr>
          <a:xfrm>
            <a:off x="548640" y="1828800"/>
            <a:ext cx="7223760" cy="4069080"/>
          </a:xfrm>
          <a:prstGeom prst="rect">
            <a:avLst/>
          </a:prstGeom>
        </p:spPr>
      </p:pic>
      <p:sp>
        <p:nvSpPr>
          <p:cNvPr id="5" name="Text 2"/>
          <p:cNvSpPr txBox="1"/>
          <p:nvPr/>
        </p:nvSpPr>
        <p:spPr>
          <a:xfrm>
            <a:off x="548640" y="5961888"/>
            <a:ext cx="7223760" cy="182880"/>
          </a:xfrm>
          <a:prstGeom prst="rect">
            <a:avLst/>
          </a:prstGeom>
          <a:noFill/>
          <a:ln/>
        </p:spPr>
        <p:txBody>
          <a:bodyPr wrap="square" lIns="0" tIns="0" rIns="0" bIns="0" rtlCol="0" anchor="t"/>
          <a:lstStyle/>
          <a:p>
            <a:pPr indent="0" marL="0">
              <a:buNone/>
            </a:pPr>
            <a:r>
              <a:rPr lang="en-US" sz="800" spc="30" kern="0" dirty="0">
                <a:solidFill>
                  <a:srgbClr val="8E95A3"/>
                </a:solidFill>
                <a:latin typeface="Courier New" pitchFamily="34" charset="0"/>
                <a:ea typeface="Courier New" pitchFamily="34" charset="-122"/>
                <a:cs typeface="Courier New" pitchFamily="34" charset="-120"/>
              </a:rPr>
              <a:t>FIG 4  Racing a floating ice track; the HUD is part of the render. Concept render, AI-generated. Not gameplay.</a:t>
            </a:r>
            <a:endParaRPr lang="en-US" sz="800" dirty="0"/>
          </a:p>
        </p:txBody>
      </p:sp>
      <p:sp>
        <p:nvSpPr>
          <p:cNvPr id="6" name="Text 3"/>
          <p:cNvSpPr txBox="1"/>
          <p:nvPr/>
        </p:nvSpPr>
        <p:spPr>
          <a:xfrm>
            <a:off x="8092440" y="1828800"/>
            <a:ext cx="3566160" cy="228600"/>
          </a:xfrm>
          <a:prstGeom prst="rect">
            <a:avLst/>
          </a:prstGeom>
          <a:noFill/>
          <a:ln/>
        </p:spPr>
        <p:txBody>
          <a:bodyPr wrap="square" lIns="0" tIns="0" rIns="0" bIns="0" rtlCol="0" anchor="t"/>
          <a:lstStyle/>
          <a:p>
            <a:pPr indent="0" marL="0">
              <a:buNone/>
            </a:pPr>
            <a:r>
              <a:rPr lang="en-US" sz="900" b="1" spc="120" kern="0" dirty="0">
                <a:solidFill>
                  <a:schemeClr val="accent1"/>
                </a:solidFill>
                <a:latin typeface="Courier New" pitchFamily="34" charset="0"/>
                <a:ea typeface="Courier New" pitchFamily="34" charset="-122"/>
                <a:cs typeface="Courier New" pitchFamily="34" charset="-120"/>
              </a:rPr>
              <a:t>GOAL</a:t>
            </a:r>
            <a:endParaRPr lang="en-US" sz="900" dirty="0"/>
          </a:p>
        </p:txBody>
      </p:sp>
      <p:sp>
        <p:nvSpPr>
          <p:cNvPr id="7" name="Text 4"/>
          <p:cNvSpPr txBox="1"/>
          <p:nvPr/>
        </p:nvSpPr>
        <p:spPr>
          <a:xfrm>
            <a:off x="8092440" y="2084832"/>
            <a:ext cx="3547872" cy="365760"/>
          </a:xfrm>
          <a:prstGeom prst="rect">
            <a:avLst/>
          </a:prstGeom>
          <a:noFill/>
          <a:ln/>
        </p:spPr>
        <p:txBody>
          <a:bodyPr wrap="square" lIns="0" tIns="0" rIns="0" bIns="0" rtlCol="0" anchor="t"/>
          <a:lstStyle/>
          <a:p>
            <a:pPr indent="0" marL="0">
              <a:buNone/>
            </a:pPr>
            <a:r>
              <a:rPr lang="en-US" sz="1250" dirty="0">
                <a:solidFill>
                  <a:srgbClr val="E3E6EC"/>
                </a:solidFill>
              </a:rPr>
              <a:t>Finish the laps first on a floating ice track.</a:t>
            </a:r>
            <a:endParaRPr lang="en-US" sz="1250" dirty="0"/>
          </a:p>
        </p:txBody>
      </p:sp>
      <p:sp>
        <p:nvSpPr>
          <p:cNvPr id="8" name="Text 5"/>
          <p:cNvSpPr txBox="1"/>
          <p:nvPr/>
        </p:nvSpPr>
        <p:spPr>
          <a:xfrm>
            <a:off x="8092440" y="2578608"/>
            <a:ext cx="3566160" cy="228600"/>
          </a:xfrm>
          <a:prstGeom prst="rect">
            <a:avLst/>
          </a:prstGeom>
          <a:noFill/>
          <a:ln/>
        </p:spPr>
        <p:txBody>
          <a:bodyPr wrap="square" lIns="0" tIns="0" rIns="0" bIns="0" rtlCol="0" anchor="t"/>
          <a:lstStyle/>
          <a:p>
            <a:pPr indent="0" marL="0">
              <a:buNone/>
            </a:pPr>
            <a:r>
              <a:rPr lang="en-US" sz="900" b="1" spc="120" kern="0" dirty="0">
                <a:solidFill>
                  <a:schemeClr val="accent1"/>
                </a:solidFill>
                <a:latin typeface="Courier New" pitchFamily="34" charset="0"/>
                <a:ea typeface="Courier New" pitchFamily="34" charset="-122"/>
                <a:cs typeface="Courier New" pitchFamily="34" charset="-120"/>
              </a:rPr>
              <a:t>CONTROLS</a:t>
            </a:r>
            <a:endParaRPr lang="en-US" sz="900" dirty="0"/>
          </a:p>
        </p:txBody>
      </p:sp>
      <p:sp>
        <p:nvSpPr>
          <p:cNvPr id="9" name="Text 6"/>
          <p:cNvSpPr txBox="1"/>
          <p:nvPr/>
        </p:nvSpPr>
        <p:spPr>
          <a:xfrm>
            <a:off x="8092440" y="2834640"/>
            <a:ext cx="3547872" cy="566928"/>
          </a:xfrm>
          <a:prstGeom prst="rect">
            <a:avLst/>
          </a:prstGeom>
          <a:noFill/>
          <a:ln/>
        </p:spPr>
        <p:txBody>
          <a:bodyPr wrap="square" lIns="0" tIns="0" rIns="0" bIns="0" rtlCol="0" anchor="t"/>
          <a:lstStyle/>
          <a:p>
            <a:pPr indent="0" marL="0">
              <a:buNone/>
            </a:pPr>
            <a:r>
              <a:rPr lang="en-US" sz="1250" dirty="0">
                <a:solidFill>
                  <a:srgbClr val="E3E6EC"/>
                </a:solidFill>
              </a:rPr>
              <a:t>Steering changes acceleration, not velocity. Braking restores grip.</a:t>
            </a:r>
            <a:endParaRPr lang="en-US" sz="1250" dirty="0"/>
          </a:p>
        </p:txBody>
      </p:sp>
      <p:sp>
        <p:nvSpPr>
          <p:cNvPr id="10" name="Text 7"/>
          <p:cNvSpPr txBox="1"/>
          <p:nvPr/>
        </p:nvSpPr>
        <p:spPr>
          <a:xfrm>
            <a:off x="8092440" y="3529584"/>
            <a:ext cx="3566160" cy="228600"/>
          </a:xfrm>
          <a:prstGeom prst="rect">
            <a:avLst/>
          </a:prstGeom>
          <a:noFill/>
          <a:ln/>
        </p:spPr>
        <p:txBody>
          <a:bodyPr wrap="square" lIns="0" tIns="0" rIns="0" bIns="0" rtlCol="0" anchor="t"/>
          <a:lstStyle/>
          <a:p>
            <a:pPr indent="0" marL="0">
              <a:buNone/>
            </a:pPr>
            <a:r>
              <a:rPr lang="en-US" sz="900" b="1" spc="120" kern="0" dirty="0">
                <a:solidFill>
                  <a:schemeClr val="accent1"/>
                </a:solidFill>
                <a:latin typeface="Courier New" pitchFamily="34" charset="0"/>
                <a:ea typeface="Courier New" pitchFamily="34" charset="-122"/>
                <a:cs typeface="Courier New" pitchFamily="34" charset="-120"/>
              </a:rPr>
              <a:t>SKILL</a:t>
            </a:r>
            <a:endParaRPr lang="en-US" sz="900" dirty="0"/>
          </a:p>
        </p:txBody>
      </p:sp>
      <p:sp>
        <p:nvSpPr>
          <p:cNvPr id="11" name="Text 8"/>
          <p:cNvSpPr txBox="1"/>
          <p:nvPr/>
        </p:nvSpPr>
        <p:spPr>
          <a:xfrm>
            <a:off x="8092440" y="3785616"/>
            <a:ext cx="3547872" cy="566928"/>
          </a:xfrm>
          <a:prstGeom prst="rect">
            <a:avLst/>
          </a:prstGeom>
          <a:noFill/>
          <a:ln/>
        </p:spPr>
        <p:txBody>
          <a:bodyPr wrap="square" lIns="0" tIns="0" rIns="0" bIns="0" rtlCol="0" anchor="t"/>
          <a:lstStyle/>
          <a:p>
            <a:pPr indent="0" marL="0">
              <a:buNone/>
            </a:pPr>
            <a:r>
              <a:rPr lang="en-US" sz="1250" dirty="0">
                <a:solidFill>
                  <a:srgbClr val="E3E6EC"/>
                </a:solidFill>
              </a:rPr>
              <a:t>Low sideways grip: carry speed through corners without sliding off the edge.</a:t>
            </a:r>
            <a:endParaRPr lang="en-US" sz="1250" dirty="0"/>
          </a:p>
        </p:txBody>
      </p:sp>
      <p:sp>
        <p:nvSpPr>
          <p:cNvPr id="12" name="Text 9"/>
          <p:cNvSpPr txBox="1"/>
          <p:nvPr/>
        </p:nvSpPr>
        <p:spPr>
          <a:xfrm>
            <a:off x="8092440" y="4480560"/>
            <a:ext cx="3566160" cy="228600"/>
          </a:xfrm>
          <a:prstGeom prst="rect">
            <a:avLst/>
          </a:prstGeom>
          <a:noFill/>
          <a:ln/>
        </p:spPr>
        <p:txBody>
          <a:bodyPr wrap="square" lIns="0" tIns="0" rIns="0" bIns="0" rtlCol="0" anchor="t"/>
          <a:lstStyle/>
          <a:p>
            <a:pPr indent="0" marL="0">
              <a:buNone/>
            </a:pPr>
            <a:r>
              <a:rPr lang="en-US" sz="900" b="1" spc="120" kern="0" dirty="0">
                <a:solidFill>
                  <a:schemeClr val="accent1"/>
                </a:solidFill>
                <a:latin typeface="Courier New" pitchFamily="34" charset="0"/>
                <a:ea typeface="Courier New" pitchFamily="34" charset="-122"/>
                <a:cs typeface="Courier New" pitchFamily="34" charset="-120"/>
              </a:rPr>
              <a:t>FALLS</a:t>
            </a:r>
            <a:endParaRPr lang="en-US" sz="900" dirty="0"/>
          </a:p>
        </p:txBody>
      </p:sp>
      <p:sp>
        <p:nvSpPr>
          <p:cNvPr id="13" name="Text 10"/>
          <p:cNvSpPr txBox="1"/>
          <p:nvPr/>
        </p:nvSpPr>
        <p:spPr>
          <a:xfrm>
            <a:off x="8092440" y="4736592"/>
            <a:ext cx="3547872" cy="566928"/>
          </a:xfrm>
          <a:prstGeom prst="rect">
            <a:avLst/>
          </a:prstGeom>
          <a:noFill/>
          <a:ln/>
        </p:spPr>
        <p:txBody>
          <a:bodyPr wrap="square" lIns="0" tIns="0" rIns="0" bIns="0" rtlCol="0" anchor="t"/>
          <a:lstStyle/>
          <a:p>
            <a:pPr indent="0" marL="0">
              <a:buNone/>
            </a:pPr>
            <a:r>
              <a:rPr lang="en-US" sz="1250" dirty="0">
                <a:solidFill>
                  <a:srgbClr val="E3E6EC"/>
                </a:solidFill>
              </a:rPr>
              <a:t>Respawn at the last checkpoint. You lose time, not the race.</a:t>
            </a:r>
            <a:endParaRPr lang="en-US" sz="1250" dirty="0"/>
          </a:p>
        </p:txBody>
      </p:sp>
      <p:sp>
        <p:nvSpPr>
          <p:cNvPr id="14" name="Text 11"/>
          <p:cNvSpPr txBox="1"/>
          <p:nvPr/>
        </p:nvSpPr>
        <p:spPr>
          <a:xfrm>
            <a:off x="8092440" y="5431536"/>
            <a:ext cx="3566160" cy="228600"/>
          </a:xfrm>
          <a:prstGeom prst="rect">
            <a:avLst/>
          </a:prstGeom>
          <a:noFill/>
          <a:ln/>
        </p:spPr>
        <p:txBody>
          <a:bodyPr wrap="square" lIns="0" tIns="0" rIns="0" bIns="0" rtlCol="0" anchor="t"/>
          <a:lstStyle/>
          <a:p>
            <a:pPr indent="0" marL="0">
              <a:buNone/>
            </a:pPr>
            <a:r>
              <a:rPr lang="en-US" sz="900" b="1" spc="120" kern="0" dirty="0">
                <a:solidFill>
                  <a:schemeClr val="accent1"/>
                </a:solidFill>
                <a:latin typeface="Courier New" pitchFamily="34" charset="0"/>
                <a:ea typeface="Courier New" pitchFamily="34" charset="-122"/>
                <a:cs typeface="Courier New" pitchFamily="34" charset="-120"/>
              </a:rPr>
              <a:t>PLACEMENT</a:t>
            </a:r>
            <a:endParaRPr lang="en-US" sz="900" dirty="0"/>
          </a:p>
        </p:txBody>
      </p:sp>
      <p:sp>
        <p:nvSpPr>
          <p:cNvPr id="15" name="Text 12"/>
          <p:cNvSpPr txBox="1"/>
          <p:nvPr/>
        </p:nvSpPr>
        <p:spPr>
          <a:xfrm>
            <a:off x="8092440" y="5687568"/>
            <a:ext cx="3547872" cy="566928"/>
          </a:xfrm>
          <a:prstGeom prst="rect">
            <a:avLst/>
          </a:prstGeom>
          <a:noFill/>
          <a:ln/>
        </p:spPr>
        <p:txBody>
          <a:bodyPr wrap="square" lIns="0" tIns="0" rIns="0" bIns="0" rtlCol="0" anchor="t"/>
          <a:lstStyle/>
          <a:p>
            <a:pPr indent="0" marL="0">
              <a:buNone/>
            </a:pPr>
            <a:r>
              <a:rPr lang="en-US" sz="1250" dirty="0">
                <a:solidFill>
                  <a:srgbClr val="E3E6EC"/>
                </a:solidFill>
              </a:rPr>
              <a:t>Finish order. Unfinished players ranked by track progress at timeout.</a:t>
            </a:r>
            <a:endParaRPr lang="en-US" sz="1250" dirty="0"/>
          </a:p>
        </p:txBody>
      </p:sp>
      <p:sp>
        <p:nvSpPr>
          <p:cNvPr id="25" name="Slide Number Placeholder 0"/>
          <p:cNvSpPr>
            <a:spLocks noGrp="1"/>
          </p:cNvSpPr>
          <p:nvPr>
            <p:ph type="sldNum" sz="quarter" idx="4294967295"/>
          </p:nvPr>
        </p:nvSpPr>
        <p:spPr>
          <a:xfrm>
            <a:off x="11064240" y="384048"/>
            <a:ext cx="576072"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8E95A3"/>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7"/>
          <p:cNvSpPr/>
          <p:nvPr>
            <p:ph idx="107" type="body" hasCustomPrompt="1"/>
          </p:nvPr>
        </p:nvSpPr>
        <p:spPr>
          <a:xfrm>
            <a:off x="548640" y="384048"/>
            <a:ext cx="6949440" cy="237744"/>
          </a:xfrm>
          <a:prstGeom prst="rect">
            <a:avLst/>
          </a:prstGeom>
          <a:noFill/>
          <a:ln/>
        </p:spPr>
        <p:txBody>
          <a:bodyPr wrap="square" lIns="0" tIns="0" rIns="0" bIns="0" rtlCol="0" anchor="ctr"/>
          <a:lstStyle/>
          <a:p>
            <a:pPr indent="0" marL="0">
              <a:buNone/>
            </a:pPr>
            <a:r>
              <a:rPr lang="en-US" sz="950" b="1" spc="150" kern="0" dirty="0">
                <a:solidFill>
                  <a:schemeClr val="accent1"/>
                </a:solidFill>
                <a:latin typeface="Courier New" pitchFamily="34" charset="0"/>
                <a:ea typeface="Courier New" pitchFamily="34" charset="-122"/>
                <a:cs typeface="Courier New" pitchFamily="34" charset="-120"/>
              </a:rPr>
              <a:t>07 — TECHNICAL IMPLEMENTATION</a:t>
            </a:r>
            <a:endParaRPr lang="en-US" sz="950" dirty="0"/>
          </a:p>
        </p:txBody>
      </p:sp>
      <p:sp>
        <p:nvSpPr>
          <p:cNvPr id="3" name="Text 7"/>
          <p:cNvSpPr/>
          <p:nvPr>
            <p:ph idx="108"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One shared core; each mini-game plugs into it</a:t>
            </a:r>
            <a:endParaRPr lang="en-US" sz="3000" dirty="0"/>
          </a:p>
        </p:txBody>
      </p:sp>
      <p:sp>
        <p:nvSpPr>
          <p:cNvPr id="4" name="Text 2"/>
          <p:cNvSpPr txBox="1"/>
          <p:nvPr/>
        </p:nvSpPr>
        <p:spPr>
          <a:xfrm>
            <a:off x="548640" y="1856232"/>
            <a:ext cx="7132320" cy="201168"/>
          </a:xfrm>
          <a:prstGeom prst="rect">
            <a:avLst/>
          </a:prstGeom>
          <a:noFill/>
          <a:ln/>
        </p:spPr>
        <p:txBody>
          <a:bodyPr wrap="square" lIns="0" tIns="0" rIns="0" bIns="0" rtlCol="0" anchor="t"/>
          <a:lstStyle/>
          <a:p>
            <a:pPr indent="0" marL="0">
              <a:buNone/>
            </a:pPr>
            <a:r>
              <a:rPr lang="en-US" sz="900" spc="120" kern="0" dirty="0">
                <a:solidFill>
                  <a:srgbClr val="5C616B"/>
                </a:solidFill>
                <a:latin typeface="Courier New" pitchFamily="34" charset="0"/>
                <a:ea typeface="Courier New" pitchFamily="34" charset="-122"/>
                <a:cs typeface="Courier New" pitchFamily="34" charset="-120"/>
              </a:rPr>
              <a:t>MINI-GAMES</a:t>
            </a:r>
            <a:endParaRPr lang="en-US" sz="900" dirty="0"/>
          </a:p>
        </p:txBody>
      </p:sp>
      <p:sp>
        <p:nvSpPr>
          <p:cNvPr id="5" name="MINI-GAMES: Mass Knockout"/>
          <p:cNvSpPr/>
          <p:nvPr/>
        </p:nvSpPr>
        <p:spPr>
          <a:xfrm>
            <a:off x="548640" y="2103120"/>
            <a:ext cx="3511296" cy="658368"/>
          </a:xfrm>
          <a:prstGeom prst="rect">
            <a:avLst/>
          </a:prstGeom>
          <a:solidFill>
            <a:srgbClr val="FF5A1F"/>
          </a:solidFill>
          <a:ln w="12700">
            <a:solidFill>
              <a:srgbClr val="FF5A1F"/>
            </a:solidFill>
            <a:prstDash val="solid"/>
          </a:ln>
        </p:spPr>
      </p:sp>
      <p:sp>
        <p:nvSpPr>
          <p:cNvPr id="6" name="Text 4"/>
          <p:cNvSpPr txBox="1"/>
          <p:nvPr/>
        </p:nvSpPr>
        <p:spPr>
          <a:xfrm>
            <a:off x="685800" y="2194560"/>
            <a:ext cx="3236976" cy="475488"/>
          </a:xfrm>
          <a:prstGeom prst="rect">
            <a:avLst/>
          </a:prstGeom>
          <a:noFill/>
          <a:ln/>
        </p:spPr>
        <p:txBody>
          <a:bodyPr wrap="square" lIns="0" tIns="0" rIns="0" bIns="0" rtlCol="0" anchor="ctr"/>
          <a:lstStyle/>
          <a:p>
            <a:pPr indent="0" marL="0">
              <a:buNone/>
            </a:pPr>
            <a:r>
              <a:rPr lang="en-US" sz="1250" b="1" dirty="0">
                <a:solidFill>
                  <a:srgbClr val="FFFFFF"/>
                </a:solidFill>
              </a:rPr>
              <a:t>Mass Knockout</a:t>
            </a:r>
            <a:endParaRPr lang="en-US" sz="1250" dirty="0"/>
          </a:p>
          <a:p>
            <a:pPr indent="0" marL="0">
              <a:buNone/>
            </a:pPr>
            <a:r>
              <a:rPr lang="en-US" sz="1050" dirty="0">
                <a:solidFill>
                  <a:srgbClr val="D5D8DF"/>
                </a:solidFill>
              </a:rPr>
              <a:t>mass state · spit projectile · knockback</a:t>
            </a:r>
            <a:endParaRPr lang="en-US" sz="1250" dirty="0"/>
          </a:p>
        </p:txBody>
      </p:sp>
      <p:sp>
        <p:nvSpPr>
          <p:cNvPr id="7" name="MINI-GAMES: Ice Race"/>
          <p:cNvSpPr/>
          <p:nvPr/>
        </p:nvSpPr>
        <p:spPr>
          <a:xfrm>
            <a:off x="4169664" y="2103120"/>
            <a:ext cx="3511296" cy="658368"/>
          </a:xfrm>
          <a:prstGeom prst="rect">
            <a:avLst/>
          </a:prstGeom>
          <a:solidFill>
            <a:srgbClr val="FF5A1F"/>
          </a:solidFill>
          <a:ln w="12700">
            <a:solidFill>
              <a:srgbClr val="FF5A1F"/>
            </a:solidFill>
            <a:prstDash val="solid"/>
          </a:ln>
        </p:spPr>
      </p:sp>
      <p:sp>
        <p:nvSpPr>
          <p:cNvPr id="8" name="Text 6"/>
          <p:cNvSpPr txBox="1"/>
          <p:nvPr/>
        </p:nvSpPr>
        <p:spPr>
          <a:xfrm>
            <a:off x="4306824" y="2194560"/>
            <a:ext cx="3236976" cy="475488"/>
          </a:xfrm>
          <a:prstGeom prst="rect">
            <a:avLst/>
          </a:prstGeom>
          <a:noFill/>
          <a:ln/>
        </p:spPr>
        <p:txBody>
          <a:bodyPr wrap="square" lIns="0" tIns="0" rIns="0" bIns="0" rtlCol="0" anchor="ctr"/>
          <a:lstStyle/>
          <a:p>
            <a:pPr indent="0" marL="0">
              <a:buNone/>
            </a:pPr>
            <a:r>
              <a:rPr lang="en-US" sz="1250" b="1" dirty="0">
                <a:solidFill>
                  <a:srgbClr val="FFFFFF"/>
                </a:solidFill>
              </a:rPr>
              <a:t>Ice Race</a:t>
            </a:r>
            <a:endParaRPr lang="en-US" sz="1250" dirty="0"/>
          </a:p>
          <a:p>
            <a:pPr indent="0" marL="0">
              <a:buNone/>
            </a:pPr>
            <a:r>
              <a:rPr lang="en-US" sz="1050" dirty="0">
                <a:solidFill>
                  <a:srgbClr val="D5D8DF"/>
                </a:solidFill>
              </a:rPr>
              <a:t>ice movement profile · track · checkpoints</a:t>
            </a:r>
            <a:endParaRPr lang="en-US" sz="1250" dirty="0"/>
          </a:p>
        </p:txBody>
      </p:sp>
      <p:sp>
        <p:nvSpPr>
          <p:cNvPr id="9" name="Text 7"/>
          <p:cNvSpPr txBox="1"/>
          <p:nvPr/>
        </p:nvSpPr>
        <p:spPr>
          <a:xfrm>
            <a:off x="548640" y="2898648"/>
            <a:ext cx="7132320" cy="201168"/>
          </a:xfrm>
          <a:prstGeom prst="rect">
            <a:avLst/>
          </a:prstGeom>
          <a:noFill/>
          <a:ln/>
        </p:spPr>
        <p:txBody>
          <a:bodyPr wrap="square" lIns="0" tIns="0" rIns="0" bIns="0" rtlCol="0" anchor="t"/>
          <a:lstStyle/>
          <a:p>
            <a:pPr indent="0" marL="0">
              <a:buNone/>
            </a:pPr>
            <a:r>
              <a:rPr lang="en-US" sz="900" spc="120" kern="0" dirty="0">
                <a:solidFill>
                  <a:srgbClr val="5C616B"/>
                </a:solidFill>
                <a:latin typeface="Courier New" pitchFamily="34" charset="0"/>
                <a:ea typeface="Courier New" pitchFamily="34" charset="-122"/>
                <a:cs typeface="Courier New" pitchFamily="34" charset="-120"/>
              </a:rPr>
              <a:t>MINI-GAME CONTRACT</a:t>
            </a:r>
            <a:endParaRPr lang="en-US" sz="900" dirty="0"/>
          </a:p>
        </p:txBody>
      </p:sp>
      <p:sp>
        <p:nvSpPr>
          <p:cNvPr id="10" name="MINI-GAME CONTRACT: Setup(players)  →  Run()  →  Results() : placement"/>
          <p:cNvSpPr/>
          <p:nvPr/>
        </p:nvSpPr>
        <p:spPr>
          <a:xfrm>
            <a:off x="548640" y="3145536"/>
            <a:ext cx="7132320" cy="411480"/>
          </a:xfrm>
          <a:prstGeom prst="rect">
            <a:avLst/>
          </a:prstGeom>
          <a:solidFill>
            <a:srgbClr val="FFFFFF"/>
          </a:solidFill>
          <a:ln w="9525">
            <a:solidFill>
              <a:srgbClr val="14161B"/>
            </a:solidFill>
            <a:prstDash val="solid"/>
          </a:ln>
        </p:spPr>
      </p:sp>
      <p:sp>
        <p:nvSpPr>
          <p:cNvPr id="11" name="Text 9"/>
          <p:cNvSpPr txBox="1"/>
          <p:nvPr/>
        </p:nvSpPr>
        <p:spPr>
          <a:xfrm>
            <a:off x="640080" y="3145536"/>
            <a:ext cx="6949440" cy="411480"/>
          </a:xfrm>
          <a:prstGeom prst="rect">
            <a:avLst/>
          </a:prstGeom>
          <a:noFill/>
          <a:ln/>
        </p:spPr>
        <p:txBody>
          <a:bodyPr wrap="square" lIns="0" tIns="0" rIns="0" bIns="0" rtlCol="0" anchor="ctr"/>
          <a:lstStyle/>
          <a:p>
            <a:pPr algn="ctr" indent="0" marL="0">
              <a:buNone/>
            </a:pPr>
            <a:r>
              <a:rPr lang="en-US" sz="1150" b="1" dirty="0">
                <a:solidFill>
                  <a:srgbClr val="14161B"/>
                </a:solidFill>
              </a:rPr>
              <a:t>Setup(players)  →  Run()  →  Results() : placement</a:t>
            </a:r>
            <a:endParaRPr lang="en-US" sz="1150" dirty="0"/>
          </a:p>
        </p:txBody>
      </p:sp>
      <p:sp>
        <p:nvSpPr>
          <p:cNvPr id="12" name="Text 10"/>
          <p:cNvSpPr txBox="1"/>
          <p:nvPr/>
        </p:nvSpPr>
        <p:spPr>
          <a:xfrm>
            <a:off x="548640" y="3694176"/>
            <a:ext cx="7132320" cy="201168"/>
          </a:xfrm>
          <a:prstGeom prst="rect">
            <a:avLst/>
          </a:prstGeom>
          <a:noFill/>
          <a:ln/>
        </p:spPr>
        <p:txBody>
          <a:bodyPr wrap="square" lIns="0" tIns="0" rIns="0" bIns="0" rtlCol="0" anchor="t"/>
          <a:lstStyle/>
          <a:p>
            <a:pPr indent="0" marL="0">
              <a:buNone/>
            </a:pPr>
            <a:r>
              <a:rPr lang="en-US" sz="900" spc="120" kern="0" dirty="0">
                <a:solidFill>
                  <a:srgbClr val="5C616B"/>
                </a:solidFill>
                <a:latin typeface="Courier New" pitchFamily="34" charset="0"/>
                <a:ea typeface="Courier New" pitchFamily="34" charset="-122"/>
                <a:cs typeface="Courier New" pitchFamily="34" charset="-120"/>
              </a:rPr>
              <a:t>SHARED GAMEPLAY</a:t>
            </a:r>
            <a:endParaRPr lang="en-US" sz="900" dirty="0"/>
          </a:p>
        </p:txBody>
      </p:sp>
      <p:sp>
        <p:nvSpPr>
          <p:cNvPr id="13" name="SHARED GAMEPLAY: Character"/>
          <p:cNvSpPr/>
          <p:nvPr/>
        </p:nvSpPr>
        <p:spPr>
          <a:xfrm>
            <a:off x="548640" y="3941064"/>
            <a:ext cx="1338682" cy="548640"/>
          </a:xfrm>
          <a:prstGeom prst="rect">
            <a:avLst/>
          </a:prstGeom>
          <a:solidFill>
            <a:srgbClr val="FFFFFF"/>
          </a:solidFill>
          <a:ln w="9525">
            <a:solidFill>
              <a:srgbClr val="D8D3C8"/>
            </a:solidFill>
            <a:prstDash val="solid"/>
          </a:ln>
        </p:spPr>
      </p:sp>
      <p:sp>
        <p:nvSpPr>
          <p:cNvPr id="14" name="Text 12"/>
          <p:cNvSpPr txBox="1"/>
          <p:nvPr/>
        </p:nvSpPr>
        <p:spPr>
          <a:xfrm>
            <a:off x="640080" y="3941064"/>
            <a:ext cx="1155802" cy="548640"/>
          </a:xfrm>
          <a:prstGeom prst="rect">
            <a:avLst/>
          </a:prstGeom>
          <a:noFill/>
          <a:ln/>
        </p:spPr>
        <p:txBody>
          <a:bodyPr wrap="square" lIns="0" tIns="0" rIns="0" bIns="0" rtlCol="0" anchor="ctr"/>
          <a:lstStyle/>
          <a:p>
            <a:pPr algn="ctr" indent="0" marL="0">
              <a:buNone/>
            </a:pPr>
            <a:r>
              <a:rPr lang="en-US" sz="1150" b="1" dirty="0">
                <a:solidFill>
                  <a:srgbClr val="14161B"/>
                </a:solidFill>
              </a:rPr>
              <a:t>Character</a:t>
            </a:r>
            <a:endParaRPr lang="en-US" sz="1150" dirty="0"/>
          </a:p>
        </p:txBody>
      </p:sp>
      <p:sp>
        <p:nvSpPr>
          <p:cNvPr id="15" name="SHARED GAMEPLAY: Camera"/>
          <p:cNvSpPr/>
          <p:nvPr/>
        </p:nvSpPr>
        <p:spPr>
          <a:xfrm>
            <a:off x="1997050" y="3941064"/>
            <a:ext cx="1338682" cy="548640"/>
          </a:xfrm>
          <a:prstGeom prst="rect">
            <a:avLst/>
          </a:prstGeom>
          <a:solidFill>
            <a:srgbClr val="FFFFFF"/>
          </a:solidFill>
          <a:ln w="9525">
            <a:solidFill>
              <a:srgbClr val="D8D3C8"/>
            </a:solidFill>
            <a:prstDash val="solid"/>
          </a:ln>
        </p:spPr>
      </p:sp>
      <p:sp>
        <p:nvSpPr>
          <p:cNvPr id="16" name="Text 14"/>
          <p:cNvSpPr txBox="1"/>
          <p:nvPr/>
        </p:nvSpPr>
        <p:spPr>
          <a:xfrm>
            <a:off x="2088490" y="3941064"/>
            <a:ext cx="1155802" cy="548640"/>
          </a:xfrm>
          <a:prstGeom prst="rect">
            <a:avLst/>
          </a:prstGeom>
          <a:noFill/>
          <a:ln/>
        </p:spPr>
        <p:txBody>
          <a:bodyPr wrap="square" lIns="0" tIns="0" rIns="0" bIns="0" rtlCol="0" anchor="ctr"/>
          <a:lstStyle/>
          <a:p>
            <a:pPr algn="ctr" indent="0" marL="0">
              <a:buNone/>
            </a:pPr>
            <a:r>
              <a:rPr lang="en-US" sz="1150" b="1" dirty="0">
                <a:solidFill>
                  <a:srgbClr val="14161B"/>
                </a:solidFill>
              </a:rPr>
              <a:t>Camera</a:t>
            </a:r>
            <a:endParaRPr lang="en-US" sz="1150" dirty="0"/>
          </a:p>
        </p:txBody>
      </p:sp>
      <p:sp>
        <p:nvSpPr>
          <p:cNvPr id="17" name="SHARED GAMEPLAY: Round state machine"/>
          <p:cNvSpPr/>
          <p:nvPr/>
        </p:nvSpPr>
        <p:spPr>
          <a:xfrm>
            <a:off x="3445459" y="3941064"/>
            <a:ext cx="1338682" cy="548640"/>
          </a:xfrm>
          <a:prstGeom prst="rect">
            <a:avLst/>
          </a:prstGeom>
          <a:solidFill>
            <a:srgbClr val="FFFFFF"/>
          </a:solidFill>
          <a:ln w="9525">
            <a:solidFill>
              <a:srgbClr val="D8D3C8"/>
            </a:solidFill>
            <a:prstDash val="solid"/>
          </a:ln>
        </p:spPr>
      </p:sp>
      <p:sp>
        <p:nvSpPr>
          <p:cNvPr id="18" name="Text 16"/>
          <p:cNvSpPr txBox="1"/>
          <p:nvPr/>
        </p:nvSpPr>
        <p:spPr>
          <a:xfrm>
            <a:off x="3536899" y="3941064"/>
            <a:ext cx="1155802" cy="548640"/>
          </a:xfrm>
          <a:prstGeom prst="rect">
            <a:avLst/>
          </a:prstGeom>
          <a:noFill/>
          <a:ln/>
        </p:spPr>
        <p:txBody>
          <a:bodyPr wrap="square" lIns="0" tIns="0" rIns="0" bIns="0" rtlCol="0" anchor="ctr"/>
          <a:lstStyle/>
          <a:p>
            <a:pPr algn="ctr" indent="0" marL="0">
              <a:buNone/>
            </a:pPr>
            <a:r>
              <a:rPr lang="en-US" sz="1150" b="1" dirty="0">
                <a:solidFill>
                  <a:srgbClr val="14161B"/>
                </a:solidFill>
              </a:rPr>
              <a:t>Round state machine</a:t>
            </a:r>
            <a:endParaRPr lang="en-US" sz="1150" dirty="0"/>
          </a:p>
        </p:txBody>
      </p:sp>
      <p:sp>
        <p:nvSpPr>
          <p:cNvPr id="19" name="SHARED GAMEPLAY: Scoreboard"/>
          <p:cNvSpPr/>
          <p:nvPr/>
        </p:nvSpPr>
        <p:spPr>
          <a:xfrm>
            <a:off x="4893869" y="3941064"/>
            <a:ext cx="1338682" cy="548640"/>
          </a:xfrm>
          <a:prstGeom prst="rect">
            <a:avLst/>
          </a:prstGeom>
          <a:solidFill>
            <a:srgbClr val="FFFFFF"/>
          </a:solidFill>
          <a:ln w="9525">
            <a:solidFill>
              <a:srgbClr val="D8D3C8"/>
            </a:solidFill>
            <a:prstDash val="solid"/>
          </a:ln>
        </p:spPr>
      </p:sp>
      <p:sp>
        <p:nvSpPr>
          <p:cNvPr id="20" name="Text 18"/>
          <p:cNvSpPr txBox="1"/>
          <p:nvPr/>
        </p:nvSpPr>
        <p:spPr>
          <a:xfrm>
            <a:off x="4985309" y="3941064"/>
            <a:ext cx="1155802" cy="548640"/>
          </a:xfrm>
          <a:prstGeom prst="rect">
            <a:avLst/>
          </a:prstGeom>
          <a:noFill/>
          <a:ln/>
        </p:spPr>
        <p:txBody>
          <a:bodyPr wrap="square" lIns="0" tIns="0" rIns="0" bIns="0" rtlCol="0" anchor="ctr"/>
          <a:lstStyle/>
          <a:p>
            <a:pPr algn="ctr" indent="0" marL="0">
              <a:buNone/>
            </a:pPr>
            <a:r>
              <a:rPr lang="en-US" sz="1150" b="1" dirty="0">
                <a:solidFill>
                  <a:srgbClr val="14161B"/>
                </a:solidFill>
              </a:rPr>
              <a:t>Scoreboard</a:t>
            </a:r>
            <a:endParaRPr lang="en-US" sz="1150" dirty="0"/>
          </a:p>
        </p:txBody>
      </p:sp>
      <p:sp>
        <p:nvSpPr>
          <p:cNvPr id="21" name="SHARED GAMEPLAY: Lobby &amp; UI"/>
          <p:cNvSpPr/>
          <p:nvPr/>
        </p:nvSpPr>
        <p:spPr>
          <a:xfrm>
            <a:off x="6342278" y="3941064"/>
            <a:ext cx="1338682" cy="548640"/>
          </a:xfrm>
          <a:prstGeom prst="rect">
            <a:avLst/>
          </a:prstGeom>
          <a:solidFill>
            <a:srgbClr val="FFFFFF"/>
          </a:solidFill>
          <a:ln w="9525">
            <a:solidFill>
              <a:srgbClr val="D8D3C8"/>
            </a:solidFill>
            <a:prstDash val="solid"/>
          </a:ln>
        </p:spPr>
      </p:sp>
      <p:sp>
        <p:nvSpPr>
          <p:cNvPr id="22" name="Text 20"/>
          <p:cNvSpPr txBox="1"/>
          <p:nvPr/>
        </p:nvSpPr>
        <p:spPr>
          <a:xfrm>
            <a:off x="6433718" y="3941064"/>
            <a:ext cx="1155802" cy="548640"/>
          </a:xfrm>
          <a:prstGeom prst="rect">
            <a:avLst/>
          </a:prstGeom>
          <a:noFill/>
          <a:ln/>
        </p:spPr>
        <p:txBody>
          <a:bodyPr wrap="square" lIns="0" tIns="0" rIns="0" bIns="0" rtlCol="0" anchor="ctr"/>
          <a:lstStyle/>
          <a:p>
            <a:pPr algn="ctr" indent="0" marL="0">
              <a:buNone/>
            </a:pPr>
            <a:r>
              <a:rPr lang="en-US" sz="1150" b="1" dirty="0">
                <a:solidFill>
                  <a:srgbClr val="14161B"/>
                </a:solidFill>
              </a:rPr>
              <a:t>Lobby &amp; UI</a:t>
            </a:r>
            <a:endParaRPr lang="en-US" sz="1150" dirty="0"/>
          </a:p>
        </p:txBody>
      </p:sp>
      <p:sp>
        <p:nvSpPr>
          <p:cNvPr id="23" name="Text 21"/>
          <p:cNvSpPr txBox="1"/>
          <p:nvPr/>
        </p:nvSpPr>
        <p:spPr>
          <a:xfrm>
            <a:off x="548640" y="4626864"/>
            <a:ext cx="7132320" cy="201168"/>
          </a:xfrm>
          <a:prstGeom prst="rect">
            <a:avLst/>
          </a:prstGeom>
          <a:noFill/>
          <a:ln/>
        </p:spPr>
        <p:txBody>
          <a:bodyPr wrap="square" lIns="0" tIns="0" rIns="0" bIns="0" rtlCol="0" anchor="t"/>
          <a:lstStyle/>
          <a:p>
            <a:pPr indent="0" marL="0">
              <a:buNone/>
            </a:pPr>
            <a:r>
              <a:rPr lang="en-US" sz="900" spc="120" kern="0" dirty="0">
                <a:solidFill>
                  <a:srgbClr val="5C616B"/>
                </a:solidFill>
                <a:latin typeface="Courier New" pitchFamily="34" charset="0"/>
                <a:ea typeface="Courier New" pitchFamily="34" charset="-122"/>
                <a:cs typeface="Courier New" pitchFamily="34" charset="-120"/>
              </a:rPr>
              <a:t>NETWORK</a:t>
            </a:r>
            <a:endParaRPr lang="en-US" sz="900" dirty="0"/>
          </a:p>
        </p:txBody>
      </p:sp>
      <p:sp>
        <p:nvSpPr>
          <p:cNvPr id="24" name="NETWORK: Host-authoritative LAN  ·  Unity Netcode for GameObjects (candidate)"/>
          <p:cNvSpPr/>
          <p:nvPr/>
        </p:nvSpPr>
        <p:spPr>
          <a:xfrm>
            <a:off x="548640" y="4873752"/>
            <a:ext cx="7132320" cy="411480"/>
          </a:xfrm>
          <a:prstGeom prst="rect">
            <a:avLst/>
          </a:prstGeom>
          <a:solidFill>
            <a:srgbClr val="14161B"/>
          </a:solidFill>
          <a:ln w="12700">
            <a:solidFill>
              <a:srgbClr val="14161B"/>
            </a:solidFill>
            <a:prstDash val="solid"/>
          </a:ln>
        </p:spPr>
      </p:sp>
      <p:sp>
        <p:nvSpPr>
          <p:cNvPr id="25" name="Text 23"/>
          <p:cNvSpPr txBox="1"/>
          <p:nvPr/>
        </p:nvSpPr>
        <p:spPr>
          <a:xfrm>
            <a:off x="640080" y="4873752"/>
            <a:ext cx="6949440" cy="411480"/>
          </a:xfrm>
          <a:prstGeom prst="rect">
            <a:avLst/>
          </a:prstGeom>
          <a:noFill/>
          <a:ln/>
        </p:spPr>
        <p:txBody>
          <a:bodyPr wrap="square" lIns="0" tIns="0" rIns="0" bIns="0" rtlCol="0" anchor="ctr"/>
          <a:lstStyle/>
          <a:p>
            <a:pPr algn="ctr" indent="0" marL="0">
              <a:buNone/>
            </a:pPr>
            <a:r>
              <a:rPr lang="en-US" sz="1150" b="1" dirty="0">
                <a:solidFill>
                  <a:srgbClr val="FFFFFF"/>
                </a:solidFill>
              </a:rPr>
              <a:t>Host-authoritative LAN  ·  Unity Netcode for GameObjects (candidate)</a:t>
            </a:r>
            <a:endParaRPr lang="en-US" sz="1150" dirty="0"/>
          </a:p>
        </p:txBody>
      </p:sp>
      <p:sp>
        <p:nvSpPr>
          <p:cNvPr id="26" name="Text 24"/>
          <p:cNvSpPr txBox="1"/>
          <p:nvPr/>
        </p:nvSpPr>
        <p:spPr>
          <a:xfrm>
            <a:off x="548640" y="5422392"/>
            <a:ext cx="7132320" cy="201168"/>
          </a:xfrm>
          <a:prstGeom prst="rect">
            <a:avLst/>
          </a:prstGeom>
          <a:noFill/>
          <a:ln/>
        </p:spPr>
        <p:txBody>
          <a:bodyPr wrap="square" lIns="0" tIns="0" rIns="0" bIns="0" rtlCol="0" anchor="t"/>
          <a:lstStyle/>
          <a:p>
            <a:pPr indent="0" marL="0">
              <a:buNone/>
            </a:pPr>
            <a:r>
              <a:rPr lang="en-US" sz="900" spc="120" kern="0" dirty="0">
                <a:solidFill>
                  <a:srgbClr val="5C616B"/>
                </a:solidFill>
                <a:latin typeface="Courier New" pitchFamily="34" charset="0"/>
                <a:ea typeface="Courier New" pitchFamily="34" charset="-122"/>
                <a:cs typeface="Courier New" pitchFamily="34" charset="-120"/>
              </a:rPr>
              <a:t>ENGINE</a:t>
            </a:r>
            <a:endParaRPr lang="en-US" sz="900" dirty="0"/>
          </a:p>
        </p:txBody>
      </p:sp>
      <p:sp>
        <p:nvSpPr>
          <p:cNvPr id="27" name="ENGINE: Unity  ·  built-in rigidbody physics"/>
          <p:cNvSpPr/>
          <p:nvPr/>
        </p:nvSpPr>
        <p:spPr>
          <a:xfrm>
            <a:off x="548640" y="5669280"/>
            <a:ext cx="7132320" cy="384048"/>
          </a:xfrm>
          <a:prstGeom prst="rect">
            <a:avLst/>
          </a:prstGeom>
          <a:solidFill>
            <a:srgbClr val="E7E2D8"/>
          </a:solidFill>
          <a:ln w="12700">
            <a:solidFill>
              <a:srgbClr val="E7E2D8"/>
            </a:solidFill>
            <a:prstDash val="solid"/>
          </a:ln>
        </p:spPr>
      </p:sp>
      <p:sp>
        <p:nvSpPr>
          <p:cNvPr id="28" name="Text 26"/>
          <p:cNvSpPr txBox="1"/>
          <p:nvPr/>
        </p:nvSpPr>
        <p:spPr>
          <a:xfrm>
            <a:off x="640080" y="5669280"/>
            <a:ext cx="6949440" cy="384048"/>
          </a:xfrm>
          <a:prstGeom prst="rect">
            <a:avLst/>
          </a:prstGeom>
          <a:noFill/>
          <a:ln/>
        </p:spPr>
        <p:txBody>
          <a:bodyPr wrap="square" lIns="0" tIns="0" rIns="0" bIns="0" rtlCol="0" anchor="ctr"/>
          <a:lstStyle/>
          <a:p>
            <a:pPr algn="ctr" indent="0" marL="0">
              <a:buNone/>
            </a:pPr>
            <a:r>
              <a:rPr lang="en-US" sz="1150" b="1" dirty="0">
                <a:solidFill>
                  <a:srgbClr val="14161B"/>
                </a:solidFill>
              </a:rPr>
              <a:t>Unity  ·  built-in rigidbody physics</a:t>
            </a:r>
            <a:endParaRPr lang="en-US" sz="1150" dirty="0"/>
          </a:p>
        </p:txBody>
      </p:sp>
      <p:sp>
        <p:nvSpPr>
          <p:cNvPr id="29" name="Text 27"/>
          <p:cNvSpPr txBox="1"/>
          <p:nvPr/>
        </p:nvSpPr>
        <p:spPr>
          <a:xfrm>
            <a:off x="8183880" y="1874520"/>
            <a:ext cx="3474720" cy="256032"/>
          </a:xfrm>
          <a:prstGeom prst="rect">
            <a:avLst/>
          </a:prstGeom>
          <a:noFill/>
          <a:ln/>
        </p:spPr>
        <p:txBody>
          <a:bodyPr wrap="square" lIns="0" tIns="0" rIns="0" bIns="0" rtlCol="0" anchor="t"/>
          <a:lstStyle/>
          <a:p>
            <a:pPr indent="0" marL="0">
              <a:buNone/>
            </a:pPr>
            <a:r>
              <a:rPr lang="en-US" sz="900" b="1" spc="120" kern="0" dirty="0">
                <a:solidFill>
                  <a:schemeClr val="tx1"/>
                </a:solidFill>
                <a:latin typeface="Courier New" pitchFamily="34" charset="0"/>
                <a:ea typeface="Courier New" pitchFamily="34" charset="-122"/>
                <a:cs typeface="Courier New" pitchFamily="34" charset="-120"/>
              </a:rPr>
              <a:t>WHY THIS SPLIT</a:t>
            </a:r>
            <a:endParaRPr lang="en-US" sz="900" dirty="0"/>
          </a:p>
        </p:txBody>
      </p:sp>
      <p:sp>
        <p:nvSpPr>
          <p:cNvPr id="30" name="Shape 28"/>
          <p:cNvSpPr/>
          <p:nvPr/>
        </p:nvSpPr>
        <p:spPr>
          <a:xfrm>
            <a:off x="8183880" y="2162366"/>
            <a:ext cx="3456432" cy="9525"/>
          </a:xfrm>
          <a:prstGeom prst="rect">
            <a:avLst/>
          </a:prstGeom>
          <a:solidFill>
            <a:srgbClr val="D8D3C8"/>
          </a:solidFill>
          <a:ln w="12700">
            <a:solidFill>
              <a:srgbClr val="D8D3C8"/>
            </a:solidFill>
            <a:prstDash val="solid"/>
          </a:ln>
        </p:spPr>
      </p:sp>
      <p:sp>
        <p:nvSpPr>
          <p:cNvPr id="31" name="Text 29"/>
          <p:cNvSpPr txBox="1"/>
          <p:nvPr/>
        </p:nvSpPr>
        <p:spPr>
          <a:xfrm>
            <a:off x="8183880" y="2286000"/>
            <a:ext cx="3456432" cy="1005840"/>
          </a:xfrm>
          <a:prstGeom prst="rect">
            <a:avLst/>
          </a:prstGeom>
          <a:noFill/>
          <a:ln/>
        </p:spPr>
        <p:txBody>
          <a:bodyPr wrap="square" lIns="0" tIns="0" rIns="0" bIns="0" rtlCol="0" anchor="t"/>
          <a:lstStyle/>
          <a:p>
            <a:pPr indent="0" marL="0">
              <a:buNone/>
            </a:pPr>
            <a:r>
              <a:rPr lang="en-US" sz="1250" b="1" dirty="0">
                <a:solidFill>
                  <a:schemeClr val="tx1"/>
                </a:solidFill>
              </a:rPr>
              <a:t>Reuse.</a:t>
            </a:r>
            <a:endParaRPr lang="en-US" sz="1250" dirty="0"/>
          </a:p>
          <a:p>
            <a:pPr indent="0" marL="0">
              <a:buNone/>
            </a:pPr>
            <a:r>
              <a:rPr lang="en-US" sz="1250" dirty="0">
                <a:solidFill>
                  <a:srgbClr val="5C616B"/>
                </a:solidFill>
              </a:rPr>
              <a:t>A new mini-game is new rules plus one arena. Character, camera, network and scores already exist.</a:t>
            </a:r>
            <a:endParaRPr lang="en-US" sz="1250" dirty="0"/>
          </a:p>
        </p:txBody>
      </p:sp>
      <p:sp>
        <p:nvSpPr>
          <p:cNvPr id="32" name="Shape 30"/>
          <p:cNvSpPr/>
          <p:nvPr/>
        </p:nvSpPr>
        <p:spPr>
          <a:xfrm>
            <a:off x="8183880" y="3351086"/>
            <a:ext cx="3456432" cy="9525"/>
          </a:xfrm>
          <a:prstGeom prst="rect">
            <a:avLst/>
          </a:prstGeom>
          <a:solidFill>
            <a:srgbClr val="D8D3C8"/>
          </a:solidFill>
          <a:ln w="12700">
            <a:solidFill>
              <a:srgbClr val="D8D3C8"/>
            </a:solidFill>
            <a:prstDash val="solid"/>
          </a:ln>
        </p:spPr>
      </p:sp>
      <p:sp>
        <p:nvSpPr>
          <p:cNvPr id="33" name="Text 31"/>
          <p:cNvSpPr txBox="1"/>
          <p:nvPr/>
        </p:nvSpPr>
        <p:spPr>
          <a:xfrm>
            <a:off x="8183880" y="3474720"/>
            <a:ext cx="3456432" cy="1005840"/>
          </a:xfrm>
          <a:prstGeom prst="rect">
            <a:avLst/>
          </a:prstGeom>
          <a:noFill/>
          <a:ln/>
        </p:spPr>
        <p:txBody>
          <a:bodyPr wrap="square" lIns="0" tIns="0" rIns="0" bIns="0" rtlCol="0" anchor="t"/>
          <a:lstStyle/>
          <a:p>
            <a:pPr indent="0" marL="0">
              <a:buNone/>
            </a:pPr>
            <a:r>
              <a:rPr lang="en-US" sz="1250" b="1" dirty="0">
                <a:solidFill>
                  <a:schemeClr val="tx1"/>
                </a:solidFill>
              </a:rPr>
              <a:t>Per-game physics.</a:t>
            </a:r>
            <a:endParaRPr lang="en-US" sz="1250" dirty="0"/>
          </a:p>
          <a:p>
            <a:pPr indent="0" marL="0">
              <a:buNone/>
            </a:pPr>
            <a:r>
              <a:rPr lang="en-US" sz="1250" dirty="0">
                <a:solidFill>
                  <a:srgbClr val="5C616B"/>
                </a:solidFill>
              </a:rPr>
              <a:t>Each mini-game sets its own profile: low grip on ice, firm grip in Knockout.</a:t>
            </a:r>
            <a:endParaRPr lang="en-US" sz="1250" dirty="0"/>
          </a:p>
        </p:txBody>
      </p:sp>
      <p:sp>
        <p:nvSpPr>
          <p:cNvPr id="34" name="Shape 32"/>
          <p:cNvSpPr/>
          <p:nvPr/>
        </p:nvSpPr>
        <p:spPr>
          <a:xfrm>
            <a:off x="8183880" y="4539806"/>
            <a:ext cx="3456432" cy="9525"/>
          </a:xfrm>
          <a:prstGeom prst="rect">
            <a:avLst/>
          </a:prstGeom>
          <a:solidFill>
            <a:srgbClr val="D8D3C8"/>
          </a:solidFill>
          <a:ln w="12700">
            <a:solidFill>
              <a:srgbClr val="D8D3C8"/>
            </a:solidFill>
            <a:prstDash val="solid"/>
          </a:ln>
        </p:spPr>
      </p:sp>
      <p:sp>
        <p:nvSpPr>
          <p:cNvPr id="35" name="Text 33"/>
          <p:cNvSpPr txBox="1"/>
          <p:nvPr/>
        </p:nvSpPr>
        <p:spPr>
          <a:xfrm>
            <a:off x="8183880" y="4663440"/>
            <a:ext cx="3456432" cy="1005840"/>
          </a:xfrm>
          <a:prstGeom prst="rect">
            <a:avLst/>
          </a:prstGeom>
          <a:noFill/>
          <a:ln/>
        </p:spPr>
        <p:txBody>
          <a:bodyPr wrap="square" lIns="0" tIns="0" rIns="0" bIns="0" rtlCol="0" anchor="t"/>
          <a:lstStyle/>
          <a:p>
            <a:pPr indent="0" marL="0">
              <a:buNone/>
            </a:pPr>
            <a:r>
              <a:rPr lang="en-US" sz="1250" b="1" dirty="0">
                <a:solidFill>
                  <a:schemeClr val="tx1"/>
                </a:solidFill>
              </a:rPr>
              <a:t>One truth.</a:t>
            </a:r>
            <a:endParaRPr lang="en-US" sz="1250" dirty="0"/>
          </a:p>
          <a:p>
            <a:pPr indent="0" marL="0">
              <a:buNone/>
            </a:pPr>
            <a:r>
              <a:rPr lang="en-US" sz="1250" dirty="0">
                <a:solidFill>
                  <a:srgbClr val="5C616B"/>
                </a:solidFill>
              </a:rPr>
              <a:t>Everything that decides a result runs on the host, so every screen agrees.</a:t>
            </a:r>
            <a:endParaRPr lang="en-US" sz="1250" dirty="0"/>
          </a:p>
        </p:txBody>
      </p:sp>
      <p:sp>
        <p:nvSpPr>
          <p:cNvPr id="25" name="Slide Number Placeholder 0"/>
          <p:cNvSpPr>
            <a:spLocks noGrp="1"/>
          </p:cNvSpPr>
          <p:nvPr>
            <p:ph type="sldNum" sz="quarter" idx="4294967295"/>
          </p:nvPr>
        </p:nvSpPr>
        <p:spPr>
          <a:xfrm>
            <a:off x="11064240" y="384048"/>
            <a:ext cx="576072"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5C616B"/>
                </a:solidFill>
                <a:latin typeface="Courier New"/>
                <a:ea typeface="Courier New"/>
                <a:cs typeface="Courier New"/>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7"/>
          <p:cNvSpPr/>
          <p:nvPr>
            <p:ph idx="107" type="body" hasCustomPrompt="1"/>
          </p:nvPr>
        </p:nvSpPr>
        <p:spPr>
          <a:xfrm>
            <a:off x="548640" y="384048"/>
            <a:ext cx="6949440" cy="237744"/>
          </a:xfrm>
          <a:prstGeom prst="rect">
            <a:avLst/>
          </a:prstGeom>
          <a:noFill/>
          <a:ln/>
        </p:spPr>
        <p:txBody>
          <a:bodyPr wrap="square" lIns="0" tIns="0" rIns="0" bIns="0" rtlCol="0" anchor="ctr"/>
          <a:lstStyle/>
          <a:p>
            <a:pPr indent="0" marL="0">
              <a:buNone/>
            </a:pPr>
            <a:r>
              <a:rPr lang="en-US" sz="950" b="1" spc="150" kern="0" dirty="0">
                <a:solidFill>
                  <a:schemeClr val="accent1"/>
                </a:solidFill>
                <a:latin typeface="Courier New" pitchFamily="34" charset="0"/>
                <a:ea typeface="Courier New" pitchFamily="34" charset="-122"/>
                <a:cs typeface="Courier New" pitchFamily="34" charset="-120"/>
              </a:rPr>
              <a:t>07 — TECHNICAL IMPLEMENTATION</a:t>
            </a:r>
            <a:endParaRPr lang="en-US" sz="950" dirty="0"/>
          </a:p>
        </p:txBody>
      </p:sp>
      <p:sp>
        <p:nvSpPr>
          <p:cNvPr id="3" name="Text 7"/>
          <p:cNvSpPr/>
          <p:nvPr>
            <p:ph idx="108"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One throw over the LAN, step by step</a:t>
            </a:r>
            <a:endParaRPr lang="en-US" sz="3000" dirty="0"/>
          </a:p>
        </p:txBody>
      </p:sp>
      <p:sp>
        <p:nvSpPr>
          <p:cNvPr id="4" name="CLIENT A"/>
          <p:cNvSpPr/>
          <p:nvPr/>
        </p:nvSpPr>
        <p:spPr>
          <a:xfrm>
            <a:off x="640080" y="1828800"/>
            <a:ext cx="2194560" cy="566928"/>
          </a:xfrm>
          <a:prstGeom prst="rect">
            <a:avLst/>
          </a:prstGeom>
          <a:solidFill>
            <a:srgbClr val="FFFFFF"/>
          </a:solidFill>
          <a:ln w="9525">
            <a:solidFill>
              <a:srgbClr val="14161B"/>
            </a:solidFill>
            <a:prstDash val="solid"/>
          </a:ln>
        </p:spPr>
      </p:sp>
      <p:sp>
        <p:nvSpPr>
          <p:cNvPr id="5" name="Text 3"/>
          <p:cNvSpPr txBox="1"/>
          <p:nvPr/>
        </p:nvSpPr>
        <p:spPr>
          <a:xfrm>
            <a:off x="640080" y="1828800"/>
            <a:ext cx="2194560" cy="566928"/>
          </a:xfrm>
          <a:prstGeom prst="rect">
            <a:avLst/>
          </a:prstGeom>
          <a:noFill/>
          <a:ln/>
        </p:spPr>
        <p:txBody>
          <a:bodyPr wrap="square" lIns="0" tIns="0" rIns="0" bIns="0" rtlCol="0" anchor="ctr"/>
          <a:lstStyle/>
          <a:p>
            <a:pPr algn="ctr" indent="0" marL="0">
              <a:buNone/>
            </a:pPr>
            <a:r>
              <a:rPr lang="en-US" sz="1000" b="1" dirty="0">
                <a:solidFill>
                  <a:schemeClr val="tx1"/>
                </a:solidFill>
                <a:latin typeface="Courier New" pitchFamily="34" charset="0"/>
                <a:ea typeface="Courier New" pitchFamily="34" charset="-122"/>
                <a:cs typeface="Courier New" pitchFamily="34" charset="-120"/>
              </a:rPr>
              <a:t>CLIENT A</a:t>
            </a:r>
            <a:endParaRPr lang="en-US" sz="1300" dirty="0"/>
          </a:p>
          <a:p>
            <a:pPr algn="ctr" indent="0" marL="0">
              <a:buNone/>
            </a:pPr>
            <a:r>
              <a:rPr lang="en-US" sz="1000" dirty="0">
                <a:solidFill>
                  <a:srgbClr val="5C616B"/>
                </a:solidFill>
              </a:rPr>
              <a:t>shooter</a:t>
            </a:r>
            <a:endParaRPr lang="en-US" sz="1300" dirty="0"/>
          </a:p>
        </p:txBody>
      </p:sp>
      <p:sp>
        <p:nvSpPr>
          <p:cNvPr id="6" name="Shape 4"/>
          <p:cNvSpPr/>
          <p:nvPr/>
        </p:nvSpPr>
        <p:spPr>
          <a:xfrm>
            <a:off x="1737360" y="2395728"/>
            <a:ext cx="0" cy="2697480"/>
          </a:xfrm>
          <a:prstGeom prst="line">
            <a:avLst/>
          </a:prstGeom>
          <a:noFill/>
          <a:ln w="12700">
            <a:solidFill>
              <a:srgbClr val="A7A39A"/>
            </a:solidFill>
            <a:prstDash val="dash"/>
          </a:ln>
        </p:spPr>
      </p:sp>
      <p:sp>
        <p:nvSpPr>
          <p:cNvPr id="7" name="HOST"/>
          <p:cNvSpPr/>
          <p:nvPr/>
        </p:nvSpPr>
        <p:spPr>
          <a:xfrm>
            <a:off x="5001768" y="1828800"/>
            <a:ext cx="2194560" cy="566928"/>
          </a:xfrm>
          <a:prstGeom prst="rect">
            <a:avLst/>
          </a:prstGeom>
          <a:solidFill>
            <a:srgbClr val="14161B"/>
          </a:solidFill>
          <a:ln w="12700">
            <a:solidFill>
              <a:srgbClr val="14161B"/>
            </a:solidFill>
            <a:prstDash val="solid"/>
          </a:ln>
        </p:spPr>
      </p:sp>
      <p:sp>
        <p:nvSpPr>
          <p:cNvPr id="8" name="Text 6"/>
          <p:cNvSpPr txBox="1"/>
          <p:nvPr/>
        </p:nvSpPr>
        <p:spPr>
          <a:xfrm>
            <a:off x="5001768" y="1828800"/>
            <a:ext cx="2194560" cy="566928"/>
          </a:xfrm>
          <a:prstGeom prst="rect">
            <a:avLst/>
          </a:prstGeom>
          <a:noFill/>
          <a:ln/>
        </p:spPr>
        <p:txBody>
          <a:bodyPr wrap="square" lIns="0" tIns="0" rIns="0" bIns="0"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HOST</a:t>
            </a:r>
            <a:endParaRPr lang="en-US" sz="1300" dirty="0"/>
          </a:p>
          <a:p>
            <a:pPr algn="ctr" indent="0" marL="0">
              <a:buNone/>
            </a:pPr>
            <a:r>
              <a:rPr lang="en-US" sz="1000" dirty="0">
                <a:solidFill>
                  <a:srgbClr val="D5D8DF"/>
                </a:solidFill>
              </a:rPr>
              <a:t>authority: runs the physics</a:t>
            </a:r>
            <a:endParaRPr lang="en-US" sz="1300" dirty="0"/>
          </a:p>
        </p:txBody>
      </p:sp>
      <p:sp>
        <p:nvSpPr>
          <p:cNvPr id="9" name="Shape 7"/>
          <p:cNvSpPr/>
          <p:nvPr/>
        </p:nvSpPr>
        <p:spPr>
          <a:xfrm>
            <a:off x="6099048" y="2395728"/>
            <a:ext cx="0" cy="2697480"/>
          </a:xfrm>
          <a:prstGeom prst="line">
            <a:avLst/>
          </a:prstGeom>
          <a:noFill/>
          <a:ln w="19050">
            <a:solidFill>
              <a:srgbClr val="14161B"/>
            </a:solidFill>
            <a:prstDash val="solid"/>
          </a:ln>
        </p:spPr>
      </p:sp>
      <p:sp>
        <p:nvSpPr>
          <p:cNvPr id="10" name="CLIENT B"/>
          <p:cNvSpPr/>
          <p:nvPr/>
        </p:nvSpPr>
        <p:spPr>
          <a:xfrm>
            <a:off x="9354312" y="1828800"/>
            <a:ext cx="2194560" cy="566928"/>
          </a:xfrm>
          <a:prstGeom prst="rect">
            <a:avLst/>
          </a:prstGeom>
          <a:solidFill>
            <a:srgbClr val="FFFFFF"/>
          </a:solidFill>
          <a:ln w="9525">
            <a:solidFill>
              <a:srgbClr val="14161B"/>
            </a:solidFill>
            <a:prstDash val="solid"/>
          </a:ln>
        </p:spPr>
      </p:sp>
      <p:sp>
        <p:nvSpPr>
          <p:cNvPr id="11" name="Text 9"/>
          <p:cNvSpPr txBox="1"/>
          <p:nvPr/>
        </p:nvSpPr>
        <p:spPr>
          <a:xfrm>
            <a:off x="9354312" y="1828800"/>
            <a:ext cx="2194560" cy="566928"/>
          </a:xfrm>
          <a:prstGeom prst="rect">
            <a:avLst/>
          </a:prstGeom>
          <a:noFill/>
          <a:ln/>
        </p:spPr>
        <p:txBody>
          <a:bodyPr wrap="square" lIns="0" tIns="0" rIns="0" bIns="0" rtlCol="0" anchor="ctr"/>
          <a:lstStyle/>
          <a:p>
            <a:pPr algn="ctr" indent="0" marL="0">
              <a:buNone/>
            </a:pPr>
            <a:r>
              <a:rPr lang="en-US" sz="1000" b="1" dirty="0">
                <a:solidFill>
                  <a:schemeClr val="tx1"/>
                </a:solidFill>
                <a:latin typeface="Courier New" pitchFamily="34" charset="0"/>
                <a:ea typeface="Courier New" pitchFamily="34" charset="-122"/>
                <a:cs typeface="Courier New" pitchFamily="34" charset="-120"/>
              </a:rPr>
              <a:t>CLIENT B</a:t>
            </a:r>
            <a:endParaRPr lang="en-US" sz="1300" dirty="0"/>
          </a:p>
          <a:p>
            <a:pPr algn="ctr" indent="0" marL="0">
              <a:buNone/>
            </a:pPr>
            <a:r>
              <a:rPr lang="en-US" sz="1000" dirty="0">
                <a:solidFill>
                  <a:srgbClr val="5C616B"/>
                </a:solidFill>
              </a:rPr>
              <a:t>target</a:t>
            </a:r>
            <a:endParaRPr lang="en-US" sz="1300" dirty="0"/>
          </a:p>
        </p:txBody>
      </p:sp>
      <p:sp>
        <p:nvSpPr>
          <p:cNvPr id="12" name="Shape 10"/>
          <p:cNvSpPr/>
          <p:nvPr/>
        </p:nvSpPr>
        <p:spPr>
          <a:xfrm>
            <a:off x="10451592" y="2395728"/>
            <a:ext cx="0" cy="2697480"/>
          </a:xfrm>
          <a:prstGeom prst="line">
            <a:avLst/>
          </a:prstGeom>
          <a:noFill/>
          <a:ln w="12700">
            <a:solidFill>
              <a:srgbClr val="A7A39A"/>
            </a:solidFill>
            <a:prstDash val="dash"/>
          </a:ln>
        </p:spPr>
      </p:sp>
      <p:sp>
        <p:nvSpPr>
          <p:cNvPr id="13" name="Shape 11"/>
          <p:cNvSpPr/>
          <p:nvPr/>
        </p:nvSpPr>
        <p:spPr>
          <a:xfrm>
            <a:off x="1737360" y="2788920"/>
            <a:ext cx="4361688" cy="0"/>
          </a:xfrm>
          <a:prstGeom prst="line">
            <a:avLst/>
          </a:prstGeom>
          <a:noFill/>
          <a:ln w="15875">
            <a:solidFill>
              <a:srgbClr val="14161B"/>
            </a:solidFill>
            <a:prstDash val="solid"/>
            <a:tailEnd type="triangle"/>
          </a:ln>
        </p:spPr>
      </p:sp>
      <p:sp>
        <p:nvSpPr>
          <p:cNvPr id="14" name="Text 12"/>
          <p:cNvSpPr txBox="1"/>
          <p:nvPr/>
        </p:nvSpPr>
        <p:spPr>
          <a:xfrm>
            <a:off x="1828800" y="2496312"/>
            <a:ext cx="4178808" cy="256032"/>
          </a:xfrm>
          <a:prstGeom prst="rect">
            <a:avLst/>
          </a:prstGeom>
          <a:noFill/>
          <a:ln/>
        </p:spPr>
        <p:txBody>
          <a:bodyPr wrap="square" lIns="0" tIns="0" rIns="0" bIns="0" rtlCol="0" anchor="t"/>
          <a:lstStyle/>
          <a:p>
            <a:pPr algn="ctr" indent="0" marL="0">
              <a:buNone/>
            </a:pPr>
            <a:r>
              <a:rPr lang="en-US" sz="1150" b="1" dirty="0">
                <a:solidFill>
                  <a:schemeClr val="accent1"/>
                </a:solidFill>
                <a:latin typeface="Courier New" pitchFamily="34" charset="0"/>
                <a:ea typeface="Courier New" pitchFamily="34" charset="-122"/>
                <a:cs typeface="Courier New" pitchFamily="34" charset="-120"/>
              </a:rPr>
              <a:t>1  </a:t>
            </a:r>
            <a:pPr algn="ctr" indent="0" marL="0">
              <a:buNone/>
            </a:pPr>
            <a:r>
              <a:rPr lang="en-US" sz="1150" dirty="0">
                <a:solidFill>
                  <a:schemeClr val="tx1"/>
                </a:solidFill>
              </a:rPr>
              <a:t>Fire input + aim direction</a:t>
            </a:r>
            <a:endParaRPr lang="en-US" sz="1150" dirty="0"/>
          </a:p>
        </p:txBody>
      </p:sp>
      <p:sp>
        <p:nvSpPr>
          <p:cNvPr id="15" name="Host step 2"/>
          <p:cNvSpPr/>
          <p:nvPr/>
        </p:nvSpPr>
        <p:spPr>
          <a:xfrm>
            <a:off x="6044184" y="3090672"/>
            <a:ext cx="109728" cy="384048"/>
          </a:xfrm>
          <a:prstGeom prst="rect">
            <a:avLst/>
          </a:prstGeom>
          <a:solidFill>
            <a:srgbClr val="FF5A1F"/>
          </a:solidFill>
          <a:ln w="12700">
            <a:solidFill>
              <a:srgbClr val="FF5A1F"/>
            </a:solidFill>
            <a:prstDash val="solid"/>
          </a:ln>
        </p:spPr>
      </p:sp>
      <p:sp>
        <p:nvSpPr>
          <p:cNvPr id="16" name="Text 14"/>
          <p:cNvSpPr txBox="1"/>
          <p:nvPr/>
        </p:nvSpPr>
        <p:spPr>
          <a:xfrm>
            <a:off x="6281928" y="3108960"/>
            <a:ext cx="3931920" cy="365760"/>
          </a:xfrm>
          <a:prstGeom prst="rect">
            <a:avLst/>
          </a:prstGeom>
          <a:noFill/>
          <a:ln/>
        </p:spPr>
        <p:txBody>
          <a:bodyPr wrap="square" lIns="0" tIns="0" rIns="0" bIns="0" rtlCol="0" anchor="ct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2  </a:t>
            </a:r>
            <a:pPr indent="0" marL="0">
              <a:buNone/>
            </a:pPr>
            <a:r>
              <a:rPr lang="en-US" sz="1150" dirty="0">
                <a:solidFill>
                  <a:schemeClr val="tx1"/>
                </a:solidFill>
              </a:rPr>
              <a:t>Check cooldown; shrink A; spawn the glob</a:t>
            </a:r>
            <a:endParaRPr lang="en-US" sz="1150" dirty="0"/>
          </a:p>
        </p:txBody>
      </p:sp>
      <p:sp>
        <p:nvSpPr>
          <p:cNvPr id="17" name="Host step 3"/>
          <p:cNvSpPr/>
          <p:nvPr/>
        </p:nvSpPr>
        <p:spPr>
          <a:xfrm>
            <a:off x="6044184" y="3547872"/>
            <a:ext cx="109728" cy="384048"/>
          </a:xfrm>
          <a:prstGeom prst="rect">
            <a:avLst/>
          </a:prstGeom>
          <a:solidFill>
            <a:srgbClr val="FF5A1F"/>
          </a:solidFill>
          <a:ln w="12700">
            <a:solidFill>
              <a:srgbClr val="FF5A1F"/>
            </a:solidFill>
            <a:prstDash val="solid"/>
          </a:ln>
        </p:spPr>
      </p:sp>
      <p:sp>
        <p:nvSpPr>
          <p:cNvPr id="18" name="Text 16"/>
          <p:cNvSpPr txBox="1"/>
          <p:nvPr/>
        </p:nvSpPr>
        <p:spPr>
          <a:xfrm>
            <a:off x="6281928" y="3566160"/>
            <a:ext cx="3931920" cy="365760"/>
          </a:xfrm>
          <a:prstGeom prst="rect">
            <a:avLst/>
          </a:prstGeom>
          <a:noFill/>
          <a:ln/>
        </p:spPr>
        <p:txBody>
          <a:bodyPr wrap="square" lIns="0" tIns="0" rIns="0" bIns="0" rtlCol="0" anchor="ct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3  </a:t>
            </a:r>
            <a:pPr indent="0" marL="0">
              <a:buNone/>
            </a:pPr>
            <a:r>
              <a:rPr lang="en-US" sz="1150" dirty="0">
                <a:solidFill>
                  <a:schemeClr val="tx1"/>
                </a:solidFill>
              </a:rPr>
              <a:t>Physics step: glob reaches B</a:t>
            </a:r>
            <a:endParaRPr lang="en-US" sz="1150" dirty="0"/>
          </a:p>
        </p:txBody>
      </p:sp>
      <p:sp>
        <p:nvSpPr>
          <p:cNvPr id="19" name="Host step 4"/>
          <p:cNvSpPr/>
          <p:nvPr/>
        </p:nvSpPr>
        <p:spPr>
          <a:xfrm>
            <a:off x="6044184" y="4005072"/>
            <a:ext cx="109728" cy="384048"/>
          </a:xfrm>
          <a:prstGeom prst="rect">
            <a:avLst/>
          </a:prstGeom>
          <a:solidFill>
            <a:srgbClr val="FF5A1F"/>
          </a:solidFill>
          <a:ln w="12700">
            <a:solidFill>
              <a:srgbClr val="FF5A1F"/>
            </a:solidFill>
            <a:prstDash val="solid"/>
          </a:ln>
        </p:spPr>
      </p:sp>
      <p:sp>
        <p:nvSpPr>
          <p:cNvPr id="20" name="Text 18"/>
          <p:cNvSpPr txBox="1"/>
          <p:nvPr/>
        </p:nvSpPr>
        <p:spPr>
          <a:xfrm>
            <a:off x="6281928" y="4023360"/>
            <a:ext cx="3931920" cy="365760"/>
          </a:xfrm>
          <a:prstGeom prst="rect">
            <a:avLst/>
          </a:prstGeom>
          <a:noFill/>
          <a:ln/>
        </p:spPr>
        <p:txBody>
          <a:bodyPr wrap="square" lIns="0" tIns="0" rIns="0" bIns="0" rtlCol="0" anchor="ct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4  </a:t>
            </a:r>
            <a:pPr indent="0" marL="0">
              <a:buNone/>
            </a:pPr>
            <a:r>
              <a:rPr lang="en-US" sz="1150" dirty="0">
                <a:solidFill>
                  <a:schemeClr val="tx1"/>
                </a:solidFill>
              </a:rPr>
              <a:t>B loses mass; push scaled by B’s new mass</a:t>
            </a:r>
            <a:endParaRPr lang="en-US" sz="1150" dirty="0"/>
          </a:p>
        </p:txBody>
      </p:sp>
      <p:sp>
        <p:nvSpPr>
          <p:cNvPr id="21" name="Shape 19"/>
          <p:cNvSpPr/>
          <p:nvPr/>
        </p:nvSpPr>
        <p:spPr>
          <a:xfrm>
            <a:off x="6099048" y="4800600"/>
            <a:ext cx="4352544" cy="0"/>
          </a:xfrm>
          <a:prstGeom prst="line">
            <a:avLst/>
          </a:prstGeom>
          <a:noFill/>
          <a:ln w="15875">
            <a:solidFill>
              <a:srgbClr val="14161B"/>
            </a:solidFill>
            <a:prstDash val="solid"/>
            <a:tailEnd type="triangle"/>
          </a:ln>
        </p:spPr>
      </p:sp>
      <p:sp>
        <p:nvSpPr>
          <p:cNvPr id="22" name="Text 20"/>
          <p:cNvSpPr txBox="1"/>
          <p:nvPr/>
        </p:nvSpPr>
        <p:spPr>
          <a:xfrm>
            <a:off x="6190488" y="4507992"/>
            <a:ext cx="4169664" cy="256032"/>
          </a:xfrm>
          <a:prstGeom prst="rect">
            <a:avLst/>
          </a:prstGeom>
          <a:noFill/>
          <a:ln/>
        </p:spPr>
        <p:txBody>
          <a:bodyPr wrap="square" lIns="0" tIns="0" rIns="0" bIns="0" rtlCol="0" anchor="t"/>
          <a:lstStyle/>
          <a:p>
            <a:pPr algn="ctr" indent="0" marL="0">
              <a:buNone/>
            </a:pPr>
            <a:r>
              <a:rPr lang="en-US" sz="1150" b="1" dirty="0">
                <a:solidFill>
                  <a:schemeClr val="accent1"/>
                </a:solidFill>
                <a:latin typeface="Courier New" pitchFamily="34" charset="0"/>
                <a:ea typeface="Courier New" pitchFamily="34" charset="-122"/>
                <a:cs typeface="Courier New" pitchFamily="34" charset="-120"/>
              </a:rPr>
              <a:t>5  </a:t>
            </a:r>
            <a:pPr algn="ctr" indent="0" marL="0">
              <a:buNone/>
            </a:pPr>
            <a:r>
              <a:rPr lang="en-US" sz="1150" dirty="0">
                <a:solidFill>
                  <a:schemeClr val="tx1"/>
                </a:solidFill>
              </a:rPr>
              <a:t>Snapshot: positions, sizes, scores</a:t>
            </a:r>
            <a:endParaRPr lang="en-US" sz="1150" dirty="0"/>
          </a:p>
        </p:txBody>
      </p:sp>
      <p:sp>
        <p:nvSpPr>
          <p:cNvPr id="23" name="Shape 21"/>
          <p:cNvSpPr/>
          <p:nvPr/>
        </p:nvSpPr>
        <p:spPr>
          <a:xfrm flipH="1">
            <a:off x="1737360" y="4800600"/>
            <a:ext cx="4361688" cy="0"/>
          </a:xfrm>
          <a:prstGeom prst="line">
            <a:avLst/>
          </a:prstGeom>
          <a:noFill/>
          <a:ln w="15875">
            <a:solidFill>
              <a:srgbClr val="14161B"/>
            </a:solidFill>
            <a:prstDash val="solid"/>
            <a:tailEnd type="triangle"/>
          </a:ln>
        </p:spPr>
      </p:sp>
      <p:sp>
        <p:nvSpPr>
          <p:cNvPr id="24" name="Text 22"/>
          <p:cNvSpPr txBox="1"/>
          <p:nvPr/>
        </p:nvSpPr>
        <p:spPr>
          <a:xfrm>
            <a:off x="1828800" y="4507992"/>
            <a:ext cx="4178808" cy="256032"/>
          </a:xfrm>
          <a:prstGeom prst="rect">
            <a:avLst/>
          </a:prstGeom>
          <a:noFill/>
          <a:ln/>
        </p:spPr>
        <p:txBody>
          <a:bodyPr wrap="square" lIns="0" tIns="0" rIns="0" bIns="0" rtlCol="0" anchor="t"/>
          <a:lstStyle/>
          <a:p>
            <a:pPr algn="ctr" indent="0" marL="0">
              <a:buNone/>
            </a:pPr>
            <a:r>
              <a:rPr lang="en-US" sz="1150" b="1" dirty="0">
                <a:solidFill>
                  <a:schemeClr val="accent1"/>
                </a:solidFill>
                <a:latin typeface="Courier New" pitchFamily="34" charset="0"/>
                <a:ea typeface="Courier New" pitchFamily="34" charset="-122"/>
                <a:cs typeface="Courier New" pitchFamily="34" charset="-120"/>
              </a:rPr>
              <a:t>5  </a:t>
            </a:r>
            <a:pPr algn="ctr" indent="0" marL="0">
              <a:buNone/>
            </a:pPr>
            <a:r>
              <a:rPr lang="en-US" sz="1150" dirty="0">
                <a:solidFill>
                  <a:schemeClr val="tx1"/>
                </a:solidFill>
              </a:rPr>
              <a:t>Same snapshot to every client</a:t>
            </a:r>
            <a:endParaRPr lang="en-US" sz="1150" dirty="0"/>
          </a:p>
        </p:txBody>
      </p:sp>
      <p:sp>
        <p:nvSpPr>
          <p:cNvPr id="25" name="Text 23"/>
          <p:cNvSpPr txBox="1"/>
          <p:nvPr/>
        </p:nvSpPr>
        <p:spPr>
          <a:xfrm>
            <a:off x="548640" y="5285232"/>
            <a:ext cx="11094415" cy="274320"/>
          </a:xfrm>
          <a:prstGeom prst="rect">
            <a:avLst/>
          </a:prstGeom>
          <a:noFill/>
          <a:ln/>
        </p:spPr>
        <p:txBody>
          <a:bodyPr wrap="square" lIns="0" tIns="0" rIns="0" bIns="0" rtlCol="0" anchor="t"/>
          <a:lstStyle/>
          <a:p>
            <a:pPr algn="ctr" indent="0" marL="0">
              <a:buNone/>
            </a:pPr>
            <a:r>
              <a:rPr lang="en-US" sz="1150" b="1" dirty="0">
                <a:solidFill>
                  <a:schemeClr val="accent1"/>
                </a:solidFill>
                <a:latin typeface="Courier New" pitchFamily="34" charset="0"/>
                <a:ea typeface="Courier New" pitchFamily="34" charset="-122"/>
                <a:cs typeface="Courier New" pitchFamily="34" charset="-120"/>
              </a:rPr>
              <a:t>6  </a:t>
            </a:r>
            <a:pPr algn="ctr" indent="0" marL="0">
              <a:buNone/>
            </a:pPr>
            <a:r>
              <a:rPr lang="en-US" sz="1150" dirty="0">
                <a:solidFill>
                  <a:schemeClr val="tx1"/>
                </a:solidFill>
              </a:rPr>
              <a:t>Clients interpolate between snapshots and draw.</a:t>
            </a:r>
            <a:endParaRPr lang="en-US" sz="1150" dirty="0"/>
          </a:p>
        </p:txBody>
      </p:sp>
      <p:sp>
        <p:nvSpPr>
          <p:cNvPr id="26" name="Shape 24"/>
          <p:cNvSpPr/>
          <p:nvPr/>
        </p:nvSpPr>
        <p:spPr>
          <a:xfrm>
            <a:off x="548640" y="5755958"/>
            <a:ext cx="11094415" cy="9525"/>
          </a:xfrm>
          <a:prstGeom prst="rect">
            <a:avLst/>
          </a:prstGeom>
          <a:solidFill>
            <a:srgbClr val="D8D3C8"/>
          </a:solidFill>
          <a:ln w="12700">
            <a:solidFill>
              <a:srgbClr val="D8D3C8"/>
            </a:solidFill>
            <a:prstDash val="solid"/>
          </a:ln>
        </p:spPr>
      </p:sp>
      <p:sp>
        <p:nvSpPr>
          <p:cNvPr id="27" name="Text 25"/>
          <p:cNvSpPr txBox="1"/>
          <p:nvPr/>
        </p:nvSpPr>
        <p:spPr>
          <a:xfrm>
            <a:off x="548640" y="5852160"/>
            <a:ext cx="11094415" cy="457200"/>
          </a:xfrm>
          <a:prstGeom prst="rect">
            <a:avLst/>
          </a:prstGeom>
          <a:noFill/>
          <a:ln/>
        </p:spPr>
        <p:txBody>
          <a:bodyPr wrap="square" lIns="0" tIns="0" rIns="0" bIns="0" rtlCol="0" anchor="t"/>
          <a:lstStyle/>
          <a:p>
            <a:pPr indent="0" marL="0">
              <a:buNone/>
            </a:pPr>
            <a:r>
              <a:rPr lang="en-US" sz="1150" b="1" dirty="0">
                <a:solidFill>
                  <a:schemeClr val="tx1"/>
                </a:solidFill>
              </a:rPr>
              <a:t>Your own movement is predicted locally so it feels instant. </a:t>
            </a:r>
            <a:pPr indent="0" marL="0">
              <a:buNone/>
            </a:pPr>
            <a:r>
              <a:rPr lang="en-US" sz="1150" dirty="0">
                <a:solidFill>
                  <a:srgbClr val="5C616B"/>
                </a:solidFill>
              </a:rPr>
              <a:t>Hits, mass changes and knockouts are decided only on the host. Main risk: keeping physics smooth on clients; LAN latency is low, and we tune the snapshot rate.</a:t>
            </a:r>
            <a:endParaRPr lang="en-US" sz="1150" dirty="0"/>
          </a:p>
        </p:txBody>
      </p:sp>
      <p:sp>
        <p:nvSpPr>
          <p:cNvPr id="25" name="Slide Number Placeholder 0"/>
          <p:cNvSpPr>
            <a:spLocks noGrp="1"/>
          </p:cNvSpPr>
          <p:nvPr>
            <p:ph type="sldNum" sz="quarter" idx="4294967295"/>
          </p:nvPr>
        </p:nvSpPr>
        <p:spPr>
          <a:xfrm>
            <a:off x="11064240" y="384048"/>
            <a:ext cx="576072"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5C616B"/>
                </a:solidFill>
                <a:latin typeface="Courier New"/>
                <a:ea typeface="Courier New"/>
                <a:cs typeface="Courier New"/>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7"/>
          <p:cNvSpPr/>
          <p:nvPr>
            <p:ph idx="107" type="body" hasCustomPrompt="1"/>
          </p:nvPr>
        </p:nvSpPr>
        <p:spPr>
          <a:xfrm>
            <a:off x="548640" y="384048"/>
            <a:ext cx="6949440" cy="237744"/>
          </a:xfrm>
          <a:prstGeom prst="rect">
            <a:avLst/>
          </a:prstGeom>
          <a:noFill/>
          <a:ln/>
        </p:spPr>
        <p:txBody>
          <a:bodyPr wrap="square" lIns="0" tIns="0" rIns="0" bIns="0" rtlCol="0" anchor="ctr"/>
          <a:lstStyle/>
          <a:p>
            <a:pPr indent="0" marL="0">
              <a:buNone/>
            </a:pPr>
            <a:r>
              <a:rPr lang="en-US" sz="950" b="1" spc="150" kern="0" dirty="0">
                <a:solidFill>
                  <a:schemeClr val="accent1"/>
                </a:solidFill>
                <a:latin typeface="Courier New" pitchFamily="34" charset="0"/>
                <a:ea typeface="Courier New" pitchFamily="34" charset="-122"/>
                <a:cs typeface="Courier New" pitchFamily="34" charset="-120"/>
              </a:rPr>
              <a:t>08 — INNOVATION</a:t>
            </a:r>
            <a:endParaRPr lang="en-US" sz="950" dirty="0"/>
          </a:p>
        </p:txBody>
      </p:sp>
      <p:sp>
        <p:nvSpPr>
          <p:cNvPr id="3" name="Text 7"/>
          <p:cNvSpPr/>
          <p:nvPr>
            <p:ph idx="108"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Same rules, different builds</a:t>
            </a:r>
            <a:endParaRPr lang="en-US" sz="3000" dirty="0"/>
          </a:p>
        </p:txBody>
      </p:sp>
      <p:pic>
        <p:nvPicPr>
          <p:cNvPr id="4" name="Three cube builds: heavy, balanced, light" descr="Three cube builds: heavy, balanced, light">    </p:cNvPr>
          <p:cNvPicPr>
            <a:picLocks noChangeAspect="1"/>
          </p:cNvPicPr>
          <p:nvPr/>
        </p:nvPicPr>
        <p:blipFill>
          <a:blip r:embed="rId1"/>
          <a:stretch>
            <a:fillRect/>
          </a:stretch>
        </p:blipFill>
        <p:spPr>
          <a:xfrm>
            <a:off x="548640" y="1874520"/>
            <a:ext cx="5669280" cy="3566160"/>
          </a:xfrm>
          <a:prstGeom prst="rect">
            <a:avLst/>
          </a:prstGeom>
        </p:spPr>
      </p:pic>
      <p:sp>
        <p:nvSpPr>
          <p:cNvPr id="5" name="Text 2"/>
          <p:cNvSpPr txBox="1"/>
          <p:nvPr/>
        </p:nvSpPr>
        <p:spPr>
          <a:xfrm>
            <a:off x="548640" y="5532120"/>
            <a:ext cx="5669280" cy="182880"/>
          </a:xfrm>
          <a:prstGeom prst="rect">
            <a:avLst/>
          </a:prstGeom>
          <a:noFill/>
          <a:ln/>
        </p:spPr>
        <p:txBody>
          <a:bodyPr wrap="square" lIns="0" tIns="0" rIns="0" bIns="0" rtlCol="0" anchor="t"/>
          <a:lstStyle/>
          <a:p>
            <a:pPr indent="0" marL="0">
              <a:buNone/>
            </a:pPr>
            <a:r>
              <a:rPr lang="en-US" sz="800" spc="30" kern="0" dirty="0">
                <a:solidFill>
                  <a:srgbClr val="5C616B"/>
                </a:solidFill>
                <a:latin typeface="Courier New" pitchFamily="34" charset="0"/>
                <a:ea typeface="Courier New" pitchFamily="34" charset="-122"/>
                <a:cs typeface="Courier New" pitchFamily="34" charset="-120"/>
              </a:rPr>
              <a:t>FIG 5  Heavy, balanced and light builds of the same character. Concept render, AI-generated. Not gameplay.</a:t>
            </a:r>
            <a:endParaRPr lang="en-US" sz="800" dirty="0"/>
          </a:p>
        </p:txBody>
      </p:sp>
      <p:sp>
        <p:nvSpPr>
          <p:cNvPr id="6" name="Text 3"/>
          <p:cNvSpPr txBox="1"/>
          <p:nvPr/>
        </p:nvSpPr>
        <p:spPr>
          <a:xfrm>
            <a:off x="6583680" y="1874520"/>
            <a:ext cx="5056632" cy="868680"/>
          </a:xfrm>
          <a:prstGeom prst="rect">
            <a:avLst/>
          </a:prstGeom>
          <a:noFill/>
          <a:ln/>
        </p:spPr>
        <p:txBody>
          <a:bodyPr wrap="square" lIns="0" tIns="0" rIns="0" bIns="0" rtlCol="0" anchor="t"/>
          <a:lstStyle/>
          <a:p>
            <a:pPr indent="0" marL="0">
              <a:buNone/>
            </a:pPr>
            <a:r>
              <a:rPr lang="en-US" sz="1400" dirty="0">
                <a:solidFill>
                  <a:schemeClr val="tx1"/>
                </a:solidFill>
              </a:rPr>
              <a:t>Each character could start from a different build. Because mass is also ammunition, a build changes how you play, not only how you look.</a:t>
            </a:r>
            <a:endParaRPr lang="en-US" sz="1400" dirty="0"/>
          </a:p>
        </p:txBody>
      </p:sp>
      <p:sp>
        <p:nvSpPr>
          <p:cNvPr id="7" name="HEAVY colour"/>
          <p:cNvSpPr/>
          <p:nvPr/>
        </p:nvSpPr>
        <p:spPr>
          <a:xfrm>
            <a:off x="6583680" y="2971800"/>
            <a:ext cx="146304" cy="146304"/>
          </a:xfrm>
          <a:prstGeom prst="rect">
            <a:avLst/>
          </a:prstGeom>
          <a:solidFill>
            <a:srgbClr val="8048E0"/>
          </a:solidFill>
          <a:ln w="12700">
            <a:solidFill>
              <a:srgbClr val="8048E0"/>
            </a:solidFill>
            <a:prstDash val="solid"/>
          </a:ln>
        </p:spPr>
      </p:sp>
      <p:sp>
        <p:nvSpPr>
          <p:cNvPr id="8" name="Text 5"/>
          <p:cNvSpPr txBox="1"/>
          <p:nvPr/>
        </p:nvSpPr>
        <p:spPr>
          <a:xfrm>
            <a:off x="6858000" y="2926080"/>
            <a:ext cx="1280160" cy="256032"/>
          </a:xfrm>
          <a:prstGeom prst="rect">
            <a:avLst/>
          </a:prstGeom>
          <a:noFill/>
          <a:ln/>
        </p:spPr>
        <p:txBody>
          <a:bodyPr wrap="square" lIns="0" tIns="0" rIns="0" bIns="0" rtlCol="0" anchor="t"/>
          <a:lstStyle/>
          <a:p>
            <a:pPr indent="0" marL="0">
              <a:buNone/>
            </a:pPr>
            <a:r>
              <a:rPr lang="en-US" sz="900" b="1" spc="120" kern="0" dirty="0">
                <a:solidFill>
                  <a:schemeClr val="tx1"/>
                </a:solidFill>
                <a:latin typeface="Courier New" pitchFamily="34" charset="0"/>
                <a:ea typeface="Courier New" pitchFamily="34" charset="-122"/>
                <a:cs typeface="Courier New" pitchFamily="34" charset="-120"/>
              </a:rPr>
              <a:t>HEAVY</a:t>
            </a:r>
            <a:endParaRPr lang="en-US" sz="900" dirty="0"/>
          </a:p>
        </p:txBody>
      </p:sp>
      <p:sp>
        <p:nvSpPr>
          <p:cNvPr id="9" name="Text 6"/>
          <p:cNvSpPr txBox="1"/>
          <p:nvPr/>
        </p:nvSpPr>
        <p:spPr>
          <a:xfrm>
            <a:off x="8183880" y="2898648"/>
            <a:ext cx="3456432" cy="640080"/>
          </a:xfrm>
          <a:prstGeom prst="rect">
            <a:avLst/>
          </a:prstGeom>
          <a:noFill/>
          <a:ln/>
        </p:spPr>
        <p:txBody>
          <a:bodyPr wrap="square" lIns="0" tIns="0" rIns="0" bIns="0" rtlCol="0" anchor="t"/>
          <a:lstStyle/>
          <a:p>
            <a:pPr indent="0" marL="0">
              <a:buNone/>
            </a:pPr>
            <a:r>
              <a:rPr lang="en-US" sz="1200" dirty="0">
                <a:solidFill>
                  <a:srgbClr val="5C616B"/>
                </a:solidFill>
              </a:rPr>
              <a:t>More starting mass: more shots to spend, harder to push. Moves slower.</a:t>
            </a:r>
            <a:endParaRPr lang="en-US" sz="1200" dirty="0"/>
          </a:p>
        </p:txBody>
      </p:sp>
      <p:sp>
        <p:nvSpPr>
          <p:cNvPr id="10" name="BALANCED colour"/>
          <p:cNvSpPr/>
          <p:nvPr/>
        </p:nvSpPr>
        <p:spPr>
          <a:xfrm>
            <a:off x="6583680" y="3685032"/>
            <a:ext cx="146304" cy="146304"/>
          </a:xfrm>
          <a:prstGeom prst="rect">
            <a:avLst/>
          </a:prstGeom>
          <a:solidFill>
            <a:srgbClr val="FF5A1F"/>
          </a:solidFill>
          <a:ln w="12700">
            <a:solidFill>
              <a:srgbClr val="FF5A1F"/>
            </a:solidFill>
            <a:prstDash val="solid"/>
          </a:ln>
        </p:spPr>
      </p:sp>
      <p:sp>
        <p:nvSpPr>
          <p:cNvPr id="11" name="Text 8"/>
          <p:cNvSpPr txBox="1"/>
          <p:nvPr/>
        </p:nvSpPr>
        <p:spPr>
          <a:xfrm>
            <a:off x="6858000" y="3639312"/>
            <a:ext cx="1280160" cy="256032"/>
          </a:xfrm>
          <a:prstGeom prst="rect">
            <a:avLst/>
          </a:prstGeom>
          <a:noFill/>
          <a:ln/>
        </p:spPr>
        <p:txBody>
          <a:bodyPr wrap="square" lIns="0" tIns="0" rIns="0" bIns="0" rtlCol="0" anchor="t"/>
          <a:lstStyle/>
          <a:p>
            <a:pPr indent="0" marL="0">
              <a:buNone/>
            </a:pPr>
            <a:r>
              <a:rPr lang="en-US" sz="900" b="1" spc="120" kern="0" dirty="0">
                <a:solidFill>
                  <a:schemeClr val="tx1"/>
                </a:solidFill>
                <a:latin typeface="Courier New" pitchFamily="34" charset="0"/>
                <a:ea typeface="Courier New" pitchFamily="34" charset="-122"/>
                <a:cs typeface="Courier New" pitchFamily="34" charset="-120"/>
              </a:rPr>
              <a:t>BALANCED</a:t>
            </a:r>
            <a:endParaRPr lang="en-US" sz="900" dirty="0"/>
          </a:p>
        </p:txBody>
      </p:sp>
      <p:sp>
        <p:nvSpPr>
          <p:cNvPr id="12" name="Text 9"/>
          <p:cNvSpPr txBox="1"/>
          <p:nvPr/>
        </p:nvSpPr>
        <p:spPr>
          <a:xfrm>
            <a:off x="8183880" y="3611880"/>
            <a:ext cx="3456432" cy="640080"/>
          </a:xfrm>
          <a:prstGeom prst="rect">
            <a:avLst/>
          </a:prstGeom>
          <a:noFill/>
          <a:ln/>
        </p:spPr>
        <p:txBody>
          <a:bodyPr wrap="square" lIns="0" tIns="0" rIns="0" bIns="0" rtlCol="0" anchor="t"/>
          <a:lstStyle/>
          <a:p>
            <a:pPr indent="0" marL="0">
              <a:buNone/>
            </a:pPr>
            <a:r>
              <a:rPr lang="en-US" sz="1200" dirty="0">
                <a:solidFill>
                  <a:srgbClr val="5C616B"/>
                </a:solidFill>
              </a:rPr>
              <a:t>The reference build every other one is tuned against.</a:t>
            </a:r>
            <a:endParaRPr lang="en-US" sz="1200" dirty="0"/>
          </a:p>
        </p:txBody>
      </p:sp>
      <p:sp>
        <p:nvSpPr>
          <p:cNvPr id="13" name="LIGHT colour"/>
          <p:cNvSpPr/>
          <p:nvPr/>
        </p:nvSpPr>
        <p:spPr>
          <a:xfrm>
            <a:off x="6583680" y="4398264"/>
            <a:ext cx="146304" cy="146304"/>
          </a:xfrm>
          <a:prstGeom prst="rect">
            <a:avLst/>
          </a:prstGeom>
          <a:solidFill>
            <a:srgbClr val="3DB83A"/>
          </a:solidFill>
          <a:ln w="12700">
            <a:solidFill>
              <a:srgbClr val="3DB83A"/>
            </a:solidFill>
            <a:prstDash val="solid"/>
          </a:ln>
        </p:spPr>
      </p:sp>
      <p:sp>
        <p:nvSpPr>
          <p:cNvPr id="14" name="Text 11"/>
          <p:cNvSpPr txBox="1"/>
          <p:nvPr/>
        </p:nvSpPr>
        <p:spPr>
          <a:xfrm>
            <a:off x="6858000" y="4352544"/>
            <a:ext cx="1280160" cy="256032"/>
          </a:xfrm>
          <a:prstGeom prst="rect">
            <a:avLst/>
          </a:prstGeom>
          <a:noFill/>
          <a:ln/>
        </p:spPr>
        <p:txBody>
          <a:bodyPr wrap="square" lIns="0" tIns="0" rIns="0" bIns="0" rtlCol="0" anchor="t"/>
          <a:lstStyle/>
          <a:p>
            <a:pPr indent="0" marL="0">
              <a:buNone/>
            </a:pPr>
            <a:r>
              <a:rPr lang="en-US" sz="900" b="1" spc="120" kern="0" dirty="0">
                <a:solidFill>
                  <a:schemeClr val="tx1"/>
                </a:solidFill>
                <a:latin typeface="Courier New" pitchFamily="34" charset="0"/>
                <a:ea typeface="Courier New" pitchFamily="34" charset="-122"/>
                <a:cs typeface="Courier New" pitchFamily="34" charset="-120"/>
              </a:rPr>
              <a:t>LIGHT</a:t>
            </a:r>
            <a:endParaRPr lang="en-US" sz="900" dirty="0"/>
          </a:p>
        </p:txBody>
      </p:sp>
      <p:sp>
        <p:nvSpPr>
          <p:cNvPr id="15" name="Text 12"/>
          <p:cNvSpPr txBox="1"/>
          <p:nvPr/>
        </p:nvSpPr>
        <p:spPr>
          <a:xfrm>
            <a:off x="8183880" y="4325112"/>
            <a:ext cx="3456432" cy="640080"/>
          </a:xfrm>
          <a:prstGeom prst="rect">
            <a:avLst/>
          </a:prstGeom>
          <a:noFill/>
          <a:ln/>
        </p:spPr>
        <p:txBody>
          <a:bodyPr wrap="square" lIns="0" tIns="0" rIns="0" bIns="0" rtlCol="0" anchor="t"/>
          <a:lstStyle/>
          <a:p>
            <a:pPr indent="0" marL="0">
              <a:buNone/>
            </a:pPr>
            <a:r>
              <a:rPr lang="en-US" sz="1200" dirty="0">
                <a:solidFill>
                  <a:srgbClr val="5C616B"/>
                </a:solidFill>
              </a:rPr>
              <a:t>Less starting mass: fewer shots, flies further when hit. Moves faster.</a:t>
            </a:r>
            <a:endParaRPr lang="en-US" sz="1200" dirty="0"/>
          </a:p>
        </p:txBody>
      </p:sp>
      <p:sp>
        <p:nvSpPr>
          <p:cNvPr id="16" name="Shape 13"/>
          <p:cNvSpPr/>
          <p:nvPr/>
        </p:nvSpPr>
        <p:spPr>
          <a:xfrm>
            <a:off x="6583680" y="5115878"/>
            <a:ext cx="5056632" cy="9525"/>
          </a:xfrm>
          <a:prstGeom prst="rect">
            <a:avLst/>
          </a:prstGeom>
          <a:solidFill>
            <a:srgbClr val="D8D3C8"/>
          </a:solidFill>
          <a:ln w="12700">
            <a:solidFill>
              <a:srgbClr val="D8D3C8"/>
            </a:solidFill>
            <a:prstDash val="solid"/>
          </a:ln>
        </p:spPr>
      </p:sp>
      <p:sp>
        <p:nvSpPr>
          <p:cNvPr id="17" name="Text 14"/>
          <p:cNvSpPr txBox="1"/>
          <p:nvPr/>
        </p:nvSpPr>
        <p:spPr>
          <a:xfrm>
            <a:off x="6583680" y="5212080"/>
            <a:ext cx="5056632" cy="685800"/>
          </a:xfrm>
          <a:prstGeom prst="rect">
            <a:avLst/>
          </a:prstGeom>
          <a:noFill/>
          <a:ln/>
        </p:spPr>
        <p:txBody>
          <a:bodyPr wrap="square" lIns="0" tIns="0" rIns="0" bIns="0" rtlCol="0" anchor="t"/>
          <a:lstStyle/>
          <a:p>
            <a:pPr indent="0" marL="0">
              <a:buNone/>
            </a:pPr>
            <a:r>
              <a:rPr lang="en-US" sz="1100" i="1" dirty="0">
                <a:solidFill>
                  <a:srgbClr val="5C616B"/>
                </a:solidFill>
              </a:rPr>
              <a:t>Weight classes are standard in the genre (e.g. Mario Kart). The twist is that weight is also your ammunition. Stats are not designed yet; this is a framework for after the MVP.</a:t>
            </a:r>
            <a:endParaRPr lang="en-US" sz="1100" dirty="0"/>
          </a:p>
        </p:txBody>
      </p:sp>
      <p:sp>
        <p:nvSpPr>
          <p:cNvPr id="25" name="Slide Number Placeholder 0"/>
          <p:cNvSpPr>
            <a:spLocks noGrp="1"/>
          </p:cNvSpPr>
          <p:nvPr>
            <p:ph type="sldNum" sz="quarter" idx="4294967295"/>
          </p:nvPr>
        </p:nvSpPr>
        <p:spPr>
          <a:xfrm>
            <a:off x="11064240" y="384048"/>
            <a:ext cx="576072"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5C616B"/>
                </a:solidFill>
                <a:latin typeface="Courier New"/>
                <a:ea typeface="Courier New"/>
                <a:cs typeface="Courier New"/>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7"/>
          <p:cNvSpPr/>
          <p:nvPr>
            <p:ph idx="107" type="body" hasCustomPrompt="1"/>
          </p:nvPr>
        </p:nvSpPr>
        <p:spPr>
          <a:xfrm>
            <a:off x="548640" y="384048"/>
            <a:ext cx="6949440" cy="237744"/>
          </a:xfrm>
          <a:prstGeom prst="rect">
            <a:avLst/>
          </a:prstGeom>
          <a:noFill/>
          <a:ln/>
        </p:spPr>
        <p:txBody>
          <a:bodyPr wrap="square" lIns="0" tIns="0" rIns="0" bIns="0" rtlCol="0" anchor="ctr"/>
          <a:lstStyle/>
          <a:p>
            <a:pPr indent="0" marL="0">
              <a:buNone/>
            </a:pPr>
            <a:r>
              <a:rPr lang="en-US" sz="950" b="1" spc="150" kern="0" dirty="0">
                <a:solidFill>
                  <a:schemeClr val="accent1"/>
                </a:solidFill>
                <a:latin typeface="Courier New" pitchFamily="34" charset="0"/>
                <a:ea typeface="Courier New" pitchFamily="34" charset="-122"/>
                <a:cs typeface="Courier New" pitchFamily="34" charset="-120"/>
              </a:rPr>
              <a:t>08 — INNOVATION</a:t>
            </a:r>
            <a:endParaRPr lang="en-US" sz="950" dirty="0"/>
          </a:p>
        </p:txBody>
      </p:sp>
      <p:sp>
        <p:nvSpPr>
          <p:cNvPr id="3" name="Text 7"/>
          <p:cNvSpPr/>
          <p:nvPr>
            <p:ph idx="108"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No game we found ties knockback to the mass you have lost</a:t>
            </a:r>
            <a:endParaRPr lang="en-US" sz="3000" dirty="0"/>
          </a:p>
        </p:txBody>
      </p:sp>
      <p:sp>
        <p:nvSpPr>
          <p:cNvPr id="4" name="Loop step SPEND"/>
          <p:cNvSpPr/>
          <p:nvPr/>
        </p:nvSpPr>
        <p:spPr>
          <a:xfrm>
            <a:off x="914400" y="1920240"/>
            <a:ext cx="3566160" cy="676656"/>
          </a:xfrm>
          <a:prstGeom prst="rect">
            <a:avLst/>
          </a:prstGeom>
          <a:solidFill>
            <a:srgbClr val="FFFFFF"/>
          </a:solidFill>
          <a:ln w="9525">
            <a:solidFill>
              <a:srgbClr val="14161B"/>
            </a:solidFill>
            <a:prstDash val="solid"/>
          </a:ln>
        </p:spPr>
      </p:sp>
      <p:sp>
        <p:nvSpPr>
          <p:cNvPr id="5" name="Text 3"/>
          <p:cNvSpPr txBox="1"/>
          <p:nvPr/>
        </p:nvSpPr>
        <p:spPr>
          <a:xfrm>
            <a:off x="1078992" y="1920240"/>
            <a:ext cx="3291840" cy="676656"/>
          </a:xfrm>
          <a:prstGeom prst="rect">
            <a:avLst/>
          </a:prstGeom>
          <a:noFill/>
          <a:ln/>
        </p:spPr>
        <p:txBody>
          <a:bodyPr wrap="square" lIns="0" tIns="0" rIns="0" bIns="0" rtlCol="0" anchor="ctr"/>
          <a:lstStyle/>
          <a:p>
            <a:pPr indent="0" marL="0">
              <a:buNone/>
            </a:pPr>
            <a:r>
              <a:rPr lang="en-US" sz="950" b="1" spc="120" kern="0" dirty="0">
                <a:solidFill>
                  <a:srgbClr val="FF5A1F"/>
                </a:solidFill>
                <a:latin typeface="Courier New" pitchFamily="34" charset="0"/>
                <a:ea typeface="Courier New" pitchFamily="34" charset="-122"/>
                <a:cs typeface="Courier New" pitchFamily="34" charset="-120"/>
              </a:rPr>
              <a:t>01  SPEND</a:t>
            </a:r>
            <a:endParaRPr lang="en-US" sz="1300" dirty="0"/>
          </a:p>
          <a:p>
            <a:pPr indent="0" marL="0">
              <a:buNone/>
            </a:pPr>
            <a:r>
              <a:rPr lang="en-US" sz="1150" dirty="0">
                <a:solidFill>
                  <a:srgbClr val="14161B"/>
                </a:solidFill>
              </a:rPr>
              <a:t>Shooting spits out part of your own body.</a:t>
            </a:r>
            <a:endParaRPr lang="en-US" sz="1300" dirty="0"/>
          </a:p>
        </p:txBody>
      </p:sp>
      <p:sp>
        <p:nvSpPr>
          <p:cNvPr id="6" name="Shape 4"/>
          <p:cNvSpPr/>
          <p:nvPr/>
        </p:nvSpPr>
        <p:spPr>
          <a:xfrm>
            <a:off x="2697480" y="2615184"/>
            <a:ext cx="0" cy="219456"/>
          </a:xfrm>
          <a:prstGeom prst="line">
            <a:avLst/>
          </a:prstGeom>
          <a:noFill/>
          <a:ln w="15875">
            <a:solidFill>
              <a:srgbClr val="14161B"/>
            </a:solidFill>
            <a:prstDash val="solid"/>
            <a:tailEnd type="triangle"/>
          </a:ln>
        </p:spPr>
      </p:sp>
      <p:sp>
        <p:nvSpPr>
          <p:cNvPr id="7" name="Loop step DRAIN"/>
          <p:cNvSpPr/>
          <p:nvPr/>
        </p:nvSpPr>
        <p:spPr>
          <a:xfrm>
            <a:off x="914400" y="2852928"/>
            <a:ext cx="3566160" cy="676656"/>
          </a:xfrm>
          <a:prstGeom prst="rect">
            <a:avLst/>
          </a:prstGeom>
          <a:solidFill>
            <a:srgbClr val="FFFFFF"/>
          </a:solidFill>
          <a:ln w="9525">
            <a:solidFill>
              <a:srgbClr val="14161B"/>
            </a:solidFill>
            <a:prstDash val="solid"/>
          </a:ln>
        </p:spPr>
      </p:sp>
      <p:sp>
        <p:nvSpPr>
          <p:cNvPr id="8" name="Text 6"/>
          <p:cNvSpPr txBox="1"/>
          <p:nvPr/>
        </p:nvSpPr>
        <p:spPr>
          <a:xfrm>
            <a:off x="1078992" y="2852928"/>
            <a:ext cx="3291840" cy="676656"/>
          </a:xfrm>
          <a:prstGeom prst="rect">
            <a:avLst/>
          </a:prstGeom>
          <a:noFill/>
          <a:ln/>
        </p:spPr>
        <p:txBody>
          <a:bodyPr wrap="square" lIns="0" tIns="0" rIns="0" bIns="0" rtlCol="0" anchor="ctr"/>
          <a:lstStyle/>
          <a:p>
            <a:pPr indent="0" marL="0">
              <a:buNone/>
            </a:pPr>
            <a:r>
              <a:rPr lang="en-US" sz="950" b="1" spc="120" kern="0" dirty="0">
                <a:solidFill>
                  <a:srgbClr val="FF5A1F"/>
                </a:solidFill>
                <a:latin typeface="Courier New" pitchFamily="34" charset="0"/>
                <a:ea typeface="Courier New" pitchFamily="34" charset="-122"/>
                <a:cs typeface="Courier New" pitchFamily="34" charset="-120"/>
              </a:rPr>
              <a:t>02  DRAIN</a:t>
            </a:r>
            <a:endParaRPr lang="en-US" sz="1300" dirty="0"/>
          </a:p>
          <a:p>
            <a:pPr indent="0" marL="0">
              <a:buNone/>
            </a:pPr>
            <a:r>
              <a:rPr lang="en-US" sz="1150" dirty="0">
                <a:solidFill>
                  <a:srgbClr val="14161B"/>
                </a:solidFill>
              </a:rPr>
              <a:t>Every hit you take removes body mass.</a:t>
            </a:r>
            <a:endParaRPr lang="en-US" sz="1300" dirty="0"/>
          </a:p>
        </p:txBody>
      </p:sp>
      <p:sp>
        <p:nvSpPr>
          <p:cNvPr id="9" name="Shape 7"/>
          <p:cNvSpPr/>
          <p:nvPr/>
        </p:nvSpPr>
        <p:spPr>
          <a:xfrm>
            <a:off x="2697480" y="3547872"/>
            <a:ext cx="0" cy="219456"/>
          </a:xfrm>
          <a:prstGeom prst="line">
            <a:avLst/>
          </a:prstGeom>
          <a:noFill/>
          <a:ln w="15875">
            <a:solidFill>
              <a:srgbClr val="14161B"/>
            </a:solidFill>
            <a:prstDash val="solid"/>
            <a:tailEnd type="triangle"/>
          </a:ln>
        </p:spPr>
      </p:sp>
      <p:sp>
        <p:nvSpPr>
          <p:cNvPr id="10" name="Loop step ONE VALUE"/>
          <p:cNvSpPr/>
          <p:nvPr/>
        </p:nvSpPr>
        <p:spPr>
          <a:xfrm>
            <a:off x="914400" y="3785616"/>
            <a:ext cx="3566160" cy="676656"/>
          </a:xfrm>
          <a:prstGeom prst="rect">
            <a:avLst/>
          </a:prstGeom>
          <a:solidFill>
            <a:srgbClr val="FFFFFF"/>
          </a:solidFill>
          <a:ln w="9525">
            <a:solidFill>
              <a:srgbClr val="14161B"/>
            </a:solidFill>
            <a:prstDash val="solid"/>
          </a:ln>
        </p:spPr>
      </p:sp>
      <p:sp>
        <p:nvSpPr>
          <p:cNvPr id="11" name="Text 9"/>
          <p:cNvSpPr txBox="1"/>
          <p:nvPr/>
        </p:nvSpPr>
        <p:spPr>
          <a:xfrm>
            <a:off x="1078992" y="3785616"/>
            <a:ext cx="3291840" cy="676656"/>
          </a:xfrm>
          <a:prstGeom prst="rect">
            <a:avLst/>
          </a:prstGeom>
          <a:noFill/>
          <a:ln/>
        </p:spPr>
        <p:txBody>
          <a:bodyPr wrap="square" lIns="0" tIns="0" rIns="0" bIns="0" rtlCol="0" anchor="ctr"/>
          <a:lstStyle/>
          <a:p>
            <a:pPr indent="0" marL="0">
              <a:buNone/>
            </a:pPr>
            <a:r>
              <a:rPr lang="en-US" sz="950" b="1" spc="120" kern="0" dirty="0">
                <a:solidFill>
                  <a:srgbClr val="FF5A1F"/>
                </a:solidFill>
                <a:latin typeface="Courier New" pitchFamily="34" charset="0"/>
                <a:ea typeface="Courier New" pitchFamily="34" charset="-122"/>
                <a:cs typeface="Courier New" pitchFamily="34" charset="-120"/>
              </a:rPr>
              <a:t>03  ONE VALUE</a:t>
            </a:r>
            <a:endParaRPr lang="en-US" sz="1300" dirty="0"/>
          </a:p>
          <a:p>
            <a:pPr indent="0" marL="0">
              <a:buNone/>
            </a:pPr>
            <a:r>
              <a:rPr lang="en-US" sz="1150" dirty="0">
                <a:solidFill>
                  <a:srgbClr val="14161B"/>
                </a:solidFill>
              </a:rPr>
              <a:t>That mass is your size, ammunition and health.</a:t>
            </a:r>
            <a:endParaRPr lang="en-US" sz="1300" dirty="0"/>
          </a:p>
        </p:txBody>
      </p:sp>
      <p:sp>
        <p:nvSpPr>
          <p:cNvPr id="12" name="Shape 10"/>
          <p:cNvSpPr/>
          <p:nvPr/>
        </p:nvSpPr>
        <p:spPr>
          <a:xfrm>
            <a:off x="2697480" y="4480560"/>
            <a:ext cx="0" cy="219456"/>
          </a:xfrm>
          <a:prstGeom prst="line">
            <a:avLst/>
          </a:prstGeom>
          <a:noFill/>
          <a:ln w="15875">
            <a:solidFill>
              <a:srgbClr val="14161B"/>
            </a:solidFill>
            <a:prstDash val="solid"/>
            <a:tailEnd type="triangle"/>
          </a:ln>
        </p:spPr>
      </p:sp>
      <p:sp>
        <p:nvSpPr>
          <p:cNvPr id="13" name="Loop step LAUNCH"/>
          <p:cNvSpPr/>
          <p:nvPr/>
        </p:nvSpPr>
        <p:spPr>
          <a:xfrm>
            <a:off x="914400" y="4718304"/>
            <a:ext cx="3566160" cy="676656"/>
          </a:xfrm>
          <a:prstGeom prst="rect">
            <a:avLst/>
          </a:prstGeom>
          <a:solidFill>
            <a:srgbClr val="FF5A1F"/>
          </a:solidFill>
          <a:ln w="12700">
            <a:solidFill>
              <a:srgbClr val="FF5A1F"/>
            </a:solidFill>
            <a:prstDash val="solid"/>
          </a:ln>
        </p:spPr>
      </p:sp>
      <p:sp>
        <p:nvSpPr>
          <p:cNvPr id="14" name="Text 12"/>
          <p:cNvSpPr txBox="1"/>
          <p:nvPr/>
        </p:nvSpPr>
        <p:spPr>
          <a:xfrm>
            <a:off x="1078992" y="4718304"/>
            <a:ext cx="3291840" cy="676656"/>
          </a:xfrm>
          <a:prstGeom prst="rect">
            <a:avLst/>
          </a:prstGeom>
          <a:noFill/>
          <a:ln/>
        </p:spPr>
        <p:txBody>
          <a:bodyPr wrap="square" lIns="0" tIns="0" rIns="0" bIns="0" rtlCol="0" anchor="ctr"/>
          <a:lstStyle/>
          <a:p>
            <a:pPr indent="0" marL="0">
              <a:buNone/>
            </a:pPr>
            <a:r>
              <a:rPr lang="en-US" sz="950" b="1" spc="120" kern="0" dirty="0">
                <a:solidFill>
                  <a:srgbClr val="FFFFFF"/>
                </a:solidFill>
                <a:latin typeface="Courier New" pitchFamily="34" charset="0"/>
                <a:ea typeface="Courier New" pitchFamily="34" charset="-122"/>
                <a:cs typeface="Courier New" pitchFamily="34" charset="-120"/>
              </a:rPr>
              <a:t>04  LAUNCH</a:t>
            </a:r>
            <a:endParaRPr lang="en-US" sz="1300" dirty="0"/>
          </a:p>
          <a:p>
            <a:pPr indent="0" marL="0">
              <a:buNone/>
            </a:pPr>
            <a:r>
              <a:rPr lang="en-US" sz="1150" dirty="0">
                <a:solidFill>
                  <a:srgbClr val="FFFFFF"/>
                </a:solidFill>
              </a:rPr>
              <a:t>Less mass: the same incoming hit sends you further.</a:t>
            </a:r>
            <a:endParaRPr lang="en-US" sz="1300" dirty="0"/>
          </a:p>
        </p:txBody>
      </p:sp>
      <p:sp>
        <p:nvSpPr>
          <p:cNvPr id="15" name="Shape 13"/>
          <p:cNvSpPr/>
          <p:nvPr/>
        </p:nvSpPr>
        <p:spPr>
          <a:xfrm>
            <a:off x="621792" y="2258568"/>
            <a:ext cx="274320" cy="0"/>
          </a:xfrm>
          <a:prstGeom prst="line">
            <a:avLst/>
          </a:prstGeom>
          <a:noFill/>
          <a:ln w="15875">
            <a:solidFill>
              <a:srgbClr val="14161B"/>
            </a:solidFill>
            <a:prstDash val="solid"/>
            <a:tailEnd type="triangle"/>
          </a:ln>
        </p:spPr>
      </p:sp>
      <p:sp>
        <p:nvSpPr>
          <p:cNvPr id="16" name="Shape 14"/>
          <p:cNvSpPr/>
          <p:nvPr/>
        </p:nvSpPr>
        <p:spPr>
          <a:xfrm>
            <a:off x="621792" y="2258568"/>
            <a:ext cx="0" cy="2798064"/>
          </a:xfrm>
          <a:prstGeom prst="line">
            <a:avLst/>
          </a:prstGeom>
          <a:noFill/>
          <a:ln w="15875">
            <a:solidFill>
              <a:srgbClr val="14161B"/>
            </a:solidFill>
            <a:prstDash val="solid"/>
          </a:ln>
        </p:spPr>
      </p:sp>
      <p:sp>
        <p:nvSpPr>
          <p:cNvPr id="17" name="Shape 15"/>
          <p:cNvSpPr/>
          <p:nvPr/>
        </p:nvSpPr>
        <p:spPr>
          <a:xfrm>
            <a:off x="621792" y="5056632"/>
            <a:ext cx="292608" cy="0"/>
          </a:xfrm>
          <a:prstGeom prst="line">
            <a:avLst/>
          </a:prstGeom>
          <a:noFill/>
          <a:ln w="15875">
            <a:solidFill>
              <a:srgbClr val="14161B"/>
            </a:solidFill>
            <a:prstDash val="solid"/>
          </a:ln>
        </p:spPr>
      </p:sp>
      <p:sp>
        <p:nvSpPr>
          <p:cNvPr id="18" name="Text 16"/>
          <p:cNvSpPr txBox="1"/>
          <p:nvPr/>
        </p:nvSpPr>
        <p:spPr>
          <a:xfrm>
            <a:off x="548640" y="5715000"/>
            <a:ext cx="4023360" cy="365760"/>
          </a:xfrm>
          <a:prstGeom prst="rect">
            <a:avLst/>
          </a:prstGeom>
          <a:noFill/>
          <a:ln/>
        </p:spPr>
        <p:txBody>
          <a:bodyPr wrap="square" lIns="0" tIns="0" rIns="0" bIns="0" rtlCol="0" anchor="t"/>
          <a:lstStyle/>
          <a:p>
            <a:pPr indent="0" marL="0">
              <a:buNone/>
            </a:pPr>
            <a:r>
              <a:rPr lang="en-US" sz="800" spc="30" kern="0" dirty="0">
                <a:solidFill>
                  <a:schemeClr val="tx1"/>
                </a:solidFill>
                <a:latin typeface="Courier New" pitchFamily="34" charset="0"/>
                <a:ea typeface="Courier New" pitchFamily="34" charset="-122"/>
                <a:cs typeface="Courier New" pitchFamily="34" charset="-120"/>
              </a:rPr>
              <a:t>THE MASS KNOCKOUT LOOP. STEP 04 IS THE LINK WE DID NOT FIND IN ANY GAME.</a:t>
            </a:r>
            <a:endParaRPr lang="en-US" sz="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983480" y="1874520"/>
          <a:ext cx="6656832" cy="914400"/>
        </p:xfrm>
        <a:graphic>
          <a:graphicData uri="http://schemas.openxmlformats.org/drawingml/2006/table">
            <a:tbl>
              <a:tblPr/>
              <a:tblGrid>
                <a:gridCol w="1783080"/>
                <a:gridCol w="3657600"/>
                <a:gridCol w="1216152"/>
              </a:tblGrid>
              <a:tr h="347472">
                <a:tc>
                  <a:txBody>
                    <a:bodyPr/>
                    <a:lstStyle/>
                    <a:p>
                      <a:pPr indent="0" marL="0">
                        <a:buNone/>
                      </a:pPr>
                      <a:r>
                        <a:rPr lang="en-US" sz="900" b="1" spc="100" kern="0" dirty="0">
                          <a:solidFill>
                            <a:srgbClr val="5C616B"/>
                          </a:solidFill>
                          <a:latin typeface="Courier New" pitchFamily="34" charset="0"/>
                          <a:ea typeface="Courier New" pitchFamily="34" charset="-122"/>
                          <a:cs typeface="Courier New" pitchFamily="34" charset="-120"/>
                        </a:rPr>
                        <a:t>LINK</a:t>
                      </a:r>
                      <a:endParaRPr lang="en-US" sz="900" dirty="0">
                        <a:latin typeface="Courier New" charset="0"/>
                        <a:ea typeface="Courier New" charset="0"/>
                        <a:cs typeface="Courier New" charset="0"/>
                      </a:endParaRPr>
                    </a:p>
                  </a:txBody>
                  <a:tcPr marL="45720" marR="91440" marT="45720" marB="45720">
                    <a:lnL w="0" cap="flat" cmpd="sng" algn="ctr">
                      <a:noFill/>
                    </a:lnL>
                    <a:lnR w="0" cap="flat" cmpd="sng" algn="ctr">
                      <a:noFill/>
                    </a:lnR>
                    <a:lnT w="0" cap="flat" cmpd="sng" algn="ctr">
                      <a:noFill/>
                    </a:lnT>
                    <a:lnB w="12700" cap="flat" cmpd="sng" algn="ctr">
                      <a:solidFill>
                        <a:srgbClr val="14161B"/>
                      </a:solidFill>
                      <a:prstDash val="solid"/>
                      <a:round/>
                      <a:headEnd type="none" w="med" len="med"/>
                      <a:tailEnd type="none" w="med" len="med"/>
                    </a:lnB>
                    <a:solidFill>
                      <a:srgbClr val="F2EFE9"/>
                    </a:solidFill>
                  </a:tcPr>
                </a:tc>
                <a:tc>
                  <a:txBody>
                    <a:bodyPr/>
                    <a:lstStyle/>
                    <a:p>
                      <a:pPr indent="0" marL="0">
                        <a:buNone/>
                      </a:pPr>
                      <a:r>
                        <a:rPr lang="en-US" sz="900" b="1" spc="100" kern="0" dirty="0">
                          <a:solidFill>
                            <a:srgbClr val="5C616B"/>
                          </a:solidFill>
                          <a:latin typeface="Courier New" pitchFamily="34" charset="0"/>
                          <a:ea typeface="Courier New" pitchFamily="34" charset="-122"/>
                          <a:cs typeface="Courier New" pitchFamily="34" charset="-120"/>
                        </a:rPr>
                        <a:t>CLOSEST PRIOR ART</a:t>
                      </a:r>
                      <a:endParaRPr lang="en-US" sz="900" dirty="0">
                        <a:latin typeface="Courier New" charset="0"/>
                        <a:ea typeface="Courier New" charset="0"/>
                        <a:cs typeface="Courier New" charset="0"/>
                      </a:endParaRPr>
                    </a:p>
                  </a:txBody>
                  <a:tcPr marL="45720" marR="91440" marT="45720" marB="45720">
                    <a:lnL w="0" cap="flat" cmpd="sng" algn="ctr">
                      <a:noFill/>
                    </a:lnL>
                    <a:lnR w="0" cap="flat" cmpd="sng" algn="ctr">
                      <a:noFill/>
                    </a:lnR>
                    <a:lnT w="0" cap="flat" cmpd="sng" algn="ctr">
                      <a:noFill/>
                    </a:lnT>
                    <a:lnB w="12700" cap="flat" cmpd="sng" algn="ctr">
                      <a:solidFill>
                        <a:srgbClr val="14161B"/>
                      </a:solidFill>
                      <a:prstDash val="solid"/>
                      <a:round/>
                      <a:headEnd type="none" w="med" len="med"/>
                      <a:tailEnd type="none" w="med" len="med"/>
                    </a:lnB>
                    <a:solidFill>
                      <a:srgbClr val="F2EFE9"/>
                    </a:solidFill>
                  </a:tcPr>
                </a:tc>
                <a:tc>
                  <a:txBody>
                    <a:bodyPr/>
                    <a:lstStyle/>
                    <a:p>
                      <a:pPr indent="0" marL="0">
                        <a:buNone/>
                      </a:pPr>
                      <a:r>
                        <a:rPr lang="en-US" sz="900" b="1" spc="100" kern="0" dirty="0">
                          <a:solidFill>
                            <a:srgbClr val="5C616B"/>
                          </a:solidFill>
                          <a:latin typeface="Courier New" pitchFamily="34" charset="0"/>
                          <a:ea typeface="Courier New" pitchFamily="34" charset="-122"/>
                          <a:cs typeface="Courier New" pitchFamily="34" charset="-120"/>
                        </a:rPr>
                        <a:t>STATUS</a:t>
                      </a:r>
                      <a:endParaRPr lang="en-US" sz="900" dirty="0">
                        <a:latin typeface="Courier New" charset="0"/>
                        <a:ea typeface="Courier New" charset="0"/>
                        <a:cs typeface="Courier New" charset="0"/>
                      </a:endParaRPr>
                    </a:p>
                  </a:txBody>
                  <a:tcPr marL="45720" marR="91440" marT="45720" marB="45720">
                    <a:lnL w="0" cap="flat" cmpd="sng" algn="ctr">
                      <a:noFill/>
                    </a:lnL>
                    <a:lnR w="0" cap="flat" cmpd="sng" algn="ctr">
                      <a:noFill/>
                    </a:lnR>
                    <a:lnT w="0" cap="flat" cmpd="sng" algn="ctr">
                      <a:noFill/>
                    </a:lnT>
                    <a:lnB w="12700" cap="flat" cmpd="sng" algn="ctr">
                      <a:solidFill>
                        <a:srgbClr val="14161B"/>
                      </a:solidFill>
                      <a:prstDash val="solid"/>
                      <a:round/>
                      <a:headEnd type="none" w="med" len="med"/>
                      <a:tailEnd type="none" w="med" len="med"/>
                    </a:lnB>
                    <a:solidFill>
                      <a:srgbClr val="F2EFE9"/>
                    </a:solidFill>
                  </a:tcPr>
                </a:tc>
              </a:tr>
              <a:tr h="658368">
                <a:tc>
                  <a:txBody>
                    <a:bodyPr/>
                    <a:lstStyle/>
                    <a:p>
                      <a:pPr indent="0" marL="0">
                        <a:buNone/>
                      </a:pPr>
                      <a:r>
                        <a:rPr lang="en-US" sz="1050" b="1" dirty="0">
                          <a:solidFill>
                            <a:srgbClr val="14161B"/>
                          </a:solidFill>
                          <a:latin typeface="Calibri" pitchFamily="34" charset="0"/>
                          <a:ea typeface="Calibri" pitchFamily="34" charset="-122"/>
                          <a:cs typeface="Calibri" pitchFamily="34" charset="-120"/>
                        </a:rPr>
                        <a:t>01 Spend your body</a:t>
                      </a:r>
                      <a:endParaRPr lang="en-US" sz="1050" dirty="0">
                        <a:latin typeface="Calibri" charset="0"/>
                        <a:ea typeface="Calibri" charset="0"/>
                        <a:cs typeface="Calibri"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tcPr>
                </a:tc>
                <a:tc>
                  <a:txBody>
                    <a:bodyPr/>
                    <a:lstStyle/>
                    <a:p>
                      <a:pPr indent="0" marL="0">
                        <a:buNone/>
                      </a:pPr>
                      <a:r>
                        <a:rPr lang="en-US" sz="1050" dirty="0">
                          <a:solidFill>
                            <a:srgbClr val="5C616B"/>
                          </a:solidFill>
                          <a:latin typeface="Calibri" pitchFamily="34" charset="0"/>
                          <a:ea typeface="Calibri" pitchFamily="34" charset="-122"/>
                          <a:cs typeface="Calibri" pitchFamily="34" charset="-120"/>
                        </a:rPr>
                        <a:t>Osmos ejects its own matter to move, not to attack. Agar.io ejects mass.</a:t>
                      </a:r>
                      <a:endParaRPr lang="en-US" sz="1050" dirty="0">
                        <a:latin typeface="Calibri" charset="0"/>
                        <a:ea typeface="Calibri" charset="0"/>
                        <a:cs typeface="Calibri"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tcPr>
                </a:tc>
                <a:tc>
                  <a:txBody>
                    <a:bodyPr/>
                    <a:lstStyle/>
                    <a:p>
                      <a:pPr indent="0" marL="0">
                        <a:buNone/>
                      </a:pPr>
                      <a:r>
                        <a:rPr lang="en-US" sz="850" b="1" dirty="0">
                          <a:solidFill>
                            <a:srgbClr val="5C616B"/>
                          </a:solidFill>
                          <a:latin typeface="Courier New" pitchFamily="34" charset="0"/>
                          <a:ea typeface="Courier New" pitchFamily="34" charset="-122"/>
                          <a:cs typeface="Courier New" pitchFamily="34" charset="-120"/>
                        </a:rPr>
                        <a:t>DIFFERENT USE</a:t>
                      </a:r>
                      <a:endParaRPr lang="en-US" sz="850" dirty="0">
                        <a:latin typeface="Courier New" charset="0"/>
                        <a:ea typeface="Courier New" charset="0"/>
                        <a:cs typeface="Courier New"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tcPr>
                </a:tc>
              </a:tr>
              <a:tr h="658368">
                <a:tc>
                  <a:txBody>
                    <a:bodyPr/>
                    <a:lstStyle/>
                    <a:p>
                      <a:pPr indent="0" marL="0">
                        <a:buNone/>
                      </a:pPr>
                      <a:r>
                        <a:rPr lang="en-US" sz="1050" b="1" dirty="0">
                          <a:solidFill>
                            <a:srgbClr val="14161B"/>
                          </a:solidFill>
                          <a:latin typeface="Calibri" pitchFamily="34" charset="0"/>
                          <a:ea typeface="Calibri" pitchFamily="34" charset="-122"/>
                          <a:cs typeface="Calibri" pitchFamily="34" charset="-120"/>
                        </a:rPr>
                        <a:t>02 Hits shrink you</a:t>
                      </a:r>
                      <a:endParaRPr lang="en-US" sz="1050" dirty="0">
                        <a:latin typeface="Calibri" charset="0"/>
                        <a:ea typeface="Calibri" charset="0"/>
                        <a:cs typeface="Calibri"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tcPr>
                </a:tc>
                <a:tc>
                  <a:txBody>
                    <a:bodyPr/>
                    <a:lstStyle/>
                    <a:p>
                      <a:pPr indent="0" marL="0">
                        <a:buNone/>
                      </a:pPr>
                      <a:r>
                        <a:rPr lang="en-US" sz="1050" dirty="0">
                          <a:solidFill>
                            <a:srgbClr val="5C616B"/>
                          </a:solidFill>
                          <a:latin typeface="Calibri" pitchFamily="34" charset="0"/>
                          <a:ea typeface="Calibri" pitchFamily="34" charset="-122"/>
                          <a:cs typeface="Calibri" pitchFamily="34" charset="-120"/>
                        </a:rPr>
                        <a:t>Squarena (2D): lower health, smaller body. Morphies Law: hits move mass between robots.</a:t>
                      </a:r>
                      <a:endParaRPr lang="en-US" sz="1050" dirty="0">
                        <a:latin typeface="Calibri" charset="0"/>
                        <a:ea typeface="Calibri" charset="0"/>
                        <a:cs typeface="Calibri"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tcPr>
                </a:tc>
                <a:tc>
                  <a:txBody>
                    <a:bodyPr/>
                    <a:lstStyle/>
                    <a:p>
                      <a:pPr indent="0" marL="0">
                        <a:buNone/>
                      </a:pPr>
                      <a:r>
                        <a:rPr lang="en-US" sz="850" b="1" dirty="0">
                          <a:solidFill>
                            <a:srgbClr val="5C616B"/>
                          </a:solidFill>
                          <a:latin typeface="Courier New" pitchFamily="34" charset="0"/>
                          <a:ea typeface="Courier New" pitchFamily="34" charset="-122"/>
                          <a:cs typeface="Courier New" pitchFamily="34" charset="-120"/>
                        </a:rPr>
                        <a:t>PRECEDENT</a:t>
                      </a:r>
                      <a:endParaRPr lang="en-US" sz="850" dirty="0">
                        <a:latin typeface="Courier New" charset="0"/>
                        <a:ea typeface="Courier New" charset="0"/>
                        <a:cs typeface="Courier New"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tcPr>
                </a:tc>
              </a:tr>
              <a:tr h="658368">
                <a:tc>
                  <a:txBody>
                    <a:bodyPr/>
                    <a:lstStyle/>
                    <a:p>
                      <a:pPr indent="0" marL="0">
                        <a:buNone/>
                      </a:pPr>
                      <a:r>
                        <a:rPr lang="en-US" sz="1050" b="1" dirty="0">
                          <a:solidFill>
                            <a:srgbClr val="14161B"/>
                          </a:solidFill>
                          <a:latin typeface="Calibri" pitchFamily="34" charset="0"/>
                          <a:ea typeface="Calibri" pitchFamily="34" charset="-122"/>
                          <a:cs typeface="Calibri" pitchFamily="34" charset="-120"/>
                        </a:rPr>
                        <a:t>03 Attack costs health</a:t>
                      </a:r>
                      <a:endParaRPr lang="en-US" sz="1050" dirty="0">
                        <a:latin typeface="Calibri" charset="0"/>
                        <a:ea typeface="Calibri" charset="0"/>
                        <a:cs typeface="Calibri"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tcPr>
                </a:tc>
                <a:tc>
                  <a:txBody>
                    <a:bodyPr/>
                    <a:lstStyle/>
                    <a:p>
                      <a:pPr indent="0" marL="0">
                        <a:buNone/>
                      </a:pPr>
                      <a:r>
                        <a:rPr lang="en-US" sz="1050" dirty="0">
                          <a:solidFill>
                            <a:srgbClr val="5C616B"/>
                          </a:solidFill>
                          <a:latin typeface="Calibri" pitchFamily="34" charset="0"/>
                          <a:ea typeface="Calibri" pitchFamily="34" charset="-122"/>
                          <a:cs typeface="Calibri" pitchFamily="34" charset="-120"/>
                        </a:rPr>
                        <a:t>Crisol: Theater of Idols: your blood is your ammunition. Not physical mass.</a:t>
                      </a:r>
                      <a:endParaRPr lang="en-US" sz="1050" dirty="0">
                        <a:latin typeface="Calibri" charset="0"/>
                        <a:ea typeface="Calibri" charset="0"/>
                        <a:cs typeface="Calibri"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tcPr>
                </a:tc>
                <a:tc>
                  <a:txBody>
                    <a:bodyPr/>
                    <a:lstStyle/>
                    <a:p>
                      <a:pPr indent="0" marL="0">
                        <a:buNone/>
                      </a:pPr>
                      <a:r>
                        <a:rPr lang="en-US" sz="850" b="1" dirty="0">
                          <a:solidFill>
                            <a:srgbClr val="5C616B"/>
                          </a:solidFill>
                          <a:latin typeface="Courier New" pitchFamily="34" charset="0"/>
                          <a:ea typeface="Courier New" pitchFamily="34" charset="-122"/>
                          <a:cs typeface="Courier New" pitchFamily="34" charset="-120"/>
                        </a:rPr>
                        <a:t>PRECEDENT</a:t>
                      </a:r>
                      <a:endParaRPr lang="en-US" sz="850" dirty="0">
                        <a:latin typeface="Courier New" charset="0"/>
                        <a:ea typeface="Courier New" charset="0"/>
                        <a:cs typeface="Courier New"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tcPr>
                </a:tc>
              </a:tr>
              <a:tr h="822960">
                <a:tc>
                  <a:txBody>
                    <a:bodyPr/>
                    <a:lstStyle/>
                    <a:p>
                      <a:pPr indent="0" marL="0">
                        <a:buNone/>
                      </a:pPr>
                      <a:r>
                        <a:rPr lang="en-US" sz="1050" b="1" dirty="0">
                          <a:solidFill>
                            <a:srgbClr val="14161B"/>
                          </a:solidFill>
                          <a:latin typeface="Calibri" pitchFamily="34" charset="0"/>
                          <a:ea typeface="Calibri" pitchFamily="34" charset="-122"/>
                          <a:cs typeface="Calibri" pitchFamily="34" charset="-120"/>
                        </a:rPr>
                        <a:t>04 Lighter, launched further</a:t>
                      </a:r>
                      <a:endParaRPr lang="en-US" sz="1050" dirty="0">
                        <a:latin typeface="Calibri" charset="0"/>
                        <a:ea typeface="Calibri" charset="0"/>
                        <a:cs typeface="Calibri"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tcPr>
                </a:tc>
                <a:tc>
                  <a:txBody>
                    <a:bodyPr/>
                    <a:lstStyle/>
                    <a:p>
                      <a:pPr indent="0" marL="0">
                        <a:buNone/>
                      </a:pPr>
                      <a:r>
                        <a:rPr lang="en-US" sz="1050" dirty="0">
                          <a:solidFill>
                            <a:srgbClr val="5C616B"/>
                          </a:solidFill>
                          <a:latin typeface="Calibri" pitchFamily="34" charset="0"/>
                          <a:ea typeface="Calibri" pitchFamily="34" charset="-122"/>
                          <a:cs typeface="Calibri" pitchFamily="34" charset="-120"/>
                        </a:rPr>
                        <a:t>Not found. Smash Bros. raises knockback with a damage % counter; in Squarena, smaller bodies feel more of their own recoil.</a:t>
                      </a:r>
                      <a:endParaRPr lang="en-US" sz="1050" dirty="0">
                        <a:latin typeface="Calibri" charset="0"/>
                        <a:ea typeface="Calibri" charset="0"/>
                        <a:cs typeface="Calibri"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tcPr>
                </a:tc>
                <a:tc>
                  <a:txBody>
                    <a:bodyPr/>
                    <a:lstStyle/>
                    <a:p>
                      <a:pPr indent="0" marL="0">
                        <a:buNone/>
                      </a:pPr>
                      <a:r>
                        <a:rPr lang="en-US" sz="850" b="1" dirty="0">
                          <a:solidFill>
                            <a:srgbClr val="FF5A1F"/>
                          </a:solidFill>
                          <a:latin typeface="Courier New" pitchFamily="34" charset="0"/>
                          <a:ea typeface="Courier New" pitchFamily="34" charset="-122"/>
                          <a:cs typeface="Courier New" pitchFamily="34" charset="-120"/>
                        </a:rPr>
                        <a:t>NOT FOUND</a:t>
                      </a:r>
                      <a:endParaRPr lang="en-US" sz="850" dirty="0">
                        <a:latin typeface="Courier New" charset="0"/>
                        <a:ea typeface="Courier New" charset="0"/>
                        <a:cs typeface="Courier New"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tcPr>
                </a:tc>
              </a:tr>
              <a:tr h="457200">
                <a:tc>
                  <a:txBody>
                    <a:bodyPr/>
                    <a:lstStyle/>
                    <a:p>
                      <a:pPr indent="0" marL="0">
                        <a:buNone/>
                      </a:pPr>
                      <a:r>
                        <a:rPr lang="en-US" sz="1050" b="1" dirty="0">
                          <a:solidFill>
                            <a:srgbClr val="14161B"/>
                          </a:solidFill>
                          <a:latin typeface="Calibri" pitchFamily="34" charset="0"/>
                          <a:ea typeface="Calibri" pitchFamily="34" charset="-122"/>
                          <a:cs typeface="Calibri" pitchFamily="34" charset="-120"/>
                        </a:rPr>
                        <a:t>01–04 in one 3D party game</a:t>
                      </a:r>
                      <a:endParaRPr lang="en-US" sz="1050" dirty="0">
                        <a:latin typeface="Calibri" charset="0"/>
                        <a:ea typeface="Calibri" charset="0"/>
                        <a:cs typeface="Calibri"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tcPr>
                </a:tc>
                <a:tc>
                  <a:txBody>
                    <a:bodyPr/>
                    <a:lstStyle/>
                    <a:p>
                      <a:pPr indent="0" marL="0">
                        <a:buNone/>
                      </a:pPr>
                      <a:r>
                        <a:rPr lang="en-US" sz="1050" dirty="0">
                          <a:solidFill>
                            <a:srgbClr val="5C616B"/>
                          </a:solidFill>
                          <a:latin typeface="Calibri" pitchFamily="34" charset="0"/>
                          <a:ea typeface="Calibri" pitchFamily="34" charset="-122"/>
                          <a:cs typeface="Calibri" pitchFamily="34" charset="-120"/>
                        </a:rPr>
                        <a:t>Not found.</a:t>
                      </a:r>
                      <a:endParaRPr lang="en-US" sz="1050" dirty="0">
                        <a:latin typeface="Calibri" charset="0"/>
                        <a:ea typeface="Calibri" charset="0"/>
                        <a:cs typeface="Calibri"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tcPr>
                </a:tc>
                <a:tc>
                  <a:txBody>
                    <a:bodyPr/>
                    <a:lstStyle/>
                    <a:p>
                      <a:pPr indent="0" marL="0">
                        <a:buNone/>
                      </a:pPr>
                      <a:r>
                        <a:rPr lang="en-US" sz="850" b="1" dirty="0">
                          <a:solidFill>
                            <a:srgbClr val="FF5A1F"/>
                          </a:solidFill>
                          <a:latin typeface="Courier New" pitchFamily="34" charset="0"/>
                          <a:ea typeface="Courier New" pitchFamily="34" charset="-122"/>
                          <a:cs typeface="Courier New" pitchFamily="34" charset="-120"/>
                        </a:rPr>
                        <a:t>NOT FOUND</a:t>
                      </a:r>
                      <a:endParaRPr lang="en-US" sz="850" dirty="0">
                        <a:latin typeface="Courier New" charset="0"/>
                        <a:ea typeface="Courier New" charset="0"/>
                        <a:cs typeface="Courier New"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tcPr>
                </a:tc>
              </a:tr>
            </a:tbl>
          </a:graphicData>
        </a:graphic>
      </p:graphicFrame>
      <p:sp>
        <p:nvSpPr>
          <p:cNvPr id="20" name="Text 17"/>
          <p:cNvSpPr txBox="1"/>
          <p:nvPr/>
        </p:nvSpPr>
        <p:spPr>
          <a:xfrm>
            <a:off x="4983480" y="5715000"/>
            <a:ext cx="6656832" cy="320040"/>
          </a:xfrm>
          <a:prstGeom prst="rect">
            <a:avLst/>
          </a:prstGeom>
          <a:noFill/>
          <a:ln/>
        </p:spPr>
        <p:txBody>
          <a:bodyPr wrap="square" lIns="0" tIns="0" rIns="0" bIns="0" rtlCol="0" anchor="t"/>
          <a:lstStyle/>
          <a:p>
            <a:pPr indent="0" marL="0">
              <a:buNone/>
            </a:pPr>
            <a:r>
              <a:rPr lang="en-US" sz="800" spc="30" kern="0" dirty="0">
                <a:solidFill>
                  <a:srgbClr val="5C616B"/>
                </a:solidFill>
                <a:latin typeface="Courier New" pitchFamily="34" charset="0"/>
                <a:ea typeface="Courier New" pitchFamily="34" charset="-122"/>
                <a:cs typeface="Courier New" pitchFamily="34" charset="-120"/>
              </a:rPr>
              <a:t>Prior-art search of shipped games, Oct 2026 [9–12]. “Not found” = not found after searching.</a:t>
            </a:r>
            <a:endParaRPr lang="en-US" sz="800" dirty="0"/>
          </a:p>
        </p:txBody>
      </p:sp>
      <p:sp>
        <p:nvSpPr>
          <p:cNvPr id="25" name="Slide Number Placeholder 0"/>
          <p:cNvSpPr>
            <a:spLocks noGrp="1"/>
          </p:cNvSpPr>
          <p:nvPr>
            <p:ph type="sldNum" sz="quarter" idx="4294967295"/>
          </p:nvPr>
        </p:nvSpPr>
        <p:spPr>
          <a:xfrm>
            <a:off x="11064240" y="384048"/>
            <a:ext cx="576072"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5C616B"/>
                </a:solidFill>
                <a:latin typeface="Courier New"/>
                <a:ea typeface="Courier New"/>
                <a:cs typeface="Courier New"/>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7"/>
          <p:cNvSpPr/>
          <p:nvPr>
            <p:ph idx="107" type="body" hasCustomPrompt="1"/>
          </p:nvPr>
        </p:nvSpPr>
        <p:spPr>
          <a:xfrm>
            <a:off x="548640" y="384048"/>
            <a:ext cx="6949440" cy="237744"/>
          </a:xfrm>
          <a:prstGeom prst="rect">
            <a:avLst/>
          </a:prstGeom>
          <a:noFill/>
          <a:ln/>
        </p:spPr>
        <p:txBody>
          <a:bodyPr wrap="square" lIns="0" tIns="0" rIns="0" bIns="0" rtlCol="0" anchor="ctr"/>
          <a:lstStyle/>
          <a:p>
            <a:pPr indent="0" marL="0">
              <a:buNone/>
            </a:pPr>
            <a:r>
              <a:rPr lang="en-US" sz="950" b="1" spc="150" kern="0" dirty="0">
                <a:solidFill>
                  <a:schemeClr val="accent1"/>
                </a:solidFill>
                <a:latin typeface="Courier New" pitchFamily="34" charset="0"/>
                <a:ea typeface="Courier New" pitchFamily="34" charset="-122"/>
                <a:cs typeface="Courier New" pitchFamily="34" charset="-120"/>
              </a:rPr>
              <a:t>09 — MARKET</a:t>
            </a:r>
            <a:endParaRPr lang="en-US" sz="950" dirty="0"/>
          </a:p>
        </p:txBody>
      </p:sp>
      <p:sp>
        <p:nvSpPr>
          <p:cNvPr id="3" name="Text 7"/>
          <p:cNvSpPr/>
          <p:nvPr>
            <p:ph idx="108"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Social PC play is growing; LAN party games are rare</a:t>
            </a:r>
            <a:endParaRPr lang="en-US" sz="3000" dirty="0"/>
          </a:p>
        </p:txBody>
      </p:sp>
      <p:sp>
        <p:nvSpPr>
          <p:cNvPr id="4" name="Shape 2"/>
          <p:cNvSpPr/>
          <p:nvPr/>
        </p:nvSpPr>
        <p:spPr>
          <a:xfrm>
            <a:off x="548640" y="1866583"/>
            <a:ext cx="2697480" cy="15875"/>
          </a:xfrm>
          <a:prstGeom prst="rect">
            <a:avLst/>
          </a:prstGeom>
          <a:solidFill>
            <a:srgbClr val="14161B"/>
          </a:solidFill>
          <a:ln w="12700">
            <a:solidFill>
              <a:srgbClr val="14161B"/>
            </a:solidFill>
            <a:prstDash val="solid"/>
          </a:ln>
        </p:spPr>
      </p:sp>
      <p:sp>
        <p:nvSpPr>
          <p:cNvPr id="5" name="Text 3"/>
          <p:cNvSpPr txBox="1"/>
          <p:nvPr/>
        </p:nvSpPr>
        <p:spPr>
          <a:xfrm>
            <a:off x="548640" y="1984248"/>
            <a:ext cx="2697480" cy="731520"/>
          </a:xfrm>
          <a:prstGeom prst="rect">
            <a:avLst/>
          </a:prstGeom>
          <a:noFill/>
          <a:ln/>
        </p:spPr>
        <p:txBody>
          <a:bodyPr wrap="square" lIns="0" tIns="0" rIns="0" bIns="0" rtlCol="0" anchor="t"/>
          <a:lstStyle/>
          <a:p>
            <a:pPr indent="0" marL="0">
              <a:buNone/>
            </a:pPr>
            <a:r>
              <a:rPr lang="en-US" sz="4000" b="1" dirty="0">
                <a:solidFill>
                  <a:schemeClr val="tx1"/>
                </a:solidFill>
                <a:latin typeface="Arial" pitchFamily="34" charset="0"/>
                <a:ea typeface="Arial" pitchFamily="34" charset="-122"/>
                <a:cs typeface="Arial" pitchFamily="34" charset="-120"/>
              </a:rPr>
              <a:t>$43.6B</a:t>
            </a:r>
            <a:endParaRPr lang="en-US" sz="4000" dirty="0"/>
          </a:p>
        </p:txBody>
      </p:sp>
      <p:sp>
        <p:nvSpPr>
          <p:cNvPr id="6" name="Text 4"/>
          <p:cNvSpPr txBox="1"/>
          <p:nvPr/>
        </p:nvSpPr>
        <p:spPr>
          <a:xfrm>
            <a:off x="548640" y="2743200"/>
            <a:ext cx="2697480" cy="502920"/>
          </a:xfrm>
          <a:prstGeom prst="rect">
            <a:avLst/>
          </a:prstGeom>
          <a:noFill/>
          <a:ln/>
        </p:spPr>
        <p:txBody>
          <a:bodyPr wrap="square" lIns="0" tIns="0" rIns="0" bIns="0" rtlCol="0" anchor="t"/>
          <a:lstStyle/>
          <a:p>
            <a:pPr indent="0" marL="0">
              <a:buNone/>
            </a:pPr>
            <a:r>
              <a:rPr lang="en-US" sz="1150" dirty="0">
                <a:solidFill>
                  <a:schemeClr val="tx1"/>
                </a:solidFill>
              </a:rPr>
              <a:t>PC games revenue in 2025, up 12% year on year.</a:t>
            </a:r>
            <a:endParaRPr lang="en-US" sz="1150" dirty="0"/>
          </a:p>
        </p:txBody>
      </p:sp>
      <p:sp>
        <p:nvSpPr>
          <p:cNvPr id="7" name="Text 5"/>
          <p:cNvSpPr txBox="1"/>
          <p:nvPr/>
        </p:nvSpPr>
        <p:spPr>
          <a:xfrm>
            <a:off x="548640" y="3246120"/>
            <a:ext cx="2697480" cy="182880"/>
          </a:xfrm>
          <a:prstGeom prst="rect">
            <a:avLst/>
          </a:prstGeom>
          <a:noFill/>
          <a:ln/>
        </p:spPr>
        <p:txBody>
          <a:bodyPr wrap="square" lIns="0" tIns="0" rIns="0" bIns="0" rtlCol="0" anchor="t"/>
          <a:lstStyle/>
          <a:p>
            <a:pPr indent="0" marL="0">
              <a:buNone/>
            </a:pPr>
            <a:r>
              <a:rPr lang="en-US" sz="800" spc="30" kern="0" dirty="0">
                <a:solidFill>
                  <a:srgbClr val="5C616B"/>
                </a:solidFill>
                <a:latin typeface="Courier New" pitchFamily="34" charset="0"/>
                <a:ea typeface="Courier New" pitchFamily="34" charset="-122"/>
                <a:cs typeface="Courier New" pitchFamily="34" charset="-120"/>
              </a:rPr>
              <a:t>Newzoo [1]</a:t>
            </a:r>
            <a:endParaRPr lang="en-US" sz="800" dirty="0"/>
          </a:p>
        </p:txBody>
      </p:sp>
      <p:sp>
        <p:nvSpPr>
          <p:cNvPr id="8" name="Shape 6"/>
          <p:cNvSpPr/>
          <p:nvPr/>
        </p:nvSpPr>
        <p:spPr>
          <a:xfrm>
            <a:off x="3474720" y="1866583"/>
            <a:ext cx="2697480" cy="15875"/>
          </a:xfrm>
          <a:prstGeom prst="rect">
            <a:avLst/>
          </a:prstGeom>
          <a:solidFill>
            <a:srgbClr val="14161B"/>
          </a:solidFill>
          <a:ln w="12700">
            <a:solidFill>
              <a:srgbClr val="14161B"/>
            </a:solidFill>
            <a:prstDash val="solid"/>
          </a:ln>
        </p:spPr>
      </p:sp>
      <p:sp>
        <p:nvSpPr>
          <p:cNvPr id="9" name="Text 7"/>
          <p:cNvSpPr txBox="1"/>
          <p:nvPr/>
        </p:nvSpPr>
        <p:spPr>
          <a:xfrm>
            <a:off x="3474720" y="1984248"/>
            <a:ext cx="2697480" cy="731520"/>
          </a:xfrm>
          <a:prstGeom prst="rect">
            <a:avLst/>
          </a:prstGeom>
          <a:noFill/>
          <a:ln/>
        </p:spPr>
        <p:txBody>
          <a:bodyPr wrap="square" lIns="0" tIns="0" rIns="0" bIns="0" rtlCol="0" anchor="t"/>
          <a:lstStyle/>
          <a:p>
            <a:pPr indent="0" marL="0">
              <a:buNone/>
            </a:pPr>
            <a:r>
              <a:rPr lang="en-US" sz="4000" b="1" dirty="0">
                <a:solidFill>
                  <a:schemeClr val="tx1"/>
                </a:solidFill>
                <a:latin typeface="Arial" pitchFamily="34" charset="0"/>
                <a:ea typeface="Arial" pitchFamily="34" charset="-122"/>
                <a:cs typeface="Arial" pitchFamily="34" charset="-120"/>
              </a:rPr>
              <a:t>$4.1B</a:t>
            </a:r>
            <a:endParaRPr lang="en-US" sz="4000" dirty="0"/>
          </a:p>
        </p:txBody>
      </p:sp>
      <p:sp>
        <p:nvSpPr>
          <p:cNvPr id="10" name="Text 8"/>
          <p:cNvSpPr txBox="1"/>
          <p:nvPr/>
        </p:nvSpPr>
        <p:spPr>
          <a:xfrm>
            <a:off x="3474720" y="2743200"/>
            <a:ext cx="2697480" cy="502920"/>
          </a:xfrm>
          <a:prstGeom prst="rect">
            <a:avLst/>
          </a:prstGeom>
          <a:noFill/>
          <a:ln/>
        </p:spPr>
        <p:txBody>
          <a:bodyPr wrap="square" lIns="0" tIns="0" rIns="0" bIns="0" rtlCol="0" anchor="t"/>
          <a:lstStyle/>
          <a:p>
            <a:pPr indent="0" marL="0">
              <a:buNone/>
            </a:pPr>
            <a:r>
              <a:rPr lang="en-US" sz="1150" dirty="0">
                <a:solidFill>
                  <a:schemeClr val="tx1"/>
                </a:solidFill>
              </a:rPr>
              <a:t>Steam revenue of games with co-op in H1 2025, an all-time high (estimate).</a:t>
            </a:r>
            <a:endParaRPr lang="en-US" sz="1150" dirty="0"/>
          </a:p>
        </p:txBody>
      </p:sp>
      <p:sp>
        <p:nvSpPr>
          <p:cNvPr id="11" name="Text 9"/>
          <p:cNvSpPr txBox="1"/>
          <p:nvPr/>
        </p:nvSpPr>
        <p:spPr>
          <a:xfrm>
            <a:off x="3474720" y="3246120"/>
            <a:ext cx="2697480" cy="182880"/>
          </a:xfrm>
          <a:prstGeom prst="rect">
            <a:avLst/>
          </a:prstGeom>
          <a:noFill/>
          <a:ln/>
        </p:spPr>
        <p:txBody>
          <a:bodyPr wrap="square" lIns="0" tIns="0" rIns="0" bIns="0" rtlCol="0" anchor="t"/>
          <a:lstStyle/>
          <a:p>
            <a:pPr indent="0" marL="0">
              <a:buNone/>
            </a:pPr>
            <a:r>
              <a:rPr lang="en-US" sz="800" spc="30" kern="0" dirty="0">
                <a:solidFill>
                  <a:srgbClr val="5C616B"/>
                </a:solidFill>
                <a:latin typeface="Courier New" pitchFamily="34" charset="0"/>
                <a:ea typeface="Courier New" pitchFamily="34" charset="-122"/>
                <a:cs typeface="Courier New" pitchFamily="34" charset="-120"/>
              </a:rPr>
              <a:t>Alinea [2]</a:t>
            </a:r>
            <a:endParaRPr lang="en-US" sz="800" dirty="0"/>
          </a:p>
        </p:txBody>
      </p:sp>
      <p:sp>
        <p:nvSpPr>
          <p:cNvPr id="12" name="Shape 10"/>
          <p:cNvSpPr/>
          <p:nvPr/>
        </p:nvSpPr>
        <p:spPr>
          <a:xfrm>
            <a:off x="548640" y="3649663"/>
            <a:ext cx="2697480" cy="15875"/>
          </a:xfrm>
          <a:prstGeom prst="rect">
            <a:avLst/>
          </a:prstGeom>
          <a:solidFill>
            <a:srgbClr val="14161B"/>
          </a:solidFill>
          <a:ln w="12700">
            <a:solidFill>
              <a:srgbClr val="14161B"/>
            </a:solidFill>
            <a:prstDash val="solid"/>
          </a:ln>
        </p:spPr>
      </p:sp>
      <p:sp>
        <p:nvSpPr>
          <p:cNvPr id="13" name="Text 11"/>
          <p:cNvSpPr txBox="1"/>
          <p:nvPr/>
        </p:nvSpPr>
        <p:spPr>
          <a:xfrm>
            <a:off x="548640" y="3767328"/>
            <a:ext cx="2697480" cy="731520"/>
          </a:xfrm>
          <a:prstGeom prst="rect">
            <a:avLst/>
          </a:prstGeom>
          <a:noFill/>
          <a:ln/>
        </p:spPr>
        <p:txBody>
          <a:bodyPr wrap="square" lIns="0" tIns="0" rIns="0" bIns="0" rtlCol="0" anchor="t"/>
          <a:lstStyle/>
          <a:p>
            <a:pPr indent="0" marL="0">
              <a:buNone/>
            </a:pPr>
            <a:r>
              <a:rPr lang="en-US" sz="4000" b="1" dirty="0">
                <a:solidFill>
                  <a:schemeClr val="tx1"/>
                </a:solidFill>
                <a:latin typeface="Arial" pitchFamily="34" charset="0"/>
                <a:ea typeface="Arial" pitchFamily="34" charset="-122"/>
                <a:cs typeface="Arial" pitchFamily="34" charset="-120"/>
              </a:rPr>
              <a:t>70%</a:t>
            </a:r>
            <a:endParaRPr lang="en-US" sz="4000" dirty="0"/>
          </a:p>
        </p:txBody>
      </p:sp>
      <p:sp>
        <p:nvSpPr>
          <p:cNvPr id="14" name="Text 12"/>
          <p:cNvSpPr txBox="1"/>
          <p:nvPr/>
        </p:nvSpPr>
        <p:spPr>
          <a:xfrm>
            <a:off x="548640" y="4526280"/>
            <a:ext cx="2697480" cy="502920"/>
          </a:xfrm>
          <a:prstGeom prst="rect">
            <a:avLst/>
          </a:prstGeom>
          <a:noFill/>
          <a:ln/>
        </p:spPr>
        <p:txBody>
          <a:bodyPr wrap="square" lIns="0" tIns="0" rIns="0" bIns="0" rtlCol="0" anchor="t"/>
          <a:lstStyle/>
          <a:p>
            <a:pPr indent="0" marL="0">
              <a:buNone/>
            </a:pPr>
            <a:r>
              <a:rPr lang="en-US" sz="1150" dirty="0">
                <a:solidFill>
                  <a:schemeClr val="tx1"/>
                </a:solidFill>
              </a:rPr>
              <a:t>of US players aged 8+ play with other people.</a:t>
            </a:r>
            <a:endParaRPr lang="en-US" sz="1150" dirty="0"/>
          </a:p>
        </p:txBody>
      </p:sp>
      <p:sp>
        <p:nvSpPr>
          <p:cNvPr id="15" name="Text 13"/>
          <p:cNvSpPr txBox="1"/>
          <p:nvPr/>
        </p:nvSpPr>
        <p:spPr>
          <a:xfrm>
            <a:off x="548640" y="5029200"/>
            <a:ext cx="2697480" cy="182880"/>
          </a:xfrm>
          <a:prstGeom prst="rect">
            <a:avLst/>
          </a:prstGeom>
          <a:noFill/>
          <a:ln/>
        </p:spPr>
        <p:txBody>
          <a:bodyPr wrap="square" lIns="0" tIns="0" rIns="0" bIns="0" rtlCol="0" anchor="t"/>
          <a:lstStyle/>
          <a:p>
            <a:pPr indent="0" marL="0">
              <a:buNone/>
            </a:pPr>
            <a:r>
              <a:rPr lang="en-US" sz="800" spc="30" kern="0" dirty="0">
                <a:solidFill>
                  <a:srgbClr val="5C616B"/>
                </a:solidFill>
                <a:latin typeface="Courier New" pitchFamily="34" charset="0"/>
                <a:ea typeface="Courier New" pitchFamily="34" charset="-122"/>
                <a:cs typeface="Courier New" pitchFamily="34" charset="-120"/>
              </a:rPr>
              <a:t>ESA 2026 [3]</a:t>
            </a:r>
            <a:endParaRPr lang="en-US" sz="800" dirty="0"/>
          </a:p>
        </p:txBody>
      </p:sp>
      <p:sp>
        <p:nvSpPr>
          <p:cNvPr id="16" name="Shape 14"/>
          <p:cNvSpPr/>
          <p:nvPr/>
        </p:nvSpPr>
        <p:spPr>
          <a:xfrm>
            <a:off x="3474720" y="3649663"/>
            <a:ext cx="2697480" cy="15875"/>
          </a:xfrm>
          <a:prstGeom prst="rect">
            <a:avLst/>
          </a:prstGeom>
          <a:solidFill>
            <a:srgbClr val="14161B"/>
          </a:solidFill>
          <a:ln w="12700">
            <a:solidFill>
              <a:srgbClr val="14161B"/>
            </a:solidFill>
            <a:prstDash val="solid"/>
          </a:ln>
        </p:spPr>
      </p:sp>
      <p:sp>
        <p:nvSpPr>
          <p:cNvPr id="17" name="Text 15"/>
          <p:cNvSpPr txBox="1"/>
          <p:nvPr/>
        </p:nvSpPr>
        <p:spPr>
          <a:xfrm>
            <a:off x="3474720" y="3767328"/>
            <a:ext cx="2697480" cy="73152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≈8%</a:t>
            </a:r>
            <a:endParaRPr lang="en-US" sz="4000" dirty="0"/>
          </a:p>
        </p:txBody>
      </p:sp>
      <p:sp>
        <p:nvSpPr>
          <p:cNvPr id="18" name="Text 16"/>
          <p:cNvSpPr txBox="1"/>
          <p:nvPr/>
        </p:nvSpPr>
        <p:spPr>
          <a:xfrm>
            <a:off x="3474720" y="4526280"/>
            <a:ext cx="2697480" cy="502920"/>
          </a:xfrm>
          <a:prstGeom prst="rect">
            <a:avLst/>
          </a:prstGeom>
          <a:noFill/>
          <a:ln/>
        </p:spPr>
        <p:txBody>
          <a:bodyPr wrap="square" lIns="0" tIns="0" rIns="0" bIns="0" rtlCol="0" anchor="t"/>
          <a:lstStyle/>
          <a:p>
            <a:pPr indent="0" marL="0">
              <a:buNone/>
            </a:pPr>
            <a:r>
              <a:rPr lang="en-US" sz="1150" dirty="0">
                <a:solidFill>
                  <a:schemeClr val="tx1"/>
                </a:solidFill>
              </a:rPr>
              <a:t>of ~3,490 Steam “Party Game” titles list LAN PvP.</a:t>
            </a:r>
            <a:endParaRPr lang="en-US" sz="1150" dirty="0"/>
          </a:p>
        </p:txBody>
      </p:sp>
      <p:sp>
        <p:nvSpPr>
          <p:cNvPr id="19" name="Text 17"/>
          <p:cNvSpPr txBox="1"/>
          <p:nvPr/>
        </p:nvSpPr>
        <p:spPr>
          <a:xfrm>
            <a:off x="3474720" y="5029200"/>
            <a:ext cx="2697480" cy="182880"/>
          </a:xfrm>
          <a:prstGeom prst="rect">
            <a:avLst/>
          </a:prstGeom>
          <a:noFill/>
          <a:ln/>
        </p:spPr>
        <p:txBody>
          <a:bodyPr wrap="square" lIns="0" tIns="0" rIns="0" bIns="0" rtlCol="0" anchor="t"/>
          <a:lstStyle/>
          <a:p>
            <a:pPr indent="0" marL="0">
              <a:buNone/>
            </a:pPr>
            <a:r>
              <a:rPr lang="en-US" sz="800" spc="30" kern="0" dirty="0">
                <a:solidFill>
                  <a:srgbClr val="5C616B"/>
                </a:solidFill>
                <a:latin typeface="Courier New" pitchFamily="34" charset="0"/>
                <a:ea typeface="Courier New" pitchFamily="34" charset="-122"/>
                <a:cs typeface="Courier New" pitchFamily="34" charset="-120"/>
              </a:rPr>
              <a:t>Steam, Oct 2026 [4]</a:t>
            </a:r>
            <a:endParaRPr lang="en-US" sz="800" dirty="0"/>
          </a:p>
        </p:txBody>
      </p:sp>
      <p:sp>
        <p:nvSpPr>
          <p:cNvPr id="20" name="Chart frame"/>
          <p:cNvSpPr/>
          <p:nvPr/>
        </p:nvSpPr>
        <p:spPr>
          <a:xfrm>
            <a:off x="6629400" y="1874520"/>
            <a:ext cx="5010912" cy="3429000"/>
          </a:xfrm>
          <a:prstGeom prst="rect">
            <a:avLst/>
          </a:prstGeom>
          <a:solidFill>
            <a:srgbClr val="FFFFFF"/>
          </a:solidFill>
          <a:ln w="9525">
            <a:solidFill>
              <a:srgbClr val="D8D3C8"/>
            </a:solidFill>
            <a:prstDash val="solid"/>
          </a:ln>
        </p:spPr>
      </p:sp>
      <p:sp>
        <p:nvSpPr>
          <p:cNvPr id="21" name="Text 19"/>
          <p:cNvSpPr txBox="1"/>
          <p:nvPr/>
        </p:nvSpPr>
        <p:spPr>
          <a:xfrm>
            <a:off x="6812280" y="2029968"/>
            <a:ext cx="4663440" cy="256032"/>
          </a:xfrm>
          <a:prstGeom prst="rect">
            <a:avLst/>
          </a:prstGeom>
          <a:noFill/>
          <a:ln/>
        </p:spPr>
        <p:txBody>
          <a:bodyPr wrap="square" lIns="0" tIns="0" rIns="0" bIns="0" rtlCol="0" anchor="t"/>
          <a:lstStyle/>
          <a:p>
            <a:pPr indent="0" marL="0">
              <a:buNone/>
            </a:pPr>
            <a:r>
              <a:rPr lang="en-US" sz="900" b="1" spc="120" kern="0" dirty="0">
                <a:solidFill>
                  <a:schemeClr val="tx1"/>
                </a:solidFill>
                <a:latin typeface="Courier New" pitchFamily="34" charset="0"/>
                <a:ea typeface="Courier New" pitchFamily="34" charset="-122"/>
                <a:cs typeface="Courier New" pitchFamily="34" charset="-120"/>
              </a:rPr>
              <a:t>STEAM “PARTY GAME” TITLES BY MULTIPLAYER TAG</a:t>
            </a:r>
            <a:endParaRPr lang="en-US" sz="900" dirty="0"/>
          </a:p>
        </p:txBody>
      </p:sp>
      <p:graphicFrame>
        <p:nvGraphicFramePr>
          <p:cNvPr id="22" name="Chart 0" descr=""/>
          <p:cNvGraphicFramePr/>
          <p:nvPr/>
        </p:nvGraphicFramePr>
        <p:xfrm>
          <a:off x="6720840" y="2331720"/>
          <a:ext cx="4846320" cy="2834640"/>
        </p:xfrm>
        <a:graphic xmlns:a="http://schemas.openxmlformats.org/drawingml/2006/main">
          <a:graphicData uri="http://schemas.openxmlformats.org/drawingml/2006/chart">
            <c:chart xmlns:c="http://schemas.openxmlformats.org/drawingml/2006/chart" r:id="rId1"/>
          </a:graphicData>
        </a:graphic>
      </p:graphicFrame>
      <p:sp>
        <p:nvSpPr>
          <p:cNvPr id="23" name="Text 20"/>
          <p:cNvSpPr txBox="1"/>
          <p:nvPr/>
        </p:nvSpPr>
        <p:spPr>
          <a:xfrm>
            <a:off x="6629400" y="5440680"/>
            <a:ext cx="5010912" cy="685800"/>
          </a:xfrm>
          <a:prstGeom prst="rect">
            <a:avLst/>
          </a:prstGeom>
          <a:noFill/>
          <a:ln/>
        </p:spPr>
        <p:txBody>
          <a:bodyPr wrap="square" lIns="0" tIns="0" rIns="0" bIns="0" rtlCol="0" anchor="t"/>
          <a:lstStyle/>
          <a:p>
            <a:pPr indent="0" marL="0">
              <a:buNone/>
            </a:pPr>
            <a:r>
              <a:rPr lang="en-US" sz="1100" b="1" dirty="0">
                <a:solidFill>
                  <a:schemeClr val="tx1"/>
                </a:solidFill>
              </a:rPr>
              <a:t>Risk, stated plainly: </a:t>
            </a:r>
            <a:pPr indent="0" marL="0">
              <a:buNone/>
            </a:pPr>
            <a:r>
              <a:rPr lang="en-US" sz="1100" dirty="0">
                <a:solidFill>
                  <a:srgbClr val="5C616B"/>
                </a:solidFill>
              </a:rPr>
              <a:t>an estimated 65.9% of 2025 Steam releases earned under $1,000 [5], while 5,863 games passed $100K in 2025 (Valve) [6]. LAN is our differentiator, not a demand driver.</a:t>
            </a:r>
            <a:endParaRPr lang="en-US" sz="1100" dirty="0"/>
          </a:p>
        </p:txBody>
      </p:sp>
      <p:sp>
        <p:nvSpPr>
          <p:cNvPr id="25" name="Slide Number Placeholder 0"/>
          <p:cNvSpPr>
            <a:spLocks noGrp="1"/>
          </p:cNvSpPr>
          <p:nvPr>
            <p:ph type="sldNum" sz="quarter" idx="4294967295"/>
          </p:nvPr>
        </p:nvSpPr>
        <p:spPr>
          <a:xfrm>
            <a:off x="11064240" y="384048"/>
            <a:ext cx="576072"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5C616B"/>
                </a:solidFill>
                <a:latin typeface="Courier New"/>
                <a:ea typeface="Courier New"/>
                <a:cs typeface="Courier New"/>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7"/>
          <p:cNvSpPr/>
          <p:nvPr>
            <p:ph idx="107" type="body" hasCustomPrompt="1"/>
          </p:nvPr>
        </p:nvSpPr>
        <p:spPr>
          <a:xfrm>
            <a:off x="548640" y="384048"/>
            <a:ext cx="6949440" cy="237744"/>
          </a:xfrm>
          <a:prstGeom prst="rect">
            <a:avLst/>
          </a:prstGeom>
          <a:noFill/>
          <a:ln/>
        </p:spPr>
        <p:txBody>
          <a:bodyPr wrap="square" lIns="0" tIns="0" rIns="0" bIns="0" rtlCol="0" anchor="ctr"/>
          <a:lstStyle/>
          <a:p>
            <a:pPr indent="0" marL="0">
              <a:buNone/>
            </a:pPr>
            <a:r>
              <a:rPr lang="en-US" sz="950" b="1" spc="150" kern="0" dirty="0">
                <a:solidFill>
                  <a:schemeClr val="accent1"/>
                </a:solidFill>
                <a:latin typeface="Courier New" pitchFamily="34" charset="0"/>
                <a:ea typeface="Courier New" pitchFamily="34" charset="-122"/>
                <a:cs typeface="Courier New" pitchFamily="34" charset="-120"/>
              </a:rPr>
              <a:t>09 — MARKET</a:t>
            </a:r>
            <a:endParaRPr lang="en-US" sz="950" dirty="0"/>
          </a:p>
        </p:txBody>
      </p:sp>
      <p:sp>
        <p:nvSpPr>
          <p:cNvPr id="3" name="Text 7"/>
          <p:cNvSpPr/>
          <p:nvPr>
            <p:ph idx="108"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Five games we are measured against</a:t>
            </a:r>
            <a:endParaRPr lang="en-US" sz="3000" dirty="0"/>
          </a:p>
        </p:txBody>
      </p:sp>
      <p:pic>
        <p:nvPicPr>
          <p:cNvPr id="4" name="Party Animals screenshot" descr="Party Animals screenshot">    </p:cNvPr>
          <p:cNvPicPr>
            <a:picLocks noChangeAspect="1"/>
          </p:cNvPicPr>
          <p:nvPr/>
        </p:nvPicPr>
        <p:blipFill>
          <a:blip r:embed="rId1"/>
          <a:stretch>
            <a:fillRect/>
          </a:stretch>
        </p:blipFill>
        <p:spPr>
          <a:xfrm>
            <a:off x="548640" y="1810512"/>
            <a:ext cx="2087209" cy="1170432"/>
          </a:xfrm>
          <a:prstGeom prst="rect">
            <a:avLst/>
          </a:prstGeom>
        </p:spPr>
      </p:pic>
      <p:sp>
        <p:nvSpPr>
          <p:cNvPr id="5" name="Party Animals tag"/>
          <p:cNvSpPr/>
          <p:nvPr/>
        </p:nvSpPr>
        <p:spPr>
          <a:xfrm>
            <a:off x="548640" y="1810512"/>
            <a:ext cx="868680" cy="219456"/>
          </a:xfrm>
          <a:prstGeom prst="rect">
            <a:avLst/>
          </a:prstGeom>
          <a:solidFill>
            <a:srgbClr val="14161B"/>
          </a:solidFill>
          <a:ln w="12700">
            <a:solidFill>
              <a:srgbClr val="14161B"/>
            </a:solidFill>
            <a:prstDash val="solid"/>
          </a:ln>
        </p:spPr>
      </p:sp>
      <p:sp>
        <p:nvSpPr>
          <p:cNvPr id="6" name="Text 3"/>
          <p:cNvSpPr txBox="1"/>
          <p:nvPr/>
        </p:nvSpPr>
        <p:spPr>
          <a:xfrm>
            <a:off x="548640" y="1810512"/>
            <a:ext cx="868680" cy="219456"/>
          </a:xfrm>
          <a:prstGeom prst="rect">
            <a:avLst/>
          </a:prstGeom>
          <a:noFill/>
          <a:ln/>
        </p:spPr>
        <p:txBody>
          <a:bodyPr wrap="square" lIns="0" tIns="0" rIns="0" bIns="0" rtlCol="0" anchor="ctr"/>
          <a:lstStyle/>
          <a:p>
            <a:pPr algn="ctr" indent="0" marL="0">
              <a:buNone/>
            </a:pPr>
            <a:r>
              <a:rPr lang="en-US" sz="700" b="1" spc="80" kern="0" dirty="0">
                <a:solidFill>
                  <a:srgbClr val="FFFFFF"/>
                </a:solidFill>
                <a:latin typeface="Courier New" pitchFamily="34" charset="0"/>
                <a:ea typeface="Courier New" pitchFamily="34" charset="-122"/>
                <a:cs typeface="Courier New" pitchFamily="34" charset="-120"/>
              </a:rPr>
              <a:t>AUDIENCE</a:t>
            </a:r>
            <a:endParaRPr lang="en-US" sz="700" dirty="0"/>
          </a:p>
        </p:txBody>
      </p:sp>
      <p:sp>
        <p:nvSpPr>
          <p:cNvPr id="7" name="Text 4"/>
          <p:cNvSpPr txBox="1"/>
          <p:nvPr/>
        </p:nvSpPr>
        <p:spPr>
          <a:xfrm>
            <a:off x="548640" y="3072384"/>
            <a:ext cx="2087209" cy="256032"/>
          </a:xfrm>
          <a:prstGeom prst="rect">
            <a:avLst/>
          </a:prstGeom>
          <a:noFill/>
          <a:ln/>
        </p:spPr>
        <p:txBody>
          <a:bodyPr wrap="square" lIns="0" tIns="0" rIns="0" bIns="0" rtlCol="0" anchor="t"/>
          <a:lstStyle/>
          <a:p>
            <a:pPr indent="0" marL="0">
              <a:buNone/>
            </a:pPr>
            <a:r>
              <a:rPr lang="en-US" sz="1300" b="1" dirty="0">
                <a:solidFill>
                  <a:schemeClr val="tx1"/>
                </a:solidFill>
                <a:latin typeface="Arial" pitchFamily="34" charset="0"/>
                <a:ea typeface="Arial" pitchFamily="34" charset="-122"/>
                <a:cs typeface="Arial" pitchFamily="34" charset="-120"/>
              </a:rPr>
              <a:t>Party Animals</a:t>
            </a:r>
            <a:endParaRPr lang="en-US" sz="1300" dirty="0"/>
          </a:p>
        </p:txBody>
      </p:sp>
      <p:sp>
        <p:nvSpPr>
          <p:cNvPr id="8" name="Text 5">
            <a:hlinkClick r:id="rId2" tooltip=""/>
          </p:cNvPr>
          <p:cNvSpPr txBox="1"/>
          <p:nvPr/>
        </p:nvSpPr>
        <p:spPr>
          <a:xfrm>
            <a:off x="548640" y="3328416"/>
            <a:ext cx="2087209" cy="182880"/>
          </a:xfrm>
          <a:prstGeom prst="rect">
            <a:avLst/>
          </a:prstGeom>
          <a:noFill/>
          <a:ln/>
        </p:spPr>
        <p:txBody>
          <a:bodyPr wrap="square" lIns="0" tIns="0" rIns="0" bIns="0" rtlCol="0" anchor="t"/>
          <a:lstStyle/>
          <a:p>
            <a:pPr indent="0" marL="0">
              <a:buNone/>
            </a:pPr>
            <a:r>
              <a:rPr lang="en-US" sz="650" u="sng" dirty="0">
                <a:solidFill>
                  <a:schemeClr val="accent5"/>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store.steampowered.com/app/1260320</a:t>
            </a:r>
            <a:endParaRPr lang="en-US" sz="650" dirty="0"/>
          </a:p>
        </p:txBody>
      </p:sp>
      <p:sp>
        <p:nvSpPr>
          <p:cNvPr id="9" name="Text 6"/>
          <p:cNvSpPr txBox="1"/>
          <p:nvPr/>
        </p:nvSpPr>
        <p:spPr>
          <a:xfrm>
            <a:off x="548640" y="3511296"/>
            <a:ext cx="2087209" cy="182880"/>
          </a:xfrm>
          <a:prstGeom prst="rect">
            <a:avLst/>
          </a:prstGeom>
          <a:noFill/>
          <a:ln/>
        </p:spPr>
        <p:txBody>
          <a:bodyPr wrap="square" lIns="0" tIns="0" rIns="0" bIns="0" rtlCol="0" anchor="t"/>
          <a:lstStyle/>
          <a:p>
            <a:pPr indent="0" marL="0">
              <a:buNone/>
            </a:pPr>
            <a:r>
              <a:rPr lang="en-US" sz="750" spc="30" kern="0" dirty="0">
                <a:solidFill>
                  <a:srgbClr val="5C616B"/>
                </a:solidFill>
                <a:latin typeface="Courier New" pitchFamily="34" charset="0"/>
                <a:ea typeface="Courier New" pitchFamily="34" charset="-122"/>
                <a:cs typeface="Courier New" pitchFamily="34" charset="-120"/>
              </a:rPr>
              <a:t>Recreate Games · 2023</a:t>
            </a:r>
            <a:endParaRPr lang="en-US" sz="750" dirty="0"/>
          </a:p>
        </p:txBody>
      </p:sp>
      <p:sp>
        <p:nvSpPr>
          <p:cNvPr id="10" name="Text 7"/>
          <p:cNvSpPr txBox="1"/>
          <p:nvPr/>
        </p:nvSpPr>
        <p:spPr>
          <a:xfrm>
            <a:off x="548640" y="3785616"/>
            <a:ext cx="2087209" cy="164592"/>
          </a:xfrm>
          <a:prstGeom prst="rect">
            <a:avLst/>
          </a:prstGeom>
          <a:noFill/>
          <a:ln/>
        </p:spPr>
        <p:txBody>
          <a:bodyPr wrap="square" lIns="0" tIns="0" rIns="0" bIns="0" rtlCol="0" anchor="t"/>
          <a:lstStyle/>
          <a:p>
            <a:pPr indent="0" marL="0">
              <a:buNone/>
            </a:pPr>
            <a:r>
              <a:rPr lang="en-US" sz="700" b="1" spc="120" kern="0" dirty="0">
                <a:solidFill>
                  <a:srgbClr val="5C616B"/>
                </a:solidFill>
                <a:latin typeface="Courier New" pitchFamily="34" charset="0"/>
                <a:ea typeface="Courier New" pitchFamily="34" charset="-122"/>
                <a:cs typeface="Courier New" pitchFamily="34" charset="-120"/>
              </a:rPr>
              <a:t>VISUAL</a:t>
            </a:r>
            <a:endParaRPr lang="en-US" sz="700" dirty="0"/>
          </a:p>
        </p:txBody>
      </p:sp>
      <p:sp>
        <p:nvSpPr>
          <p:cNvPr id="11" name="Text 8"/>
          <p:cNvSpPr txBox="1"/>
          <p:nvPr/>
        </p:nvSpPr>
        <p:spPr>
          <a:xfrm>
            <a:off x="548640" y="3941064"/>
            <a:ext cx="2087209" cy="402336"/>
          </a:xfrm>
          <a:prstGeom prst="rect">
            <a:avLst/>
          </a:prstGeom>
          <a:noFill/>
          <a:ln/>
        </p:spPr>
        <p:txBody>
          <a:bodyPr wrap="square" lIns="0" tIns="0" rIns="0" bIns="0" rtlCol="0" anchor="t"/>
          <a:lstStyle/>
          <a:p>
            <a:pPr indent="0" marL="0">
              <a:buNone/>
            </a:pPr>
            <a:r>
              <a:rPr lang="en-US" sz="950" dirty="0">
                <a:solidFill>
                  <a:schemeClr val="tx1"/>
                </a:solidFill>
              </a:rPr>
              <a:t>Plush 3D animals, toy-like arenas.</a:t>
            </a:r>
            <a:endParaRPr lang="en-US" sz="950" dirty="0"/>
          </a:p>
        </p:txBody>
      </p:sp>
      <p:sp>
        <p:nvSpPr>
          <p:cNvPr id="12" name="Text 9"/>
          <p:cNvSpPr txBox="1"/>
          <p:nvPr/>
        </p:nvSpPr>
        <p:spPr>
          <a:xfrm>
            <a:off x="548640" y="4352544"/>
            <a:ext cx="2087209" cy="164592"/>
          </a:xfrm>
          <a:prstGeom prst="rect">
            <a:avLst/>
          </a:prstGeom>
          <a:noFill/>
          <a:ln/>
        </p:spPr>
        <p:txBody>
          <a:bodyPr wrap="square" lIns="0" tIns="0" rIns="0" bIns="0" rtlCol="0" anchor="t"/>
          <a:lstStyle/>
          <a:p>
            <a:pPr indent="0" marL="0">
              <a:buNone/>
            </a:pPr>
            <a:r>
              <a:rPr lang="en-US" sz="700" b="1" spc="120" kern="0" dirty="0">
                <a:solidFill>
                  <a:srgbClr val="5C616B"/>
                </a:solidFill>
                <a:latin typeface="Courier New" pitchFamily="34" charset="0"/>
                <a:ea typeface="Courier New" pitchFamily="34" charset="-122"/>
                <a:cs typeface="Courier New" pitchFamily="34" charset="-120"/>
              </a:rPr>
              <a:t>MECHANIC</a:t>
            </a:r>
            <a:endParaRPr lang="en-US" sz="700" dirty="0"/>
          </a:p>
        </p:txBody>
      </p:sp>
      <p:sp>
        <p:nvSpPr>
          <p:cNvPr id="13" name="Text 10"/>
          <p:cNvSpPr txBox="1"/>
          <p:nvPr/>
        </p:nvSpPr>
        <p:spPr>
          <a:xfrm>
            <a:off x="548640" y="4507992"/>
            <a:ext cx="2087209" cy="402336"/>
          </a:xfrm>
          <a:prstGeom prst="rect">
            <a:avLst/>
          </a:prstGeom>
          <a:noFill/>
          <a:ln/>
        </p:spPr>
        <p:txBody>
          <a:bodyPr wrap="square" lIns="0" tIns="0" rIns="0" bIns="0" rtlCol="0" anchor="t"/>
          <a:lstStyle/>
          <a:p>
            <a:pPr indent="0" marL="0">
              <a:buNone/>
            </a:pPr>
            <a:r>
              <a:rPr lang="en-US" sz="950" dirty="0">
                <a:solidFill>
                  <a:schemeClr val="tx1"/>
                </a:solidFill>
              </a:rPr>
              <a:t>Physics brawling: grab, punch, throw rivals out.</a:t>
            </a:r>
            <a:endParaRPr lang="en-US" sz="950" dirty="0"/>
          </a:p>
        </p:txBody>
      </p:sp>
      <p:sp>
        <p:nvSpPr>
          <p:cNvPr id="14" name="Text 11"/>
          <p:cNvSpPr txBox="1"/>
          <p:nvPr/>
        </p:nvSpPr>
        <p:spPr>
          <a:xfrm>
            <a:off x="548640" y="4919472"/>
            <a:ext cx="2087209" cy="164592"/>
          </a:xfrm>
          <a:prstGeom prst="rect">
            <a:avLst/>
          </a:prstGeom>
          <a:noFill/>
          <a:ln/>
        </p:spPr>
        <p:txBody>
          <a:bodyPr wrap="square" lIns="0" tIns="0" rIns="0" bIns="0" rtlCol="0" anchor="t"/>
          <a:lstStyle/>
          <a:p>
            <a:pPr indent="0" marL="0">
              <a:buNone/>
            </a:pPr>
            <a:r>
              <a:rPr lang="en-US" sz="700" b="1" spc="120" kern="0" dirty="0">
                <a:solidFill>
                  <a:srgbClr val="5C616B"/>
                </a:solidFill>
                <a:latin typeface="Courier New" pitchFamily="34" charset="0"/>
                <a:ea typeface="Courier New" pitchFamily="34" charset="-122"/>
                <a:cs typeface="Courier New" pitchFamily="34" charset="-120"/>
              </a:rPr>
              <a:t>MULTIPLAYER</a:t>
            </a:r>
            <a:endParaRPr lang="en-US" sz="700" dirty="0"/>
          </a:p>
        </p:txBody>
      </p:sp>
      <p:sp>
        <p:nvSpPr>
          <p:cNvPr id="15" name="Text 12"/>
          <p:cNvSpPr txBox="1"/>
          <p:nvPr/>
        </p:nvSpPr>
        <p:spPr>
          <a:xfrm>
            <a:off x="548640" y="5074920"/>
            <a:ext cx="2087209" cy="402336"/>
          </a:xfrm>
          <a:prstGeom prst="rect">
            <a:avLst/>
          </a:prstGeom>
          <a:noFill/>
          <a:ln/>
        </p:spPr>
        <p:txBody>
          <a:bodyPr wrap="square" lIns="0" tIns="0" rIns="0" bIns="0" rtlCol="0" anchor="t"/>
          <a:lstStyle/>
          <a:p>
            <a:pPr indent="0" marL="0">
              <a:buNone/>
            </a:pPr>
            <a:r>
              <a:rPr lang="en-US" sz="950" dirty="0">
                <a:solidFill>
                  <a:schemeClr val="tx1"/>
                </a:solidFill>
              </a:rPr>
              <a:t>Online and same-screen. No LAN listed.</a:t>
            </a:r>
            <a:endParaRPr lang="en-US" sz="950" dirty="0"/>
          </a:p>
        </p:txBody>
      </p:sp>
      <p:sp>
        <p:nvSpPr>
          <p:cNvPr id="16" name="Text 13"/>
          <p:cNvSpPr txBox="1"/>
          <p:nvPr/>
        </p:nvSpPr>
        <p:spPr>
          <a:xfrm>
            <a:off x="548640" y="5486400"/>
            <a:ext cx="2087209" cy="164592"/>
          </a:xfrm>
          <a:prstGeom prst="rect">
            <a:avLst/>
          </a:prstGeom>
          <a:noFill/>
          <a:ln/>
        </p:spPr>
        <p:txBody>
          <a:bodyPr wrap="square" lIns="0" tIns="0" rIns="0" bIns="0" rtlCol="0" anchor="t"/>
          <a:lstStyle/>
          <a:p>
            <a:pPr indent="0" marL="0">
              <a:buNone/>
            </a:pPr>
            <a:r>
              <a:rPr lang="en-US" sz="700" b="1" spc="120" kern="0" dirty="0">
                <a:solidFill>
                  <a:srgbClr val="5C616B"/>
                </a:solidFill>
                <a:latin typeface="Courier New" pitchFamily="34" charset="0"/>
                <a:ea typeface="Courier New" pitchFamily="34" charset="-122"/>
                <a:cs typeface="Courier New" pitchFamily="34" charset="-120"/>
              </a:rPr>
              <a:t>FINANCIALS</a:t>
            </a:r>
            <a:endParaRPr lang="en-US" sz="700" dirty="0"/>
          </a:p>
        </p:txBody>
      </p:sp>
      <p:sp>
        <p:nvSpPr>
          <p:cNvPr id="17" name="Text 14"/>
          <p:cNvSpPr txBox="1"/>
          <p:nvPr/>
        </p:nvSpPr>
        <p:spPr>
          <a:xfrm>
            <a:off x="548640" y="5641848"/>
            <a:ext cx="2087209" cy="402336"/>
          </a:xfrm>
          <a:prstGeom prst="rect">
            <a:avLst/>
          </a:prstGeom>
          <a:noFill/>
          <a:ln/>
        </p:spPr>
        <p:txBody>
          <a:bodyPr wrap="square" lIns="0" tIns="0" rIns="0" bIns="0" rtlCol="0" anchor="t"/>
          <a:lstStyle/>
          <a:p>
            <a:pPr indent="0" marL="0">
              <a:buNone/>
            </a:pPr>
            <a:r>
              <a:rPr lang="en-US" sz="950" dirty="0">
                <a:solidFill>
                  <a:schemeClr val="tx1"/>
                </a:solidFill>
              </a:rPr>
              <a:t>Launch peak 104,174 players. Owner est. 2.5M–6.0M.</a:t>
            </a:r>
            <a:endParaRPr lang="en-US" sz="950" dirty="0"/>
          </a:p>
        </p:txBody>
      </p:sp>
      <p:pic>
        <p:nvPicPr>
          <p:cNvPr id="18" name="Gang Beasts screenshot" descr="Gang Beasts screenshot">    </p:cNvPr>
          <p:cNvPicPr>
            <a:picLocks noChangeAspect="1"/>
          </p:cNvPicPr>
          <p:nvPr/>
        </p:nvPicPr>
        <p:blipFill>
          <a:blip r:embed="rId3"/>
          <a:stretch>
            <a:fillRect/>
          </a:stretch>
        </p:blipFill>
        <p:spPr>
          <a:xfrm>
            <a:off x="2800441" y="1810512"/>
            <a:ext cx="2087209" cy="1170432"/>
          </a:xfrm>
          <a:prstGeom prst="rect">
            <a:avLst/>
          </a:prstGeom>
        </p:spPr>
      </p:pic>
      <p:sp>
        <p:nvSpPr>
          <p:cNvPr id="19" name="Gang Beasts tag"/>
          <p:cNvSpPr/>
          <p:nvPr/>
        </p:nvSpPr>
        <p:spPr>
          <a:xfrm>
            <a:off x="2800441" y="1810512"/>
            <a:ext cx="868680" cy="219456"/>
          </a:xfrm>
          <a:prstGeom prst="rect">
            <a:avLst/>
          </a:prstGeom>
          <a:solidFill>
            <a:srgbClr val="14161B"/>
          </a:solidFill>
          <a:ln w="12700">
            <a:solidFill>
              <a:srgbClr val="14161B"/>
            </a:solidFill>
            <a:prstDash val="solid"/>
          </a:ln>
        </p:spPr>
      </p:sp>
      <p:sp>
        <p:nvSpPr>
          <p:cNvPr id="20" name="Text 16"/>
          <p:cNvSpPr txBox="1"/>
          <p:nvPr/>
        </p:nvSpPr>
        <p:spPr>
          <a:xfrm>
            <a:off x="2800441" y="1810512"/>
            <a:ext cx="868680" cy="219456"/>
          </a:xfrm>
          <a:prstGeom prst="rect">
            <a:avLst/>
          </a:prstGeom>
          <a:noFill/>
          <a:ln/>
        </p:spPr>
        <p:txBody>
          <a:bodyPr wrap="square" lIns="0" tIns="0" rIns="0" bIns="0" rtlCol="0" anchor="ctr"/>
          <a:lstStyle/>
          <a:p>
            <a:pPr algn="ctr" indent="0" marL="0">
              <a:buNone/>
            </a:pPr>
            <a:r>
              <a:rPr lang="en-US" sz="700" b="1" spc="80" kern="0" dirty="0">
                <a:solidFill>
                  <a:srgbClr val="FFFFFF"/>
                </a:solidFill>
                <a:latin typeface="Courier New" pitchFamily="34" charset="0"/>
                <a:ea typeface="Courier New" pitchFamily="34" charset="-122"/>
                <a:cs typeface="Courier New" pitchFamily="34" charset="-120"/>
              </a:rPr>
              <a:t>PHYSICS</a:t>
            </a:r>
            <a:endParaRPr lang="en-US" sz="700" dirty="0"/>
          </a:p>
        </p:txBody>
      </p:sp>
      <p:sp>
        <p:nvSpPr>
          <p:cNvPr id="21" name="Text 17"/>
          <p:cNvSpPr txBox="1"/>
          <p:nvPr/>
        </p:nvSpPr>
        <p:spPr>
          <a:xfrm>
            <a:off x="2800441" y="3072384"/>
            <a:ext cx="2087209" cy="256032"/>
          </a:xfrm>
          <a:prstGeom prst="rect">
            <a:avLst/>
          </a:prstGeom>
          <a:noFill/>
          <a:ln/>
        </p:spPr>
        <p:txBody>
          <a:bodyPr wrap="square" lIns="0" tIns="0" rIns="0" bIns="0" rtlCol="0" anchor="t"/>
          <a:lstStyle/>
          <a:p>
            <a:pPr indent="0" marL="0">
              <a:buNone/>
            </a:pPr>
            <a:r>
              <a:rPr lang="en-US" sz="1300" b="1" dirty="0">
                <a:solidFill>
                  <a:schemeClr val="tx1"/>
                </a:solidFill>
                <a:latin typeface="Arial" pitchFamily="34" charset="0"/>
                <a:ea typeface="Arial" pitchFamily="34" charset="-122"/>
                <a:cs typeface="Arial" pitchFamily="34" charset="-120"/>
              </a:rPr>
              <a:t>Gang Beasts</a:t>
            </a:r>
            <a:endParaRPr lang="en-US" sz="1300" dirty="0"/>
          </a:p>
        </p:txBody>
      </p:sp>
      <p:sp>
        <p:nvSpPr>
          <p:cNvPr id="22" name="Text 18">
            <a:hlinkClick r:id="rId4" tooltip=""/>
          </p:cNvPr>
          <p:cNvSpPr txBox="1"/>
          <p:nvPr/>
        </p:nvSpPr>
        <p:spPr>
          <a:xfrm>
            <a:off x="2800441" y="3328416"/>
            <a:ext cx="2087209" cy="182880"/>
          </a:xfrm>
          <a:prstGeom prst="rect">
            <a:avLst/>
          </a:prstGeom>
          <a:noFill/>
          <a:ln/>
        </p:spPr>
        <p:txBody>
          <a:bodyPr wrap="square" lIns="0" tIns="0" rIns="0" bIns="0" rtlCol="0" anchor="t"/>
          <a:lstStyle/>
          <a:p>
            <a:pPr indent="0" marL="0">
              <a:buNone/>
            </a:pPr>
            <a:r>
              <a:rPr lang="en-US" sz="650" u="sng" dirty="0">
                <a:solidFill>
                  <a:schemeClr val="accent5"/>
                </a:solidFill>
                <a:latin typeface="Courier New" pitchFamily="34" charset="0"/>
                <a:ea typeface="Courier New" pitchFamily="34" charset="-122"/>
                <a:cs typeface="Courier New" pitchFamily="34" charset="-120"/>
                <a:hlinkClick r:id="rId4" invalidUrl="" action="" tgtFrame="" tooltip="" history="1" highlightClick="0" endSnd="0">
                  <a:extLst>
                    <a:ext uri="{A12FA001-AC4F-418D-AE19-62706E023703}">
                      <ahyp:hlinkClr xmlns:ahyp="http://schemas.microsoft.com/office/drawing/2018/hyperlinkcolor" val="tx"/>
                    </a:ext>
                  </a:extLst>
                </a:hlinkClick>
              </a:rPr>
              <a:t>store.steampowered.com/app/285900</a:t>
            </a:r>
            <a:endParaRPr lang="en-US" sz="650" dirty="0"/>
          </a:p>
        </p:txBody>
      </p:sp>
      <p:sp>
        <p:nvSpPr>
          <p:cNvPr id="23" name="Text 19"/>
          <p:cNvSpPr txBox="1"/>
          <p:nvPr/>
        </p:nvSpPr>
        <p:spPr>
          <a:xfrm>
            <a:off x="2800441" y="3511296"/>
            <a:ext cx="2087209" cy="182880"/>
          </a:xfrm>
          <a:prstGeom prst="rect">
            <a:avLst/>
          </a:prstGeom>
          <a:noFill/>
          <a:ln/>
        </p:spPr>
        <p:txBody>
          <a:bodyPr wrap="square" lIns="0" tIns="0" rIns="0" bIns="0" rtlCol="0" anchor="t"/>
          <a:lstStyle/>
          <a:p>
            <a:pPr indent="0" marL="0">
              <a:buNone/>
            </a:pPr>
            <a:r>
              <a:rPr lang="en-US" sz="750" spc="30" kern="0" dirty="0">
                <a:solidFill>
                  <a:srgbClr val="5C616B"/>
                </a:solidFill>
                <a:latin typeface="Courier New" pitchFamily="34" charset="0"/>
                <a:ea typeface="Courier New" pitchFamily="34" charset="-122"/>
                <a:cs typeface="Courier New" pitchFamily="34" charset="-120"/>
              </a:rPr>
              <a:t>Boneloaf · 2017</a:t>
            </a:r>
            <a:endParaRPr lang="en-US" sz="750" dirty="0"/>
          </a:p>
        </p:txBody>
      </p:sp>
      <p:sp>
        <p:nvSpPr>
          <p:cNvPr id="24" name="Text 20"/>
          <p:cNvSpPr txBox="1"/>
          <p:nvPr/>
        </p:nvSpPr>
        <p:spPr>
          <a:xfrm>
            <a:off x="2800441" y="3785616"/>
            <a:ext cx="2087209" cy="164592"/>
          </a:xfrm>
          <a:prstGeom prst="rect">
            <a:avLst/>
          </a:prstGeom>
          <a:noFill/>
          <a:ln/>
        </p:spPr>
        <p:txBody>
          <a:bodyPr wrap="square" lIns="0" tIns="0" rIns="0" bIns="0" rtlCol="0" anchor="t"/>
          <a:lstStyle/>
          <a:p>
            <a:pPr indent="0" marL="0">
              <a:buNone/>
            </a:pPr>
            <a:r>
              <a:rPr lang="en-US" sz="700" b="1" spc="120" kern="0" dirty="0">
                <a:solidFill>
                  <a:srgbClr val="5C616B"/>
                </a:solidFill>
                <a:latin typeface="Courier New" pitchFamily="34" charset="0"/>
                <a:ea typeface="Courier New" pitchFamily="34" charset="-122"/>
                <a:cs typeface="Courier New" pitchFamily="34" charset="-120"/>
              </a:rPr>
              <a:t>VISUAL</a:t>
            </a:r>
            <a:endParaRPr lang="en-US" sz="700" dirty="0"/>
          </a:p>
        </p:txBody>
      </p:sp>
      <p:sp>
        <p:nvSpPr>
          <p:cNvPr id="25" name="Text 21"/>
          <p:cNvSpPr txBox="1"/>
          <p:nvPr/>
        </p:nvSpPr>
        <p:spPr>
          <a:xfrm>
            <a:off x="2800441" y="3941064"/>
            <a:ext cx="2087209" cy="402336"/>
          </a:xfrm>
          <a:prstGeom prst="rect">
            <a:avLst/>
          </a:prstGeom>
          <a:noFill/>
          <a:ln/>
        </p:spPr>
        <p:txBody>
          <a:bodyPr wrap="square" lIns="0" tIns="0" rIns="0" bIns="0" rtlCol="0" anchor="t"/>
          <a:lstStyle/>
          <a:p>
            <a:pPr indent="0" marL="0">
              <a:buNone/>
            </a:pPr>
            <a:r>
              <a:rPr lang="en-US" sz="950" dirty="0">
                <a:solidFill>
                  <a:schemeClr val="tx1"/>
                </a:solidFill>
              </a:rPr>
              <a:t>Soft, gelatinous 3D people.</a:t>
            </a:r>
            <a:endParaRPr lang="en-US" sz="950" dirty="0"/>
          </a:p>
        </p:txBody>
      </p:sp>
      <p:sp>
        <p:nvSpPr>
          <p:cNvPr id="26" name="Text 22"/>
          <p:cNvSpPr txBox="1"/>
          <p:nvPr/>
        </p:nvSpPr>
        <p:spPr>
          <a:xfrm>
            <a:off x="2800441" y="4352544"/>
            <a:ext cx="2087209" cy="164592"/>
          </a:xfrm>
          <a:prstGeom prst="rect">
            <a:avLst/>
          </a:prstGeom>
          <a:noFill/>
          <a:ln/>
        </p:spPr>
        <p:txBody>
          <a:bodyPr wrap="square" lIns="0" tIns="0" rIns="0" bIns="0" rtlCol="0" anchor="t"/>
          <a:lstStyle/>
          <a:p>
            <a:pPr indent="0" marL="0">
              <a:buNone/>
            </a:pPr>
            <a:r>
              <a:rPr lang="en-US" sz="700" b="1" spc="120" kern="0" dirty="0">
                <a:solidFill>
                  <a:srgbClr val="5C616B"/>
                </a:solidFill>
                <a:latin typeface="Courier New" pitchFamily="34" charset="0"/>
                <a:ea typeface="Courier New" pitchFamily="34" charset="-122"/>
                <a:cs typeface="Courier New" pitchFamily="34" charset="-120"/>
              </a:rPr>
              <a:t>MECHANIC</a:t>
            </a:r>
            <a:endParaRPr lang="en-US" sz="700" dirty="0"/>
          </a:p>
        </p:txBody>
      </p:sp>
      <p:sp>
        <p:nvSpPr>
          <p:cNvPr id="27" name="Text 23"/>
          <p:cNvSpPr txBox="1"/>
          <p:nvPr/>
        </p:nvSpPr>
        <p:spPr>
          <a:xfrm>
            <a:off x="2800441" y="4507992"/>
            <a:ext cx="2087209" cy="402336"/>
          </a:xfrm>
          <a:prstGeom prst="rect">
            <a:avLst/>
          </a:prstGeom>
          <a:noFill/>
          <a:ln/>
        </p:spPr>
        <p:txBody>
          <a:bodyPr wrap="square" lIns="0" tIns="0" rIns="0" bIns="0" rtlCol="0" anchor="t"/>
          <a:lstStyle/>
          <a:p>
            <a:pPr indent="0" marL="0">
              <a:buNone/>
            </a:pPr>
            <a:r>
              <a:rPr lang="en-US" sz="950" dirty="0">
                <a:solidFill>
                  <a:schemeClr val="tx1"/>
                </a:solidFill>
              </a:rPr>
              <a:t>Ragdoll brawling into stage hazards.</a:t>
            </a:r>
            <a:endParaRPr lang="en-US" sz="950" dirty="0"/>
          </a:p>
        </p:txBody>
      </p:sp>
      <p:sp>
        <p:nvSpPr>
          <p:cNvPr id="28" name="Text 24"/>
          <p:cNvSpPr txBox="1"/>
          <p:nvPr/>
        </p:nvSpPr>
        <p:spPr>
          <a:xfrm>
            <a:off x="2800441" y="4919472"/>
            <a:ext cx="2087209" cy="164592"/>
          </a:xfrm>
          <a:prstGeom prst="rect">
            <a:avLst/>
          </a:prstGeom>
          <a:noFill/>
          <a:ln/>
        </p:spPr>
        <p:txBody>
          <a:bodyPr wrap="square" lIns="0" tIns="0" rIns="0" bIns="0" rtlCol="0" anchor="t"/>
          <a:lstStyle/>
          <a:p>
            <a:pPr indent="0" marL="0">
              <a:buNone/>
            </a:pPr>
            <a:r>
              <a:rPr lang="en-US" sz="700" b="1" spc="120" kern="0" dirty="0">
                <a:solidFill>
                  <a:srgbClr val="5C616B"/>
                </a:solidFill>
                <a:latin typeface="Courier New" pitchFamily="34" charset="0"/>
                <a:ea typeface="Courier New" pitchFamily="34" charset="-122"/>
                <a:cs typeface="Courier New" pitchFamily="34" charset="-120"/>
              </a:rPr>
              <a:t>MULTIPLAYER</a:t>
            </a:r>
            <a:endParaRPr lang="en-US" sz="700" dirty="0"/>
          </a:p>
        </p:txBody>
      </p:sp>
      <p:sp>
        <p:nvSpPr>
          <p:cNvPr id="29" name="Text 25"/>
          <p:cNvSpPr txBox="1"/>
          <p:nvPr/>
        </p:nvSpPr>
        <p:spPr>
          <a:xfrm>
            <a:off x="2800441" y="5074920"/>
            <a:ext cx="2087209" cy="402336"/>
          </a:xfrm>
          <a:prstGeom prst="rect">
            <a:avLst/>
          </a:prstGeom>
          <a:noFill/>
          <a:ln/>
        </p:spPr>
        <p:txBody>
          <a:bodyPr wrap="square" lIns="0" tIns="0" rIns="0" bIns="0" rtlCol="0" anchor="t"/>
          <a:lstStyle/>
          <a:p>
            <a:pPr indent="0" marL="0">
              <a:buNone/>
            </a:pPr>
            <a:r>
              <a:rPr lang="en-US" sz="950" dirty="0">
                <a:solidFill>
                  <a:schemeClr val="tx1"/>
                </a:solidFill>
              </a:rPr>
              <a:t>Same-screen and online. No LAN listed.</a:t>
            </a:r>
            <a:endParaRPr lang="en-US" sz="950" dirty="0"/>
          </a:p>
        </p:txBody>
      </p:sp>
      <p:sp>
        <p:nvSpPr>
          <p:cNvPr id="30" name="Text 26"/>
          <p:cNvSpPr txBox="1"/>
          <p:nvPr/>
        </p:nvSpPr>
        <p:spPr>
          <a:xfrm>
            <a:off x="2800441" y="5486400"/>
            <a:ext cx="2087209" cy="164592"/>
          </a:xfrm>
          <a:prstGeom prst="rect">
            <a:avLst/>
          </a:prstGeom>
          <a:noFill/>
          <a:ln/>
        </p:spPr>
        <p:txBody>
          <a:bodyPr wrap="square" lIns="0" tIns="0" rIns="0" bIns="0" rtlCol="0" anchor="t"/>
          <a:lstStyle/>
          <a:p>
            <a:pPr indent="0" marL="0">
              <a:buNone/>
            </a:pPr>
            <a:r>
              <a:rPr lang="en-US" sz="700" b="1" spc="120" kern="0" dirty="0">
                <a:solidFill>
                  <a:srgbClr val="5C616B"/>
                </a:solidFill>
                <a:latin typeface="Courier New" pitchFamily="34" charset="0"/>
                <a:ea typeface="Courier New" pitchFamily="34" charset="-122"/>
                <a:cs typeface="Courier New" pitchFamily="34" charset="-120"/>
              </a:rPr>
              <a:t>FINANCIALS</a:t>
            </a:r>
            <a:endParaRPr lang="en-US" sz="700" dirty="0"/>
          </a:p>
        </p:txBody>
      </p:sp>
      <p:sp>
        <p:nvSpPr>
          <p:cNvPr id="31" name="Text 27"/>
          <p:cNvSpPr txBox="1"/>
          <p:nvPr/>
        </p:nvSpPr>
        <p:spPr>
          <a:xfrm>
            <a:off x="2800441" y="5641848"/>
            <a:ext cx="2087209" cy="402336"/>
          </a:xfrm>
          <a:prstGeom prst="rect">
            <a:avLst/>
          </a:prstGeom>
          <a:noFill/>
          <a:ln/>
        </p:spPr>
        <p:txBody>
          <a:bodyPr wrap="square" lIns="0" tIns="0" rIns="0" bIns="0" rtlCol="0" anchor="t"/>
          <a:lstStyle/>
          <a:p>
            <a:pPr indent="0" marL="0">
              <a:buNone/>
            </a:pPr>
            <a:r>
              <a:rPr lang="en-US" sz="950" dirty="0">
                <a:solidFill>
                  <a:schemeClr val="tx1"/>
                </a:solidFill>
              </a:rPr>
              <a:t>85% positive. Owner est. 4.6M–5.8M.</a:t>
            </a:r>
            <a:endParaRPr lang="en-US" sz="950" dirty="0"/>
          </a:p>
        </p:txBody>
      </p:sp>
      <p:pic>
        <p:nvPicPr>
          <p:cNvPr id="32" name="Fall Guys screenshot" descr="Fall Guys screenshot">    </p:cNvPr>
          <p:cNvPicPr>
            <a:picLocks noChangeAspect="1"/>
          </p:cNvPicPr>
          <p:nvPr/>
        </p:nvPicPr>
        <p:blipFill>
          <a:blip r:embed="rId5"/>
          <a:stretch>
            <a:fillRect/>
          </a:stretch>
        </p:blipFill>
        <p:spPr>
          <a:xfrm>
            <a:off x="5052243" y="1810512"/>
            <a:ext cx="2087209" cy="1170432"/>
          </a:xfrm>
          <a:prstGeom prst="rect">
            <a:avLst/>
          </a:prstGeom>
        </p:spPr>
      </p:pic>
      <p:sp>
        <p:nvSpPr>
          <p:cNvPr id="33" name="Fall Guys tag"/>
          <p:cNvSpPr/>
          <p:nvPr/>
        </p:nvSpPr>
        <p:spPr>
          <a:xfrm>
            <a:off x="5052243" y="1810512"/>
            <a:ext cx="868680" cy="219456"/>
          </a:xfrm>
          <a:prstGeom prst="rect">
            <a:avLst/>
          </a:prstGeom>
          <a:solidFill>
            <a:srgbClr val="14161B"/>
          </a:solidFill>
          <a:ln w="12700">
            <a:solidFill>
              <a:srgbClr val="14161B"/>
            </a:solidFill>
            <a:prstDash val="solid"/>
          </a:ln>
        </p:spPr>
      </p:sp>
      <p:sp>
        <p:nvSpPr>
          <p:cNvPr id="34" name="Text 29"/>
          <p:cNvSpPr txBox="1"/>
          <p:nvPr/>
        </p:nvSpPr>
        <p:spPr>
          <a:xfrm>
            <a:off x="5052243" y="1810512"/>
            <a:ext cx="868680" cy="219456"/>
          </a:xfrm>
          <a:prstGeom prst="rect">
            <a:avLst/>
          </a:prstGeom>
          <a:noFill/>
          <a:ln/>
        </p:spPr>
        <p:txBody>
          <a:bodyPr wrap="square" lIns="0" tIns="0" rIns="0" bIns="0" rtlCol="0" anchor="ctr"/>
          <a:lstStyle/>
          <a:p>
            <a:pPr algn="ctr" indent="0" marL="0">
              <a:buNone/>
            </a:pPr>
            <a:r>
              <a:rPr lang="en-US" sz="700" b="1" spc="80" kern="0" dirty="0">
                <a:solidFill>
                  <a:srgbClr val="FFFFFF"/>
                </a:solidFill>
                <a:latin typeface="Courier New" pitchFamily="34" charset="0"/>
                <a:ea typeface="Courier New" pitchFamily="34" charset="-122"/>
                <a:cs typeface="Courier New" pitchFamily="34" charset="-120"/>
              </a:rPr>
              <a:t>FORMAT</a:t>
            </a:r>
            <a:endParaRPr lang="en-US" sz="700" dirty="0"/>
          </a:p>
        </p:txBody>
      </p:sp>
      <p:sp>
        <p:nvSpPr>
          <p:cNvPr id="35" name="Text 30"/>
          <p:cNvSpPr txBox="1"/>
          <p:nvPr/>
        </p:nvSpPr>
        <p:spPr>
          <a:xfrm>
            <a:off x="5052243" y="3072384"/>
            <a:ext cx="2087209" cy="256032"/>
          </a:xfrm>
          <a:prstGeom prst="rect">
            <a:avLst/>
          </a:prstGeom>
          <a:noFill/>
          <a:ln/>
        </p:spPr>
        <p:txBody>
          <a:bodyPr wrap="square" lIns="0" tIns="0" rIns="0" bIns="0" rtlCol="0" anchor="t"/>
          <a:lstStyle/>
          <a:p>
            <a:pPr indent="0" marL="0">
              <a:buNone/>
            </a:pPr>
            <a:r>
              <a:rPr lang="en-US" sz="1300" b="1" dirty="0">
                <a:solidFill>
                  <a:schemeClr val="tx1"/>
                </a:solidFill>
                <a:latin typeface="Arial" pitchFamily="34" charset="0"/>
                <a:ea typeface="Arial" pitchFamily="34" charset="-122"/>
                <a:cs typeface="Arial" pitchFamily="34" charset="-120"/>
              </a:rPr>
              <a:t>Fall Guys</a:t>
            </a:r>
            <a:endParaRPr lang="en-US" sz="1300" dirty="0"/>
          </a:p>
        </p:txBody>
      </p:sp>
      <p:sp>
        <p:nvSpPr>
          <p:cNvPr id="36" name="Text 31">
            <a:hlinkClick r:id="rId6" tooltip=""/>
          </p:cNvPr>
          <p:cNvSpPr txBox="1"/>
          <p:nvPr/>
        </p:nvSpPr>
        <p:spPr>
          <a:xfrm>
            <a:off x="5052243" y="3328416"/>
            <a:ext cx="2087209" cy="182880"/>
          </a:xfrm>
          <a:prstGeom prst="rect">
            <a:avLst/>
          </a:prstGeom>
          <a:noFill/>
          <a:ln/>
        </p:spPr>
        <p:txBody>
          <a:bodyPr wrap="square" lIns="0" tIns="0" rIns="0" bIns="0" rtlCol="0" anchor="t"/>
          <a:lstStyle/>
          <a:p>
            <a:pPr indent="0" marL="0">
              <a:buNone/>
            </a:pPr>
            <a:r>
              <a:rPr lang="en-US" sz="650" u="sng" dirty="0">
                <a:solidFill>
                  <a:schemeClr val="accent5"/>
                </a:solidFill>
                <a:latin typeface="Courier New" pitchFamily="34" charset="0"/>
                <a:ea typeface="Courier New" pitchFamily="34" charset="-122"/>
                <a:cs typeface="Courier New" pitchFamily="34" charset="-120"/>
                <a:hlinkClick r:id="rId6" invalidUrl="" action="" tgtFrame="" tooltip="" history="1" highlightClick="0" endSnd="0">
                  <a:extLst>
                    <a:ext uri="{A12FA001-AC4F-418D-AE19-62706E023703}">
                      <ahyp:hlinkClr xmlns:ahyp="http://schemas.microsoft.com/office/drawing/2018/hyperlinkcolor" val="tx"/>
                    </a:ext>
                  </a:extLst>
                </a:hlinkClick>
              </a:rPr>
              <a:t>store.steampowered.com/app/1097150</a:t>
            </a:r>
            <a:endParaRPr lang="en-US" sz="650" dirty="0"/>
          </a:p>
        </p:txBody>
      </p:sp>
      <p:sp>
        <p:nvSpPr>
          <p:cNvPr id="37" name="Text 32"/>
          <p:cNvSpPr txBox="1"/>
          <p:nvPr/>
        </p:nvSpPr>
        <p:spPr>
          <a:xfrm>
            <a:off x="5052243" y="3511296"/>
            <a:ext cx="2087209" cy="182880"/>
          </a:xfrm>
          <a:prstGeom prst="rect">
            <a:avLst/>
          </a:prstGeom>
          <a:noFill/>
          <a:ln/>
        </p:spPr>
        <p:txBody>
          <a:bodyPr wrap="square" lIns="0" tIns="0" rIns="0" bIns="0" rtlCol="0" anchor="t"/>
          <a:lstStyle/>
          <a:p>
            <a:pPr indent="0" marL="0">
              <a:buNone/>
            </a:pPr>
            <a:r>
              <a:rPr lang="en-US" sz="750" spc="30" kern="0" dirty="0">
                <a:solidFill>
                  <a:srgbClr val="5C616B"/>
                </a:solidFill>
                <a:latin typeface="Courier New" pitchFamily="34" charset="0"/>
                <a:ea typeface="Courier New" pitchFamily="34" charset="-122"/>
                <a:cs typeface="Courier New" pitchFamily="34" charset="-120"/>
              </a:rPr>
              <a:t>Mediatonic / Epic · 2020</a:t>
            </a:r>
            <a:endParaRPr lang="en-US" sz="750" dirty="0"/>
          </a:p>
        </p:txBody>
      </p:sp>
      <p:sp>
        <p:nvSpPr>
          <p:cNvPr id="38" name="Text 33"/>
          <p:cNvSpPr txBox="1"/>
          <p:nvPr/>
        </p:nvSpPr>
        <p:spPr>
          <a:xfrm>
            <a:off x="5052243" y="3785616"/>
            <a:ext cx="2087209" cy="164592"/>
          </a:xfrm>
          <a:prstGeom prst="rect">
            <a:avLst/>
          </a:prstGeom>
          <a:noFill/>
          <a:ln/>
        </p:spPr>
        <p:txBody>
          <a:bodyPr wrap="square" lIns="0" tIns="0" rIns="0" bIns="0" rtlCol="0" anchor="t"/>
          <a:lstStyle/>
          <a:p>
            <a:pPr indent="0" marL="0">
              <a:buNone/>
            </a:pPr>
            <a:r>
              <a:rPr lang="en-US" sz="700" b="1" spc="120" kern="0" dirty="0">
                <a:solidFill>
                  <a:srgbClr val="5C616B"/>
                </a:solidFill>
                <a:latin typeface="Courier New" pitchFamily="34" charset="0"/>
                <a:ea typeface="Courier New" pitchFamily="34" charset="-122"/>
                <a:cs typeface="Courier New" pitchFamily="34" charset="-120"/>
              </a:rPr>
              <a:t>VISUAL</a:t>
            </a:r>
            <a:endParaRPr lang="en-US" sz="700" dirty="0"/>
          </a:p>
        </p:txBody>
      </p:sp>
      <p:sp>
        <p:nvSpPr>
          <p:cNvPr id="39" name="Text 34"/>
          <p:cNvSpPr txBox="1"/>
          <p:nvPr/>
        </p:nvSpPr>
        <p:spPr>
          <a:xfrm>
            <a:off x="5052243" y="3941064"/>
            <a:ext cx="2087209" cy="402336"/>
          </a:xfrm>
          <a:prstGeom prst="rect">
            <a:avLst/>
          </a:prstGeom>
          <a:noFill/>
          <a:ln/>
        </p:spPr>
        <p:txBody>
          <a:bodyPr wrap="square" lIns="0" tIns="0" rIns="0" bIns="0" rtlCol="0" anchor="t"/>
          <a:lstStyle/>
          <a:p>
            <a:pPr indent="0" marL="0">
              <a:buNone/>
            </a:pPr>
            <a:r>
              <a:rPr lang="en-US" sz="950" dirty="0">
                <a:solidFill>
                  <a:schemeClr val="tx1"/>
                </a:solidFill>
              </a:rPr>
              <a:t>Candy-coloured beans, obstacle courses.</a:t>
            </a:r>
            <a:endParaRPr lang="en-US" sz="950" dirty="0"/>
          </a:p>
        </p:txBody>
      </p:sp>
      <p:sp>
        <p:nvSpPr>
          <p:cNvPr id="40" name="Text 35"/>
          <p:cNvSpPr txBox="1"/>
          <p:nvPr/>
        </p:nvSpPr>
        <p:spPr>
          <a:xfrm>
            <a:off x="5052243" y="4352544"/>
            <a:ext cx="2087209" cy="164592"/>
          </a:xfrm>
          <a:prstGeom prst="rect">
            <a:avLst/>
          </a:prstGeom>
          <a:noFill/>
          <a:ln/>
        </p:spPr>
        <p:txBody>
          <a:bodyPr wrap="square" lIns="0" tIns="0" rIns="0" bIns="0" rtlCol="0" anchor="t"/>
          <a:lstStyle/>
          <a:p>
            <a:pPr indent="0" marL="0">
              <a:buNone/>
            </a:pPr>
            <a:r>
              <a:rPr lang="en-US" sz="700" b="1" spc="120" kern="0" dirty="0">
                <a:solidFill>
                  <a:srgbClr val="5C616B"/>
                </a:solidFill>
                <a:latin typeface="Courier New" pitchFamily="34" charset="0"/>
                <a:ea typeface="Courier New" pitchFamily="34" charset="-122"/>
                <a:cs typeface="Courier New" pitchFamily="34" charset="-120"/>
              </a:rPr>
              <a:t>MECHANIC</a:t>
            </a:r>
            <a:endParaRPr lang="en-US" sz="700" dirty="0"/>
          </a:p>
        </p:txBody>
      </p:sp>
      <p:sp>
        <p:nvSpPr>
          <p:cNvPr id="41" name="Text 36"/>
          <p:cNvSpPr txBox="1"/>
          <p:nvPr/>
        </p:nvSpPr>
        <p:spPr>
          <a:xfrm>
            <a:off x="5052243" y="4507992"/>
            <a:ext cx="2087209" cy="402336"/>
          </a:xfrm>
          <a:prstGeom prst="rect">
            <a:avLst/>
          </a:prstGeom>
          <a:noFill/>
          <a:ln/>
        </p:spPr>
        <p:txBody>
          <a:bodyPr wrap="square" lIns="0" tIns="0" rIns="0" bIns="0" rtlCol="0" anchor="t"/>
          <a:lstStyle/>
          <a:p>
            <a:pPr indent="0" marL="0">
              <a:buNone/>
            </a:pPr>
            <a:r>
              <a:rPr lang="en-US" sz="950" dirty="0">
                <a:solidFill>
                  <a:schemeClr val="tx1"/>
                </a:solidFill>
              </a:rPr>
              <a:t>Short race and survival rounds in a playlist.</a:t>
            </a:r>
            <a:endParaRPr lang="en-US" sz="950" dirty="0"/>
          </a:p>
        </p:txBody>
      </p:sp>
      <p:sp>
        <p:nvSpPr>
          <p:cNvPr id="42" name="Text 37"/>
          <p:cNvSpPr txBox="1"/>
          <p:nvPr/>
        </p:nvSpPr>
        <p:spPr>
          <a:xfrm>
            <a:off x="5052243" y="4919472"/>
            <a:ext cx="2087209" cy="164592"/>
          </a:xfrm>
          <a:prstGeom prst="rect">
            <a:avLst/>
          </a:prstGeom>
          <a:noFill/>
          <a:ln/>
        </p:spPr>
        <p:txBody>
          <a:bodyPr wrap="square" lIns="0" tIns="0" rIns="0" bIns="0" rtlCol="0" anchor="t"/>
          <a:lstStyle/>
          <a:p>
            <a:pPr indent="0" marL="0">
              <a:buNone/>
            </a:pPr>
            <a:r>
              <a:rPr lang="en-US" sz="700" b="1" spc="120" kern="0" dirty="0">
                <a:solidFill>
                  <a:srgbClr val="5C616B"/>
                </a:solidFill>
                <a:latin typeface="Courier New" pitchFamily="34" charset="0"/>
                <a:ea typeface="Courier New" pitchFamily="34" charset="-122"/>
                <a:cs typeface="Courier New" pitchFamily="34" charset="-120"/>
              </a:rPr>
              <a:t>MULTIPLAYER</a:t>
            </a:r>
            <a:endParaRPr lang="en-US" sz="700" dirty="0"/>
          </a:p>
        </p:txBody>
      </p:sp>
      <p:sp>
        <p:nvSpPr>
          <p:cNvPr id="43" name="Text 38"/>
          <p:cNvSpPr txBox="1"/>
          <p:nvPr/>
        </p:nvSpPr>
        <p:spPr>
          <a:xfrm>
            <a:off x="5052243" y="5074920"/>
            <a:ext cx="2087209" cy="402336"/>
          </a:xfrm>
          <a:prstGeom prst="rect">
            <a:avLst/>
          </a:prstGeom>
          <a:noFill/>
          <a:ln/>
        </p:spPr>
        <p:txBody>
          <a:bodyPr wrap="square" lIns="0" tIns="0" rIns="0" bIns="0" rtlCol="0" anchor="t"/>
          <a:lstStyle/>
          <a:p>
            <a:pPr indent="0" marL="0">
              <a:buNone/>
            </a:pPr>
            <a:r>
              <a:rPr lang="en-US" sz="950" dirty="0">
                <a:solidFill>
                  <a:schemeClr val="tx1"/>
                </a:solidFill>
              </a:rPr>
              <a:t>Online, cross-platform only.</a:t>
            </a:r>
            <a:endParaRPr lang="en-US" sz="950" dirty="0"/>
          </a:p>
        </p:txBody>
      </p:sp>
      <p:sp>
        <p:nvSpPr>
          <p:cNvPr id="44" name="Text 39"/>
          <p:cNvSpPr txBox="1"/>
          <p:nvPr/>
        </p:nvSpPr>
        <p:spPr>
          <a:xfrm>
            <a:off x="5052243" y="5486400"/>
            <a:ext cx="2087209" cy="164592"/>
          </a:xfrm>
          <a:prstGeom prst="rect">
            <a:avLst/>
          </a:prstGeom>
          <a:noFill/>
          <a:ln/>
        </p:spPr>
        <p:txBody>
          <a:bodyPr wrap="square" lIns="0" tIns="0" rIns="0" bIns="0" rtlCol="0" anchor="t"/>
          <a:lstStyle/>
          <a:p>
            <a:pPr indent="0" marL="0">
              <a:buNone/>
            </a:pPr>
            <a:r>
              <a:rPr lang="en-US" sz="700" b="1" spc="120" kern="0" dirty="0">
                <a:solidFill>
                  <a:srgbClr val="5C616B"/>
                </a:solidFill>
                <a:latin typeface="Courier New" pitchFamily="34" charset="0"/>
                <a:ea typeface="Courier New" pitchFamily="34" charset="-122"/>
                <a:cs typeface="Courier New" pitchFamily="34" charset="-120"/>
              </a:rPr>
              <a:t>FINANCIALS</a:t>
            </a:r>
            <a:endParaRPr lang="en-US" sz="700" dirty="0"/>
          </a:p>
        </p:txBody>
      </p:sp>
      <p:sp>
        <p:nvSpPr>
          <p:cNvPr id="45" name="Text 40"/>
          <p:cNvSpPr txBox="1"/>
          <p:nvPr/>
        </p:nvSpPr>
        <p:spPr>
          <a:xfrm>
            <a:off x="5052243" y="5641848"/>
            <a:ext cx="2087209" cy="402336"/>
          </a:xfrm>
          <a:prstGeom prst="rect">
            <a:avLst/>
          </a:prstGeom>
          <a:noFill/>
          <a:ln/>
        </p:spPr>
        <p:txBody>
          <a:bodyPr wrap="square" lIns="0" tIns="0" rIns="0" bIns="0" rtlCol="0" anchor="t"/>
          <a:lstStyle/>
          <a:p>
            <a:pPr indent="0" marL="0">
              <a:buNone/>
            </a:pPr>
            <a:r>
              <a:rPr lang="en-US" sz="950" dirty="0">
                <a:solidFill>
                  <a:schemeClr val="tx1"/>
                </a:solidFill>
              </a:rPr>
              <a:t>Free-to-play. Legacy Steam peak 172,213. Metacritic 80.</a:t>
            </a:r>
            <a:endParaRPr lang="en-US" sz="950" dirty="0"/>
          </a:p>
        </p:txBody>
      </p:sp>
      <p:pic>
        <p:nvPicPr>
          <p:cNvPr id="46" name="Pummel Party screenshot" descr="Pummel Party screenshot">    </p:cNvPr>
          <p:cNvPicPr>
            <a:picLocks noChangeAspect="1"/>
          </p:cNvPicPr>
          <p:nvPr/>
        </p:nvPicPr>
        <p:blipFill>
          <a:blip r:embed="rId7"/>
          <a:stretch>
            <a:fillRect/>
          </a:stretch>
        </p:blipFill>
        <p:spPr>
          <a:xfrm>
            <a:off x="7304044" y="1810512"/>
            <a:ext cx="2087209" cy="1170432"/>
          </a:xfrm>
          <a:prstGeom prst="rect">
            <a:avLst/>
          </a:prstGeom>
        </p:spPr>
      </p:pic>
      <p:sp>
        <p:nvSpPr>
          <p:cNvPr id="47" name="Pummel Party tag"/>
          <p:cNvSpPr/>
          <p:nvPr/>
        </p:nvSpPr>
        <p:spPr>
          <a:xfrm>
            <a:off x="7304044" y="1810512"/>
            <a:ext cx="868680" cy="219456"/>
          </a:xfrm>
          <a:prstGeom prst="rect">
            <a:avLst/>
          </a:prstGeom>
          <a:solidFill>
            <a:srgbClr val="14161B"/>
          </a:solidFill>
          <a:ln w="12700">
            <a:solidFill>
              <a:srgbClr val="14161B"/>
            </a:solidFill>
            <a:prstDash val="solid"/>
          </a:ln>
        </p:spPr>
      </p:sp>
      <p:sp>
        <p:nvSpPr>
          <p:cNvPr id="48" name="Text 42"/>
          <p:cNvSpPr txBox="1"/>
          <p:nvPr/>
        </p:nvSpPr>
        <p:spPr>
          <a:xfrm>
            <a:off x="7304044" y="1810512"/>
            <a:ext cx="868680" cy="219456"/>
          </a:xfrm>
          <a:prstGeom prst="rect">
            <a:avLst/>
          </a:prstGeom>
          <a:noFill/>
          <a:ln/>
        </p:spPr>
        <p:txBody>
          <a:bodyPr wrap="square" lIns="0" tIns="0" rIns="0" bIns="0" rtlCol="0" anchor="ctr"/>
          <a:lstStyle/>
          <a:p>
            <a:pPr algn="ctr" indent="0" marL="0">
              <a:buNone/>
            </a:pPr>
            <a:r>
              <a:rPr lang="en-US" sz="700" b="1" spc="80" kern="0" dirty="0">
                <a:solidFill>
                  <a:srgbClr val="FFFFFF"/>
                </a:solidFill>
                <a:latin typeface="Courier New" pitchFamily="34" charset="0"/>
                <a:ea typeface="Courier New" pitchFamily="34" charset="-122"/>
                <a:cs typeface="Courier New" pitchFamily="34" charset="-120"/>
              </a:rPr>
              <a:t>FORMAT</a:t>
            </a:r>
            <a:endParaRPr lang="en-US" sz="700" dirty="0"/>
          </a:p>
        </p:txBody>
      </p:sp>
      <p:sp>
        <p:nvSpPr>
          <p:cNvPr id="49" name="Text 43"/>
          <p:cNvSpPr txBox="1"/>
          <p:nvPr/>
        </p:nvSpPr>
        <p:spPr>
          <a:xfrm>
            <a:off x="7304044" y="3072384"/>
            <a:ext cx="2087209" cy="256032"/>
          </a:xfrm>
          <a:prstGeom prst="rect">
            <a:avLst/>
          </a:prstGeom>
          <a:noFill/>
          <a:ln/>
        </p:spPr>
        <p:txBody>
          <a:bodyPr wrap="square" lIns="0" tIns="0" rIns="0" bIns="0" rtlCol="0" anchor="t"/>
          <a:lstStyle/>
          <a:p>
            <a:pPr indent="0" marL="0">
              <a:buNone/>
            </a:pPr>
            <a:r>
              <a:rPr lang="en-US" sz="1300" b="1" dirty="0">
                <a:solidFill>
                  <a:schemeClr val="tx1"/>
                </a:solidFill>
                <a:latin typeface="Arial" pitchFamily="34" charset="0"/>
                <a:ea typeface="Arial" pitchFamily="34" charset="-122"/>
                <a:cs typeface="Arial" pitchFamily="34" charset="-120"/>
              </a:rPr>
              <a:t>Pummel Party</a:t>
            </a:r>
            <a:endParaRPr lang="en-US" sz="1300" dirty="0"/>
          </a:p>
        </p:txBody>
      </p:sp>
      <p:sp>
        <p:nvSpPr>
          <p:cNvPr id="50" name="Text 44">
            <a:hlinkClick r:id="rId8" tooltip=""/>
          </p:cNvPr>
          <p:cNvSpPr txBox="1"/>
          <p:nvPr/>
        </p:nvSpPr>
        <p:spPr>
          <a:xfrm>
            <a:off x="7304044" y="3328416"/>
            <a:ext cx="2087209" cy="182880"/>
          </a:xfrm>
          <a:prstGeom prst="rect">
            <a:avLst/>
          </a:prstGeom>
          <a:noFill/>
          <a:ln/>
        </p:spPr>
        <p:txBody>
          <a:bodyPr wrap="square" lIns="0" tIns="0" rIns="0" bIns="0" rtlCol="0" anchor="t"/>
          <a:lstStyle/>
          <a:p>
            <a:pPr indent="0" marL="0">
              <a:buNone/>
            </a:pPr>
            <a:r>
              <a:rPr lang="en-US" sz="650" u="sng" dirty="0">
                <a:solidFill>
                  <a:schemeClr val="accent5"/>
                </a:solidFill>
                <a:latin typeface="Courier New" pitchFamily="34" charset="0"/>
                <a:ea typeface="Courier New" pitchFamily="34" charset="-122"/>
                <a:cs typeface="Courier New" pitchFamily="34" charset="-120"/>
                <a:hlinkClick r:id="rId8" invalidUrl="" action="" tgtFrame="" tooltip="" history="1" highlightClick="0" endSnd="0">
                  <a:extLst>
                    <a:ext uri="{A12FA001-AC4F-418D-AE19-62706E023703}">
                      <ahyp:hlinkClr xmlns:ahyp="http://schemas.microsoft.com/office/drawing/2018/hyperlinkcolor" val="tx"/>
                    </a:ext>
                  </a:extLst>
                </a:hlinkClick>
              </a:rPr>
              <a:t>store.steampowered.com/app/880940</a:t>
            </a:r>
            <a:endParaRPr lang="en-US" sz="650" dirty="0"/>
          </a:p>
        </p:txBody>
      </p:sp>
      <p:sp>
        <p:nvSpPr>
          <p:cNvPr id="51" name="Text 45"/>
          <p:cNvSpPr txBox="1"/>
          <p:nvPr/>
        </p:nvSpPr>
        <p:spPr>
          <a:xfrm>
            <a:off x="7304044" y="3511296"/>
            <a:ext cx="2087209" cy="182880"/>
          </a:xfrm>
          <a:prstGeom prst="rect">
            <a:avLst/>
          </a:prstGeom>
          <a:noFill/>
          <a:ln/>
        </p:spPr>
        <p:txBody>
          <a:bodyPr wrap="square" lIns="0" tIns="0" rIns="0" bIns="0" rtlCol="0" anchor="t"/>
          <a:lstStyle/>
          <a:p>
            <a:pPr indent="0" marL="0">
              <a:buNone/>
            </a:pPr>
            <a:r>
              <a:rPr lang="en-US" sz="750" spc="30" kern="0" dirty="0">
                <a:solidFill>
                  <a:srgbClr val="5C616B"/>
                </a:solidFill>
                <a:latin typeface="Courier New" pitchFamily="34" charset="0"/>
                <a:ea typeface="Courier New" pitchFamily="34" charset="-122"/>
                <a:cs typeface="Courier New" pitchFamily="34" charset="-120"/>
              </a:rPr>
              <a:t>Rebuilt Games · 2018</a:t>
            </a:r>
            <a:endParaRPr lang="en-US" sz="750" dirty="0"/>
          </a:p>
        </p:txBody>
      </p:sp>
      <p:sp>
        <p:nvSpPr>
          <p:cNvPr id="52" name="Text 46"/>
          <p:cNvSpPr txBox="1"/>
          <p:nvPr/>
        </p:nvSpPr>
        <p:spPr>
          <a:xfrm>
            <a:off x="7304044" y="3785616"/>
            <a:ext cx="2087209" cy="164592"/>
          </a:xfrm>
          <a:prstGeom prst="rect">
            <a:avLst/>
          </a:prstGeom>
          <a:noFill/>
          <a:ln/>
        </p:spPr>
        <p:txBody>
          <a:bodyPr wrap="square" lIns="0" tIns="0" rIns="0" bIns="0" rtlCol="0" anchor="t"/>
          <a:lstStyle/>
          <a:p>
            <a:pPr indent="0" marL="0">
              <a:buNone/>
            </a:pPr>
            <a:r>
              <a:rPr lang="en-US" sz="700" b="1" spc="120" kern="0" dirty="0">
                <a:solidFill>
                  <a:srgbClr val="5C616B"/>
                </a:solidFill>
                <a:latin typeface="Courier New" pitchFamily="34" charset="0"/>
                <a:ea typeface="Courier New" pitchFamily="34" charset="-122"/>
                <a:cs typeface="Courier New" pitchFamily="34" charset="-120"/>
              </a:rPr>
              <a:t>VISUAL</a:t>
            </a:r>
            <a:endParaRPr lang="en-US" sz="700" dirty="0"/>
          </a:p>
        </p:txBody>
      </p:sp>
      <p:sp>
        <p:nvSpPr>
          <p:cNvPr id="53" name="Text 47"/>
          <p:cNvSpPr txBox="1"/>
          <p:nvPr/>
        </p:nvSpPr>
        <p:spPr>
          <a:xfrm>
            <a:off x="7304044" y="3941064"/>
            <a:ext cx="2087209" cy="402336"/>
          </a:xfrm>
          <a:prstGeom prst="rect">
            <a:avLst/>
          </a:prstGeom>
          <a:noFill/>
          <a:ln/>
        </p:spPr>
        <p:txBody>
          <a:bodyPr wrap="square" lIns="0" tIns="0" rIns="0" bIns="0" rtlCol="0" anchor="t"/>
          <a:lstStyle/>
          <a:p>
            <a:pPr indent="0" marL="0">
              <a:buNone/>
            </a:pPr>
            <a:r>
              <a:rPr lang="en-US" sz="950" dirty="0">
                <a:solidFill>
                  <a:schemeClr val="tx1"/>
                </a:solidFill>
              </a:rPr>
              <a:t>Colourful low-poly 3D, slapstick items.</a:t>
            </a:r>
            <a:endParaRPr lang="en-US" sz="950" dirty="0"/>
          </a:p>
        </p:txBody>
      </p:sp>
      <p:sp>
        <p:nvSpPr>
          <p:cNvPr id="54" name="Text 48"/>
          <p:cNvSpPr txBox="1"/>
          <p:nvPr/>
        </p:nvSpPr>
        <p:spPr>
          <a:xfrm>
            <a:off x="7304044" y="4352544"/>
            <a:ext cx="2087209" cy="164592"/>
          </a:xfrm>
          <a:prstGeom prst="rect">
            <a:avLst/>
          </a:prstGeom>
          <a:noFill/>
          <a:ln/>
        </p:spPr>
        <p:txBody>
          <a:bodyPr wrap="square" lIns="0" tIns="0" rIns="0" bIns="0" rtlCol="0" anchor="t"/>
          <a:lstStyle/>
          <a:p>
            <a:pPr indent="0" marL="0">
              <a:buNone/>
            </a:pPr>
            <a:r>
              <a:rPr lang="en-US" sz="700" b="1" spc="120" kern="0" dirty="0">
                <a:solidFill>
                  <a:srgbClr val="5C616B"/>
                </a:solidFill>
                <a:latin typeface="Courier New" pitchFamily="34" charset="0"/>
                <a:ea typeface="Courier New" pitchFamily="34" charset="-122"/>
                <a:cs typeface="Courier New" pitchFamily="34" charset="-120"/>
              </a:rPr>
              <a:t>MECHANIC</a:t>
            </a:r>
            <a:endParaRPr lang="en-US" sz="700" dirty="0"/>
          </a:p>
        </p:txBody>
      </p:sp>
      <p:sp>
        <p:nvSpPr>
          <p:cNvPr id="55" name="Text 49"/>
          <p:cNvSpPr txBox="1"/>
          <p:nvPr/>
        </p:nvSpPr>
        <p:spPr>
          <a:xfrm>
            <a:off x="7304044" y="4507992"/>
            <a:ext cx="2087209" cy="402336"/>
          </a:xfrm>
          <a:prstGeom prst="rect">
            <a:avLst/>
          </a:prstGeom>
          <a:noFill/>
          <a:ln/>
        </p:spPr>
        <p:txBody>
          <a:bodyPr wrap="square" lIns="0" tIns="0" rIns="0" bIns="0" rtlCol="0" anchor="t"/>
          <a:lstStyle/>
          <a:p>
            <a:pPr indent="0" marL="0">
              <a:buNone/>
            </a:pPr>
            <a:r>
              <a:rPr lang="en-US" sz="950" dirty="0">
                <a:solidFill>
                  <a:schemeClr val="tx1"/>
                </a:solidFill>
              </a:rPr>
              <a:t>Board game with short competitive mini-games.</a:t>
            </a:r>
            <a:endParaRPr lang="en-US" sz="950" dirty="0"/>
          </a:p>
        </p:txBody>
      </p:sp>
      <p:sp>
        <p:nvSpPr>
          <p:cNvPr id="56" name="Text 50"/>
          <p:cNvSpPr txBox="1"/>
          <p:nvPr/>
        </p:nvSpPr>
        <p:spPr>
          <a:xfrm>
            <a:off x="7304044" y="4919472"/>
            <a:ext cx="2087209" cy="164592"/>
          </a:xfrm>
          <a:prstGeom prst="rect">
            <a:avLst/>
          </a:prstGeom>
          <a:noFill/>
          <a:ln/>
        </p:spPr>
        <p:txBody>
          <a:bodyPr wrap="square" lIns="0" tIns="0" rIns="0" bIns="0" rtlCol="0" anchor="t"/>
          <a:lstStyle/>
          <a:p>
            <a:pPr indent="0" marL="0">
              <a:buNone/>
            </a:pPr>
            <a:r>
              <a:rPr lang="en-US" sz="700" b="1" spc="120" kern="0" dirty="0">
                <a:solidFill>
                  <a:srgbClr val="5C616B"/>
                </a:solidFill>
                <a:latin typeface="Courier New" pitchFamily="34" charset="0"/>
                <a:ea typeface="Courier New" pitchFamily="34" charset="-122"/>
                <a:cs typeface="Courier New" pitchFamily="34" charset="-120"/>
              </a:rPr>
              <a:t>MULTIPLAYER</a:t>
            </a:r>
            <a:endParaRPr lang="en-US" sz="700" dirty="0"/>
          </a:p>
        </p:txBody>
      </p:sp>
      <p:sp>
        <p:nvSpPr>
          <p:cNvPr id="57" name="Text 51"/>
          <p:cNvSpPr txBox="1"/>
          <p:nvPr/>
        </p:nvSpPr>
        <p:spPr>
          <a:xfrm>
            <a:off x="7304044" y="5074920"/>
            <a:ext cx="2087209" cy="402336"/>
          </a:xfrm>
          <a:prstGeom prst="rect">
            <a:avLst/>
          </a:prstGeom>
          <a:noFill/>
          <a:ln/>
        </p:spPr>
        <p:txBody>
          <a:bodyPr wrap="square" lIns="0" tIns="0" rIns="0" bIns="0" rtlCol="0" anchor="t"/>
          <a:lstStyle/>
          <a:p>
            <a:pPr indent="0" marL="0">
              <a:buNone/>
            </a:pPr>
            <a:r>
              <a:rPr lang="en-US" sz="950" dirty="0">
                <a:solidFill>
                  <a:schemeClr val="tx1"/>
                </a:solidFill>
              </a:rPr>
              <a:t>4–8 online and local. No LAN listed.</a:t>
            </a:r>
            <a:endParaRPr lang="en-US" sz="950" dirty="0"/>
          </a:p>
        </p:txBody>
      </p:sp>
      <p:sp>
        <p:nvSpPr>
          <p:cNvPr id="58" name="Text 52"/>
          <p:cNvSpPr txBox="1"/>
          <p:nvPr/>
        </p:nvSpPr>
        <p:spPr>
          <a:xfrm>
            <a:off x="7304044" y="5486400"/>
            <a:ext cx="2087209" cy="164592"/>
          </a:xfrm>
          <a:prstGeom prst="rect">
            <a:avLst/>
          </a:prstGeom>
          <a:noFill/>
          <a:ln/>
        </p:spPr>
        <p:txBody>
          <a:bodyPr wrap="square" lIns="0" tIns="0" rIns="0" bIns="0" rtlCol="0" anchor="t"/>
          <a:lstStyle/>
          <a:p>
            <a:pPr indent="0" marL="0">
              <a:buNone/>
            </a:pPr>
            <a:r>
              <a:rPr lang="en-US" sz="700" b="1" spc="120" kern="0" dirty="0">
                <a:solidFill>
                  <a:srgbClr val="5C616B"/>
                </a:solidFill>
                <a:latin typeface="Courier New" pitchFamily="34" charset="0"/>
                <a:ea typeface="Courier New" pitchFamily="34" charset="-122"/>
                <a:cs typeface="Courier New" pitchFamily="34" charset="-120"/>
              </a:rPr>
              <a:t>FINANCIALS</a:t>
            </a:r>
            <a:endParaRPr lang="en-US" sz="700" dirty="0"/>
          </a:p>
        </p:txBody>
      </p:sp>
      <p:sp>
        <p:nvSpPr>
          <p:cNvPr id="59" name="Text 53"/>
          <p:cNvSpPr txBox="1"/>
          <p:nvPr/>
        </p:nvSpPr>
        <p:spPr>
          <a:xfrm>
            <a:off x="7304044" y="5641848"/>
            <a:ext cx="2087209" cy="402336"/>
          </a:xfrm>
          <a:prstGeom prst="rect">
            <a:avLst/>
          </a:prstGeom>
          <a:noFill/>
          <a:ln/>
        </p:spPr>
        <p:txBody>
          <a:bodyPr wrap="square" lIns="0" tIns="0" rIns="0" bIns="0" rtlCol="0" anchor="t"/>
          <a:lstStyle/>
          <a:p>
            <a:pPr indent="0" marL="0">
              <a:buNone/>
            </a:pPr>
            <a:r>
              <a:rPr lang="en-US" sz="950" dirty="0">
                <a:solidFill>
                  <a:schemeClr val="tx1"/>
                </a:solidFill>
              </a:rPr>
              <a:t>$14.99. Peak 20,957. Owner est. 1.5M–7.6M.</a:t>
            </a:r>
            <a:endParaRPr lang="en-US" sz="950" dirty="0"/>
          </a:p>
        </p:txBody>
      </p:sp>
      <p:pic>
        <p:nvPicPr>
          <p:cNvPr id="60" name="Squarena screenshot" descr="Squarena screenshot">    </p:cNvPr>
          <p:cNvPicPr>
            <a:picLocks noChangeAspect="1"/>
          </p:cNvPicPr>
          <p:nvPr/>
        </p:nvPicPr>
        <p:blipFill>
          <a:blip r:embed="rId9"/>
          <a:stretch>
            <a:fillRect/>
          </a:stretch>
        </p:blipFill>
        <p:spPr>
          <a:xfrm>
            <a:off x="9555846" y="1810512"/>
            <a:ext cx="2087209" cy="1170432"/>
          </a:xfrm>
          <a:prstGeom prst="rect">
            <a:avLst/>
          </a:prstGeom>
        </p:spPr>
      </p:pic>
      <p:sp>
        <p:nvSpPr>
          <p:cNvPr id="61" name="Squarena tag"/>
          <p:cNvSpPr/>
          <p:nvPr/>
        </p:nvSpPr>
        <p:spPr>
          <a:xfrm>
            <a:off x="9555846" y="1810512"/>
            <a:ext cx="868680" cy="219456"/>
          </a:xfrm>
          <a:prstGeom prst="rect">
            <a:avLst/>
          </a:prstGeom>
          <a:solidFill>
            <a:srgbClr val="14161B"/>
          </a:solidFill>
          <a:ln w="12700">
            <a:solidFill>
              <a:srgbClr val="14161B"/>
            </a:solidFill>
            <a:prstDash val="solid"/>
          </a:ln>
        </p:spPr>
      </p:sp>
      <p:sp>
        <p:nvSpPr>
          <p:cNvPr id="62" name="Text 55"/>
          <p:cNvSpPr txBox="1"/>
          <p:nvPr/>
        </p:nvSpPr>
        <p:spPr>
          <a:xfrm>
            <a:off x="9555846" y="1810512"/>
            <a:ext cx="868680" cy="219456"/>
          </a:xfrm>
          <a:prstGeom prst="rect">
            <a:avLst/>
          </a:prstGeom>
          <a:noFill/>
          <a:ln/>
        </p:spPr>
        <p:txBody>
          <a:bodyPr wrap="square" lIns="0" tIns="0" rIns="0" bIns="0" rtlCol="0" anchor="ctr"/>
          <a:lstStyle/>
          <a:p>
            <a:pPr algn="ctr" indent="0" marL="0">
              <a:buNone/>
            </a:pPr>
            <a:r>
              <a:rPr lang="en-US" sz="700" b="1" spc="80" kern="0" dirty="0">
                <a:solidFill>
                  <a:srgbClr val="FFFFFF"/>
                </a:solidFill>
                <a:latin typeface="Courier New" pitchFamily="34" charset="0"/>
                <a:ea typeface="Courier New" pitchFamily="34" charset="-122"/>
                <a:cs typeface="Courier New" pitchFamily="34" charset="-120"/>
              </a:rPr>
              <a:t>MECHANIC</a:t>
            </a:r>
            <a:endParaRPr lang="en-US" sz="700" dirty="0"/>
          </a:p>
        </p:txBody>
      </p:sp>
      <p:sp>
        <p:nvSpPr>
          <p:cNvPr id="63" name="Text 56"/>
          <p:cNvSpPr txBox="1"/>
          <p:nvPr/>
        </p:nvSpPr>
        <p:spPr>
          <a:xfrm>
            <a:off x="9555846" y="3072384"/>
            <a:ext cx="2087209" cy="256032"/>
          </a:xfrm>
          <a:prstGeom prst="rect">
            <a:avLst/>
          </a:prstGeom>
          <a:noFill/>
          <a:ln/>
        </p:spPr>
        <p:txBody>
          <a:bodyPr wrap="square" lIns="0" tIns="0" rIns="0" bIns="0" rtlCol="0" anchor="t"/>
          <a:lstStyle/>
          <a:p>
            <a:pPr indent="0" marL="0">
              <a:buNone/>
            </a:pPr>
            <a:r>
              <a:rPr lang="en-US" sz="1300" b="1" dirty="0">
                <a:solidFill>
                  <a:schemeClr val="tx1"/>
                </a:solidFill>
                <a:latin typeface="Arial" pitchFamily="34" charset="0"/>
                <a:ea typeface="Arial" pitchFamily="34" charset="-122"/>
                <a:cs typeface="Arial" pitchFamily="34" charset="-120"/>
              </a:rPr>
              <a:t>Squarena</a:t>
            </a:r>
            <a:endParaRPr lang="en-US" sz="1300" dirty="0"/>
          </a:p>
        </p:txBody>
      </p:sp>
      <p:sp>
        <p:nvSpPr>
          <p:cNvPr id="64" name="Text 57">
            <a:hlinkClick r:id="rId10" tooltip=""/>
          </p:cNvPr>
          <p:cNvSpPr txBox="1"/>
          <p:nvPr/>
        </p:nvSpPr>
        <p:spPr>
          <a:xfrm>
            <a:off x="9555846" y="3328416"/>
            <a:ext cx="2087209" cy="182880"/>
          </a:xfrm>
          <a:prstGeom prst="rect">
            <a:avLst/>
          </a:prstGeom>
          <a:noFill/>
          <a:ln/>
        </p:spPr>
        <p:txBody>
          <a:bodyPr wrap="square" lIns="0" tIns="0" rIns="0" bIns="0" rtlCol="0" anchor="t"/>
          <a:lstStyle/>
          <a:p>
            <a:pPr indent="0" marL="0">
              <a:buNone/>
            </a:pPr>
            <a:r>
              <a:rPr lang="en-US" sz="650" u="sng" dirty="0">
                <a:solidFill>
                  <a:schemeClr val="accent5"/>
                </a:solidFill>
                <a:latin typeface="Courier New" pitchFamily="34" charset="0"/>
                <a:ea typeface="Courier New" pitchFamily="34" charset="-122"/>
                <a:cs typeface="Courier New" pitchFamily="34" charset="-120"/>
                <a:hlinkClick r:id="rId10" invalidUrl="" action="" tgtFrame="" tooltip="" history="1" highlightClick="0" endSnd="0">
                  <a:extLst>
                    <a:ext uri="{A12FA001-AC4F-418D-AE19-62706E023703}">
                      <ahyp:hlinkClr xmlns:ahyp="http://schemas.microsoft.com/office/drawing/2018/hyperlinkcolor" val="tx"/>
                    </a:ext>
                  </a:extLst>
                </a:hlinkClick>
              </a:rPr>
              <a:t>store.steampowered.com/app/1858400</a:t>
            </a:r>
            <a:endParaRPr lang="en-US" sz="650" dirty="0"/>
          </a:p>
        </p:txBody>
      </p:sp>
      <p:sp>
        <p:nvSpPr>
          <p:cNvPr id="65" name="Text 58"/>
          <p:cNvSpPr txBox="1"/>
          <p:nvPr/>
        </p:nvSpPr>
        <p:spPr>
          <a:xfrm>
            <a:off x="9555846" y="3511296"/>
            <a:ext cx="2087209" cy="182880"/>
          </a:xfrm>
          <a:prstGeom prst="rect">
            <a:avLst/>
          </a:prstGeom>
          <a:noFill/>
          <a:ln/>
        </p:spPr>
        <p:txBody>
          <a:bodyPr wrap="square" lIns="0" tIns="0" rIns="0" bIns="0" rtlCol="0" anchor="t"/>
          <a:lstStyle/>
          <a:p>
            <a:pPr indent="0" marL="0">
              <a:buNone/>
            </a:pPr>
            <a:r>
              <a:rPr lang="en-US" sz="750" spc="30" kern="0" dirty="0">
                <a:solidFill>
                  <a:srgbClr val="5C616B"/>
                </a:solidFill>
                <a:latin typeface="Courier New" pitchFamily="34" charset="0"/>
                <a:ea typeface="Courier New" pitchFamily="34" charset="-122"/>
                <a:cs typeface="Courier New" pitchFamily="34" charset="-120"/>
              </a:rPr>
              <a:t>Codeaclysm · 2022</a:t>
            </a:r>
            <a:endParaRPr lang="en-US" sz="750" dirty="0"/>
          </a:p>
        </p:txBody>
      </p:sp>
      <p:sp>
        <p:nvSpPr>
          <p:cNvPr id="66" name="Text 59"/>
          <p:cNvSpPr txBox="1"/>
          <p:nvPr/>
        </p:nvSpPr>
        <p:spPr>
          <a:xfrm>
            <a:off x="9555846" y="3785616"/>
            <a:ext cx="2087209" cy="164592"/>
          </a:xfrm>
          <a:prstGeom prst="rect">
            <a:avLst/>
          </a:prstGeom>
          <a:noFill/>
          <a:ln/>
        </p:spPr>
        <p:txBody>
          <a:bodyPr wrap="square" lIns="0" tIns="0" rIns="0" bIns="0" rtlCol="0" anchor="t"/>
          <a:lstStyle/>
          <a:p>
            <a:pPr indent="0" marL="0">
              <a:buNone/>
            </a:pPr>
            <a:r>
              <a:rPr lang="en-US" sz="700" b="1" spc="120" kern="0" dirty="0">
                <a:solidFill>
                  <a:srgbClr val="5C616B"/>
                </a:solidFill>
                <a:latin typeface="Courier New" pitchFamily="34" charset="0"/>
                <a:ea typeface="Courier New" pitchFamily="34" charset="-122"/>
                <a:cs typeface="Courier New" pitchFamily="34" charset="-120"/>
              </a:rPr>
              <a:t>VISUAL</a:t>
            </a:r>
            <a:endParaRPr lang="en-US" sz="700" dirty="0"/>
          </a:p>
        </p:txBody>
      </p:sp>
      <p:sp>
        <p:nvSpPr>
          <p:cNvPr id="67" name="Text 60"/>
          <p:cNvSpPr txBox="1"/>
          <p:nvPr/>
        </p:nvSpPr>
        <p:spPr>
          <a:xfrm>
            <a:off x="9555846" y="3941064"/>
            <a:ext cx="2087209" cy="402336"/>
          </a:xfrm>
          <a:prstGeom prst="rect">
            <a:avLst/>
          </a:prstGeom>
          <a:noFill/>
          <a:ln/>
        </p:spPr>
        <p:txBody>
          <a:bodyPr wrap="square" lIns="0" tIns="0" rIns="0" bIns="0" rtlCol="0" anchor="t"/>
          <a:lstStyle/>
          <a:p>
            <a:pPr indent="0" marL="0">
              <a:buNone/>
            </a:pPr>
            <a:r>
              <a:rPr lang="en-US" sz="950" dirty="0">
                <a:solidFill>
                  <a:schemeClr val="tx1"/>
                </a:solidFill>
              </a:rPr>
              <a:t>Minimal flat 2D squares.</a:t>
            </a:r>
            <a:endParaRPr lang="en-US" sz="950" dirty="0"/>
          </a:p>
        </p:txBody>
      </p:sp>
      <p:sp>
        <p:nvSpPr>
          <p:cNvPr id="68" name="Text 61"/>
          <p:cNvSpPr txBox="1"/>
          <p:nvPr/>
        </p:nvSpPr>
        <p:spPr>
          <a:xfrm>
            <a:off x="9555846" y="4352544"/>
            <a:ext cx="2087209" cy="164592"/>
          </a:xfrm>
          <a:prstGeom prst="rect">
            <a:avLst/>
          </a:prstGeom>
          <a:noFill/>
          <a:ln/>
        </p:spPr>
        <p:txBody>
          <a:bodyPr wrap="square" lIns="0" tIns="0" rIns="0" bIns="0" rtlCol="0" anchor="t"/>
          <a:lstStyle/>
          <a:p>
            <a:pPr indent="0" marL="0">
              <a:buNone/>
            </a:pPr>
            <a:r>
              <a:rPr lang="en-US" sz="700" b="1" spc="120" kern="0" dirty="0">
                <a:solidFill>
                  <a:srgbClr val="5C616B"/>
                </a:solidFill>
                <a:latin typeface="Courier New" pitchFamily="34" charset="0"/>
                <a:ea typeface="Courier New" pitchFamily="34" charset="-122"/>
                <a:cs typeface="Courier New" pitchFamily="34" charset="-120"/>
              </a:rPr>
              <a:t>MECHANIC</a:t>
            </a:r>
            <a:endParaRPr lang="en-US" sz="700" dirty="0"/>
          </a:p>
        </p:txBody>
      </p:sp>
      <p:sp>
        <p:nvSpPr>
          <p:cNvPr id="69" name="Text 62"/>
          <p:cNvSpPr txBox="1"/>
          <p:nvPr/>
        </p:nvSpPr>
        <p:spPr>
          <a:xfrm>
            <a:off x="9555846" y="4507992"/>
            <a:ext cx="2087209" cy="402336"/>
          </a:xfrm>
          <a:prstGeom prst="rect">
            <a:avLst/>
          </a:prstGeom>
          <a:noFill/>
          <a:ln/>
        </p:spPr>
        <p:txBody>
          <a:bodyPr wrap="square" lIns="0" tIns="0" rIns="0" bIns="0" rtlCol="0" anchor="t"/>
          <a:lstStyle/>
          <a:p>
            <a:pPr indent="0" marL="0">
              <a:buNone/>
            </a:pPr>
            <a:r>
              <a:rPr lang="en-US" sz="950" dirty="0">
                <a:solidFill>
                  <a:schemeClr val="tx1"/>
                </a:solidFill>
              </a:rPr>
              <a:t>Arena shooter: low health shrinks you; small bodies feel more recoil.</a:t>
            </a:r>
            <a:endParaRPr lang="en-US" sz="950" dirty="0"/>
          </a:p>
        </p:txBody>
      </p:sp>
      <p:sp>
        <p:nvSpPr>
          <p:cNvPr id="70" name="Text 63"/>
          <p:cNvSpPr txBox="1"/>
          <p:nvPr/>
        </p:nvSpPr>
        <p:spPr>
          <a:xfrm>
            <a:off x="9555846" y="4919472"/>
            <a:ext cx="2087209" cy="164592"/>
          </a:xfrm>
          <a:prstGeom prst="rect">
            <a:avLst/>
          </a:prstGeom>
          <a:noFill/>
          <a:ln/>
        </p:spPr>
        <p:txBody>
          <a:bodyPr wrap="square" lIns="0" tIns="0" rIns="0" bIns="0" rtlCol="0" anchor="t"/>
          <a:lstStyle/>
          <a:p>
            <a:pPr indent="0" marL="0">
              <a:buNone/>
            </a:pPr>
            <a:r>
              <a:rPr lang="en-US" sz="700" b="1" spc="120" kern="0" dirty="0">
                <a:solidFill>
                  <a:srgbClr val="5C616B"/>
                </a:solidFill>
                <a:latin typeface="Courier New" pitchFamily="34" charset="0"/>
                <a:ea typeface="Courier New" pitchFamily="34" charset="-122"/>
                <a:cs typeface="Courier New" pitchFamily="34" charset="-120"/>
              </a:rPr>
              <a:t>MULTIPLAYER</a:t>
            </a:r>
            <a:endParaRPr lang="en-US" sz="700" dirty="0"/>
          </a:p>
        </p:txBody>
      </p:sp>
      <p:sp>
        <p:nvSpPr>
          <p:cNvPr id="71" name="Text 64"/>
          <p:cNvSpPr txBox="1"/>
          <p:nvPr/>
        </p:nvSpPr>
        <p:spPr>
          <a:xfrm>
            <a:off x="9555846" y="5074920"/>
            <a:ext cx="2087209" cy="402336"/>
          </a:xfrm>
          <a:prstGeom prst="rect">
            <a:avLst/>
          </a:prstGeom>
          <a:noFill/>
          <a:ln/>
        </p:spPr>
        <p:txBody>
          <a:bodyPr wrap="square" lIns="0" tIns="0" rIns="0" bIns="0" rtlCol="0" anchor="t"/>
          <a:lstStyle/>
          <a:p>
            <a:pPr indent="0" marL="0">
              <a:buNone/>
            </a:pPr>
            <a:r>
              <a:rPr lang="en-US" sz="950" dirty="0">
                <a:solidFill>
                  <a:schemeClr val="tx1"/>
                </a:solidFill>
              </a:rPr>
              <a:t>Up to 6 local. No LAN listed.</a:t>
            </a:r>
            <a:endParaRPr lang="en-US" sz="950" dirty="0"/>
          </a:p>
        </p:txBody>
      </p:sp>
      <p:sp>
        <p:nvSpPr>
          <p:cNvPr id="72" name="Text 65"/>
          <p:cNvSpPr txBox="1"/>
          <p:nvPr/>
        </p:nvSpPr>
        <p:spPr>
          <a:xfrm>
            <a:off x="9555846" y="5486400"/>
            <a:ext cx="2087209" cy="164592"/>
          </a:xfrm>
          <a:prstGeom prst="rect">
            <a:avLst/>
          </a:prstGeom>
          <a:noFill/>
          <a:ln/>
        </p:spPr>
        <p:txBody>
          <a:bodyPr wrap="square" lIns="0" tIns="0" rIns="0" bIns="0" rtlCol="0" anchor="t"/>
          <a:lstStyle/>
          <a:p>
            <a:pPr indent="0" marL="0">
              <a:buNone/>
            </a:pPr>
            <a:r>
              <a:rPr lang="en-US" sz="700" b="1" spc="120" kern="0" dirty="0">
                <a:solidFill>
                  <a:srgbClr val="5C616B"/>
                </a:solidFill>
                <a:latin typeface="Courier New" pitchFamily="34" charset="0"/>
                <a:ea typeface="Courier New" pitchFamily="34" charset="-122"/>
                <a:cs typeface="Courier New" pitchFamily="34" charset="-120"/>
              </a:rPr>
              <a:t>FINANCIALS</a:t>
            </a:r>
            <a:endParaRPr lang="en-US" sz="700" dirty="0"/>
          </a:p>
        </p:txBody>
      </p:sp>
      <p:sp>
        <p:nvSpPr>
          <p:cNvPr id="73" name="Text 66"/>
          <p:cNvSpPr txBox="1"/>
          <p:nvPr/>
        </p:nvSpPr>
        <p:spPr>
          <a:xfrm>
            <a:off x="9555846" y="5641848"/>
            <a:ext cx="2087209" cy="402336"/>
          </a:xfrm>
          <a:prstGeom prst="rect">
            <a:avLst/>
          </a:prstGeom>
          <a:noFill/>
          <a:ln/>
        </p:spPr>
        <p:txBody>
          <a:bodyPr wrap="square" lIns="0" tIns="0" rIns="0" bIns="0" rtlCol="0" anchor="t"/>
          <a:lstStyle/>
          <a:p>
            <a:pPr indent="0" marL="0">
              <a:buNone/>
            </a:pPr>
            <a:r>
              <a:rPr lang="en-US" sz="950" dirty="0">
                <a:solidFill>
                  <a:schemeClr val="tx1"/>
                </a:solidFill>
              </a:rPr>
              <a:t>$4.99. Sales not disclosed.</a:t>
            </a:r>
            <a:endParaRPr lang="en-US" sz="950" dirty="0"/>
          </a:p>
        </p:txBody>
      </p:sp>
      <p:sp>
        <p:nvSpPr>
          <p:cNvPr id="74" name="Text 67"/>
          <p:cNvSpPr txBox="1"/>
          <p:nvPr/>
        </p:nvSpPr>
        <p:spPr>
          <a:xfrm>
            <a:off x="548640" y="6126480"/>
            <a:ext cx="11094415" cy="182880"/>
          </a:xfrm>
          <a:prstGeom prst="rect">
            <a:avLst/>
          </a:prstGeom>
          <a:noFill/>
          <a:ln/>
        </p:spPr>
        <p:txBody>
          <a:bodyPr wrap="square" lIns="0" tIns="0" rIns="0" bIns="0" rtlCol="0" anchor="t"/>
          <a:lstStyle/>
          <a:p>
            <a:pPr indent="0" marL="0">
              <a:buNone/>
            </a:pPr>
            <a:r>
              <a:rPr lang="en-US" sz="800" spc="30" kern="0" dirty="0">
                <a:solidFill>
                  <a:srgbClr val="5C616B"/>
                </a:solidFill>
                <a:latin typeface="Courier New" pitchFamily="34" charset="0"/>
                <a:ea typeface="Courier New" pitchFamily="34" charset="-122"/>
                <a:cs typeface="Courier New" pitchFamily="34" charset="-120"/>
              </a:rPr>
              <a:t>Screenshots: official Steam media, © publishers. “Owner est.” = third-party estimates via SteamDB, not sales. 2026-10-17 [7].</a:t>
            </a:r>
            <a:endParaRPr lang="en-US" sz="800" dirty="0"/>
          </a:p>
        </p:txBody>
      </p:sp>
      <p:sp>
        <p:nvSpPr>
          <p:cNvPr id="25" name="Slide Number Placeholder 0"/>
          <p:cNvSpPr>
            <a:spLocks noGrp="1"/>
          </p:cNvSpPr>
          <p:nvPr>
            <p:ph type="sldNum" sz="quarter" idx="4294967295"/>
          </p:nvPr>
        </p:nvSpPr>
        <p:spPr>
          <a:xfrm>
            <a:off x="11064240" y="384048"/>
            <a:ext cx="576072"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5C616B"/>
                </a:solidFill>
                <a:latin typeface="Courier New"/>
                <a:ea typeface="Courier New"/>
                <a:cs typeface="Courier New"/>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7"/>
          <p:cNvSpPr/>
          <p:nvPr>
            <p:ph idx="107" type="body" hasCustomPrompt="1"/>
          </p:nvPr>
        </p:nvSpPr>
        <p:spPr>
          <a:xfrm>
            <a:off x="548640" y="384048"/>
            <a:ext cx="6949440" cy="237744"/>
          </a:xfrm>
          <a:prstGeom prst="rect">
            <a:avLst/>
          </a:prstGeom>
          <a:noFill/>
          <a:ln/>
        </p:spPr>
        <p:txBody>
          <a:bodyPr wrap="square" lIns="0" tIns="0" rIns="0" bIns="0" rtlCol="0" anchor="ctr"/>
          <a:lstStyle/>
          <a:p>
            <a:pPr indent="0" marL="0">
              <a:buNone/>
            </a:pPr>
            <a:r>
              <a:rPr lang="en-US" sz="950" b="1" spc="150" kern="0" dirty="0">
                <a:solidFill>
                  <a:schemeClr val="accent1"/>
                </a:solidFill>
                <a:latin typeface="Courier New" pitchFamily="34" charset="0"/>
                <a:ea typeface="Courier New" pitchFamily="34" charset="-122"/>
                <a:cs typeface="Courier New" pitchFamily="34" charset="-120"/>
              </a:rPr>
              <a:t>09 — MARKET</a:t>
            </a:r>
            <a:endParaRPr lang="en-US" sz="950" dirty="0"/>
          </a:p>
        </p:txBody>
      </p:sp>
      <p:sp>
        <p:nvSpPr>
          <p:cNvPr id="3" name="Text 7"/>
          <p:cNvSpPr/>
          <p:nvPr>
            <p:ph idx="108"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Where we sit among them</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4415" cy="914400"/>
        </p:xfrm>
        <a:graphic>
          <a:graphicData uri="http://schemas.openxmlformats.org/drawingml/2006/table">
            <a:tbl>
              <a:tblPr/>
              <a:tblGrid>
                <a:gridCol w="3136392"/>
                <a:gridCol w="1325880"/>
                <a:gridCol w="1325880"/>
                <a:gridCol w="1325880"/>
                <a:gridCol w="1325880"/>
                <a:gridCol w="1325880"/>
                <a:gridCol w="1325880"/>
              </a:tblGrid>
              <a:tr h="384048">
                <a:tc>
                  <a:txBody>
                    <a:bodyPr/>
                    <a:lstStyle/>
                    <a:p>
                      <a:pPr indent="0" marL="0">
                        <a:buNone/>
                      </a:pPr>
                      <a:endParaRPr lang="en-US" sz="1200" dirty="0">
                        <a:latin typeface="Calibri" charset="0"/>
                        <a:ea typeface="Calibri" charset="0"/>
                        <a:cs typeface="Calibri" charset="0"/>
                      </a:endParaRPr>
                    </a:p>
                  </a:txBody>
                  <a:tcPr marL="109728" marR="109728" marT="36576" marB="36576">
                    <a:lnL w="0" cap="flat" cmpd="sng" algn="ctr">
                      <a:noFill/>
                    </a:lnL>
                    <a:lnR w="0" cap="flat" cmpd="sng" algn="ctr">
                      <a:noFill/>
                    </a:lnR>
                    <a:lnT w="0" cap="flat" cmpd="sng" algn="ctr">
                      <a:noFill/>
                    </a:lnT>
                    <a:lnB w="12700" cap="flat" cmpd="sng" algn="ctr">
                      <a:solidFill>
                        <a:srgbClr val="14161B"/>
                      </a:solidFill>
                      <a:prstDash val="solid"/>
                      <a:round/>
                      <a:headEnd type="none" w="med" len="med"/>
                      <a:tailEnd type="none" w="med" len="med"/>
                    </a:lnB>
                    <a:solidFill>
                      <a:srgbClr val="F2EFE9"/>
                    </a:solidFill>
                  </a:tcPr>
                </a:tc>
                <a:tc>
                  <a:txBody>
                    <a:bodyPr/>
                    <a:lstStyle/>
                    <a:p>
                      <a:pPr algn="ctr" indent="0" marL="0">
                        <a:buNone/>
                      </a:pPr>
                      <a:r>
                        <a:rPr lang="en-US" sz="850" b="1" dirty="0">
                          <a:solidFill>
                            <a:srgbClr val="5C616B"/>
                          </a:solidFill>
                          <a:latin typeface="Courier New" pitchFamily="34" charset="0"/>
                          <a:ea typeface="Courier New" pitchFamily="34" charset="-122"/>
                          <a:cs typeface="Courier New" pitchFamily="34" charset="-120"/>
                        </a:rPr>
                        <a:t>PARTY ANIMALS</a:t>
                      </a:r>
                      <a:endParaRPr lang="en-US" sz="850" dirty="0">
                        <a:latin typeface="Courier New" charset="0"/>
                        <a:ea typeface="Courier New" charset="0"/>
                        <a:cs typeface="Courier New" charset="0"/>
                      </a:endParaRPr>
                    </a:p>
                  </a:txBody>
                  <a:tcPr marL="109728" marR="109728" marT="36576" marB="36576" anchor="b">
                    <a:lnL w="0" cap="flat" cmpd="sng" algn="ctr">
                      <a:noFill/>
                    </a:lnL>
                    <a:lnR w="0" cap="flat" cmpd="sng" algn="ctr">
                      <a:noFill/>
                    </a:lnR>
                    <a:lnT w="0" cap="flat" cmpd="sng" algn="ctr">
                      <a:noFill/>
                    </a:lnT>
                    <a:lnB w="12700" cap="flat" cmpd="sng" algn="ctr">
                      <a:solidFill>
                        <a:srgbClr val="14161B"/>
                      </a:solidFill>
                      <a:prstDash val="solid"/>
                      <a:round/>
                      <a:headEnd type="none" w="med" len="med"/>
                      <a:tailEnd type="none" w="med" len="med"/>
                    </a:lnB>
                    <a:solidFill>
                      <a:srgbClr val="F2EFE9"/>
                    </a:solidFill>
                  </a:tcPr>
                </a:tc>
                <a:tc>
                  <a:txBody>
                    <a:bodyPr/>
                    <a:lstStyle/>
                    <a:p>
                      <a:pPr algn="ctr" indent="0" marL="0">
                        <a:buNone/>
                      </a:pPr>
                      <a:r>
                        <a:rPr lang="en-US" sz="850" b="1" dirty="0">
                          <a:solidFill>
                            <a:srgbClr val="5C616B"/>
                          </a:solidFill>
                          <a:latin typeface="Courier New" pitchFamily="34" charset="0"/>
                          <a:ea typeface="Courier New" pitchFamily="34" charset="-122"/>
                          <a:cs typeface="Courier New" pitchFamily="34" charset="-120"/>
                        </a:rPr>
                        <a:t>GANG BEASTS</a:t>
                      </a:r>
                      <a:endParaRPr lang="en-US" sz="850" dirty="0">
                        <a:latin typeface="Courier New" charset="0"/>
                        <a:ea typeface="Courier New" charset="0"/>
                        <a:cs typeface="Courier New" charset="0"/>
                      </a:endParaRPr>
                    </a:p>
                  </a:txBody>
                  <a:tcPr marL="109728" marR="109728" marT="36576" marB="36576" anchor="b">
                    <a:lnL w="0" cap="flat" cmpd="sng" algn="ctr">
                      <a:noFill/>
                    </a:lnL>
                    <a:lnR w="0" cap="flat" cmpd="sng" algn="ctr">
                      <a:noFill/>
                    </a:lnR>
                    <a:lnT w="0" cap="flat" cmpd="sng" algn="ctr">
                      <a:noFill/>
                    </a:lnT>
                    <a:lnB w="12700" cap="flat" cmpd="sng" algn="ctr">
                      <a:solidFill>
                        <a:srgbClr val="14161B"/>
                      </a:solidFill>
                      <a:prstDash val="solid"/>
                      <a:round/>
                      <a:headEnd type="none" w="med" len="med"/>
                      <a:tailEnd type="none" w="med" len="med"/>
                    </a:lnB>
                    <a:solidFill>
                      <a:srgbClr val="F2EFE9"/>
                    </a:solidFill>
                  </a:tcPr>
                </a:tc>
                <a:tc>
                  <a:txBody>
                    <a:bodyPr/>
                    <a:lstStyle/>
                    <a:p>
                      <a:pPr algn="ctr" indent="0" marL="0">
                        <a:buNone/>
                      </a:pPr>
                      <a:r>
                        <a:rPr lang="en-US" sz="850" b="1" dirty="0">
                          <a:solidFill>
                            <a:srgbClr val="5C616B"/>
                          </a:solidFill>
                          <a:latin typeface="Courier New" pitchFamily="34" charset="0"/>
                          <a:ea typeface="Courier New" pitchFamily="34" charset="-122"/>
                          <a:cs typeface="Courier New" pitchFamily="34" charset="-120"/>
                        </a:rPr>
                        <a:t>FALL GUYS</a:t>
                      </a:r>
                      <a:endParaRPr lang="en-US" sz="850" dirty="0">
                        <a:latin typeface="Courier New" charset="0"/>
                        <a:ea typeface="Courier New" charset="0"/>
                        <a:cs typeface="Courier New" charset="0"/>
                      </a:endParaRPr>
                    </a:p>
                  </a:txBody>
                  <a:tcPr marL="109728" marR="109728" marT="36576" marB="36576" anchor="b">
                    <a:lnL w="0" cap="flat" cmpd="sng" algn="ctr">
                      <a:noFill/>
                    </a:lnL>
                    <a:lnR w="0" cap="flat" cmpd="sng" algn="ctr">
                      <a:noFill/>
                    </a:lnR>
                    <a:lnT w="0" cap="flat" cmpd="sng" algn="ctr">
                      <a:noFill/>
                    </a:lnT>
                    <a:lnB w="12700" cap="flat" cmpd="sng" algn="ctr">
                      <a:solidFill>
                        <a:srgbClr val="14161B"/>
                      </a:solidFill>
                      <a:prstDash val="solid"/>
                      <a:round/>
                      <a:headEnd type="none" w="med" len="med"/>
                      <a:tailEnd type="none" w="med" len="med"/>
                    </a:lnB>
                    <a:solidFill>
                      <a:srgbClr val="F2EFE9"/>
                    </a:solidFill>
                  </a:tcPr>
                </a:tc>
                <a:tc>
                  <a:txBody>
                    <a:bodyPr/>
                    <a:lstStyle/>
                    <a:p>
                      <a:pPr algn="ctr" indent="0" marL="0">
                        <a:buNone/>
                      </a:pPr>
                      <a:r>
                        <a:rPr lang="en-US" sz="850" b="1" dirty="0">
                          <a:solidFill>
                            <a:srgbClr val="5C616B"/>
                          </a:solidFill>
                          <a:latin typeface="Courier New" pitchFamily="34" charset="0"/>
                          <a:ea typeface="Courier New" pitchFamily="34" charset="-122"/>
                          <a:cs typeface="Courier New" pitchFamily="34" charset="-120"/>
                        </a:rPr>
                        <a:t>PUMMEL PARTY</a:t>
                      </a:r>
                      <a:endParaRPr lang="en-US" sz="850" dirty="0">
                        <a:latin typeface="Courier New" charset="0"/>
                        <a:ea typeface="Courier New" charset="0"/>
                        <a:cs typeface="Courier New" charset="0"/>
                      </a:endParaRPr>
                    </a:p>
                  </a:txBody>
                  <a:tcPr marL="109728" marR="109728" marT="36576" marB="36576" anchor="b">
                    <a:lnL w="0" cap="flat" cmpd="sng" algn="ctr">
                      <a:noFill/>
                    </a:lnL>
                    <a:lnR w="0" cap="flat" cmpd="sng" algn="ctr">
                      <a:noFill/>
                    </a:lnR>
                    <a:lnT w="0" cap="flat" cmpd="sng" algn="ctr">
                      <a:noFill/>
                    </a:lnT>
                    <a:lnB w="12700" cap="flat" cmpd="sng" algn="ctr">
                      <a:solidFill>
                        <a:srgbClr val="14161B"/>
                      </a:solidFill>
                      <a:prstDash val="solid"/>
                      <a:round/>
                      <a:headEnd type="none" w="med" len="med"/>
                      <a:tailEnd type="none" w="med" len="med"/>
                    </a:lnB>
                    <a:solidFill>
                      <a:srgbClr val="F2EFE9"/>
                    </a:solidFill>
                  </a:tcPr>
                </a:tc>
                <a:tc>
                  <a:txBody>
                    <a:bodyPr/>
                    <a:lstStyle/>
                    <a:p>
                      <a:pPr algn="ctr" indent="0" marL="0">
                        <a:buNone/>
                      </a:pPr>
                      <a:r>
                        <a:rPr lang="en-US" sz="850" b="1" dirty="0">
                          <a:solidFill>
                            <a:srgbClr val="5C616B"/>
                          </a:solidFill>
                          <a:latin typeface="Courier New" pitchFamily="34" charset="0"/>
                          <a:ea typeface="Courier New" pitchFamily="34" charset="-122"/>
                          <a:cs typeface="Courier New" pitchFamily="34" charset="-120"/>
                        </a:rPr>
                        <a:t>SQUARENA</a:t>
                      </a:r>
                      <a:endParaRPr lang="en-US" sz="850" dirty="0">
                        <a:latin typeface="Courier New" charset="0"/>
                        <a:ea typeface="Courier New" charset="0"/>
                        <a:cs typeface="Courier New" charset="0"/>
                      </a:endParaRPr>
                    </a:p>
                  </a:txBody>
                  <a:tcPr marL="109728" marR="109728" marT="36576" marB="36576" anchor="b">
                    <a:lnL w="0" cap="flat" cmpd="sng" algn="ctr">
                      <a:noFill/>
                    </a:lnL>
                    <a:lnR w="0" cap="flat" cmpd="sng" algn="ctr">
                      <a:noFill/>
                    </a:lnR>
                    <a:lnT w="0" cap="flat" cmpd="sng" algn="ctr">
                      <a:noFill/>
                    </a:lnT>
                    <a:lnB w="12700" cap="flat" cmpd="sng" algn="ctr">
                      <a:solidFill>
                        <a:srgbClr val="14161B"/>
                      </a:solidFill>
                      <a:prstDash val="solid"/>
                      <a:round/>
                      <a:headEnd type="none" w="med" len="med"/>
                      <a:tailEnd type="none" w="med" len="med"/>
                    </a:lnB>
                    <a:solidFill>
                      <a:srgbClr val="F2EFE9"/>
                    </a:solidFill>
                  </a:tcPr>
                </a:tc>
                <a:tc>
                  <a:txBody>
                    <a:bodyPr/>
                    <a:lstStyle/>
                    <a:p>
                      <a:pPr algn="ctr" indent="0" marL="0">
                        <a:buNone/>
                      </a:pPr>
                      <a:r>
                        <a:rPr lang="en-US" sz="850" b="1" dirty="0">
                          <a:solidFill>
                            <a:schemeClr val="accent1"/>
                          </a:solidFill>
                          <a:latin typeface="Courier New" pitchFamily="34" charset="0"/>
                          <a:ea typeface="Courier New" pitchFamily="34" charset="-122"/>
                          <a:cs typeface="Courier New" pitchFamily="34" charset="-120"/>
                        </a:rPr>
                        <a:t>ICE RUMBLE</a:t>
                      </a:r>
                      <a:endParaRPr lang="en-US" sz="850" dirty="0">
                        <a:latin typeface="Courier New" charset="0"/>
                        <a:ea typeface="Courier New" charset="0"/>
                        <a:cs typeface="Courier New" charset="0"/>
                      </a:endParaRPr>
                    </a:p>
                  </a:txBody>
                  <a:tcPr marL="109728" marR="109728" marT="36576" marB="36576" anchor="b">
                    <a:lnL w="0" cap="flat" cmpd="sng" algn="ctr">
                      <a:noFill/>
                    </a:lnL>
                    <a:lnR w="0" cap="flat" cmpd="sng" algn="ctr">
                      <a:noFill/>
                    </a:lnR>
                    <a:lnT w="0" cap="flat" cmpd="sng" algn="ctr">
                      <a:noFill/>
                    </a:lnT>
                    <a:lnB w="12700" cap="flat" cmpd="sng" algn="ctr">
                      <a:solidFill>
                        <a:srgbClr val="14161B"/>
                      </a:solidFill>
                      <a:prstDash val="solid"/>
                      <a:round/>
                      <a:headEnd type="none" w="med" len="med"/>
                      <a:tailEnd type="none" w="med" len="med"/>
                    </a:lnB>
                    <a:solidFill>
                      <a:srgbClr val="14161B"/>
                    </a:solidFill>
                  </a:tcPr>
                </a:tc>
              </a:tr>
              <a:tr h="457200">
                <a:tc>
                  <a:txBody>
                    <a:bodyPr/>
                    <a:lstStyle/>
                    <a:p>
                      <a:pPr indent="0" marL="0">
                        <a:buNone/>
                      </a:pPr>
                      <a:r>
                        <a:rPr lang="en-US" sz="1200" b="1" dirty="0">
                          <a:solidFill>
                            <a:srgbClr val="14161B"/>
                          </a:solidFill>
                          <a:latin typeface="Calibri" pitchFamily="34" charset="0"/>
                          <a:ea typeface="Calibri" pitchFamily="34" charset="-122"/>
                          <a:cs typeface="Calibri" pitchFamily="34" charset="-120"/>
                        </a:rPr>
                        <a:t>3D characters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4161B"/>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4161B"/>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4161B"/>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4161B"/>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7A39A"/>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3A3F4A"/>
                      </a:solidFill>
                      <a:prstDash val="solid"/>
                      <a:round/>
                      <a:headEnd type="none" w="med" len="med"/>
                      <a:tailEnd type="none" w="med" len="med"/>
                    </a:lnB>
                    <a:solidFill>
                      <a:srgbClr val="14161B"/>
                    </a:solidFill>
                  </a:tcPr>
                </a:tc>
              </a:tr>
              <a:tr h="457200">
                <a:tc>
                  <a:txBody>
                    <a:bodyPr/>
                    <a:lstStyle/>
                    <a:p>
                      <a:pPr indent="0" marL="0">
                        <a:buNone/>
                      </a:pPr>
                      <a:r>
                        <a:rPr lang="en-US" sz="1200" b="1" dirty="0">
                          <a:solidFill>
                            <a:srgbClr val="14161B"/>
                          </a:solidFill>
                          <a:latin typeface="Calibri" pitchFamily="34" charset="0"/>
                          <a:ea typeface="Calibri" pitchFamily="34" charset="-122"/>
                          <a:cs typeface="Calibri" pitchFamily="34" charset="-120"/>
                        </a:rPr>
                        <a:t>Ranged attacks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C616B"/>
                          </a:solidFill>
                          <a:latin typeface="Calibri" pitchFamily="34" charset="0"/>
                          <a:ea typeface="Calibri" pitchFamily="34" charset="-122"/>
                          <a:cs typeface="Calibri" pitchFamily="34" charset="-120"/>
                        </a:rPr>
                        <a:t>Partly</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7A39A"/>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7A39A"/>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C616B"/>
                          </a:solidFill>
                          <a:latin typeface="Calibri" pitchFamily="34" charset="0"/>
                          <a:ea typeface="Calibri" pitchFamily="34" charset="-122"/>
                          <a:cs typeface="Calibri" pitchFamily="34" charset="-120"/>
                        </a:rPr>
                        <a:t>Partly</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4161B"/>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3A3F4A"/>
                      </a:solidFill>
                      <a:prstDash val="solid"/>
                      <a:round/>
                      <a:headEnd type="none" w="med" len="med"/>
                      <a:tailEnd type="none" w="med" len="med"/>
                    </a:lnB>
                    <a:solidFill>
                      <a:srgbClr val="14161B"/>
                    </a:solidFill>
                  </a:tcPr>
                </a:tc>
              </a:tr>
              <a:tr h="457200">
                <a:tc>
                  <a:txBody>
                    <a:bodyPr/>
                    <a:lstStyle/>
                    <a:p>
                      <a:pPr indent="0" marL="0">
                        <a:buNone/>
                      </a:pPr>
                      <a:r>
                        <a:rPr lang="en-US" sz="1200" b="1" dirty="0">
                          <a:solidFill>
                            <a:srgbClr val="14161B"/>
                          </a:solidFill>
                          <a:latin typeface="Calibri" pitchFamily="34" charset="0"/>
                          <a:ea typeface="Calibri" pitchFamily="34" charset="-122"/>
                          <a:cs typeface="Calibri" pitchFamily="34" charset="-120"/>
                        </a:rPr>
                        <a:t>Damage changes your body size</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7A39A"/>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7A39A"/>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7A39A"/>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7A39A"/>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4161B"/>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3A3F4A"/>
                      </a:solidFill>
                      <a:prstDash val="solid"/>
                      <a:round/>
                      <a:headEnd type="none" w="med" len="med"/>
                      <a:tailEnd type="none" w="med" len="med"/>
                    </a:lnB>
                    <a:solidFill>
                      <a:srgbClr val="14161B"/>
                    </a:solidFill>
                  </a:tcPr>
                </a:tc>
              </a:tr>
              <a:tr h="457200">
                <a:tc>
                  <a:txBody>
                    <a:bodyPr/>
                    <a:lstStyle/>
                    <a:p>
                      <a:pPr indent="0" marL="0">
                        <a:buNone/>
                      </a:pPr>
                      <a:r>
                        <a:rPr lang="en-US" sz="1200" b="1" dirty="0">
                          <a:solidFill>
                            <a:srgbClr val="14161B"/>
                          </a:solidFill>
                          <a:latin typeface="Calibri" pitchFamily="34" charset="0"/>
                          <a:ea typeface="Calibri" pitchFamily="34" charset="-122"/>
                          <a:cs typeface="Calibri" pitchFamily="34" charset="-120"/>
                        </a:rPr>
                        <a:t>Less mass, further knockback</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7A39A"/>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7A39A"/>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7A39A"/>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7A39A"/>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7A39A"/>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3A3F4A"/>
                      </a:solidFill>
                      <a:prstDash val="solid"/>
                      <a:round/>
                      <a:headEnd type="none" w="med" len="med"/>
                      <a:tailEnd type="none" w="med" len="med"/>
                    </a:lnB>
                    <a:solidFill>
                      <a:srgbClr val="14161B"/>
                    </a:solidFill>
                  </a:tcPr>
                </a:tc>
              </a:tr>
              <a:tr h="457200">
                <a:tc>
                  <a:txBody>
                    <a:bodyPr/>
                    <a:lstStyle/>
                    <a:p>
                      <a:pPr indent="0" marL="0">
                        <a:buNone/>
                      </a:pPr>
                      <a:r>
                        <a:rPr lang="en-US" sz="1200" b="1" dirty="0">
                          <a:solidFill>
                            <a:srgbClr val="14161B"/>
                          </a:solidFill>
                          <a:latin typeface="Calibri" pitchFamily="34" charset="0"/>
                          <a:ea typeface="Calibri" pitchFamily="34" charset="-122"/>
                          <a:cs typeface="Calibri" pitchFamily="34" charset="-120"/>
                        </a:rPr>
                        <a:t>Several mini-games, one result</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7A39A"/>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7A39A"/>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C616B"/>
                          </a:solidFill>
                          <a:latin typeface="Calibri" pitchFamily="34" charset="0"/>
                          <a:ea typeface="Calibri" pitchFamily="34" charset="-122"/>
                          <a:cs typeface="Calibri" pitchFamily="34" charset="-120"/>
                        </a:rPr>
                        <a:t>Partly</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4161B"/>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7A39A"/>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3A3F4A"/>
                      </a:solidFill>
                      <a:prstDash val="solid"/>
                      <a:round/>
                      <a:headEnd type="none" w="med" len="med"/>
                      <a:tailEnd type="none" w="med" len="med"/>
                    </a:lnB>
                    <a:solidFill>
                      <a:srgbClr val="14161B"/>
                    </a:solidFill>
                  </a:tcPr>
                </a:tc>
              </a:tr>
              <a:tr h="457200">
                <a:tc>
                  <a:txBody>
                    <a:bodyPr/>
                    <a:lstStyle/>
                    <a:p>
                      <a:pPr indent="0" marL="0">
                        <a:buNone/>
                      </a:pPr>
                      <a:r>
                        <a:rPr lang="en-US" sz="1200" b="1" dirty="0">
                          <a:solidFill>
                            <a:srgbClr val="14161B"/>
                          </a:solidFill>
                          <a:latin typeface="Calibri" pitchFamily="34" charset="0"/>
                          <a:ea typeface="Calibri" pitchFamily="34" charset="-122"/>
                          <a:cs typeface="Calibri" pitchFamily="34" charset="-120"/>
                        </a:rPr>
                        <a:t>Official LAN play</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7A39A"/>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7A39A"/>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7A39A"/>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7A39A"/>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7A39A"/>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3A3F4A"/>
                      </a:solidFill>
                      <a:prstDash val="solid"/>
                      <a:round/>
                      <a:headEnd type="none" w="med" len="med"/>
                      <a:tailEnd type="none" w="med" len="med"/>
                    </a:lnB>
                    <a:solidFill>
                      <a:srgbClr val="14161B"/>
                    </a:solidFill>
                  </a:tcPr>
                </a:tc>
              </a:tr>
              <a:tr h="457200">
                <a:tc>
                  <a:txBody>
                    <a:bodyPr/>
                    <a:lstStyle/>
                    <a:p>
                      <a:pPr indent="0" marL="0">
                        <a:buNone/>
                      </a:pPr>
                      <a:r>
                        <a:rPr lang="en-US" sz="1200" b="1" dirty="0">
                          <a:solidFill>
                            <a:srgbClr val="14161B"/>
                          </a:solidFill>
                          <a:latin typeface="Calibri" pitchFamily="34" charset="0"/>
                          <a:ea typeface="Calibri" pitchFamily="34" charset="-122"/>
                          <a:cs typeface="Calibri" pitchFamily="34" charset="-120"/>
                        </a:rPr>
                        <a:t>Plays with no internet</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7A39A"/>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4161B"/>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7A39A"/>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4161B"/>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4161B"/>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8D3C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3A3F4A"/>
                      </a:solidFill>
                      <a:prstDash val="solid"/>
                      <a:round/>
                      <a:headEnd type="none" w="med" len="med"/>
                      <a:tailEnd type="none" w="med" len="med"/>
                    </a:lnB>
                    <a:solidFill>
                      <a:srgbClr val="14161B"/>
                    </a:solidFill>
                  </a:tcPr>
                </a:tc>
              </a:tr>
            </a:tbl>
          </a:graphicData>
        </a:graphic>
      </p:graphicFrame>
      <p:sp>
        <p:nvSpPr>
          <p:cNvPr id="5" name="Text 2"/>
          <p:cNvSpPr txBox="1"/>
          <p:nvPr/>
        </p:nvSpPr>
        <p:spPr>
          <a:xfrm>
            <a:off x="548640" y="5596128"/>
            <a:ext cx="11094415" cy="457200"/>
          </a:xfrm>
          <a:prstGeom prst="rect">
            <a:avLst/>
          </a:prstGeom>
          <a:noFill/>
          <a:ln/>
        </p:spPr>
        <p:txBody>
          <a:bodyPr wrap="square" lIns="0" tIns="0" rIns="0" bIns="0" rtlCol="0" anchor="t"/>
          <a:lstStyle/>
          <a:p>
            <a:pPr indent="0" marL="0">
              <a:buNone/>
            </a:pPr>
            <a:r>
              <a:rPr lang="en-US" sz="800" spc="30" kern="0" dirty="0">
                <a:solidFill>
                  <a:srgbClr val="5C616B"/>
                </a:solidFill>
                <a:latin typeface="Courier New" pitchFamily="34" charset="0"/>
                <a:ea typeface="Courier New" pitchFamily="34" charset="-122"/>
                <a:cs typeface="Courier New" pitchFamily="34" charset="-120"/>
              </a:rPr>
              <a:t>“Official LAN: No” = not advertised in the game’s Steam features. “Partly”: Party Animals and Pummel Party have some weapons or items; Fall Guys’ playlist eliminates rather than scores. Party Animals needs internet even on one screen [8]. Ice Rumble column = planned design.</a:t>
            </a:r>
            <a:endParaRPr lang="en-US" sz="800" dirty="0"/>
          </a:p>
        </p:txBody>
      </p:sp>
      <p:sp>
        <p:nvSpPr>
          <p:cNvPr id="25" name="Slide Number Placeholder 0"/>
          <p:cNvSpPr>
            <a:spLocks noGrp="1"/>
          </p:cNvSpPr>
          <p:nvPr>
            <p:ph type="sldNum" sz="quarter" idx="4294967295"/>
          </p:nvPr>
        </p:nvSpPr>
        <p:spPr>
          <a:xfrm>
            <a:off x="11064240" y="384048"/>
            <a:ext cx="576072"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5C616B"/>
                </a:solidFill>
                <a:latin typeface="Courier New"/>
                <a:ea typeface="Courier New"/>
                <a:cs typeface="Courier New"/>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7"/>
          <p:cNvSpPr/>
          <p:nvPr>
            <p:ph idx="107" type="body" hasCustomPrompt="1"/>
          </p:nvPr>
        </p:nvSpPr>
        <p:spPr>
          <a:xfrm>
            <a:off x="548640" y="384048"/>
            <a:ext cx="6949440" cy="237744"/>
          </a:xfrm>
          <a:prstGeom prst="rect">
            <a:avLst/>
          </a:prstGeom>
          <a:noFill/>
          <a:ln/>
        </p:spPr>
        <p:txBody>
          <a:bodyPr wrap="square" lIns="0" tIns="0" rIns="0" bIns="0" rtlCol="0" anchor="ctr"/>
          <a:lstStyle/>
          <a:p>
            <a:pPr indent="0" marL="0">
              <a:buNone/>
            </a:pPr>
            <a:r>
              <a:rPr lang="en-US" sz="950" b="1" spc="150" kern="0" dirty="0">
                <a:solidFill>
                  <a:schemeClr val="accent1"/>
                </a:solidFill>
                <a:latin typeface="Courier New" pitchFamily="34" charset="0"/>
                <a:ea typeface="Courier New" pitchFamily="34" charset="-122"/>
                <a:cs typeface="Courier New" pitchFamily="34" charset="-120"/>
              </a:rPr>
              <a:t>10 — DRAFTS &amp; PROTOTYPES</a:t>
            </a:r>
            <a:endParaRPr lang="en-US" sz="950" dirty="0"/>
          </a:p>
        </p:txBody>
      </p:sp>
      <p:sp>
        <p:nvSpPr>
          <p:cNvPr id="3" name="Text 7"/>
          <p:cNvSpPr/>
          <p:nvPr>
            <p:ph idx="108"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What we have built and drawn so far</a:t>
            </a:r>
            <a:endParaRPr lang="en-US" sz="3000" dirty="0"/>
          </a:p>
        </p:txBody>
      </p:sp>
      <p:sp>
        <p:nvSpPr>
          <p:cNvPr id="4" name="Text 2"/>
          <p:cNvSpPr txBox="1"/>
          <p:nvPr/>
        </p:nvSpPr>
        <p:spPr>
          <a:xfrm>
            <a:off x="548640" y="1828800"/>
            <a:ext cx="5486400" cy="256032"/>
          </a:xfrm>
          <a:prstGeom prst="rect">
            <a:avLst/>
          </a:prstGeom>
          <a:noFill/>
          <a:ln/>
        </p:spPr>
        <p:txBody>
          <a:bodyPr wrap="square" lIns="0" tIns="0" rIns="0" bIns="0" rtlCol="0" anchor="t"/>
          <a:lstStyle/>
          <a:p>
            <a:pPr indent="0" marL="0">
              <a:buNone/>
            </a:pPr>
            <a:r>
              <a:rPr lang="en-US" sz="900" b="1" spc="120" kern="0" dirty="0">
                <a:solidFill>
                  <a:schemeClr val="tx1"/>
                </a:solidFill>
                <a:latin typeface="Courier New" pitchFamily="34" charset="0"/>
                <a:ea typeface="Courier New" pitchFamily="34" charset="-122"/>
                <a:cs typeface="Courier New" pitchFamily="34" charset="-120"/>
              </a:rPr>
              <a:t>PHYSICS PROTOTYPE</a:t>
            </a:r>
            <a:endParaRPr lang="en-US" sz="900" dirty="0"/>
          </a:p>
        </p:txBody>
      </p:sp>
      <p:pic>
        <p:nvPicPr>
          <p:cNvPr id="5" name="Physics prototype frame 1" descr="Physics prototype frame 1">    </p:cNvPr>
          <p:cNvPicPr>
            <a:picLocks noChangeAspect="1"/>
          </p:cNvPicPr>
          <p:nvPr/>
        </p:nvPicPr>
        <p:blipFill>
          <a:blip r:embed="rId1"/>
          <a:stretch>
            <a:fillRect/>
          </a:stretch>
        </p:blipFill>
        <p:spPr>
          <a:xfrm>
            <a:off x="548640" y="2176272"/>
            <a:ext cx="2788920" cy="1572768"/>
          </a:xfrm>
          <a:prstGeom prst="rect">
            <a:avLst/>
          </a:prstGeom>
        </p:spPr>
      </p:pic>
      <p:pic>
        <p:nvPicPr>
          <p:cNvPr id="6" name="Physics prototype frame 2" descr="Physics prototype frame 2">    </p:cNvPr>
          <p:cNvPicPr>
            <a:picLocks noChangeAspect="1"/>
          </p:cNvPicPr>
          <p:nvPr/>
        </p:nvPicPr>
        <p:blipFill>
          <a:blip r:embed="rId2"/>
          <a:stretch>
            <a:fillRect/>
          </a:stretch>
        </p:blipFill>
        <p:spPr>
          <a:xfrm>
            <a:off x="3410712" y="2176272"/>
            <a:ext cx="2788920" cy="1572768"/>
          </a:xfrm>
          <a:prstGeom prst="rect">
            <a:avLst/>
          </a:prstGeom>
        </p:spPr>
      </p:pic>
      <p:pic>
        <p:nvPicPr>
          <p:cNvPr id="7" name="Physics prototype frame 3" descr="Physics prototype frame 3">    </p:cNvPr>
          <p:cNvPicPr>
            <a:picLocks noChangeAspect="1"/>
          </p:cNvPicPr>
          <p:nvPr/>
        </p:nvPicPr>
        <p:blipFill>
          <a:blip r:embed="rId3"/>
          <a:stretch>
            <a:fillRect/>
          </a:stretch>
        </p:blipFill>
        <p:spPr>
          <a:xfrm>
            <a:off x="548640" y="3822192"/>
            <a:ext cx="2788920" cy="1572768"/>
          </a:xfrm>
          <a:prstGeom prst="rect">
            <a:avLst/>
          </a:prstGeom>
        </p:spPr>
      </p:pic>
      <p:pic>
        <p:nvPicPr>
          <p:cNvPr id="8" name="Physics prototype frame 4" descr="Physics prototype frame 4">    </p:cNvPr>
          <p:cNvPicPr>
            <a:picLocks noChangeAspect="1"/>
          </p:cNvPicPr>
          <p:nvPr/>
        </p:nvPicPr>
        <p:blipFill>
          <a:blip r:embed="rId4"/>
          <a:stretch>
            <a:fillRect/>
          </a:stretch>
        </p:blipFill>
        <p:spPr>
          <a:xfrm>
            <a:off x="3410712" y="3822192"/>
            <a:ext cx="2788920" cy="1572768"/>
          </a:xfrm>
          <a:prstGeom prst="rect">
            <a:avLst/>
          </a:prstGeom>
        </p:spPr>
      </p:pic>
      <p:sp>
        <p:nvSpPr>
          <p:cNvPr id="9" name="Text 3"/>
          <p:cNvSpPr txBox="1"/>
          <p:nvPr/>
        </p:nvSpPr>
        <p:spPr>
          <a:xfrm>
            <a:off x="548640" y="5532120"/>
            <a:ext cx="5650992" cy="594360"/>
          </a:xfrm>
          <a:prstGeom prst="rect">
            <a:avLst/>
          </a:prstGeom>
          <a:noFill/>
          <a:ln/>
        </p:spPr>
        <p:txBody>
          <a:bodyPr wrap="square" lIns="0" tIns="0" rIns="0" bIns="0" rtlCol="0" anchor="t"/>
          <a:lstStyle/>
          <a:p>
            <a:pPr indent="0" marL="0">
              <a:buNone/>
            </a:pPr>
            <a:r>
              <a:rPr lang="en-US" sz="1100" b="1" dirty="0">
                <a:solidFill>
                  <a:schemeClr val="tx1"/>
                </a:solidFill>
              </a:rPr>
              <a:t>Three.js, deterministic, rendered frame by frame. </a:t>
            </a:r>
            <a:pPr indent="0" marL="0">
              <a:buNone/>
            </a:pPr>
            <a:r>
              <a:rPr lang="en-US" sz="1100" dirty="0">
                <a:solidFill>
                  <a:srgbClr val="5C616B"/>
                </a:solidFill>
              </a:rPr>
              <a:t>Three shots: the target shrinks and is pushed further each time. We used it to check that the rule reads before writing Unity code.</a:t>
            </a:r>
            <a:endParaRPr lang="en-US" sz="1100" dirty="0"/>
          </a:p>
        </p:txBody>
      </p:sp>
      <p:sp>
        <p:nvSpPr>
          <p:cNvPr id="10" name="Text 4"/>
          <p:cNvSpPr txBox="1"/>
          <p:nvPr/>
        </p:nvSpPr>
        <p:spPr>
          <a:xfrm>
            <a:off x="6629400" y="1828800"/>
            <a:ext cx="4937760" cy="256032"/>
          </a:xfrm>
          <a:prstGeom prst="rect">
            <a:avLst/>
          </a:prstGeom>
          <a:noFill/>
          <a:ln/>
        </p:spPr>
        <p:txBody>
          <a:bodyPr wrap="square" lIns="0" tIns="0" rIns="0" bIns="0" rtlCol="0" anchor="t"/>
          <a:lstStyle/>
          <a:p>
            <a:pPr indent="0" marL="0">
              <a:buNone/>
            </a:pPr>
            <a:r>
              <a:rPr lang="en-US" sz="900" b="1" spc="120" kern="0" dirty="0">
                <a:solidFill>
                  <a:schemeClr val="tx1"/>
                </a:solidFill>
                <a:latin typeface="Courier New" pitchFamily="34" charset="0"/>
                <a:ea typeface="Courier New" pitchFamily="34" charset="-122"/>
                <a:cs typeface="Courier New" pitchFamily="34" charset="-120"/>
              </a:rPr>
              <a:t>ART-DIRECTION DRAFTS</a:t>
            </a:r>
            <a:endParaRPr lang="en-US" sz="900" dirty="0"/>
          </a:p>
        </p:txBody>
      </p:sp>
      <p:pic>
        <p:nvPicPr>
          <p:cNvPr id="11" name="Art draft A  Vinyl toy" descr="Art draft A  Vinyl toy">    </p:cNvPr>
          <p:cNvPicPr>
            <a:picLocks noChangeAspect="1"/>
          </p:cNvPicPr>
          <p:nvPr/>
        </p:nvPicPr>
        <p:blipFill>
          <a:blip r:embed="rId5"/>
          <a:stretch>
            <a:fillRect/>
          </a:stretch>
        </p:blipFill>
        <p:spPr>
          <a:xfrm>
            <a:off x="6629400" y="2176272"/>
            <a:ext cx="2432304" cy="1371600"/>
          </a:xfrm>
          <a:prstGeom prst="rect">
            <a:avLst/>
          </a:prstGeom>
        </p:spPr>
      </p:pic>
      <p:sp>
        <p:nvSpPr>
          <p:cNvPr id="12" name="Text 5"/>
          <p:cNvSpPr txBox="1"/>
          <p:nvPr/>
        </p:nvSpPr>
        <p:spPr>
          <a:xfrm>
            <a:off x="6629400" y="3575304"/>
            <a:ext cx="2432304" cy="182880"/>
          </a:xfrm>
          <a:prstGeom prst="rect">
            <a:avLst/>
          </a:prstGeom>
          <a:noFill/>
          <a:ln/>
        </p:spPr>
        <p:txBody>
          <a:bodyPr wrap="square" lIns="0" tIns="0" rIns="0" bIns="0" rtlCol="0" anchor="t"/>
          <a:lstStyle/>
          <a:p>
            <a:pPr indent="0" marL="0">
              <a:buNone/>
            </a:pPr>
            <a:r>
              <a:rPr lang="en-US" sz="800" spc="30" kern="0" dirty="0">
                <a:solidFill>
                  <a:schemeClr val="tx1"/>
                </a:solidFill>
                <a:latin typeface="Courier New" pitchFamily="34" charset="0"/>
                <a:ea typeface="Courier New" pitchFamily="34" charset="-122"/>
                <a:cs typeface="Courier New" pitchFamily="34" charset="-120"/>
              </a:rPr>
              <a:t>A  VINYL TOY</a:t>
            </a:r>
            <a:endParaRPr lang="en-US" sz="800" dirty="0"/>
          </a:p>
        </p:txBody>
      </p:sp>
      <p:pic>
        <p:nvPicPr>
          <p:cNvPr id="13" name="Art draft B  Building blocks" descr="Art draft B  Building blocks">    </p:cNvPr>
          <p:cNvPicPr>
            <a:picLocks noChangeAspect="1"/>
          </p:cNvPicPr>
          <p:nvPr/>
        </p:nvPicPr>
        <p:blipFill>
          <a:blip r:embed="rId6"/>
          <a:stretch>
            <a:fillRect/>
          </a:stretch>
        </p:blipFill>
        <p:spPr>
          <a:xfrm>
            <a:off x="9153144" y="2176272"/>
            <a:ext cx="2432304" cy="1371600"/>
          </a:xfrm>
          <a:prstGeom prst="rect">
            <a:avLst/>
          </a:prstGeom>
        </p:spPr>
      </p:pic>
      <p:sp>
        <p:nvSpPr>
          <p:cNvPr id="14" name="Text 6"/>
          <p:cNvSpPr txBox="1"/>
          <p:nvPr/>
        </p:nvSpPr>
        <p:spPr>
          <a:xfrm>
            <a:off x="9153144" y="3575304"/>
            <a:ext cx="2432304" cy="182880"/>
          </a:xfrm>
          <a:prstGeom prst="rect">
            <a:avLst/>
          </a:prstGeom>
          <a:noFill/>
          <a:ln/>
        </p:spPr>
        <p:txBody>
          <a:bodyPr wrap="square" lIns="0" tIns="0" rIns="0" bIns="0" rtlCol="0" anchor="t"/>
          <a:lstStyle/>
          <a:p>
            <a:pPr indent="0" marL="0">
              <a:buNone/>
            </a:pPr>
            <a:r>
              <a:rPr lang="en-US" sz="800" spc="30" kern="0" dirty="0">
                <a:solidFill>
                  <a:schemeClr val="tx1"/>
                </a:solidFill>
                <a:latin typeface="Courier New" pitchFamily="34" charset="0"/>
                <a:ea typeface="Courier New" pitchFamily="34" charset="-122"/>
                <a:cs typeface="Courier New" pitchFamily="34" charset="-120"/>
              </a:rPr>
              <a:t>B  BUILDING BLOCKS</a:t>
            </a:r>
            <a:endParaRPr lang="en-US" sz="800" dirty="0"/>
          </a:p>
        </p:txBody>
      </p:sp>
      <p:pic>
        <p:nvPicPr>
          <p:cNvPr id="15" name="Art draft C  Tin toy" descr="Art draft C  Tin toy">    </p:cNvPr>
          <p:cNvPicPr>
            <a:picLocks noChangeAspect="1"/>
          </p:cNvPicPr>
          <p:nvPr/>
        </p:nvPicPr>
        <p:blipFill>
          <a:blip r:embed="rId7"/>
          <a:stretch>
            <a:fillRect/>
          </a:stretch>
        </p:blipFill>
        <p:spPr>
          <a:xfrm>
            <a:off x="6629400" y="3822192"/>
            <a:ext cx="2432304" cy="1371600"/>
          </a:xfrm>
          <a:prstGeom prst="rect">
            <a:avLst/>
          </a:prstGeom>
        </p:spPr>
      </p:pic>
      <p:sp>
        <p:nvSpPr>
          <p:cNvPr id="16" name="Text 7"/>
          <p:cNvSpPr txBox="1"/>
          <p:nvPr/>
        </p:nvSpPr>
        <p:spPr>
          <a:xfrm>
            <a:off x="6629400" y="5221224"/>
            <a:ext cx="2432304" cy="182880"/>
          </a:xfrm>
          <a:prstGeom prst="rect">
            <a:avLst/>
          </a:prstGeom>
          <a:noFill/>
          <a:ln/>
        </p:spPr>
        <p:txBody>
          <a:bodyPr wrap="square" lIns="0" tIns="0" rIns="0" bIns="0" rtlCol="0" anchor="t"/>
          <a:lstStyle/>
          <a:p>
            <a:pPr indent="0" marL="0">
              <a:buNone/>
            </a:pPr>
            <a:r>
              <a:rPr lang="en-US" sz="800" spc="30" kern="0" dirty="0">
                <a:solidFill>
                  <a:schemeClr val="tx1"/>
                </a:solidFill>
                <a:latin typeface="Courier New" pitchFamily="34" charset="0"/>
                <a:ea typeface="Courier New" pitchFamily="34" charset="-122"/>
                <a:cs typeface="Courier New" pitchFamily="34" charset="-120"/>
              </a:rPr>
              <a:t>C  TIN TOY</a:t>
            </a:r>
            <a:endParaRPr lang="en-US" sz="800" dirty="0"/>
          </a:p>
        </p:txBody>
      </p:sp>
      <p:pic>
        <p:nvPicPr>
          <p:cNvPr id="17" name="Art draft D  Jelly" descr="Art draft D  Jelly">    </p:cNvPr>
          <p:cNvPicPr>
            <a:picLocks noChangeAspect="1"/>
          </p:cNvPicPr>
          <p:nvPr/>
        </p:nvPicPr>
        <p:blipFill>
          <a:blip r:embed="rId8"/>
          <a:stretch>
            <a:fillRect/>
          </a:stretch>
        </p:blipFill>
        <p:spPr>
          <a:xfrm>
            <a:off x="9153144" y="3822192"/>
            <a:ext cx="2432304" cy="1371600"/>
          </a:xfrm>
          <a:prstGeom prst="rect">
            <a:avLst/>
          </a:prstGeom>
        </p:spPr>
      </p:pic>
      <p:sp>
        <p:nvSpPr>
          <p:cNvPr id="18" name="Text 8"/>
          <p:cNvSpPr txBox="1"/>
          <p:nvPr/>
        </p:nvSpPr>
        <p:spPr>
          <a:xfrm>
            <a:off x="9153144" y="5221224"/>
            <a:ext cx="2432304" cy="182880"/>
          </a:xfrm>
          <a:prstGeom prst="rect">
            <a:avLst/>
          </a:prstGeom>
          <a:noFill/>
          <a:ln/>
        </p:spPr>
        <p:txBody>
          <a:bodyPr wrap="square" lIns="0" tIns="0" rIns="0" bIns="0" rtlCol="0" anchor="t"/>
          <a:lstStyle/>
          <a:p>
            <a:pPr indent="0" marL="0">
              <a:buNone/>
            </a:pPr>
            <a:r>
              <a:rPr lang="en-US" sz="800" spc="30" kern="0" dirty="0">
                <a:solidFill>
                  <a:schemeClr val="tx1"/>
                </a:solidFill>
                <a:latin typeface="Courier New" pitchFamily="34" charset="0"/>
                <a:ea typeface="Courier New" pitchFamily="34" charset="-122"/>
                <a:cs typeface="Courier New" pitchFamily="34" charset="-120"/>
              </a:rPr>
              <a:t>D  JELLY</a:t>
            </a:r>
            <a:endParaRPr lang="en-US" sz="800" dirty="0"/>
          </a:p>
        </p:txBody>
      </p:sp>
      <p:sp>
        <p:nvSpPr>
          <p:cNvPr id="19" name="Text 9"/>
          <p:cNvSpPr txBox="1"/>
          <p:nvPr/>
        </p:nvSpPr>
        <p:spPr>
          <a:xfrm>
            <a:off x="6629400" y="5532120"/>
            <a:ext cx="5010912" cy="594360"/>
          </a:xfrm>
          <a:prstGeom prst="rect">
            <a:avLst/>
          </a:prstGeom>
          <a:noFill/>
          <a:ln/>
        </p:spPr>
        <p:txBody>
          <a:bodyPr wrap="square" lIns="0" tIns="0" rIns="0" bIns="0" rtlCol="0" anchor="t"/>
          <a:lstStyle/>
          <a:p>
            <a:pPr indent="0" marL="0">
              <a:buNone/>
            </a:pPr>
            <a:r>
              <a:rPr lang="en-US" sz="1100" b="1" dirty="0">
                <a:solidFill>
                  <a:schemeClr val="tx1"/>
                </a:solidFill>
              </a:rPr>
              <a:t>Four looks for the same cube, generated to choose a direction. </a:t>
            </a:r>
            <a:pPr indent="0" marL="0">
              <a:buNone/>
            </a:pPr>
            <a:r>
              <a:rPr lang="en-US" sz="1100" dirty="0">
                <a:solidFill>
                  <a:srgbClr val="5C616B"/>
                </a:solidFill>
              </a:rPr>
              <a:t>Slides 1–8 use the glossy-toy direction. All AI-generated; none is gameplay.</a:t>
            </a:r>
            <a:endParaRPr lang="en-US" sz="1100" dirty="0"/>
          </a:p>
        </p:txBody>
      </p:sp>
      <p:sp>
        <p:nvSpPr>
          <p:cNvPr id="25" name="Slide Number Placeholder 0"/>
          <p:cNvSpPr>
            <a:spLocks noGrp="1"/>
          </p:cNvSpPr>
          <p:nvPr>
            <p:ph type="sldNum" sz="quarter" idx="4294967295"/>
          </p:nvPr>
        </p:nvSpPr>
        <p:spPr>
          <a:xfrm>
            <a:off x="11064240" y="384048"/>
            <a:ext cx="576072"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5C616B"/>
                </a:solidFill>
                <a:latin typeface="Courier New"/>
                <a:ea typeface="Courier New"/>
                <a:cs typeface="Courier New"/>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7"/>
          <p:cNvSpPr/>
          <p:nvPr>
            <p:ph idx="107" type="body" hasCustomPrompt="1"/>
          </p:nvPr>
        </p:nvSpPr>
        <p:spPr>
          <a:xfrm>
            <a:off x="548640" y="384048"/>
            <a:ext cx="6949440" cy="237744"/>
          </a:xfrm>
          <a:prstGeom prst="rect">
            <a:avLst/>
          </a:prstGeom>
          <a:noFill/>
          <a:ln/>
        </p:spPr>
        <p:txBody>
          <a:bodyPr wrap="square" lIns="0" tIns="0" rIns="0" bIns="0" rtlCol="0" anchor="ctr"/>
          <a:lstStyle/>
          <a:p>
            <a:pPr indent="0" marL="0">
              <a:buNone/>
            </a:pPr>
            <a:r>
              <a:rPr lang="en-US" sz="950" b="1" spc="150" kern="0" dirty="0">
                <a:solidFill>
                  <a:schemeClr val="accent1"/>
                </a:solidFill>
                <a:latin typeface="Courier New" pitchFamily="34" charset="0"/>
                <a:ea typeface="Courier New" pitchFamily="34" charset="-122"/>
                <a:cs typeface="Courier New" pitchFamily="34" charset="-120"/>
              </a:rPr>
              <a:t>11 — DEVELOPMENT PLAN</a:t>
            </a:r>
            <a:endParaRPr lang="en-US" sz="950" dirty="0"/>
          </a:p>
        </p:txBody>
      </p:sp>
      <p:sp>
        <p:nvSpPr>
          <p:cNvPr id="3" name="Text 7"/>
          <p:cNvSpPr/>
          <p:nvPr>
            <p:ph idx="108"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Build order: shared core first, then each mini-game</a:t>
            </a:r>
            <a:endParaRPr lang="en-US" sz="3000" dirty="0"/>
          </a:p>
        </p:txBody>
      </p:sp>
      <p:sp>
        <p:nvSpPr>
          <p:cNvPr id="4" name="Shape 2"/>
          <p:cNvSpPr/>
          <p:nvPr/>
        </p:nvSpPr>
        <p:spPr>
          <a:xfrm>
            <a:off x="5166360" y="2011680"/>
            <a:ext cx="0" cy="2880360"/>
          </a:xfrm>
          <a:prstGeom prst="line">
            <a:avLst/>
          </a:prstGeom>
          <a:noFill/>
          <a:ln w="9525">
            <a:solidFill>
              <a:srgbClr val="D8D3C8"/>
            </a:solidFill>
            <a:prstDash val="dash"/>
          </a:ln>
        </p:spPr>
      </p:sp>
      <p:sp>
        <p:nvSpPr>
          <p:cNvPr id="5" name="Text 3"/>
          <p:cNvSpPr txBox="1"/>
          <p:nvPr/>
        </p:nvSpPr>
        <p:spPr>
          <a:xfrm>
            <a:off x="5239512" y="1783080"/>
            <a:ext cx="1527734" cy="201168"/>
          </a:xfrm>
          <a:prstGeom prst="rect">
            <a:avLst/>
          </a:prstGeom>
          <a:noFill/>
          <a:ln/>
        </p:spPr>
        <p:txBody>
          <a:bodyPr wrap="square" lIns="0" tIns="0" rIns="0" bIns="0" rtlCol="0" anchor="t"/>
          <a:lstStyle/>
          <a:p>
            <a:pPr indent="0" marL="0">
              <a:buNone/>
            </a:pPr>
            <a:r>
              <a:rPr lang="en-US" sz="800" spc="120" kern="0" dirty="0">
                <a:solidFill>
                  <a:srgbClr val="5C616B"/>
                </a:solidFill>
                <a:latin typeface="Courier New" pitchFamily="34" charset="0"/>
                <a:ea typeface="Courier New" pitchFamily="34" charset="-122"/>
                <a:cs typeface="Courier New" pitchFamily="34" charset="-120"/>
              </a:rPr>
              <a:t>M1 · DATE TBD</a:t>
            </a:r>
            <a:endParaRPr lang="en-US" sz="800" dirty="0"/>
          </a:p>
        </p:txBody>
      </p:sp>
      <p:sp>
        <p:nvSpPr>
          <p:cNvPr id="6" name="Shape 4"/>
          <p:cNvSpPr/>
          <p:nvPr/>
        </p:nvSpPr>
        <p:spPr>
          <a:xfrm>
            <a:off x="6785534" y="2011680"/>
            <a:ext cx="0" cy="2880360"/>
          </a:xfrm>
          <a:prstGeom prst="line">
            <a:avLst/>
          </a:prstGeom>
          <a:noFill/>
          <a:ln w="9525">
            <a:solidFill>
              <a:srgbClr val="D8D3C8"/>
            </a:solidFill>
            <a:prstDash val="dash"/>
          </a:ln>
        </p:spPr>
      </p:sp>
      <p:sp>
        <p:nvSpPr>
          <p:cNvPr id="7" name="Text 5"/>
          <p:cNvSpPr txBox="1"/>
          <p:nvPr/>
        </p:nvSpPr>
        <p:spPr>
          <a:xfrm>
            <a:off x="6858686" y="1783080"/>
            <a:ext cx="1527734" cy="201168"/>
          </a:xfrm>
          <a:prstGeom prst="rect">
            <a:avLst/>
          </a:prstGeom>
          <a:noFill/>
          <a:ln/>
        </p:spPr>
        <p:txBody>
          <a:bodyPr wrap="square" lIns="0" tIns="0" rIns="0" bIns="0" rtlCol="0" anchor="t"/>
          <a:lstStyle/>
          <a:p>
            <a:pPr indent="0" marL="0">
              <a:buNone/>
            </a:pPr>
            <a:r>
              <a:rPr lang="en-US" sz="800" spc="120" kern="0" dirty="0">
                <a:solidFill>
                  <a:srgbClr val="5C616B"/>
                </a:solidFill>
                <a:latin typeface="Courier New" pitchFamily="34" charset="0"/>
                <a:ea typeface="Courier New" pitchFamily="34" charset="-122"/>
                <a:cs typeface="Courier New" pitchFamily="34" charset="-120"/>
              </a:rPr>
              <a:t>M2 · DATE TBD</a:t>
            </a:r>
            <a:endParaRPr lang="en-US" sz="800" dirty="0"/>
          </a:p>
        </p:txBody>
      </p:sp>
      <p:sp>
        <p:nvSpPr>
          <p:cNvPr id="8" name="Shape 6"/>
          <p:cNvSpPr/>
          <p:nvPr/>
        </p:nvSpPr>
        <p:spPr>
          <a:xfrm>
            <a:off x="8404708" y="2011680"/>
            <a:ext cx="0" cy="2880360"/>
          </a:xfrm>
          <a:prstGeom prst="line">
            <a:avLst/>
          </a:prstGeom>
          <a:noFill/>
          <a:ln w="9525">
            <a:solidFill>
              <a:srgbClr val="D8D3C8"/>
            </a:solidFill>
            <a:prstDash val="dash"/>
          </a:ln>
        </p:spPr>
      </p:sp>
      <p:sp>
        <p:nvSpPr>
          <p:cNvPr id="9" name="Text 7"/>
          <p:cNvSpPr txBox="1"/>
          <p:nvPr/>
        </p:nvSpPr>
        <p:spPr>
          <a:xfrm>
            <a:off x="8477860" y="1783080"/>
            <a:ext cx="1527734" cy="201168"/>
          </a:xfrm>
          <a:prstGeom prst="rect">
            <a:avLst/>
          </a:prstGeom>
          <a:noFill/>
          <a:ln/>
        </p:spPr>
        <p:txBody>
          <a:bodyPr wrap="square" lIns="0" tIns="0" rIns="0" bIns="0" rtlCol="0" anchor="t"/>
          <a:lstStyle/>
          <a:p>
            <a:pPr indent="0" marL="0">
              <a:buNone/>
            </a:pPr>
            <a:r>
              <a:rPr lang="en-US" sz="800" spc="120" kern="0" dirty="0">
                <a:solidFill>
                  <a:srgbClr val="5C616B"/>
                </a:solidFill>
                <a:latin typeface="Courier New" pitchFamily="34" charset="0"/>
                <a:ea typeface="Courier New" pitchFamily="34" charset="-122"/>
                <a:cs typeface="Courier New" pitchFamily="34" charset="-120"/>
              </a:rPr>
              <a:t>M3 · DATE TBD</a:t>
            </a:r>
            <a:endParaRPr lang="en-US" sz="800" dirty="0"/>
          </a:p>
        </p:txBody>
      </p:sp>
      <p:sp>
        <p:nvSpPr>
          <p:cNvPr id="10" name="Shape 8"/>
          <p:cNvSpPr/>
          <p:nvPr/>
        </p:nvSpPr>
        <p:spPr>
          <a:xfrm>
            <a:off x="10023881" y="2011680"/>
            <a:ext cx="0" cy="2880360"/>
          </a:xfrm>
          <a:prstGeom prst="line">
            <a:avLst/>
          </a:prstGeom>
          <a:noFill/>
          <a:ln w="9525">
            <a:solidFill>
              <a:srgbClr val="D8D3C8"/>
            </a:solidFill>
            <a:prstDash val="dash"/>
          </a:ln>
        </p:spPr>
      </p:sp>
      <p:sp>
        <p:nvSpPr>
          <p:cNvPr id="11" name="Text 9"/>
          <p:cNvSpPr txBox="1"/>
          <p:nvPr/>
        </p:nvSpPr>
        <p:spPr>
          <a:xfrm>
            <a:off x="10097033" y="1783080"/>
            <a:ext cx="1527734" cy="201168"/>
          </a:xfrm>
          <a:prstGeom prst="rect">
            <a:avLst/>
          </a:prstGeom>
          <a:noFill/>
          <a:ln/>
        </p:spPr>
        <p:txBody>
          <a:bodyPr wrap="square" lIns="0" tIns="0" rIns="0" bIns="0" rtlCol="0" anchor="t"/>
          <a:lstStyle/>
          <a:p>
            <a:pPr indent="0" marL="0">
              <a:buNone/>
            </a:pPr>
            <a:r>
              <a:rPr lang="en-US" sz="800" spc="120" kern="0" dirty="0">
                <a:solidFill>
                  <a:srgbClr val="5C616B"/>
                </a:solidFill>
                <a:latin typeface="Courier New" pitchFamily="34" charset="0"/>
                <a:ea typeface="Courier New" pitchFamily="34" charset="-122"/>
                <a:cs typeface="Courier New" pitchFamily="34" charset="-120"/>
              </a:rPr>
              <a:t>M4 · DATE TBD</a:t>
            </a:r>
            <a:endParaRPr lang="en-US" sz="800" dirty="0"/>
          </a:p>
        </p:txBody>
      </p:sp>
      <p:sp>
        <p:nvSpPr>
          <p:cNvPr id="12" name="Shape 10"/>
          <p:cNvSpPr/>
          <p:nvPr/>
        </p:nvSpPr>
        <p:spPr>
          <a:xfrm>
            <a:off x="548640" y="2555557"/>
            <a:ext cx="11094415" cy="9525"/>
          </a:xfrm>
          <a:prstGeom prst="rect">
            <a:avLst/>
          </a:prstGeom>
          <a:solidFill>
            <a:srgbClr val="D8D3C8"/>
          </a:solidFill>
          <a:ln w="12700">
            <a:solidFill>
              <a:srgbClr val="D8D3C8"/>
            </a:solidFill>
            <a:prstDash val="solid"/>
          </a:ln>
        </p:spPr>
      </p:sp>
      <p:sp>
        <p:nvSpPr>
          <p:cNvPr id="13" name="Text 11"/>
          <p:cNvSpPr txBox="1"/>
          <p:nvPr/>
        </p:nvSpPr>
        <p:spPr>
          <a:xfrm>
            <a:off x="548640" y="2103120"/>
            <a:ext cx="4526280" cy="457200"/>
          </a:xfrm>
          <a:prstGeom prst="rect">
            <a:avLst/>
          </a:prstGeom>
          <a:noFill/>
          <a:ln/>
        </p:spPr>
        <p:txBody>
          <a:bodyPr wrap="square" lIns="0" tIns="0" rIns="0" bIns="0" rtlCol="0" anchor="ctr"/>
          <a:lstStyle/>
          <a:p>
            <a:pPr indent="0" marL="0">
              <a:buNone/>
            </a:pPr>
            <a:r>
              <a:rPr lang="en-US" sz="1200" b="1" dirty="0">
                <a:solidFill>
                  <a:schemeClr val="tx1"/>
                </a:solidFill>
              </a:rPr>
              <a:t>Core  </a:t>
            </a:r>
            <a:pPr indent="0" marL="0">
              <a:buNone/>
            </a:pPr>
            <a:r>
              <a:rPr lang="en-US" sz="1050" dirty="0">
                <a:solidFill>
                  <a:srgbClr val="5C616B"/>
                </a:solidFill>
              </a:rPr>
              <a:t>Character, camera, movement, fall detection</a:t>
            </a:r>
            <a:endParaRPr lang="en-US" sz="1200" dirty="0"/>
          </a:p>
        </p:txBody>
      </p:sp>
      <p:sp>
        <p:nvSpPr>
          <p:cNvPr id="14" name="Core bar"/>
          <p:cNvSpPr/>
          <p:nvPr/>
        </p:nvSpPr>
        <p:spPr>
          <a:xfrm>
            <a:off x="5193792" y="2221992"/>
            <a:ext cx="1564310" cy="219456"/>
          </a:xfrm>
          <a:prstGeom prst="rect">
            <a:avLst/>
          </a:prstGeom>
          <a:solidFill>
            <a:srgbClr val="14161B"/>
          </a:solidFill>
          <a:ln w="12700">
            <a:solidFill>
              <a:srgbClr val="14161B"/>
            </a:solidFill>
            <a:prstDash val="solid"/>
          </a:ln>
        </p:spPr>
      </p:sp>
      <p:sp>
        <p:nvSpPr>
          <p:cNvPr id="15" name="Shape 13"/>
          <p:cNvSpPr/>
          <p:nvPr/>
        </p:nvSpPr>
        <p:spPr>
          <a:xfrm>
            <a:off x="548640" y="3012757"/>
            <a:ext cx="11094415" cy="9525"/>
          </a:xfrm>
          <a:prstGeom prst="rect">
            <a:avLst/>
          </a:prstGeom>
          <a:solidFill>
            <a:srgbClr val="D8D3C8"/>
          </a:solidFill>
          <a:ln w="12700">
            <a:solidFill>
              <a:srgbClr val="D8D3C8"/>
            </a:solidFill>
            <a:prstDash val="solid"/>
          </a:ln>
        </p:spPr>
      </p:sp>
      <p:sp>
        <p:nvSpPr>
          <p:cNvPr id="16" name="Text 14"/>
          <p:cNvSpPr txBox="1"/>
          <p:nvPr/>
        </p:nvSpPr>
        <p:spPr>
          <a:xfrm>
            <a:off x="548640" y="2560320"/>
            <a:ext cx="4526280" cy="457200"/>
          </a:xfrm>
          <a:prstGeom prst="rect">
            <a:avLst/>
          </a:prstGeom>
          <a:noFill/>
          <a:ln/>
        </p:spPr>
        <p:txBody>
          <a:bodyPr wrap="square" lIns="0" tIns="0" rIns="0" bIns="0" rtlCol="0" anchor="ctr"/>
          <a:lstStyle/>
          <a:p>
            <a:pPr indent="0" marL="0">
              <a:buNone/>
            </a:pPr>
            <a:r>
              <a:rPr lang="en-US" sz="1200" b="1" dirty="0">
                <a:solidFill>
                  <a:schemeClr val="tx1"/>
                </a:solidFill>
              </a:rPr>
              <a:t>LAN  </a:t>
            </a:r>
            <a:pPr indent="0" marL="0">
              <a:buNone/>
            </a:pPr>
            <a:r>
              <a:rPr lang="en-US" sz="1050" dirty="0">
                <a:solidFill>
                  <a:srgbClr val="5C616B"/>
                </a:solidFill>
              </a:rPr>
              <a:t>Host / join, host authority, sync of transforms and score</a:t>
            </a:r>
            <a:endParaRPr lang="en-US" sz="1200" dirty="0"/>
          </a:p>
        </p:txBody>
      </p:sp>
      <p:sp>
        <p:nvSpPr>
          <p:cNvPr id="17" name="LAN bar"/>
          <p:cNvSpPr/>
          <p:nvPr/>
        </p:nvSpPr>
        <p:spPr>
          <a:xfrm>
            <a:off x="6003379" y="2679192"/>
            <a:ext cx="1564310" cy="219456"/>
          </a:xfrm>
          <a:prstGeom prst="rect">
            <a:avLst/>
          </a:prstGeom>
          <a:solidFill>
            <a:srgbClr val="14161B"/>
          </a:solidFill>
          <a:ln w="12700">
            <a:solidFill>
              <a:srgbClr val="14161B"/>
            </a:solidFill>
            <a:prstDash val="solid"/>
          </a:ln>
        </p:spPr>
      </p:sp>
      <p:sp>
        <p:nvSpPr>
          <p:cNvPr id="18" name="Shape 16"/>
          <p:cNvSpPr/>
          <p:nvPr/>
        </p:nvSpPr>
        <p:spPr>
          <a:xfrm>
            <a:off x="548640" y="3469957"/>
            <a:ext cx="11094415" cy="9525"/>
          </a:xfrm>
          <a:prstGeom prst="rect">
            <a:avLst/>
          </a:prstGeom>
          <a:solidFill>
            <a:srgbClr val="D8D3C8"/>
          </a:solidFill>
          <a:ln w="12700">
            <a:solidFill>
              <a:srgbClr val="D8D3C8"/>
            </a:solidFill>
            <a:prstDash val="solid"/>
          </a:ln>
        </p:spPr>
      </p:sp>
      <p:sp>
        <p:nvSpPr>
          <p:cNvPr id="19" name="Text 17"/>
          <p:cNvSpPr txBox="1"/>
          <p:nvPr/>
        </p:nvSpPr>
        <p:spPr>
          <a:xfrm>
            <a:off x="548640" y="3017520"/>
            <a:ext cx="4526280" cy="457200"/>
          </a:xfrm>
          <a:prstGeom prst="rect">
            <a:avLst/>
          </a:prstGeom>
          <a:noFill/>
          <a:ln/>
        </p:spPr>
        <p:txBody>
          <a:bodyPr wrap="square" lIns="0" tIns="0" rIns="0" bIns="0" rtlCol="0" anchor="ctr"/>
          <a:lstStyle/>
          <a:p>
            <a:pPr indent="0" marL="0">
              <a:buNone/>
            </a:pPr>
            <a:r>
              <a:rPr lang="en-US" sz="1200" b="1" dirty="0">
                <a:solidFill>
                  <a:schemeClr val="tx1"/>
                </a:solidFill>
              </a:rPr>
              <a:t>Ice Race  </a:t>
            </a:r>
            <a:pPr indent="0" marL="0">
              <a:buNone/>
            </a:pPr>
            <a:r>
              <a:rPr lang="en-US" sz="1050" dirty="0">
                <a:solidFill>
                  <a:srgbClr val="5C616B"/>
                </a:solidFill>
              </a:rPr>
              <a:t>Ice movement profile, track, checkpoints, finish</a:t>
            </a:r>
            <a:endParaRPr lang="en-US" sz="1200" dirty="0"/>
          </a:p>
        </p:txBody>
      </p:sp>
      <p:sp>
        <p:nvSpPr>
          <p:cNvPr id="20" name="Ice Race bar"/>
          <p:cNvSpPr/>
          <p:nvPr/>
        </p:nvSpPr>
        <p:spPr>
          <a:xfrm>
            <a:off x="7622553" y="3136392"/>
            <a:ext cx="1564310" cy="219456"/>
          </a:xfrm>
          <a:prstGeom prst="rect">
            <a:avLst/>
          </a:prstGeom>
          <a:solidFill>
            <a:srgbClr val="14161B"/>
          </a:solidFill>
          <a:ln w="12700">
            <a:solidFill>
              <a:srgbClr val="14161B"/>
            </a:solidFill>
            <a:prstDash val="solid"/>
          </a:ln>
        </p:spPr>
      </p:sp>
      <p:sp>
        <p:nvSpPr>
          <p:cNvPr id="21" name="Shape 19"/>
          <p:cNvSpPr/>
          <p:nvPr/>
        </p:nvSpPr>
        <p:spPr>
          <a:xfrm>
            <a:off x="548640" y="3927158"/>
            <a:ext cx="11094415" cy="9525"/>
          </a:xfrm>
          <a:prstGeom prst="rect">
            <a:avLst/>
          </a:prstGeom>
          <a:solidFill>
            <a:srgbClr val="D8D3C8"/>
          </a:solidFill>
          <a:ln w="12700">
            <a:solidFill>
              <a:srgbClr val="D8D3C8"/>
            </a:solidFill>
            <a:prstDash val="solid"/>
          </a:ln>
        </p:spPr>
      </p:sp>
      <p:sp>
        <p:nvSpPr>
          <p:cNvPr id="22" name="Text 20"/>
          <p:cNvSpPr txBox="1"/>
          <p:nvPr/>
        </p:nvSpPr>
        <p:spPr>
          <a:xfrm>
            <a:off x="548640" y="3474720"/>
            <a:ext cx="4526280" cy="457200"/>
          </a:xfrm>
          <a:prstGeom prst="rect">
            <a:avLst/>
          </a:prstGeom>
          <a:noFill/>
          <a:ln/>
        </p:spPr>
        <p:txBody>
          <a:bodyPr wrap="square" lIns="0" tIns="0" rIns="0" bIns="0" rtlCol="0" anchor="ctr"/>
          <a:lstStyle/>
          <a:p>
            <a:pPr indent="0" marL="0">
              <a:buNone/>
            </a:pPr>
            <a:r>
              <a:rPr lang="en-US" sz="1200" b="1" dirty="0">
                <a:solidFill>
                  <a:schemeClr val="tx1"/>
                </a:solidFill>
              </a:rPr>
              <a:t>Mass Knockout  </a:t>
            </a:r>
            <a:pPr indent="0" marL="0">
              <a:buNone/>
            </a:pPr>
            <a:r>
              <a:rPr lang="en-US" sz="1050" dirty="0">
                <a:solidFill>
                  <a:srgbClr val="5C616B"/>
                </a:solidFill>
              </a:rPr>
              <a:t>Mass state, spit projectile, hits, knockback, respawn</a:t>
            </a:r>
            <a:endParaRPr lang="en-US" sz="1200" dirty="0"/>
          </a:p>
        </p:txBody>
      </p:sp>
      <p:sp>
        <p:nvSpPr>
          <p:cNvPr id="23" name="Mass Knockout bar"/>
          <p:cNvSpPr/>
          <p:nvPr/>
        </p:nvSpPr>
        <p:spPr>
          <a:xfrm>
            <a:off x="8432140" y="3593592"/>
            <a:ext cx="1564310" cy="219456"/>
          </a:xfrm>
          <a:prstGeom prst="rect">
            <a:avLst/>
          </a:prstGeom>
          <a:solidFill>
            <a:srgbClr val="FF5A1F"/>
          </a:solidFill>
          <a:ln w="12700">
            <a:solidFill>
              <a:srgbClr val="FF5A1F"/>
            </a:solidFill>
            <a:prstDash val="solid"/>
          </a:ln>
        </p:spPr>
      </p:sp>
      <p:sp>
        <p:nvSpPr>
          <p:cNvPr id="24" name="Shape 22"/>
          <p:cNvSpPr/>
          <p:nvPr/>
        </p:nvSpPr>
        <p:spPr>
          <a:xfrm>
            <a:off x="548640" y="4384358"/>
            <a:ext cx="11094415" cy="9525"/>
          </a:xfrm>
          <a:prstGeom prst="rect">
            <a:avLst/>
          </a:prstGeom>
          <a:solidFill>
            <a:srgbClr val="D8D3C8"/>
          </a:solidFill>
          <a:ln w="12700">
            <a:solidFill>
              <a:srgbClr val="D8D3C8"/>
            </a:solidFill>
            <a:prstDash val="solid"/>
          </a:ln>
        </p:spPr>
      </p:sp>
      <p:sp>
        <p:nvSpPr>
          <p:cNvPr id="25" name="Text 23"/>
          <p:cNvSpPr txBox="1"/>
          <p:nvPr/>
        </p:nvSpPr>
        <p:spPr>
          <a:xfrm>
            <a:off x="548640" y="3931920"/>
            <a:ext cx="4526280" cy="457200"/>
          </a:xfrm>
          <a:prstGeom prst="rect">
            <a:avLst/>
          </a:prstGeom>
          <a:noFill/>
          <a:ln/>
        </p:spPr>
        <p:txBody>
          <a:bodyPr wrap="square" lIns="0" tIns="0" rIns="0" bIns="0" rtlCol="0" anchor="ctr"/>
          <a:lstStyle/>
          <a:p>
            <a:pPr indent="0" marL="0">
              <a:buNone/>
            </a:pPr>
            <a:r>
              <a:rPr lang="en-US" sz="1200" b="1" dirty="0">
                <a:solidFill>
                  <a:schemeClr val="tx1"/>
                </a:solidFill>
              </a:rPr>
              <a:t>Session  </a:t>
            </a:r>
            <a:pPr indent="0" marL="0">
              <a:buNone/>
            </a:pPr>
            <a:r>
              <a:rPr lang="en-US" sz="1050" dirty="0">
                <a:solidFill>
                  <a:srgbClr val="5C616B"/>
                </a:solidFill>
              </a:rPr>
              <a:t>Lobby, mini-game rotation, scoreboard, results</a:t>
            </a:r>
            <a:endParaRPr lang="en-US" sz="1200" dirty="0"/>
          </a:p>
        </p:txBody>
      </p:sp>
      <p:sp>
        <p:nvSpPr>
          <p:cNvPr id="26" name="Session bar"/>
          <p:cNvSpPr/>
          <p:nvPr/>
        </p:nvSpPr>
        <p:spPr>
          <a:xfrm>
            <a:off x="9241727" y="4050792"/>
            <a:ext cx="1564310" cy="219456"/>
          </a:xfrm>
          <a:prstGeom prst="rect">
            <a:avLst/>
          </a:prstGeom>
          <a:solidFill>
            <a:srgbClr val="14161B"/>
          </a:solidFill>
          <a:ln w="12700">
            <a:solidFill>
              <a:srgbClr val="14161B"/>
            </a:solidFill>
            <a:prstDash val="solid"/>
          </a:ln>
        </p:spPr>
      </p:sp>
      <p:sp>
        <p:nvSpPr>
          <p:cNvPr id="27" name="Shape 25"/>
          <p:cNvSpPr/>
          <p:nvPr/>
        </p:nvSpPr>
        <p:spPr>
          <a:xfrm>
            <a:off x="548640" y="4841558"/>
            <a:ext cx="11094415" cy="9525"/>
          </a:xfrm>
          <a:prstGeom prst="rect">
            <a:avLst/>
          </a:prstGeom>
          <a:solidFill>
            <a:srgbClr val="D8D3C8"/>
          </a:solidFill>
          <a:ln w="12700">
            <a:solidFill>
              <a:srgbClr val="D8D3C8"/>
            </a:solidFill>
            <a:prstDash val="solid"/>
          </a:ln>
        </p:spPr>
      </p:sp>
      <p:sp>
        <p:nvSpPr>
          <p:cNvPr id="28" name="Text 26"/>
          <p:cNvSpPr txBox="1"/>
          <p:nvPr/>
        </p:nvSpPr>
        <p:spPr>
          <a:xfrm>
            <a:off x="548640" y="4389120"/>
            <a:ext cx="4526280" cy="457200"/>
          </a:xfrm>
          <a:prstGeom prst="rect">
            <a:avLst/>
          </a:prstGeom>
          <a:noFill/>
          <a:ln/>
        </p:spPr>
        <p:txBody>
          <a:bodyPr wrap="square" lIns="0" tIns="0" rIns="0" bIns="0" rtlCol="0" anchor="ctr"/>
          <a:lstStyle/>
          <a:p>
            <a:pPr indent="0" marL="0">
              <a:buNone/>
            </a:pPr>
            <a:r>
              <a:rPr lang="en-US" sz="1200" b="1" dirty="0">
                <a:solidFill>
                  <a:schemeClr val="tx1"/>
                </a:solidFill>
              </a:rPr>
              <a:t>Tune &amp; polish  </a:t>
            </a:r>
            <a:pPr indent="0" marL="0">
              <a:buNone/>
            </a:pPr>
            <a:r>
              <a:rPr lang="en-US" sz="1050" dirty="0">
                <a:solidFill>
                  <a:srgbClr val="5C616B"/>
                </a:solidFill>
              </a:rPr>
              <a:t>Playtests; trails, hit flash, UI</a:t>
            </a:r>
            <a:endParaRPr lang="en-US" sz="1200" dirty="0"/>
          </a:p>
        </p:txBody>
      </p:sp>
      <p:sp>
        <p:nvSpPr>
          <p:cNvPr id="29" name="Tune &amp; polish bar"/>
          <p:cNvSpPr/>
          <p:nvPr/>
        </p:nvSpPr>
        <p:spPr>
          <a:xfrm>
            <a:off x="10051313" y="4507992"/>
            <a:ext cx="1564310" cy="219456"/>
          </a:xfrm>
          <a:prstGeom prst="rect">
            <a:avLst/>
          </a:prstGeom>
          <a:solidFill>
            <a:srgbClr val="14161B"/>
          </a:solidFill>
          <a:ln w="12700">
            <a:solidFill>
              <a:srgbClr val="14161B"/>
            </a:solidFill>
            <a:prstDash val="solid"/>
          </a:ln>
        </p:spPr>
      </p:sp>
      <p:sp>
        <p:nvSpPr>
          <p:cNvPr id="30" name="Text 28"/>
          <p:cNvSpPr txBox="1"/>
          <p:nvPr/>
        </p:nvSpPr>
        <p:spPr>
          <a:xfrm>
            <a:off x="548640" y="4956048"/>
            <a:ext cx="7315200" cy="219456"/>
          </a:xfrm>
          <a:prstGeom prst="rect">
            <a:avLst/>
          </a:prstGeom>
          <a:noFill/>
          <a:ln/>
        </p:spPr>
        <p:txBody>
          <a:bodyPr wrap="square" lIns="0" tIns="0" rIns="0" bIns="0" rtlCol="0" anchor="t"/>
          <a:lstStyle/>
          <a:p>
            <a:pPr indent="0" marL="0">
              <a:buNone/>
            </a:pPr>
            <a:r>
              <a:rPr lang="en-US" sz="800" spc="120" kern="0" dirty="0">
                <a:solidFill>
                  <a:srgbClr val="5C616B"/>
                </a:solidFill>
                <a:latin typeface="Courier New" pitchFamily="34" charset="0"/>
                <a:ea typeface="Courier New" pitchFamily="34" charset="-122"/>
                <a:cs typeface="Courier New" pitchFamily="34" charset="-120"/>
              </a:rPr>
              <a:t>OWNERS: TBD  ·  ORDER IS FIXED, DATES ARE NOT</a:t>
            </a:r>
            <a:endParaRPr lang="en-US" sz="800" dirty="0"/>
          </a:p>
        </p:txBody>
      </p:sp>
      <p:sp>
        <p:nvSpPr>
          <p:cNvPr id="31" name="Shape 29"/>
          <p:cNvSpPr/>
          <p:nvPr/>
        </p:nvSpPr>
        <p:spPr>
          <a:xfrm>
            <a:off x="548640" y="5432743"/>
            <a:ext cx="3511296" cy="15875"/>
          </a:xfrm>
          <a:prstGeom prst="rect">
            <a:avLst/>
          </a:prstGeom>
          <a:solidFill>
            <a:srgbClr val="14161B"/>
          </a:solidFill>
          <a:ln w="12700">
            <a:solidFill>
              <a:srgbClr val="14161B"/>
            </a:solidFill>
            <a:prstDash val="solid"/>
          </a:ln>
        </p:spPr>
      </p:sp>
      <p:sp>
        <p:nvSpPr>
          <p:cNvPr id="32" name="Text 30"/>
          <p:cNvSpPr txBox="1"/>
          <p:nvPr/>
        </p:nvSpPr>
        <p:spPr>
          <a:xfrm>
            <a:off x="548640" y="5532120"/>
            <a:ext cx="3511296" cy="777240"/>
          </a:xfrm>
          <a:prstGeom prst="rect">
            <a:avLst/>
          </a:prstGeom>
          <a:noFill/>
          <a:ln/>
        </p:spPr>
        <p:txBody>
          <a:bodyPr wrap="square" lIns="0" tIns="0" rIns="0" bIns="0" rtlCol="0" anchor="t"/>
          <a:lstStyle/>
          <a:p>
            <a:pPr indent="0" marL="0">
              <a:buNone/>
            </a:pPr>
            <a:r>
              <a:rPr lang="en-US" sz="900" b="1" dirty="0">
                <a:solidFill>
                  <a:schemeClr val="accent1"/>
                </a:solidFill>
                <a:latin typeface="Courier New" pitchFamily="34" charset="0"/>
                <a:ea typeface="Courier New" pitchFamily="34" charset="-122"/>
                <a:cs typeface="Courier New" pitchFamily="34" charset="-120"/>
              </a:rPr>
              <a:t>RISK  NETWORKED PHYSICS</a:t>
            </a:r>
            <a:endParaRPr lang="en-US" sz="1100" dirty="0"/>
          </a:p>
          <a:p>
            <a:pPr indent="0" marL="0">
              <a:buNone/>
            </a:pPr>
            <a:r>
              <a:rPr lang="en-US" sz="1100" b="1" dirty="0">
                <a:solidFill>
                  <a:schemeClr val="tx1"/>
                </a:solidFill>
              </a:rPr>
              <a:t>Clients disagree on a knockback. </a:t>
            </a:r>
            <a:pPr indent="0" marL="0">
              <a:buNone/>
            </a:pPr>
            <a:r>
              <a:rPr lang="en-US" sz="1100" dirty="0">
                <a:solidFill>
                  <a:srgbClr val="5C616B"/>
                </a:solidFill>
              </a:rPr>
              <a:t>Host-authoritative simulation; clients only render.</a:t>
            </a:r>
            <a:endParaRPr lang="en-US" sz="1100" dirty="0"/>
          </a:p>
        </p:txBody>
      </p:sp>
      <p:sp>
        <p:nvSpPr>
          <p:cNvPr id="33" name="Shape 31"/>
          <p:cNvSpPr/>
          <p:nvPr/>
        </p:nvSpPr>
        <p:spPr>
          <a:xfrm>
            <a:off x="4265676" y="5432743"/>
            <a:ext cx="3511296" cy="15875"/>
          </a:xfrm>
          <a:prstGeom prst="rect">
            <a:avLst/>
          </a:prstGeom>
          <a:solidFill>
            <a:srgbClr val="14161B"/>
          </a:solidFill>
          <a:ln w="12700">
            <a:solidFill>
              <a:srgbClr val="14161B"/>
            </a:solidFill>
            <a:prstDash val="solid"/>
          </a:ln>
        </p:spPr>
      </p:sp>
      <p:sp>
        <p:nvSpPr>
          <p:cNvPr id="34" name="Text 32"/>
          <p:cNvSpPr txBox="1"/>
          <p:nvPr/>
        </p:nvSpPr>
        <p:spPr>
          <a:xfrm>
            <a:off x="4265676" y="5532120"/>
            <a:ext cx="3511296" cy="777240"/>
          </a:xfrm>
          <a:prstGeom prst="rect">
            <a:avLst/>
          </a:prstGeom>
          <a:noFill/>
          <a:ln/>
        </p:spPr>
        <p:txBody>
          <a:bodyPr wrap="square" lIns="0" tIns="0" rIns="0" bIns="0" rtlCol="0" anchor="t"/>
          <a:lstStyle/>
          <a:p>
            <a:pPr indent="0" marL="0">
              <a:buNone/>
            </a:pPr>
            <a:r>
              <a:rPr lang="en-US" sz="900" b="1" dirty="0">
                <a:solidFill>
                  <a:schemeClr val="accent1"/>
                </a:solidFill>
                <a:latin typeface="Courier New" pitchFamily="34" charset="0"/>
                <a:ea typeface="Courier New" pitchFamily="34" charset="-122"/>
                <a:cs typeface="Courier New" pitchFamily="34" charset="-120"/>
              </a:rPr>
              <a:t>RISK  BALANCE</a:t>
            </a:r>
            <a:endParaRPr lang="en-US" sz="1100" dirty="0"/>
          </a:p>
          <a:p>
            <a:pPr indent="0" marL="0">
              <a:buNone/>
            </a:pPr>
            <a:r>
              <a:rPr lang="en-US" sz="1100" b="1" dirty="0">
                <a:solidFill>
                  <a:schemeClr val="tx1"/>
                </a:solidFill>
              </a:rPr>
              <a:t>Stalling or snowballing. </a:t>
            </a:r>
            <a:pPr indent="0" marL="0">
              <a:buNone/>
            </a:pPr>
            <a:r>
              <a:rPr lang="en-US" sz="1100" dirty="0">
                <a:solidFill>
                  <a:srgbClr val="5C616B"/>
                </a:solidFill>
              </a:rPr>
              <a:t>Score knockouts; respawn at full mass; timer.</a:t>
            </a:r>
            <a:endParaRPr lang="en-US" sz="1100" dirty="0"/>
          </a:p>
        </p:txBody>
      </p:sp>
      <p:sp>
        <p:nvSpPr>
          <p:cNvPr id="35" name="Shape 33"/>
          <p:cNvSpPr/>
          <p:nvPr/>
        </p:nvSpPr>
        <p:spPr>
          <a:xfrm>
            <a:off x="7982712" y="5432743"/>
            <a:ext cx="3511296" cy="15875"/>
          </a:xfrm>
          <a:prstGeom prst="rect">
            <a:avLst/>
          </a:prstGeom>
          <a:solidFill>
            <a:srgbClr val="14161B"/>
          </a:solidFill>
          <a:ln w="12700">
            <a:solidFill>
              <a:srgbClr val="14161B"/>
            </a:solidFill>
            <a:prstDash val="solid"/>
          </a:ln>
        </p:spPr>
      </p:sp>
      <p:sp>
        <p:nvSpPr>
          <p:cNvPr id="36" name="Text 34"/>
          <p:cNvSpPr txBox="1"/>
          <p:nvPr/>
        </p:nvSpPr>
        <p:spPr>
          <a:xfrm>
            <a:off x="7982712" y="5532120"/>
            <a:ext cx="3511296" cy="777240"/>
          </a:xfrm>
          <a:prstGeom prst="rect">
            <a:avLst/>
          </a:prstGeom>
          <a:noFill/>
          <a:ln/>
        </p:spPr>
        <p:txBody>
          <a:bodyPr wrap="square" lIns="0" tIns="0" rIns="0" bIns="0" rtlCol="0" anchor="t"/>
          <a:lstStyle/>
          <a:p>
            <a:pPr indent="0" marL="0">
              <a:buNone/>
            </a:pPr>
            <a:r>
              <a:rPr lang="en-US" sz="900" b="1" dirty="0">
                <a:solidFill>
                  <a:schemeClr val="accent1"/>
                </a:solidFill>
                <a:latin typeface="Courier New" pitchFamily="34" charset="0"/>
                <a:ea typeface="Courier New" pitchFamily="34" charset="-122"/>
                <a:cs typeface="Courier New" pitchFamily="34" charset="-120"/>
              </a:rPr>
              <a:t>RISK  SCOPE</a:t>
            </a:r>
            <a:endParaRPr lang="en-US" sz="1100" dirty="0"/>
          </a:p>
          <a:p>
            <a:pPr indent="0" marL="0">
              <a:buNone/>
            </a:pPr>
            <a:r>
              <a:rPr lang="en-US" sz="1100" b="1" dirty="0">
                <a:solidFill>
                  <a:schemeClr val="tx1"/>
                </a:solidFill>
              </a:rPr>
              <a:t>Too many mini-games. </a:t>
            </a:r>
            <a:pPr indent="0" marL="0">
              <a:buNone/>
            </a:pPr>
            <a:r>
              <a:rPr lang="en-US" sz="1100" dirty="0">
                <a:solidFill>
                  <a:srgbClr val="5C616B"/>
                </a:solidFill>
              </a:rPr>
              <a:t>Two for the MVP; more only once both are fun.</a:t>
            </a:r>
            <a:endParaRPr lang="en-US" sz="1100" dirty="0"/>
          </a:p>
        </p:txBody>
      </p:sp>
      <p:sp>
        <p:nvSpPr>
          <p:cNvPr id="25" name="Slide Number Placeholder 0"/>
          <p:cNvSpPr>
            <a:spLocks noGrp="1"/>
          </p:cNvSpPr>
          <p:nvPr>
            <p:ph type="sldNum" sz="quarter" idx="4294967295"/>
          </p:nvPr>
        </p:nvSpPr>
        <p:spPr>
          <a:xfrm>
            <a:off x="11064240" y="384048"/>
            <a:ext cx="576072"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5C616B"/>
                </a:solidFill>
                <a:latin typeface="Courier New"/>
                <a:ea typeface="Courier New"/>
                <a:cs typeface="Courier New"/>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Closing: Mass Knockout concept render" descr="Closing: Mass Knockout concept render">    </p:cNvPr>
          <p:cNvPicPr>
            <a:picLocks noChangeAspect="1"/>
          </p:cNvPicPr>
          <p:nvPr/>
        </p:nvPicPr>
        <p:blipFill>
          <a:blip r:embed="rId1"/>
          <a:stretch>
            <a:fillRect/>
          </a:stretch>
        </p:blipFill>
        <p:spPr>
          <a:xfrm>
            <a:off x="0" y="0"/>
            <a:ext cx="12191695" cy="6858000"/>
          </a:xfrm>
          <a:prstGeom prst="rect">
            <a:avLst/>
          </a:prstGeom>
        </p:spPr>
      </p:pic>
      <p:pic>
        <p:nvPicPr>
          <p:cNvPr id="3" name="Dark fade for legibility" descr="Dark fade for legibility">    </p:cNvPr>
          <p:cNvPicPr>
            <a:picLocks noChangeAspect="1"/>
          </p:cNvPicPr>
          <p:nvPr/>
        </p:nvPicPr>
        <p:blipFill>
          <a:blip r:embed="rId2"/>
          <a:stretch>
            <a:fillRect/>
          </a:stretch>
        </p:blipFill>
        <p:spPr>
          <a:xfrm>
            <a:off x="0" y="0"/>
            <a:ext cx="12191695" cy="6858000"/>
          </a:xfrm>
          <a:prstGeom prst="rect">
            <a:avLst/>
          </a:prstGeom>
        </p:spPr>
      </p:pic>
      <p:sp>
        <p:nvSpPr>
          <p:cNvPr id="4" name="Text 0"/>
          <p:cNvSpPr txBox="1"/>
          <p:nvPr/>
        </p:nvSpPr>
        <p:spPr>
          <a:xfrm>
            <a:off x="548640" y="548640"/>
            <a:ext cx="3657600" cy="274320"/>
          </a:xfrm>
          <a:prstGeom prst="rect">
            <a:avLst/>
          </a:prstGeom>
          <a:noFill/>
          <a:ln/>
        </p:spPr>
        <p:txBody>
          <a:bodyPr wrap="square" lIns="0" tIns="0" rIns="0" bIns="0" rtlCol="0" anchor="t"/>
          <a:lstStyle/>
          <a:p>
            <a:pPr indent="0" marL="0">
              <a:buNone/>
            </a:pPr>
            <a:r>
              <a:rPr lang="en-US" sz="900" b="1" spc="120" kern="0" dirty="0">
                <a:solidFill>
                  <a:srgbClr val="C9CDD6"/>
                </a:solidFill>
                <a:latin typeface="Courier New" pitchFamily="34" charset="0"/>
                <a:ea typeface="Courier New" pitchFamily="34" charset="-122"/>
                <a:cs typeface="Courier New" pitchFamily="34" charset="-120"/>
              </a:rPr>
              <a:t>SUMMARY</a:t>
            </a:r>
            <a:endParaRPr lang="en-US" sz="900" dirty="0"/>
          </a:p>
        </p:txBody>
      </p:sp>
      <p:sp>
        <p:nvSpPr>
          <p:cNvPr id="5" name="Text 1"/>
          <p:cNvSpPr txBox="1"/>
          <p:nvPr/>
        </p:nvSpPr>
        <p:spPr>
          <a:xfrm>
            <a:off x="548640" y="1280160"/>
            <a:ext cx="5486400" cy="731520"/>
          </a:xfrm>
          <a:prstGeom prst="rect">
            <a:avLst/>
          </a:prstGeom>
          <a:noFill/>
          <a:ln/>
        </p:spPr>
        <p:txBody>
          <a:bodyPr wrap="square" lIns="0" tIns="0" rIns="0" bIns="0" rtlCol="0" anchor="b"/>
          <a:lstStyle/>
          <a:p>
            <a:pPr indent="0" marL="0">
              <a:buNone/>
            </a:pPr>
            <a:r>
              <a:rPr lang="en-US" sz="4000" b="1" dirty="0">
                <a:solidFill>
                  <a:schemeClr val="bg1"/>
                </a:solidFill>
                <a:latin typeface="Arial" pitchFamily="34" charset="0"/>
                <a:ea typeface="Arial" pitchFamily="34" charset="-122"/>
                <a:cs typeface="Arial" pitchFamily="34" charset="-120"/>
              </a:rPr>
              <a:t>Ice Rumble</a:t>
            </a:r>
            <a:endParaRPr lang="en-US" sz="4000" dirty="0"/>
          </a:p>
        </p:txBody>
      </p:sp>
      <p:sp>
        <p:nvSpPr>
          <p:cNvPr id="6" name="Shape 2"/>
          <p:cNvSpPr/>
          <p:nvPr/>
        </p:nvSpPr>
        <p:spPr>
          <a:xfrm>
            <a:off x="548640" y="2326957"/>
            <a:ext cx="5120640" cy="9525"/>
          </a:xfrm>
          <a:prstGeom prst="rect">
            <a:avLst/>
          </a:prstGeom>
          <a:solidFill>
            <a:srgbClr val="4A505C"/>
          </a:solidFill>
          <a:ln w="12700">
            <a:solidFill>
              <a:srgbClr val="4A505C"/>
            </a:solidFill>
            <a:prstDash val="solid"/>
          </a:ln>
        </p:spPr>
      </p:sp>
      <p:sp>
        <p:nvSpPr>
          <p:cNvPr id="7" name="Text 3"/>
          <p:cNvSpPr txBox="1"/>
          <p:nvPr/>
        </p:nvSpPr>
        <p:spPr>
          <a:xfrm>
            <a:off x="548640" y="2441448"/>
            <a:ext cx="5120640" cy="548640"/>
          </a:xfrm>
          <a:prstGeom prst="rect">
            <a:avLst/>
          </a:prstGeom>
          <a:noFill/>
          <a:ln/>
        </p:spPr>
        <p:txBody>
          <a:bodyPr wrap="square" lIns="0" tIns="0" rIns="0" bIns="0" rtlCol="0" anchor="t"/>
          <a:lstStyle/>
          <a:p>
            <a:pPr indent="0" marL="0">
              <a:buNone/>
            </a:pPr>
            <a:r>
              <a:rPr lang="en-US" sz="1500" dirty="0">
                <a:solidFill>
                  <a:schemeClr val="bg1"/>
                </a:solidFill>
              </a:rPr>
              <a:t>2–4 players, one LAN, no internet.</a:t>
            </a:r>
            <a:endParaRPr lang="en-US" sz="1500" dirty="0"/>
          </a:p>
        </p:txBody>
      </p:sp>
      <p:sp>
        <p:nvSpPr>
          <p:cNvPr id="8" name="Shape 4"/>
          <p:cNvSpPr/>
          <p:nvPr/>
        </p:nvSpPr>
        <p:spPr>
          <a:xfrm>
            <a:off x="548640" y="3012757"/>
            <a:ext cx="5120640" cy="9525"/>
          </a:xfrm>
          <a:prstGeom prst="rect">
            <a:avLst/>
          </a:prstGeom>
          <a:solidFill>
            <a:srgbClr val="4A505C"/>
          </a:solidFill>
          <a:ln w="12700">
            <a:solidFill>
              <a:srgbClr val="4A505C"/>
            </a:solidFill>
            <a:prstDash val="solid"/>
          </a:ln>
        </p:spPr>
      </p:sp>
      <p:sp>
        <p:nvSpPr>
          <p:cNvPr id="9" name="Text 5"/>
          <p:cNvSpPr txBox="1"/>
          <p:nvPr/>
        </p:nvSpPr>
        <p:spPr>
          <a:xfrm>
            <a:off x="548640" y="3127248"/>
            <a:ext cx="5120640" cy="548640"/>
          </a:xfrm>
          <a:prstGeom prst="rect">
            <a:avLst/>
          </a:prstGeom>
          <a:noFill/>
          <a:ln/>
        </p:spPr>
        <p:txBody>
          <a:bodyPr wrap="square" lIns="0" tIns="0" rIns="0" bIns="0" rtlCol="0" anchor="t"/>
          <a:lstStyle/>
          <a:p>
            <a:pPr indent="0" marL="0">
              <a:buNone/>
            </a:pPr>
            <a:r>
              <a:rPr lang="en-US" sz="1500" dirty="0">
                <a:solidFill>
                  <a:schemeClr val="bg1"/>
                </a:solidFill>
              </a:rPr>
              <a:t>Two mini-games on one shared Unity core.</a:t>
            </a:r>
            <a:endParaRPr lang="en-US" sz="1500" dirty="0"/>
          </a:p>
        </p:txBody>
      </p:sp>
      <p:sp>
        <p:nvSpPr>
          <p:cNvPr id="10" name="Shape 6"/>
          <p:cNvSpPr/>
          <p:nvPr/>
        </p:nvSpPr>
        <p:spPr>
          <a:xfrm>
            <a:off x="548640" y="3698558"/>
            <a:ext cx="5120640" cy="9525"/>
          </a:xfrm>
          <a:prstGeom prst="rect">
            <a:avLst/>
          </a:prstGeom>
          <a:solidFill>
            <a:srgbClr val="4A505C"/>
          </a:solidFill>
          <a:ln w="12700">
            <a:solidFill>
              <a:srgbClr val="4A505C"/>
            </a:solidFill>
            <a:prstDash val="solid"/>
          </a:ln>
        </p:spPr>
      </p:sp>
      <p:sp>
        <p:nvSpPr>
          <p:cNvPr id="11" name="Text 7"/>
          <p:cNvSpPr txBox="1"/>
          <p:nvPr/>
        </p:nvSpPr>
        <p:spPr>
          <a:xfrm>
            <a:off x="548640" y="3813048"/>
            <a:ext cx="5120640" cy="548640"/>
          </a:xfrm>
          <a:prstGeom prst="rect">
            <a:avLst/>
          </a:prstGeom>
          <a:noFill/>
          <a:ln/>
        </p:spPr>
        <p:txBody>
          <a:bodyPr wrap="square" lIns="0" tIns="0" rIns="0" bIns="0" rtlCol="0" anchor="t"/>
          <a:lstStyle/>
          <a:p>
            <a:pPr indent="0" marL="0">
              <a:buNone/>
            </a:pPr>
            <a:r>
              <a:rPr lang="en-US" sz="1500" dirty="0">
                <a:solidFill>
                  <a:schemeClr val="bg1"/>
                </a:solidFill>
              </a:rPr>
              <a:t>In Mass Knockout, every shot costs the shooter mass, so aim matters more than volume.</a:t>
            </a:r>
            <a:endParaRPr lang="en-US" sz="1500" dirty="0"/>
          </a:p>
        </p:txBody>
      </p:sp>
      <p:sp>
        <p:nvSpPr>
          <p:cNvPr id="12" name="Text 8"/>
          <p:cNvSpPr txBox="1"/>
          <p:nvPr/>
        </p:nvSpPr>
        <p:spPr>
          <a:xfrm>
            <a:off x="548640" y="4572000"/>
            <a:ext cx="5486400" cy="685800"/>
          </a:xfrm>
          <a:prstGeom prst="rect">
            <a:avLst/>
          </a:prstGeom>
          <a:noFill/>
          <a:ln/>
        </p:spPr>
        <p:txBody>
          <a:bodyPr wrap="square" lIns="0" tIns="0" rIns="0" bIns="0" rtlCol="0" anchor="t"/>
          <a:lstStyle/>
          <a:p>
            <a:pPr indent="0" marL="0">
              <a:buNone/>
            </a:pPr>
            <a:r>
              <a:rPr lang="en-US" sz="3200" b="1" dirty="0">
                <a:solidFill>
                  <a:schemeClr val="accent1"/>
                </a:solidFill>
                <a:latin typeface="Arial" pitchFamily="34" charset="0"/>
                <a:ea typeface="Arial" pitchFamily="34" charset="-122"/>
                <a:cs typeface="Arial" pitchFamily="34" charset="-120"/>
              </a:rPr>
              <a:t>Questions?</a:t>
            </a:r>
            <a:endParaRPr lang="en-US" sz="3200" dirty="0"/>
          </a:p>
        </p:txBody>
      </p:sp>
      <p:sp>
        <p:nvSpPr>
          <p:cNvPr id="13" name="Text 9"/>
          <p:cNvSpPr txBox="1"/>
          <p:nvPr/>
        </p:nvSpPr>
        <p:spPr>
          <a:xfrm>
            <a:off x="548640" y="6035040"/>
            <a:ext cx="8229600" cy="274320"/>
          </a:xfrm>
          <a:prstGeom prst="rect">
            <a:avLst/>
          </a:prstGeom>
          <a:noFill/>
          <a:ln/>
        </p:spPr>
        <p:txBody>
          <a:bodyPr wrap="square" lIns="0" tIns="0" rIns="0" bIns="0" rtlCol="0" anchor="t"/>
          <a:lstStyle/>
          <a:p>
            <a:pPr indent="0" marL="0">
              <a:buNone/>
            </a:pPr>
            <a:r>
              <a:rPr lang="en-US" sz="1100" dirty="0">
                <a:solidFill>
                  <a:srgbClr val="C9CDD6"/>
                </a:solidFill>
              </a:rPr>
              <a:t>Ezel Bayraktar   ·   Abdurrahim Özağaç   ·   Kürşat Hürkan Aydın   ·   Ardıl Bilal Ülkü</a:t>
            </a:r>
            <a:endParaRPr lang="en-US" sz="1100" dirty="0"/>
          </a:p>
        </p:txBody>
      </p:sp>
      <p:sp>
        <p:nvSpPr>
          <p:cNvPr id="14" name="Text 10"/>
          <p:cNvSpPr txBox="1"/>
          <p:nvPr/>
        </p:nvSpPr>
        <p:spPr>
          <a:xfrm>
            <a:off x="548640" y="6492240"/>
            <a:ext cx="4572000" cy="182880"/>
          </a:xfrm>
          <a:prstGeom prst="rect">
            <a:avLst/>
          </a:prstGeom>
          <a:noFill/>
          <a:ln/>
        </p:spPr>
        <p:txBody>
          <a:bodyPr wrap="square" lIns="0" tIns="0" rIns="0" bIns="0" rtlCol="0" anchor="t"/>
          <a:lstStyle/>
          <a:p>
            <a:pPr indent="0" marL="0">
              <a:buNone/>
            </a:pPr>
            <a:r>
              <a:rPr lang="en-US" sz="800" spc="30" kern="0" dirty="0">
                <a:solidFill>
                  <a:srgbClr val="8E95A3"/>
                </a:solidFill>
                <a:latin typeface="Courier New" pitchFamily="34" charset="0"/>
                <a:ea typeface="Courier New" pitchFamily="34" charset="-122"/>
                <a:cs typeface="Courier New" pitchFamily="34" charset="-120"/>
              </a:rPr>
              <a:t>Concept render, AI-generated. Not gameplay.</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7"/>
          <p:cNvSpPr/>
          <p:nvPr>
            <p:ph idx="107" type="body" hasCustomPrompt="1"/>
          </p:nvPr>
        </p:nvSpPr>
        <p:spPr>
          <a:xfrm>
            <a:off x="548640" y="384048"/>
            <a:ext cx="6949440" cy="237744"/>
          </a:xfrm>
          <a:prstGeom prst="rect">
            <a:avLst/>
          </a:prstGeom>
          <a:noFill/>
          <a:ln/>
        </p:spPr>
        <p:txBody>
          <a:bodyPr wrap="square" lIns="0" tIns="0" rIns="0" bIns="0" rtlCol="0" anchor="ctr"/>
          <a:lstStyle/>
          <a:p>
            <a:pPr indent="0" marL="0">
              <a:buNone/>
            </a:pPr>
            <a:r>
              <a:rPr lang="en-US" sz="950" b="1" spc="150" kern="0" dirty="0">
                <a:solidFill>
                  <a:schemeClr val="accent1"/>
                </a:solidFill>
                <a:latin typeface="Courier New" pitchFamily="34" charset="0"/>
                <a:ea typeface="Courier New" pitchFamily="34" charset="-122"/>
                <a:cs typeface="Courier New" pitchFamily="34" charset="-120"/>
              </a:rPr>
              <a:t>APPENDIX</a:t>
            </a:r>
            <a:endParaRPr lang="en-US" sz="950" dirty="0"/>
          </a:p>
        </p:txBody>
      </p:sp>
      <p:sp>
        <p:nvSpPr>
          <p:cNvPr id="3" name="Text 7"/>
          <p:cNvSpPr/>
          <p:nvPr>
            <p:ph idx="108"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Sources</a:t>
            </a:r>
            <a:endParaRPr lang="en-US" sz="3000" dirty="0"/>
          </a:p>
        </p:txBody>
      </p:sp>
      <p:sp>
        <p:nvSpPr>
          <p:cNvPr id="4" name="Text 2"/>
          <p:cNvSpPr txBox="1"/>
          <p:nvPr/>
        </p:nvSpPr>
        <p:spPr>
          <a:xfrm>
            <a:off x="548640" y="1828800"/>
            <a:ext cx="11094415" cy="4297680"/>
          </a:xfrm>
          <a:prstGeom prst="rect">
            <a:avLst/>
          </a:prstGeom>
          <a:noFill/>
          <a:ln/>
        </p:spPr>
        <p:txBody>
          <a:bodyPr wrap="square" lIns="0" tIns="0" rIns="0" bIns="0" rtlCol="0" anchor="t"/>
          <a:lstStyle/>
          <a:p>
            <a:pPr indent="0" marL="0">
              <a:spcAft>
                <a:spcPts val="700"/>
              </a:spcAft>
              <a:buNone/>
            </a:pPr>
            <a:r>
              <a:rPr lang="en-US" sz="1050" dirty="0">
                <a:solidFill>
                  <a:srgbClr val="5C616B"/>
                </a:solidFill>
              </a:rPr>
              <a:t>[1] Newzoo final 2025 figures, via GameDev Reports, 2026-06-26. gamedevreports.substack.com/p/newzoo-gaming-market-surpassed-200</a:t>
            </a:r>
            <a:endParaRPr lang="en-US" sz="1050" dirty="0"/>
          </a:p>
          <a:p>
            <a:pPr indent="0" marL="0">
              <a:spcAft>
                <a:spcPts val="700"/>
              </a:spcAft>
              <a:buNone/>
            </a:pPr>
            <a:r>
              <a:rPr lang="en-US" sz="1050" dirty="0">
                <a:solidFill>
                  <a:srgbClr val="5C616B"/>
                </a:solidFill>
              </a:rPr>
              <a:t>[2] Alinea Analytics, games with co-op on Steam, H1 2025 (proprietary estimates). alineaanalytics.substack.com/p/games-with-co-op-generated-over-4</a:t>
            </a:r>
            <a:endParaRPr lang="en-US" sz="1050" dirty="0"/>
          </a:p>
          <a:p>
            <a:pPr indent="0" marL="0">
              <a:spcAft>
                <a:spcPts val="700"/>
              </a:spcAft>
              <a:buNone/>
            </a:pPr>
            <a:r>
              <a:rPr lang="en-US" sz="1050" dirty="0">
                <a:solidFill>
                  <a:srgbClr val="5C616B"/>
                </a:solidFill>
              </a:rPr>
              <a:t>[3] ESA Essential Facts 2026 (survey Feb 2026, n=13,545). theesa.com</a:t>
            </a:r>
            <a:endParaRPr lang="en-US" sz="1050" dirty="0"/>
          </a:p>
          <a:p>
            <a:pPr indent="0" marL="0">
              <a:spcAft>
                <a:spcPts val="700"/>
              </a:spcAft>
              <a:buNone/>
            </a:pPr>
            <a:r>
              <a:rPr lang="en-US" sz="1050" dirty="0">
                <a:solidFill>
                  <a:srgbClr val="5C616B"/>
                </a:solidFill>
              </a:rPr>
              <a:t>[4] Steam store search, tag “Party Game” × LAN PvP / Online PvP / Shared-Split-screen PvP, 2026-10-17. Tags are user-applied.</a:t>
            </a:r>
            <a:endParaRPr lang="en-US" sz="1050" dirty="0"/>
          </a:p>
          <a:p>
            <a:pPr indent="0" marL="0">
              <a:spcAft>
                <a:spcPts val="700"/>
              </a:spcAft>
              <a:buNone/>
            </a:pPr>
            <a:r>
              <a:rPr lang="en-US" sz="1050" dirty="0">
                <a:solidFill>
                  <a:srgbClr val="5C616B"/>
                </a:solidFill>
              </a:rPr>
              <a:t>[5] Game Developers, 2025 Steam revenue distribution (Gamalytic estimates), 2026-08-21. game-developers.org/2025-steam-game-revenue-distribution</a:t>
            </a:r>
            <a:endParaRPr lang="en-US" sz="1050" dirty="0"/>
          </a:p>
          <a:p>
            <a:pPr indent="0" marL="0">
              <a:spcAft>
                <a:spcPts val="700"/>
              </a:spcAft>
              <a:buNone/>
            </a:pPr>
            <a:r>
              <a:rPr lang="en-US" sz="1050" dirty="0">
                <a:solidFill>
                  <a:srgbClr val="5C616B"/>
                </a:solidFill>
              </a:rPr>
              <a:t>[6] PC Gamer, Valve at GDC 2026: 5,863 games over $100K on Steam in 2025. pcgamer.com</a:t>
            </a:r>
            <a:endParaRPr lang="en-US" sz="1050" dirty="0"/>
          </a:p>
          <a:p>
            <a:pPr indent="0" marL="0">
              <a:spcAft>
                <a:spcPts val="700"/>
              </a:spcAft>
              <a:buNone/>
            </a:pPr>
            <a:r>
              <a:rPr lang="en-US" sz="1050" dirty="0">
                <a:solidFill>
                  <a:srgbClr val="5C616B"/>
                </a:solidFill>
              </a:rPr>
              <a:t>[7] Steam store pages and SteamDB charts, apps 1260320, 285900, 1097150, 880940, 1858400: prices, peaks, reviews, owner estimates. 2026-10-17.</a:t>
            </a:r>
            <a:endParaRPr lang="en-US" sz="1050" dirty="0"/>
          </a:p>
          <a:p>
            <a:pPr indent="0" marL="0">
              <a:spcAft>
                <a:spcPts val="700"/>
              </a:spcAft>
              <a:buNone/>
            </a:pPr>
            <a:r>
              <a:rPr lang="en-US" sz="1050" dirty="0">
                <a:solidFill>
                  <a:srgbClr val="5C616B"/>
                </a:solidFill>
              </a:rPr>
              <a:t>[8] GameRevolution / Prima Games: Party Animals requires an internet connection, including split-screen.</a:t>
            </a:r>
            <a:endParaRPr lang="en-US" sz="1050" dirty="0"/>
          </a:p>
          <a:p>
            <a:pPr indent="0" marL="0">
              <a:spcAft>
                <a:spcPts val="700"/>
              </a:spcAft>
              <a:buNone/>
            </a:pPr>
            <a:r>
              <a:rPr lang="en-US" sz="1050" dirty="0">
                <a:solidFill>
                  <a:srgbClr val="5C616B"/>
                </a:solidFill>
              </a:rPr>
              <a:t>[9] Osmos official site, osmos-game.com.   [10] Squarena on Steam (app 1858400); codeaclysmgames.com/squarena-details.</a:t>
            </a:r>
            <a:endParaRPr lang="en-US" sz="1050" dirty="0"/>
          </a:p>
          <a:p>
            <a:pPr indent="0" marL="0">
              <a:spcAft>
                <a:spcPts val="700"/>
              </a:spcAft>
              <a:buNone/>
            </a:pPr>
            <a:r>
              <a:rPr lang="en-US" sz="1050" dirty="0">
                <a:solidFill>
                  <a:srgbClr val="5C616B"/>
                </a:solidFill>
              </a:rPr>
              <a:t>[11] Morphies Law official site, morphieslaw.com/game.   [12] Crisol: Theater of Idols, Blumhouse Games and Steam (app 1790930).</a:t>
            </a:r>
            <a:endParaRPr lang="en-US" sz="1050" dirty="0"/>
          </a:p>
          <a:p>
            <a:pPr indent="0" marL="0">
              <a:spcAft>
                <a:spcPts val="700"/>
              </a:spcAft>
              <a:buNone/>
            </a:pPr>
            <a:r>
              <a:rPr lang="en-US" sz="1050" dirty="0">
                <a:solidFill>
                  <a:srgbClr val="5C616B"/>
                </a:solidFill>
              </a:rPr>
              <a:t>Images: all game visuals are AI concept renders (GPT Image via Higgsfield; MiniMax H3) from our own reference art, except competitor screenshots (official Steam media).</a:t>
            </a:r>
            <a:endParaRPr lang="en-US" sz="1050" dirty="0"/>
          </a:p>
        </p:txBody>
      </p:sp>
      <p:sp>
        <p:nvSpPr>
          <p:cNvPr id="25" name="Slide Number Placeholder 0"/>
          <p:cNvSpPr>
            <a:spLocks noGrp="1"/>
          </p:cNvSpPr>
          <p:nvPr>
            <p:ph type="sldNum" sz="quarter" idx="4294967295"/>
          </p:nvPr>
        </p:nvSpPr>
        <p:spPr>
          <a:xfrm>
            <a:off x="11064240" y="384048"/>
            <a:ext cx="576072"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5C616B"/>
                </a:solidFill>
                <a:latin typeface="Courier New"/>
                <a:ea typeface="Courier New"/>
                <a:cs typeface="Courier New"/>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Ice Rumble Journal">
  <a:themeElements>
    <a:clrScheme name="Ice Rumble Journal">
      <a:dk1>
        <a:srgbClr val="14161B"/>
      </a:dk1>
      <a:lt1>
        <a:srgbClr val="FFFFFF"/>
      </a:lt1>
      <a:dk2>
        <a:srgbClr val="5C616B"/>
      </a:dk2>
      <a:lt2>
        <a:srgbClr val="F2EFE9"/>
      </a:lt2>
      <a:accent1>
        <a:srgbClr val="FF5A1F"/>
      </a:accent1>
      <a:accent2>
        <a:srgbClr val="1EA5E6"/>
      </a:accent2>
      <a:accent3>
        <a:srgbClr val="3DB83A"/>
      </a:accent3>
      <a:accent4>
        <a:srgbClr val="8048E0"/>
      </a:accent4>
      <a:accent5>
        <a:srgbClr val="0F3FA8"/>
      </a:accent5>
      <a:accent6>
        <a:srgbClr val="D8D3C8"/>
      </a:accent6>
      <a:hlink>
        <a:srgbClr val="0F3FA8"/>
      </a:hlink>
      <a:folHlink>
        <a:srgbClr val="8048E0"/>
      </a:folHlink>
    </a:clrScheme>
    <a:fontScheme name="Ice Rumble Journ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Ice Rumble — Game Proposal</dc:title>
  <dc:subject>CMP406 GameTech F26 — game proposal</dc:subject>
  <dc:creator>Ezel Bayraktar, Abdurrahim Özağaç, Kürşat Hürkan Aydın, Ardıl Bilal Ülkü</dc:creator>
  <cp:lastModifiedBy>Ezel Bayraktar, Abdurrahim Özağaç, Kürşat Hürkan Aydın, Ardıl Bilal Ülkü</cp:lastModifiedBy>
  <cp:revision>1</cp:revision>
  <dcterms:created xsi:type="dcterms:W3CDTF">2026-10-17T08:33:06Z</dcterms:created>
  <dcterms:modified xsi:type="dcterms:W3CDTF">2026-10-17T08:33:06Z</dcterms:modified>
</cp:coreProperties>
</file>