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00cae4b-57a3-6d87-ee12-7eb13e017d63}">
          <p14:sldIdLst>
            <p14:sldId id="256"/>
            <p14:sldId id="257"/>
          </p14:sldIdLst>
        </p14:section>
        <p14:section name="Gameplay" id="{8c042f6c-ab05-ea86-03d2-ffc90f823bab}">
          <p14:sldIdLst>
            <p14:sldId id="258"/>
            <p14:sldId id="259"/>
            <p14:sldId id="260"/>
            <p14:sldId id="261"/>
            <p14:sldId id="262"/>
            <p14:sldId id="263"/>
            <p14:sldId id="264"/>
            <p14:sldId id="265"/>
          </p14:sldIdLst>
        </p14:section>
        <p14:section name="Market" id="{44e9cd53-9732-8b34-e4be-e6783cdd2846}">
          <p14:sldIdLst>
            <p14:sldId id="266"/>
            <p14:sldId id="267"/>
            <p14:sldId id="268"/>
          </p14:sldIdLst>
        </p14:section>
        <p14:section name="Innovation" id="{07719d1b-42dd-b2a7-c637-a6d9108097b8}">
          <p14:sldIdLst>
            <p14:sldId id="269"/>
            <p14:sldId id="270"/>
          </p14:sldIdLst>
        </p14:section>
        <p14:section name="Drafts and prototypes" id="{803f3dc9-a48e-6cbb-e6c8-dce45b5920d2}">
          <p14:sldIdLst>
            <p14:sldId id="271"/>
            <p14:sldId id="272"/>
            <p14:sldId id="273"/>
            <p14:sldId id="274"/>
          </p14:sldIdLst>
        </p14:section>
        <p14:section name="Plan" id="{24c72fbc-01e8-8ca5-ba34-965ceef307e1}">
          <p14:sldIdLst>
            <p14:sldId id="275"/>
            <p14:sldId id="276"/>
            <p14:sldId id="277"/>
            <p14:sldId id="278"/>
          </p14:sldIdLst>
        </p14:section>
        <p14:section name="Close" id="{9fdd0688-d317-724b-e02f-1ee431b9b0a8}">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Shooter Party is a working title. It is a LAN party game for two to four players: shoot, push and blast your friends through short mini-games, and one shared scoreboard decides the winner. The four of us are at the bottom, with the roles we propose. The illustrations in this deck were made for our pitch; the 3D images are AI concept renders. None of them show gameplay.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Plain-language summary. Two to four friends, each on a PC, in one room; one hosts. Every round is a new mini-game, and the shot does something different in each. A session runs lobby, pick, play, place, standings, and repeats. The host sets the rules: the session ends after a set number of mini-games or when someone reaches a target score; the playlist is random or custom, mini-games can be left out or repeated; and a mini-game can run rounds of its own, like Hole Grab losing one hole each round. Placement points 4, 3, 2, 1 are a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shooting cube everywhere: a small character with a barrel that fires real physics projectiles. What a shot does depends on the mini-game. Damage lowers the target's health. Knockback pushes the target away from the direction of the shot. Blast explodes, and fired at the ground it lifts the shooter. WASD to move; jumping is on in some mini-games and off in others. The camera is a third-person shooter camera by default, and a mini-game can change it, like the 2.5D side view in Blast Parkour. Two mechanic ideas we want to try: shoot the ground to jump, and steer with recoil on 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Knockback Arena. A flat floor with open edges. Shooting is free with a fire-rate limit; shots are real thrown objects and do nothing to the shooter. A hit pushes the target from the shot's direction and lowers its mass, while its size stays the same. So the same shot pushes a weakened player further: at full mass a hit pushes a little; after a few hits it is a longer push; after many, one more shot sends it off the edge. Falling off means you are out. Our proposal: placement by order of elimination, last cube standing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Blast Parkour, a 2.5D obstacle course. It is built side-on, so there is nowhere to hide and everyone is always in someone's line of fire. Holding the button fires a strong explosion, but while charging you cannot move, so you are open to attack. A shot at the ground lifts you up, and the same blast can push a nearby rival off a ledge. Whoever drops below the course is out; the placement rule comes after the first tests. If hitting turns out too easy, shots fall with gravity. This one is our stretch goal for the final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 Loop. The goal is to pass the most checkpoints before the timer runs out. When the track ends it starts again, and every checkpoint you pass counts plus one; the count, not the lap, decides the placement. The ice is slippery: push rivals off it into the water and they restart from their last checkpoint. One idea we want to try: firing forward while sliding pushes you back, so a shot can also correct your line. Ice is the theme of this one mini-game, not of the whole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Hole Grab: musical chairs with holes. Holes open in the ground in the player's shape, with the barrel's angle marked, so you have to line up to drop in. Every round there is one hole fewer than players: four players and three holes, then three and two, then two and one. Whoever is left without a hole is crushed by the bulldozer. Shots push other players away from the holes, but a player already inside a hole cannot be pushed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Ideas that are not committed yet. Three more mini-games are in design, owned by Abdurrahim: a classic versus battle, a harder battle variant, and The Monster, where one player is the monster and the rest play against them, with rounds inside. Two future features: character types, where weight is the natural first stat because mass drives knockback, and a rage meter that builds up across mini-games and can be spent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The four mini-games, and the next one, sit on a shared core. Each implements the same small contract: set up with the players and the session settings, run, report placement. Below that is shared gameplay: the cube controller with WASD and jump, the third-person camera that a mini-game can override, the shot system whose effect each mini-game sets, the session and playlist with end rules and exclusions, the scoreboard, and the lobby and UI. Then the LAN layer, where one player hosts and the others are clients; Unity Netcode is our candidate, not a final choice. The engine is Unity with built-in rigidbody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shot end to end. Client A sends fire input and aim direction. The host checks the fire-rate limit and spawns the projectile; the shooter is not affected. The physics step carries it to B. The host applies this mini-game's effect: B loses mass and is pushed from the shot's direction. The host sends the same snapshot, with positions, mass and scores, to every client, and clients interpolate between snapshots. Own movement is predicted locally for feel.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and audience. We aim at groups of two to four friends in one room, each on their own PC: students, LAN parties and game nights. PC is a 43.6 billion dollar market that grew 12 percent in 2025; games with co-op made an estimated 4.1 billion on Steam in the first half of 2025; most players play with others. Only about 8 percent of Steam party games list LAN. Revenue is very uneven, so LAN is how we stand out, not why people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comparables, each chosen for one reason. Party Animals and Gang Beasts share our audience and physics comedy. Fall Guys and Pummel Party share our session format of short rounds. Squarena is the closest mechanic: it weakens you by shrinking you, in 2D. Owner numbers are third-party estimates and we label them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Each competitor covers part of this table. Squarena weakens your body by shrinking it; we lower mass instead, and none ties knockback to lost mass. None advertises official LAN. The Shooter Party column is our plan, not shipped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are new together. First, mass, not size: hits lower your mass while your size stays, so the same shot launches a weakened player further and everyone can see the danger build. Second, one trigger with many effects: the same shot pushes, damages or lifts you depending on the mini-game, so controls are learned once and each mini-game still feels new. Third, your session, your rules: random or custom playlists, excluded or repeated mini-games, and an end by rounds or by score, all on a LAN with no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name the relatives. Squarena weakens your body in 2D, and Morphies Law moves mass between robots. Smash Bros. raises knockback with a damage percentage counter, not with mass. Blasting yourself upward is classic rocket jumping, as in Quake and Team Fortress 2. Recoil movement exists in some games; we have not searched shoot-to-steer on ice yet. Lighter-means-launched-further, and mass knockback in a LAN party game, we did not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prototype: a deterministic physics test in Three.js. Over three shots the target flies further each time, and the rule is readable without any UI. What changed since: this early test showed lost mass as shrinking. Our rule now keeps the size and lowers only the mass, so the Unity test needs another way to show it, a HUD bar, a colour or an effect, still to be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AI-generated looks for the same character were compared before modelling: vinyl toy, building blocks, glossy toy and jelly. We chose the glossy toy. Arenas take bright party settings like grass, sky and water; ice is only the theme of Ice Loop. The four player colours stay the same whatever the arena.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logo drafts for the working title Shooter Party. A is a wordmark for the title screen and the deck. B stacks the name under the shooting cube for square formats like a store capsule. C is a small icon for the taskbar and the build. None is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level drafts, seen from above. Knockback Arena: one flat square platform with open edges and no walls; players spawn near the corners and the open edge is the knockout line. Ice Loop: a looping track with checkpoints; every checkpoint counts, lap after lap, and falling into the water puts you back at your last checkpoint. Blast Parkour and Hole Grab layouts come next, as blockouts in 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The proposed MVP is the shared core plus three mini-games: Knockback Arena, Ice Loop and Hole Grab. Blast Parkour joins in the final phase if time allows. Four Monday checkpoints: the proposal on 19 October; Demo 1 on 16 November with the shared core, LAN host and join and a playable Knockback Arena; Demo 2 on 14 December with Ice Loop, Hole Grab and a full session; the final on 11 January with tuning, polish and the promo video. Three risks: networked physics, handled by host authority; balance, handled by fire-rate limits and gravity shots if needed; and scope, handled by building the core first and adding mini-games in priority order. Scope and owners are a proposal to agree on as a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Weeks 1 to 4. Ezel sets up the project and the LAN layer with host authority. Kürşat builds the cube controller, the third-person camera and the Knockback Arena level. Abdurrahim builds the shot system and the mass and knockback rule. Ardıl builds the lobby UI and the character model in four colours. Week 4 ends with the Demo 1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Weeks 5 to 8. Networked projectiles and hits; the session with playlist and end rules; the scoreboard and placement points; Ice Loop with ice physics and checkpoints; Hole Grab with holes, rounds and the bulldozer. Week 8 is the first full-session playtest and the Demo 2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Weeks 9 to 12. Blast Parkour as the stretch goal, network fixes and balance tuning from playtests, VFX and sound, art and UI polish with party-theme arenas, a LAN stress test and the final build, and in the last week the promo video and final deck. The final date may still move; we would shift the last weeks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two to four players, one LAN, no internet, your own playlist. One shooting cube, and every mini-game changes what a shot does. Every hit lowers your mass, so the next push sends you further.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research notes with all sources are in research/market-research.md.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jp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jp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jp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jp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jp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jp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image" Target="../media/image-12-5.jpg"/><Relationship Id="rId6" Type="http://schemas.openxmlformats.org/officeDocument/2006/relationships/image" Target="../media/image-12-6.jp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image" Target="../media/image-13-16.png"/><Relationship Id="rId17" Type="http://schemas.openxmlformats.org/officeDocument/2006/relationships/image" Target="../media/image-13-17.png"/><Relationship Id="rId18" Type="http://schemas.openxmlformats.org/officeDocument/2006/relationships/image" Target="../media/image-13-18.png"/><Relationship Id="rId19" Type="http://schemas.openxmlformats.org/officeDocument/2006/relationships/image" Target="../media/image-13-19.png"/><Relationship Id="rId20" Type="http://schemas.openxmlformats.org/officeDocument/2006/relationships/image" Target="../media/image-13-20.png"/><Relationship Id="rId21" Type="http://schemas.openxmlformats.org/officeDocument/2006/relationships/image" Target="../media/image-13-21.png"/><Relationship Id="rId22" Type="http://schemas.openxmlformats.org/officeDocument/2006/relationships/image" Target="../media/image-13-22.png"/><Relationship Id="rId23" Type="http://schemas.openxmlformats.org/officeDocument/2006/relationships/image" Target="../media/image-13-23.png"/><Relationship Id="rId24" Type="http://schemas.openxmlformats.org/officeDocument/2006/relationships/image" Target="../media/image-13-24.png"/><Relationship Id="rId25" Type="http://schemas.openxmlformats.org/officeDocument/2006/relationships/image" Target="../media/image-13-25.png"/><Relationship Id="rId26" Type="http://schemas.openxmlformats.org/officeDocument/2006/relationships/image" Target="../media/image-13-26.png"/><Relationship Id="rId27" Type="http://schemas.openxmlformats.org/officeDocument/2006/relationships/image" Target="../media/image-13-27.png"/><Relationship Id="rId28" Type="http://schemas.openxmlformats.org/officeDocument/2006/relationships/image" Target="../media/image-13-28.png"/><Relationship Id="rId29" Type="http://schemas.openxmlformats.org/officeDocument/2006/relationships/image" Target="../media/image-13-29.png"/><Relationship Id="rId30" Type="http://schemas.openxmlformats.org/officeDocument/2006/relationships/image" Target="../media/image-13-30.png"/><Relationship Id="rId31" Type="http://schemas.openxmlformats.org/officeDocument/2006/relationships/image" Target="../media/image-13-31.png"/><Relationship Id="rId32" Type="http://schemas.openxmlformats.org/officeDocument/2006/relationships/image" Target="../media/image-13-32.png"/><Relationship Id="rId33" Type="http://schemas.openxmlformats.org/officeDocument/2006/relationships/image" Target="../media/image-13-33.png"/><Relationship Id="rId34" Type="http://schemas.openxmlformats.org/officeDocument/2006/relationships/image" Target="../media/image-13-34.png"/><Relationship Id="rId35" Type="http://schemas.openxmlformats.org/officeDocument/2006/relationships/image" Target="../media/image-13-35.png"/><Relationship Id="rId36" Type="http://schemas.openxmlformats.org/officeDocument/2006/relationships/image" Target="../media/image-13-36.png"/><Relationship Id="rId37" Type="http://schemas.openxmlformats.org/officeDocument/2006/relationships/image" Target="../media/image-13-37.png"/><Relationship Id="rId38" Type="http://schemas.openxmlformats.org/officeDocument/2006/relationships/image" Target="../media/image-13-38.png"/><Relationship Id="rId39" Type="http://schemas.openxmlformats.org/officeDocument/2006/relationships/image" Target="../media/image-13-39.png"/><Relationship Id="rId40" Type="http://schemas.openxmlformats.org/officeDocument/2006/relationships/image" Target="../media/image-13-40.png"/><Relationship Id="rId41" Type="http://schemas.openxmlformats.org/officeDocument/2006/relationships/image" Target="../media/image-13-41.png"/><Relationship Id="rId42" Type="http://schemas.openxmlformats.org/officeDocument/2006/relationships/image" Target="../media/image-13-42.png"/><Relationship Id="rId43" Type="http://schemas.openxmlformats.org/officeDocument/2006/relationships/image" Target="../media/image-13-43.png"/><Relationship Id="rId44" Type="http://schemas.openxmlformats.org/officeDocument/2006/relationships/image" Target="../media/image-13-44.png"/><Relationship Id="rId45" Type="http://schemas.openxmlformats.org/officeDocument/2006/relationships/image" Target="../media/image-13-45.png"/><Relationship Id="rId46" Type="http://schemas.openxmlformats.org/officeDocument/2006/relationships/slideLayout" Target="../slideLayouts/slideLayout1.xml"/><Relationship Id="rId4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image" Target="../media/image-16-4.jpg"/><Relationship Id="rId5" Type="http://schemas.openxmlformats.org/officeDocument/2006/relationships/image" Target="../media/image-16-5.jp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image" Target="../media/image-17-5.jp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1.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image" Target="../media/image-24-2.jp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1.1" descr="sp_cover.png">    </p:cNvPr>
          <p:cNvPicPr>
            <a:picLocks noChangeAspect="1"/>
          </p:cNvPicPr>
          <p:nvPr/>
        </p:nvPicPr>
        <p:blipFill>
          <a:blip r:embed="rId2"/>
          <a:stretch>
            <a:fillRect/>
          </a:stretch>
        </p:blipFill>
        <p:spPr>
          <a:xfrm>
            <a:off x="0" y="0"/>
            <a:ext cx="12191695" cy="6857829"/>
          </a:xfrm>
          <a:prstGeom prst="rect">
            <a:avLst/>
          </a:prstGeom>
        </p:spPr>
      </p:pic>
      <p:sp>
        <p:nvSpPr>
          <p:cNvPr id="3" name="shape 1.2"/>
          <p:cNvSpPr/>
          <p:nvPr/>
        </p:nvSpPr>
        <p:spPr>
          <a:xfrm>
            <a:off x="609585" y="419090"/>
            <a:ext cx="5714857" cy="2920927"/>
          </a:xfrm>
          <a:prstGeom prst="roundRect">
            <a:avLst>
              <a:gd name="adj" fmla="val 5217"/>
            </a:avLst>
          </a:prstGeom>
          <a:solidFill>
            <a:srgbClr val="FFFFFF"/>
          </a:solidFill>
          <a:ln/>
          <a:effectLst>
            <a:outerShdw sx="100000" sy="100000" kx="0" ky="0" algn="bl" rotWithShape="0" blurRad="203200" dist="76200" dir="5400000">
              <a:srgbClr val="1E468C">
                <a:alpha val="16000"/>
              </a:srgbClr>
            </a:outerShdw>
          </a:effectLst>
        </p:spPr>
      </p:sp>
      <p:sp>
        <p:nvSpPr>
          <p:cNvPr id="4" name="shape 1.3"/>
          <p:cNvSpPr/>
          <p:nvPr/>
        </p:nvSpPr>
        <p:spPr>
          <a:xfrm>
            <a:off x="609585" y="5524362"/>
            <a:ext cx="2641534" cy="952476"/>
          </a:xfrm>
          <a:prstGeom prst="roundRect">
            <a:avLst>
              <a:gd name="adj" fmla="val 16000"/>
            </a:avLst>
          </a:prstGeom>
          <a:solidFill>
            <a:srgbClr val="FFFFFF"/>
          </a:solidFill>
          <a:ln/>
          <a:effectLst>
            <a:outerShdw sx="100000" sy="100000" kx="0" ky="0" algn="bl" rotWithShape="0" blurRad="203200" dist="76200" dir="5400000">
              <a:srgbClr val="1E468C">
                <a:alpha val="16000"/>
              </a:srgbClr>
            </a:outerShdw>
          </a:effectLst>
        </p:spPr>
      </p:sp>
      <p:sp>
        <p:nvSpPr>
          <p:cNvPr id="5" name="shape 1.4"/>
          <p:cNvSpPr/>
          <p:nvPr/>
        </p:nvSpPr>
        <p:spPr>
          <a:xfrm>
            <a:off x="3403515" y="5524362"/>
            <a:ext cx="2641534" cy="952476"/>
          </a:xfrm>
          <a:prstGeom prst="roundRect">
            <a:avLst>
              <a:gd name="adj" fmla="val 16000"/>
            </a:avLst>
          </a:prstGeom>
          <a:solidFill>
            <a:srgbClr val="FFFFFF"/>
          </a:solidFill>
          <a:ln/>
          <a:effectLst>
            <a:outerShdw sx="100000" sy="100000" kx="0" ky="0" algn="bl" rotWithShape="0" blurRad="203200" dist="76200" dir="5400000">
              <a:srgbClr val="1E468C">
                <a:alpha val="16000"/>
              </a:srgbClr>
            </a:outerShdw>
          </a:effectLst>
        </p:spPr>
      </p:sp>
      <p:sp>
        <p:nvSpPr>
          <p:cNvPr id="6" name="shape 1.5"/>
          <p:cNvSpPr/>
          <p:nvPr/>
        </p:nvSpPr>
        <p:spPr>
          <a:xfrm>
            <a:off x="6197445" y="5524362"/>
            <a:ext cx="2641534" cy="952476"/>
          </a:xfrm>
          <a:prstGeom prst="roundRect">
            <a:avLst>
              <a:gd name="adj" fmla="val 16000"/>
            </a:avLst>
          </a:prstGeom>
          <a:solidFill>
            <a:srgbClr val="FFFFFF"/>
          </a:solidFill>
          <a:ln/>
          <a:effectLst>
            <a:outerShdw sx="100000" sy="100000" kx="0" ky="0" algn="bl" rotWithShape="0" blurRad="203200" dist="76200" dir="5400000">
              <a:srgbClr val="1E468C">
                <a:alpha val="16000"/>
              </a:srgbClr>
            </a:outerShdw>
          </a:effectLst>
        </p:spPr>
      </p:sp>
      <p:sp>
        <p:nvSpPr>
          <p:cNvPr id="7" name="shape 1.6"/>
          <p:cNvSpPr/>
          <p:nvPr/>
        </p:nvSpPr>
        <p:spPr>
          <a:xfrm>
            <a:off x="8991375" y="5524362"/>
            <a:ext cx="2641534" cy="952476"/>
          </a:xfrm>
          <a:prstGeom prst="roundRect">
            <a:avLst>
              <a:gd name="adj" fmla="val 16000"/>
            </a:avLst>
          </a:prstGeom>
          <a:solidFill>
            <a:srgbClr val="FFFFFF"/>
          </a:solidFill>
          <a:ln/>
          <a:effectLst>
            <a:outerShdw sx="100000" sy="100000" kx="0" ky="0" algn="bl" rotWithShape="0" blurRad="203200" dist="76200" dir="5400000">
              <a:srgbClr val="1E468C">
                <a:alpha val="16000"/>
              </a:srgbClr>
            </a:outerShdw>
          </a:effectLst>
        </p:spPr>
      </p:sp>
      <p:sp>
        <p:nvSpPr>
          <p:cNvPr id="8" name="text 1.7"/>
          <p:cNvSpPr txBox="1"/>
          <p:nvPr/>
        </p:nvSpPr>
        <p:spPr>
          <a:xfrm>
            <a:off x="914377" y="736582"/>
            <a:ext cx="3367916"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GAME PROPOSAL · CMP406 GAMETECH · FALL 2026</a:t>
            </a:r>
            <a:endParaRPr lang="en-US" sz="800" dirty="0"/>
          </a:p>
        </p:txBody>
      </p:sp>
      <p:sp>
        <p:nvSpPr>
          <p:cNvPr id="9" name="text 1.8"/>
          <p:cNvSpPr txBox="1"/>
          <p:nvPr/>
        </p:nvSpPr>
        <p:spPr>
          <a:xfrm>
            <a:off x="888978" y="965176"/>
            <a:ext cx="4922843" cy="685783"/>
          </a:xfrm>
          <a:prstGeom prst="rect">
            <a:avLst/>
          </a:prstGeom>
          <a:noFill/>
          <a:ln/>
        </p:spPr>
        <p:txBody>
          <a:bodyPr wrap="square" lIns="0" tIns="0" rIns="0" bIns="0" rtlCol="0" anchor="t"/>
          <a:lstStyle/>
          <a:p>
            <a:pPr algn="l" indent="0" marL="0">
              <a:lnSpc>
                <a:spcPts val="5400"/>
              </a:lnSpc>
              <a:buNone/>
            </a:pPr>
            <a:r>
              <a:rPr lang="en-US" sz="54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5400"/>
              </a:lnSpc>
              <a:buNone/>
            </a:pPr>
            <a:r>
              <a:rPr lang="en-US" sz="5400" dirty="0">
                <a:solidFill>
                  <a:srgbClr val="43B832"/>
                </a:solidFill>
                <a:latin typeface="Arial Rounded MT Bold" pitchFamily="34" charset="0"/>
                <a:ea typeface="Arial Rounded MT Bold" pitchFamily="34" charset="-122"/>
                <a:cs typeface="Arial Rounded MT Bold" pitchFamily="34" charset="-120"/>
              </a:rPr>
              <a:t>Party</a:t>
            </a:r>
            <a:endParaRPr lang="en-US" sz="5400" dirty="0"/>
          </a:p>
        </p:txBody>
      </p:sp>
      <p:sp>
        <p:nvSpPr>
          <p:cNvPr id="10" name="shape 1.9"/>
          <p:cNvSpPr/>
          <p:nvPr/>
        </p:nvSpPr>
        <p:spPr>
          <a:xfrm>
            <a:off x="914377" y="1879553"/>
            <a:ext cx="1142971" cy="241294"/>
          </a:xfrm>
          <a:prstGeom prst="roundRect">
            <a:avLst>
              <a:gd name="adj" fmla="val 50000"/>
            </a:avLst>
          </a:prstGeom>
          <a:solidFill>
            <a:srgbClr val="FF6B1F"/>
          </a:solidFill>
          <a:ln/>
        </p:spPr>
      </p:sp>
      <p:sp>
        <p:nvSpPr>
          <p:cNvPr id="11" name="text 1.10"/>
          <p:cNvSpPr txBox="1"/>
          <p:nvPr/>
        </p:nvSpPr>
        <p:spPr>
          <a:xfrm>
            <a:off x="914377" y="1879553"/>
            <a:ext cx="1142971" cy="2412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WORKING TITLE</a:t>
            </a:r>
            <a:endParaRPr lang="en-US" sz="700" dirty="0"/>
          </a:p>
        </p:txBody>
      </p:sp>
      <p:sp>
        <p:nvSpPr>
          <p:cNvPr id="12" name="text 1.11"/>
          <p:cNvSpPr txBox="1"/>
          <p:nvPr/>
        </p:nvSpPr>
        <p:spPr>
          <a:xfrm>
            <a:off x="2184345" y="1936702"/>
            <a:ext cx="831234" cy="114297"/>
          </a:xfrm>
          <a:prstGeom prst="rect">
            <a:avLst/>
          </a:prstGeom>
          <a:noFill/>
          <a:ln/>
        </p:spPr>
        <p:txBody>
          <a:bodyPr wrap="square" lIns="0" tIns="0" rIns="0" bIns="0" rtlCol="0" anchor="t"/>
          <a:lstStyle/>
          <a:p>
            <a:pPr algn="l" indent="0" marL="0">
              <a:lnSpc>
                <a:spcPts val="900"/>
              </a:lnSpc>
              <a:buNone/>
            </a:pPr>
            <a:r>
              <a:rPr lang="en-US" sz="900" b="1" dirty="0">
                <a:solidFill>
                  <a:srgbClr val="6F778C"/>
                </a:solidFill>
                <a:latin typeface="Arial" pitchFamily="34" charset="0"/>
                <a:ea typeface="Arial" pitchFamily="34" charset="-122"/>
                <a:cs typeface="Arial" pitchFamily="34" charset="-120"/>
              </a:rPr>
              <a:t>October 2026</a:t>
            </a:r>
            <a:endParaRPr lang="en-US" sz="900" dirty="0"/>
          </a:p>
        </p:txBody>
      </p:sp>
      <p:sp>
        <p:nvSpPr>
          <p:cNvPr id="13" name="text 1.12"/>
          <p:cNvSpPr txBox="1"/>
          <p:nvPr/>
        </p:nvSpPr>
        <p:spPr>
          <a:xfrm>
            <a:off x="914377" y="2298643"/>
            <a:ext cx="5244969" cy="709595"/>
          </a:xfrm>
          <a:prstGeom prst="rect">
            <a:avLst/>
          </a:prstGeom>
          <a:noFill/>
          <a:ln/>
        </p:spPr>
        <p:txBody>
          <a:bodyPr wrap="square" lIns="0" tIns="0" rIns="0" bIns="0" rtlCol="0" anchor="t"/>
          <a:lstStyle/>
          <a:p>
            <a:pPr algn="l" indent="0" marL="0">
              <a:lnSpc>
                <a:spcPts val="1860"/>
              </a:lnSpc>
              <a:buNone/>
            </a:pPr>
            <a:r>
              <a:rPr lang="en-US" sz="1350" b="1" dirty="0">
                <a:solidFill>
                  <a:srgbClr val="1B2340"/>
                </a:solidFill>
                <a:latin typeface="Arial" pitchFamily="34" charset="0"/>
                <a:ea typeface="Arial" pitchFamily="34" charset="-122"/>
                <a:cs typeface="Arial" pitchFamily="34" charset="-120"/>
              </a:rPr>
              <a:t>A LAN party game for 2–4 players. Shoot, push and blast your friends through short mini-games; one shared scoreboard decides the winner.</a:t>
            </a:r>
            <a:endParaRPr lang="en-US" sz="1350" dirty="0"/>
          </a:p>
        </p:txBody>
      </p:sp>
      <p:sp>
        <p:nvSpPr>
          <p:cNvPr id="14" name="shape 1.13"/>
          <p:cNvSpPr/>
          <p:nvPr/>
        </p:nvSpPr>
        <p:spPr>
          <a:xfrm>
            <a:off x="761981" y="5689458"/>
            <a:ext cx="177796" cy="177796"/>
          </a:xfrm>
          <a:prstGeom prst="roundRect">
            <a:avLst>
              <a:gd name="adj" fmla="val 28571"/>
            </a:avLst>
          </a:prstGeom>
          <a:solidFill>
            <a:srgbClr val="FF6B1F"/>
          </a:solidFill>
          <a:ln/>
        </p:spPr>
      </p:sp>
      <p:sp>
        <p:nvSpPr>
          <p:cNvPr id="15" name="text 1.14"/>
          <p:cNvSpPr txBox="1"/>
          <p:nvPr/>
        </p:nvSpPr>
        <p:spPr>
          <a:xfrm>
            <a:off x="1028674" y="5702157"/>
            <a:ext cx="2133547" cy="167636"/>
          </a:xfrm>
          <a:prstGeom prst="rect">
            <a:avLst/>
          </a:prstGeom>
          <a:noFill/>
          <a:ln/>
        </p:spPr>
        <p:txBody>
          <a:bodyPr wrap="square" lIns="0" tIns="0" rIns="0" bIns="0" rtlCol="0" anchor="t"/>
          <a:lstStyle/>
          <a:p>
            <a:pPr algn="l" indent="0" marL="0">
              <a:lnSpc>
                <a:spcPts val="1320"/>
              </a:lnSpc>
              <a:buNone/>
            </a:pPr>
            <a:r>
              <a:rPr lang="en-US" sz="1100" b="1" dirty="0">
                <a:solidFill>
                  <a:srgbClr val="1B2340"/>
                </a:solidFill>
                <a:latin typeface="Arial" pitchFamily="34" charset="0"/>
                <a:ea typeface="Arial" pitchFamily="34" charset="-122"/>
                <a:cs typeface="Arial" pitchFamily="34" charset="-120"/>
              </a:rPr>
              <a:t>Ezel Bayraktar</a:t>
            </a:r>
            <a:endParaRPr lang="en-US" sz="1100" dirty="0"/>
          </a:p>
        </p:txBody>
      </p:sp>
      <p:sp>
        <p:nvSpPr>
          <p:cNvPr id="16" name="text 1.15"/>
          <p:cNvSpPr txBox="1"/>
          <p:nvPr/>
        </p:nvSpPr>
        <p:spPr>
          <a:xfrm>
            <a:off x="1028674" y="5918052"/>
            <a:ext cx="699878"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2220356197</a:t>
            </a:r>
            <a:endParaRPr lang="en-US" sz="850" dirty="0"/>
          </a:p>
        </p:txBody>
      </p:sp>
      <p:sp>
        <p:nvSpPr>
          <p:cNvPr id="17" name="text 1.16"/>
          <p:cNvSpPr txBox="1"/>
          <p:nvPr/>
        </p:nvSpPr>
        <p:spPr>
          <a:xfrm>
            <a:off x="1028674" y="6121247"/>
            <a:ext cx="2133547" cy="129537"/>
          </a:xfrm>
          <a:prstGeom prst="rect">
            <a:avLst/>
          </a:prstGeom>
          <a:noFill/>
          <a:ln/>
        </p:spPr>
        <p:txBody>
          <a:bodyPr wrap="square" lIns="0" tIns="0" rIns="0" bIns="0" rtlCol="0" anchor="t"/>
          <a:lstStyle/>
          <a:p>
            <a:pPr algn="l" indent="0" marL="0">
              <a:lnSpc>
                <a:spcPts val="1020"/>
              </a:lnSpc>
              <a:buNone/>
            </a:pPr>
            <a:r>
              <a:rPr lang="en-US" sz="850" b="1" dirty="0">
                <a:solidFill>
                  <a:srgbClr val="FF6B1F"/>
                </a:solidFill>
                <a:latin typeface="Arial" pitchFamily="34" charset="0"/>
                <a:ea typeface="Arial" pitchFamily="34" charset="-122"/>
                <a:cs typeface="Arial" pitchFamily="34" charset="-120"/>
              </a:rPr>
              <a:t>Network, build</a:t>
            </a:r>
            <a:endParaRPr lang="en-US" sz="850" dirty="0"/>
          </a:p>
        </p:txBody>
      </p:sp>
      <p:sp>
        <p:nvSpPr>
          <p:cNvPr id="18" name="shape 1.17"/>
          <p:cNvSpPr/>
          <p:nvPr/>
        </p:nvSpPr>
        <p:spPr>
          <a:xfrm>
            <a:off x="3555911" y="5689458"/>
            <a:ext cx="177796" cy="177796"/>
          </a:xfrm>
          <a:prstGeom prst="roundRect">
            <a:avLst>
              <a:gd name="adj" fmla="val 28571"/>
            </a:avLst>
          </a:prstGeom>
          <a:solidFill>
            <a:srgbClr val="1FA9EA"/>
          </a:solidFill>
          <a:ln/>
        </p:spPr>
      </p:sp>
      <p:sp>
        <p:nvSpPr>
          <p:cNvPr id="19" name="text 1.18"/>
          <p:cNvSpPr txBox="1"/>
          <p:nvPr/>
        </p:nvSpPr>
        <p:spPr>
          <a:xfrm>
            <a:off x="3822604" y="5702157"/>
            <a:ext cx="2133547" cy="167636"/>
          </a:xfrm>
          <a:prstGeom prst="rect">
            <a:avLst/>
          </a:prstGeom>
          <a:noFill/>
          <a:ln/>
        </p:spPr>
        <p:txBody>
          <a:bodyPr wrap="square" lIns="0" tIns="0" rIns="0" bIns="0" rtlCol="0" anchor="t"/>
          <a:lstStyle/>
          <a:p>
            <a:pPr algn="l" indent="0" marL="0">
              <a:lnSpc>
                <a:spcPts val="1320"/>
              </a:lnSpc>
              <a:buNone/>
            </a:pPr>
            <a:r>
              <a:rPr lang="en-US" sz="1100" b="1" dirty="0">
                <a:solidFill>
                  <a:srgbClr val="1B2340"/>
                </a:solidFill>
                <a:latin typeface="Arial" pitchFamily="34" charset="0"/>
                <a:ea typeface="Arial" pitchFamily="34" charset="-122"/>
                <a:cs typeface="Arial" pitchFamily="34" charset="-120"/>
              </a:rPr>
              <a:t>Abdurrahim Özağaç</a:t>
            </a:r>
            <a:endParaRPr lang="en-US" sz="1100" dirty="0"/>
          </a:p>
        </p:txBody>
      </p:sp>
      <p:sp>
        <p:nvSpPr>
          <p:cNvPr id="20" name="text 1.19"/>
          <p:cNvSpPr txBox="1"/>
          <p:nvPr/>
        </p:nvSpPr>
        <p:spPr>
          <a:xfrm>
            <a:off x="3822604" y="5918052"/>
            <a:ext cx="699878"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2220356033</a:t>
            </a:r>
            <a:endParaRPr lang="en-US" sz="850" dirty="0"/>
          </a:p>
        </p:txBody>
      </p:sp>
      <p:sp>
        <p:nvSpPr>
          <p:cNvPr id="21" name="text 1.20"/>
          <p:cNvSpPr txBox="1"/>
          <p:nvPr/>
        </p:nvSpPr>
        <p:spPr>
          <a:xfrm>
            <a:off x="3822604" y="6121247"/>
            <a:ext cx="2133547" cy="129537"/>
          </a:xfrm>
          <a:prstGeom prst="rect">
            <a:avLst/>
          </a:prstGeom>
          <a:noFill/>
          <a:ln/>
        </p:spPr>
        <p:txBody>
          <a:bodyPr wrap="square" lIns="0" tIns="0" rIns="0" bIns="0" rtlCol="0" anchor="t"/>
          <a:lstStyle/>
          <a:p>
            <a:pPr algn="l" indent="0" marL="0">
              <a:lnSpc>
                <a:spcPts val="1020"/>
              </a:lnSpc>
              <a:buNone/>
            </a:pPr>
            <a:r>
              <a:rPr lang="en-US" sz="850" b="1" dirty="0">
                <a:solidFill>
                  <a:srgbClr val="1FA9EA"/>
                </a:solidFill>
                <a:latin typeface="Arial" pitchFamily="34" charset="0"/>
                <a:ea typeface="Arial" pitchFamily="34" charset="-122"/>
                <a:cs typeface="Arial" pitchFamily="34" charset="-120"/>
              </a:rPr>
              <a:t>Shots, mini-game rules</a:t>
            </a:r>
            <a:endParaRPr lang="en-US" sz="850" dirty="0"/>
          </a:p>
        </p:txBody>
      </p:sp>
      <p:sp>
        <p:nvSpPr>
          <p:cNvPr id="22" name="shape 1.21"/>
          <p:cNvSpPr/>
          <p:nvPr/>
        </p:nvSpPr>
        <p:spPr>
          <a:xfrm>
            <a:off x="6349841" y="5689458"/>
            <a:ext cx="177796" cy="177796"/>
          </a:xfrm>
          <a:prstGeom prst="roundRect">
            <a:avLst>
              <a:gd name="adj" fmla="val 28571"/>
            </a:avLst>
          </a:prstGeom>
          <a:solidFill>
            <a:srgbClr val="43B832"/>
          </a:solidFill>
          <a:ln/>
        </p:spPr>
      </p:sp>
      <p:sp>
        <p:nvSpPr>
          <p:cNvPr id="23" name="text 1.22"/>
          <p:cNvSpPr txBox="1"/>
          <p:nvPr/>
        </p:nvSpPr>
        <p:spPr>
          <a:xfrm>
            <a:off x="6616535" y="5702157"/>
            <a:ext cx="2133547" cy="167636"/>
          </a:xfrm>
          <a:prstGeom prst="rect">
            <a:avLst/>
          </a:prstGeom>
          <a:noFill/>
          <a:ln/>
        </p:spPr>
        <p:txBody>
          <a:bodyPr wrap="square" lIns="0" tIns="0" rIns="0" bIns="0" rtlCol="0" anchor="t"/>
          <a:lstStyle/>
          <a:p>
            <a:pPr algn="l" indent="0" marL="0">
              <a:lnSpc>
                <a:spcPts val="1320"/>
              </a:lnSpc>
              <a:buNone/>
            </a:pPr>
            <a:r>
              <a:rPr lang="en-US" sz="1100" b="1" dirty="0">
                <a:solidFill>
                  <a:srgbClr val="1B2340"/>
                </a:solidFill>
                <a:latin typeface="Arial" pitchFamily="34" charset="0"/>
                <a:ea typeface="Arial" pitchFamily="34" charset="-122"/>
                <a:cs typeface="Arial" pitchFamily="34" charset="-120"/>
              </a:rPr>
              <a:t>Kürşat Hürkan Aydın</a:t>
            </a:r>
            <a:endParaRPr lang="en-US" sz="1100" dirty="0"/>
          </a:p>
        </p:txBody>
      </p:sp>
      <p:sp>
        <p:nvSpPr>
          <p:cNvPr id="24" name="text 1.23"/>
          <p:cNvSpPr txBox="1"/>
          <p:nvPr/>
        </p:nvSpPr>
        <p:spPr>
          <a:xfrm>
            <a:off x="6616535" y="5918052"/>
            <a:ext cx="699878"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2230356008</a:t>
            </a:r>
            <a:endParaRPr lang="en-US" sz="850" dirty="0"/>
          </a:p>
        </p:txBody>
      </p:sp>
      <p:sp>
        <p:nvSpPr>
          <p:cNvPr id="25" name="text 1.24"/>
          <p:cNvSpPr txBox="1"/>
          <p:nvPr/>
        </p:nvSpPr>
        <p:spPr>
          <a:xfrm>
            <a:off x="6616535" y="6121247"/>
            <a:ext cx="2133547" cy="129537"/>
          </a:xfrm>
          <a:prstGeom prst="rect">
            <a:avLst/>
          </a:prstGeom>
          <a:noFill/>
          <a:ln/>
        </p:spPr>
        <p:txBody>
          <a:bodyPr wrap="square" lIns="0" tIns="0" rIns="0" bIns="0" rtlCol="0" anchor="t"/>
          <a:lstStyle/>
          <a:p>
            <a:pPr algn="l" indent="0" marL="0">
              <a:lnSpc>
                <a:spcPts val="1020"/>
              </a:lnSpc>
              <a:buNone/>
            </a:pPr>
            <a:r>
              <a:rPr lang="en-US" sz="850" b="1" dirty="0">
                <a:solidFill>
                  <a:srgbClr val="43B832"/>
                </a:solidFill>
                <a:latin typeface="Arial" pitchFamily="34" charset="0"/>
                <a:ea typeface="Arial" pitchFamily="34" charset="-122"/>
                <a:cs typeface="Arial" pitchFamily="34" charset="-120"/>
              </a:rPr>
              <a:t>Movement, levels</a:t>
            </a:r>
            <a:endParaRPr lang="en-US" sz="850" dirty="0"/>
          </a:p>
        </p:txBody>
      </p:sp>
      <p:sp>
        <p:nvSpPr>
          <p:cNvPr id="26" name="shape 1.25"/>
          <p:cNvSpPr/>
          <p:nvPr/>
        </p:nvSpPr>
        <p:spPr>
          <a:xfrm>
            <a:off x="9143771" y="5689458"/>
            <a:ext cx="177796" cy="177796"/>
          </a:xfrm>
          <a:prstGeom prst="roundRect">
            <a:avLst>
              <a:gd name="adj" fmla="val 28571"/>
            </a:avLst>
          </a:prstGeom>
          <a:solidFill>
            <a:srgbClr val="8F55F5"/>
          </a:solidFill>
          <a:ln/>
        </p:spPr>
      </p:sp>
      <p:sp>
        <p:nvSpPr>
          <p:cNvPr id="27" name="text 1.26"/>
          <p:cNvSpPr txBox="1"/>
          <p:nvPr/>
        </p:nvSpPr>
        <p:spPr>
          <a:xfrm>
            <a:off x="9410465" y="5702157"/>
            <a:ext cx="2133547" cy="167636"/>
          </a:xfrm>
          <a:prstGeom prst="rect">
            <a:avLst/>
          </a:prstGeom>
          <a:noFill/>
          <a:ln/>
        </p:spPr>
        <p:txBody>
          <a:bodyPr wrap="square" lIns="0" tIns="0" rIns="0" bIns="0" rtlCol="0" anchor="t"/>
          <a:lstStyle/>
          <a:p>
            <a:pPr algn="l" indent="0" marL="0">
              <a:lnSpc>
                <a:spcPts val="1320"/>
              </a:lnSpc>
              <a:buNone/>
            </a:pPr>
            <a:r>
              <a:rPr lang="en-US" sz="1100" b="1" dirty="0">
                <a:solidFill>
                  <a:srgbClr val="1B2340"/>
                </a:solidFill>
                <a:latin typeface="Arial" pitchFamily="34" charset="0"/>
                <a:ea typeface="Arial" pitchFamily="34" charset="-122"/>
                <a:cs typeface="Arial" pitchFamily="34" charset="-120"/>
              </a:rPr>
              <a:t>Ardıl Bilal Ülkü</a:t>
            </a:r>
            <a:endParaRPr lang="en-US" sz="1100" dirty="0"/>
          </a:p>
        </p:txBody>
      </p:sp>
      <p:sp>
        <p:nvSpPr>
          <p:cNvPr id="28" name="text 1.27"/>
          <p:cNvSpPr txBox="1"/>
          <p:nvPr/>
        </p:nvSpPr>
        <p:spPr>
          <a:xfrm>
            <a:off x="9410465" y="5918052"/>
            <a:ext cx="699878"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2230356051</a:t>
            </a:r>
            <a:endParaRPr lang="en-US" sz="850" dirty="0"/>
          </a:p>
        </p:txBody>
      </p:sp>
      <p:sp>
        <p:nvSpPr>
          <p:cNvPr id="29" name="text 1.28"/>
          <p:cNvSpPr txBox="1"/>
          <p:nvPr/>
        </p:nvSpPr>
        <p:spPr>
          <a:xfrm>
            <a:off x="9410465" y="6121247"/>
            <a:ext cx="2133547" cy="129537"/>
          </a:xfrm>
          <a:prstGeom prst="rect">
            <a:avLst/>
          </a:prstGeom>
          <a:noFill/>
          <a:ln/>
        </p:spPr>
        <p:txBody>
          <a:bodyPr wrap="square" lIns="0" tIns="0" rIns="0" bIns="0" rtlCol="0" anchor="t"/>
          <a:lstStyle/>
          <a:p>
            <a:pPr algn="l" indent="0" marL="0">
              <a:lnSpc>
                <a:spcPts val="1020"/>
              </a:lnSpc>
              <a:buNone/>
            </a:pPr>
            <a:r>
              <a:rPr lang="en-US" sz="850" b="1" dirty="0">
                <a:solidFill>
                  <a:srgbClr val="8F55F5"/>
                </a:solidFill>
                <a:latin typeface="Arial" pitchFamily="34" charset="0"/>
                <a:ea typeface="Arial" pitchFamily="34" charset="-122"/>
                <a:cs typeface="Arial" pitchFamily="34" charset="-120"/>
              </a:rPr>
              <a:t>Art, UI, session</a:t>
            </a:r>
            <a:endParaRPr lang="en-US" sz="8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1"/>
          <p:cNvSpPr/>
          <p:nvPr/>
        </p:nvSpPr>
        <p:spPr>
          <a:xfrm>
            <a:off x="609585" y="2666933"/>
            <a:ext cx="2006550" cy="1244569"/>
          </a:xfrm>
          <a:prstGeom prst="roundRect">
            <a:avLst>
              <a:gd name="adj" fmla="val 12245"/>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2.2"/>
          <p:cNvSpPr/>
          <p:nvPr/>
        </p:nvSpPr>
        <p:spPr>
          <a:xfrm>
            <a:off x="2876478" y="2666933"/>
            <a:ext cx="2006550" cy="1244569"/>
          </a:xfrm>
          <a:prstGeom prst="roundRect">
            <a:avLst>
              <a:gd name="adj" fmla="val 12245"/>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2.3"/>
          <p:cNvSpPr/>
          <p:nvPr/>
        </p:nvSpPr>
        <p:spPr>
          <a:xfrm>
            <a:off x="5143371" y="2666933"/>
            <a:ext cx="2006550" cy="1244569"/>
          </a:xfrm>
          <a:prstGeom prst="roundRect">
            <a:avLst>
              <a:gd name="adj" fmla="val 12245"/>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sp>
        <p:nvSpPr>
          <p:cNvPr id="5" name="shape 2.4"/>
          <p:cNvSpPr/>
          <p:nvPr/>
        </p:nvSpPr>
        <p:spPr>
          <a:xfrm>
            <a:off x="7410265" y="2666933"/>
            <a:ext cx="2006550" cy="1244569"/>
          </a:xfrm>
          <a:prstGeom prst="roundRect">
            <a:avLst>
              <a:gd name="adj" fmla="val 12245"/>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shape 2.5"/>
          <p:cNvSpPr/>
          <p:nvPr/>
        </p:nvSpPr>
        <p:spPr>
          <a:xfrm>
            <a:off x="9677158" y="2666933"/>
            <a:ext cx="2006550" cy="1244569"/>
          </a:xfrm>
          <a:prstGeom prst="roundRect">
            <a:avLst>
              <a:gd name="adj" fmla="val 12245"/>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7" name="shape 2.6"/>
          <p:cNvSpPr/>
          <p:nvPr/>
        </p:nvSpPr>
        <p:spPr>
          <a:xfrm>
            <a:off x="609585" y="4127397"/>
            <a:ext cx="6349841" cy="2158946"/>
          </a:xfrm>
          <a:prstGeom prst="roundRect">
            <a:avLst>
              <a:gd name="adj" fmla="val 7059"/>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8" name="shape 2.7"/>
          <p:cNvSpPr/>
          <p:nvPr/>
        </p:nvSpPr>
        <p:spPr>
          <a:xfrm>
            <a:off x="7137222" y="4127397"/>
            <a:ext cx="4444889" cy="2158946"/>
          </a:xfrm>
          <a:prstGeom prst="roundRect">
            <a:avLst>
              <a:gd name="adj" fmla="val 7059"/>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9" name="raster 2.8" descr="diagram">    </p:cNvPr>
          <p:cNvPicPr>
            <a:picLocks noChangeAspect="1"/>
          </p:cNvPicPr>
          <p:nvPr/>
        </p:nvPicPr>
        <p:blipFill>
          <a:blip r:embed="rId2"/>
          <a:stretch>
            <a:fillRect/>
          </a:stretch>
        </p:blipFill>
        <p:spPr>
          <a:xfrm>
            <a:off x="2616135" y="3200320"/>
            <a:ext cx="165096" cy="190495"/>
          </a:xfrm>
          <a:prstGeom prst="rect">
            <a:avLst/>
          </a:prstGeom>
        </p:spPr>
      </p:pic>
      <p:pic>
        <p:nvPicPr>
          <p:cNvPr id="10" name="raster 2.9" descr="diagram">    </p:cNvPr>
          <p:cNvPicPr>
            <a:picLocks noChangeAspect="1"/>
          </p:cNvPicPr>
          <p:nvPr/>
        </p:nvPicPr>
        <p:blipFill>
          <a:blip r:embed="rId3"/>
          <a:stretch>
            <a:fillRect/>
          </a:stretch>
        </p:blipFill>
        <p:spPr>
          <a:xfrm>
            <a:off x="4883028" y="3200320"/>
            <a:ext cx="165096" cy="190495"/>
          </a:xfrm>
          <a:prstGeom prst="rect">
            <a:avLst/>
          </a:prstGeom>
        </p:spPr>
      </p:pic>
      <p:pic>
        <p:nvPicPr>
          <p:cNvPr id="11" name="raster 2.10" descr="diagram">    </p:cNvPr>
          <p:cNvPicPr>
            <a:picLocks noChangeAspect="1"/>
          </p:cNvPicPr>
          <p:nvPr/>
        </p:nvPicPr>
        <p:blipFill>
          <a:blip r:embed="rId4"/>
          <a:stretch>
            <a:fillRect/>
          </a:stretch>
        </p:blipFill>
        <p:spPr>
          <a:xfrm>
            <a:off x="7149921" y="3200320"/>
            <a:ext cx="165096" cy="190495"/>
          </a:xfrm>
          <a:prstGeom prst="rect">
            <a:avLst/>
          </a:prstGeom>
        </p:spPr>
      </p:pic>
      <p:pic>
        <p:nvPicPr>
          <p:cNvPr id="12" name="raster 2.11" descr="diagram">    </p:cNvPr>
          <p:cNvPicPr>
            <a:picLocks noChangeAspect="1"/>
          </p:cNvPicPr>
          <p:nvPr/>
        </p:nvPicPr>
        <p:blipFill>
          <a:blip r:embed="rId5"/>
          <a:stretch>
            <a:fillRect/>
          </a:stretch>
        </p:blipFill>
        <p:spPr>
          <a:xfrm>
            <a:off x="9416815" y="3200320"/>
            <a:ext cx="165096" cy="190495"/>
          </a:xfrm>
          <a:prstGeom prst="rect">
            <a:avLst/>
          </a:prstGeom>
        </p:spPr>
      </p:pic>
      <p:sp>
        <p:nvSpPr>
          <p:cNvPr id="13" name="shape 2.12"/>
          <p:cNvSpPr/>
          <p:nvPr/>
        </p:nvSpPr>
        <p:spPr>
          <a:xfrm>
            <a:off x="863578" y="5067173"/>
            <a:ext cx="5841854" cy="12700"/>
          </a:xfrm>
          <a:prstGeom prst="roundRect">
            <a:avLst>
              <a:gd name="adj" fmla="val 49999"/>
            </a:avLst>
          </a:prstGeom>
          <a:solidFill>
            <a:srgbClr val="E4E9DD"/>
          </a:solidFill>
          <a:ln/>
        </p:spPr>
      </p:sp>
      <p:sp>
        <p:nvSpPr>
          <p:cNvPr id="14" name="shape 2.13"/>
          <p:cNvSpPr/>
          <p:nvPr/>
        </p:nvSpPr>
        <p:spPr>
          <a:xfrm>
            <a:off x="863578" y="5600560"/>
            <a:ext cx="5841854" cy="12700"/>
          </a:xfrm>
          <a:prstGeom prst="roundRect">
            <a:avLst>
              <a:gd name="adj" fmla="val 49999"/>
            </a:avLst>
          </a:prstGeom>
          <a:solidFill>
            <a:srgbClr val="E4E9DD"/>
          </a:solidFill>
          <a:ln/>
        </p:spPr>
      </p:sp>
      <p:sp>
        <p:nvSpPr>
          <p:cNvPr id="15" name="text 2.14"/>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Game description</a:t>
            </a:r>
            <a:endParaRPr lang="en-US" sz="3000" dirty="0"/>
          </a:p>
        </p:txBody>
      </p:sp>
      <p:sp>
        <p:nvSpPr>
          <p:cNvPr id="16" name="text 2.15"/>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Every round is a new mini-game, and </a:t>
            </a:r>
            <a:pPr algn="l" indent="0" marL="0">
              <a:lnSpc>
                <a:spcPts val="1820"/>
              </a:lnSpc>
              <a:buNone/>
            </a:pPr>
            <a:r>
              <a:rPr lang="en-US" sz="1350" b="1" dirty="0">
                <a:solidFill>
                  <a:srgbClr val="FF6B1F"/>
                </a:solidFill>
                <a:latin typeface="Arial" pitchFamily="34" charset="0"/>
                <a:ea typeface="Arial" pitchFamily="34" charset="-122"/>
                <a:cs typeface="Arial" pitchFamily="34" charset="-120"/>
              </a:rPr>
              <a:t>placement turns into points.</a:t>
            </a:r>
            <a:endParaRPr lang="en-US" sz="1350" dirty="0"/>
          </a:p>
        </p:txBody>
      </p:sp>
      <p:sp>
        <p:nvSpPr>
          <p:cNvPr id="17" name="text 2.16"/>
          <p:cNvSpPr txBox="1"/>
          <p:nvPr/>
        </p:nvSpPr>
        <p:spPr>
          <a:xfrm>
            <a:off x="609585" y="1790655"/>
            <a:ext cx="11010625" cy="662864"/>
          </a:xfrm>
          <a:prstGeom prst="rect">
            <a:avLst/>
          </a:prstGeom>
          <a:noFill/>
          <a:ln/>
        </p:spPr>
        <p:txBody>
          <a:bodyPr wrap="square" lIns="0" tIns="0" rIns="0" bIns="0" rtlCol="0" anchor="t"/>
          <a:lstStyle/>
          <a:p>
            <a:pPr algn="l" indent="0" marL="0">
              <a:lnSpc>
                <a:spcPts val="1740"/>
              </a:lnSpc>
              <a:buNone/>
            </a:pPr>
            <a:r>
              <a:rPr lang="en-US" sz="1200" dirty="0">
                <a:solidFill>
                  <a:srgbClr val="3E475E"/>
                </a:solidFill>
                <a:latin typeface="Arial" pitchFamily="34" charset="0"/>
                <a:ea typeface="Arial" pitchFamily="34" charset="-122"/>
                <a:cs typeface="Arial" pitchFamily="34" charset="-120"/>
              </a:rPr>
              <a:t>Shooter Party is a party game for 2–4 friends in one room, each at their own PC. One player hosts and the others join over the local network. Everyone controls a small shooting cube. The mini-games change what a shot does: one pushes, one damages, one lifts you with a blast. After the last mini-game, the player with the most points wins.</a:t>
            </a:r>
            <a:endParaRPr lang="en-US" sz="1200" dirty="0"/>
          </a:p>
        </p:txBody>
      </p:sp>
      <p:sp>
        <p:nvSpPr>
          <p:cNvPr id="18" name="shape 2.17"/>
          <p:cNvSpPr/>
          <p:nvPr/>
        </p:nvSpPr>
        <p:spPr>
          <a:xfrm>
            <a:off x="761981" y="2819330"/>
            <a:ext cx="279393" cy="279393"/>
          </a:xfrm>
          <a:prstGeom prst="roundRect">
            <a:avLst>
              <a:gd name="adj" fmla="val 50000"/>
            </a:avLst>
          </a:prstGeom>
          <a:solidFill>
            <a:srgbClr val="FFF0E6"/>
          </a:solidFill>
          <a:ln/>
        </p:spPr>
      </p:sp>
      <p:sp>
        <p:nvSpPr>
          <p:cNvPr id="19" name="text 2.18"/>
          <p:cNvSpPr txBox="1"/>
          <p:nvPr/>
        </p:nvSpPr>
        <p:spPr>
          <a:xfrm>
            <a:off x="761981" y="2819330"/>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1</a:t>
            </a:r>
            <a:endParaRPr lang="en-US" sz="1100" dirty="0"/>
          </a:p>
        </p:txBody>
      </p:sp>
      <p:sp>
        <p:nvSpPr>
          <p:cNvPr id="20" name="text 2.19"/>
          <p:cNvSpPr txBox="1"/>
          <p:nvPr/>
        </p:nvSpPr>
        <p:spPr>
          <a:xfrm>
            <a:off x="1130272" y="2870128"/>
            <a:ext cx="664015"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Lobby</a:t>
            </a:r>
            <a:endParaRPr lang="en-US" sz="1500" dirty="0"/>
          </a:p>
        </p:txBody>
      </p:sp>
      <p:sp>
        <p:nvSpPr>
          <p:cNvPr id="21" name="text 2.20"/>
          <p:cNvSpPr txBox="1"/>
          <p:nvPr/>
        </p:nvSpPr>
        <p:spPr>
          <a:xfrm>
            <a:off x="761981" y="3225719"/>
            <a:ext cx="1790655" cy="362536"/>
          </a:xfrm>
          <a:prstGeom prst="rect">
            <a:avLst/>
          </a:prstGeom>
          <a:noFill/>
          <a:ln/>
        </p:spPr>
        <p:txBody>
          <a:bodyPr wrap="square" lIns="0" tIns="0" rIns="0" bIns="0" rtlCol="0" anchor="t"/>
          <a:lstStyle/>
          <a:p>
            <a:pPr algn="l" indent="0" marL="0">
              <a:lnSpc>
                <a:spcPts val="1430"/>
              </a:lnSpc>
              <a:buNone/>
            </a:pPr>
            <a:r>
              <a:rPr lang="en-US" sz="1050" dirty="0">
                <a:solidFill>
                  <a:srgbClr val="3E475E"/>
                </a:solidFill>
                <a:latin typeface="Arial" pitchFamily="34" charset="0"/>
                <a:ea typeface="Arial" pitchFamily="34" charset="-122"/>
                <a:cs typeface="Arial" pitchFamily="34" charset="-120"/>
              </a:rPr>
              <a:t>Host sets the session rules. Others join over LAN.</a:t>
            </a:r>
            <a:endParaRPr lang="en-US" sz="1050" dirty="0"/>
          </a:p>
        </p:txBody>
      </p:sp>
      <p:sp>
        <p:nvSpPr>
          <p:cNvPr id="22" name="shape 2.21"/>
          <p:cNvSpPr/>
          <p:nvPr/>
        </p:nvSpPr>
        <p:spPr>
          <a:xfrm>
            <a:off x="3028874" y="2819330"/>
            <a:ext cx="279393" cy="279393"/>
          </a:xfrm>
          <a:prstGeom prst="roundRect">
            <a:avLst>
              <a:gd name="adj" fmla="val 50000"/>
            </a:avLst>
          </a:prstGeom>
          <a:solidFill>
            <a:srgbClr val="FFF0E6"/>
          </a:solidFill>
          <a:ln/>
        </p:spPr>
      </p:sp>
      <p:sp>
        <p:nvSpPr>
          <p:cNvPr id="23" name="text 2.22"/>
          <p:cNvSpPr txBox="1"/>
          <p:nvPr/>
        </p:nvSpPr>
        <p:spPr>
          <a:xfrm>
            <a:off x="3028874" y="2819330"/>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text 2.23"/>
          <p:cNvSpPr txBox="1"/>
          <p:nvPr/>
        </p:nvSpPr>
        <p:spPr>
          <a:xfrm>
            <a:off x="3397165" y="2870128"/>
            <a:ext cx="481020"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Pick</a:t>
            </a:r>
            <a:endParaRPr lang="en-US" sz="1500" dirty="0"/>
          </a:p>
        </p:txBody>
      </p:sp>
      <p:sp>
        <p:nvSpPr>
          <p:cNvPr id="25" name="text 2.24"/>
          <p:cNvSpPr txBox="1"/>
          <p:nvPr/>
        </p:nvSpPr>
        <p:spPr>
          <a:xfrm>
            <a:off x="3028874" y="3225719"/>
            <a:ext cx="1790655" cy="543804"/>
          </a:xfrm>
          <a:prstGeom prst="rect">
            <a:avLst/>
          </a:prstGeom>
          <a:noFill/>
          <a:ln/>
        </p:spPr>
        <p:txBody>
          <a:bodyPr wrap="square" lIns="0" tIns="0" rIns="0" bIns="0" rtlCol="0" anchor="t"/>
          <a:lstStyle/>
          <a:p>
            <a:pPr algn="l" indent="0" marL="0">
              <a:lnSpc>
                <a:spcPts val="1430"/>
              </a:lnSpc>
              <a:buNone/>
            </a:pPr>
            <a:r>
              <a:rPr lang="en-US" sz="1050" dirty="0">
                <a:solidFill>
                  <a:srgbClr val="3E475E"/>
                </a:solidFill>
                <a:latin typeface="Arial" pitchFamily="34" charset="0"/>
                <a:ea typeface="Arial" pitchFamily="34" charset="-122"/>
                <a:cs typeface="Arial" pitchFamily="34" charset="-120"/>
              </a:rPr>
              <a:t>The playlist picks the next mini-game. Everyone loads the same arena.</a:t>
            </a:r>
            <a:endParaRPr lang="en-US" sz="1050" dirty="0"/>
          </a:p>
        </p:txBody>
      </p:sp>
      <p:sp>
        <p:nvSpPr>
          <p:cNvPr id="26" name="shape 2.25"/>
          <p:cNvSpPr/>
          <p:nvPr/>
        </p:nvSpPr>
        <p:spPr>
          <a:xfrm>
            <a:off x="5295768" y="2819330"/>
            <a:ext cx="279393" cy="279393"/>
          </a:xfrm>
          <a:prstGeom prst="roundRect">
            <a:avLst>
              <a:gd name="adj" fmla="val 50000"/>
            </a:avLst>
          </a:prstGeom>
          <a:solidFill>
            <a:srgbClr val="FF6B1F"/>
          </a:solidFill>
          <a:ln/>
        </p:spPr>
      </p:sp>
      <p:sp>
        <p:nvSpPr>
          <p:cNvPr id="27" name="text 2.26"/>
          <p:cNvSpPr txBox="1"/>
          <p:nvPr/>
        </p:nvSpPr>
        <p:spPr>
          <a:xfrm>
            <a:off x="5295768" y="2819330"/>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text 2.27"/>
          <p:cNvSpPr txBox="1"/>
          <p:nvPr/>
        </p:nvSpPr>
        <p:spPr>
          <a:xfrm>
            <a:off x="5664058" y="2870128"/>
            <a:ext cx="479758"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Play</a:t>
            </a:r>
            <a:endParaRPr lang="en-US" sz="1500" dirty="0"/>
          </a:p>
        </p:txBody>
      </p:sp>
      <p:sp>
        <p:nvSpPr>
          <p:cNvPr id="29" name="text 2.28"/>
          <p:cNvSpPr txBox="1"/>
          <p:nvPr/>
        </p:nvSpPr>
        <p:spPr>
          <a:xfrm>
            <a:off x="5295768" y="3225719"/>
            <a:ext cx="1790655" cy="362536"/>
          </a:xfrm>
          <a:prstGeom prst="rect">
            <a:avLst/>
          </a:prstGeom>
          <a:noFill/>
          <a:ln/>
        </p:spPr>
        <p:txBody>
          <a:bodyPr wrap="square" lIns="0" tIns="0" rIns="0" bIns="0" rtlCol="0" anchor="t"/>
          <a:lstStyle/>
          <a:p>
            <a:pPr algn="l" indent="0" marL="0">
              <a:lnSpc>
                <a:spcPts val="1430"/>
              </a:lnSpc>
              <a:buNone/>
            </a:pPr>
            <a:r>
              <a:rPr lang="en-US" sz="1050" dirty="0">
                <a:solidFill>
                  <a:srgbClr val="3E475E"/>
                </a:solidFill>
                <a:latin typeface="Arial" pitchFamily="34" charset="0"/>
                <a:ea typeface="Arial" pitchFamily="34" charset="-122"/>
                <a:cs typeface="Arial" pitchFamily="34" charset="-120"/>
              </a:rPr>
              <a:t>Some mini-games have their own rounds inside.</a:t>
            </a:r>
            <a:endParaRPr lang="en-US" sz="1050" dirty="0"/>
          </a:p>
        </p:txBody>
      </p:sp>
      <p:sp>
        <p:nvSpPr>
          <p:cNvPr id="30" name="shape 2.29"/>
          <p:cNvSpPr/>
          <p:nvPr/>
        </p:nvSpPr>
        <p:spPr>
          <a:xfrm>
            <a:off x="7562661" y="2819330"/>
            <a:ext cx="279393" cy="279393"/>
          </a:xfrm>
          <a:prstGeom prst="roundRect">
            <a:avLst>
              <a:gd name="adj" fmla="val 50000"/>
            </a:avLst>
          </a:prstGeom>
          <a:solidFill>
            <a:srgbClr val="FFF0E6"/>
          </a:solidFill>
          <a:ln/>
        </p:spPr>
      </p:sp>
      <p:sp>
        <p:nvSpPr>
          <p:cNvPr id="31" name="text 2.30"/>
          <p:cNvSpPr txBox="1"/>
          <p:nvPr/>
        </p:nvSpPr>
        <p:spPr>
          <a:xfrm>
            <a:off x="7562661" y="2819330"/>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4</a:t>
            </a:r>
            <a:endParaRPr lang="en-US" sz="1100" dirty="0"/>
          </a:p>
        </p:txBody>
      </p:sp>
      <p:sp>
        <p:nvSpPr>
          <p:cNvPr id="32" name="text 2.31"/>
          <p:cNvSpPr txBox="1"/>
          <p:nvPr/>
        </p:nvSpPr>
        <p:spPr>
          <a:xfrm>
            <a:off x="7930952" y="2870128"/>
            <a:ext cx="612903"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Place</a:t>
            </a:r>
            <a:endParaRPr lang="en-US" sz="1500" dirty="0"/>
          </a:p>
        </p:txBody>
      </p:sp>
      <p:sp>
        <p:nvSpPr>
          <p:cNvPr id="33" name="text 2.32"/>
          <p:cNvSpPr txBox="1"/>
          <p:nvPr/>
        </p:nvSpPr>
        <p:spPr>
          <a:xfrm>
            <a:off x="7562661" y="3225719"/>
            <a:ext cx="1790655" cy="362536"/>
          </a:xfrm>
          <a:prstGeom prst="rect">
            <a:avLst/>
          </a:prstGeom>
          <a:noFill/>
          <a:ln/>
        </p:spPr>
        <p:txBody>
          <a:bodyPr wrap="square" lIns="0" tIns="0" rIns="0" bIns="0" rtlCol="0" anchor="t"/>
          <a:lstStyle/>
          <a:p>
            <a:pPr algn="l" indent="0" marL="0">
              <a:lnSpc>
                <a:spcPts val="1430"/>
              </a:lnSpc>
              <a:buNone/>
            </a:pPr>
            <a:r>
              <a:rPr lang="en-US" sz="1050" dirty="0">
                <a:solidFill>
                  <a:srgbClr val="3E475E"/>
                </a:solidFill>
                <a:latin typeface="Arial" pitchFamily="34" charset="0"/>
                <a:ea typeface="Arial" pitchFamily="34" charset="-122"/>
                <a:cs typeface="Arial" pitchFamily="34" charset="-120"/>
              </a:rPr>
              <a:t>Final placement becomes points.</a:t>
            </a:r>
            <a:endParaRPr lang="en-US" sz="1050" dirty="0"/>
          </a:p>
        </p:txBody>
      </p:sp>
      <p:sp>
        <p:nvSpPr>
          <p:cNvPr id="34" name="shape 2.33"/>
          <p:cNvSpPr/>
          <p:nvPr/>
        </p:nvSpPr>
        <p:spPr>
          <a:xfrm>
            <a:off x="9829554" y="2819330"/>
            <a:ext cx="279393" cy="279393"/>
          </a:xfrm>
          <a:prstGeom prst="roundRect">
            <a:avLst>
              <a:gd name="adj" fmla="val 50000"/>
            </a:avLst>
          </a:prstGeom>
          <a:solidFill>
            <a:srgbClr val="FFF0E6"/>
          </a:solidFill>
          <a:ln/>
        </p:spPr>
      </p:sp>
      <p:sp>
        <p:nvSpPr>
          <p:cNvPr id="35" name="text 2.34"/>
          <p:cNvSpPr txBox="1"/>
          <p:nvPr/>
        </p:nvSpPr>
        <p:spPr>
          <a:xfrm>
            <a:off x="9829554" y="2819330"/>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5</a:t>
            </a:r>
            <a:endParaRPr lang="en-US" sz="1100" dirty="0"/>
          </a:p>
        </p:txBody>
      </p:sp>
      <p:sp>
        <p:nvSpPr>
          <p:cNvPr id="36" name="text 2.35"/>
          <p:cNvSpPr txBox="1"/>
          <p:nvPr/>
        </p:nvSpPr>
        <p:spPr>
          <a:xfrm>
            <a:off x="10197845" y="2870128"/>
            <a:ext cx="1050196"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Standings</a:t>
            </a:r>
            <a:endParaRPr lang="en-US" sz="1500" dirty="0"/>
          </a:p>
        </p:txBody>
      </p:sp>
      <p:sp>
        <p:nvSpPr>
          <p:cNvPr id="37" name="text 2.36"/>
          <p:cNvSpPr txBox="1"/>
          <p:nvPr/>
        </p:nvSpPr>
        <p:spPr>
          <a:xfrm>
            <a:off x="9829554" y="3225719"/>
            <a:ext cx="1790655" cy="362536"/>
          </a:xfrm>
          <a:prstGeom prst="rect">
            <a:avLst/>
          </a:prstGeom>
          <a:noFill/>
          <a:ln/>
        </p:spPr>
        <p:txBody>
          <a:bodyPr wrap="square" lIns="0" tIns="0" rIns="0" bIns="0" rtlCol="0" anchor="t"/>
          <a:lstStyle/>
          <a:p>
            <a:pPr algn="l" indent="0" marL="0">
              <a:lnSpc>
                <a:spcPts val="1430"/>
              </a:lnSpc>
              <a:buNone/>
            </a:pPr>
            <a:r>
              <a:rPr lang="en-US" sz="1050" dirty="0">
                <a:solidFill>
                  <a:srgbClr val="3E475E"/>
                </a:solidFill>
                <a:latin typeface="Arial" pitchFamily="34" charset="0"/>
                <a:ea typeface="Arial" pitchFamily="34" charset="-122"/>
                <a:cs typeface="Arial" pitchFamily="34" charset="-120"/>
              </a:rPr>
              <a:t>Scoreboard updates. Repeat until the session ends.</a:t>
            </a:r>
            <a:endParaRPr lang="en-US" sz="1050" dirty="0"/>
          </a:p>
        </p:txBody>
      </p:sp>
      <p:sp>
        <p:nvSpPr>
          <p:cNvPr id="38" name="text 2.37"/>
          <p:cNvSpPr txBox="1"/>
          <p:nvPr/>
        </p:nvSpPr>
        <p:spPr>
          <a:xfrm>
            <a:off x="863578" y="4317892"/>
            <a:ext cx="1317536"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FA9EA"/>
                </a:solidFill>
                <a:latin typeface="Arial" pitchFamily="34" charset="0"/>
                <a:ea typeface="Arial" pitchFamily="34" charset="-122"/>
                <a:cs typeface="Arial" pitchFamily="34" charset="-120"/>
              </a:rPr>
              <a:t>SESSION SETTINGS</a:t>
            </a:r>
            <a:endParaRPr lang="en-US" sz="800" dirty="0"/>
          </a:p>
        </p:txBody>
      </p:sp>
      <p:sp>
        <p:nvSpPr>
          <p:cNvPr id="39" name="text 2.38"/>
          <p:cNvSpPr txBox="1"/>
          <p:nvPr/>
        </p:nvSpPr>
        <p:spPr>
          <a:xfrm>
            <a:off x="863578" y="4648084"/>
            <a:ext cx="964378"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B2340"/>
                </a:solidFill>
                <a:latin typeface="Arial" pitchFamily="34" charset="0"/>
                <a:ea typeface="Arial" pitchFamily="34" charset="-122"/>
                <a:cs typeface="Arial" pitchFamily="34" charset="-120"/>
              </a:rPr>
              <a:t>END CONDITION</a:t>
            </a:r>
            <a:endParaRPr lang="en-US" sz="700" dirty="0"/>
          </a:p>
        </p:txBody>
      </p:sp>
      <p:sp>
        <p:nvSpPr>
          <p:cNvPr id="40" name="text 2.39"/>
          <p:cNvSpPr txBox="1"/>
          <p:nvPr/>
        </p:nvSpPr>
        <p:spPr>
          <a:xfrm>
            <a:off x="2133547" y="4622684"/>
            <a:ext cx="4609985" cy="175256"/>
          </a:xfrm>
          <a:prstGeom prst="rect">
            <a:avLst/>
          </a:prstGeom>
          <a:noFill/>
          <a:ln/>
        </p:spPr>
        <p:txBody>
          <a:bodyPr wrap="square" lIns="0" tIns="0" rIns="0" bIns="0" rtlCol="0" anchor="t"/>
          <a:lstStyle/>
          <a:p>
            <a:pPr algn="l" indent="0" marL="0">
              <a:lnSpc>
                <a:spcPts val="1380"/>
              </a:lnSpc>
              <a:buNone/>
            </a:pPr>
            <a:r>
              <a:rPr lang="en-US" sz="1000" dirty="0">
                <a:solidFill>
                  <a:srgbClr val="3E475E"/>
                </a:solidFill>
                <a:latin typeface="Arial" pitchFamily="34" charset="0"/>
                <a:ea typeface="Arial" pitchFamily="34" charset="-122"/>
                <a:cs typeface="Arial" pitchFamily="34" charset="-120"/>
              </a:rPr>
              <a:t>After a set number of mini-games, or when a player reaches a target score.</a:t>
            </a:r>
            <a:endParaRPr lang="en-US" sz="1000" dirty="0"/>
          </a:p>
        </p:txBody>
      </p:sp>
      <p:sp>
        <p:nvSpPr>
          <p:cNvPr id="41" name="text 2.40"/>
          <p:cNvSpPr txBox="1"/>
          <p:nvPr/>
        </p:nvSpPr>
        <p:spPr>
          <a:xfrm>
            <a:off x="863578" y="5181470"/>
            <a:ext cx="600808"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B2340"/>
                </a:solidFill>
                <a:latin typeface="Arial" pitchFamily="34" charset="0"/>
                <a:ea typeface="Arial" pitchFamily="34" charset="-122"/>
                <a:cs typeface="Arial" pitchFamily="34" charset="-120"/>
              </a:rPr>
              <a:t>PLAYLIST</a:t>
            </a:r>
            <a:endParaRPr lang="en-US" sz="700" dirty="0"/>
          </a:p>
        </p:txBody>
      </p:sp>
      <p:sp>
        <p:nvSpPr>
          <p:cNvPr id="42" name="text 2.41"/>
          <p:cNvSpPr txBox="1"/>
          <p:nvPr/>
        </p:nvSpPr>
        <p:spPr>
          <a:xfrm>
            <a:off x="2133547" y="5156071"/>
            <a:ext cx="4609985" cy="350432"/>
          </a:xfrm>
          <a:prstGeom prst="rect">
            <a:avLst/>
          </a:prstGeom>
          <a:noFill/>
          <a:ln/>
        </p:spPr>
        <p:txBody>
          <a:bodyPr wrap="square" lIns="0" tIns="0" rIns="0" bIns="0" rtlCol="0" anchor="t"/>
          <a:lstStyle/>
          <a:p>
            <a:pPr algn="l" indent="0" marL="0">
              <a:lnSpc>
                <a:spcPts val="1380"/>
              </a:lnSpc>
              <a:buNone/>
            </a:pPr>
            <a:r>
              <a:rPr lang="en-US" sz="1000" dirty="0">
                <a:solidFill>
                  <a:srgbClr val="3E475E"/>
                </a:solidFill>
                <a:latin typeface="Arial" pitchFamily="34" charset="0"/>
                <a:ea typeface="Arial" pitchFamily="34" charset="-122"/>
                <a:cs typeface="Arial" pitchFamily="34" charset="-120"/>
              </a:rPr>
              <a:t>Random or custom. Unwanted mini-games can be excluded, and one mini-game can be played many times.</a:t>
            </a:r>
            <a:endParaRPr lang="en-US" sz="1000" dirty="0"/>
          </a:p>
        </p:txBody>
      </p:sp>
      <p:sp>
        <p:nvSpPr>
          <p:cNvPr id="43" name="text 2.42"/>
          <p:cNvSpPr txBox="1"/>
          <p:nvPr/>
        </p:nvSpPr>
        <p:spPr>
          <a:xfrm>
            <a:off x="863578" y="5714857"/>
            <a:ext cx="926938"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B2340"/>
                </a:solidFill>
                <a:latin typeface="Arial" pitchFamily="34" charset="0"/>
                <a:ea typeface="Arial" pitchFamily="34" charset="-122"/>
                <a:cs typeface="Arial" pitchFamily="34" charset="-120"/>
              </a:rPr>
              <a:t>INNER ROUNDS</a:t>
            </a:r>
            <a:endParaRPr lang="en-US" sz="700" dirty="0"/>
          </a:p>
        </p:txBody>
      </p:sp>
      <p:sp>
        <p:nvSpPr>
          <p:cNvPr id="44" name="text 2.43"/>
          <p:cNvSpPr txBox="1"/>
          <p:nvPr/>
        </p:nvSpPr>
        <p:spPr>
          <a:xfrm>
            <a:off x="2133547" y="5689458"/>
            <a:ext cx="4609985" cy="175256"/>
          </a:xfrm>
          <a:prstGeom prst="rect">
            <a:avLst/>
          </a:prstGeom>
          <a:noFill/>
          <a:ln/>
        </p:spPr>
        <p:txBody>
          <a:bodyPr wrap="square" lIns="0" tIns="0" rIns="0" bIns="0" rtlCol="0" anchor="t"/>
          <a:lstStyle/>
          <a:p>
            <a:pPr algn="l" indent="0" marL="0">
              <a:lnSpc>
                <a:spcPts val="1380"/>
              </a:lnSpc>
              <a:buNone/>
            </a:pPr>
            <a:r>
              <a:rPr lang="en-US" sz="1000" dirty="0">
                <a:solidFill>
                  <a:srgbClr val="3E475E"/>
                </a:solidFill>
                <a:latin typeface="Arial" pitchFamily="34" charset="0"/>
                <a:ea typeface="Arial" pitchFamily="34" charset="-122"/>
                <a:cs typeface="Arial" pitchFamily="34" charset="-120"/>
              </a:rPr>
              <a:t>A mini-game can run its own rounds, like Hole Grab losing one hole each round.</a:t>
            </a:r>
            <a:endParaRPr lang="en-US" sz="1000" dirty="0"/>
          </a:p>
        </p:txBody>
      </p:sp>
      <p:sp>
        <p:nvSpPr>
          <p:cNvPr id="45" name="text 2.44"/>
          <p:cNvSpPr txBox="1"/>
          <p:nvPr/>
        </p:nvSpPr>
        <p:spPr>
          <a:xfrm>
            <a:off x="7391215" y="4317892"/>
            <a:ext cx="2219468"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PLACEMENT POINTS · PROPOSED</a:t>
            </a:r>
            <a:endParaRPr lang="en-US" sz="800" dirty="0"/>
          </a:p>
        </p:txBody>
      </p:sp>
      <p:sp>
        <p:nvSpPr>
          <p:cNvPr id="46" name="text 2.45"/>
          <p:cNvSpPr txBox="1"/>
          <p:nvPr/>
        </p:nvSpPr>
        <p:spPr>
          <a:xfrm>
            <a:off x="7391215" y="4609985"/>
            <a:ext cx="364493" cy="190495"/>
          </a:xfrm>
          <a:prstGeom prst="rect">
            <a:avLst/>
          </a:prstGeom>
          <a:noFill/>
          <a:ln/>
        </p:spPr>
        <p:txBody>
          <a:bodyPr wrap="square" lIns="0" tIns="0" rIns="0" bIns="0" rtlCol="0" anchor="t"/>
          <a:lstStyle/>
          <a:p>
            <a:pPr algn="l" indent="0" marL="0">
              <a:lnSpc>
                <a:spcPts val="1500"/>
              </a:lnSpc>
              <a:buNone/>
            </a:pPr>
            <a:r>
              <a:rPr lang="en-US" sz="1500" dirty="0">
                <a:solidFill>
                  <a:srgbClr val="FF6B1F"/>
                </a:solidFill>
                <a:latin typeface="Arial Rounded MT Bold" pitchFamily="34" charset="0"/>
                <a:ea typeface="Arial Rounded MT Bold" pitchFamily="34" charset="-122"/>
                <a:cs typeface="Arial Rounded MT Bold" pitchFamily="34" charset="-120"/>
              </a:rPr>
              <a:t>1st</a:t>
            </a:r>
            <a:endParaRPr lang="en-US" sz="1500" dirty="0"/>
          </a:p>
        </p:txBody>
      </p:sp>
      <p:sp>
        <p:nvSpPr>
          <p:cNvPr id="47" name="shape 2.46"/>
          <p:cNvSpPr/>
          <p:nvPr/>
        </p:nvSpPr>
        <p:spPr>
          <a:xfrm>
            <a:off x="8000800" y="4648084"/>
            <a:ext cx="2539937" cy="126997"/>
          </a:xfrm>
          <a:prstGeom prst="roundRect">
            <a:avLst>
              <a:gd name="adj" fmla="val 50000"/>
            </a:avLst>
          </a:prstGeom>
          <a:solidFill>
            <a:srgbClr val="E8ECE3"/>
          </a:solidFill>
          <a:ln/>
        </p:spPr>
      </p:sp>
      <p:sp>
        <p:nvSpPr>
          <p:cNvPr id="48" name="shape 2.47"/>
          <p:cNvSpPr/>
          <p:nvPr/>
        </p:nvSpPr>
        <p:spPr>
          <a:xfrm>
            <a:off x="8000800" y="4648084"/>
            <a:ext cx="2539937" cy="126997"/>
          </a:xfrm>
          <a:prstGeom prst="roundRect">
            <a:avLst>
              <a:gd name="adj" fmla="val 50000"/>
            </a:avLst>
          </a:prstGeom>
          <a:solidFill>
            <a:srgbClr val="FF6B1F"/>
          </a:solidFill>
          <a:ln/>
        </p:spPr>
      </p:sp>
      <p:sp>
        <p:nvSpPr>
          <p:cNvPr id="49" name="text 2.48"/>
          <p:cNvSpPr txBox="1"/>
          <p:nvPr/>
        </p:nvSpPr>
        <p:spPr>
          <a:xfrm>
            <a:off x="10731232" y="4609985"/>
            <a:ext cx="445578" cy="190495"/>
          </a:xfrm>
          <a:prstGeom prst="rect">
            <a:avLst/>
          </a:prstGeom>
          <a:noFill/>
          <a:ln/>
        </p:spPr>
        <p:txBody>
          <a:bodyPr wrap="square" lIns="0" tIns="0" rIns="0" bIns="0" rtlCol="0" anchor="t"/>
          <a:lstStyle/>
          <a:p>
            <a:pPr algn="l" indent="0" marL="0">
              <a:lnSpc>
                <a:spcPts val="1500"/>
              </a:lnSpc>
              <a:buNone/>
            </a:pPr>
            <a:r>
              <a:rPr lang="en-US" sz="1500" dirty="0">
                <a:solidFill>
                  <a:srgbClr val="1B2340"/>
                </a:solidFill>
                <a:latin typeface="Arial Rounded MT Bold" pitchFamily="34" charset="0"/>
                <a:ea typeface="Arial Rounded MT Bold" pitchFamily="34" charset="-122"/>
                <a:cs typeface="Arial Rounded MT Bold" pitchFamily="34" charset="-120"/>
              </a:rPr>
              <a:t>4 </a:t>
            </a:r>
            <a:pPr algn="l" indent="0" marL="0">
              <a:lnSpc>
                <a:spcPts val="1500"/>
              </a:lnSpc>
              <a:buNone/>
            </a:pPr>
            <a:r>
              <a:rPr lang="en-US" sz="700" b="1" spc="70" kern="0" dirty="0">
                <a:solidFill>
                  <a:srgbClr val="6F778C"/>
                </a:solidFill>
                <a:latin typeface="Arial" pitchFamily="34" charset="0"/>
                <a:ea typeface="Arial" pitchFamily="34" charset="-122"/>
                <a:cs typeface="Arial" pitchFamily="34" charset="-120"/>
              </a:rPr>
              <a:t>PTS</a:t>
            </a:r>
            <a:endParaRPr lang="en-US" sz="1500" dirty="0"/>
          </a:p>
        </p:txBody>
      </p:sp>
      <p:sp>
        <p:nvSpPr>
          <p:cNvPr id="50" name="text 2.49"/>
          <p:cNvSpPr txBox="1"/>
          <p:nvPr/>
        </p:nvSpPr>
        <p:spPr>
          <a:xfrm>
            <a:off x="7391215" y="4940176"/>
            <a:ext cx="431696" cy="190495"/>
          </a:xfrm>
          <a:prstGeom prst="rect">
            <a:avLst/>
          </a:prstGeom>
          <a:noFill/>
          <a:ln/>
        </p:spPr>
        <p:txBody>
          <a:bodyPr wrap="square" lIns="0" tIns="0" rIns="0" bIns="0" rtlCol="0" anchor="t"/>
          <a:lstStyle/>
          <a:p>
            <a:pPr algn="l" indent="0" marL="0">
              <a:lnSpc>
                <a:spcPts val="1500"/>
              </a:lnSpc>
              <a:buNone/>
            </a:pPr>
            <a:r>
              <a:rPr lang="en-US" sz="1500" dirty="0">
                <a:solidFill>
                  <a:srgbClr val="1B2340"/>
                </a:solidFill>
                <a:latin typeface="Arial Rounded MT Bold" pitchFamily="34" charset="0"/>
                <a:ea typeface="Arial Rounded MT Bold" pitchFamily="34" charset="-122"/>
                <a:cs typeface="Arial Rounded MT Bold" pitchFamily="34" charset="-120"/>
              </a:rPr>
              <a:t>2nd</a:t>
            </a:r>
            <a:endParaRPr lang="en-US" sz="1500" dirty="0"/>
          </a:p>
        </p:txBody>
      </p:sp>
      <p:sp>
        <p:nvSpPr>
          <p:cNvPr id="51" name="shape 2.50"/>
          <p:cNvSpPr/>
          <p:nvPr/>
        </p:nvSpPr>
        <p:spPr>
          <a:xfrm>
            <a:off x="8000800" y="4978276"/>
            <a:ext cx="2539937" cy="126997"/>
          </a:xfrm>
          <a:prstGeom prst="roundRect">
            <a:avLst>
              <a:gd name="adj" fmla="val 50000"/>
            </a:avLst>
          </a:prstGeom>
          <a:solidFill>
            <a:srgbClr val="E8ECE3"/>
          </a:solidFill>
          <a:ln/>
        </p:spPr>
      </p:sp>
      <p:sp>
        <p:nvSpPr>
          <p:cNvPr id="52" name="shape 2.51"/>
          <p:cNvSpPr/>
          <p:nvPr/>
        </p:nvSpPr>
        <p:spPr>
          <a:xfrm>
            <a:off x="8000800" y="4978276"/>
            <a:ext cx="1904952" cy="126997"/>
          </a:xfrm>
          <a:prstGeom prst="roundRect">
            <a:avLst>
              <a:gd name="adj" fmla="val 50000"/>
            </a:avLst>
          </a:prstGeom>
          <a:solidFill>
            <a:srgbClr val="1FA9EA"/>
          </a:solidFill>
          <a:ln/>
        </p:spPr>
      </p:sp>
      <p:sp>
        <p:nvSpPr>
          <p:cNvPr id="53" name="text 2.52"/>
          <p:cNvSpPr txBox="1"/>
          <p:nvPr/>
        </p:nvSpPr>
        <p:spPr>
          <a:xfrm>
            <a:off x="10731232" y="4940176"/>
            <a:ext cx="445578" cy="190495"/>
          </a:xfrm>
          <a:prstGeom prst="rect">
            <a:avLst/>
          </a:prstGeom>
          <a:noFill/>
          <a:ln/>
        </p:spPr>
        <p:txBody>
          <a:bodyPr wrap="square" lIns="0" tIns="0" rIns="0" bIns="0" rtlCol="0" anchor="t"/>
          <a:lstStyle/>
          <a:p>
            <a:pPr algn="l" indent="0" marL="0">
              <a:lnSpc>
                <a:spcPts val="1500"/>
              </a:lnSpc>
              <a:buNone/>
            </a:pPr>
            <a:r>
              <a:rPr lang="en-US" sz="1500" dirty="0">
                <a:solidFill>
                  <a:srgbClr val="1B2340"/>
                </a:solidFill>
                <a:latin typeface="Arial Rounded MT Bold" pitchFamily="34" charset="0"/>
                <a:ea typeface="Arial Rounded MT Bold" pitchFamily="34" charset="-122"/>
                <a:cs typeface="Arial Rounded MT Bold" pitchFamily="34" charset="-120"/>
              </a:rPr>
              <a:t>3 </a:t>
            </a:r>
            <a:pPr algn="l" indent="0" marL="0">
              <a:lnSpc>
                <a:spcPts val="1500"/>
              </a:lnSpc>
              <a:buNone/>
            </a:pPr>
            <a:r>
              <a:rPr lang="en-US" sz="700" b="1" spc="70" kern="0" dirty="0">
                <a:solidFill>
                  <a:srgbClr val="6F778C"/>
                </a:solidFill>
                <a:latin typeface="Arial" pitchFamily="34" charset="0"/>
                <a:ea typeface="Arial" pitchFamily="34" charset="-122"/>
                <a:cs typeface="Arial" pitchFamily="34" charset="-120"/>
              </a:rPr>
              <a:t>PTS</a:t>
            </a:r>
            <a:endParaRPr lang="en-US" sz="1500" dirty="0"/>
          </a:p>
        </p:txBody>
      </p:sp>
      <p:sp>
        <p:nvSpPr>
          <p:cNvPr id="54" name="text 2.53"/>
          <p:cNvSpPr txBox="1"/>
          <p:nvPr/>
        </p:nvSpPr>
        <p:spPr>
          <a:xfrm>
            <a:off x="7391215" y="5270368"/>
            <a:ext cx="392994" cy="190495"/>
          </a:xfrm>
          <a:prstGeom prst="rect">
            <a:avLst/>
          </a:prstGeom>
          <a:noFill/>
          <a:ln/>
        </p:spPr>
        <p:txBody>
          <a:bodyPr wrap="square" lIns="0" tIns="0" rIns="0" bIns="0" rtlCol="0" anchor="t"/>
          <a:lstStyle/>
          <a:p>
            <a:pPr algn="l" indent="0" marL="0">
              <a:lnSpc>
                <a:spcPts val="1500"/>
              </a:lnSpc>
              <a:buNone/>
            </a:pPr>
            <a:r>
              <a:rPr lang="en-US" sz="1500" dirty="0">
                <a:solidFill>
                  <a:srgbClr val="1B2340"/>
                </a:solidFill>
                <a:latin typeface="Arial Rounded MT Bold" pitchFamily="34" charset="0"/>
                <a:ea typeface="Arial Rounded MT Bold" pitchFamily="34" charset="-122"/>
                <a:cs typeface="Arial Rounded MT Bold" pitchFamily="34" charset="-120"/>
              </a:rPr>
              <a:t>3rd</a:t>
            </a:r>
            <a:endParaRPr lang="en-US" sz="1500" dirty="0"/>
          </a:p>
        </p:txBody>
      </p:sp>
      <p:sp>
        <p:nvSpPr>
          <p:cNvPr id="55" name="shape 2.54"/>
          <p:cNvSpPr/>
          <p:nvPr/>
        </p:nvSpPr>
        <p:spPr>
          <a:xfrm>
            <a:off x="8000800" y="5308467"/>
            <a:ext cx="2539937" cy="126997"/>
          </a:xfrm>
          <a:prstGeom prst="roundRect">
            <a:avLst>
              <a:gd name="adj" fmla="val 50000"/>
            </a:avLst>
          </a:prstGeom>
          <a:solidFill>
            <a:srgbClr val="E8ECE3"/>
          </a:solidFill>
          <a:ln/>
        </p:spPr>
      </p:sp>
      <p:sp>
        <p:nvSpPr>
          <p:cNvPr id="56" name="shape 2.55"/>
          <p:cNvSpPr/>
          <p:nvPr/>
        </p:nvSpPr>
        <p:spPr>
          <a:xfrm>
            <a:off x="8000800" y="5308467"/>
            <a:ext cx="1269968" cy="126997"/>
          </a:xfrm>
          <a:prstGeom prst="roundRect">
            <a:avLst>
              <a:gd name="adj" fmla="val 50000"/>
            </a:avLst>
          </a:prstGeom>
          <a:solidFill>
            <a:srgbClr val="1FA9EA"/>
          </a:solidFill>
          <a:ln/>
        </p:spPr>
      </p:sp>
      <p:sp>
        <p:nvSpPr>
          <p:cNvPr id="57" name="text 2.56"/>
          <p:cNvSpPr txBox="1"/>
          <p:nvPr/>
        </p:nvSpPr>
        <p:spPr>
          <a:xfrm>
            <a:off x="10731232" y="5270368"/>
            <a:ext cx="445578" cy="190495"/>
          </a:xfrm>
          <a:prstGeom prst="rect">
            <a:avLst/>
          </a:prstGeom>
          <a:noFill/>
          <a:ln/>
        </p:spPr>
        <p:txBody>
          <a:bodyPr wrap="square" lIns="0" tIns="0" rIns="0" bIns="0" rtlCol="0" anchor="t"/>
          <a:lstStyle/>
          <a:p>
            <a:pPr algn="l" indent="0" marL="0">
              <a:lnSpc>
                <a:spcPts val="1500"/>
              </a:lnSpc>
              <a:buNone/>
            </a:pPr>
            <a:r>
              <a:rPr lang="en-US" sz="1500" dirty="0">
                <a:solidFill>
                  <a:srgbClr val="1B2340"/>
                </a:solidFill>
                <a:latin typeface="Arial Rounded MT Bold" pitchFamily="34" charset="0"/>
                <a:ea typeface="Arial Rounded MT Bold" pitchFamily="34" charset="-122"/>
                <a:cs typeface="Arial Rounded MT Bold" pitchFamily="34" charset="-120"/>
              </a:rPr>
              <a:t>2 </a:t>
            </a:r>
            <a:pPr algn="l" indent="0" marL="0">
              <a:lnSpc>
                <a:spcPts val="1500"/>
              </a:lnSpc>
              <a:buNone/>
            </a:pPr>
            <a:r>
              <a:rPr lang="en-US" sz="700" b="1" spc="70" kern="0" dirty="0">
                <a:solidFill>
                  <a:srgbClr val="6F778C"/>
                </a:solidFill>
                <a:latin typeface="Arial" pitchFamily="34" charset="0"/>
                <a:ea typeface="Arial" pitchFamily="34" charset="-122"/>
                <a:cs typeface="Arial" pitchFamily="34" charset="-120"/>
              </a:rPr>
              <a:t>PTS</a:t>
            </a:r>
            <a:endParaRPr lang="en-US" sz="1500" dirty="0"/>
          </a:p>
        </p:txBody>
      </p:sp>
      <p:sp>
        <p:nvSpPr>
          <p:cNvPr id="58" name="text 2.57"/>
          <p:cNvSpPr txBox="1"/>
          <p:nvPr/>
        </p:nvSpPr>
        <p:spPr>
          <a:xfrm>
            <a:off x="7391215" y="5600560"/>
            <a:ext cx="377008" cy="190495"/>
          </a:xfrm>
          <a:prstGeom prst="rect">
            <a:avLst/>
          </a:prstGeom>
          <a:noFill/>
          <a:ln/>
        </p:spPr>
        <p:txBody>
          <a:bodyPr wrap="square" lIns="0" tIns="0" rIns="0" bIns="0" rtlCol="0" anchor="t"/>
          <a:lstStyle/>
          <a:p>
            <a:pPr algn="l" indent="0" marL="0">
              <a:lnSpc>
                <a:spcPts val="1500"/>
              </a:lnSpc>
              <a:buNone/>
            </a:pPr>
            <a:r>
              <a:rPr lang="en-US" sz="1500" dirty="0">
                <a:solidFill>
                  <a:srgbClr val="1B2340"/>
                </a:solidFill>
                <a:latin typeface="Arial Rounded MT Bold" pitchFamily="34" charset="0"/>
                <a:ea typeface="Arial Rounded MT Bold" pitchFamily="34" charset="-122"/>
                <a:cs typeface="Arial Rounded MT Bold" pitchFamily="34" charset="-120"/>
              </a:rPr>
              <a:t>4th</a:t>
            </a:r>
            <a:endParaRPr lang="en-US" sz="1500" dirty="0"/>
          </a:p>
        </p:txBody>
      </p:sp>
      <p:sp>
        <p:nvSpPr>
          <p:cNvPr id="59" name="shape 2.58"/>
          <p:cNvSpPr/>
          <p:nvPr/>
        </p:nvSpPr>
        <p:spPr>
          <a:xfrm>
            <a:off x="8000800" y="5638659"/>
            <a:ext cx="2539937" cy="126997"/>
          </a:xfrm>
          <a:prstGeom prst="roundRect">
            <a:avLst>
              <a:gd name="adj" fmla="val 50000"/>
            </a:avLst>
          </a:prstGeom>
          <a:solidFill>
            <a:srgbClr val="E8ECE3"/>
          </a:solidFill>
          <a:ln/>
        </p:spPr>
      </p:sp>
      <p:sp>
        <p:nvSpPr>
          <p:cNvPr id="60" name="shape 2.59"/>
          <p:cNvSpPr/>
          <p:nvPr/>
        </p:nvSpPr>
        <p:spPr>
          <a:xfrm>
            <a:off x="8000800" y="5638659"/>
            <a:ext cx="634984" cy="126997"/>
          </a:xfrm>
          <a:prstGeom prst="roundRect">
            <a:avLst>
              <a:gd name="adj" fmla="val 50000"/>
            </a:avLst>
          </a:prstGeom>
          <a:solidFill>
            <a:srgbClr val="1FA9EA"/>
          </a:solidFill>
          <a:ln/>
        </p:spPr>
      </p:sp>
      <p:sp>
        <p:nvSpPr>
          <p:cNvPr id="61" name="text 2.60"/>
          <p:cNvSpPr txBox="1"/>
          <p:nvPr/>
        </p:nvSpPr>
        <p:spPr>
          <a:xfrm>
            <a:off x="10731232" y="5600560"/>
            <a:ext cx="445578" cy="190495"/>
          </a:xfrm>
          <a:prstGeom prst="rect">
            <a:avLst/>
          </a:prstGeom>
          <a:noFill/>
          <a:ln/>
        </p:spPr>
        <p:txBody>
          <a:bodyPr wrap="square" lIns="0" tIns="0" rIns="0" bIns="0" rtlCol="0" anchor="t"/>
          <a:lstStyle/>
          <a:p>
            <a:pPr algn="l" indent="0" marL="0">
              <a:lnSpc>
                <a:spcPts val="1500"/>
              </a:lnSpc>
              <a:buNone/>
            </a:pPr>
            <a:r>
              <a:rPr lang="en-US" sz="1500" dirty="0">
                <a:solidFill>
                  <a:srgbClr val="1B2340"/>
                </a:solidFill>
                <a:latin typeface="Arial Rounded MT Bold" pitchFamily="34" charset="0"/>
                <a:ea typeface="Arial Rounded MT Bold" pitchFamily="34" charset="-122"/>
                <a:cs typeface="Arial Rounded MT Bold" pitchFamily="34" charset="-120"/>
              </a:rPr>
              <a:t>1 </a:t>
            </a:r>
            <a:pPr algn="l" indent="0" marL="0">
              <a:lnSpc>
                <a:spcPts val="1500"/>
              </a:lnSpc>
              <a:buNone/>
            </a:pPr>
            <a:r>
              <a:rPr lang="en-US" sz="700" b="1" spc="70" kern="0" dirty="0">
                <a:solidFill>
                  <a:srgbClr val="6F778C"/>
                </a:solidFill>
                <a:latin typeface="Arial" pitchFamily="34" charset="0"/>
                <a:ea typeface="Arial" pitchFamily="34" charset="-122"/>
                <a:cs typeface="Arial" pitchFamily="34" charset="-120"/>
              </a:rPr>
              <a:t>PTS</a:t>
            </a:r>
            <a:endParaRPr lang="en-US" sz="1500" dirty="0"/>
          </a:p>
        </p:txBody>
      </p:sp>
      <p:sp>
        <p:nvSpPr>
          <p:cNvPr id="62" name="text 2.61"/>
          <p:cNvSpPr txBox="1"/>
          <p:nvPr/>
        </p:nvSpPr>
        <p:spPr>
          <a:xfrm>
            <a:off x="7391215" y="5981550"/>
            <a:ext cx="2295716"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Only points carry over between mini-games.</a:t>
            </a:r>
            <a:endParaRPr lang="en-US" sz="850" dirty="0"/>
          </a:p>
        </p:txBody>
      </p:sp>
      <p:pic>
        <p:nvPicPr>
          <p:cNvPr id="63" name="raster 2.62" descr="diagram">    </p:cNvPr>
          <p:cNvPicPr>
            <a:picLocks noChangeAspect="1"/>
          </p:cNvPicPr>
          <p:nvPr/>
        </p:nvPicPr>
        <p:blipFill>
          <a:blip r:embed="rId6"/>
          <a:stretch>
            <a:fillRect/>
          </a:stretch>
        </p:blipFill>
        <p:spPr>
          <a:xfrm>
            <a:off x="609585" y="266693"/>
            <a:ext cx="190495" cy="190495"/>
          </a:xfrm>
          <a:prstGeom prst="rect">
            <a:avLst/>
          </a:prstGeom>
        </p:spPr>
      </p:pic>
      <p:sp>
        <p:nvSpPr>
          <p:cNvPr id="64" name="text 2.63"/>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65" name="text 2.64"/>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66" name="text 2.65"/>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67" name="text 2.66"/>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02 / 25</a:t>
            </a:r>
            <a:endParaRPr lang="en-US" sz="750" dirty="0"/>
          </a:p>
        </p:txBody>
      </p:sp>
      <p:sp>
        <p:nvSpPr>
          <p:cNvPr id="68" name="text 2.67"/>
          <p:cNvSpPr txBox="1"/>
          <p:nvPr/>
        </p:nvSpPr>
        <p:spPr>
          <a:xfrm>
            <a:off x="609585" y="698483"/>
            <a:ext cx="1104674"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01 · THE GAME</a:t>
            </a:r>
            <a:endParaRPr lang="en-US" sz="8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3.1 adj9600" descr="glossy_lineup.png">    </p:cNvPr>
          <p:cNvPicPr>
            <a:picLocks noChangeAspect="1"/>
          </p:cNvPicPr>
          <p:nvPr/>
        </p:nvPicPr>
        <p:blipFill>
          <a:blip r:embed="rId2"/>
          <a:stretch>
            <a:fillRect/>
          </a:stretch>
        </p:blipFill>
        <p:spPr>
          <a:xfrm>
            <a:off x="609585" y="1803355"/>
            <a:ext cx="3555911" cy="1587460"/>
          </a:xfrm>
          <a:prstGeom prst="roundRect">
            <a:avLst>
              <a:gd name="adj" fmla="val 9600"/>
            </a:avLst>
          </a:prstGeom>
        </p:spPr>
      </p:pic>
      <p:sp>
        <p:nvSpPr>
          <p:cNvPr id="3" name="shape 3.2"/>
          <p:cNvSpPr/>
          <p:nvPr/>
        </p:nvSpPr>
        <p:spPr>
          <a:xfrm>
            <a:off x="609585" y="3809905"/>
            <a:ext cx="3555911" cy="1333467"/>
          </a:xfrm>
          <a:prstGeom prst="roundRect">
            <a:avLst>
              <a:gd name="adj" fmla="val 11429"/>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3.3"/>
          <p:cNvSpPr/>
          <p:nvPr/>
        </p:nvSpPr>
        <p:spPr>
          <a:xfrm>
            <a:off x="4317892" y="3809905"/>
            <a:ext cx="3555911" cy="1333467"/>
          </a:xfrm>
          <a:prstGeom prst="roundRect">
            <a:avLst>
              <a:gd name="adj" fmla="val 11429"/>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3.4"/>
          <p:cNvSpPr/>
          <p:nvPr/>
        </p:nvSpPr>
        <p:spPr>
          <a:xfrm>
            <a:off x="8026199" y="3809905"/>
            <a:ext cx="3555911" cy="1333467"/>
          </a:xfrm>
          <a:prstGeom prst="roundRect">
            <a:avLst>
              <a:gd name="adj" fmla="val 11429"/>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shape 3.5"/>
          <p:cNvSpPr/>
          <p:nvPr/>
        </p:nvSpPr>
        <p:spPr>
          <a:xfrm>
            <a:off x="609585" y="5308467"/>
            <a:ext cx="3555911" cy="977876"/>
          </a:xfrm>
          <a:prstGeom prst="roundRect">
            <a:avLst>
              <a:gd name="adj" fmla="val 15584"/>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7" name="shape 3.6"/>
          <p:cNvSpPr/>
          <p:nvPr/>
        </p:nvSpPr>
        <p:spPr>
          <a:xfrm>
            <a:off x="4317892" y="5308467"/>
            <a:ext cx="3555911" cy="977876"/>
          </a:xfrm>
          <a:prstGeom prst="roundRect">
            <a:avLst>
              <a:gd name="adj" fmla="val 15584"/>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8" name="shape 3.7"/>
          <p:cNvSpPr/>
          <p:nvPr/>
        </p:nvSpPr>
        <p:spPr>
          <a:xfrm>
            <a:off x="8026199" y="5308467"/>
            <a:ext cx="3555911" cy="977876"/>
          </a:xfrm>
          <a:prstGeom prst="roundRect">
            <a:avLst>
              <a:gd name="adj" fmla="val 15584"/>
            </a:avLst>
          </a:prstGeom>
          <a:solidFill>
            <a:srgbClr val="FFF6DA"/>
          </a:solidFill>
          <a:ln w="12700">
            <a:solidFill>
              <a:srgbClr val="F6E3A6"/>
            </a:solidFill>
            <a:prstDash val="solid"/>
          </a:ln>
          <a:effectLst>
            <a:outerShdw sx="100000" sy="100000" kx="0" ky="0" algn="bl" rotWithShape="0" blurRad="203200" dist="76200" dir="5400000">
              <a:srgbClr val="1E468C">
                <a:alpha val="16000"/>
              </a:srgbClr>
            </a:outerShdw>
          </a:effectLst>
        </p:spPr>
      </p:sp>
      <p:pic>
        <p:nvPicPr>
          <p:cNvPr id="9" name="raster 3.8" descr="diagram">    </p:cNvPr>
          <p:cNvPicPr>
            <a:picLocks noChangeAspect="1"/>
          </p:cNvPicPr>
          <p:nvPr/>
        </p:nvPicPr>
        <p:blipFill>
          <a:blip r:embed="rId3"/>
          <a:stretch>
            <a:fillRect/>
          </a:stretch>
        </p:blipFill>
        <p:spPr>
          <a:xfrm>
            <a:off x="711182" y="3949601"/>
            <a:ext cx="1625559" cy="1054074"/>
          </a:xfrm>
          <a:prstGeom prst="rect">
            <a:avLst/>
          </a:prstGeom>
        </p:spPr>
      </p:pic>
      <p:pic>
        <p:nvPicPr>
          <p:cNvPr id="10" name="raster 3.9" descr="diagram">    </p:cNvPr>
          <p:cNvPicPr>
            <a:picLocks noChangeAspect="1"/>
          </p:cNvPicPr>
          <p:nvPr/>
        </p:nvPicPr>
        <p:blipFill>
          <a:blip r:embed="rId4"/>
          <a:stretch>
            <a:fillRect/>
          </a:stretch>
        </p:blipFill>
        <p:spPr>
          <a:xfrm>
            <a:off x="4419490" y="3949601"/>
            <a:ext cx="1625559" cy="1054074"/>
          </a:xfrm>
          <a:prstGeom prst="rect">
            <a:avLst/>
          </a:prstGeom>
        </p:spPr>
      </p:pic>
      <p:pic>
        <p:nvPicPr>
          <p:cNvPr id="11" name="raster 3.10" descr="diagram">    </p:cNvPr>
          <p:cNvPicPr>
            <a:picLocks noChangeAspect="1"/>
          </p:cNvPicPr>
          <p:nvPr/>
        </p:nvPicPr>
        <p:blipFill>
          <a:blip r:embed="rId5"/>
          <a:stretch>
            <a:fillRect/>
          </a:stretch>
        </p:blipFill>
        <p:spPr>
          <a:xfrm>
            <a:off x="8127797" y="3949601"/>
            <a:ext cx="1625559" cy="1054074"/>
          </a:xfrm>
          <a:prstGeom prst="rect">
            <a:avLst/>
          </a:prstGeom>
        </p:spPr>
      </p:pic>
      <p:sp>
        <p:nvSpPr>
          <p:cNvPr id="12" name="text 3.11"/>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Core mechanics</a:t>
            </a:r>
            <a:endParaRPr lang="en-US" sz="3000" dirty="0"/>
          </a:p>
        </p:txBody>
      </p:sp>
      <p:sp>
        <p:nvSpPr>
          <p:cNvPr id="13" name="text 3.12"/>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One shooting cube. </a:t>
            </a:r>
            <a:pPr algn="l" indent="0" marL="0">
              <a:lnSpc>
                <a:spcPts val="1820"/>
              </a:lnSpc>
              <a:buNone/>
            </a:pPr>
            <a:r>
              <a:rPr lang="en-US" sz="1350" b="1" dirty="0">
                <a:solidFill>
                  <a:srgbClr val="1FA9EA"/>
                </a:solidFill>
                <a:latin typeface="Arial" pitchFamily="34" charset="0"/>
                <a:ea typeface="Arial" pitchFamily="34" charset="-122"/>
                <a:cs typeface="Arial" pitchFamily="34" charset="-120"/>
              </a:rPr>
              <a:t>Every mini-game changes what a shot does.</a:t>
            </a:r>
            <a:endParaRPr lang="en-US" sz="1350" dirty="0"/>
          </a:p>
        </p:txBody>
      </p:sp>
      <p:sp>
        <p:nvSpPr>
          <p:cNvPr id="14" name="text 3.13"/>
          <p:cNvSpPr txBox="1"/>
          <p:nvPr/>
        </p:nvSpPr>
        <p:spPr>
          <a:xfrm>
            <a:off x="4444889" y="1879553"/>
            <a:ext cx="7149921" cy="690545"/>
          </a:xfrm>
          <a:prstGeom prst="rect">
            <a:avLst/>
          </a:prstGeom>
          <a:noFill/>
          <a:ln/>
        </p:spPr>
        <p:txBody>
          <a:bodyPr wrap="square" lIns="0" tIns="0" rIns="0" bIns="0" rtlCol="0" anchor="t"/>
          <a:lstStyle/>
          <a:p>
            <a:pPr algn="l" indent="0" marL="0">
              <a:lnSpc>
                <a:spcPts val="1810"/>
              </a:lnSpc>
              <a:buNone/>
            </a:pPr>
            <a:r>
              <a:rPr lang="en-US" sz="1250" b="1" dirty="0">
                <a:solidFill>
                  <a:srgbClr val="1B2340"/>
                </a:solidFill>
                <a:latin typeface="Arial" pitchFamily="34" charset="0"/>
                <a:ea typeface="Arial" pitchFamily="34" charset="-122"/>
                <a:cs typeface="Arial" pitchFamily="34" charset="-120"/>
              </a:rPr>
              <a:t>The player.</a:t>
            </a:r>
            <a:pPr algn="l" indent="0" marL="0">
              <a:lnSpc>
                <a:spcPts val="1810"/>
              </a:lnSpc>
              <a:buNone/>
            </a:pPr>
            <a:r>
              <a:rPr lang="en-US" sz="1250" dirty="0">
                <a:solidFill>
                  <a:srgbClr val="3E475E"/>
                </a:solidFill>
                <a:latin typeface="Arial" pitchFamily="34" charset="0"/>
                <a:ea typeface="Arial" pitchFamily="34" charset="-122"/>
                <a:cs typeface="Arial" pitchFamily="34" charset="-120"/>
              </a:rPr>
              <a:t> A small character with a barrel that fires real projectiles: physics objects, not instant hits. It does not have to be a cube, but its proportions should stay close to 1:1:1. Four colours: orange, cyan, lime, purple.</a:t>
            </a:r>
            <a:endParaRPr lang="en-US" sz="1250" dirty="0"/>
          </a:p>
        </p:txBody>
      </p:sp>
      <p:sp>
        <p:nvSpPr>
          <p:cNvPr id="15" name="text 3.14"/>
          <p:cNvSpPr txBox="1"/>
          <p:nvPr/>
        </p:nvSpPr>
        <p:spPr>
          <a:xfrm>
            <a:off x="4444889" y="3174921"/>
            <a:ext cx="2357660"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Concept render, AI-generated. Not gameplay.</a:t>
            </a:r>
            <a:endParaRPr lang="en-US" sz="850" dirty="0"/>
          </a:p>
        </p:txBody>
      </p:sp>
      <p:sp>
        <p:nvSpPr>
          <p:cNvPr id="16" name="text 3.15"/>
          <p:cNvSpPr txBox="1"/>
          <p:nvPr/>
        </p:nvSpPr>
        <p:spPr>
          <a:xfrm>
            <a:off x="609585" y="3594010"/>
            <a:ext cx="2098839"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B2340"/>
                </a:solidFill>
                <a:latin typeface="Arial" pitchFamily="34" charset="0"/>
                <a:ea typeface="Arial" pitchFamily="34" charset="-122"/>
                <a:cs typeface="Arial" pitchFamily="34" charset="-120"/>
              </a:rPr>
              <a:t>ONE TRIGGER, THREE EFFECTS</a:t>
            </a:r>
            <a:endParaRPr lang="en-US" sz="800" dirty="0"/>
          </a:p>
        </p:txBody>
      </p:sp>
      <p:sp>
        <p:nvSpPr>
          <p:cNvPr id="17" name="text 3.16"/>
          <p:cNvSpPr txBox="1"/>
          <p:nvPr/>
        </p:nvSpPr>
        <p:spPr>
          <a:xfrm>
            <a:off x="2451039" y="4038499"/>
            <a:ext cx="870147"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Damage</a:t>
            </a:r>
            <a:endParaRPr lang="en-US" sz="1500" dirty="0"/>
          </a:p>
        </p:txBody>
      </p:sp>
      <p:sp>
        <p:nvSpPr>
          <p:cNvPr id="18" name="text 3.17"/>
          <p:cNvSpPr txBox="1"/>
          <p:nvPr/>
        </p:nvSpPr>
        <p:spPr>
          <a:xfrm>
            <a:off x="2451039" y="4317892"/>
            <a:ext cx="1587460" cy="355591"/>
          </a:xfrm>
          <a:prstGeom prst="rect">
            <a:avLst/>
          </a:prstGeom>
          <a:noFill/>
          <a:ln/>
        </p:spPr>
        <p:txBody>
          <a:bodyPr wrap="square" lIns="0" tIns="0" rIns="0" bIns="0" rtlCol="0" anchor="t"/>
          <a:lstStyle/>
          <a:p>
            <a:pPr algn="l" indent="0" marL="0">
              <a:lnSpc>
                <a:spcPts val="1400"/>
              </a:lnSpc>
              <a:buNone/>
            </a:pPr>
            <a:r>
              <a:rPr lang="en-US" sz="1000" dirty="0">
                <a:solidFill>
                  <a:srgbClr val="3E475E"/>
                </a:solidFill>
                <a:latin typeface="Arial" pitchFamily="34" charset="0"/>
                <a:ea typeface="Arial" pitchFamily="34" charset="-122"/>
                <a:cs typeface="Arial" pitchFamily="34" charset="-120"/>
              </a:rPr>
              <a:t>The shot lowers the target’s health.</a:t>
            </a:r>
            <a:endParaRPr lang="en-US" sz="1000" dirty="0"/>
          </a:p>
        </p:txBody>
      </p:sp>
      <p:sp>
        <p:nvSpPr>
          <p:cNvPr id="19" name="text 3.18"/>
          <p:cNvSpPr txBox="1"/>
          <p:nvPr/>
        </p:nvSpPr>
        <p:spPr>
          <a:xfrm>
            <a:off x="6159346" y="4038499"/>
            <a:ext cx="1159257"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Knockback</a:t>
            </a:r>
            <a:endParaRPr lang="en-US" sz="1500" dirty="0"/>
          </a:p>
        </p:txBody>
      </p:sp>
      <p:sp>
        <p:nvSpPr>
          <p:cNvPr id="20" name="text 3.19"/>
          <p:cNvSpPr txBox="1"/>
          <p:nvPr/>
        </p:nvSpPr>
        <p:spPr>
          <a:xfrm>
            <a:off x="6159346" y="4317892"/>
            <a:ext cx="1587460" cy="533387"/>
          </a:xfrm>
          <a:prstGeom prst="rect">
            <a:avLst/>
          </a:prstGeom>
          <a:noFill/>
          <a:ln/>
        </p:spPr>
        <p:txBody>
          <a:bodyPr wrap="square" lIns="0" tIns="0" rIns="0" bIns="0" rtlCol="0" anchor="t"/>
          <a:lstStyle/>
          <a:p>
            <a:pPr algn="l" indent="0" marL="0">
              <a:lnSpc>
                <a:spcPts val="1400"/>
              </a:lnSpc>
              <a:buNone/>
            </a:pPr>
            <a:r>
              <a:rPr lang="en-US" sz="1000" dirty="0">
                <a:solidFill>
                  <a:srgbClr val="3E475E"/>
                </a:solidFill>
                <a:latin typeface="Arial" pitchFamily="34" charset="0"/>
                <a:ea typeface="Arial" pitchFamily="34" charset="-122"/>
                <a:cs typeface="Arial" pitchFamily="34" charset="-120"/>
              </a:rPr>
              <a:t>The target is pushed away from the direction the shot came from.</a:t>
            </a:r>
            <a:endParaRPr lang="en-US" sz="1000" dirty="0"/>
          </a:p>
        </p:txBody>
      </p:sp>
      <p:sp>
        <p:nvSpPr>
          <p:cNvPr id="21" name="text 3.20"/>
          <p:cNvSpPr txBox="1"/>
          <p:nvPr/>
        </p:nvSpPr>
        <p:spPr>
          <a:xfrm>
            <a:off x="9867653" y="4038499"/>
            <a:ext cx="564420"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Blast</a:t>
            </a:r>
            <a:endParaRPr lang="en-US" sz="1500" dirty="0"/>
          </a:p>
        </p:txBody>
      </p:sp>
      <p:sp>
        <p:nvSpPr>
          <p:cNvPr id="22" name="text 3.21"/>
          <p:cNvSpPr txBox="1"/>
          <p:nvPr/>
        </p:nvSpPr>
        <p:spPr>
          <a:xfrm>
            <a:off x="9867653" y="4317892"/>
            <a:ext cx="1587460" cy="533387"/>
          </a:xfrm>
          <a:prstGeom prst="rect">
            <a:avLst/>
          </a:prstGeom>
          <a:noFill/>
          <a:ln/>
        </p:spPr>
        <p:txBody>
          <a:bodyPr wrap="square" lIns="0" tIns="0" rIns="0" bIns="0" rtlCol="0" anchor="t"/>
          <a:lstStyle/>
          <a:p>
            <a:pPr algn="l" indent="0" marL="0">
              <a:lnSpc>
                <a:spcPts val="1400"/>
              </a:lnSpc>
              <a:buNone/>
            </a:pPr>
            <a:r>
              <a:rPr lang="en-US" sz="1000" dirty="0">
                <a:solidFill>
                  <a:srgbClr val="3E475E"/>
                </a:solidFill>
                <a:latin typeface="Arial" pitchFamily="34" charset="0"/>
                <a:ea typeface="Arial" pitchFamily="34" charset="-122"/>
                <a:cs typeface="Arial" pitchFamily="34" charset="-120"/>
              </a:rPr>
              <a:t>The shot explodes. Fired at the ground, it lifts the shooter up.</a:t>
            </a:r>
            <a:endParaRPr lang="en-US" sz="1000" dirty="0"/>
          </a:p>
        </p:txBody>
      </p:sp>
      <p:sp>
        <p:nvSpPr>
          <p:cNvPr id="23" name="text 3.22"/>
          <p:cNvSpPr txBox="1"/>
          <p:nvPr/>
        </p:nvSpPr>
        <p:spPr>
          <a:xfrm>
            <a:off x="800080" y="5460863"/>
            <a:ext cx="789166"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FA9EA"/>
                </a:solidFill>
                <a:latin typeface="Arial" pitchFamily="34" charset="0"/>
                <a:ea typeface="Arial" pitchFamily="34" charset="-122"/>
                <a:cs typeface="Arial" pitchFamily="34" charset="-120"/>
              </a:rPr>
              <a:t>MOVEMENT</a:t>
            </a:r>
            <a:endParaRPr lang="en-US" sz="800" dirty="0"/>
          </a:p>
        </p:txBody>
      </p:sp>
      <p:sp>
        <p:nvSpPr>
          <p:cNvPr id="24" name="text 3.23"/>
          <p:cNvSpPr txBox="1"/>
          <p:nvPr/>
        </p:nvSpPr>
        <p:spPr>
          <a:xfrm>
            <a:off x="800080" y="5664058"/>
            <a:ext cx="3213020" cy="368291"/>
          </a:xfrm>
          <a:prstGeom prst="rect">
            <a:avLst/>
          </a:prstGeom>
          <a:noFill/>
          <a:ln/>
        </p:spPr>
        <p:txBody>
          <a:bodyPr wrap="square" lIns="0" tIns="0" rIns="0" bIns="0" rtlCol="0" anchor="t"/>
          <a:lstStyle/>
          <a:p>
            <a:pPr algn="l" indent="0" marL="0">
              <a:lnSpc>
                <a:spcPts val="1450"/>
              </a:lnSpc>
              <a:buNone/>
            </a:pPr>
            <a:r>
              <a:rPr lang="en-US" sz="1000" dirty="0">
                <a:solidFill>
                  <a:srgbClr val="3E475E"/>
                </a:solidFill>
                <a:latin typeface="Arial" pitchFamily="34" charset="0"/>
                <a:ea typeface="Arial" pitchFamily="34" charset="-122"/>
                <a:cs typeface="Arial" pitchFamily="34" charset="-120"/>
              </a:rPr>
              <a:t>WASD to move. Jumping is allowed in some mini-games and not in others.</a:t>
            </a:r>
            <a:endParaRPr lang="en-US" sz="1000" dirty="0"/>
          </a:p>
        </p:txBody>
      </p:sp>
      <p:sp>
        <p:nvSpPr>
          <p:cNvPr id="25" name="text 3.24"/>
          <p:cNvSpPr txBox="1"/>
          <p:nvPr/>
        </p:nvSpPr>
        <p:spPr>
          <a:xfrm>
            <a:off x="4508387" y="5460863"/>
            <a:ext cx="613744"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FA9EA"/>
                </a:solidFill>
                <a:latin typeface="Arial" pitchFamily="34" charset="0"/>
                <a:ea typeface="Arial" pitchFamily="34" charset="-122"/>
                <a:cs typeface="Arial" pitchFamily="34" charset="-120"/>
              </a:rPr>
              <a:t>CAMERA</a:t>
            </a:r>
            <a:endParaRPr lang="en-US" sz="800" dirty="0"/>
          </a:p>
        </p:txBody>
      </p:sp>
      <p:sp>
        <p:nvSpPr>
          <p:cNvPr id="26" name="text 3.25"/>
          <p:cNvSpPr txBox="1"/>
          <p:nvPr/>
        </p:nvSpPr>
        <p:spPr>
          <a:xfrm>
            <a:off x="4508387" y="5664058"/>
            <a:ext cx="3213020" cy="368291"/>
          </a:xfrm>
          <a:prstGeom prst="rect">
            <a:avLst/>
          </a:prstGeom>
          <a:noFill/>
          <a:ln/>
        </p:spPr>
        <p:txBody>
          <a:bodyPr wrap="square" lIns="0" tIns="0" rIns="0" bIns="0" rtlCol="0" anchor="t"/>
          <a:lstStyle/>
          <a:p>
            <a:pPr algn="l" indent="0" marL="0">
              <a:lnSpc>
                <a:spcPts val="1450"/>
              </a:lnSpc>
              <a:buNone/>
            </a:pPr>
            <a:r>
              <a:rPr lang="en-US" sz="1000" dirty="0">
                <a:solidFill>
                  <a:srgbClr val="3E475E"/>
                </a:solidFill>
                <a:latin typeface="Arial" pitchFamily="34" charset="0"/>
                <a:ea typeface="Arial" pitchFamily="34" charset="-122"/>
                <a:cs typeface="Arial" pitchFamily="34" charset="-120"/>
              </a:rPr>
              <a:t>A third-person shooter camera by default. A mini-game can change it, like the 2.5D side view in Blast Parkour.</a:t>
            </a:r>
            <a:endParaRPr lang="en-US" sz="1000" dirty="0"/>
          </a:p>
        </p:txBody>
      </p:sp>
      <p:sp>
        <p:nvSpPr>
          <p:cNvPr id="27" name="text 3.26"/>
          <p:cNvSpPr txBox="1"/>
          <p:nvPr/>
        </p:nvSpPr>
        <p:spPr>
          <a:xfrm>
            <a:off x="8216695" y="5460863"/>
            <a:ext cx="2346933"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A57600"/>
                </a:solidFill>
                <a:latin typeface="Arial" pitchFamily="34" charset="0"/>
                <a:ea typeface="Arial" pitchFamily="34" charset="-122"/>
                <a:cs typeface="Arial" pitchFamily="34" charset="-120"/>
              </a:rPr>
              <a:t>MECHANIC IDEAS WE WANT TO TRY</a:t>
            </a:r>
            <a:endParaRPr lang="en-US" sz="800" dirty="0"/>
          </a:p>
        </p:txBody>
      </p:sp>
      <p:sp>
        <p:nvSpPr>
          <p:cNvPr id="28" name="text 3.27"/>
          <p:cNvSpPr txBox="1"/>
          <p:nvPr/>
        </p:nvSpPr>
        <p:spPr>
          <a:xfrm>
            <a:off x="8216695" y="5664058"/>
            <a:ext cx="3213020" cy="368291"/>
          </a:xfrm>
          <a:prstGeom prst="rect">
            <a:avLst/>
          </a:prstGeom>
          <a:noFill/>
          <a:ln/>
        </p:spPr>
        <p:txBody>
          <a:bodyPr wrap="square" lIns="0" tIns="0" rIns="0" bIns="0" rtlCol="0" anchor="t"/>
          <a:lstStyle/>
          <a:p>
            <a:pPr algn="l" indent="0" marL="0">
              <a:lnSpc>
                <a:spcPts val="1450"/>
              </a:lnSpc>
              <a:buNone/>
            </a:pPr>
            <a:r>
              <a:rPr lang="en-US" sz="1000" b="1" dirty="0">
                <a:solidFill>
                  <a:srgbClr val="1B2340"/>
                </a:solidFill>
                <a:latin typeface="Arial" pitchFamily="34" charset="0"/>
                <a:ea typeface="Arial" pitchFamily="34" charset="-122"/>
                <a:cs typeface="Arial" pitchFamily="34" charset="-120"/>
              </a:rPr>
              <a:t>Shoot the ground to jump.</a:t>
            </a:r>
            <a:pPr algn="l" indent="0" marL="0">
              <a:lnSpc>
                <a:spcPts val="1450"/>
              </a:lnSpc>
              <a:buNone/>
            </a:pPr>
            <a:r>
              <a:rPr lang="en-US" sz="1000" dirty="0">
                <a:solidFill>
                  <a:srgbClr val="3E475E"/>
                </a:solidFill>
                <a:latin typeface="Arial" pitchFamily="34" charset="0"/>
                <a:ea typeface="Arial" pitchFamily="34" charset="-122"/>
                <a:cs typeface="Arial" pitchFamily="34" charset="-120"/>
              </a:rPr>
              <a:t> </a:t>
            </a:r>
            <a:pPr algn="l" indent="0" marL="0">
              <a:lnSpc>
                <a:spcPts val="1450"/>
              </a:lnSpc>
              <a:buNone/>
            </a:pPr>
            <a:r>
              <a:rPr lang="en-US" sz="1000" b="1" dirty="0">
                <a:solidFill>
                  <a:srgbClr val="1B2340"/>
                </a:solidFill>
                <a:latin typeface="Arial" pitchFamily="34" charset="0"/>
                <a:ea typeface="Arial" pitchFamily="34" charset="-122"/>
                <a:cs typeface="Arial" pitchFamily="34" charset="-120"/>
              </a:rPr>
              <a:t>Steer with recoil:</a:t>
            </a:r>
            <a:pPr algn="l" indent="0" marL="0">
              <a:lnSpc>
                <a:spcPts val="1450"/>
              </a:lnSpc>
              <a:buNone/>
            </a:pPr>
            <a:r>
              <a:rPr lang="en-US" sz="1000" dirty="0">
                <a:solidFill>
                  <a:srgbClr val="3E475E"/>
                </a:solidFill>
                <a:latin typeface="Arial" pitchFamily="34" charset="0"/>
                <a:ea typeface="Arial" pitchFamily="34" charset="-122"/>
                <a:cs typeface="Arial" pitchFamily="34" charset="-120"/>
              </a:rPr>
              <a:t> on ice, firing forward pushes you back.</a:t>
            </a:r>
            <a:endParaRPr lang="en-US" sz="1000" dirty="0"/>
          </a:p>
        </p:txBody>
      </p:sp>
      <p:pic>
        <p:nvPicPr>
          <p:cNvPr id="29" name="raster 3.28" descr="diagram">    </p:cNvPr>
          <p:cNvPicPr>
            <a:picLocks noChangeAspect="1"/>
          </p:cNvPicPr>
          <p:nvPr/>
        </p:nvPicPr>
        <p:blipFill>
          <a:blip r:embed="rId6"/>
          <a:stretch>
            <a:fillRect/>
          </a:stretch>
        </p:blipFill>
        <p:spPr>
          <a:xfrm>
            <a:off x="609585" y="266693"/>
            <a:ext cx="190495" cy="190495"/>
          </a:xfrm>
          <a:prstGeom prst="rect">
            <a:avLst/>
          </a:prstGeom>
        </p:spPr>
      </p:pic>
      <p:sp>
        <p:nvSpPr>
          <p:cNvPr id="30" name="text 3.29"/>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31" name="text 3.30"/>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32" name="text 3.31"/>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33" name="text 3.32"/>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03 / 25</a:t>
            </a:r>
            <a:endParaRPr lang="en-US" sz="750" dirty="0"/>
          </a:p>
        </p:txBody>
      </p:sp>
      <p:sp>
        <p:nvSpPr>
          <p:cNvPr id="34" name="text 3.33"/>
          <p:cNvSpPr txBox="1"/>
          <p:nvPr/>
        </p:nvSpPr>
        <p:spPr>
          <a:xfrm>
            <a:off x="609585" y="698483"/>
            <a:ext cx="2021539"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1FA9EA"/>
                </a:solidFill>
                <a:latin typeface="Arial" pitchFamily="34" charset="0"/>
                <a:ea typeface="Arial" pitchFamily="34" charset="-122"/>
                <a:cs typeface="Arial" pitchFamily="34" charset="-120"/>
              </a:rPr>
              <a:t>02 · GAMEPLAY MECHANICS</a:t>
            </a:r>
            <a:endParaRPr lang="en-US" sz="8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4.1 adj6400" descr="sp_arena.png">    </p:cNvPr>
          <p:cNvPicPr>
            <a:picLocks noChangeAspect="1"/>
          </p:cNvPicPr>
          <p:nvPr/>
        </p:nvPicPr>
        <p:blipFill>
          <a:blip r:embed="rId2"/>
          <a:stretch>
            <a:fillRect/>
          </a:stretch>
        </p:blipFill>
        <p:spPr>
          <a:xfrm>
            <a:off x="609585" y="1803355"/>
            <a:ext cx="6984825" cy="2381190"/>
          </a:xfrm>
          <a:prstGeom prst="roundRect">
            <a:avLst>
              <a:gd name="adj" fmla="val 6400"/>
            </a:avLst>
          </a:prstGeom>
        </p:spPr>
      </p:pic>
      <p:sp>
        <p:nvSpPr>
          <p:cNvPr id="3" name="shape 4.2"/>
          <p:cNvSpPr/>
          <p:nvPr/>
        </p:nvSpPr>
        <p:spPr>
          <a:xfrm>
            <a:off x="609585" y="4546486"/>
            <a:ext cx="6984825" cy="1739857"/>
          </a:xfrm>
          <a:prstGeom prst="roundRect">
            <a:avLst>
              <a:gd name="adj" fmla="val 8759"/>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4.3"/>
          <p:cNvSpPr/>
          <p:nvPr/>
        </p:nvSpPr>
        <p:spPr>
          <a:xfrm>
            <a:off x="7848404" y="1803355"/>
            <a:ext cx="3733707" cy="1409665"/>
          </a:xfrm>
          <a:prstGeom prst="roundRect">
            <a:avLst>
              <a:gd name="adj" fmla="val 10811"/>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4.4"/>
          <p:cNvSpPr/>
          <p:nvPr/>
        </p:nvSpPr>
        <p:spPr>
          <a:xfrm>
            <a:off x="7848404" y="3340016"/>
            <a:ext cx="3733707" cy="1409665"/>
          </a:xfrm>
          <a:prstGeom prst="roundRect">
            <a:avLst>
              <a:gd name="adj" fmla="val 10811"/>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shape 4.5"/>
          <p:cNvSpPr/>
          <p:nvPr/>
        </p:nvSpPr>
        <p:spPr>
          <a:xfrm>
            <a:off x="7848404" y="4876678"/>
            <a:ext cx="3733707" cy="1409665"/>
          </a:xfrm>
          <a:prstGeom prst="roundRect">
            <a:avLst>
              <a:gd name="adj" fmla="val 10811"/>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7" name="raster 4.6" descr="diagram">    </p:cNvPr>
          <p:cNvPicPr>
            <a:picLocks noChangeAspect="1"/>
          </p:cNvPicPr>
          <p:nvPr/>
        </p:nvPicPr>
        <p:blipFill>
          <a:blip r:embed="rId3"/>
          <a:stretch>
            <a:fillRect/>
          </a:stretch>
        </p:blipFill>
        <p:spPr>
          <a:xfrm>
            <a:off x="1257269" y="5124322"/>
            <a:ext cx="673083" cy="215895"/>
          </a:xfrm>
          <a:prstGeom prst="rect">
            <a:avLst/>
          </a:prstGeom>
        </p:spPr>
      </p:pic>
      <p:pic>
        <p:nvPicPr>
          <p:cNvPr id="8" name="raster 4.7" descr="diagram">    </p:cNvPr>
          <p:cNvPicPr>
            <a:picLocks noChangeAspect="1"/>
          </p:cNvPicPr>
          <p:nvPr/>
        </p:nvPicPr>
        <p:blipFill>
          <a:blip r:embed="rId4"/>
          <a:stretch>
            <a:fillRect/>
          </a:stretch>
        </p:blipFill>
        <p:spPr>
          <a:xfrm>
            <a:off x="3479713" y="5124322"/>
            <a:ext cx="1308067" cy="215895"/>
          </a:xfrm>
          <a:prstGeom prst="rect">
            <a:avLst/>
          </a:prstGeom>
        </p:spPr>
      </p:pic>
      <p:pic>
        <p:nvPicPr>
          <p:cNvPr id="9" name="raster 4.8" descr="diagram">    </p:cNvPr>
          <p:cNvPicPr>
            <a:picLocks noChangeAspect="1"/>
          </p:cNvPicPr>
          <p:nvPr/>
        </p:nvPicPr>
        <p:blipFill>
          <a:blip r:embed="rId5"/>
          <a:stretch>
            <a:fillRect/>
          </a:stretch>
        </p:blipFill>
        <p:spPr>
          <a:xfrm>
            <a:off x="5702157" y="5124322"/>
            <a:ext cx="2006550" cy="215895"/>
          </a:xfrm>
          <a:prstGeom prst="rect">
            <a:avLst/>
          </a:prstGeom>
        </p:spPr>
      </p:pic>
      <p:sp>
        <p:nvSpPr>
          <p:cNvPr id="10" name="text 4.9"/>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Knockback Arena</a:t>
            </a:r>
            <a:endParaRPr lang="en-US" sz="3000" dirty="0"/>
          </a:p>
        </p:txBody>
      </p:sp>
      <p:sp>
        <p:nvSpPr>
          <p:cNvPr id="11" name="text 4.10"/>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Shoot the others off a flat floor. </a:t>
            </a:r>
            <a:pPr algn="l" indent="0" marL="0">
              <a:lnSpc>
                <a:spcPts val="1820"/>
              </a:lnSpc>
              <a:buNone/>
            </a:pPr>
            <a:r>
              <a:rPr lang="en-US" sz="1350" b="1" dirty="0">
                <a:solidFill>
                  <a:srgbClr val="FF6B1F"/>
                </a:solidFill>
                <a:latin typeface="Arial" pitchFamily="34" charset="0"/>
                <a:ea typeface="Arial" pitchFamily="34" charset="-122"/>
                <a:cs typeface="Arial" pitchFamily="34" charset="-120"/>
              </a:rPr>
              <a:t>Every hit makes them lighter.</a:t>
            </a:r>
            <a:endParaRPr lang="en-US" sz="1350" dirty="0"/>
          </a:p>
        </p:txBody>
      </p:sp>
      <p:sp>
        <p:nvSpPr>
          <p:cNvPr id="12" name="shape 4.11"/>
          <p:cNvSpPr/>
          <p:nvPr/>
        </p:nvSpPr>
        <p:spPr>
          <a:xfrm>
            <a:off x="761981" y="1930352"/>
            <a:ext cx="634984" cy="215895"/>
          </a:xfrm>
          <a:prstGeom prst="roundRect">
            <a:avLst>
              <a:gd name="adj" fmla="val 50000"/>
            </a:avLst>
          </a:prstGeom>
          <a:solidFill>
            <a:srgbClr val="FF6B1F"/>
          </a:solidFill>
          <a:ln/>
        </p:spPr>
      </p:sp>
      <p:sp>
        <p:nvSpPr>
          <p:cNvPr id="13" name="text 4.12"/>
          <p:cNvSpPr txBox="1"/>
          <p:nvPr/>
        </p:nvSpPr>
        <p:spPr>
          <a:xfrm>
            <a:off x="761981" y="1930352"/>
            <a:ext cx="634984" cy="215895"/>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MVP</a:t>
            </a:r>
            <a:endParaRPr lang="en-US" sz="700" dirty="0"/>
          </a:p>
        </p:txBody>
      </p:sp>
      <p:sp>
        <p:nvSpPr>
          <p:cNvPr id="14" name="text 4.13"/>
          <p:cNvSpPr txBox="1"/>
          <p:nvPr/>
        </p:nvSpPr>
        <p:spPr>
          <a:xfrm>
            <a:off x="609585" y="4267093"/>
            <a:ext cx="3101733"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Illustration, not gameplay. Arena theme and size are not set.</a:t>
            </a:r>
            <a:endParaRPr lang="en-US" sz="850" dirty="0"/>
          </a:p>
        </p:txBody>
      </p:sp>
      <p:sp>
        <p:nvSpPr>
          <p:cNvPr id="15" name="text 4.14"/>
          <p:cNvSpPr txBox="1"/>
          <p:nvPr/>
        </p:nvSpPr>
        <p:spPr>
          <a:xfrm>
            <a:off x="863578" y="4724282"/>
            <a:ext cx="3503900"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MASS, NOT SIZE: THE SAME SHOT, A LONGER FLIGHT</a:t>
            </a:r>
            <a:endParaRPr lang="en-US" sz="800" dirty="0"/>
          </a:p>
        </p:txBody>
      </p:sp>
      <p:sp>
        <p:nvSpPr>
          <p:cNvPr id="16" name="shape 4.15"/>
          <p:cNvSpPr/>
          <p:nvPr/>
        </p:nvSpPr>
        <p:spPr>
          <a:xfrm>
            <a:off x="863578" y="5054474"/>
            <a:ext cx="355591" cy="355591"/>
          </a:xfrm>
          <a:prstGeom prst="roundRect">
            <a:avLst>
              <a:gd name="adj" fmla="val 25000"/>
            </a:avLst>
          </a:prstGeom>
          <a:solidFill>
            <a:srgbClr val="1FA9EA"/>
          </a:solidFill>
          <a:ln/>
        </p:spPr>
      </p:sp>
      <p:sp>
        <p:nvSpPr>
          <p:cNvPr id="17" name="text 4.16"/>
          <p:cNvSpPr txBox="1"/>
          <p:nvPr/>
        </p:nvSpPr>
        <p:spPr>
          <a:xfrm>
            <a:off x="863578" y="5562461"/>
            <a:ext cx="2070048" cy="177796"/>
          </a:xfrm>
          <a:prstGeom prst="rect">
            <a:avLst/>
          </a:prstGeom>
          <a:noFill/>
          <a:ln/>
        </p:spPr>
        <p:txBody>
          <a:bodyPr wrap="square" lIns="0" tIns="0" rIns="0" bIns="0" rtlCol="0" anchor="t"/>
          <a:lstStyle/>
          <a:p>
            <a:pPr algn="l" indent="0" marL="0">
              <a:lnSpc>
                <a:spcPts val="1400"/>
              </a:lnSpc>
              <a:buNone/>
            </a:pPr>
            <a:r>
              <a:rPr lang="en-US" sz="1000" b="1" dirty="0">
                <a:solidFill>
                  <a:srgbClr val="1B2340"/>
                </a:solidFill>
                <a:latin typeface="Arial" pitchFamily="34" charset="0"/>
                <a:ea typeface="Arial" pitchFamily="34" charset="-122"/>
                <a:cs typeface="Arial" pitchFamily="34" charset="-120"/>
              </a:rPr>
              <a:t>Full mass.</a:t>
            </a:r>
            <a:pPr algn="l" indent="0" marL="0">
              <a:lnSpc>
                <a:spcPts val="1400"/>
              </a:lnSpc>
              <a:buNone/>
            </a:pPr>
            <a:r>
              <a:rPr lang="en-US" sz="1000" dirty="0">
                <a:solidFill>
                  <a:srgbClr val="3E475E"/>
                </a:solidFill>
                <a:latin typeface="Arial" pitchFamily="34" charset="0"/>
                <a:ea typeface="Arial" pitchFamily="34" charset="-122"/>
                <a:cs typeface="Arial" pitchFamily="34" charset="-120"/>
              </a:rPr>
              <a:t> A hit pushes a little.</a:t>
            </a:r>
            <a:endParaRPr lang="en-US" sz="1000" dirty="0"/>
          </a:p>
        </p:txBody>
      </p:sp>
      <p:sp>
        <p:nvSpPr>
          <p:cNvPr id="18" name="shape 4.17"/>
          <p:cNvSpPr/>
          <p:nvPr/>
        </p:nvSpPr>
        <p:spPr>
          <a:xfrm>
            <a:off x="3086023" y="5054474"/>
            <a:ext cx="355591" cy="355591"/>
          </a:xfrm>
          <a:prstGeom prst="roundRect">
            <a:avLst>
              <a:gd name="adj" fmla="val 25000"/>
            </a:avLst>
          </a:prstGeom>
          <a:solidFill>
            <a:srgbClr val="7CC6EF"/>
          </a:solidFill>
          <a:ln/>
        </p:spPr>
      </p:sp>
      <p:sp>
        <p:nvSpPr>
          <p:cNvPr id="19" name="text 4.18"/>
          <p:cNvSpPr txBox="1"/>
          <p:nvPr/>
        </p:nvSpPr>
        <p:spPr>
          <a:xfrm>
            <a:off x="3086023" y="5562461"/>
            <a:ext cx="2070048" cy="355591"/>
          </a:xfrm>
          <a:prstGeom prst="rect">
            <a:avLst/>
          </a:prstGeom>
          <a:noFill/>
          <a:ln/>
        </p:spPr>
        <p:txBody>
          <a:bodyPr wrap="square" lIns="0" tIns="0" rIns="0" bIns="0" rtlCol="0" anchor="t"/>
          <a:lstStyle/>
          <a:p>
            <a:pPr algn="l" indent="0" marL="0">
              <a:lnSpc>
                <a:spcPts val="1400"/>
              </a:lnSpc>
              <a:buNone/>
            </a:pPr>
            <a:r>
              <a:rPr lang="en-US" sz="1000" b="1" dirty="0">
                <a:solidFill>
                  <a:srgbClr val="1B2340"/>
                </a:solidFill>
                <a:latin typeface="Arial" pitchFamily="34" charset="0"/>
                <a:ea typeface="Arial" pitchFamily="34" charset="-122"/>
                <a:cs typeface="Arial" pitchFamily="34" charset="-120"/>
              </a:rPr>
              <a:t>After a few hits.</a:t>
            </a:r>
            <a:pPr algn="l" indent="0" marL="0">
              <a:lnSpc>
                <a:spcPts val="1400"/>
              </a:lnSpc>
              <a:buNone/>
            </a:pPr>
            <a:r>
              <a:rPr lang="en-US" sz="1000" dirty="0">
                <a:solidFill>
                  <a:srgbClr val="3E475E"/>
                </a:solidFill>
                <a:latin typeface="Arial" pitchFamily="34" charset="0"/>
                <a:ea typeface="Arial" pitchFamily="34" charset="-122"/>
                <a:cs typeface="Arial" pitchFamily="34" charset="-120"/>
              </a:rPr>
              <a:t> Same size, less mass, a longer push.</a:t>
            </a:r>
            <a:endParaRPr lang="en-US" sz="1000" dirty="0"/>
          </a:p>
        </p:txBody>
      </p:sp>
      <p:sp>
        <p:nvSpPr>
          <p:cNvPr id="20" name="shape 4.19"/>
          <p:cNvSpPr/>
          <p:nvPr/>
        </p:nvSpPr>
        <p:spPr>
          <a:xfrm>
            <a:off x="5308467" y="5054474"/>
            <a:ext cx="355591" cy="355591"/>
          </a:xfrm>
          <a:prstGeom prst="roundRect">
            <a:avLst>
              <a:gd name="adj" fmla="val 25000"/>
            </a:avLst>
          </a:prstGeom>
          <a:solidFill>
            <a:srgbClr val="BDE2F7"/>
          </a:solidFill>
          <a:ln/>
        </p:spPr>
      </p:sp>
      <p:sp>
        <p:nvSpPr>
          <p:cNvPr id="21" name="text 4.20"/>
          <p:cNvSpPr txBox="1"/>
          <p:nvPr/>
        </p:nvSpPr>
        <p:spPr>
          <a:xfrm>
            <a:off x="5308467" y="5562461"/>
            <a:ext cx="2070048" cy="355591"/>
          </a:xfrm>
          <a:prstGeom prst="rect">
            <a:avLst/>
          </a:prstGeom>
          <a:noFill/>
          <a:ln/>
        </p:spPr>
        <p:txBody>
          <a:bodyPr wrap="square" lIns="0" tIns="0" rIns="0" bIns="0" rtlCol="0" anchor="t"/>
          <a:lstStyle/>
          <a:p>
            <a:pPr algn="l" indent="0" marL="0">
              <a:lnSpc>
                <a:spcPts val="1400"/>
              </a:lnSpc>
              <a:buNone/>
            </a:pPr>
            <a:r>
              <a:rPr lang="en-US" sz="1000" b="1" dirty="0">
                <a:solidFill>
                  <a:srgbClr val="1B2340"/>
                </a:solidFill>
                <a:latin typeface="Arial" pitchFamily="34" charset="0"/>
                <a:ea typeface="Arial" pitchFamily="34" charset="-122"/>
                <a:cs typeface="Arial" pitchFamily="34" charset="-120"/>
              </a:rPr>
              <a:t>Many hits.</a:t>
            </a:r>
            <a:pPr algn="l" indent="0" marL="0">
              <a:lnSpc>
                <a:spcPts val="1400"/>
              </a:lnSpc>
              <a:buNone/>
            </a:pPr>
            <a:r>
              <a:rPr lang="en-US" sz="1000" dirty="0">
                <a:solidFill>
                  <a:srgbClr val="3E475E"/>
                </a:solidFill>
                <a:latin typeface="Arial" pitchFamily="34" charset="0"/>
                <a:ea typeface="Arial" pitchFamily="34" charset="-122"/>
                <a:cs typeface="Arial" pitchFamily="34" charset="-120"/>
              </a:rPr>
              <a:t> One more shot sends it off the edge.</a:t>
            </a:r>
            <a:endParaRPr lang="en-US" sz="1000" dirty="0"/>
          </a:p>
        </p:txBody>
      </p:sp>
      <p:sp>
        <p:nvSpPr>
          <p:cNvPr id="22" name="text 4.21"/>
          <p:cNvSpPr txBox="1"/>
          <p:nvPr/>
        </p:nvSpPr>
        <p:spPr>
          <a:xfrm>
            <a:off x="8064298" y="1968451"/>
            <a:ext cx="741314"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SHOOTING</a:t>
            </a:r>
            <a:endParaRPr lang="en-US" sz="800" dirty="0"/>
          </a:p>
        </p:txBody>
      </p:sp>
      <p:sp>
        <p:nvSpPr>
          <p:cNvPr id="23" name="text 4.22"/>
          <p:cNvSpPr txBox="1"/>
          <p:nvPr/>
        </p:nvSpPr>
        <p:spPr>
          <a:xfrm>
            <a:off x="8064298" y="2184345"/>
            <a:ext cx="3340016" cy="405001"/>
          </a:xfrm>
          <a:prstGeom prst="rect">
            <a:avLst/>
          </a:prstGeom>
          <a:noFill/>
          <a:ln/>
        </p:spPr>
        <p:txBody>
          <a:bodyPr wrap="square" lIns="0" tIns="0" rIns="0" bIns="0" rtlCol="0" anchor="t"/>
          <a:lstStyle/>
          <a:p>
            <a:pPr algn="l" indent="0" marL="0">
              <a:lnSpc>
                <a:spcPts val="1590"/>
              </a:lnSpc>
              <a:buNone/>
            </a:pPr>
            <a:r>
              <a:rPr lang="en-US" sz="1100" dirty="0">
                <a:solidFill>
                  <a:srgbClr val="3E475E"/>
                </a:solidFill>
                <a:latin typeface="Arial" pitchFamily="34" charset="0"/>
                <a:ea typeface="Arial" pitchFamily="34" charset="-122"/>
                <a:cs typeface="Arial" pitchFamily="34" charset="-120"/>
              </a:rPr>
              <a:t>Free, with a fire-rate limit. Shots are real thrown objects and have no effect on the shooter.</a:t>
            </a:r>
            <a:endParaRPr lang="en-US" sz="1100" dirty="0"/>
          </a:p>
        </p:txBody>
      </p:sp>
      <p:sp>
        <p:nvSpPr>
          <p:cNvPr id="24" name="text 4.23"/>
          <p:cNvSpPr txBox="1"/>
          <p:nvPr/>
        </p:nvSpPr>
        <p:spPr>
          <a:xfrm>
            <a:off x="8064298" y="3505112"/>
            <a:ext cx="887710"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GETTING HIT</a:t>
            </a:r>
            <a:endParaRPr lang="en-US" sz="800" dirty="0"/>
          </a:p>
        </p:txBody>
      </p:sp>
      <p:sp>
        <p:nvSpPr>
          <p:cNvPr id="25" name="text 4.24"/>
          <p:cNvSpPr txBox="1"/>
          <p:nvPr/>
        </p:nvSpPr>
        <p:spPr>
          <a:xfrm>
            <a:off x="8064298" y="3721007"/>
            <a:ext cx="3340016" cy="405001"/>
          </a:xfrm>
          <a:prstGeom prst="rect">
            <a:avLst/>
          </a:prstGeom>
          <a:noFill/>
          <a:ln/>
        </p:spPr>
        <p:txBody>
          <a:bodyPr wrap="square" lIns="0" tIns="0" rIns="0" bIns="0" rtlCol="0" anchor="t"/>
          <a:lstStyle/>
          <a:p>
            <a:pPr algn="l" indent="0" marL="0">
              <a:lnSpc>
                <a:spcPts val="1590"/>
              </a:lnSpc>
              <a:buNone/>
            </a:pPr>
            <a:r>
              <a:rPr lang="en-US" sz="1100" dirty="0">
                <a:solidFill>
                  <a:srgbClr val="3E475E"/>
                </a:solidFill>
                <a:latin typeface="Arial" pitchFamily="34" charset="0"/>
                <a:ea typeface="Arial" pitchFamily="34" charset="-122"/>
                <a:cs typeface="Arial" pitchFamily="34" charset="-120"/>
              </a:rPr>
              <a:t>A force from the shot’s direction, and a drop in mass. Volume stays the same.</a:t>
            </a:r>
            <a:endParaRPr lang="en-US" sz="1100" dirty="0"/>
          </a:p>
        </p:txBody>
      </p:sp>
      <p:sp>
        <p:nvSpPr>
          <p:cNvPr id="26" name="text 4.25"/>
          <p:cNvSpPr txBox="1"/>
          <p:nvPr/>
        </p:nvSpPr>
        <p:spPr>
          <a:xfrm>
            <a:off x="8064298" y="5041774"/>
            <a:ext cx="1469822"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OUT AND PLACEMENT</a:t>
            </a:r>
            <a:endParaRPr lang="en-US" sz="800" dirty="0"/>
          </a:p>
        </p:txBody>
      </p:sp>
      <p:sp>
        <p:nvSpPr>
          <p:cNvPr id="27" name="text 4.26"/>
          <p:cNvSpPr txBox="1"/>
          <p:nvPr/>
        </p:nvSpPr>
        <p:spPr>
          <a:xfrm>
            <a:off x="8064298" y="5257669"/>
            <a:ext cx="3340016" cy="405001"/>
          </a:xfrm>
          <a:prstGeom prst="rect">
            <a:avLst/>
          </a:prstGeom>
          <a:noFill/>
          <a:ln/>
        </p:spPr>
        <p:txBody>
          <a:bodyPr wrap="square" lIns="0" tIns="0" rIns="0" bIns="0" rtlCol="0" anchor="t"/>
          <a:lstStyle/>
          <a:p>
            <a:pPr algn="l" indent="0" marL="0">
              <a:lnSpc>
                <a:spcPts val="1590"/>
              </a:lnSpc>
              <a:buNone/>
            </a:pPr>
            <a:r>
              <a:rPr lang="en-US" sz="1100" dirty="0">
                <a:solidFill>
                  <a:srgbClr val="3E475E"/>
                </a:solidFill>
                <a:latin typeface="Arial" pitchFamily="34" charset="0"/>
                <a:ea typeface="Arial" pitchFamily="34" charset="-122"/>
                <a:cs typeface="Arial" pitchFamily="34" charset="-120"/>
              </a:rPr>
              <a:t>Falling off means you are out. Proposed: placement by order of elimination, last cube standing wins.</a:t>
            </a:r>
            <a:endParaRPr lang="en-US" sz="1100" dirty="0"/>
          </a:p>
        </p:txBody>
      </p:sp>
      <p:pic>
        <p:nvPicPr>
          <p:cNvPr id="28" name="raster 4.27" descr="diagram">    </p:cNvPr>
          <p:cNvPicPr>
            <a:picLocks noChangeAspect="1"/>
          </p:cNvPicPr>
          <p:nvPr/>
        </p:nvPicPr>
        <p:blipFill>
          <a:blip r:embed="rId6"/>
          <a:stretch>
            <a:fillRect/>
          </a:stretch>
        </p:blipFill>
        <p:spPr>
          <a:xfrm>
            <a:off x="609585" y="266693"/>
            <a:ext cx="190495" cy="190495"/>
          </a:xfrm>
          <a:prstGeom prst="rect">
            <a:avLst/>
          </a:prstGeom>
        </p:spPr>
      </p:pic>
      <p:sp>
        <p:nvSpPr>
          <p:cNvPr id="29" name="text 4.28"/>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30" name="text 4.29"/>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31" name="text 4.30"/>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32" name="text 4.31"/>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04 / 25</a:t>
            </a:r>
            <a:endParaRPr lang="en-US" sz="750" dirty="0"/>
          </a:p>
        </p:txBody>
      </p:sp>
      <p:sp>
        <p:nvSpPr>
          <p:cNvPr id="33" name="text 4.32"/>
          <p:cNvSpPr txBox="1"/>
          <p:nvPr/>
        </p:nvSpPr>
        <p:spPr>
          <a:xfrm>
            <a:off x="609585" y="698483"/>
            <a:ext cx="2314120"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MINI-GAME 01 · WORKING NAME</a:t>
            </a:r>
            <a:endParaRPr lang="en-US" sz="8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5.1 adj5882" descr="sp_parkour.png">    </p:cNvPr>
          <p:cNvPicPr>
            <a:picLocks noChangeAspect="1"/>
          </p:cNvPicPr>
          <p:nvPr/>
        </p:nvPicPr>
        <p:blipFill>
          <a:blip r:embed="rId2"/>
          <a:stretch>
            <a:fillRect/>
          </a:stretch>
        </p:blipFill>
        <p:spPr>
          <a:xfrm>
            <a:off x="609585" y="1803355"/>
            <a:ext cx="6984825" cy="2590735"/>
          </a:xfrm>
          <a:prstGeom prst="roundRect">
            <a:avLst>
              <a:gd name="adj" fmla="val 5882"/>
            </a:avLst>
          </a:prstGeom>
        </p:spPr>
      </p:pic>
      <p:sp>
        <p:nvSpPr>
          <p:cNvPr id="3" name="shape 5.2"/>
          <p:cNvSpPr/>
          <p:nvPr/>
        </p:nvSpPr>
        <p:spPr>
          <a:xfrm>
            <a:off x="609585" y="5079873"/>
            <a:ext cx="6984825" cy="1206470"/>
          </a:xfrm>
          <a:prstGeom prst="roundRect">
            <a:avLst>
              <a:gd name="adj" fmla="val 12632"/>
            </a:avLst>
          </a:prstGeom>
          <a:solidFill>
            <a:srgbClr val="FFF6DA"/>
          </a:solidFill>
          <a:ln w="12700">
            <a:solidFill>
              <a:srgbClr val="F6E3A6"/>
            </a:solidFill>
            <a:prstDash val="solid"/>
          </a:ln>
          <a:effectLst>
            <a:outerShdw sx="100000" sy="100000" kx="0" ky="0" algn="bl" rotWithShape="0" blurRad="203200" dist="76200" dir="5400000">
              <a:srgbClr val="1E468C">
                <a:alpha val="16000"/>
              </a:srgbClr>
            </a:outerShdw>
          </a:effectLst>
        </p:spPr>
      </p:sp>
      <p:sp>
        <p:nvSpPr>
          <p:cNvPr id="4" name="shape 5.3"/>
          <p:cNvSpPr/>
          <p:nvPr/>
        </p:nvSpPr>
        <p:spPr>
          <a:xfrm>
            <a:off x="7848404" y="1803355"/>
            <a:ext cx="3733707" cy="1044549"/>
          </a:xfrm>
          <a:prstGeom prst="roundRect">
            <a:avLst>
              <a:gd name="adj" fmla="val 145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5.4"/>
          <p:cNvSpPr/>
          <p:nvPr/>
        </p:nvSpPr>
        <p:spPr>
          <a:xfrm>
            <a:off x="7848404" y="2949501"/>
            <a:ext cx="3733707" cy="1044549"/>
          </a:xfrm>
          <a:prstGeom prst="roundRect">
            <a:avLst>
              <a:gd name="adj" fmla="val 145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shape 5.5"/>
          <p:cNvSpPr/>
          <p:nvPr/>
        </p:nvSpPr>
        <p:spPr>
          <a:xfrm>
            <a:off x="7848404" y="4095648"/>
            <a:ext cx="3733707" cy="1044549"/>
          </a:xfrm>
          <a:prstGeom prst="roundRect">
            <a:avLst>
              <a:gd name="adj" fmla="val 145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7" name="shape 5.6"/>
          <p:cNvSpPr/>
          <p:nvPr/>
        </p:nvSpPr>
        <p:spPr>
          <a:xfrm>
            <a:off x="7848404" y="5241794"/>
            <a:ext cx="3733707" cy="1044549"/>
          </a:xfrm>
          <a:prstGeom prst="roundRect">
            <a:avLst>
              <a:gd name="adj" fmla="val 145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8" name="text 5.7"/>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Blast Parkour</a:t>
            </a:r>
            <a:endParaRPr lang="en-US" sz="3000" dirty="0"/>
          </a:p>
        </p:txBody>
      </p:sp>
      <p:sp>
        <p:nvSpPr>
          <p:cNvPr id="9" name="text 5.8"/>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A 2.5D obstacle course: </a:t>
            </a:r>
            <a:pPr algn="l" indent="0" marL="0">
              <a:lnSpc>
                <a:spcPts val="1820"/>
              </a:lnSpc>
              <a:buNone/>
            </a:pPr>
            <a:r>
              <a:rPr lang="en-US" sz="1350" b="1" dirty="0">
                <a:solidFill>
                  <a:srgbClr val="8F55F5"/>
                </a:solidFill>
                <a:latin typeface="Arial" pitchFamily="34" charset="0"/>
                <a:ea typeface="Arial" pitchFamily="34" charset="-122"/>
                <a:cs typeface="Arial" pitchFamily="34" charset="-120"/>
              </a:rPr>
              <a:t>spit, blast and climb</a:t>
            </a:r>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 while knocking the others into the void.</a:t>
            </a:r>
            <a:endParaRPr lang="en-US" sz="1350" dirty="0"/>
          </a:p>
        </p:txBody>
      </p:sp>
      <p:sp>
        <p:nvSpPr>
          <p:cNvPr id="10" name="shape 5.9"/>
          <p:cNvSpPr/>
          <p:nvPr/>
        </p:nvSpPr>
        <p:spPr>
          <a:xfrm>
            <a:off x="761981" y="1930352"/>
            <a:ext cx="1015975" cy="215895"/>
          </a:xfrm>
          <a:prstGeom prst="roundRect">
            <a:avLst>
              <a:gd name="adj" fmla="val 50000"/>
            </a:avLst>
          </a:prstGeom>
          <a:solidFill>
            <a:srgbClr val="8F55F5"/>
          </a:solidFill>
          <a:ln/>
        </p:spPr>
      </p:sp>
      <p:sp>
        <p:nvSpPr>
          <p:cNvPr id="11" name="text 5.10"/>
          <p:cNvSpPr txBox="1"/>
          <p:nvPr/>
        </p:nvSpPr>
        <p:spPr>
          <a:xfrm>
            <a:off x="761981" y="1930352"/>
            <a:ext cx="1015975" cy="215895"/>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STRETCH GOAL</a:t>
            </a:r>
            <a:endParaRPr lang="en-US" sz="700" dirty="0"/>
          </a:p>
        </p:txBody>
      </p:sp>
      <p:sp>
        <p:nvSpPr>
          <p:cNvPr id="12" name="text 5.11"/>
          <p:cNvSpPr txBox="1"/>
          <p:nvPr/>
        </p:nvSpPr>
        <p:spPr>
          <a:xfrm>
            <a:off x="609585" y="4470288"/>
            <a:ext cx="7022924"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Illustration, not gameplay. Orange blasts the ground to jump; purple charges a strong shot; cyan has been knocked into the void.</a:t>
            </a:r>
            <a:endParaRPr lang="en-US" sz="850" dirty="0"/>
          </a:p>
        </p:txBody>
      </p:sp>
      <p:sp>
        <p:nvSpPr>
          <p:cNvPr id="13" name="text 5.12"/>
          <p:cNvSpPr txBox="1"/>
          <p:nvPr/>
        </p:nvSpPr>
        <p:spPr>
          <a:xfrm>
            <a:off x="863578" y="5270368"/>
            <a:ext cx="1620319"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A57600"/>
                </a:solidFill>
                <a:latin typeface="Arial" pitchFamily="34" charset="0"/>
                <a:ea typeface="Arial" pitchFamily="34" charset="-122"/>
                <a:cs typeface="Arial" pitchFamily="34" charset="-120"/>
              </a:rPr>
              <a:t>IF HITTING IS TOO EASY</a:t>
            </a:r>
            <a:endParaRPr lang="en-US" sz="800" dirty="0"/>
          </a:p>
        </p:txBody>
      </p:sp>
      <p:sp>
        <p:nvSpPr>
          <p:cNvPr id="14" name="text 5.13"/>
          <p:cNvSpPr txBox="1"/>
          <p:nvPr/>
        </p:nvSpPr>
        <p:spPr>
          <a:xfrm>
            <a:off x="863578" y="5498963"/>
            <a:ext cx="6514937" cy="423455"/>
          </a:xfrm>
          <a:prstGeom prst="rect">
            <a:avLst/>
          </a:prstGeom>
          <a:noFill/>
          <a:ln/>
        </p:spPr>
        <p:txBody>
          <a:bodyPr wrap="square" lIns="0" tIns="0" rIns="0" bIns="0" rtlCol="0" anchor="t"/>
          <a:lstStyle/>
          <a:p>
            <a:pPr algn="l" indent="0" marL="0">
              <a:lnSpc>
                <a:spcPts val="1670"/>
              </a:lnSpc>
              <a:buNone/>
            </a:pPr>
            <a:r>
              <a:rPr lang="en-US" sz="1150" dirty="0">
                <a:solidFill>
                  <a:srgbClr val="3E475E"/>
                </a:solidFill>
                <a:latin typeface="Arial" pitchFamily="34" charset="0"/>
                <a:ea typeface="Arial" pitchFamily="34" charset="-122"/>
                <a:cs typeface="Arial" pitchFamily="34" charset="-120"/>
              </a:rPr>
              <a:t>We make shots fall with gravity, so players have to read the arc to land a hit. We decide this in playtests.</a:t>
            </a:r>
            <a:endParaRPr lang="en-US" sz="1150" dirty="0"/>
          </a:p>
        </p:txBody>
      </p:sp>
      <p:sp>
        <p:nvSpPr>
          <p:cNvPr id="15" name="text 5.14"/>
          <p:cNvSpPr txBox="1"/>
          <p:nvPr/>
        </p:nvSpPr>
        <p:spPr>
          <a:xfrm>
            <a:off x="8064298" y="1968451"/>
            <a:ext cx="923888"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8F55F5"/>
                </a:solidFill>
                <a:latin typeface="Arial" pitchFamily="34" charset="0"/>
                <a:ea typeface="Arial" pitchFamily="34" charset="-122"/>
                <a:cs typeface="Arial" pitchFamily="34" charset="-120"/>
              </a:rPr>
              <a:t>2.5D COURSE</a:t>
            </a:r>
            <a:endParaRPr lang="en-US" sz="800" dirty="0"/>
          </a:p>
        </p:txBody>
      </p:sp>
      <p:sp>
        <p:nvSpPr>
          <p:cNvPr id="16" name="text 5.15"/>
          <p:cNvSpPr txBox="1"/>
          <p:nvPr/>
        </p:nvSpPr>
        <p:spPr>
          <a:xfrm>
            <a:off x="8064298" y="2184345"/>
            <a:ext cx="3340016" cy="405001"/>
          </a:xfrm>
          <a:prstGeom prst="rect">
            <a:avLst/>
          </a:prstGeom>
          <a:noFill/>
          <a:ln/>
        </p:spPr>
        <p:txBody>
          <a:bodyPr wrap="square" lIns="0" tIns="0" rIns="0" bIns="0" rtlCol="0" anchor="t"/>
          <a:lstStyle/>
          <a:p>
            <a:pPr algn="l" indent="0" marL="0">
              <a:lnSpc>
                <a:spcPts val="1590"/>
              </a:lnSpc>
              <a:buNone/>
            </a:pPr>
            <a:r>
              <a:rPr lang="en-US" sz="1100" dirty="0">
                <a:solidFill>
                  <a:srgbClr val="3E475E"/>
                </a:solidFill>
                <a:latin typeface="Arial" pitchFamily="34" charset="0"/>
                <a:ea typeface="Arial" pitchFamily="34" charset="-122"/>
                <a:cs typeface="Arial" pitchFamily="34" charset="-120"/>
              </a:rPr>
              <a:t>Built side-on, so there is nowhere to hide. Everyone is always in someone’s line of fire.</a:t>
            </a:r>
            <a:endParaRPr lang="en-US" sz="1100" dirty="0"/>
          </a:p>
        </p:txBody>
      </p:sp>
      <p:sp>
        <p:nvSpPr>
          <p:cNvPr id="17" name="text 5.16"/>
          <p:cNvSpPr txBox="1"/>
          <p:nvPr/>
        </p:nvSpPr>
        <p:spPr>
          <a:xfrm>
            <a:off x="8064298" y="3114597"/>
            <a:ext cx="1164831"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8F55F5"/>
                </a:solidFill>
                <a:latin typeface="Arial" pitchFamily="34" charset="0"/>
                <a:ea typeface="Arial" pitchFamily="34" charset="-122"/>
                <a:cs typeface="Arial" pitchFamily="34" charset="-120"/>
              </a:rPr>
              <a:t>CHARGED BLAST</a:t>
            </a:r>
            <a:endParaRPr lang="en-US" sz="800" dirty="0"/>
          </a:p>
        </p:txBody>
      </p:sp>
      <p:sp>
        <p:nvSpPr>
          <p:cNvPr id="18" name="text 5.17"/>
          <p:cNvSpPr txBox="1"/>
          <p:nvPr/>
        </p:nvSpPr>
        <p:spPr>
          <a:xfrm>
            <a:off x="8064298" y="3330492"/>
            <a:ext cx="3340016" cy="405001"/>
          </a:xfrm>
          <a:prstGeom prst="rect">
            <a:avLst/>
          </a:prstGeom>
          <a:noFill/>
          <a:ln/>
        </p:spPr>
        <p:txBody>
          <a:bodyPr wrap="square" lIns="0" tIns="0" rIns="0" bIns="0" rtlCol="0" anchor="t"/>
          <a:lstStyle/>
          <a:p>
            <a:pPr algn="l" indent="0" marL="0">
              <a:lnSpc>
                <a:spcPts val="1590"/>
              </a:lnSpc>
              <a:buNone/>
            </a:pPr>
            <a:r>
              <a:rPr lang="en-US" sz="1100" dirty="0">
                <a:solidFill>
                  <a:srgbClr val="3E475E"/>
                </a:solidFill>
                <a:latin typeface="Arial" pitchFamily="34" charset="0"/>
                <a:ea typeface="Arial" pitchFamily="34" charset="-122"/>
                <a:cs typeface="Arial" pitchFamily="34" charset="-120"/>
              </a:rPr>
              <a:t>Hold to fire a strong explosion. While charging you cannot move, so you are open to attack.</a:t>
            </a:r>
            <a:endParaRPr lang="en-US" sz="1100" dirty="0"/>
          </a:p>
        </p:txBody>
      </p:sp>
      <p:sp>
        <p:nvSpPr>
          <p:cNvPr id="19" name="text 5.18"/>
          <p:cNvSpPr txBox="1"/>
          <p:nvPr/>
        </p:nvSpPr>
        <p:spPr>
          <a:xfrm>
            <a:off x="8064298" y="4260743"/>
            <a:ext cx="1151790"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8F55F5"/>
                </a:solidFill>
                <a:latin typeface="Arial" pitchFamily="34" charset="0"/>
                <a:ea typeface="Arial" pitchFamily="34" charset="-122"/>
                <a:cs typeface="Arial" pitchFamily="34" charset="-120"/>
              </a:rPr>
              <a:t>BLAST TO CLIMB</a:t>
            </a:r>
            <a:endParaRPr lang="en-US" sz="800" dirty="0"/>
          </a:p>
        </p:txBody>
      </p:sp>
      <p:sp>
        <p:nvSpPr>
          <p:cNvPr id="20" name="text 5.19"/>
          <p:cNvSpPr txBox="1"/>
          <p:nvPr/>
        </p:nvSpPr>
        <p:spPr>
          <a:xfrm>
            <a:off x="8064298" y="4476638"/>
            <a:ext cx="3340016" cy="405001"/>
          </a:xfrm>
          <a:prstGeom prst="rect">
            <a:avLst/>
          </a:prstGeom>
          <a:noFill/>
          <a:ln/>
        </p:spPr>
        <p:txBody>
          <a:bodyPr wrap="square" lIns="0" tIns="0" rIns="0" bIns="0" rtlCol="0" anchor="t"/>
          <a:lstStyle/>
          <a:p>
            <a:pPr algn="l" indent="0" marL="0">
              <a:lnSpc>
                <a:spcPts val="1590"/>
              </a:lnSpc>
              <a:buNone/>
            </a:pPr>
            <a:r>
              <a:rPr lang="en-US" sz="1100" dirty="0">
                <a:solidFill>
                  <a:srgbClr val="3E475E"/>
                </a:solidFill>
                <a:latin typeface="Arial" pitchFamily="34" charset="0"/>
                <a:ea typeface="Arial" pitchFamily="34" charset="-122"/>
                <a:cs typeface="Arial" pitchFamily="34" charset="-120"/>
              </a:rPr>
              <a:t>A shot at the ground lifts you up. The same blast can push a nearby rival off a ledge.</a:t>
            </a:r>
            <a:endParaRPr lang="en-US" sz="1100" dirty="0"/>
          </a:p>
        </p:txBody>
      </p:sp>
      <p:sp>
        <p:nvSpPr>
          <p:cNvPr id="21" name="text 5.20"/>
          <p:cNvSpPr txBox="1"/>
          <p:nvPr/>
        </p:nvSpPr>
        <p:spPr>
          <a:xfrm>
            <a:off x="8064298" y="5406890"/>
            <a:ext cx="810095"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8F55F5"/>
                </a:solidFill>
                <a:latin typeface="Arial" pitchFamily="34" charset="0"/>
                <a:ea typeface="Arial" pitchFamily="34" charset="-122"/>
                <a:cs typeface="Arial" pitchFamily="34" charset="-120"/>
              </a:rPr>
              <a:t>FALL = OUT</a:t>
            </a:r>
            <a:endParaRPr lang="en-US" sz="800" dirty="0"/>
          </a:p>
        </p:txBody>
      </p:sp>
      <p:sp>
        <p:nvSpPr>
          <p:cNvPr id="22" name="text 5.21"/>
          <p:cNvSpPr txBox="1"/>
          <p:nvPr/>
        </p:nvSpPr>
        <p:spPr>
          <a:xfrm>
            <a:off x="8064298" y="5622784"/>
            <a:ext cx="3340016" cy="405001"/>
          </a:xfrm>
          <a:prstGeom prst="rect">
            <a:avLst/>
          </a:prstGeom>
          <a:noFill/>
          <a:ln/>
        </p:spPr>
        <p:txBody>
          <a:bodyPr wrap="square" lIns="0" tIns="0" rIns="0" bIns="0" rtlCol="0" anchor="t"/>
          <a:lstStyle/>
          <a:p>
            <a:pPr algn="l" indent="0" marL="0">
              <a:lnSpc>
                <a:spcPts val="1590"/>
              </a:lnSpc>
              <a:buNone/>
            </a:pPr>
            <a:r>
              <a:rPr lang="en-US" sz="1100" dirty="0">
                <a:solidFill>
                  <a:srgbClr val="3E475E"/>
                </a:solidFill>
                <a:latin typeface="Arial" pitchFamily="34" charset="0"/>
                <a:ea typeface="Arial" pitchFamily="34" charset="-122"/>
                <a:cs typeface="Arial" pitchFamily="34" charset="-120"/>
              </a:rPr>
              <a:t>Whoever drops below the course is out. Placement rule: to be decided after the first tests.</a:t>
            </a:r>
            <a:endParaRPr lang="en-US" sz="1100" dirty="0"/>
          </a:p>
        </p:txBody>
      </p:sp>
      <p:pic>
        <p:nvPicPr>
          <p:cNvPr id="23" name="raster 5.22" descr="diagram">    </p:cNvPr>
          <p:cNvPicPr>
            <a:picLocks noChangeAspect="1"/>
          </p:cNvPicPr>
          <p:nvPr/>
        </p:nvPicPr>
        <p:blipFill>
          <a:blip r:embed="rId3"/>
          <a:stretch>
            <a:fillRect/>
          </a:stretch>
        </p:blipFill>
        <p:spPr>
          <a:xfrm>
            <a:off x="609585" y="266693"/>
            <a:ext cx="190495" cy="190495"/>
          </a:xfrm>
          <a:prstGeom prst="rect">
            <a:avLst/>
          </a:prstGeom>
        </p:spPr>
      </p:pic>
      <p:sp>
        <p:nvSpPr>
          <p:cNvPr id="24" name="text 5.23"/>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25" name="text 5.24"/>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26" name="text 5.25"/>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27" name="text 5.26"/>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05 / 25</a:t>
            </a:r>
            <a:endParaRPr lang="en-US" sz="750" dirty="0"/>
          </a:p>
        </p:txBody>
      </p:sp>
      <p:sp>
        <p:nvSpPr>
          <p:cNvPr id="28" name="text 5.27"/>
          <p:cNvSpPr txBox="1"/>
          <p:nvPr/>
        </p:nvSpPr>
        <p:spPr>
          <a:xfrm>
            <a:off x="609585" y="698483"/>
            <a:ext cx="2314120"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8F55F5"/>
                </a:solidFill>
                <a:latin typeface="Arial" pitchFamily="34" charset="0"/>
                <a:ea typeface="Arial" pitchFamily="34" charset="-122"/>
                <a:cs typeface="Arial" pitchFamily="34" charset="-120"/>
              </a:rPr>
              <a:t>MINI-GAME 02 · WORKING NAME</a:t>
            </a:r>
            <a:endParaRPr lang="en-US" sz="8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6.1 adj3877" descr="race1.png">    </p:cNvPr>
          <p:cNvPicPr>
            <a:picLocks noChangeAspect="1"/>
          </p:cNvPicPr>
          <p:nvPr/>
        </p:nvPicPr>
        <p:blipFill>
          <a:blip r:embed="rId2"/>
          <a:stretch>
            <a:fillRect/>
          </a:stretch>
        </p:blipFill>
        <p:spPr>
          <a:xfrm>
            <a:off x="609585" y="1803355"/>
            <a:ext cx="6984825" cy="3930552"/>
          </a:xfrm>
          <a:prstGeom prst="roundRect">
            <a:avLst>
              <a:gd name="adj" fmla="val 3877"/>
            </a:avLst>
          </a:prstGeom>
        </p:spPr>
      </p:pic>
      <p:sp>
        <p:nvSpPr>
          <p:cNvPr id="3" name="shape 6.2"/>
          <p:cNvSpPr/>
          <p:nvPr/>
        </p:nvSpPr>
        <p:spPr>
          <a:xfrm>
            <a:off x="7848404" y="1803355"/>
            <a:ext cx="3733707" cy="1409665"/>
          </a:xfrm>
          <a:prstGeom prst="roundRect">
            <a:avLst>
              <a:gd name="adj" fmla="val 10811"/>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6.3"/>
          <p:cNvSpPr/>
          <p:nvPr/>
        </p:nvSpPr>
        <p:spPr>
          <a:xfrm>
            <a:off x="7848404" y="3340016"/>
            <a:ext cx="3733707" cy="1409665"/>
          </a:xfrm>
          <a:prstGeom prst="roundRect">
            <a:avLst>
              <a:gd name="adj" fmla="val 10811"/>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6.4"/>
          <p:cNvSpPr/>
          <p:nvPr/>
        </p:nvSpPr>
        <p:spPr>
          <a:xfrm>
            <a:off x="7848404" y="4876678"/>
            <a:ext cx="3733707" cy="1409665"/>
          </a:xfrm>
          <a:prstGeom prst="roundRect">
            <a:avLst>
              <a:gd name="adj" fmla="val 10811"/>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text 6.5"/>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Ice Loop</a:t>
            </a:r>
            <a:endParaRPr lang="en-US" sz="3000" dirty="0"/>
          </a:p>
        </p:txBody>
      </p:sp>
      <p:sp>
        <p:nvSpPr>
          <p:cNvPr id="7" name="text 6.6"/>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Most checkpoints before the timer runs out wins. </a:t>
            </a:r>
            <a:pPr algn="l" indent="0" marL="0">
              <a:lnSpc>
                <a:spcPts val="1820"/>
              </a:lnSpc>
              <a:buNone/>
            </a:pPr>
            <a:r>
              <a:rPr lang="en-US" sz="1350" b="1" dirty="0">
                <a:solidFill>
                  <a:srgbClr val="1FA9EA"/>
                </a:solidFill>
                <a:latin typeface="Arial" pitchFamily="34" charset="0"/>
                <a:ea typeface="Arial" pitchFamily="34" charset="-122"/>
                <a:cs typeface="Arial" pitchFamily="34" charset="-120"/>
              </a:rPr>
              <a:t>The ice does not help.</a:t>
            </a:r>
            <a:endParaRPr lang="en-US" sz="1350" dirty="0"/>
          </a:p>
        </p:txBody>
      </p:sp>
      <p:sp>
        <p:nvSpPr>
          <p:cNvPr id="8" name="shape 6.7"/>
          <p:cNvSpPr/>
          <p:nvPr/>
        </p:nvSpPr>
        <p:spPr>
          <a:xfrm>
            <a:off x="761981" y="5371966"/>
            <a:ext cx="634984" cy="215895"/>
          </a:xfrm>
          <a:prstGeom prst="roundRect">
            <a:avLst>
              <a:gd name="adj" fmla="val 50000"/>
            </a:avLst>
          </a:prstGeom>
          <a:solidFill>
            <a:srgbClr val="1FA9EA"/>
          </a:solidFill>
          <a:ln/>
        </p:spPr>
      </p:sp>
      <p:sp>
        <p:nvSpPr>
          <p:cNvPr id="9" name="text 6.8"/>
          <p:cNvSpPr txBox="1"/>
          <p:nvPr/>
        </p:nvSpPr>
        <p:spPr>
          <a:xfrm>
            <a:off x="761981" y="5371966"/>
            <a:ext cx="634984" cy="215895"/>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MVP</a:t>
            </a:r>
            <a:endParaRPr lang="en-US" sz="700" dirty="0"/>
          </a:p>
        </p:txBody>
      </p:sp>
      <p:sp>
        <p:nvSpPr>
          <p:cNvPr id="10" name="text 6.9"/>
          <p:cNvSpPr txBox="1"/>
          <p:nvPr/>
        </p:nvSpPr>
        <p:spPr>
          <a:xfrm>
            <a:off x="609585" y="5816455"/>
            <a:ext cx="7022924"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Concept render, AI-generated. Not gameplay. Ice is the theme of this one mini-game only.</a:t>
            </a:r>
            <a:endParaRPr lang="en-US" sz="850" dirty="0"/>
          </a:p>
        </p:txBody>
      </p:sp>
      <p:sp>
        <p:nvSpPr>
          <p:cNvPr id="11" name="text 6.10"/>
          <p:cNvSpPr txBox="1"/>
          <p:nvPr/>
        </p:nvSpPr>
        <p:spPr>
          <a:xfrm>
            <a:off x="8064298" y="1968451"/>
            <a:ext cx="1080170"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FA9EA"/>
                </a:solidFill>
                <a:latin typeface="Arial" pitchFamily="34" charset="0"/>
                <a:ea typeface="Arial" pitchFamily="34" charset="-122"/>
                <a:cs typeface="Arial" pitchFamily="34" charset="-120"/>
              </a:rPr>
              <a:t>LOOPED TRACK</a:t>
            </a:r>
            <a:endParaRPr lang="en-US" sz="800" dirty="0"/>
          </a:p>
        </p:txBody>
      </p:sp>
      <p:sp>
        <p:nvSpPr>
          <p:cNvPr id="12" name="text 6.11"/>
          <p:cNvSpPr txBox="1"/>
          <p:nvPr/>
        </p:nvSpPr>
        <p:spPr>
          <a:xfrm>
            <a:off x="8064298" y="2184345"/>
            <a:ext cx="3340016" cy="607501"/>
          </a:xfrm>
          <a:prstGeom prst="rect">
            <a:avLst/>
          </a:prstGeom>
          <a:noFill/>
          <a:ln/>
        </p:spPr>
        <p:txBody>
          <a:bodyPr wrap="square" lIns="0" tIns="0" rIns="0" bIns="0" rtlCol="0" anchor="t"/>
          <a:lstStyle/>
          <a:p>
            <a:pPr algn="l" indent="0" marL="0">
              <a:lnSpc>
                <a:spcPts val="1590"/>
              </a:lnSpc>
              <a:buNone/>
            </a:pPr>
            <a:r>
              <a:rPr lang="en-US" sz="1100" dirty="0">
                <a:solidFill>
                  <a:srgbClr val="3E475E"/>
                </a:solidFill>
                <a:latin typeface="Arial" pitchFamily="34" charset="0"/>
                <a:ea typeface="Arial" pitchFamily="34" charset="-122"/>
                <a:cs typeface="Arial" pitchFamily="34" charset="-120"/>
              </a:rPr>
              <a:t>When the track ends it starts again, and every checkpoint you pass counts +1. The count, not the lap, decides the placement.</a:t>
            </a:r>
            <a:endParaRPr lang="en-US" sz="1100" dirty="0"/>
          </a:p>
        </p:txBody>
      </p:sp>
      <p:sp>
        <p:nvSpPr>
          <p:cNvPr id="13" name="text 6.12"/>
          <p:cNvSpPr txBox="1"/>
          <p:nvPr/>
        </p:nvSpPr>
        <p:spPr>
          <a:xfrm>
            <a:off x="8064298" y="3505112"/>
            <a:ext cx="921679"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FA9EA"/>
                </a:solidFill>
                <a:latin typeface="Arial" pitchFamily="34" charset="0"/>
                <a:ea typeface="Arial" pitchFamily="34" charset="-122"/>
                <a:cs typeface="Arial" pitchFamily="34" charset="-120"/>
              </a:rPr>
              <a:t>PUSH TO WIN</a:t>
            </a:r>
            <a:endParaRPr lang="en-US" sz="800" dirty="0"/>
          </a:p>
        </p:txBody>
      </p:sp>
      <p:sp>
        <p:nvSpPr>
          <p:cNvPr id="14" name="text 6.13"/>
          <p:cNvSpPr txBox="1"/>
          <p:nvPr/>
        </p:nvSpPr>
        <p:spPr>
          <a:xfrm>
            <a:off x="8064298" y="3721007"/>
            <a:ext cx="3340016" cy="405001"/>
          </a:xfrm>
          <a:prstGeom prst="rect">
            <a:avLst/>
          </a:prstGeom>
          <a:noFill/>
          <a:ln/>
        </p:spPr>
        <p:txBody>
          <a:bodyPr wrap="square" lIns="0" tIns="0" rIns="0" bIns="0" rtlCol="0" anchor="t"/>
          <a:lstStyle/>
          <a:p>
            <a:pPr algn="l" indent="0" marL="0">
              <a:lnSpc>
                <a:spcPts val="1590"/>
              </a:lnSpc>
              <a:buNone/>
            </a:pPr>
            <a:r>
              <a:rPr lang="en-US" sz="1100" dirty="0">
                <a:solidFill>
                  <a:srgbClr val="3E475E"/>
                </a:solidFill>
                <a:latin typeface="Arial" pitchFamily="34" charset="0"/>
                <a:ea typeface="Arial" pitchFamily="34" charset="-122"/>
                <a:cs typeface="Arial" pitchFamily="34" charset="-120"/>
              </a:rPr>
              <a:t>The ice is slippery. Push rivals off it into the water and they restart from their last checkpoint.</a:t>
            </a:r>
            <a:endParaRPr lang="en-US" sz="1100" dirty="0"/>
          </a:p>
        </p:txBody>
      </p:sp>
      <p:sp>
        <p:nvSpPr>
          <p:cNvPr id="15" name="text 6.14"/>
          <p:cNvSpPr txBox="1"/>
          <p:nvPr/>
        </p:nvSpPr>
        <p:spPr>
          <a:xfrm>
            <a:off x="8064298" y="5041774"/>
            <a:ext cx="1831604"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FA9EA"/>
                </a:solidFill>
                <a:latin typeface="Arial" pitchFamily="34" charset="0"/>
                <a:ea typeface="Arial" pitchFamily="34" charset="-122"/>
                <a:cs typeface="Arial" pitchFamily="34" charset="-120"/>
              </a:rPr>
              <a:t>STEER WITH RECOIL (IDEA)</a:t>
            </a:r>
            <a:endParaRPr lang="en-US" sz="800" dirty="0"/>
          </a:p>
        </p:txBody>
      </p:sp>
      <p:sp>
        <p:nvSpPr>
          <p:cNvPr id="16" name="text 6.15"/>
          <p:cNvSpPr txBox="1"/>
          <p:nvPr/>
        </p:nvSpPr>
        <p:spPr>
          <a:xfrm>
            <a:off x="8064298" y="5257669"/>
            <a:ext cx="3340016" cy="405001"/>
          </a:xfrm>
          <a:prstGeom prst="rect">
            <a:avLst/>
          </a:prstGeom>
          <a:noFill/>
          <a:ln/>
        </p:spPr>
        <p:txBody>
          <a:bodyPr wrap="square" lIns="0" tIns="0" rIns="0" bIns="0" rtlCol="0" anchor="t"/>
          <a:lstStyle/>
          <a:p>
            <a:pPr algn="l" indent="0" marL="0">
              <a:lnSpc>
                <a:spcPts val="1590"/>
              </a:lnSpc>
              <a:buNone/>
            </a:pPr>
            <a:r>
              <a:rPr lang="en-US" sz="1100" dirty="0">
                <a:solidFill>
                  <a:srgbClr val="3E475E"/>
                </a:solidFill>
                <a:latin typeface="Arial" pitchFamily="34" charset="0"/>
                <a:ea typeface="Arial" pitchFamily="34" charset="-122"/>
                <a:cs typeface="Arial" pitchFamily="34" charset="-120"/>
              </a:rPr>
              <a:t>Firing forward while sliding pushes you back, so a shot can also correct your line.</a:t>
            </a:r>
            <a:endParaRPr lang="en-US" sz="1100" dirty="0"/>
          </a:p>
        </p:txBody>
      </p:sp>
      <p:pic>
        <p:nvPicPr>
          <p:cNvPr id="17" name="raster 6.16" descr="diagram">    </p:cNvPr>
          <p:cNvPicPr>
            <a:picLocks noChangeAspect="1"/>
          </p:cNvPicPr>
          <p:nvPr/>
        </p:nvPicPr>
        <p:blipFill>
          <a:blip r:embed="rId3"/>
          <a:stretch>
            <a:fillRect/>
          </a:stretch>
        </p:blipFill>
        <p:spPr>
          <a:xfrm>
            <a:off x="609585" y="266693"/>
            <a:ext cx="190495" cy="190495"/>
          </a:xfrm>
          <a:prstGeom prst="rect">
            <a:avLst/>
          </a:prstGeom>
        </p:spPr>
      </p:pic>
      <p:sp>
        <p:nvSpPr>
          <p:cNvPr id="18" name="text 6.17"/>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19" name="text 6.18"/>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20" name="text 6.19"/>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21" name="text 6.20"/>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06 / 25</a:t>
            </a:r>
            <a:endParaRPr lang="en-US" sz="750" dirty="0"/>
          </a:p>
        </p:txBody>
      </p:sp>
      <p:sp>
        <p:nvSpPr>
          <p:cNvPr id="22" name="text 6.21"/>
          <p:cNvSpPr txBox="1"/>
          <p:nvPr/>
        </p:nvSpPr>
        <p:spPr>
          <a:xfrm>
            <a:off x="609585" y="698483"/>
            <a:ext cx="2314120"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1FA9EA"/>
                </a:solidFill>
                <a:latin typeface="Arial" pitchFamily="34" charset="0"/>
                <a:ea typeface="Arial" pitchFamily="34" charset="-122"/>
                <a:cs typeface="Arial" pitchFamily="34" charset="-120"/>
              </a:rPr>
              <a:t>MINI-GAME 03 · WORKING NAME</a:t>
            </a:r>
            <a:endParaRPr lang="en-US" sz="8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7.1 adj5882" descr="sp_holegrab.png">    </p:cNvPr>
          <p:cNvPicPr>
            <a:picLocks noChangeAspect="1"/>
          </p:cNvPicPr>
          <p:nvPr/>
        </p:nvPicPr>
        <p:blipFill>
          <a:blip r:embed="rId2"/>
          <a:stretch>
            <a:fillRect/>
          </a:stretch>
        </p:blipFill>
        <p:spPr>
          <a:xfrm>
            <a:off x="609585" y="1803355"/>
            <a:ext cx="6984825" cy="2590735"/>
          </a:xfrm>
          <a:prstGeom prst="roundRect">
            <a:avLst>
              <a:gd name="adj" fmla="val 5882"/>
            </a:avLst>
          </a:prstGeom>
        </p:spPr>
      </p:pic>
      <p:sp>
        <p:nvSpPr>
          <p:cNvPr id="3" name="shape 7.2"/>
          <p:cNvSpPr/>
          <p:nvPr/>
        </p:nvSpPr>
        <p:spPr>
          <a:xfrm>
            <a:off x="609585" y="5016375"/>
            <a:ext cx="6984825" cy="1269968"/>
          </a:xfrm>
          <a:prstGeom prst="roundRect">
            <a:avLst>
              <a:gd name="adj" fmla="val 1200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7.3"/>
          <p:cNvSpPr/>
          <p:nvPr/>
        </p:nvSpPr>
        <p:spPr>
          <a:xfrm>
            <a:off x="863578" y="5448164"/>
            <a:ext cx="2070048" cy="685783"/>
          </a:xfrm>
          <a:prstGeom prst="roundRect">
            <a:avLst>
              <a:gd name="adj" fmla="val 22222"/>
            </a:avLst>
          </a:prstGeom>
          <a:solidFill>
            <a:srgbClr val="FFFFFF"/>
          </a:solidFill>
          <a:ln w="12700">
            <a:solidFill>
              <a:srgbClr val="E4E9DD"/>
            </a:solidFill>
            <a:prstDash val="solid"/>
          </a:ln>
        </p:spPr>
      </p:sp>
      <p:sp>
        <p:nvSpPr>
          <p:cNvPr id="5" name="shape 7.4"/>
          <p:cNvSpPr/>
          <p:nvPr/>
        </p:nvSpPr>
        <p:spPr>
          <a:xfrm>
            <a:off x="3060623" y="5448164"/>
            <a:ext cx="2070048" cy="685783"/>
          </a:xfrm>
          <a:prstGeom prst="roundRect">
            <a:avLst>
              <a:gd name="adj" fmla="val 22222"/>
            </a:avLst>
          </a:prstGeom>
          <a:solidFill>
            <a:srgbClr val="FFFFFF"/>
          </a:solidFill>
          <a:ln w="12700">
            <a:solidFill>
              <a:srgbClr val="E4E9DD"/>
            </a:solidFill>
            <a:prstDash val="solid"/>
          </a:ln>
        </p:spPr>
      </p:sp>
      <p:sp>
        <p:nvSpPr>
          <p:cNvPr id="6" name="shape 7.5"/>
          <p:cNvSpPr/>
          <p:nvPr/>
        </p:nvSpPr>
        <p:spPr>
          <a:xfrm>
            <a:off x="5257669" y="5448164"/>
            <a:ext cx="2070048" cy="685783"/>
          </a:xfrm>
          <a:prstGeom prst="roundRect">
            <a:avLst>
              <a:gd name="adj" fmla="val 22222"/>
            </a:avLst>
          </a:prstGeom>
          <a:solidFill>
            <a:srgbClr val="E7F5E1"/>
          </a:solidFill>
          <a:ln w="12700">
            <a:solidFill>
              <a:srgbClr val="D2EBC7"/>
            </a:solidFill>
            <a:prstDash val="solid"/>
          </a:ln>
        </p:spPr>
      </p:sp>
      <p:sp>
        <p:nvSpPr>
          <p:cNvPr id="7" name="shape 7.6"/>
          <p:cNvSpPr/>
          <p:nvPr/>
        </p:nvSpPr>
        <p:spPr>
          <a:xfrm>
            <a:off x="7848404" y="1803355"/>
            <a:ext cx="3733707" cy="2177996"/>
          </a:xfrm>
          <a:prstGeom prst="roundRect">
            <a:avLst>
              <a:gd name="adj" fmla="val 6997"/>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8" name="shape 7.7"/>
          <p:cNvSpPr/>
          <p:nvPr/>
        </p:nvSpPr>
        <p:spPr>
          <a:xfrm>
            <a:off x="7848404" y="4108347"/>
            <a:ext cx="3733707" cy="2177996"/>
          </a:xfrm>
          <a:prstGeom prst="roundRect">
            <a:avLst>
              <a:gd name="adj" fmla="val 6997"/>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9" name="text 7.8"/>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Hole Grab</a:t>
            </a:r>
            <a:endParaRPr lang="en-US" sz="3000" dirty="0"/>
          </a:p>
        </p:txBody>
      </p:sp>
      <p:sp>
        <p:nvSpPr>
          <p:cNvPr id="10" name="text 7.9"/>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Musical chairs with holes. </a:t>
            </a:r>
            <a:pPr algn="l" indent="0" marL="0">
              <a:lnSpc>
                <a:spcPts val="1820"/>
              </a:lnSpc>
              <a:buNone/>
            </a:pPr>
            <a:r>
              <a:rPr lang="en-US" sz="1350" b="1" dirty="0">
                <a:solidFill>
                  <a:srgbClr val="43B832"/>
                </a:solidFill>
                <a:latin typeface="Arial" pitchFamily="34" charset="0"/>
                <a:ea typeface="Arial" pitchFamily="34" charset="-122"/>
                <a:cs typeface="Arial" pitchFamily="34" charset="-120"/>
              </a:rPr>
              <a:t>No hole, and the bulldozer gets you.</a:t>
            </a:r>
            <a:endParaRPr lang="en-US" sz="1350" dirty="0"/>
          </a:p>
        </p:txBody>
      </p:sp>
      <p:sp>
        <p:nvSpPr>
          <p:cNvPr id="11" name="shape 7.10"/>
          <p:cNvSpPr/>
          <p:nvPr/>
        </p:nvSpPr>
        <p:spPr>
          <a:xfrm>
            <a:off x="761981" y="1930352"/>
            <a:ext cx="634984" cy="215895"/>
          </a:xfrm>
          <a:prstGeom prst="roundRect">
            <a:avLst>
              <a:gd name="adj" fmla="val 50000"/>
            </a:avLst>
          </a:prstGeom>
          <a:solidFill>
            <a:srgbClr val="43B832"/>
          </a:solidFill>
          <a:ln/>
        </p:spPr>
      </p:sp>
      <p:sp>
        <p:nvSpPr>
          <p:cNvPr id="12" name="text 7.11"/>
          <p:cNvSpPr txBox="1"/>
          <p:nvPr/>
        </p:nvSpPr>
        <p:spPr>
          <a:xfrm>
            <a:off x="761981" y="1930352"/>
            <a:ext cx="634984" cy="215895"/>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MVP</a:t>
            </a:r>
            <a:endParaRPr lang="en-US" sz="700" dirty="0"/>
          </a:p>
        </p:txBody>
      </p:sp>
      <p:sp>
        <p:nvSpPr>
          <p:cNvPr id="13" name="text 7.12"/>
          <p:cNvSpPr txBox="1"/>
          <p:nvPr/>
        </p:nvSpPr>
        <p:spPr>
          <a:xfrm>
            <a:off x="609585" y="4470288"/>
            <a:ext cx="7022924" cy="302213"/>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Illustration, not gameplay. Each hole has the player's shape and a fixed barrel angle. Orange is already in a hole; the bulldozer moves in from the right.</a:t>
            </a:r>
            <a:endParaRPr lang="en-US" sz="850" dirty="0"/>
          </a:p>
        </p:txBody>
      </p:sp>
      <p:sp>
        <p:nvSpPr>
          <p:cNvPr id="14" name="text 7.13"/>
          <p:cNvSpPr txBox="1"/>
          <p:nvPr/>
        </p:nvSpPr>
        <p:spPr>
          <a:xfrm>
            <a:off x="863578" y="5181470"/>
            <a:ext cx="2974899"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43B832"/>
                </a:solidFill>
                <a:latin typeface="Arial" pitchFamily="34" charset="0"/>
                <a:ea typeface="Arial" pitchFamily="34" charset="-122"/>
                <a:cs typeface="Arial" pitchFamily="34" charset="-120"/>
              </a:rPr>
              <a:t>ROUNDS INSIDE THE MINI-GAME (4 PLAYERS)</a:t>
            </a:r>
            <a:endParaRPr lang="en-US" sz="800" dirty="0"/>
          </a:p>
        </p:txBody>
      </p:sp>
      <p:sp>
        <p:nvSpPr>
          <p:cNvPr id="15" name="text 7.14"/>
          <p:cNvSpPr txBox="1"/>
          <p:nvPr/>
        </p:nvSpPr>
        <p:spPr>
          <a:xfrm>
            <a:off x="990575" y="5549761"/>
            <a:ext cx="601965"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Round 1</a:t>
            </a:r>
            <a:endParaRPr lang="en-US" sz="1000" dirty="0"/>
          </a:p>
        </p:txBody>
      </p:sp>
      <p:sp>
        <p:nvSpPr>
          <p:cNvPr id="16" name="text 7.15"/>
          <p:cNvSpPr txBox="1"/>
          <p:nvPr/>
        </p:nvSpPr>
        <p:spPr>
          <a:xfrm>
            <a:off x="990575" y="5740256"/>
            <a:ext cx="1879553" cy="154301"/>
          </a:xfrm>
          <a:prstGeom prst="rect">
            <a:avLst/>
          </a:prstGeom>
          <a:noFill/>
          <a:ln/>
        </p:spPr>
        <p:txBody>
          <a:bodyPr wrap="square" lIns="0" tIns="0" rIns="0" bIns="0" rtlCol="0" anchor="t"/>
          <a:lstStyle/>
          <a:p>
            <a:pPr algn="l" indent="0" marL="0">
              <a:lnSpc>
                <a:spcPts val="1220"/>
              </a:lnSpc>
              <a:buNone/>
            </a:pPr>
            <a:r>
              <a:rPr lang="en-US" sz="900" dirty="0">
                <a:solidFill>
                  <a:srgbClr val="3E475E"/>
                </a:solidFill>
                <a:latin typeface="Arial" pitchFamily="34" charset="0"/>
                <a:ea typeface="Arial" pitchFamily="34" charset="-122"/>
                <a:cs typeface="Arial" pitchFamily="34" charset="-120"/>
              </a:rPr>
              <a:t>4 players, 3 holes. One is crushed.</a:t>
            </a:r>
            <a:endParaRPr lang="en-US" sz="900" dirty="0"/>
          </a:p>
        </p:txBody>
      </p:sp>
      <p:sp>
        <p:nvSpPr>
          <p:cNvPr id="17" name="text 7.16"/>
          <p:cNvSpPr txBox="1"/>
          <p:nvPr/>
        </p:nvSpPr>
        <p:spPr>
          <a:xfrm>
            <a:off x="3187620" y="5549761"/>
            <a:ext cx="601965"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Round 2</a:t>
            </a:r>
            <a:endParaRPr lang="en-US" sz="1000" dirty="0"/>
          </a:p>
        </p:txBody>
      </p:sp>
      <p:sp>
        <p:nvSpPr>
          <p:cNvPr id="18" name="text 7.17"/>
          <p:cNvSpPr txBox="1"/>
          <p:nvPr/>
        </p:nvSpPr>
        <p:spPr>
          <a:xfrm>
            <a:off x="3187620" y="5740256"/>
            <a:ext cx="1879553" cy="154301"/>
          </a:xfrm>
          <a:prstGeom prst="rect">
            <a:avLst/>
          </a:prstGeom>
          <a:noFill/>
          <a:ln/>
        </p:spPr>
        <p:txBody>
          <a:bodyPr wrap="square" lIns="0" tIns="0" rIns="0" bIns="0" rtlCol="0" anchor="t"/>
          <a:lstStyle/>
          <a:p>
            <a:pPr algn="l" indent="0" marL="0">
              <a:lnSpc>
                <a:spcPts val="1220"/>
              </a:lnSpc>
              <a:buNone/>
            </a:pPr>
            <a:r>
              <a:rPr lang="en-US" sz="900" dirty="0">
                <a:solidFill>
                  <a:srgbClr val="3E475E"/>
                </a:solidFill>
                <a:latin typeface="Arial" pitchFamily="34" charset="0"/>
                <a:ea typeface="Arial" pitchFamily="34" charset="-122"/>
                <a:cs typeface="Arial" pitchFamily="34" charset="-120"/>
              </a:rPr>
              <a:t>3 players, 2 holes. One is crushed.</a:t>
            </a:r>
            <a:endParaRPr lang="en-US" sz="900" dirty="0"/>
          </a:p>
        </p:txBody>
      </p:sp>
      <p:sp>
        <p:nvSpPr>
          <p:cNvPr id="19" name="text 7.18"/>
          <p:cNvSpPr txBox="1"/>
          <p:nvPr/>
        </p:nvSpPr>
        <p:spPr>
          <a:xfrm>
            <a:off x="5384665" y="5549761"/>
            <a:ext cx="601965"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Round 3</a:t>
            </a:r>
            <a:endParaRPr lang="en-US" sz="1000" dirty="0"/>
          </a:p>
        </p:txBody>
      </p:sp>
      <p:sp>
        <p:nvSpPr>
          <p:cNvPr id="20" name="text 7.19"/>
          <p:cNvSpPr txBox="1"/>
          <p:nvPr/>
        </p:nvSpPr>
        <p:spPr>
          <a:xfrm>
            <a:off x="5384665" y="5740256"/>
            <a:ext cx="1879553" cy="308563"/>
          </a:xfrm>
          <a:prstGeom prst="rect">
            <a:avLst/>
          </a:prstGeom>
          <a:noFill/>
          <a:ln/>
        </p:spPr>
        <p:txBody>
          <a:bodyPr wrap="square" lIns="0" tIns="0" rIns="0" bIns="0" rtlCol="0" anchor="t"/>
          <a:lstStyle/>
          <a:p>
            <a:pPr algn="l" indent="0" marL="0">
              <a:lnSpc>
                <a:spcPts val="1220"/>
              </a:lnSpc>
              <a:buNone/>
            </a:pPr>
            <a:r>
              <a:rPr lang="en-US" sz="900" dirty="0">
                <a:solidFill>
                  <a:srgbClr val="3E475E"/>
                </a:solidFill>
                <a:latin typeface="Arial" pitchFamily="34" charset="0"/>
                <a:ea typeface="Arial" pitchFamily="34" charset="-122"/>
                <a:cs typeface="Arial" pitchFamily="34" charset="-120"/>
              </a:rPr>
              <a:t>2 players, 1 hole. The one inside wins.</a:t>
            </a:r>
            <a:endParaRPr lang="en-US" sz="900" dirty="0"/>
          </a:p>
        </p:txBody>
      </p:sp>
      <p:sp>
        <p:nvSpPr>
          <p:cNvPr id="21" name="text 7.20"/>
          <p:cNvSpPr txBox="1"/>
          <p:nvPr/>
        </p:nvSpPr>
        <p:spPr>
          <a:xfrm>
            <a:off x="8064298" y="1968451"/>
            <a:ext cx="1621581"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43B832"/>
                </a:solidFill>
                <a:latin typeface="Arial" pitchFamily="34" charset="0"/>
                <a:ea typeface="Arial" pitchFamily="34" charset="-122"/>
                <a:cs typeface="Arial" pitchFamily="34" charset="-120"/>
              </a:rPr>
              <a:t>PLAYER-SHAPED HOLES</a:t>
            </a:r>
            <a:endParaRPr lang="en-US" sz="800" dirty="0"/>
          </a:p>
        </p:txBody>
      </p:sp>
      <p:sp>
        <p:nvSpPr>
          <p:cNvPr id="22" name="text 7.21"/>
          <p:cNvSpPr txBox="1"/>
          <p:nvPr/>
        </p:nvSpPr>
        <p:spPr>
          <a:xfrm>
            <a:off x="8064298" y="2184345"/>
            <a:ext cx="3340016" cy="690545"/>
          </a:xfrm>
          <a:prstGeom prst="rect">
            <a:avLst/>
          </a:prstGeom>
          <a:noFill/>
          <a:ln/>
        </p:spPr>
        <p:txBody>
          <a:bodyPr wrap="square" lIns="0" tIns="0" rIns="0" bIns="0" rtlCol="0" anchor="t"/>
          <a:lstStyle/>
          <a:p>
            <a:pPr algn="l" indent="0" marL="0">
              <a:lnSpc>
                <a:spcPts val="1810"/>
              </a:lnSpc>
              <a:buNone/>
            </a:pPr>
            <a:r>
              <a:rPr lang="en-US" sz="1250" dirty="0">
                <a:solidFill>
                  <a:srgbClr val="3E475E"/>
                </a:solidFill>
                <a:latin typeface="Arial" pitchFamily="34" charset="0"/>
                <a:ea typeface="Arial" pitchFamily="34" charset="-122"/>
                <a:cs typeface="Arial" pitchFamily="34" charset="-120"/>
              </a:rPr>
              <a:t>Holes open in the ground in the player’s shape, with the barrel’s angle marked. You have to line up to drop in.</a:t>
            </a:r>
            <a:endParaRPr lang="en-US" sz="1250" dirty="0"/>
          </a:p>
        </p:txBody>
      </p:sp>
      <p:sp>
        <p:nvSpPr>
          <p:cNvPr id="23" name="text 7.22"/>
          <p:cNvSpPr txBox="1"/>
          <p:nvPr/>
        </p:nvSpPr>
        <p:spPr>
          <a:xfrm>
            <a:off x="8064298" y="4273443"/>
            <a:ext cx="1121080"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43B832"/>
                </a:solidFill>
                <a:latin typeface="Arial" pitchFamily="34" charset="0"/>
                <a:ea typeface="Arial" pitchFamily="34" charset="-122"/>
                <a:cs typeface="Arial" pitchFamily="34" charset="-120"/>
              </a:rPr>
              <a:t>SHOOT TO PUSH</a:t>
            </a:r>
            <a:endParaRPr lang="en-US" sz="800" dirty="0"/>
          </a:p>
        </p:txBody>
      </p:sp>
      <p:sp>
        <p:nvSpPr>
          <p:cNvPr id="24" name="text 7.23"/>
          <p:cNvSpPr txBox="1"/>
          <p:nvPr/>
        </p:nvSpPr>
        <p:spPr>
          <a:xfrm>
            <a:off x="8064298" y="4489338"/>
            <a:ext cx="3340016" cy="690545"/>
          </a:xfrm>
          <a:prstGeom prst="rect">
            <a:avLst/>
          </a:prstGeom>
          <a:noFill/>
          <a:ln/>
        </p:spPr>
        <p:txBody>
          <a:bodyPr wrap="square" lIns="0" tIns="0" rIns="0" bIns="0" rtlCol="0" anchor="t"/>
          <a:lstStyle/>
          <a:p>
            <a:pPr algn="l" indent="0" marL="0">
              <a:lnSpc>
                <a:spcPts val="1810"/>
              </a:lnSpc>
              <a:buNone/>
            </a:pPr>
            <a:r>
              <a:rPr lang="en-US" sz="1250" dirty="0">
                <a:solidFill>
                  <a:srgbClr val="3E475E"/>
                </a:solidFill>
                <a:latin typeface="Arial" pitchFamily="34" charset="0"/>
                <a:ea typeface="Arial" pitchFamily="34" charset="-122"/>
                <a:cs typeface="Arial" pitchFamily="34" charset="-120"/>
              </a:rPr>
              <a:t>Shots push other players away from the holes. A player already inside a hole cannot be pushed out.</a:t>
            </a:r>
            <a:endParaRPr lang="en-US" sz="1250" dirty="0"/>
          </a:p>
        </p:txBody>
      </p:sp>
      <p:pic>
        <p:nvPicPr>
          <p:cNvPr id="25" name="raster 7.24" descr="diagram">    </p:cNvPr>
          <p:cNvPicPr>
            <a:picLocks noChangeAspect="1"/>
          </p:cNvPicPr>
          <p:nvPr/>
        </p:nvPicPr>
        <p:blipFill>
          <a:blip r:embed="rId3"/>
          <a:stretch>
            <a:fillRect/>
          </a:stretch>
        </p:blipFill>
        <p:spPr>
          <a:xfrm>
            <a:off x="609585" y="266693"/>
            <a:ext cx="190495" cy="190495"/>
          </a:xfrm>
          <a:prstGeom prst="rect">
            <a:avLst/>
          </a:prstGeom>
        </p:spPr>
      </p:pic>
      <p:sp>
        <p:nvSpPr>
          <p:cNvPr id="26" name="text 7.25"/>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27" name="text 7.26"/>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28" name="text 7.27"/>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29" name="text 7.28"/>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07 / 25</a:t>
            </a:r>
            <a:endParaRPr lang="en-US" sz="750" dirty="0"/>
          </a:p>
        </p:txBody>
      </p:sp>
      <p:sp>
        <p:nvSpPr>
          <p:cNvPr id="30" name="text 7.29"/>
          <p:cNvSpPr txBox="1"/>
          <p:nvPr/>
        </p:nvSpPr>
        <p:spPr>
          <a:xfrm>
            <a:off x="609585" y="698483"/>
            <a:ext cx="2314120"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43B832"/>
                </a:solidFill>
                <a:latin typeface="Arial" pitchFamily="34" charset="0"/>
                <a:ea typeface="Arial" pitchFamily="34" charset="-122"/>
                <a:cs typeface="Arial" pitchFamily="34" charset="-120"/>
              </a:rPr>
              <a:t>MINI-GAME 04 · WORKING NAME</a:t>
            </a:r>
            <a:endParaRPr lang="en-US" sz="8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8.1"/>
          <p:cNvSpPr/>
          <p:nvPr/>
        </p:nvSpPr>
        <p:spPr>
          <a:xfrm>
            <a:off x="609585" y="2031949"/>
            <a:ext cx="3555911" cy="1295368"/>
          </a:xfrm>
          <a:prstGeom prst="roundRect">
            <a:avLst>
              <a:gd name="adj" fmla="val 11765"/>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8.2"/>
          <p:cNvSpPr/>
          <p:nvPr/>
        </p:nvSpPr>
        <p:spPr>
          <a:xfrm>
            <a:off x="4317892" y="2031949"/>
            <a:ext cx="3555911" cy="1295368"/>
          </a:xfrm>
          <a:prstGeom prst="roundRect">
            <a:avLst>
              <a:gd name="adj" fmla="val 11765"/>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8.3"/>
          <p:cNvSpPr/>
          <p:nvPr/>
        </p:nvSpPr>
        <p:spPr>
          <a:xfrm>
            <a:off x="8026199" y="2031949"/>
            <a:ext cx="3555911" cy="1295368"/>
          </a:xfrm>
          <a:prstGeom prst="roundRect">
            <a:avLst>
              <a:gd name="adj" fmla="val 11765"/>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5" name="img 8.4 adj7547" descr="arche_full.png">    </p:cNvPr>
          <p:cNvPicPr>
            <a:picLocks noChangeAspect="1"/>
          </p:cNvPicPr>
          <p:nvPr/>
        </p:nvPicPr>
        <p:blipFill>
          <a:blip r:embed="rId2"/>
          <a:stretch>
            <a:fillRect/>
          </a:stretch>
        </p:blipFill>
        <p:spPr>
          <a:xfrm>
            <a:off x="609585" y="4013100"/>
            <a:ext cx="3555911" cy="2019250"/>
          </a:xfrm>
          <a:prstGeom prst="roundRect">
            <a:avLst>
              <a:gd name="adj" fmla="val 7547"/>
            </a:avLst>
          </a:prstGeom>
        </p:spPr>
      </p:pic>
      <p:sp>
        <p:nvSpPr>
          <p:cNvPr id="6" name="shape 8.5"/>
          <p:cNvSpPr/>
          <p:nvPr/>
        </p:nvSpPr>
        <p:spPr>
          <a:xfrm>
            <a:off x="4381390" y="4013100"/>
            <a:ext cx="4063898" cy="2273243"/>
          </a:xfrm>
          <a:prstGeom prst="roundRect">
            <a:avLst>
              <a:gd name="adj" fmla="val 6704"/>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7" name="shape 8.6"/>
          <p:cNvSpPr/>
          <p:nvPr/>
        </p:nvSpPr>
        <p:spPr>
          <a:xfrm>
            <a:off x="8635784" y="4013100"/>
            <a:ext cx="2946326" cy="2273243"/>
          </a:xfrm>
          <a:prstGeom prst="roundRect">
            <a:avLst>
              <a:gd name="adj" fmla="val 6704"/>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8" name="text 8.7"/>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Ideas in progress</a:t>
            </a:r>
            <a:endParaRPr lang="en-US" sz="3000" dirty="0"/>
          </a:p>
        </p:txBody>
      </p:sp>
      <p:sp>
        <p:nvSpPr>
          <p:cNvPr id="9" name="text 8.8"/>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The playlist is built to grow. </a:t>
            </a:r>
            <a:pPr algn="l" indent="0" marL="0">
              <a:lnSpc>
                <a:spcPts val="1820"/>
              </a:lnSpc>
              <a:buNone/>
            </a:pPr>
            <a:r>
              <a:rPr lang="en-US" sz="1350" b="1" dirty="0">
                <a:solidFill>
                  <a:srgbClr val="8F55F5"/>
                </a:solidFill>
                <a:latin typeface="Arial" pitchFamily="34" charset="0"/>
                <a:ea typeface="Arial" pitchFamily="34" charset="-122"/>
                <a:cs typeface="Arial" pitchFamily="34" charset="-120"/>
              </a:rPr>
              <a:t>These are next in line once the core four work.</a:t>
            </a:r>
            <a:endParaRPr lang="en-US" sz="1350" dirty="0"/>
          </a:p>
        </p:txBody>
      </p:sp>
      <p:sp>
        <p:nvSpPr>
          <p:cNvPr id="10" name="text 8.9"/>
          <p:cNvSpPr txBox="1"/>
          <p:nvPr/>
        </p:nvSpPr>
        <p:spPr>
          <a:xfrm>
            <a:off x="609585" y="1816055"/>
            <a:ext cx="2021014"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B2340"/>
                </a:solidFill>
                <a:latin typeface="Arial" pitchFamily="34" charset="0"/>
                <a:ea typeface="Arial" pitchFamily="34" charset="-122"/>
                <a:cs typeface="Arial" pitchFamily="34" charset="-120"/>
              </a:rPr>
              <a:t>MORE MINI-GAMES, IN DESIGN</a:t>
            </a:r>
            <a:endParaRPr lang="en-US" sz="800" dirty="0"/>
          </a:p>
        </p:txBody>
      </p:sp>
      <p:sp>
        <p:nvSpPr>
          <p:cNvPr id="11" name="text 8.10"/>
          <p:cNvSpPr txBox="1"/>
          <p:nvPr/>
        </p:nvSpPr>
        <p:spPr>
          <a:xfrm>
            <a:off x="800080" y="2197045"/>
            <a:ext cx="1346037"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Versus battle</a:t>
            </a:r>
            <a:endParaRPr lang="en-US" sz="1500" dirty="0"/>
          </a:p>
        </p:txBody>
      </p:sp>
      <p:sp>
        <p:nvSpPr>
          <p:cNvPr id="12" name="text 8.11"/>
          <p:cNvSpPr txBox="1"/>
          <p:nvPr/>
        </p:nvSpPr>
        <p:spPr>
          <a:xfrm>
            <a:off x="800080" y="2489138"/>
            <a:ext cx="3213020" cy="193353"/>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A classic free-for-all shoot-out. Rules: to be designed.</a:t>
            </a:r>
            <a:endParaRPr lang="en-US" sz="1050" dirty="0"/>
          </a:p>
        </p:txBody>
      </p:sp>
      <p:sp>
        <p:nvSpPr>
          <p:cNvPr id="13" name="text 8.12"/>
          <p:cNvSpPr txBox="1"/>
          <p:nvPr/>
        </p:nvSpPr>
        <p:spPr>
          <a:xfrm>
            <a:off x="4508387" y="2197045"/>
            <a:ext cx="1155681"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Hard battle</a:t>
            </a:r>
            <a:endParaRPr lang="en-US" sz="1500" dirty="0"/>
          </a:p>
        </p:txBody>
      </p:sp>
      <p:sp>
        <p:nvSpPr>
          <p:cNvPr id="14" name="text 8.13"/>
          <p:cNvSpPr txBox="1"/>
          <p:nvPr/>
        </p:nvSpPr>
        <p:spPr>
          <a:xfrm>
            <a:off x="4508387" y="2489138"/>
            <a:ext cx="3213020" cy="193353"/>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A tougher battle variant. Rules: to be designed.</a:t>
            </a:r>
            <a:endParaRPr lang="en-US" sz="1050" dirty="0"/>
          </a:p>
        </p:txBody>
      </p:sp>
      <p:sp>
        <p:nvSpPr>
          <p:cNvPr id="15" name="text 8.14"/>
          <p:cNvSpPr txBox="1"/>
          <p:nvPr/>
        </p:nvSpPr>
        <p:spPr>
          <a:xfrm>
            <a:off x="8216695" y="2197045"/>
            <a:ext cx="1281043"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The Monster</a:t>
            </a:r>
            <a:endParaRPr lang="en-US" sz="1500" dirty="0"/>
          </a:p>
        </p:txBody>
      </p:sp>
      <p:sp>
        <p:nvSpPr>
          <p:cNvPr id="16" name="text 8.15"/>
          <p:cNvSpPr txBox="1"/>
          <p:nvPr/>
        </p:nvSpPr>
        <p:spPr>
          <a:xfrm>
            <a:off x="8216695" y="2489138"/>
            <a:ext cx="3213020" cy="386547"/>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One player is the monster and the rest play against them, with rounds inside. Rules: to be designed.</a:t>
            </a:r>
            <a:endParaRPr lang="en-US" sz="1050" dirty="0"/>
          </a:p>
        </p:txBody>
      </p:sp>
      <p:sp>
        <p:nvSpPr>
          <p:cNvPr id="17" name="text 8.16"/>
          <p:cNvSpPr txBox="1"/>
          <p:nvPr/>
        </p:nvSpPr>
        <p:spPr>
          <a:xfrm>
            <a:off x="609585" y="3428914"/>
            <a:ext cx="4070552"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Owner: Abdurrahim. Each one plugs into the same shared core as the first four.</a:t>
            </a:r>
            <a:endParaRPr lang="en-US" sz="850" dirty="0"/>
          </a:p>
        </p:txBody>
      </p:sp>
      <p:sp>
        <p:nvSpPr>
          <p:cNvPr id="18" name="text 8.17"/>
          <p:cNvSpPr txBox="1"/>
          <p:nvPr/>
        </p:nvSpPr>
        <p:spPr>
          <a:xfrm>
            <a:off x="609585" y="3784505"/>
            <a:ext cx="1296397"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B2340"/>
                </a:solidFill>
                <a:latin typeface="Arial" pitchFamily="34" charset="0"/>
                <a:ea typeface="Arial" pitchFamily="34" charset="-122"/>
                <a:cs typeface="Arial" pitchFamily="34" charset="-120"/>
              </a:rPr>
              <a:t>FUTURE FEATURES</a:t>
            </a:r>
            <a:endParaRPr lang="en-US" sz="800" dirty="0"/>
          </a:p>
        </p:txBody>
      </p:sp>
      <p:sp>
        <p:nvSpPr>
          <p:cNvPr id="19" name="text 8.18"/>
          <p:cNvSpPr txBox="1"/>
          <p:nvPr/>
        </p:nvSpPr>
        <p:spPr>
          <a:xfrm>
            <a:off x="609585" y="6083148"/>
            <a:ext cx="2467878"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Character types. Concept render, AI-generated.</a:t>
            </a:r>
            <a:endParaRPr lang="en-US" sz="850" dirty="0"/>
          </a:p>
        </p:txBody>
      </p:sp>
      <p:sp>
        <p:nvSpPr>
          <p:cNvPr id="20" name="text 8.19"/>
          <p:cNvSpPr txBox="1"/>
          <p:nvPr/>
        </p:nvSpPr>
        <p:spPr>
          <a:xfrm>
            <a:off x="4609985" y="4190895"/>
            <a:ext cx="1645349"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Character types</a:t>
            </a:r>
            <a:endParaRPr lang="en-US" sz="1500" dirty="0"/>
          </a:p>
        </p:txBody>
      </p:sp>
      <p:sp>
        <p:nvSpPr>
          <p:cNvPr id="21" name="text 8.20"/>
          <p:cNvSpPr txBox="1"/>
          <p:nvPr/>
        </p:nvSpPr>
        <p:spPr>
          <a:xfrm>
            <a:off x="4609985" y="4470288"/>
            <a:ext cx="3657509" cy="368291"/>
          </a:xfrm>
          <a:prstGeom prst="rect">
            <a:avLst/>
          </a:prstGeom>
          <a:noFill/>
          <a:ln/>
        </p:spPr>
        <p:txBody>
          <a:bodyPr wrap="square" lIns="0" tIns="0" rIns="0" bIns="0" rtlCol="0" anchor="t"/>
          <a:lstStyle/>
          <a:p>
            <a:pPr algn="l" indent="0" marL="0">
              <a:lnSpc>
                <a:spcPts val="1450"/>
              </a:lnSpc>
              <a:buNone/>
            </a:pPr>
            <a:r>
              <a:rPr lang="en-US" sz="1000" dirty="0">
                <a:solidFill>
                  <a:srgbClr val="3E475E"/>
                </a:solidFill>
                <a:latin typeface="Arial" pitchFamily="34" charset="0"/>
                <a:ea typeface="Arial" pitchFamily="34" charset="-122"/>
                <a:cs typeface="Arial" pitchFamily="34" charset="-120"/>
              </a:rPr>
              <a:t>Players pick a type with its own strengths. Because mass drives knockback, weight is the natural first stat.</a:t>
            </a:r>
            <a:endParaRPr lang="en-US" sz="1000" dirty="0"/>
          </a:p>
        </p:txBody>
      </p:sp>
      <p:sp>
        <p:nvSpPr>
          <p:cNvPr id="22" name="text 8.21"/>
          <p:cNvSpPr txBox="1"/>
          <p:nvPr/>
        </p:nvSpPr>
        <p:spPr>
          <a:xfrm>
            <a:off x="4609985" y="5016375"/>
            <a:ext cx="460197" cy="152396"/>
          </a:xfrm>
          <a:prstGeom prst="rect">
            <a:avLst/>
          </a:prstGeom>
          <a:noFill/>
          <a:ln/>
        </p:spPr>
        <p:txBody>
          <a:bodyPr wrap="square" lIns="0" tIns="0" rIns="0" bIns="0" rtlCol="0" anchor="t"/>
          <a:lstStyle/>
          <a:p>
            <a:pPr algn="l" indent="0" marL="0">
              <a:lnSpc>
                <a:spcPts val="1200"/>
              </a:lnSpc>
              <a:buNone/>
            </a:pPr>
            <a:r>
              <a:rPr lang="en-US" sz="1000" b="1" dirty="0">
                <a:solidFill>
                  <a:srgbClr val="8F55F5"/>
                </a:solidFill>
                <a:latin typeface="Arial" pitchFamily="34" charset="0"/>
                <a:ea typeface="Arial" pitchFamily="34" charset="-122"/>
                <a:cs typeface="Arial" pitchFamily="34" charset="-120"/>
              </a:rPr>
              <a:t>Heavy</a:t>
            </a:r>
            <a:endParaRPr lang="en-US" sz="1000" dirty="0"/>
          </a:p>
        </p:txBody>
      </p:sp>
      <p:sp>
        <p:nvSpPr>
          <p:cNvPr id="23" name="text 8.22"/>
          <p:cNvSpPr txBox="1"/>
          <p:nvPr/>
        </p:nvSpPr>
        <p:spPr>
          <a:xfrm>
            <a:off x="5587860" y="5035424"/>
            <a:ext cx="3810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MASS</a:t>
            </a:r>
            <a:endParaRPr lang="en-US" sz="700" dirty="0"/>
          </a:p>
        </p:txBody>
      </p:sp>
      <p:sp>
        <p:nvSpPr>
          <p:cNvPr id="24" name="text 8.23"/>
          <p:cNvSpPr txBox="1"/>
          <p:nvPr/>
        </p:nvSpPr>
        <p:spPr>
          <a:xfrm>
            <a:off x="6921327" y="5035424"/>
            <a:ext cx="43958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SPEED</a:t>
            </a:r>
            <a:endParaRPr lang="en-US" sz="700" dirty="0"/>
          </a:p>
        </p:txBody>
      </p:sp>
      <p:sp>
        <p:nvSpPr>
          <p:cNvPr id="25" name="shape 8.24"/>
          <p:cNvSpPr/>
          <p:nvPr/>
        </p:nvSpPr>
        <p:spPr>
          <a:xfrm>
            <a:off x="6095848" y="5041774"/>
            <a:ext cx="203195" cy="88898"/>
          </a:xfrm>
          <a:prstGeom prst="roundRect">
            <a:avLst>
              <a:gd name="adj" fmla="val 50000"/>
            </a:avLst>
          </a:prstGeom>
          <a:solidFill>
            <a:srgbClr val="8F55F5"/>
          </a:solidFill>
          <a:ln/>
        </p:spPr>
      </p:sp>
      <p:sp>
        <p:nvSpPr>
          <p:cNvPr id="26" name="shape 8.25"/>
          <p:cNvSpPr/>
          <p:nvPr/>
        </p:nvSpPr>
        <p:spPr>
          <a:xfrm>
            <a:off x="6349841" y="5041774"/>
            <a:ext cx="203195" cy="88898"/>
          </a:xfrm>
          <a:prstGeom prst="roundRect">
            <a:avLst>
              <a:gd name="adj" fmla="val 50000"/>
            </a:avLst>
          </a:prstGeom>
          <a:solidFill>
            <a:srgbClr val="8F55F5"/>
          </a:solidFill>
          <a:ln/>
        </p:spPr>
      </p:sp>
      <p:sp>
        <p:nvSpPr>
          <p:cNvPr id="27" name="shape 8.26"/>
          <p:cNvSpPr/>
          <p:nvPr/>
        </p:nvSpPr>
        <p:spPr>
          <a:xfrm>
            <a:off x="6603835" y="5041774"/>
            <a:ext cx="203195" cy="88898"/>
          </a:xfrm>
          <a:prstGeom prst="roundRect">
            <a:avLst>
              <a:gd name="adj" fmla="val 50000"/>
            </a:avLst>
          </a:prstGeom>
          <a:solidFill>
            <a:srgbClr val="8F55F5"/>
          </a:solidFill>
          <a:ln/>
        </p:spPr>
      </p:sp>
      <p:sp>
        <p:nvSpPr>
          <p:cNvPr id="28" name="shape 8.27"/>
          <p:cNvSpPr/>
          <p:nvPr/>
        </p:nvSpPr>
        <p:spPr>
          <a:xfrm>
            <a:off x="7429314" y="5041774"/>
            <a:ext cx="203195" cy="88898"/>
          </a:xfrm>
          <a:prstGeom prst="roundRect">
            <a:avLst>
              <a:gd name="adj" fmla="val 50000"/>
            </a:avLst>
          </a:prstGeom>
          <a:solidFill>
            <a:srgbClr val="8F55F5"/>
          </a:solidFill>
          <a:ln/>
        </p:spPr>
      </p:sp>
      <p:sp>
        <p:nvSpPr>
          <p:cNvPr id="29" name="shape 8.28"/>
          <p:cNvSpPr/>
          <p:nvPr/>
        </p:nvSpPr>
        <p:spPr>
          <a:xfrm>
            <a:off x="7683308" y="5041774"/>
            <a:ext cx="203195" cy="88898"/>
          </a:xfrm>
          <a:prstGeom prst="roundRect">
            <a:avLst>
              <a:gd name="adj" fmla="val 50000"/>
            </a:avLst>
          </a:prstGeom>
          <a:solidFill>
            <a:srgbClr val="E8ECE3"/>
          </a:solidFill>
          <a:ln/>
        </p:spPr>
      </p:sp>
      <p:sp>
        <p:nvSpPr>
          <p:cNvPr id="30" name="shape 8.29"/>
          <p:cNvSpPr/>
          <p:nvPr/>
        </p:nvSpPr>
        <p:spPr>
          <a:xfrm>
            <a:off x="7937302" y="5041774"/>
            <a:ext cx="203195" cy="88898"/>
          </a:xfrm>
          <a:prstGeom prst="roundRect">
            <a:avLst>
              <a:gd name="adj" fmla="val 50000"/>
            </a:avLst>
          </a:prstGeom>
          <a:solidFill>
            <a:srgbClr val="E8ECE3"/>
          </a:solidFill>
          <a:ln/>
        </p:spPr>
      </p:sp>
      <p:sp>
        <p:nvSpPr>
          <p:cNvPr id="31" name="text 8.30"/>
          <p:cNvSpPr txBox="1"/>
          <p:nvPr/>
        </p:nvSpPr>
        <p:spPr>
          <a:xfrm>
            <a:off x="4609985" y="5359266"/>
            <a:ext cx="662122" cy="152396"/>
          </a:xfrm>
          <a:prstGeom prst="rect">
            <a:avLst/>
          </a:prstGeom>
          <a:noFill/>
          <a:ln/>
        </p:spPr>
        <p:txBody>
          <a:bodyPr wrap="square" lIns="0" tIns="0" rIns="0" bIns="0" rtlCol="0" anchor="t"/>
          <a:lstStyle/>
          <a:p>
            <a:pPr algn="l" indent="0" marL="0">
              <a:lnSpc>
                <a:spcPts val="1200"/>
              </a:lnSpc>
              <a:buNone/>
            </a:pPr>
            <a:r>
              <a:rPr lang="en-US" sz="1000" b="1" dirty="0">
                <a:solidFill>
                  <a:srgbClr val="FF6B1F"/>
                </a:solidFill>
                <a:latin typeface="Arial" pitchFamily="34" charset="0"/>
                <a:ea typeface="Arial" pitchFamily="34" charset="-122"/>
                <a:cs typeface="Arial" pitchFamily="34" charset="-120"/>
              </a:rPr>
              <a:t>Balanced</a:t>
            </a:r>
            <a:endParaRPr lang="en-US" sz="1000" dirty="0"/>
          </a:p>
        </p:txBody>
      </p:sp>
      <p:sp>
        <p:nvSpPr>
          <p:cNvPr id="32" name="text 8.31"/>
          <p:cNvSpPr txBox="1"/>
          <p:nvPr/>
        </p:nvSpPr>
        <p:spPr>
          <a:xfrm>
            <a:off x="5587860" y="5378316"/>
            <a:ext cx="3810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MASS</a:t>
            </a:r>
            <a:endParaRPr lang="en-US" sz="700" dirty="0"/>
          </a:p>
        </p:txBody>
      </p:sp>
      <p:sp>
        <p:nvSpPr>
          <p:cNvPr id="33" name="text 8.32"/>
          <p:cNvSpPr txBox="1"/>
          <p:nvPr/>
        </p:nvSpPr>
        <p:spPr>
          <a:xfrm>
            <a:off x="6921327" y="5378316"/>
            <a:ext cx="43958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SPEED</a:t>
            </a:r>
            <a:endParaRPr lang="en-US" sz="700" dirty="0"/>
          </a:p>
        </p:txBody>
      </p:sp>
      <p:sp>
        <p:nvSpPr>
          <p:cNvPr id="34" name="shape 8.33"/>
          <p:cNvSpPr/>
          <p:nvPr/>
        </p:nvSpPr>
        <p:spPr>
          <a:xfrm>
            <a:off x="6095848" y="5384665"/>
            <a:ext cx="203195" cy="88898"/>
          </a:xfrm>
          <a:prstGeom prst="roundRect">
            <a:avLst>
              <a:gd name="adj" fmla="val 50000"/>
            </a:avLst>
          </a:prstGeom>
          <a:solidFill>
            <a:srgbClr val="FF6B1F"/>
          </a:solidFill>
          <a:ln/>
        </p:spPr>
      </p:sp>
      <p:sp>
        <p:nvSpPr>
          <p:cNvPr id="35" name="shape 8.34"/>
          <p:cNvSpPr/>
          <p:nvPr/>
        </p:nvSpPr>
        <p:spPr>
          <a:xfrm>
            <a:off x="6349841" y="5384665"/>
            <a:ext cx="203195" cy="88898"/>
          </a:xfrm>
          <a:prstGeom prst="roundRect">
            <a:avLst>
              <a:gd name="adj" fmla="val 50000"/>
            </a:avLst>
          </a:prstGeom>
          <a:solidFill>
            <a:srgbClr val="FF6B1F"/>
          </a:solidFill>
          <a:ln/>
        </p:spPr>
      </p:sp>
      <p:sp>
        <p:nvSpPr>
          <p:cNvPr id="36" name="shape 8.35"/>
          <p:cNvSpPr/>
          <p:nvPr/>
        </p:nvSpPr>
        <p:spPr>
          <a:xfrm>
            <a:off x="6603835" y="5384665"/>
            <a:ext cx="203195" cy="88898"/>
          </a:xfrm>
          <a:prstGeom prst="roundRect">
            <a:avLst>
              <a:gd name="adj" fmla="val 50000"/>
            </a:avLst>
          </a:prstGeom>
          <a:solidFill>
            <a:srgbClr val="E8ECE3"/>
          </a:solidFill>
          <a:ln/>
        </p:spPr>
      </p:sp>
      <p:sp>
        <p:nvSpPr>
          <p:cNvPr id="37" name="shape 8.36"/>
          <p:cNvSpPr/>
          <p:nvPr/>
        </p:nvSpPr>
        <p:spPr>
          <a:xfrm>
            <a:off x="7429314" y="5384665"/>
            <a:ext cx="203195" cy="88898"/>
          </a:xfrm>
          <a:prstGeom prst="roundRect">
            <a:avLst>
              <a:gd name="adj" fmla="val 50000"/>
            </a:avLst>
          </a:prstGeom>
          <a:solidFill>
            <a:srgbClr val="FF6B1F"/>
          </a:solidFill>
          <a:ln/>
        </p:spPr>
      </p:sp>
      <p:sp>
        <p:nvSpPr>
          <p:cNvPr id="38" name="shape 8.37"/>
          <p:cNvSpPr/>
          <p:nvPr/>
        </p:nvSpPr>
        <p:spPr>
          <a:xfrm>
            <a:off x="7683308" y="5384665"/>
            <a:ext cx="203195" cy="88898"/>
          </a:xfrm>
          <a:prstGeom prst="roundRect">
            <a:avLst>
              <a:gd name="adj" fmla="val 50000"/>
            </a:avLst>
          </a:prstGeom>
          <a:solidFill>
            <a:srgbClr val="FF6B1F"/>
          </a:solidFill>
          <a:ln/>
        </p:spPr>
      </p:sp>
      <p:sp>
        <p:nvSpPr>
          <p:cNvPr id="39" name="shape 8.38"/>
          <p:cNvSpPr/>
          <p:nvPr/>
        </p:nvSpPr>
        <p:spPr>
          <a:xfrm>
            <a:off x="7937302" y="5384665"/>
            <a:ext cx="203195" cy="88898"/>
          </a:xfrm>
          <a:prstGeom prst="roundRect">
            <a:avLst>
              <a:gd name="adj" fmla="val 50000"/>
            </a:avLst>
          </a:prstGeom>
          <a:solidFill>
            <a:srgbClr val="E8ECE3"/>
          </a:solidFill>
          <a:ln/>
        </p:spPr>
      </p:sp>
      <p:sp>
        <p:nvSpPr>
          <p:cNvPr id="40" name="text 8.39"/>
          <p:cNvSpPr txBox="1"/>
          <p:nvPr/>
        </p:nvSpPr>
        <p:spPr>
          <a:xfrm>
            <a:off x="4609985" y="5702157"/>
            <a:ext cx="392468" cy="152396"/>
          </a:xfrm>
          <a:prstGeom prst="rect">
            <a:avLst/>
          </a:prstGeom>
          <a:noFill/>
          <a:ln/>
        </p:spPr>
        <p:txBody>
          <a:bodyPr wrap="square" lIns="0" tIns="0" rIns="0" bIns="0" rtlCol="0" anchor="t"/>
          <a:lstStyle/>
          <a:p>
            <a:pPr algn="l" indent="0" marL="0">
              <a:lnSpc>
                <a:spcPts val="1200"/>
              </a:lnSpc>
              <a:buNone/>
            </a:pPr>
            <a:r>
              <a:rPr lang="en-US" sz="1000" b="1" dirty="0">
                <a:solidFill>
                  <a:srgbClr val="43B832"/>
                </a:solidFill>
                <a:latin typeface="Arial" pitchFamily="34" charset="0"/>
                <a:ea typeface="Arial" pitchFamily="34" charset="-122"/>
                <a:cs typeface="Arial" pitchFamily="34" charset="-120"/>
              </a:rPr>
              <a:t>Light</a:t>
            </a:r>
            <a:endParaRPr lang="en-US" sz="1000" dirty="0"/>
          </a:p>
        </p:txBody>
      </p:sp>
      <p:sp>
        <p:nvSpPr>
          <p:cNvPr id="41" name="text 8.40"/>
          <p:cNvSpPr txBox="1"/>
          <p:nvPr/>
        </p:nvSpPr>
        <p:spPr>
          <a:xfrm>
            <a:off x="5587860" y="5721207"/>
            <a:ext cx="3810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MASS</a:t>
            </a:r>
            <a:endParaRPr lang="en-US" sz="700" dirty="0"/>
          </a:p>
        </p:txBody>
      </p:sp>
      <p:sp>
        <p:nvSpPr>
          <p:cNvPr id="42" name="text 8.41"/>
          <p:cNvSpPr txBox="1"/>
          <p:nvPr/>
        </p:nvSpPr>
        <p:spPr>
          <a:xfrm>
            <a:off x="6921327" y="5721207"/>
            <a:ext cx="43958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SPEED</a:t>
            </a:r>
            <a:endParaRPr lang="en-US" sz="700" dirty="0"/>
          </a:p>
        </p:txBody>
      </p:sp>
      <p:sp>
        <p:nvSpPr>
          <p:cNvPr id="43" name="shape 8.42"/>
          <p:cNvSpPr/>
          <p:nvPr/>
        </p:nvSpPr>
        <p:spPr>
          <a:xfrm>
            <a:off x="6095848" y="5727557"/>
            <a:ext cx="203195" cy="88898"/>
          </a:xfrm>
          <a:prstGeom prst="roundRect">
            <a:avLst>
              <a:gd name="adj" fmla="val 50000"/>
            </a:avLst>
          </a:prstGeom>
          <a:solidFill>
            <a:srgbClr val="43B832"/>
          </a:solidFill>
          <a:ln/>
        </p:spPr>
      </p:sp>
      <p:sp>
        <p:nvSpPr>
          <p:cNvPr id="44" name="shape 8.43"/>
          <p:cNvSpPr/>
          <p:nvPr/>
        </p:nvSpPr>
        <p:spPr>
          <a:xfrm>
            <a:off x="6349841" y="5727557"/>
            <a:ext cx="203195" cy="88898"/>
          </a:xfrm>
          <a:prstGeom prst="roundRect">
            <a:avLst>
              <a:gd name="adj" fmla="val 50000"/>
            </a:avLst>
          </a:prstGeom>
          <a:solidFill>
            <a:srgbClr val="E8ECE3"/>
          </a:solidFill>
          <a:ln/>
        </p:spPr>
      </p:sp>
      <p:sp>
        <p:nvSpPr>
          <p:cNvPr id="45" name="shape 8.44"/>
          <p:cNvSpPr/>
          <p:nvPr/>
        </p:nvSpPr>
        <p:spPr>
          <a:xfrm>
            <a:off x="6603835" y="5727557"/>
            <a:ext cx="203195" cy="88898"/>
          </a:xfrm>
          <a:prstGeom prst="roundRect">
            <a:avLst>
              <a:gd name="adj" fmla="val 50000"/>
            </a:avLst>
          </a:prstGeom>
          <a:solidFill>
            <a:srgbClr val="E8ECE3"/>
          </a:solidFill>
          <a:ln/>
        </p:spPr>
      </p:sp>
      <p:sp>
        <p:nvSpPr>
          <p:cNvPr id="46" name="shape 8.45"/>
          <p:cNvSpPr/>
          <p:nvPr/>
        </p:nvSpPr>
        <p:spPr>
          <a:xfrm>
            <a:off x="7429314" y="5727557"/>
            <a:ext cx="203195" cy="88898"/>
          </a:xfrm>
          <a:prstGeom prst="roundRect">
            <a:avLst>
              <a:gd name="adj" fmla="val 50000"/>
            </a:avLst>
          </a:prstGeom>
          <a:solidFill>
            <a:srgbClr val="43B832"/>
          </a:solidFill>
          <a:ln/>
        </p:spPr>
      </p:sp>
      <p:sp>
        <p:nvSpPr>
          <p:cNvPr id="47" name="shape 8.46"/>
          <p:cNvSpPr/>
          <p:nvPr/>
        </p:nvSpPr>
        <p:spPr>
          <a:xfrm>
            <a:off x="7683308" y="5727557"/>
            <a:ext cx="203195" cy="88898"/>
          </a:xfrm>
          <a:prstGeom prst="roundRect">
            <a:avLst>
              <a:gd name="adj" fmla="val 50000"/>
            </a:avLst>
          </a:prstGeom>
          <a:solidFill>
            <a:srgbClr val="43B832"/>
          </a:solidFill>
          <a:ln/>
        </p:spPr>
      </p:sp>
      <p:sp>
        <p:nvSpPr>
          <p:cNvPr id="48" name="shape 8.47"/>
          <p:cNvSpPr/>
          <p:nvPr/>
        </p:nvSpPr>
        <p:spPr>
          <a:xfrm>
            <a:off x="7937302" y="5727557"/>
            <a:ext cx="203195" cy="88898"/>
          </a:xfrm>
          <a:prstGeom prst="roundRect">
            <a:avLst>
              <a:gd name="adj" fmla="val 50000"/>
            </a:avLst>
          </a:prstGeom>
          <a:solidFill>
            <a:srgbClr val="43B832"/>
          </a:solidFill>
          <a:ln/>
        </p:spPr>
      </p:sp>
      <p:sp>
        <p:nvSpPr>
          <p:cNvPr id="49" name="text 8.48"/>
          <p:cNvSpPr txBox="1"/>
          <p:nvPr/>
        </p:nvSpPr>
        <p:spPr>
          <a:xfrm>
            <a:off x="4609985" y="6032349"/>
            <a:ext cx="3721007"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Example only. Pips are relative; stats are not designed.</a:t>
            </a:r>
            <a:endParaRPr lang="en-US" sz="850" dirty="0"/>
          </a:p>
        </p:txBody>
      </p:sp>
      <p:sp>
        <p:nvSpPr>
          <p:cNvPr id="50" name="text 8.49"/>
          <p:cNvSpPr txBox="1"/>
          <p:nvPr/>
        </p:nvSpPr>
        <p:spPr>
          <a:xfrm>
            <a:off x="8864378" y="4190895"/>
            <a:ext cx="1193647"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Rage meter</a:t>
            </a:r>
            <a:endParaRPr lang="en-US" sz="1500" dirty="0"/>
          </a:p>
        </p:txBody>
      </p:sp>
      <p:sp>
        <p:nvSpPr>
          <p:cNvPr id="51" name="shape 8.50"/>
          <p:cNvSpPr/>
          <p:nvPr/>
        </p:nvSpPr>
        <p:spPr>
          <a:xfrm>
            <a:off x="8864378" y="4521087"/>
            <a:ext cx="2489138" cy="139697"/>
          </a:xfrm>
          <a:prstGeom prst="roundRect">
            <a:avLst>
              <a:gd name="adj" fmla="val 50000"/>
            </a:avLst>
          </a:prstGeom>
          <a:solidFill>
            <a:srgbClr val="E8ECE3"/>
          </a:solidFill>
          <a:ln/>
        </p:spPr>
      </p:sp>
      <p:sp>
        <p:nvSpPr>
          <p:cNvPr id="52" name="shape 8.51"/>
          <p:cNvSpPr/>
          <p:nvPr/>
        </p:nvSpPr>
        <p:spPr>
          <a:xfrm>
            <a:off x="8864378" y="4521087"/>
            <a:ext cx="1443696" cy="139697"/>
          </a:xfrm>
          <a:prstGeom prst="roundRect">
            <a:avLst>
              <a:gd name="adj" fmla="val 50000"/>
            </a:avLst>
          </a:prstGeom>
          <a:solidFill>
            <a:srgbClr val="FF6B1F"/>
          </a:solidFill>
          <a:ln/>
        </p:spPr>
      </p:sp>
      <p:sp>
        <p:nvSpPr>
          <p:cNvPr id="53" name="text 8.52"/>
          <p:cNvSpPr txBox="1"/>
          <p:nvPr/>
        </p:nvSpPr>
        <p:spPr>
          <a:xfrm>
            <a:off x="8864378" y="4800480"/>
            <a:ext cx="2527237" cy="579820"/>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A meter that builds up across mini-games. Once it fills over a few rounds, the player can spend it in a later mini-game.</a:t>
            </a:r>
            <a:endParaRPr lang="en-US" sz="1050" dirty="0"/>
          </a:p>
        </p:txBody>
      </p:sp>
      <p:pic>
        <p:nvPicPr>
          <p:cNvPr id="54" name="raster 8.53" descr="diagram">    </p:cNvPr>
          <p:cNvPicPr>
            <a:picLocks noChangeAspect="1"/>
          </p:cNvPicPr>
          <p:nvPr/>
        </p:nvPicPr>
        <p:blipFill>
          <a:blip r:embed="rId3"/>
          <a:stretch>
            <a:fillRect/>
          </a:stretch>
        </p:blipFill>
        <p:spPr>
          <a:xfrm>
            <a:off x="609585" y="266693"/>
            <a:ext cx="190495" cy="190495"/>
          </a:xfrm>
          <a:prstGeom prst="rect">
            <a:avLst/>
          </a:prstGeom>
        </p:spPr>
      </p:pic>
      <p:sp>
        <p:nvSpPr>
          <p:cNvPr id="55" name="text 8.54"/>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56" name="text 8.55"/>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57" name="text 8.56"/>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58" name="text 8.57"/>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08 / 25</a:t>
            </a:r>
            <a:endParaRPr lang="en-US" sz="750" dirty="0"/>
          </a:p>
        </p:txBody>
      </p:sp>
      <p:sp>
        <p:nvSpPr>
          <p:cNvPr id="59" name="text 8.58"/>
          <p:cNvSpPr txBox="1"/>
          <p:nvPr/>
        </p:nvSpPr>
        <p:spPr>
          <a:xfrm>
            <a:off x="609585" y="698483"/>
            <a:ext cx="2777075"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8F55F5"/>
                </a:solidFill>
                <a:latin typeface="Arial" pitchFamily="34" charset="0"/>
                <a:ea typeface="Arial" pitchFamily="34" charset="-122"/>
                <a:cs typeface="Arial" pitchFamily="34" charset="-120"/>
              </a:rPr>
              <a:t>02 · GAMEPLAY · NOT YET COMMITTED</a:t>
            </a:r>
            <a:endParaRPr lang="en-US" sz="8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9.1"/>
          <p:cNvSpPr/>
          <p:nvPr/>
        </p:nvSpPr>
        <p:spPr>
          <a:xfrm>
            <a:off x="609585" y="1955751"/>
            <a:ext cx="2095448" cy="444489"/>
          </a:xfrm>
          <a:prstGeom prst="roundRect">
            <a:avLst>
              <a:gd name="adj" fmla="val 34286"/>
            </a:avLst>
          </a:prstGeom>
          <a:solidFill>
            <a:srgbClr val="FFF0E6"/>
          </a:solidFill>
          <a:ln w="12700">
            <a:solidFill>
              <a:srgbClr val="E4E9DD"/>
            </a:solidFill>
            <a:prstDash val="solid"/>
          </a:ln>
        </p:spPr>
      </p:sp>
      <p:sp>
        <p:nvSpPr>
          <p:cNvPr id="3" name="shape 9.2"/>
          <p:cNvSpPr/>
          <p:nvPr/>
        </p:nvSpPr>
        <p:spPr>
          <a:xfrm>
            <a:off x="2832029" y="1955751"/>
            <a:ext cx="2095448" cy="444489"/>
          </a:xfrm>
          <a:prstGeom prst="roundRect">
            <a:avLst>
              <a:gd name="adj" fmla="val 34286"/>
            </a:avLst>
          </a:prstGeom>
          <a:solidFill>
            <a:srgbClr val="F1E9FF"/>
          </a:solidFill>
          <a:ln w="12700">
            <a:solidFill>
              <a:srgbClr val="E4E9DD"/>
            </a:solidFill>
            <a:prstDash val="solid"/>
          </a:ln>
        </p:spPr>
      </p:sp>
      <p:sp>
        <p:nvSpPr>
          <p:cNvPr id="4" name="shape 9.3"/>
          <p:cNvSpPr/>
          <p:nvPr/>
        </p:nvSpPr>
        <p:spPr>
          <a:xfrm>
            <a:off x="5054474" y="1955751"/>
            <a:ext cx="2095448" cy="444489"/>
          </a:xfrm>
          <a:prstGeom prst="roundRect">
            <a:avLst>
              <a:gd name="adj" fmla="val 34286"/>
            </a:avLst>
          </a:prstGeom>
          <a:solidFill>
            <a:srgbClr val="E3F2FB"/>
          </a:solidFill>
          <a:ln w="12700">
            <a:solidFill>
              <a:srgbClr val="E4E9DD"/>
            </a:solidFill>
            <a:prstDash val="solid"/>
          </a:ln>
        </p:spPr>
      </p:sp>
      <p:sp>
        <p:nvSpPr>
          <p:cNvPr id="5" name="shape 9.4"/>
          <p:cNvSpPr/>
          <p:nvPr/>
        </p:nvSpPr>
        <p:spPr>
          <a:xfrm>
            <a:off x="7276918" y="1955751"/>
            <a:ext cx="2095448" cy="444489"/>
          </a:xfrm>
          <a:prstGeom prst="roundRect">
            <a:avLst>
              <a:gd name="adj" fmla="val 34286"/>
            </a:avLst>
          </a:prstGeom>
          <a:solidFill>
            <a:srgbClr val="E7F5E1"/>
          </a:solidFill>
          <a:ln w="12700">
            <a:solidFill>
              <a:srgbClr val="E4E9DD"/>
            </a:solidFill>
            <a:prstDash val="solid"/>
          </a:ln>
        </p:spPr>
      </p:sp>
      <p:sp>
        <p:nvSpPr>
          <p:cNvPr id="6" name="shape 9.5"/>
          <p:cNvSpPr/>
          <p:nvPr/>
        </p:nvSpPr>
        <p:spPr>
          <a:xfrm>
            <a:off x="9499363" y="1955751"/>
            <a:ext cx="2095448" cy="444489"/>
          </a:xfrm>
          <a:prstGeom prst="roundRect">
            <a:avLst>
              <a:gd name="adj" fmla="val 34286"/>
            </a:avLst>
          </a:prstGeom>
          <a:ln w="12700">
            <a:solidFill>
              <a:srgbClr val="C9CFC0"/>
            </a:solidFill>
            <a:prstDash val="dash"/>
          </a:ln>
        </p:spPr>
      </p:sp>
      <p:sp>
        <p:nvSpPr>
          <p:cNvPr id="7" name="shape 9.6"/>
          <p:cNvSpPr/>
          <p:nvPr/>
        </p:nvSpPr>
        <p:spPr>
          <a:xfrm>
            <a:off x="609585" y="2717732"/>
            <a:ext cx="10972526" cy="406390"/>
          </a:xfrm>
          <a:prstGeom prst="roundRect">
            <a:avLst>
              <a:gd name="adj" fmla="val 37500"/>
            </a:avLst>
          </a:prstGeom>
          <a:solidFill>
            <a:srgbClr val="FFF6DA"/>
          </a:solidFill>
          <a:ln w="12700">
            <a:solidFill>
              <a:srgbClr val="E4E9DD"/>
            </a:solidFill>
            <a:prstDash val="solid"/>
          </a:ln>
        </p:spPr>
      </p:sp>
      <p:sp>
        <p:nvSpPr>
          <p:cNvPr id="8" name="shape 9.7"/>
          <p:cNvSpPr/>
          <p:nvPr/>
        </p:nvSpPr>
        <p:spPr>
          <a:xfrm>
            <a:off x="609585" y="3441614"/>
            <a:ext cx="3555911" cy="609585"/>
          </a:xfrm>
          <a:prstGeom prst="roundRect">
            <a:avLst>
              <a:gd name="adj" fmla="val 25000"/>
            </a:avLst>
          </a:prstGeom>
          <a:solidFill>
            <a:srgbClr val="FFFFFF"/>
          </a:solidFill>
          <a:ln w="12700">
            <a:solidFill>
              <a:srgbClr val="E4E9DD"/>
            </a:solidFill>
            <a:prstDash val="solid"/>
          </a:ln>
        </p:spPr>
      </p:sp>
      <p:sp>
        <p:nvSpPr>
          <p:cNvPr id="9" name="shape 9.8"/>
          <p:cNvSpPr/>
          <p:nvPr/>
        </p:nvSpPr>
        <p:spPr>
          <a:xfrm>
            <a:off x="4317892" y="3441614"/>
            <a:ext cx="3555911" cy="609585"/>
          </a:xfrm>
          <a:prstGeom prst="roundRect">
            <a:avLst>
              <a:gd name="adj" fmla="val 25000"/>
            </a:avLst>
          </a:prstGeom>
          <a:solidFill>
            <a:srgbClr val="FFFFFF"/>
          </a:solidFill>
          <a:ln w="12700">
            <a:solidFill>
              <a:srgbClr val="E4E9DD"/>
            </a:solidFill>
            <a:prstDash val="solid"/>
          </a:ln>
        </p:spPr>
      </p:sp>
      <p:sp>
        <p:nvSpPr>
          <p:cNvPr id="10" name="shape 9.9"/>
          <p:cNvSpPr/>
          <p:nvPr/>
        </p:nvSpPr>
        <p:spPr>
          <a:xfrm>
            <a:off x="8026199" y="3441614"/>
            <a:ext cx="3555911" cy="609585"/>
          </a:xfrm>
          <a:prstGeom prst="roundRect">
            <a:avLst>
              <a:gd name="adj" fmla="val 25000"/>
            </a:avLst>
          </a:prstGeom>
          <a:solidFill>
            <a:srgbClr val="FFFFFF"/>
          </a:solidFill>
          <a:ln w="12700">
            <a:solidFill>
              <a:srgbClr val="E4E9DD"/>
            </a:solidFill>
            <a:prstDash val="solid"/>
          </a:ln>
        </p:spPr>
      </p:sp>
      <p:sp>
        <p:nvSpPr>
          <p:cNvPr id="11" name="shape 9.10"/>
          <p:cNvSpPr/>
          <p:nvPr/>
        </p:nvSpPr>
        <p:spPr>
          <a:xfrm>
            <a:off x="609585" y="4152796"/>
            <a:ext cx="3555911" cy="609585"/>
          </a:xfrm>
          <a:prstGeom prst="roundRect">
            <a:avLst>
              <a:gd name="adj" fmla="val 25000"/>
            </a:avLst>
          </a:prstGeom>
          <a:solidFill>
            <a:srgbClr val="FFFFFF"/>
          </a:solidFill>
          <a:ln w="12700">
            <a:solidFill>
              <a:srgbClr val="E4E9DD"/>
            </a:solidFill>
            <a:prstDash val="solid"/>
          </a:ln>
        </p:spPr>
      </p:sp>
      <p:sp>
        <p:nvSpPr>
          <p:cNvPr id="12" name="shape 9.11"/>
          <p:cNvSpPr/>
          <p:nvPr/>
        </p:nvSpPr>
        <p:spPr>
          <a:xfrm>
            <a:off x="4317892" y="4152796"/>
            <a:ext cx="3555911" cy="609585"/>
          </a:xfrm>
          <a:prstGeom prst="roundRect">
            <a:avLst>
              <a:gd name="adj" fmla="val 25000"/>
            </a:avLst>
          </a:prstGeom>
          <a:solidFill>
            <a:srgbClr val="FFFFFF"/>
          </a:solidFill>
          <a:ln w="12700">
            <a:solidFill>
              <a:srgbClr val="E4E9DD"/>
            </a:solidFill>
            <a:prstDash val="solid"/>
          </a:ln>
        </p:spPr>
      </p:sp>
      <p:sp>
        <p:nvSpPr>
          <p:cNvPr id="13" name="shape 9.12"/>
          <p:cNvSpPr/>
          <p:nvPr/>
        </p:nvSpPr>
        <p:spPr>
          <a:xfrm>
            <a:off x="8026199" y="4152796"/>
            <a:ext cx="3555911" cy="609585"/>
          </a:xfrm>
          <a:prstGeom prst="roundRect">
            <a:avLst>
              <a:gd name="adj" fmla="val 25000"/>
            </a:avLst>
          </a:prstGeom>
          <a:solidFill>
            <a:srgbClr val="FFFFFF"/>
          </a:solidFill>
          <a:ln w="12700">
            <a:solidFill>
              <a:srgbClr val="E4E9DD"/>
            </a:solidFill>
            <a:prstDash val="solid"/>
          </a:ln>
        </p:spPr>
      </p:sp>
      <p:sp>
        <p:nvSpPr>
          <p:cNvPr id="14" name="shape 9.13"/>
          <p:cNvSpPr/>
          <p:nvPr/>
        </p:nvSpPr>
        <p:spPr>
          <a:xfrm>
            <a:off x="609585" y="5117972"/>
            <a:ext cx="10972526" cy="406390"/>
          </a:xfrm>
          <a:prstGeom prst="roundRect">
            <a:avLst>
              <a:gd name="adj" fmla="val 37500"/>
            </a:avLst>
          </a:prstGeom>
          <a:solidFill>
            <a:srgbClr val="F1E9FF"/>
          </a:solidFill>
          <a:ln w="12700">
            <a:solidFill>
              <a:srgbClr val="E4E9DD"/>
            </a:solidFill>
            <a:prstDash val="solid"/>
          </a:ln>
        </p:spPr>
      </p:sp>
      <p:sp>
        <p:nvSpPr>
          <p:cNvPr id="15" name="shape 9.14"/>
          <p:cNvSpPr/>
          <p:nvPr/>
        </p:nvSpPr>
        <p:spPr>
          <a:xfrm>
            <a:off x="609585" y="5841854"/>
            <a:ext cx="10972526" cy="406390"/>
          </a:xfrm>
          <a:prstGeom prst="roundRect">
            <a:avLst>
              <a:gd name="adj" fmla="val 37500"/>
            </a:avLst>
          </a:prstGeom>
          <a:solidFill>
            <a:srgbClr val="FFFFFF"/>
          </a:solidFill>
          <a:ln w="12700">
            <a:solidFill>
              <a:srgbClr val="E4E9DD"/>
            </a:solidFill>
            <a:prstDash val="solid"/>
          </a:ln>
        </p:spPr>
      </p:sp>
      <p:sp>
        <p:nvSpPr>
          <p:cNvPr id="16" name="text 9.15"/>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Technical design</a:t>
            </a:r>
            <a:endParaRPr lang="en-US" sz="3000" dirty="0"/>
          </a:p>
        </p:txBody>
      </p:sp>
      <p:sp>
        <p:nvSpPr>
          <p:cNvPr id="17" name="text 9.16"/>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One shared core; </a:t>
            </a:r>
            <a:pPr algn="l" indent="0" marL="0">
              <a:lnSpc>
                <a:spcPts val="1820"/>
              </a:lnSpc>
              <a:buNone/>
            </a:pPr>
            <a:r>
              <a:rPr lang="en-US" sz="1350" b="1" dirty="0">
                <a:solidFill>
                  <a:srgbClr val="1FA9EA"/>
                </a:solidFill>
                <a:latin typeface="Arial" pitchFamily="34" charset="0"/>
                <a:ea typeface="Arial" pitchFamily="34" charset="-122"/>
                <a:cs typeface="Arial" pitchFamily="34" charset="-120"/>
              </a:rPr>
              <a:t>every mini-game plugs into it.</a:t>
            </a:r>
            <a:endParaRPr lang="en-US" sz="1350" dirty="0"/>
          </a:p>
        </p:txBody>
      </p:sp>
      <p:sp>
        <p:nvSpPr>
          <p:cNvPr id="18" name="text 9.17"/>
          <p:cNvSpPr txBox="1"/>
          <p:nvPr/>
        </p:nvSpPr>
        <p:spPr>
          <a:xfrm>
            <a:off x="609585" y="1790655"/>
            <a:ext cx="75246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MINI-GAMES</a:t>
            </a:r>
            <a:endParaRPr lang="en-US" sz="700" dirty="0"/>
          </a:p>
        </p:txBody>
      </p:sp>
      <p:sp>
        <p:nvSpPr>
          <p:cNvPr id="19" name="text 9.18"/>
          <p:cNvSpPr txBox="1"/>
          <p:nvPr/>
        </p:nvSpPr>
        <p:spPr>
          <a:xfrm>
            <a:off x="609585" y="1955751"/>
            <a:ext cx="2095448" cy="444489"/>
          </a:xfrm>
          <a:prstGeom prst="rect">
            <a:avLst/>
          </a:prstGeom>
          <a:noFill/>
          <a:ln/>
        </p:spPr>
        <p:txBody>
          <a:bodyPr wrap="square" lIns="0" tIns="0" rIns="0" bIns="0" rtlCol="0" anchor="ctr"/>
          <a:lstStyle/>
          <a:p>
            <a:pPr algn="ctr" indent="0" marL="0">
              <a:lnSpc>
                <a:spcPts val="1210"/>
              </a:lnSpc>
              <a:buNone/>
            </a:pPr>
            <a:r>
              <a:rPr lang="en-US" sz="1050" b="1" dirty="0">
                <a:solidFill>
                  <a:srgbClr val="FF6B1F"/>
                </a:solidFill>
                <a:latin typeface="Arial" pitchFamily="34" charset="0"/>
                <a:ea typeface="Arial" pitchFamily="34" charset="-122"/>
                <a:cs typeface="Arial" pitchFamily="34" charset="-120"/>
              </a:rPr>
              <a:t>Knockback Arena</a:t>
            </a:r>
            <a:endParaRPr lang="en-US" sz="1050" dirty="0"/>
          </a:p>
        </p:txBody>
      </p:sp>
      <p:sp>
        <p:nvSpPr>
          <p:cNvPr id="20" name="text 9.19"/>
          <p:cNvSpPr txBox="1"/>
          <p:nvPr/>
        </p:nvSpPr>
        <p:spPr>
          <a:xfrm>
            <a:off x="2832029" y="1955751"/>
            <a:ext cx="2095448" cy="444489"/>
          </a:xfrm>
          <a:prstGeom prst="rect">
            <a:avLst/>
          </a:prstGeom>
          <a:noFill/>
          <a:ln/>
        </p:spPr>
        <p:txBody>
          <a:bodyPr wrap="square" lIns="0" tIns="0" rIns="0" bIns="0" rtlCol="0" anchor="ctr"/>
          <a:lstStyle/>
          <a:p>
            <a:pPr algn="ctr" indent="0" marL="0">
              <a:lnSpc>
                <a:spcPts val="1210"/>
              </a:lnSpc>
              <a:buNone/>
            </a:pPr>
            <a:r>
              <a:rPr lang="en-US" sz="1050" b="1" dirty="0">
                <a:solidFill>
                  <a:srgbClr val="8F55F5"/>
                </a:solidFill>
                <a:latin typeface="Arial" pitchFamily="34" charset="0"/>
                <a:ea typeface="Arial" pitchFamily="34" charset="-122"/>
                <a:cs typeface="Arial" pitchFamily="34" charset="-120"/>
              </a:rPr>
              <a:t>Blast Parkour</a:t>
            </a:r>
            <a:endParaRPr lang="en-US" sz="1050" dirty="0"/>
          </a:p>
        </p:txBody>
      </p:sp>
      <p:sp>
        <p:nvSpPr>
          <p:cNvPr id="21" name="text 9.20"/>
          <p:cNvSpPr txBox="1"/>
          <p:nvPr/>
        </p:nvSpPr>
        <p:spPr>
          <a:xfrm>
            <a:off x="5054474" y="1955751"/>
            <a:ext cx="2095448" cy="444489"/>
          </a:xfrm>
          <a:prstGeom prst="rect">
            <a:avLst/>
          </a:prstGeom>
          <a:noFill/>
          <a:ln/>
        </p:spPr>
        <p:txBody>
          <a:bodyPr wrap="square" lIns="0" tIns="0" rIns="0" bIns="0" rtlCol="0" anchor="ctr"/>
          <a:lstStyle/>
          <a:p>
            <a:pPr algn="ctr" indent="0" marL="0">
              <a:lnSpc>
                <a:spcPts val="1210"/>
              </a:lnSpc>
              <a:buNone/>
            </a:pPr>
            <a:r>
              <a:rPr lang="en-US" sz="1050" b="1" dirty="0">
                <a:solidFill>
                  <a:srgbClr val="1FA9EA"/>
                </a:solidFill>
                <a:latin typeface="Arial" pitchFamily="34" charset="0"/>
                <a:ea typeface="Arial" pitchFamily="34" charset="-122"/>
                <a:cs typeface="Arial" pitchFamily="34" charset="-120"/>
              </a:rPr>
              <a:t>Ice Loop</a:t>
            </a:r>
            <a:endParaRPr lang="en-US" sz="1050" dirty="0"/>
          </a:p>
        </p:txBody>
      </p:sp>
      <p:sp>
        <p:nvSpPr>
          <p:cNvPr id="22" name="text 9.21"/>
          <p:cNvSpPr txBox="1"/>
          <p:nvPr/>
        </p:nvSpPr>
        <p:spPr>
          <a:xfrm>
            <a:off x="7276918" y="1955751"/>
            <a:ext cx="2095448" cy="444489"/>
          </a:xfrm>
          <a:prstGeom prst="rect">
            <a:avLst/>
          </a:prstGeom>
          <a:noFill/>
          <a:ln/>
        </p:spPr>
        <p:txBody>
          <a:bodyPr wrap="square" lIns="0" tIns="0" rIns="0" bIns="0" rtlCol="0" anchor="ctr"/>
          <a:lstStyle/>
          <a:p>
            <a:pPr algn="ctr" indent="0" marL="0">
              <a:lnSpc>
                <a:spcPts val="1210"/>
              </a:lnSpc>
              <a:buNone/>
            </a:pPr>
            <a:r>
              <a:rPr lang="en-US" sz="1050" b="1" dirty="0">
                <a:solidFill>
                  <a:srgbClr val="43B832"/>
                </a:solidFill>
                <a:latin typeface="Arial" pitchFamily="34" charset="0"/>
                <a:ea typeface="Arial" pitchFamily="34" charset="-122"/>
                <a:cs typeface="Arial" pitchFamily="34" charset="-120"/>
              </a:rPr>
              <a:t>Hole Grab</a:t>
            </a:r>
            <a:endParaRPr lang="en-US" sz="1050" dirty="0"/>
          </a:p>
        </p:txBody>
      </p:sp>
      <p:sp>
        <p:nvSpPr>
          <p:cNvPr id="23" name="text 9.22"/>
          <p:cNvSpPr txBox="1"/>
          <p:nvPr/>
        </p:nvSpPr>
        <p:spPr>
          <a:xfrm>
            <a:off x="9499363" y="1955751"/>
            <a:ext cx="2095448" cy="444489"/>
          </a:xfrm>
          <a:prstGeom prst="rect">
            <a:avLst/>
          </a:prstGeom>
          <a:noFill/>
          <a:ln/>
        </p:spPr>
        <p:txBody>
          <a:bodyPr wrap="square" lIns="0" tIns="0" rIns="0" bIns="0" rtlCol="0" anchor="ctr"/>
          <a:lstStyle/>
          <a:p>
            <a:pPr algn="ctr" indent="0" marL="0">
              <a:lnSpc>
                <a:spcPts val="1210"/>
              </a:lnSpc>
              <a:buNone/>
            </a:pPr>
            <a:r>
              <a:rPr lang="en-US" sz="1050" b="1" dirty="0">
                <a:solidFill>
                  <a:srgbClr val="A9B0BF"/>
                </a:solidFill>
                <a:latin typeface="Arial" pitchFamily="34" charset="0"/>
                <a:ea typeface="Arial" pitchFamily="34" charset="-122"/>
                <a:cs typeface="Arial" pitchFamily="34" charset="-120"/>
              </a:rPr>
              <a:t>Next one</a:t>
            </a:r>
            <a:endParaRPr lang="en-US" sz="1050" dirty="0"/>
          </a:p>
        </p:txBody>
      </p:sp>
      <p:sp>
        <p:nvSpPr>
          <p:cNvPr id="24" name="text 9.23"/>
          <p:cNvSpPr txBox="1"/>
          <p:nvPr/>
        </p:nvSpPr>
        <p:spPr>
          <a:xfrm>
            <a:off x="609585" y="2552636"/>
            <a:ext cx="682735"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CONTRACT</a:t>
            </a:r>
            <a:endParaRPr lang="en-US" sz="700" dirty="0"/>
          </a:p>
        </p:txBody>
      </p:sp>
      <p:sp>
        <p:nvSpPr>
          <p:cNvPr id="25" name="text 9.24"/>
          <p:cNvSpPr txBox="1"/>
          <p:nvPr/>
        </p:nvSpPr>
        <p:spPr>
          <a:xfrm>
            <a:off x="609585" y="2717732"/>
            <a:ext cx="10972526" cy="406390"/>
          </a:xfrm>
          <a:prstGeom prst="rect">
            <a:avLst/>
          </a:prstGeom>
          <a:noFill/>
          <a:ln/>
        </p:spPr>
        <p:txBody>
          <a:bodyPr wrap="square" lIns="0" tIns="0" rIns="0" bIns="0" rtlCol="0" anchor="ctr"/>
          <a:lstStyle/>
          <a:p>
            <a:pPr algn="ctr" indent="0" marL="0">
              <a:lnSpc>
                <a:spcPts val="1210"/>
              </a:lnSpc>
              <a:buNone/>
            </a:pPr>
            <a:r>
              <a:rPr lang="en-US" sz="1050" b="1" dirty="0">
                <a:solidFill>
                  <a:srgbClr val="8A6200"/>
                </a:solidFill>
                <a:latin typeface="Arial" pitchFamily="34" charset="0"/>
                <a:ea typeface="Arial" pitchFamily="34" charset="-122"/>
                <a:cs typeface="Arial" pitchFamily="34" charset="-120"/>
              </a:rPr>
              <a:t>Setup(players, settings) → Run() → Results() : placement</a:t>
            </a:r>
            <a:endParaRPr lang="en-US" sz="1050" dirty="0"/>
          </a:p>
        </p:txBody>
      </p:sp>
      <p:sp>
        <p:nvSpPr>
          <p:cNvPr id="26" name="text 9.25"/>
          <p:cNvSpPr txBox="1"/>
          <p:nvPr/>
        </p:nvSpPr>
        <p:spPr>
          <a:xfrm>
            <a:off x="609585" y="3276518"/>
            <a:ext cx="11826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SHARED GAMEPLAY</a:t>
            </a:r>
            <a:endParaRPr lang="en-US" sz="700" dirty="0"/>
          </a:p>
        </p:txBody>
      </p:sp>
      <p:sp>
        <p:nvSpPr>
          <p:cNvPr id="27" name="text 9.26"/>
          <p:cNvSpPr txBox="1"/>
          <p:nvPr/>
        </p:nvSpPr>
        <p:spPr>
          <a:xfrm>
            <a:off x="609585" y="3530512"/>
            <a:ext cx="3555911" cy="175256"/>
          </a:xfrm>
          <a:prstGeom prst="rect">
            <a:avLst/>
          </a:prstGeom>
          <a:noFill/>
          <a:ln/>
        </p:spPr>
        <p:txBody>
          <a:bodyPr wrap="square" lIns="0" tIns="0" rIns="0" bIns="0" rtlCol="0" anchor="t"/>
          <a:lstStyle/>
          <a:p>
            <a:pPr algn="ctr" indent="0" marL="0">
              <a:lnSpc>
                <a:spcPts val="1380"/>
              </a:lnSpc>
              <a:buNone/>
            </a:pPr>
            <a:r>
              <a:rPr lang="en-US" sz="1200" dirty="0">
                <a:solidFill>
                  <a:srgbClr val="1B2340"/>
                </a:solidFill>
                <a:latin typeface="Arial Rounded MT Bold" pitchFamily="34" charset="0"/>
                <a:ea typeface="Arial Rounded MT Bold" pitchFamily="34" charset="-122"/>
                <a:cs typeface="Arial Rounded MT Bold" pitchFamily="34" charset="-120"/>
              </a:rPr>
              <a:t>Cube controller</a:t>
            </a:r>
            <a:endParaRPr lang="en-US" sz="1200" dirty="0"/>
          </a:p>
        </p:txBody>
      </p:sp>
      <p:sp>
        <p:nvSpPr>
          <p:cNvPr id="28" name="text 9.27"/>
          <p:cNvSpPr txBox="1"/>
          <p:nvPr/>
        </p:nvSpPr>
        <p:spPr>
          <a:xfrm>
            <a:off x="609585" y="3759106"/>
            <a:ext cx="3555911" cy="151126"/>
          </a:xfrm>
          <a:prstGeom prst="rect">
            <a:avLst/>
          </a:prstGeom>
          <a:noFill/>
          <a:ln/>
        </p:spPr>
        <p:txBody>
          <a:bodyPr wrap="square" lIns="0" tIns="0" rIns="0" bIns="0" rtlCol="0" anchor="t"/>
          <a:lstStyle/>
          <a:p>
            <a:pPr algn="ctr" indent="0" marL="0">
              <a:lnSpc>
                <a:spcPts val="1190"/>
              </a:lnSpc>
              <a:buNone/>
            </a:pPr>
            <a:r>
              <a:rPr lang="en-US" sz="850" dirty="0">
                <a:solidFill>
                  <a:srgbClr val="3E475E"/>
                </a:solidFill>
                <a:latin typeface="Arial" pitchFamily="34" charset="0"/>
                <a:ea typeface="Arial" pitchFamily="34" charset="-122"/>
                <a:cs typeface="Arial" pitchFamily="34" charset="-120"/>
              </a:rPr>
              <a:t>WASD, jump</a:t>
            </a:r>
            <a:endParaRPr lang="en-US" sz="850" dirty="0"/>
          </a:p>
        </p:txBody>
      </p:sp>
      <p:sp>
        <p:nvSpPr>
          <p:cNvPr id="29" name="text 9.28"/>
          <p:cNvSpPr txBox="1"/>
          <p:nvPr/>
        </p:nvSpPr>
        <p:spPr>
          <a:xfrm>
            <a:off x="4317892" y="3530512"/>
            <a:ext cx="3555911" cy="175256"/>
          </a:xfrm>
          <a:prstGeom prst="rect">
            <a:avLst/>
          </a:prstGeom>
          <a:noFill/>
          <a:ln/>
        </p:spPr>
        <p:txBody>
          <a:bodyPr wrap="square" lIns="0" tIns="0" rIns="0" bIns="0" rtlCol="0" anchor="t"/>
          <a:lstStyle/>
          <a:p>
            <a:pPr algn="ctr" indent="0" marL="0">
              <a:lnSpc>
                <a:spcPts val="1380"/>
              </a:lnSpc>
              <a:buNone/>
            </a:pPr>
            <a:r>
              <a:rPr lang="en-US" sz="1200" dirty="0">
                <a:solidFill>
                  <a:srgbClr val="1B2340"/>
                </a:solidFill>
                <a:latin typeface="Arial Rounded MT Bold" pitchFamily="34" charset="0"/>
                <a:ea typeface="Arial Rounded MT Bold" pitchFamily="34" charset="-122"/>
                <a:cs typeface="Arial Rounded MT Bold" pitchFamily="34" charset="-120"/>
              </a:rPr>
              <a:t>TPS camera</a:t>
            </a:r>
            <a:endParaRPr lang="en-US" sz="1200" dirty="0"/>
          </a:p>
        </p:txBody>
      </p:sp>
      <p:sp>
        <p:nvSpPr>
          <p:cNvPr id="30" name="text 9.29"/>
          <p:cNvSpPr txBox="1"/>
          <p:nvPr/>
        </p:nvSpPr>
        <p:spPr>
          <a:xfrm>
            <a:off x="4317892" y="3759106"/>
            <a:ext cx="3555911" cy="151126"/>
          </a:xfrm>
          <a:prstGeom prst="rect">
            <a:avLst/>
          </a:prstGeom>
          <a:noFill/>
          <a:ln/>
        </p:spPr>
        <p:txBody>
          <a:bodyPr wrap="square" lIns="0" tIns="0" rIns="0" bIns="0" rtlCol="0" anchor="t"/>
          <a:lstStyle/>
          <a:p>
            <a:pPr algn="ctr" indent="0" marL="0">
              <a:lnSpc>
                <a:spcPts val="1190"/>
              </a:lnSpc>
              <a:buNone/>
            </a:pPr>
            <a:r>
              <a:rPr lang="en-US" sz="850" dirty="0">
                <a:solidFill>
                  <a:srgbClr val="3E475E"/>
                </a:solidFill>
                <a:latin typeface="Arial" pitchFamily="34" charset="0"/>
                <a:ea typeface="Arial" pitchFamily="34" charset="-122"/>
                <a:cs typeface="Arial" pitchFamily="34" charset="-120"/>
              </a:rPr>
              <a:t>per-game override</a:t>
            </a:r>
            <a:endParaRPr lang="en-US" sz="850" dirty="0"/>
          </a:p>
        </p:txBody>
      </p:sp>
      <p:sp>
        <p:nvSpPr>
          <p:cNvPr id="31" name="text 9.30"/>
          <p:cNvSpPr txBox="1"/>
          <p:nvPr/>
        </p:nvSpPr>
        <p:spPr>
          <a:xfrm>
            <a:off x="8026199" y="3530512"/>
            <a:ext cx="3555911" cy="175256"/>
          </a:xfrm>
          <a:prstGeom prst="rect">
            <a:avLst/>
          </a:prstGeom>
          <a:noFill/>
          <a:ln/>
        </p:spPr>
        <p:txBody>
          <a:bodyPr wrap="square" lIns="0" tIns="0" rIns="0" bIns="0" rtlCol="0" anchor="t"/>
          <a:lstStyle/>
          <a:p>
            <a:pPr algn="ctr" indent="0" marL="0">
              <a:lnSpc>
                <a:spcPts val="1380"/>
              </a:lnSpc>
              <a:buNone/>
            </a:pPr>
            <a:r>
              <a:rPr lang="en-US" sz="1200" dirty="0">
                <a:solidFill>
                  <a:srgbClr val="1B2340"/>
                </a:solidFill>
                <a:latin typeface="Arial Rounded MT Bold" pitchFamily="34" charset="0"/>
                <a:ea typeface="Arial Rounded MT Bold" pitchFamily="34" charset="-122"/>
                <a:cs typeface="Arial Rounded MT Bold" pitchFamily="34" charset="-120"/>
              </a:rPr>
              <a:t>Shot system</a:t>
            </a:r>
            <a:endParaRPr lang="en-US" sz="1200" dirty="0"/>
          </a:p>
        </p:txBody>
      </p:sp>
      <p:sp>
        <p:nvSpPr>
          <p:cNvPr id="32" name="text 9.31"/>
          <p:cNvSpPr txBox="1"/>
          <p:nvPr/>
        </p:nvSpPr>
        <p:spPr>
          <a:xfrm>
            <a:off x="8026199" y="3759106"/>
            <a:ext cx="3555911" cy="151126"/>
          </a:xfrm>
          <a:prstGeom prst="rect">
            <a:avLst/>
          </a:prstGeom>
          <a:noFill/>
          <a:ln/>
        </p:spPr>
        <p:txBody>
          <a:bodyPr wrap="square" lIns="0" tIns="0" rIns="0" bIns="0" rtlCol="0" anchor="t"/>
          <a:lstStyle/>
          <a:p>
            <a:pPr algn="ctr" indent="0" marL="0">
              <a:lnSpc>
                <a:spcPts val="1190"/>
              </a:lnSpc>
              <a:buNone/>
            </a:pPr>
            <a:r>
              <a:rPr lang="en-US" sz="850" dirty="0">
                <a:solidFill>
                  <a:srgbClr val="3E475E"/>
                </a:solidFill>
                <a:latin typeface="Arial" pitchFamily="34" charset="0"/>
                <a:ea typeface="Arial" pitchFamily="34" charset="-122"/>
                <a:cs typeface="Arial" pitchFamily="34" charset="-120"/>
              </a:rPr>
              <a:t>effect set per game</a:t>
            </a:r>
            <a:endParaRPr lang="en-US" sz="850" dirty="0"/>
          </a:p>
        </p:txBody>
      </p:sp>
      <p:sp>
        <p:nvSpPr>
          <p:cNvPr id="33" name="text 9.32"/>
          <p:cNvSpPr txBox="1"/>
          <p:nvPr/>
        </p:nvSpPr>
        <p:spPr>
          <a:xfrm>
            <a:off x="609585" y="4241694"/>
            <a:ext cx="3555911" cy="175256"/>
          </a:xfrm>
          <a:prstGeom prst="rect">
            <a:avLst/>
          </a:prstGeom>
          <a:noFill/>
          <a:ln/>
        </p:spPr>
        <p:txBody>
          <a:bodyPr wrap="square" lIns="0" tIns="0" rIns="0" bIns="0" rtlCol="0" anchor="t"/>
          <a:lstStyle/>
          <a:p>
            <a:pPr algn="ctr" indent="0" marL="0">
              <a:lnSpc>
                <a:spcPts val="1380"/>
              </a:lnSpc>
              <a:buNone/>
            </a:pPr>
            <a:r>
              <a:rPr lang="en-US" sz="1200" dirty="0">
                <a:solidFill>
                  <a:srgbClr val="1B2340"/>
                </a:solidFill>
                <a:latin typeface="Arial Rounded MT Bold" pitchFamily="34" charset="0"/>
                <a:ea typeface="Arial Rounded MT Bold" pitchFamily="34" charset="-122"/>
                <a:cs typeface="Arial Rounded MT Bold" pitchFamily="34" charset="-120"/>
              </a:rPr>
              <a:t>Session &amp; playlist</a:t>
            </a:r>
            <a:endParaRPr lang="en-US" sz="1200" dirty="0"/>
          </a:p>
        </p:txBody>
      </p:sp>
      <p:sp>
        <p:nvSpPr>
          <p:cNvPr id="34" name="text 9.33"/>
          <p:cNvSpPr txBox="1"/>
          <p:nvPr/>
        </p:nvSpPr>
        <p:spPr>
          <a:xfrm>
            <a:off x="609585" y="4470288"/>
            <a:ext cx="3555911" cy="151126"/>
          </a:xfrm>
          <a:prstGeom prst="rect">
            <a:avLst/>
          </a:prstGeom>
          <a:noFill/>
          <a:ln/>
        </p:spPr>
        <p:txBody>
          <a:bodyPr wrap="square" lIns="0" tIns="0" rIns="0" bIns="0" rtlCol="0" anchor="t"/>
          <a:lstStyle/>
          <a:p>
            <a:pPr algn="ctr" indent="0" marL="0">
              <a:lnSpc>
                <a:spcPts val="1190"/>
              </a:lnSpc>
              <a:buNone/>
            </a:pPr>
            <a:r>
              <a:rPr lang="en-US" sz="850" dirty="0">
                <a:solidFill>
                  <a:srgbClr val="3E475E"/>
                </a:solidFill>
                <a:latin typeface="Arial" pitchFamily="34" charset="0"/>
                <a:ea typeface="Arial" pitchFamily="34" charset="-122"/>
                <a:cs typeface="Arial" pitchFamily="34" charset="-120"/>
              </a:rPr>
              <a:t>end rules, exclusions</a:t>
            </a:r>
            <a:endParaRPr lang="en-US" sz="850" dirty="0"/>
          </a:p>
        </p:txBody>
      </p:sp>
      <p:sp>
        <p:nvSpPr>
          <p:cNvPr id="35" name="text 9.34"/>
          <p:cNvSpPr txBox="1"/>
          <p:nvPr/>
        </p:nvSpPr>
        <p:spPr>
          <a:xfrm>
            <a:off x="4317892" y="4241694"/>
            <a:ext cx="3555911" cy="175256"/>
          </a:xfrm>
          <a:prstGeom prst="rect">
            <a:avLst/>
          </a:prstGeom>
          <a:noFill/>
          <a:ln/>
        </p:spPr>
        <p:txBody>
          <a:bodyPr wrap="square" lIns="0" tIns="0" rIns="0" bIns="0" rtlCol="0" anchor="t"/>
          <a:lstStyle/>
          <a:p>
            <a:pPr algn="ctr" indent="0" marL="0">
              <a:lnSpc>
                <a:spcPts val="1380"/>
              </a:lnSpc>
              <a:buNone/>
            </a:pPr>
            <a:r>
              <a:rPr lang="en-US" sz="1200" dirty="0">
                <a:solidFill>
                  <a:srgbClr val="1B2340"/>
                </a:solidFill>
                <a:latin typeface="Arial Rounded MT Bold" pitchFamily="34" charset="0"/>
                <a:ea typeface="Arial Rounded MT Bold" pitchFamily="34" charset="-122"/>
                <a:cs typeface="Arial Rounded MT Bold" pitchFamily="34" charset="-120"/>
              </a:rPr>
              <a:t>Scoreboard</a:t>
            </a:r>
            <a:endParaRPr lang="en-US" sz="1200" dirty="0"/>
          </a:p>
        </p:txBody>
      </p:sp>
      <p:sp>
        <p:nvSpPr>
          <p:cNvPr id="36" name="text 9.35"/>
          <p:cNvSpPr txBox="1"/>
          <p:nvPr/>
        </p:nvSpPr>
        <p:spPr>
          <a:xfrm>
            <a:off x="4317892" y="4470288"/>
            <a:ext cx="3555911" cy="151126"/>
          </a:xfrm>
          <a:prstGeom prst="rect">
            <a:avLst/>
          </a:prstGeom>
          <a:noFill/>
          <a:ln/>
        </p:spPr>
        <p:txBody>
          <a:bodyPr wrap="square" lIns="0" tIns="0" rIns="0" bIns="0" rtlCol="0" anchor="t"/>
          <a:lstStyle/>
          <a:p>
            <a:pPr algn="ctr" indent="0" marL="0">
              <a:lnSpc>
                <a:spcPts val="1190"/>
              </a:lnSpc>
              <a:buNone/>
            </a:pPr>
            <a:r>
              <a:rPr lang="en-US" sz="850" dirty="0">
                <a:solidFill>
                  <a:srgbClr val="3E475E"/>
                </a:solidFill>
                <a:latin typeface="Arial" pitchFamily="34" charset="0"/>
                <a:ea typeface="Arial" pitchFamily="34" charset="-122"/>
                <a:cs typeface="Arial" pitchFamily="34" charset="-120"/>
              </a:rPr>
              <a:t>placement to points</a:t>
            </a:r>
            <a:endParaRPr lang="en-US" sz="850" dirty="0"/>
          </a:p>
        </p:txBody>
      </p:sp>
      <p:sp>
        <p:nvSpPr>
          <p:cNvPr id="37" name="text 9.36"/>
          <p:cNvSpPr txBox="1"/>
          <p:nvPr/>
        </p:nvSpPr>
        <p:spPr>
          <a:xfrm>
            <a:off x="8026199" y="4241694"/>
            <a:ext cx="3555911" cy="175256"/>
          </a:xfrm>
          <a:prstGeom prst="rect">
            <a:avLst/>
          </a:prstGeom>
          <a:noFill/>
          <a:ln/>
        </p:spPr>
        <p:txBody>
          <a:bodyPr wrap="square" lIns="0" tIns="0" rIns="0" bIns="0" rtlCol="0" anchor="t"/>
          <a:lstStyle/>
          <a:p>
            <a:pPr algn="ctr" indent="0" marL="0">
              <a:lnSpc>
                <a:spcPts val="1380"/>
              </a:lnSpc>
              <a:buNone/>
            </a:pPr>
            <a:r>
              <a:rPr lang="en-US" sz="1200" dirty="0">
                <a:solidFill>
                  <a:srgbClr val="1B2340"/>
                </a:solidFill>
                <a:latin typeface="Arial Rounded MT Bold" pitchFamily="34" charset="0"/>
                <a:ea typeface="Arial Rounded MT Bold" pitchFamily="34" charset="-122"/>
                <a:cs typeface="Arial Rounded MT Bold" pitchFamily="34" charset="-120"/>
              </a:rPr>
              <a:t>Lobby &amp; UI</a:t>
            </a:r>
            <a:endParaRPr lang="en-US" sz="1200" dirty="0"/>
          </a:p>
        </p:txBody>
      </p:sp>
      <p:sp>
        <p:nvSpPr>
          <p:cNvPr id="38" name="text 9.37"/>
          <p:cNvSpPr txBox="1"/>
          <p:nvPr/>
        </p:nvSpPr>
        <p:spPr>
          <a:xfrm>
            <a:off x="8026199" y="4470288"/>
            <a:ext cx="3555911" cy="151126"/>
          </a:xfrm>
          <a:prstGeom prst="rect">
            <a:avLst/>
          </a:prstGeom>
          <a:noFill/>
          <a:ln/>
        </p:spPr>
        <p:txBody>
          <a:bodyPr wrap="square" lIns="0" tIns="0" rIns="0" bIns="0" rtlCol="0" anchor="t"/>
          <a:lstStyle/>
          <a:p>
            <a:pPr algn="ctr" indent="0" marL="0">
              <a:lnSpc>
                <a:spcPts val="1190"/>
              </a:lnSpc>
              <a:buNone/>
            </a:pPr>
            <a:r>
              <a:rPr lang="en-US" sz="850" dirty="0">
                <a:solidFill>
                  <a:srgbClr val="3E475E"/>
                </a:solidFill>
                <a:latin typeface="Arial" pitchFamily="34" charset="0"/>
                <a:ea typeface="Arial" pitchFamily="34" charset="-122"/>
                <a:cs typeface="Arial" pitchFamily="34" charset="-120"/>
              </a:rPr>
              <a:t>join, settings, HUD</a:t>
            </a:r>
            <a:endParaRPr lang="en-US" sz="850" dirty="0"/>
          </a:p>
        </p:txBody>
      </p:sp>
      <p:sp>
        <p:nvSpPr>
          <p:cNvPr id="39" name="text 9.38"/>
          <p:cNvSpPr txBox="1"/>
          <p:nvPr/>
        </p:nvSpPr>
        <p:spPr>
          <a:xfrm>
            <a:off x="609585" y="4952876"/>
            <a:ext cx="62951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NETWORK</a:t>
            </a:r>
            <a:endParaRPr lang="en-US" sz="700" dirty="0"/>
          </a:p>
        </p:txBody>
      </p:sp>
      <p:sp>
        <p:nvSpPr>
          <p:cNvPr id="40" name="text 9.39"/>
          <p:cNvSpPr txBox="1"/>
          <p:nvPr/>
        </p:nvSpPr>
        <p:spPr>
          <a:xfrm>
            <a:off x="609585" y="5117972"/>
            <a:ext cx="10972526" cy="406390"/>
          </a:xfrm>
          <a:prstGeom prst="rect">
            <a:avLst/>
          </a:prstGeom>
          <a:noFill/>
          <a:ln/>
        </p:spPr>
        <p:txBody>
          <a:bodyPr wrap="square" lIns="0" tIns="0" rIns="0" bIns="0" rtlCol="0" anchor="ctr"/>
          <a:lstStyle/>
          <a:p>
            <a:pPr algn="ctr" indent="0" marL="0">
              <a:lnSpc>
                <a:spcPts val="1210"/>
              </a:lnSpc>
              <a:buNone/>
            </a:pPr>
            <a:r>
              <a:rPr lang="en-US" sz="1050" b="1" dirty="0">
                <a:solidFill>
                  <a:srgbClr val="8F55F5"/>
                </a:solidFill>
                <a:latin typeface="Arial" pitchFamily="34" charset="0"/>
                <a:ea typeface="Arial" pitchFamily="34" charset="-122"/>
                <a:cs typeface="Arial" pitchFamily="34" charset="-120"/>
              </a:rPr>
              <a:t>LAN · one player hosts, the others are clients · Unity Netcode (candidate)</a:t>
            </a:r>
            <a:endParaRPr lang="en-US" sz="1050" dirty="0"/>
          </a:p>
        </p:txBody>
      </p:sp>
      <p:sp>
        <p:nvSpPr>
          <p:cNvPr id="41" name="text 9.40"/>
          <p:cNvSpPr txBox="1"/>
          <p:nvPr/>
        </p:nvSpPr>
        <p:spPr>
          <a:xfrm>
            <a:off x="609585" y="5676758"/>
            <a:ext cx="49269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ENGINE</a:t>
            </a:r>
            <a:endParaRPr lang="en-US" sz="700" dirty="0"/>
          </a:p>
        </p:txBody>
      </p:sp>
      <p:sp>
        <p:nvSpPr>
          <p:cNvPr id="42" name="text 9.41"/>
          <p:cNvSpPr txBox="1"/>
          <p:nvPr/>
        </p:nvSpPr>
        <p:spPr>
          <a:xfrm>
            <a:off x="609585" y="5841854"/>
            <a:ext cx="10972526" cy="406390"/>
          </a:xfrm>
          <a:prstGeom prst="rect">
            <a:avLst/>
          </a:prstGeom>
          <a:noFill/>
          <a:ln/>
        </p:spPr>
        <p:txBody>
          <a:bodyPr wrap="square" lIns="0" tIns="0" rIns="0" bIns="0" rtlCol="0" anchor="ctr"/>
          <a:lstStyle/>
          <a:p>
            <a:pPr algn="ctr" indent="0" marL="0">
              <a:lnSpc>
                <a:spcPts val="1210"/>
              </a:lnSpc>
              <a:buNone/>
            </a:pPr>
            <a:r>
              <a:rPr lang="en-US" sz="1050" b="1" dirty="0">
                <a:solidFill>
                  <a:srgbClr val="6F778C"/>
                </a:solidFill>
                <a:latin typeface="Arial" pitchFamily="34" charset="0"/>
                <a:ea typeface="Arial" pitchFamily="34" charset="-122"/>
                <a:cs typeface="Arial" pitchFamily="34" charset="-120"/>
              </a:rPr>
              <a:t>Unity · built-in rigidbody physics</a:t>
            </a:r>
            <a:endParaRPr lang="en-US" sz="1050" dirty="0"/>
          </a:p>
        </p:txBody>
      </p:sp>
      <p:pic>
        <p:nvPicPr>
          <p:cNvPr id="43" name="raster 9.42" descr="diagram">    </p:cNvPr>
          <p:cNvPicPr>
            <a:picLocks noChangeAspect="1"/>
          </p:cNvPicPr>
          <p:nvPr/>
        </p:nvPicPr>
        <p:blipFill>
          <a:blip r:embed="rId2"/>
          <a:stretch>
            <a:fillRect/>
          </a:stretch>
        </p:blipFill>
        <p:spPr>
          <a:xfrm>
            <a:off x="609585" y="266693"/>
            <a:ext cx="190495" cy="190495"/>
          </a:xfrm>
          <a:prstGeom prst="rect">
            <a:avLst/>
          </a:prstGeom>
        </p:spPr>
      </p:pic>
      <p:sp>
        <p:nvSpPr>
          <p:cNvPr id="44" name="text 9.43"/>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45" name="text 9.44"/>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46" name="text 9.45"/>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47" name="text 9.46"/>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09 / 25</a:t>
            </a:r>
            <a:endParaRPr lang="en-US" sz="750" dirty="0"/>
          </a:p>
        </p:txBody>
      </p:sp>
      <p:sp>
        <p:nvSpPr>
          <p:cNvPr id="48" name="text 9.47"/>
          <p:cNvSpPr txBox="1"/>
          <p:nvPr/>
        </p:nvSpPr>
        <p:spPr>
          <a:xfrm>
            <a:off x="609585" y="698483"/>
            <a:ext cx="1706452"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1FA9EA"/>
                </a:solidFill>
                <a:latin typeface="Arial" pitchFamily="34" charset="0"/>
                <a:ea typeface="Arial" pitchFamily="34" charset="-122"/>
                <a:cs typeface="Arial" pitchFamily="34" charset="-120"/>
              </a:rPr>
              <a:t>02 · GAMEPLAY &amp; TECH</a:t>
            </a:r>
            <a:endParaRPr lang="en-US" sz="8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0.1"/>
          <p:cNvSpPr/>
          <p:nvPr/>
        </p:nvSpPr>
        <p:spPr>
          <a:xfrm>
            <a:off x="1015975" y="1790655"/>
            <a:ext cx="2158946" cy="584185"/>
          </a:xfrm>
          <a:prstGeom prst="roundRect">
            <a:avLst>
              <a:gd name="adj" fmla="val 26087"/>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10.2"/>
          <p:cNvSpPr/>
          <p:nvPr/>
        </p:nvSpPr>
        <p:spPr>
          <a:xfrm>
            <a:off x="5016375" y="1790655"/>
            <a:ext cx="2158946" cy="584185"/>
          </a:xfrm>
          <a:prstGeom prst="roundRect">
            <a:avLst>
              <a:gd name="adj" fmla="val 26087"/>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10.3"/>
          <p:cNvSpPr/>
          <p:nvPr/>
        </p:nvSpPr>
        <p:spPr>
          <a:xfrm>
            <a:off x="9016775" y="1790655"/>
            <a:ext cx="2158946" cy="584185"/>
          </a:xfrm>
          <a:prstGeom prst="roundRect">
            <a:avLst>
              <a:gd name="adj" fmla="val 26087"/>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10.4"/>
          <p:cNvSpPr/>
          <p:nvPr/>
        </p:nvSpPr>
        <p:spPr>
          <a:xfrm>
            <a:off x="609585" y="5587860"/>
            <a:ext cx="10972526" cy="711182"/>
          </a:xfrm>
          <a:prstGeom prst="roundRect">
            <a:avLst>
              <a:gd name="adj" fmla="val 21429"/>
            </a:avLst>
          </a:prstGeom>
          <a:solidFill>
            <a:srgbClr val="E3F2FB"/>
          </a:solidFill>
          <a:ln w="12700">
            <a:solidFill>
              <a:srgbClr val="CDE7F7"/>
            </a:solidFill>
            <a:prstDash val="solid"/>
          </a:ln>
          <a:effectLst>
            <a:outerShdw sx="100000" sy="100000" kx="0" ky="0" algn="bl" rotWithShape="0" blurRad="203200" dist="76200" dir="5400000">
              <a:srgbClr val="1E468C">
                <a:alpha val="16000"/>
              </a:srgbClr>
            </a:outerShdw>
          </a:effectLst>
        </p:spPr>
      </p:sp>
      <p:pic>
        <p:nvPicPr>
          <p:cNvPr id="6" name="raster 10.5" descr="diagram">    </p:cNvPr>
          <p:cNvPicPr>
            <a:picLocks noChangeAspect="1"/>
          </p:cNvPicPr>
          <p:nvPr/>
        </p:nvPicPr>
        <p:blipFill>
          <a:blip r:embed="rId2"/>
          <a:stretch>
            <a:fillRect/>
          </a:stretch>
        </p:blipFill>
        <p:spPr>
          <a:xfrm>
            <a:off x="2044649" y="2584385"/>
            <a:ext cx="4101997" cy="215895"/>
          </a:xfrm>
          <a:prstGeom prst="rect">
            <a:avLst/>
          </a:prstGeom>
        </p:spPr>
      </p:pic>
      <p:pic>
        <p:nvPicPr>
          <p:cNvPr id="7" name="raster 10.6" descr="diagram">    </p:cNvPr>
          <p:cNvPicPr>
            <a:picLocks noChangeAspect="1"/>
          </p:cNvPicPr>
          <p:nvPr/>
        </p:nvPicPr>
        <p:blipFill>
          <a:blip r:embed="rId3"/>
          <a:stretch>
            <a:fillRect/>
          </a:stretch>
        </p:blipFill>
        <p:spPr>
          <a:xfrm>
            <a:off x="2044649" y="4717932"/>
            <a:ext cx="4101997" cy="215895"/>
          </a:xfrm>
          <a:prstGeom prst="rect">
            <a:avLst/>
          </a:prstGeom>
        </p:spPr>
      </p:pic>
      <p:pic>
        <p:nvPicPr>
          <p:cNvPr id="8" name="raster 10.7" descr="diagram">    </p:cNvPr>
          <p:cNvPicPr>
            <a:picLocks noChangeAspect="1"/>
          </p:cNvPicPr>
          <p:nvPr/>
        </p:nvPicPr>
        <p:blipFill>
          <a:blip r:embed="rId4"/>
          <a:stretch>
            <a:fillRect/>
          </a:stretch>
        </p:blipFill>
        <p:spPr>
          <a:xfrm>
            <a:off x="6045049" y="4717932"/>
            <a:ext cx="4101997" cy="215895"/>
          </a:xfrm>
          <a:prstGeom prst="rect">
            <a:avLst/>
          </a:prstGeom>
        </p:spPr>
      </p:pic>
      <p:sp>
        <p:nvSpPr>
          <p:cNvPr id="9" name="text 10.8"/>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One shot in Knockback Arena, over the LAN</a:t>
            </a:r>
            <a:endParaRPr lang="en-US" sz="3000" dirty="0"/>
          </a:p>
        </p:txBody>
      </p:sp>
      <p:sp>
        <p:nvSpPr>
          <p:cNvPr id="10" name="text 10.9"/>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The host decides; </a:t>
            </a:r>
            <a:pPr algn="l" indent="0" marL="0">
              <a:lnSpc>
                <a:spcPts val="1820"/>
              </a:lnSpc>
              <a:buNone/>
            </a:pPr>
            <a:r>
              <a:rPr lang="en-US" sz="1350" b="1" dirty="0">
                <a:solidFill>
                  <a:srgbClr val="1FA9EA"/>
                </a:solidFill>
                <a:latin typeface="Arial" pitchFamily="34" charset="0"/>
                <a:ea typeface="Arial" pitchFamily="34" charset="-122"/>
                <a:cs typeface="Arial" pitchFamily="34" charset="-120"/>
              </a:rPr>
              <a:t>every screen agrees.</a:t>
            </a:r>
            <a:endParaRPr lang="en-US" sz="1350" dirty="0"/>
          </a:p>
        </p:txBody>
      </p:sp>
      <p:pic>
        <p:nvPicPr>
          <p:cNvPr id="11" name="raster 10.10" descr="diagram">    </p:cNvPr>
          <p:cNvPicPr>
            <a:picLocks noChangeAspect="1"/>
          </p:cNvPicPr>
          <p:nvPr/>
        </p:nvPicPr>
        <p:blipFill>
          <a:blip r:embed="rId5"/>
          <a:stretch>
            <a:fillRect/>
          </a:stretch>
        </p:blipFill>
        <p:spPr>
          <a:xfrm>
            <a:off x="1142971" y="1930352"/>
            <a:ext cx="379701" cy="292093"/>
          </a:xfrm>
          <a:prstGeom prst="rect">
            <a:avLst/>
          </a:prstGeom>
        </p:spPr>
      </p:pic>
      <p:sp>
        <p:nvSpPr>
          <p:cNvPr id="12" name="text 10.11"/>
          <p:cNvSpPr txBox="1"/>
          <p:nvPr/>
        </p:nvSpPr>
        <p:spPr>
          <a:xfrm>
            <a:off x="1625559" y="1904952"/>
            <a:ext cx="1562061" cy="190495"/>
          </a:xfrm>
          <a:prstGeom prst="rect">
            <a:avLst/>
          </a:prstGeom>
          <a:noFill/>
          <a:ln/>
        </p:spPr>
        <p:txBody>
          <a:bodyPr wrap="square" lIns="0" tIns="0" rIns="0" bIns="0" rtlCol="0" anchor="t"/>
          <a:lstStyle/>
          <a:p>
            <a:pPr algn="l" indent="0" marL="0">
              <a:lnSpc>
                <a:spcPts val="1500"/>
              </a:lnSpc>
              <a:buNone/>
            </a:pPr>
            <a:r>
              <a:rPr lang="en-US" sz="1500" dirty="0">
                <a:solidFill>
                  <a:srgbClr val="FF6B1F"/>
                </a:solidFill>
                <a:latin typeface="Arial Rounded MT Bold" pitchFamily="34" charset="0"/>
                <a:ea typeface="Arial Rounded MT Bold" pitchFamily="34" charset="-122"/>
                <a:cs typeface="Arial Rounded MT Bold" pitchFamily="34" charset="-120"/>
              </a:rPr>
              <a:t>Client A</a:t>
            </a:r>
            <a:endParaRPr lang="en-US" sz="1500" dirty="0"/>
          </a:p>
        </p:txBody>
      </p:sp>
      <p:sp>
        <p:nvSpPr>
          <p:cNvPr id="13" name="text 10.12"/>
          <p:cNvSpPr txBox="1"/>
          <p:nvPr/>
        </p:nvSpPr>
        <p:spPr>
          <a:xfrm>
            <a:off x="1625559" y="2146246"/>
            <a:ext cx="1562061"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shooter</a:t>
            </a:r>
            <a:endParaRPr lang="en-US" sz="850" dirty="0"/>
          </a:p>
        </p:txBody>
      </p:sp>
      <p:sp>
        <p:nvSpPr>
          <p:cNvPr id="14" name="shape 10.13"/>
          <p:cNvSpPr/>
          <p:nvPr/>
        </p:nvSpPr>
        <p:spPr>
          <a:xfrm>
            <a:off x="2089098" y="2374841"/>
            <a:ext cx="12700" cy="3073323"/>
          </a:xfrm>
          <a:prstGeom prst="rect">
            <a:avLst/>
          </a:prstGeom>
          <a:solidFill>
            <a:srgbClr val="C9CFC0"/>
          </a:solidFill>
          <a:ln/>
        </p:spPr>
      </p:sp>
      <p:sp>
        <p:nvSpPr>
          <p:cNvPr id="15" name="text 10.14"/>
          <p:cNvSpPr txBox="1"/>
          <p:nvPr/>
        </p:nvSpPr>
        <p:spPr>
          <a:xfrm>
            <a:off x="5016375" y="1904952"/>
            <a:ext cx="2158946" cy="190495"/>
          </a:xfrm>
          <a:prstGeom prst="rect">
            <a:avLst/>
          </a:prstGeom>
          <a:noFill/>
          <a:ln/>
        </p:spPr>
        <p:txBody>
          <a:bodyPr wrap="square" lIns="0" tIns="0" rIns="0" bIns="0" rtlCol="0" anchor="t"/>
          <a:lstStyle/>
          <a:p>
            <a:pPr algn="ctr" indent="0" marL="0">
              <a:lnSpc>
                <a:spcPts val="1500"/>
              </a:lnSpc>
              <a:buNone/>
            </a:pPr>
            <a:r>
              <a:rPr lang="en-US" sz="1500" dirty="0">
                <a:solidFill>
                  <a:srgbClr val="1B2340"/>
                </a:solidFill>
                <a:latin typeface="Arial Rounded MT Bold" pitchFamily="34" charset="0"/>
                <a:ea typeface="Arial Rounded MT Bold" pitchFamily="34" charset="-122"/>
                <a:cs typeface="Arial Rounded MT Bold" pitchFamily="34" charset="-120"/>
              </a:rPr>
              <a:t>Host</a:t>
            </a:r>
            <a:endParaRPr lang="en-US" sz="1500" dirty="0"/>
          </a:p>
        </p:txBody>
      </p:sp>
      <p:sp>
        <p:nvSpPr>
          <p:cNvPr id="16" name="text 10.15"/>
          <p:cNvSpPr txBox="1"/>
          <p:nvPr/>
        </p:nvSpPr>
        <p:spPr>
          <a:xfrm>
            <a:off x="5016375" y="2146246"/>
            <a:ext cx="2158946" cy="151126"/>
          </a:xfrm>
          <a:prstGeom prst="rect">
            <a:avLst/>
          </a:prstGeom>
          <a:noFill/>
          <a:ln/>
        </p:spPr>
        <p:txBody>
          <a:bodyPr wrap="square" lIns="0" tIns="0" rIns="0" bIns="0" rtlCol="0" anchor="t"/>
          <a:lstStyle/>
          <a:p>
            <a:pPr algn="ctr" indent="0" marL="0">
              <a:lnSpc>
                <a:spcPts val="1190"/>
              </a:lnSpc>
              <a:buNone/>
            </a:pPr>
            <a:r>
              <a:rPr lang="en-US" sz="850" dirty="0">
                <a:solidFill>
                  <a:srgbClr val="6F778C"/>
                </a:solidFill>
                <a:latin typeface="Arial" pitchFamily="34" charset="0"/>
                <a:ea typeface="Arial" pitchFamily="34" charset="-122"/>
                <a:cs typeface="Arial" pitchFamily="34" charset="-120"/>
              </a:rPr>
              <a:t>runs the physics</a:t>
            </a:r>
            <a:endParaRPr lang="en-US" sz="850" dirty="0"/>
          </a:p>
        </p:txBody>
      </p:sp>
      <p:sp>
        <p:nvSpPr>
          <p:cNvPr id="17" name="shape 10.16"/>
          <p:cNvSpPr/>
          <p:nvPr/>
        </p:nvSpPr>
        <p:spPr>
          <a:xfrm>
            <a:off x="6089498" y="2374841"/>
            <a:ext cx="12700" cy="3073323"/>
          </a:xfrm>
          <a:prstGeom prst="rect">
            <a:avLst/>
          </a:prstGeom>
          <a:solidFill>
            <a:srgbClr val="C9CFC0"/>
          </a:solidFill>
          <a:ln/>
        </p:spPr>
      </p:sp>
      <p:pic>
        <p:nvPicPr>
          <p:cNvPr id="18" name="raster 10.17" descr="diagram">    </p:cNvPr>
          <p:cNvPicPr>
            <a:picLocks noChangeAspect="1"/>
          </p:cNvPicPr>
          <p:nvPr/>
        </p:nvPicPr>
        <p:blipFill>
          <a:blip r:embed="rId6"/>
          <a:stretch>
            <a:fillRect/>
          </a:stretch>
        </p:blipFill>
        <p:spPr>
          <a:xfrm>
            <a:off x="9143771" y="1930352"/>
            <a:ext cx="379701" cy="292093"/>
          </a:xfrm>
          <a:prstGeom prst="rect">
            <a:avLst/>
          </a:prstGeom>
        </p:spPr>
      </p:pic>
      <p:sp>
        <p:nvSpPr>
          <p:cNvPr id="19" name="text 10.18"/>
          <p:cNvSpPr txBox="1"/>
          <p:nvPr/>
        </p:nvSpPr>
        <p:spPr>
          <a:xfrm>
            <a:off x="9626359" y="1904952"/>
            <a:ext cx="1562061" cy="190495"/>
          </a:xfrm>
          <a:prstGeom prst="rect">
            <a:avLst/>
          </a:prstGeom>
          <a:noFill/>
          <a:ln/>
        </p:spPr>
        <p:txBody>
          <a:bodyPr wrap="square" lIns="0" tIns="0" rIns="0" bIns="0" rtlCol="0" anchor="t"/>
          <a:lstStyle/>
          <a:p>
            <a:pPr algn="l" indent="0" marL="0">
              <a:lnSpc>
                <a:spcPts val="1500"/>
              </a:lnSpc>
              <a:buNone/>
            </a:pPr>
            <a:r>
              <a:rPr lang="en-US" sz="1500" dirty="0">
                <a:solidFill>
                  <a:srgbClr val="1FA9EA"/>
                </a:solidFill>
                <a:latin typeface="Arial Rounded MT Bold" pitchFamily="34" charset="0"/>
                <a:ea typeface="Arial Rounded MT Bold" pitchFamily="34" charset="-122"/>
                <a:cs typeface="Arial Rounded MT Bold" pitchFamily="34" charset="-120"/>
              </a:rPr>
              <a:t>Client B</a:t>
            </a:r>
            <a:endParaRPr lang="en-US" sz="1500" dirty="0"/>
          </a:p>
        </p:txBody>
      </p:sp>
      <p:sp>
        <p:nvSpPr>
          <p:cNvPr id="20" name="text 10.19"/>
          <p:cNvSpPr txBox="1"/>
          <p:nvPr/>
        </p:nvSpPr>
        <p:spPr>
          <a:xfrm>
            <a:off x="9626359" y="2146246"/>
            <a:ext cx="1562061"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target</a:t>
            </a:r>
            <a:endParaRPr lang="en-US" sz="850" dirty="0"/>
          </a:p>
        </p:txBody>
      </p:sp>
      <p:sp>
        <p:nvSpPr>
          <p:cNvPr id="21" name="shape 10.20"/>
          <p:cNvSpPr/>
          <p:nvPr/>
        </p:nvSpPr>
        <p:spPr>
          <a:xfrm>
            <a:off x="10089898" y="2374841"/>
            <a:ext cx="12700" cy="3073323"/>
          </a:xfrm>
          <a:prstGeom prst="rect">
            <a:avLst/>
          </a:prstGeom>
          <a:solidFill>
            <a:srgbClr val="C9CFC0"/>
          </a:solidFill>
          <a:ln/>
        </p:spPr>
      </p:sp>
      <p:sp>
        <p:nvSpPr>
          <p:cNvPr id="22" name="shape 10.21"/>
          <p:cNvSpPr/>
          <p:nvPr/>
        </p:nvSpPr>
        <p:spPr>
          <a:xfrm>
            <a:off x="2355791" y="2571686"/>
            <a:ext cx="241294" cy="241294"/>
          </a:xfrm>
          <a:prstGeom prst="roundRect">
            <a:avLst>
              <a:gd name="adj" fmla="val 50000"/>
            </a:avLst>
          </a:prstGeom>
          <a:solidFill>
            <a:srgbClr val="FF6B1F"/>
          </a:solidFill>
          <a:ln w="12700">
            <a:solidFill>
              <a:srgbClr val="E4E9DD"/>
            </a:solidFill>
            <a:prstDash val="solid"/>
          </a:ln>
        </p:spPr>
      </p:sp>
      <p:sp>
        <p:nvSpPr>
          <p:cNvPr id="23" name="text 10.22"/>
          <p:cNvSpPr txBox="1"/>
          <p:nvPr/>
        </p:nvSpPr>
        <p:spPr>
          <a:xfrm>
            <a:off x="2355791" y="2571686"/>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FFFFFF"/>
                </a:solidFill>
                <a:latin typeface="Arial Rounded MT Bold" pitchFamily="34" charset="0"/>
                <a:ea typeface="Arial Rounded MT Bold" pitchFamily="34" charset="-122"/>
                <a:cs typeface="Arial Rounded MT Bold" pitchFamily="34" charset="-120"/>
              </a:rPr>
              <a:t>1</a:t>
            </a:r>
            <a:endParaRPr lang="en-US" sz="950" dirty="0"/>
          </a:p>
        </p:txBody>
      </p:sp>
      <p:sp>
        <p:nvSpPr>
          <p:cNvPr id="24" name="text 10.23"/>
          <p:cNvSpPr txBox="1"/>
          <p:nvPr/>
        </p:nvSpPr>
        <p:spPr>
          <a:xfrm>
            <a:off x="2679633" y="2451039"/>
            <a:ext cx="1828659"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Fire input and aim direction</a:t>
            </a:r>
            <a:endParaRPr lang="en-US" sz="1000" dirty="0"/>
          </a:p>
        </p:txBody>
      </p:sp>
      <p:sp>
        <p:nvSpPr>
          <p:cNvPr id="25" name="shape 10.24"/>
          <p:cNvSpPr/>
          <p:nvPr/>
        </p:nvSpPr>
        <p:spPr>
          <a:xfrm>
            <a:off x="6025999" y="2882828"/>
            <a:ext cx="139697" cy="1663658"/>
          </a:xfrm>
          <a:prstGeom prst="roundRect">
            <a:avLst>
              <a:gd name="adj" fmla="val 50000"/>
            </a:avLst>
          </a:prstGeom>
          <a:solidFill>
            <a:srgbClr val="FF6B1F"/>
          </a:solidFill>
          <a:ln/>
        </p:spPr>
      </p:sp>
      <p:sp>
        <p:nvSpPr>
          <p:cNvPr id="26" name="shape 10.25"/>
          <p:cNvSpPr/>
          <p:nvPr/>
        </p:nvSpPr>
        <p:spPr>
          <a:xfrm>
            <a:off x="6305392" y="2952676"/>
            <a:ext cx="241294" cy="241294"/>
          </a:xfrm>
          <a:prstGeom prst="roundRect">
            <a:avLst>
              <a:gd name="adj" fmla="val 50000"/>
            </a:avLst>
          </a:prstGeom>
          <a:solidFill>
            <a:srgbClr val="FFFFFF"/>
          </a:solidFill>
          <a:ln w="12700">
            <a:solidFill>
              <a:srgbClr val="E4E9DD"/>
            </a:solidFill>
            <a:prstDash val="solid"/>
          </a:ln>
        </p:spPr>
      </p:sp>
      <p:sp>
        <p:nvSpPr>
          <p:cNvPr id="27" name="text 10.26"/>
          <p:cNvSpPr txBox="1"/>
          <p:nvPr/>
        </p:nvSpPr>
        <p:spPr>
          <a:xfrm>
            <a:off x="6305392" y="2952676"/>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B2340"/>
                </a:solidFill>
                <a:latin typeface="Arial Rounded MT Bold" pitchFamily="34" charset="0"/>
                <a:ea typeface="Arial Rounded MT Bold" pitchFamily="34" charset="-122"/>
                <a:cs typeface="Arial Rounded MT Bold" pitchFamily="34" charset="-120"/>
              </a:rPr>
              <a:t>2</a:t>
            </a:r>
            <a:endParaRPr lang="en-US" sz="950" dirty="0"/>
          </a:p>
        </p:txBody>
      </p:sp>
      <p:sp>
        <p:nvSpPr>
          <p:cNvPr id="28" name="text 10.27"/>
          <p:cNvSpPr txBox="1"/>
          <p:nvPr/>
        </p:nvSpPr>
        <p:spPr>
          <a:xfrm>
            <a:off x="6629234" y="2990775"/>
            <a:ext cx="3594010" cy="330192"/>
          </a:xfrm>
          <a:prstGeom prst="rect">
            <a:avLst/>
          </a:prstGeom>
          <a:noFill/>
          <a:ln/>
        </p:spPr>
        <p:txBody>
          <a:bodyPr wrap="square" lIns="0" tIns="0" rIns="0" bIns="0" rtlCol="0" anchor="t"/>
          <a:lstStyle/>
          <a:p>
            <a:pPr algn="l" indent="0" marL="0">
              <a:lnSpc>
                <a:spcPts val="1300"/>
              </a:lnSpc>
              <a:buNone/>
            </a:pPr>
            <a:r>
              <a:rPr lang="en-US" sz="1000" dirty="0">
                <a:solidFill>
                  <a:srgbClr val="1B2340"/>
                </a:solidFill>
                <a:latin typeface="Arial" pitchFamily="34" charset="0"/>
                <a:ea typeface="Arial" pitchFamily="34" charset="-122"/>
                <a:cs typeface="Arial" pitchFamily="34" charset="-120"/>
              </a:rPr>
              <a:t>Check the fire-rate limit and spawn the projectile. The shooter is not affected.</a:t>
            </a:r>
            <a:endParaRPr lang="en-US" sz="1000" dirty="0"/>
          </a:p>
        </p:txBody>
      </p:sp>
      <p:sp>
        <p:nvSpPr>
          <p:cNvPr id="29" name="shape 10.28"/>
          <p:cNvSpPr/>
          <p:nvPr/>
        </p:nvSpPr>
        <p:spPr>
          <a:xfrm>
            <a:off x="6305392" y="3498763"/>
            <a:ext cx="241294" cy="241294"/>
          </a:xfrm>
          <a:prstGeom prst="roundRect">
            <a:avLst>
              <a:gd name="adj" fmla="val 50000"/>
            </a:avLst>
          </a:prstGeom>
          <a:solidFill>
            <a:srgbClr val="FFFFFF"/>
          </a:solidFill>
          <a:ln w="12700">
            <a:solidFill>
              <a:srgbClr val="E4E9DD"/>
            </a:solidFill>
            <a:prstDash val="solid"/>
          </a:ln>
        </p:spPr>
      </p:sp>
      <p:sp>
        <p:nvSpPr>
          <p:cNvPr id="30" name="text 10.29"/>
          <p:cNvSpPr txBox="1"/>
          <p:nvPr/>
        </p:nvSpPr>
        <p:spPr>
          <a:xfrm>
            <a:off x="6305392" y="3498763"/>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B2340"/>
                </a:solidFill>
                <a:latin typeface="Arial Rounded MT Bold" pitchFamily="34" charset="0"/>
                <a:ea typeface="Arial Rounded MT Bold" pitchFamily="34" charset="-122"/>
                <a:cs typeface="Arial Rounded MT Bold" pitchFamily="34" charset="-120"/>
              </a:rPr>
              <a:t>3</a:t>
            </a:r>
            <a:endParaRPr lang="en-US" sz="950" dirty="0"/>
          </a:p>
        </p:txBody>
      </p:sp>
      <p:sp>
        <p:nvSpPr>
          <p:cNvPr id="31" name="text 10.30"/>
          <p:cNvSpPr txBox="1"/>
          <p:nvPr/>
        </p:nvSpPr>
        <p:spPr>
          <a:xfrm>
            <a:off x="6629234" y="3536862"/>
            <a:ext cx="3594010" cy="165096"/>
          </a:xfrm>
          <a:prstGeom prst="rect">
            <a:avLst/>
          </a:prstGeom>
          <a:noFill/>
          <a:ln/>
        </p:spPr>
        <p:txBody>
          <a:bodyPr wrap="square" lIns="0" tIns="0" rIns="0" bIns="0" rtlCol="0" anchor="t"/>
          <a:lstStyle/>
          <a:p>
            <a:pPr algn="l" indent="0" marL="0">
              <a:lnSpc>
                <a:spcPts val="1300"/>
              </a:lnSpc>
              <a:buNone/>
            </a:pPr>
            <a:r>
              <a:rPr lang="en-US" sz="1000" dirty="0">
                <a:solidFill>
                  <a:srgbClr val="1B2340"/>
                </a:solidFill>
                <a:latin typeface="Arial" pitchFamily="34" charset="0"/>
                <a:ea typeface="Arial" pitchFamily="34" charset="-122"/>
                <a:cs typeface="Arial" pitchFamily="34" charset="-120"/>
              </a:rPr>
              <a:t>Physics step: the projectile reaches B.</a:t>
            </a:r>
            <a:endParaRPr lang="en-US" sz="1000" dirty="0"/>
          </a:p>
        </p:txBody>
      </p:sp>
      <p:sp>
        <p:nvSpPr>
          <p:cNvPr id="32" name="shape 10.31"/>
          <p:cNvSpPr/>
          <p:nvPr/>
        </p:nvSpPr>
        <p:spPr>
          <a:xfrm>
            <a:off x="6305392" y="4044849"/>
            <a:ext cx="241294" cy="241294"/>
          </a:xfrm>
          <a:prstGeom prst="roundRect">
            <a:avLst>
              <a:gd name="adj" fmla="val 50000"/>
            </a:avLst>
          </a:prstGeom>
          <a:solidFill>
            <a:srgbClr val="FFFFFF"/>
          </a:solidFill>
          <a:ln w="12700">
            <a:solidFill>
              <a:srgbClr val="E4E9DD"/>
            </a:solidFill>
            <a:prstDash val="solid"/>
          </a:ln>
        </p:spPr>
      </p:sp>
      <p:sp>
        <p:nvSpPr>
          <p:cNvPr id="33" name="text 10.32"/>
          <p:cNvSpPr txBox="1"/>
          <p:nvPr/>
        </p:nvSpPr>
        <p:spPr>
          <a:xfrm>
            <a:off x="6305392" y="4044849"/>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B2340"/>
                </a:solidFill>
                <a:latin typeface="Arial Rounded MT Bold" pitchFamily="34" charset="0"/>
                <a:ea typeface="Arial Rounded MT Bold" pitchFamily="34" charset="-122"/>
                <a:cs typeface="Arial Rounded MT Bold" pitchFamily="34" charset="-120"/>
              </a:rPr>
              <a:t>4</a:t>
            </a:r>
            <a:endParaRPr lang="en-US" sz="950" dirty="0"/>
          </a:p>
        </p:txBody>
      </p:sp>
      <p:sp>
        <p:nvSpPr>
          <p:cNvPr id="34" name="text 10.33"/>
          <p:cNvSpPr txBox="1"/>
          <p:nvPr/>
        </p:nvSpPr>
        <p:spPr>
          <a:xfrm>
            <a:off x="6629234" y="4082948"/>
            <a:ext cx="3594010" cy="330192"/>
          </a:xfrm>
          <a:prstGeom prst="rect">
            <a:avLst/>
          </a:prstGeom>
          <a:noFill/>
          <a:ln/>
        </p:spPr>
        <p:txBody>
          <a:bodyPr wrap="square" lIns="0" tIns="0" rIns="0" bIns="0" rtlCol="0" anchor="t"/>
          <a:lstStyle/>
          <a:p>
            <a:pPr algn="l" indent="0" marL="0">
              <a:lnSpc>
                <a:spcPts val="1300"/>
              </a:lnSpc>
              <a:buNone/>
            </a:pPr>
            <a:r>
              <a:rPr lang="en-US" sz="1000" dirty="0">
                <a:solidFill>
                  <a:srgbClr val="1B2340"/>
                </a:solidFill>
                <a:latin typeface="Arial" pitchFamily="34" charset="0"/>
                <a:ea typeface="Arial" pitchFamily="34" charset="-122"/>
                <a:cs typeface="Arial" pitchFamily="34" charset="-120"/>
              </a:rPr>
              <a:t>Apply this mini-game’s effect: B loses mass and is pushed from the shot’s direction.</a:t>
            </a:r>
            <a:endParaRPr lang="en-US" sz="1000" dirty="0"/>
          </a:p>
        </p:txBody>
      </p:sp>
      <p:sp>
        <p:nvSpPr>
          <p:cNvPr id="35" name="shape 10.34"/>
          <p:cNvSpPr/>
          <p:nvPr/>
        </p:nvSpPr>
        <p:spPr>
          <a:xfrm>
            <a:off x="5581510" y="4705232"/>
            <a:ext cx="241294" cy="241294"/>
          </a:xfrm>
          <a:prstGeom prst="roundRect">
            <a:avLst>
              <a:gd name="adj" fmla="val 50000"/>
            </a:avLst>
          </a:prstGeom>
          <a:solidFill>
            <a:srgbClr val="1FA9EA"/>
          </a:solidFill>
          <a:ln w="12700">
            <a:solidFill>
              <a:srgbClr val="E4E9DD"/>
            </a:solidFill>
            <a:prstDash val="solid"/>
          </a:ln>
        </p:spPr>
      </p:sp>
      <p:sp>
        <p:nvSpPr>
          <p:cNvPr id="36" name="text 10.35"/>
          <p:cNvSpPr txBox="1"/>
          <p:nvPr/>
        </p:nvSpPr>
        <p:spPr>
          <a:xfrm>
            <a:off x="5581510" y="4705232"/>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FFFFFF"/>
                </a:solidFill>
                <a:latin typeface="Arial Rounded MT Bold" pitchFamily="34" charset="0"/>
                <a:ea typeface="Arial Rounded MT Bold" pitchFamily="34" charset="-122"/>
                <a:cs typeface="Arial Rounded MT Bold" pitchFamily="34" charset="-120"/>
              </a:rPr>
              <a:t>5</a:t>
            </a:r>
            <a:endParaRPr lang="en-US" sz="950" dirty="0"/>
          </a:p>
        </p:txBody>
      </p:sp>
      <p:sp>
        <p:nvSpPr>
          <p:cNvPr id="37" name="shape 10.36"/>
          <p:cNvSpPr/>
          <p:nvPr/>
        </p:nvSpPr>
        <p:spPr>
          <a:xfrm>
            <a:off x="6368891" y="4705232"/>
            <a:ext cx="241294" cy="241294"/>
          </a:xfrm>
          <a:prstGeom prst="roundRect">
            <a:avLst>
              <a:gd name="adj" fmla="val 50000"/>
            </a:avLst>
          </a:prstGeom>
          <a:solidFill>
            <a:srgbClr val="1FA9EA"/>
          </a:solidFill>
          <a:ln w="12700">
            <a:solidFill>
              <a:srgbClr val="E4E9DD"/>
            </a:solidFill>
            <a:prstDash val="solid"/>
          </a:ln>
        </p:spPr>
      </p:sp>
      <p:sp>
        <p:nvSpPr>
          <p:cNvPr id="38" name="text 10.37"/>
          <p:cNvSpPr txBox="1"/>
          <p:nvPr/>
        </p:nvSpPr>
        <p:spPr>
          <a:xfrm>
            <a:off x="6368891" y="4705232"/>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FFFFFF"/>
                </a:solidFill>
                <a:latin typeface="Arial Rounded MT Bold" pitchFamily="34" charset="0"/>
                <a:ea typeface="Arial Rounded MT Bold" pitchFamily="34" charset="-122"/>
                <a:cs typeface="Arial Rounded MT Bold" pitchFamily="34" charset="-120"/>
              </a:rPr>
              <a:t>5</a:t>
            </a:r>
            <a:endParaRPr lang="en-US" sz="950" dirty="0"/>
          </a:p>
        </p:txBody>
      </p:sp>
      <p:sp>
        <p:nvSpPr>
          <p:cNvPr id="39" name="text 10.38"/>
          <p:cNvSpPr txBox="1"/>
          <p:nvPr/>
        </p:nvSpPr>
        <p:spPr>
          <a:xfrm>
            <a:off x="2349441" y="4584585"/>
            <a:ext cx="3340016"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Snapshot: positions, mass, scores</a:t>
            </a:r>
            <a:endParaRPr lang="en-US" sz="1000" dirty="0"/>
          </a:p>
        </p:txBody>
      </p:sp>
      <p:sp>
        <p:nvSpPr>
          <p:cNvPr id="40" name="text 10.39"/>
          <p:cNvSpPr txBox="1"/>
          <p:nvPr/>
        </p:nvSpPr>
        <p:spPr>
          <a:xfrm>
            <a:off x="6743531" y="4584585"/>
            <a:ext cx="3340016"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The same snapshot to everyone</a:t>
            </a:r>
            <a:endParaRPr lang="en-US" sz="1000" dirty="0"/>
          </a:p>
        </p:txBody>
      </p:sp>
      <p:sp>
        <p:nvSpPr>
          <p:cNvPr id="41" name="shape 10.40"/>
          <p:cNvSpPr/>
          <p:nvPr/>
        </p:nvSpPr>
        <p:spPr>
          <a:xfrm>
            <a:off x="1974801" y="5137022"/>
            <a:ext cx="241294" cy="241294"/>
          </a:xfrm>
          <a:prstGeom prst="roundRect">
            <a:avLst>
              <a:gd name="adj" fmla="val 50000"/>
            </a:avLst>
          </a:prstGeom>
          <a:solidFill>
            <a:srgbClr val="FFFFFF"/>
          </a:solidFill>
          <a:ln w="12700">
            <a:solidFill>
              <a:srgbClr val="E4E9DD"/>
            </a:solidFill>
            <a:prstDash val="solid"/>
          </a:ln>
        </p:spPr>
      </p:sp>
      <p:sp>
        <p:nvSpPr>
          <p:cNvPr id="42" name="text 10.41"/>
          <p:cNvSpPr txBox="1"/>
          <p:nvPr/>
        </p:nvSpPr>
        <p:spPr>
          <a:xfrm>
            <a:off x="1974801" y="5137022"/>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B2340"/>
                </a:solidFill>
                <a:latin typeface="Arial Rounded MT Bold" pitchFamily="34" charset="0"/>
                <a:ea typeface="Arial Rounded MT Bold" pitchFamily="34" charset="-122"/>
                <a:cs typeface="Arial Rounded MT Bold" pitchFamily="34" charset="-120"/>
              </a:rPr>
              <a:t>6</a:t>
            </a:r>
            <a:endParaRPr lang="en-US" sz="950" dirty="0"/>
          </a:p>
        </p:txBody>
      </p:sp>
      <p:sp>
        <p:nvSpPr>
          <p:cNvPr id="43" name="shape 10.42"/>
          <p:cNvSpPr/>
          <p:nvPr/>
        </p:nvSpPr>
        <p:spPr>
          <a:xfrm>
            <a:off x="9975601" y="5137022"/>
            <a:ext cx="241294" cy="241294"/>
          </a:xfrm>
          <a:prstGeom prst="roundRect">
            <a:avLst>
              <a:gd name="adj" fmla="val 50000"/>
            </a:avLst>
          </a:prstGeom>
          <a:solidFill>
            <a:srgbClr val="FFFFFF"/>
          </a:solidFill>
          <a:ln w="12700">
            <a:solidFill>
              <a:srgbClr val="E4E9DD"/>
            </a:solidFill>
            <a:prstDash val="solid"/>
          </a:ln>
        </p:spPr>
      </p:sp>
      <p:sp>
        <p:nvSpPr>
          <p:cNvPr id="44" name="text 10.43"/>
          <p:cNvSpPr txBox="1"/>
          <p:nvPr/>
        </p:nvSpPr>
        <p:spPr>
          <a:xfrm>
            <a:off x="9975601" y="5137022"/>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B2340"/>
                </a:solidFill>
                <a:latin typeface="Arial Rounded MT Bold" pitchFamily="34" charset="0"/>
                <a:ea typeface="Arial Rounded MT Bold" pitchFamily="34" charset="-122"/>
                <a:cs typeface="Arial Rounded MT Bold" pitchFamily="34" charset="-120"/>
              </a:rPr>
              <a:t>6</a:t>
            </a:r>
            <a:endParaRPr lang="en-US" sz="950" dirty="0"/>
          </a:p>
        </p:txBody>
      </p:sp>
      <p:sp>
        <p:nvSpPr>
          <p:cNvPr id="45" name="text 10.44"/>
          <p:cNvSpPr txBox="1"/>
          <p:nvPr/>
        </p:nvSpPr>
        <p:spPr>
          <a:xfrm>
            <a:off x="2324042" y="5175121"/>
            <a:ext cx="3594010" cy="165096"/>
          </a:xfrm>
          <a:prstGeom prst="rect">
            <a:avLst/>
          </a:prstGeom>
          <a:noFill/>
          <a:ln/>
        </p:spPr>
        <p:txBody>
          <a:bodyPr wrap="square" lIns="0" tIns="0" rIns="0" bIns="0" rtlCol="0" anchor="t"/>
          <a:lstStyle/>
          <a:p>
            <a:pPr algn="l" indent="0" marL="0">
              <a:lnSpc>
                <a:spcPts val="1300"/>
              </a:lnSpc>
              <a:buNone/>
            </a:pPr>
            <a:r>
              <a:rPr lang="en-US" sz="1000" dirty="0">
                <a:solidFill>
                  <a:srgbClr val="3E475E"/>
                </a:solidFill>
                <a:latin typeface="Arial" pitchFamily="34" charset="0"/>
                <a:ea typeface="Arial" pitchFamily="34" charset="-122"/>
                <a:cs typeface="Arial" pitchFamily="34" charset="-120"/>
              </a:rPr>
              <a:t>Clients interpolate between snapshots and draw.</a:t>
            </a:r>
            <a:endParaRPr lang="en-US" sz="1000" dirty="0"/>
          </a:p>
        </p:txBody>
      </p:sp>
      <p:sp>
        <p:nvSpPr>
          <p:cNvPr id="46" name="text 10.45"/>
          <p:cNvSpPr txBox="1"/>
          <p:nvPr/>
        </p:nvSpPr>
        <p:spPr>
          <a:xfrm>
            <a:off x="863578" y="5727557"/>
            <a:ext cx="10515337" cy="386547"/>
          </a:xfrm>
          <a:prstGeom prst="rect">
            <a:avLst/>
          </a:prstGeom>
          <a:noFill/>
          <a:ln/>
        </p:spPr>
        <p:txBody>
          <a:bodyPr wrap="square" lIns="0" tIns="0" rIns="0" bIns="0" rtlCol="0" anchor="t"/>
          <a:lstStyle/>
          <a:p>
            <a:pPr algn="l" indent="0" marL="0">
              <a:lnSpc>
                <a:spcPts val="1520"/>
              </a:lnSpc>
              <a:buNone/>
            </a:pPr>
            <a:r>
              <a:rPr lang="en-US" sz="1050" b="1" dirty="0">
                <a:solidFill>
                  <a:srgbClr val="1B2340"/>
                </a:solidFill>
                <a:latin typeface="Arial" pitchFamily="34" charset="0"/>
                <a:ea typeface="Arial" pitchFamily="34" charset="-122"/>
                <a:cs typeface="Arial" pitchFamily="34" charset="-120"/>
              </a:rPr>
              <a:t>Your own movement is predicted locally, so it feels instant.</a:t>
            </a:r>
            <a:pPr algn="l" indent="0" marL="0">
              <a:lnSpc>
                <a:spcPts val="1520"/>
              </a:lnSpc>
              <a:buNone/>
            </a:pPr>
            <a:r>
              <a:rPr lang="en-US" sz="1050" dirty="0">
                <a:solidFill>
                  <a:srgbClr val="3E475E"/>
                </a:solidFill>
                <a:latin typeface="Arial" pitchFamily="34" charset="0"/>
                <a:ea typeface="Arial" pitchFamily="34" charset="-122"/>
                <a:cs typeface="Arial" pitchFamily="34" charset="-120"/>
              </a:rPr>
              <a:t> Everything that decides a result runs on the host, so every screen agrees. </a:t>
            </a:r>
            <a:pPr algn="l" indent="0" marL="0">
              <a:lnSpc>
                <a:spcPts val="1520"/>
              </a:lnSpc>
              <a:buNone/>
            </a:pPr>
            <a:r>
              <a:rPr lang="en-US" sz="1050" b="1" dirty="0">
                <a:solidFill>
                  <a:srgbClr val="FF6B1F"/>
                </a:solidFill>
                <a:latin typeface="Arial" pitchFamily="34" charset="0"/>
                <a:ea typeface="Arial" pitchFamily="34" charset="-122"/>
                <a:cs typeface="Arial" pitchFamily="34" charset="-120"/>
              </a:rPr>
              <a:t>Main risk:</a:t>
            </a:r>
            <a:pPr algn="l" indent="0" marL="0">
              <a:lnSpc>
                <a:spcPts val="1520"/>
              </a:lnSpc>
              <a:buNone/>
            </a:pPr>
            <a:r>
              <a:rPr lang="en-US" sz="1050" dirty="0">
                <a:solidFill>
                  <a:srgbClr val="3E475E"/>
                </a:solidFill>
                <a:latin typeface="Arial" pitchFamily="34" charset="0"/>
                <a:ea typeface="Arial" pitchFamily="34" charset="-122"/>
                <a:cs typeface="Arial" pitchFamily="34" charset="-120"/>
              </a:rPr>
              <a:t> keeping physics smooth on clients; LAN latency is low, and we tune the snapshot rate.</a:t>
            </a:r>
            <a:endParaRPr lang="en-US" sz="1050" dirty="0"/>
          </a:p>
        </p:txBody>
      </p:sp>
      <p:pic>
        <p:nvPicPr>
          <p:cNvPr id="47" name="raster 10.46" descr="diagram">    </p:cNvPr>
          <p:cNvPicPr>
            <a:picLocks noChangeAspect="1"/>
          </p:cNvPicPr>
          <p:nvPr/>
        </p:nvPicPr>
        <p:blipFill>
          <a:blip r:embed="rId7"/>
          <a:stretch>
            <a:fillRect/>
          </a:stretch>
        </p:blipFill>
        <p:spPr>
          <a:xfrm>
            <a:off x="609585" y="266693"/>
            <a:ext cx="190495" cy="190495"/>
          </a:xfrm>
          <a:prstGeom prst="rect">
            <a:avLst/>
          </a:prstGeom>
        </p:spPr>
      </p:pic>
      <p:sp>
        <p:nvSpPr>
          <p:cNvPr id="48" name="text 10.47"/>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49" name="text 10.48"/>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50" name="text 10.49"/>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51" name="text 10.50"/>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10 / 25</a:t>
            </a:r>
            <a:endParaRPr lang="en-US" sz="750" dirty="0"/>
          </a:p>
        </p:txBody>
      </p:sp>
      <p:sp>
        <p:nvSpPr>
          <p:cNvPr id="52" name="text 10.51"/>
          <p:cNvSpPr txBox="1"/>
          <p:nvPr/>
        </p:nvSpPr>
        <p:spPr>
          <a:xfrm>
            <a:off x="609585" y="698483"/>
            <a:ext cx="1706452"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1FA9EA"/>
                </a:solidFill>
                <a:latin typeface="Arial" pitchFamily="34" charset="0"/>
                <a:ea typeface="Arial" pitchFamily="34" charset="-122"/>
                <a:cs typeface="Arial" pitchFamily="34" charset="-120"/>
              </a:rPr>
              <a:t>02 · GAMEPLAY &amp; TECH</a:t>
            </a:r>
            <a:endParaRPr lang="en-US" sz="8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1.1"/>
          <p:cNvSpPr/>
          <p:nvPr/>
        </p:nvSpPr>
        <p:spPr>
          <a:xfrm>
            <a:off x="609585" y="2412940"/>
            <a:ext cx="2628834" cy="1435064"/>
          </a:xfrm>
          <a:prstGeom prst="roundRect">
            <a:avLst>
              <a:gd name="adj" fmla="val 10619"/>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11.2"/>
          <p:cNvSpPr/>
          <p:nvPr/>
        </p:nvSpPr>
        <p:spPr>
          <a:xfrm>
            <a:off x="3390815" y="2412940"/>
            <a:ext cx="2628834" cy="1435064"/>
          </a:xfrm>
          <a:prstGeom prst="roundRect">
            <a:avLst>
              <a:gd name="adj" fmla="val 10619"/>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11.3"/>
          <p:cNvSpPr/>
          <p:nvPr/>
        </p:nvSpPr>
        <p:spPr>
          <a:xfrm>
            <a:off x="6172046" y="2412940"/>
            <a:ext cx="2628834" cy="1435064"/>
          </a:xfrm>
          <a:prstGeom prst="roundRect">
            <a:avLst>
              <a:gd name="adj" fmla="val 10619"/>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11.4"/>
          <p:cNvSpPr/>
          <p:nvPr/>
        </p:nvSpPr>
        <p:spPr>
          <a:xfrm>
            <a:off x="8953276" y="2412940"/>
            <a:ext cx="2628834" cy="1435064"/>
          </a:xfrm>
          <a:prstGeom prst="roundRect">
            <a:avLst>
              <a:gd name="adj" fmla="val 10619"/>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sp>
        <p:nvSpPr>
          <p:cNvPr id="6" name="shape 11.5"/>
          <p:cNvSpPr/>
          <p:nvPr/>
        </p:nvSpPr>
        <p:spPr>
          <a:xfrm>
            <a:off x="609585" y="4000400"/>
            <a:ext cx="10972526" cy="1269968"/>
          </a:xfrm>
          <a:prstGeom prst="roundRect">
            <a:avLst>
              <a:gd name="adj" fmla="val 1200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7" name="shape 11.6"/>
          <p:cNvSpPr/>
          <p:nvPr/>
        </p:nvSpPr>
        <p:spPr>
          <a:xfrm>
            <a:off x="609585" y="5397365"/>
            <a:ext cx="10972526" cy="888978"/>
          </a:xfrm>
          <a:prstGeom prst="roundRect">
            <a:avLst>
              <a:gd name="adj" fmla="val 17143"/>
            </a:avLst>
          </a:prstGeom>
          <a:solidFill>
            <a:srgbClr val="FFF6DA"/>
          </a:solidFill>
          <a:ln w="12700">
            <a:solidFill>
              <a:srgbClr val="F6E3A6"/>
            </a:solidFill>
            <a:prstDash val="solid"/>
          </a:ln>
          <a:effectLst>
            <a:outerShdw sx="100000" sy="100000" kx="0" ky="0" algn="bl" rotWithShape="0" blurRad="203200" dist="76200" dir="5400000">
              <a:srgbClr val="1E468C">
                <a:alpha val="16000"/>
              </a:srgbClr>
            </a:outerShdw>
          </a:effectLst>
        </p:spPr>
      </p:sp>
      <p:sp>
        <p:nvSpPr>
          <p:cNvPr id="8" name="text 11.7"/>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Market potential &amp; target audience</a:t>
            </a:r>
            <a:endParaRPr lang="en-US" sz="3000" dirty="0"/>
          </a:p>
        </p:txBody>
      </p:sp>
      <p:sp>
        <p:nvSpPr>
          <p:cNvPr id="9" name="text 11.8"/>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Social PC play is growing; </a:t>
            </a:r>
            <a:pPr algn="l" indent="0" marL="0">
              <a:lnSpc>
                <a:spcPts val="1820"/>
              </a:lnSpc>
              <a:buNone/>
            </a:pPr>
            <a:r>
              <a:rPr lang="en-US" sz="1350" b="1" dirty="0">
                <a:solidFill>
                  <a:srgbClr val="FF6B1F"/>
                </a:solidFill>
                <a:latin typeface="Arial" pitchFamily="34" charset="0"/>
                <a:ea typeface="Arial" pitchFamily="34" charset="-122"/>
                <a:cs typeface="Arial" pitchFamily="34" charset="-120"/>
              </a:rPr>
              <a:t>LAN party games are rare.</a:t>
            </a:r>
            <a:endParaRPr lang="en-US" sz="1350" dirty="0"/>
          </a:p>
        </p:txBody>
      </p:sp>
      <p:sp>
        <p:nvSpPr>
          <p:cNvPr id="10" name="text 11.9"/>
          <p:cNvSpPr txBox="1"/>
          <p:nvPr/>
        </p:nvSpPr>
        <p:spPr>
          <a:xfrm>
            <a:off x="609585" y="1777956"/>
            <a:ext cx="11010625" cy="423455"/>
          </a:xfrm>
          <a:prstGeom prst="rect">
            <a:avLst/>
          </a:prstGeom>
          <a:noFill/>
          <a:ln/>
        </p:spPr>
        <p:txBody>
          <a:bodyPr wrap="square" lIns="0" tIns="0" rIns="0" bIns="0" rtlCol="0" anchor="t"/>
          <a:lstStyle/>
          <a:p>
            <a:pPr algn="l" indent="0" marL="0">
              <a:lnSpc>
                <a:spcPts val="1670"/>
              </a:lnSpc>
              <a:buNone/>
            </a:pPr>
            <a:r>
              <a:rPr lang="en-US" sz="1150" dirty="0">
                <a:solidFill>
                  <a:srgbClr val="3E475E"/>
                </a:solidFill>
                <a:latin typeface="Arial" pitchFamily="34" charset="0"/>
                <a:ea typeface="Arial" pitchFamily="34" charset="-122"/>
                <a:cs typeface="Arial" pitchFamily="34" charset="-120"/>
              </a:rPr>
              <a:t>Our audience is groups of 2–4 friends who play together in one room, each on their own PC: students, LAN parties and game nights. They want short, readable rounds, a session they can shape themselves, and a game that works without an internet connection.</a:t>
            </a:r>
            <a:endParaRPr lang="en-US" sz="1150" dirty="0"/>
          </a:p>
        </p:txBody>
      </p:sp>
      <p:sp>
        <p:nvSpPr>
          <p:cNvPr id="11" name="text 11.10"/>
          <p:cNvSpPr txBox="1"/>
          <p:nvPr/>
        </p:nvSpPr>
        <p:spPr>
          <a:xfrm>
            <a:off x="787380" y="2578036"/>
            <a:ext cx="1669853" cy="444489"/>
          </a:xfrm>
          <a:prstGeom prst="rect">
            <a:avLst/>
          </a:prstGeom>
          <a:noFill/>
          <a:ln/>
        </p:spPr>
        <p:txBody>
          <a:bodyPr wrap="square" lIns="0" tIns="0" rIns="0" bIns="0" rtlCol="0" anchor="t"/>
          <a:lstStyle/>
          <a:p>
            <a:pPr algn="l" indent="0" marL="0">
              <a:lnSpc>
                <a:spcPts val="3500"/>
              </a:lnSpc>
              <a:buNone/>
            </a:pPr>
            <a:r>
              <a:rPr lang="en-US" sz="3500" dirty="0">
                <a:solidFill>
                  <a:srgbClr val="1FA9EA"/>
                </a:solidFill>
                <a:latin typeface="Arial Rounded MT Bold" pitchFamily="34" charset="0"/>
                <a:ea typeface="Arial Rounded MT Bold" pitchFamily="34" charset="-122"/>
                <a:cs typeface="Arial Rounded MT Bold" pitchFamily="34" charset="-120"/>
              </a:rPr>
              <a:t>$43.6B</a:t>
            </a:r>
            <a:endParaRPr lang="en-US" sz="3500" dirty="0"/>
          </a:p>
        </p:txBody>
      </p:sp>
      <p:sp>
        <p:nvSpPr>
          <p:cNvPr id="12" name="text 11.11"/>
          <p:cNvSpPr txBox="1"/>
          <p:nvPr/>
        </p:nvSpPr>
        <p:spPr>
          <a:xfrm>
            <a:off x="787380" y="3111422"/>
            <a:ext cx="2324042" cy="328009"/>
          </a:xfrm>
          <a:prstGeom prst="rect">
            <a:avLst/>
          </a:prstGeom>
          <a:noFill/>
          <a:ln/>
        </p:spPr>
        <p:txBody>
          <a:bodyPr wrap="square" lIns="0" tIns="0" rIns="0" bIns="0" rtlCol="0" anchor="t"/>
          <a:lstStyle/>
          <a:p>
            <a:pPr algn="l" indent="0" marL="0">
              <a:lnSpc>
                <a:spcPts val="1290"/>
              </a:lnSpc>
              <a:buNone/>
            </a:pPr>
            <a:r>
              <a:rPr lang="en-US" sz="950" dirty="0">
                <a:solidFill>
                  <a:srgbClr val="3E475E"/>
                </a:solidFill>
                <a:latin typeface="Arial" pitchFamily="34" charset="0"/>
                <a:ea typeface="Arial" pitchFamily="34" charset="-122"/>
                <a:cs typeface="Arial" pitchFamily="34" charset="-120"/>
              </a:rPr>
              <a:t>PC games revenue in 2025, up 12% year on year.</a:t>
            </a:r>
            <a:endParaRPr lang="en-US" sz="950" dirty="0"/>
          </a:p>
        </p:txBody>
      </p:sp>
      <p:sp>
        <p:nvSpPr>
          <p:cNvPr id="13" name="text 11.12"/>
          <p:cNvSpPr txBox="1"/>
          <p:nvPr/>
        </p:nvSpPr>
        <p:spPr>
          <a:xfrm>
            <a:off x="787380" y="3581310"/>
            <a:ext cx="568626" cy="133347"/>
          </a:xfrm>
          <a:prstGeom prst="rect">
            <a:avLst/>
          </a:prstGeom>
          <a:noFill/>
          <a:ln/>
        </p:spPr>
        <p:txBody>
          <a:bodyPr wrap="square" lIns="0" tIns="0" rIns="0" bIns="0" rtlCol="0" anchor="t"/>
          <a:lstStyle/>
          <a:p>
            <a:pPr algn="l" indent="0" marL="0">
              <a:lnSpc>
                <a:spcPts val="1050"/>
              </a:lnSpc>
              <a:buNone/>
            </a:pPr>
            <a:r>
              <a:rPr lang="en-US" sz="750" dirty="0">
                <a:solidFill>
                  <a:srgbClr val="6F778C"/>
                </a:solidFill>
                <a:latin typeface="Arial" pitchFamily="34" charset="0"/>
                <a:ea typeface="Arial" pitchFamily="34" charset="-122"/>
                <a:cs typeface="Arial" pitchFamily="34" charset="-120"/>
              </a:rPr>
              <a:t>Newzoo [1]</a:t>
            </a:r>
            <a:endParaRPr lang="en-US" sz="750" dirty="0"/>
          </a:p>
        </p:txBody>
      </p:sp>
      <p:sp>
        <p:nvSpPr>
          <p:cNvPr id="14" name="text 11.13"/>
          <p:cNvSpPr txBox="1"/>
          <p:nvPr/>
        </p:nvSpPr>
        <p:spPr>
          <a:xfrm>
            <a:off x="3568611" y="2578036"/>
            <a:ext cx="1389788" cy="444489"/>
          </a:xfrm>
          <a:prstGeom prst="rect">
            <a:avLst/>
          </a:prstGeom>
          <a:noFill/>
          <a:ln/>
        </p:spPr>
        <p:txBody>
          <a:bodyPr wrap="square" lIns="0" tIns="0" rIns="0" bIns="0" rtlCol="0" anchor="t"/>
          <a:lstStyle/>
          <a:p>
            <a:pPr algn="l" indent="0" marL="0">
              <a:lnSpc>
                <a:spcPts val="3500"/>
              </a:lnSpc>
              <a:buNone/>
            </a:pPr>
            <a:r>
              <a:rPr lang="en-US" sz="3500" dirty="0">
                <a:solidFill>
                  <a:srgbClr val="43B832"/>
                </a:solidFill>
                <a:latin typeface="Arial Rounded MT Bold" pitchFamily="34" charset="0"/>
                <a:ea typeface="Arial Rounded MT Bold" pitchFamily="34" charset="-122"/>
                <a:cs typeface="Arial Rounded MT Bold" pitchFamily="34" charset="-120"/>
              </a:rPr>
              <a:t>$4.1B</a:t>
            </a:r>
            <a:endParaRPr lang="en-US" sz="3500" dirty="0"/>
          </a:p>
        </p:txBody>
      </p:sp>
      <p:sp>
        <p:nvSpPr>
          <p:cNvPr id="15" name="text 11.14"/>
          <p:cNvSpPr txBox="1"/>
          <p:nvPr/>
        </p:nvSpPr>
        <p:spPr>
          <a:xfrm>
            <a:off x="3568611" y="3111422"/>
            <a:ext cx="2324042" cy="328009"/>
          </a:xfrm>
          <a:prstGeom prst="rect">
            <a:avLst/>
          </a:prstGeom>
          <a:noFill/>
          <a:ln/>
        </p:spPr>
        <p:txBody>
          <a:bodyPr wrap="square" lIns="0" tIns="0" rIns="0" bIns="0" rtlCol="0" anchor="t"/>
          <a:lstStyle/>
          <a:p>
            <a:pPr algn="l" indent="0" marL="0">
              <a:lnSpc>
                <a:spcPts val="1290"/>
              </a:lnSpc>
              <a:buNone/>
            </a:pPr>
            <a:r>
              <a:rPr lang="en-US" sz="950" dirty="0">
                <a:solidFill>
                  <a:srgbClr val="3E475E"/>
                </a:solidFill>
                <a:latin typeface="Arial" pitchFamily="34" charset="0"/>
                <a:ea typeface="Arial" pitchFamily="34" charset="-122"/>
                <a:cs typeface="Arial" pitchFamily="34" charset="-120"/>
              </a:rPr>
              <a:t>Steam revenue of games with co-op in H1 2025, an all-time high (estimate).</a:t>
            </a:r>
            <a:endParaRPr lang="en-US" sz="950" dirty="0"/>
          </a:p>
        </p:txBody>
      </p:sp>
      <p:sp>
        <p:nvSpPr>
          <p:cNvPr id="16" name="text 11.15"/>
          <p:cNvSpPr txBox="1"/>
          <p:nvPr/>
        </p:nvSpPr>
        <p:spPr>
          <a:xfrm>
            <a:off x="3568611" y="3581310"/>
            <a:ext cx="484491" cy="133347"/>
          </a:xfrm>
          <a:prstGeom prst="rect">
            <a:avLst/>
          </a:prstGeom>
          <a:noFill/>
          <a:ln/>
        </p:spPr>
        <p:txBody>
          <a:bodyPr wrap="square" lIns="0" tIns="0" rIns="0" bIns="0" rtlCol="0" anchor="t"/>
          <a:lstStyle/>
          <a:p>
            <a:pPr algn="l" indent="0" marL="0">
              <a:lnSpc>
                <a:spcPts val="1050"/>
              </a:lnSpc>
              <a:buNone/>
            </a:pPr>
            <a:r>
              <a:rPr lang="en-US" sz="750" dirty="0">
                <a:solidFill>
                  <a:srgbClr val="6F778C"/>
                </a:solidFill>
                <a:latin typeface="Arial" pitchFamily="34" charset="0"/>
                <a:ea typeface="Arial" pitchFamily="34" charset="-122"/>
                <a:cs typeface="Arial" pitchFamily="34" charset="-120"/>
              </a:rPr>
              <a:t>Alinea [2]</a:t>
            </a:r>
            <a:endParaRPr lang="en-US" sz="750" dirty="0"/>
          </a:p>
        </p:txBody>
      </p:sp>
      <p:sp>
        <p:nvSpPr>
          <p:cNvPr id="17" name="text 11.16"/>
          <p:cNvSpPr txBox="1"/>
          <p:nvPr/>
        </p:nvSpPr>
        <p:spPr>
          <a:xfrm>
            <a:off x="6349841" y="2578036"/>
            <a:ext cx="1025902" cy="444489"/>
          </a:xfrm>
          <a:prstGeom prst="rect">
            <a:avLst/>
          </a:prstGeom>
          <a:noFill/>
          <a:ln/>
        </p:spPr>
        <p:txBody>
          <a:bodyPr wrap="square" lIns="0" tIns="0" rIns="0" bIns="0" rtlCol="0" anchor="t"/>
          <a:lstStyle/>
          <a:p>
            <a:pPr algn="l" indent="0" marL="0">
              <a:lnSpc>
                <a:spcPts val="3500"/>
              </a:lnSpc>
              <a:buNone/>
            </a:pPr>
            <a:r>
              <a:rPr lang="en-US" sz="3500" dirty="0">
                <a:solidFill>
                  <a:srgbClr val="8F55F5"/>
                </a:solidFill>
                <a:latin typeface="Arial Rounded MT Bold" pitchFamily="34" charset="0"/>
                <a:ea typeface="Arial Rounded MT Bold" pitchFamily="34" charset="-122"/>
                <a:cs typeface="Arial Rounded MT Bold" pitchFamily="34" charset="-120"/>
              </a:rPr>
              <a:t>70%</a:t>
            </a:r>
            <a:endParaRPr lang="en-US" sz="3500" dirty="0"/>
          </a:p>
        </p:txBody>
      </p:sp>
      <p:sp>
        <p:nvSpPr>
          <p:cNvPr id="18" name="text 11.17"/>
          <p:cNvSpPr txBox="1"/>
          <p:nvPr/>
        </p:nvSpPr>
        <p:spPr>
          <a:xfrm>
            <a:off x="6349841" y="3111422"/>
            <a:ext cx="2324042" cy="328009"/>
          </a:xfrm>
          <a:prstGeom prst="rect">
            <a:avLst/>
          </a:prstGeom>
          <a:noFill/>
          <a:ln/>
        </p:spPr>
        <p:txBody>
          <a:bodyPr wrap="square" lIns="0" tIns="0" rIns="0" bIns="0" rtlCol="0" anchor="t"/>
          <a:lstStyle/>
          <a:p>
            <a:pPr algn="l" indent="0" marL="0">
              <a:lnSpc>
                <a:spcPts val="1290"/>
              </a:lnSpc>
              <a:buNone/>
            </a:pPr>
            <a:r>
              <a:rPr lang="en-US" sz="950" dirty="0">
                <a:solidFill>
                  <a:srgbClr val="3E475E"/>
                </a:solidFill>
                <a:latin typeface="Arial" pitchFamily="34" charset="0"/>
                <a:ea typeface="Arial" pitchFamily="34" charset="-122"/>
                <a:cs typeface="Arial" pitchFamily="34" charset="-120"/>
              </a:rPr>
              <a:t>of US players aged 8+ play with other people.</a:t>
            </a:r>
            <a:endParaRPr lang="en-US" sz="950" dirty="0"/>
          </a:p>
        </p:txBody>
      </p:sp>
      <p:sp>
        <p:nvSpPr>
          <p:cNvPr id="19" name="text 11.18"/>
          <p:cNvSpPr txBox="1"/>
          <p:nvPr/>
        </p:nvSpPr>
        <p:spPr>
          <a:xfrm>
            <a:off x="6349841" y="3581310"/>
            <a:ext cx="652972" cy="133347"/>
          </a:xfrm>
          <a:prstGeom prst="rect">
            <a:avLst/>
          </a:prstGeom>
          <a:noFill/>
          <a:ln/>
        </p:spPr>
        <p:txBody>
          <a:bodyPr wrap="square" lIns="0" tIns="0" rIns="0" bIns="0" rtlCol="0" anchor="t"/>
          <a:lstStyle/>
          <a:p>
            <a:pPr algn="l" indent="0" marL="0">
              <a:lnSpc>
                <a:spcPts val="1050"/>
              </a:lnSpc>
              <a:buNone/>
            </a:pPr>
            <a:r>
              <a:rPr lang="en-US" sz="750" dirty="0">
                <a:solidFill>
                  <a:srgbClr val="6F778C"/>
                </a:solidFill>
                <a:latin typeface="Arial" pitchFamily="34" charset="0"/>
                <a:ea typeface="Arial" pitchFamily="34" charset="-122"/>
                <a:cs typeface="Arial" pitchFamily="34" charset="-120"/>
              </a:rPr>
              <a:t>ESA 2026 [3]</a:t>
            </a:r>
            <a:endParaRPr lang="en-US" sz="750" dirty="0"/>
          </a:p>
        </p:txBody>
      </p:sp>
      <p:sp>
        <p:nvSpPr>
          <p:cNvPr id="20" name="text 11.19"/>
          <p:cNvSpPr txBox="1"/>
          <p:nvPr/>
        </p:nvSpPr>
        <p:spPr>
          <a:xfrm>
            <a:off x="9131072" y="2578036"/>
            <a:ext cx="1004448" cy="444489"/>
          </a:xfrm>
          <a:prstGeom prst="rect">
            <a:avLst/>
          </a:prstGeom>
          <a:noFill/>
          <a:ln/>
        </p:spPr>
        <p:txBody>
          <a:bodyPr wrap="square" lIns="0" tIns="0" rIns="0" bIns="0" rtlCol="0" anchor="t"/>
          <a:lstStyle/>
          <a:p>
            <a:pPr algn="l" indent="0" marL="0">
              <a:lnSpc>
                <a:spcPts val="3500"/>
              </a:lnSpc>
              <a:buNone/>
            </a:pPr>
            <a:r>
              <a:rPr lang="en-US" sz="3500" dirty="0">
                <a:solidFill>
                  <a:srgbClr val="FF6B1F"/>
                </a:solidFill>
                <a:latin typeface="Arial Rounded MT Bold" pitchFamily="34" charset="0"/>
                <a:ea typeface="Arial Rounded MT Bold" pitchFamily="34" charset="-122"/>
                <a:cs typeface="Arial Rounded MT Bold" pitchFamily="34" charset="-120"/>
              </a:rPr>
              <a:t>≈8%</a:t>
            </a:r>
            <a:endParaRPr lang="en-US" sz="3500" dirty="0"/>
          </a:p>
        </p:txBody>
      </p:sp>
      <p:sp>
        <p:nvSpPr>
          <p:cNvPr id="21" name="text 11.20"/>
          <p:cNvSpPr txBox="1"/>
          <p:nvPr/>
        </p:nvSpPr>
        <p:spPr>
          <a:xfrm>
            <a:off x="9131072" y="3111422"/>
            <a:ext cx="2324042" cy="328009"/>
          </a:xfrm>
          <a:prstGeom prst="rect">
            <a:avLst/>
          </a:prstGeom>
          <a:noFill/>
          <a:ln/>
        </p:spPr>
        <p:txBody>
          <a:bodyPr wrap="square" lIns="0" tIns="0" rIns="0" bIns="0" rtlCol="0" anchor="t"/>
          <a:lstStyle/>
          <a:p>
            <a:pPr algn="l" indent="0" marL="0">
              <a:lnSpc>
                <a:spcPts val="1290"/>
              </a:lnSpc>
              <a:buNone/>
            </a:pPr>
            <a:r>
              <a:rPr lang="en-US" sz="950" dirty="0">
                <a:solidFill>
                  <a:srgbClr val="3E475E"/>
                </a:solidFill>
                <a:latin typeface="Arial" pitchFamily="34" charset="0"/>
                <a:ea typeface="Arial" pitchFamily="34" charset="-122"/>
                <a:cs typeface="Arial" pitchFamily="34" charset="-120"/>
              </a:rPr>
              <a:t>of ~3,490 Steam “Party Game” titles list LAN PvP.</a:t>
            </a:r>
            <a:endParaRPr lang="en-US" sz="950" dirty="0"/>
          </a:p>
        </p:txBody>
      </p:sp>
      <p:sp>
        <p:nvSpPr>
          <p:cNvPr id="22" name="text 11.21"/>
          <p:cNvSpPr txBox="1"/>
          <p:nvPr/>
        </p:nvSpPr>
        <p:spPr>
          <a:xfrm>
            <a:off x="9131072" y="3581310"/>
            <a:ext cx="961433" cy="133347"/>
          </a:xfrm>
          <a:prstGeom prst="rect">
            <a:avLst/>
          </a:prstGeom>
          <a:noFill/>
          <a:ln/>
        </p:spPr>
        <p:txBody>
          <a:bodyPr wrap="square" lIns="0" tIns="0" rIns="0" bIns="0" rtlCol="0" anchor="t"/>
          <a:lstStyle/>
          <a:p>
            <a:pPr algn="l" indent="0" marL="0">
              <a:lnSpc>
                <a:spcPts val="1050"/>
              </a:lnSpc>
              <a:buNone/>
            </a:pPr>
            <a:r>
              <a:rPr lang="en-US" sz="750" dirty="0">
                <a:solidFill>
                  <a:srgbClr val="6F778C"/>
                </a:solidFill>
                <a:latin typeface="Arial" pitchFamily="34" charset="0"/>
                <a:ea typeface="Arial" pitchFamily="34" charset="-122"/>
                <a:cs typeface="Arial" pitchFamily="34" charset="-120"/>
              </a:rPr>
              <a:t>Steam, Oct 2026 [4]</a:t>
            </a:r>
            <a:endParaRPr lang="en-US" sz="750" dirty="0"/>
          </a:p>
        </p:txBody>
      </p:sp>
      <p:sp>
        <p:nvSpPr>
          <p:cNvPr id="23" name="text 11.22"/>
          <p:cNvSpPr txBox="1"/>
          <p:nvPr/>
        </p:nvSpPr>
        <p:spPr>
          <a:xfrm>
            <a:off x="863578" y="4152796"/>
            <a:ext cx="3460255"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B2340"/>
                </a:solidFill>
                <a:latin typeface="Arial" pitchFamily="34" charset="0"/>
                <a:ea typeface="Arial" pitchFamily="34" charset="-122"/>
                <a:cs typeface="Arial" pitchFamily="34" charset="-120"/>
              </a:rPr>
              <a:t>STEAM “PARTY GAME” TITLES BY MULTIPLAYER TAG</a:t>
            </a:r>
            <a:endParaRPr lang="en-US" sz="800" dirty="0"/>
          </a:p>
        </p:txBody>
      </p:sp>
      <p:sp>
        <p:nvSpPr>
          <p:cNvPr id="24" name="text 11.23"/>
          <p:cNvSpPr txBox="1"/>
          <p:nvPr/>
        </p:nvSpPr>
        <p:spPr>
          <a:xfrm>
            <a:off x="863578" y="4406790"/>
            <a:ext cx="2070048" cy="144776"/>
          </a:xfrm>
          <a:prstGeom prst="rect">
            <a:avLst/>
          </a:prstGeom>
          <a:noFill/>
          <a:ln/>
        </p:spPr>
        <p:txBody>
          <a:bodyPr wrap="square" lIns="0" tIns="0" rIns="0" bIns="0" rtlCol="0" anchor="t"/>
          <a:lstStyle/>
          <a:p>
            <a:pPr algn="l" indent="0" marL="0">
              <a:lnSpc>
                <a:spcPts val="1140"/>
              </a:lnSpc>
              <a:buNone/>
            </a:pPr>
            <a:r>
              <a:rPr lang="en-US" sz="950" b="1" dirty="0">
                <a:solidFill>
                  <a:srgbClr val="1B2340"/>
                </a:solidFill>
                <a:latin typeface="Arial" pitchFamily="34" charset="0"/>
                <a:ea typeface="Arial" pitchFamily="34" charset="-122"/>
                <a:cs typeface="Arial" pitchFamily="34" charset="-120"/>
              </a:rPr>
              <a:t>Online PvP</a:t>
            </a:r>
            <a:endParaRPr lang="en-US" sz="950" dirty="0"/>
          </a:p>
        </p:txBody>
      </p:sp>
      <p:sp>
        <p:nvSpPr>
          <p:cNvPr id="25" name="shape 11.24"/>
          <p:cNvSpPr/>
          <p:nvPr/>
        </p:nvSpPr>
        <p:spPr>
          <a:xfrm>
            <a:off x="2984425" y="4413140"/>
            <a:ext cx="7429314" cy="139697"/>
          </a:xfrm>
          <a:prstGeom prst="roundRect">
            <a:avLst>
              <a:gd name="adj" fmla="val 50000"/>
            </a:avLst>
          </a:prstGeom>
          <a:solidFill>
            <a:srgbClr val="E8ECE3"/>
          </a:solidFill>
          <a:ln/>
        </p:spPr>
      </p:sp>
      <p:sp>
        <p:nvSpPr>
          <p:cNvPr id="26" name="shape 11.25"/>
          <p:cNvSpPr/>
          <p:nvPr/>
        </p:nvSpPr>
        <p:spPr>
          <a:xfrm>
            <a:off x="2984425" y="4413140"/>
            <a:ext cx="7429314" cy="139697"/>
          </a:xfrm>
          <a:prstGeom prst="roundRect">
            <a:avLst>
              <a:gd name="adj" fmla="val 50000"/>
            </a:avLst>
          </a:prstGeom>
          <a:solidFill>
            <a:srgbClr val="1FA9EA"/>
          </a:solidFill>
          <a:ln/>
        </p:spPr>
      </p:sp>
      <p:sp>
        <p:nvSpPr>
          <p:cNvPr id="27" name="text 11.26"/>
          <p:cNvSpPr txBox="1"/>
          <p:nvPr/>
        </p:nvSpPr>
        <p:spPr>
          <a:xfrm>
            <a:off x="10566136" y="4394090"/>
            <a:ext cx="761981" cy="165096"/>
          </a:xfrm>
          <a:prstGeom prst="rect">
            <a:avLst/>
          </a:prstGeom>
          <a:noFill/>
          <a:ln/>
        </p:spPr>
        <p:txBody>
          <a:bodyPr wrap="square" lIns="0" tIns="0" rIns="0" bIns="0" rtlCol="0" anchor="t"/>
          <a:lstStyle/>
          <a:p>
            <a:pPr algn="r" indent="0" marL="0">
              <a:lnSpc>
                <a:spcPts val="1300"/>
              </a:lnSpc>
              <a:buNone/>
            </a:pPr>
            <a:r>
              <a:rPr lang="en-US" sz="1300" dirty="0">
                <a:solidFill>
                  <a:srgbClr val="1FA9EA"/>
                </a:solidFill>
                <a:latin typeface="Arial Rounded MT Bold" pitchFamily="34" charset="0"/>
                <a:ea typeface="Arial Rounded MT Bold" pitchFamily="34" charset="-122"/>
                <a:cs typeface="Arial Rounded MT Bold" pitchFamily="34" charset="-120"/>
              </a:rPr>
              <a:t>1,870</a:t>
            </a:r>
            <a:endParaRPr lang="en-US" sz="1300" dirty="0"/>
          </a:p>
        </p:txBody>
      </p:sp>
      <p:sp>
        <p:nvSpPr>
          <p:cNvPr id="28" name="text 11.27"/>
          <p:cNvSpPr txBox="1"/>
          <p:nvPr/>
        </p:nvSpPr>
        <p:spPr>
          <a:xfrm>
            <a:off x="863578" y="4673483"/>
            <a:ext cx="2070048" cy="144776"/>
          </a:xfrm>
          <a:prstGeom prst="rect">
            <a:avLst/>
          </a:prstGeom>
          <a:noFill/>
          <a:ln/>
        </p:spPr>
        <p:txBody>
          <a:bodyPr wrap="square" lIns="0" tIns="0" rIns="0" bIns="0" rtlCol="0" anchor="t"/>
          <a:lstStyle/>
          <a:p>
            <a:pPr algn="l" indent="0" marL="0">
              <a:lnSpc>
                <a:spcPts val="1140"/>
              </a:lnSpc>
              <a:buNone/>
            </a:pPr>
            <a:r>
              <a:rPr lang="en-US" sz="950" b="1" dirty="0">
                <a:solidFill>
                  <a:srgbClr val="1B2340"/>
                </a:solidFill>
                <a:latin typeface="Arial" pitchFamily="34" charset="0"/>
                <a:ea typeface="Arial" pitchFamily="34" charset="-122"/>
                <a:cs typeface="Arial" pitchFamily="34" charset="-120"/>
              </a:rPr>
              <a:t>Shared / split-screen PvP</a:t>
            </a:r>
            <a:endParaRPr lang="en-US" sz="950" dirty="0"/>
          </a:p>
        </p:txBody>
      </p:sp>
      <p:sp>
        <p:nvSpPr>
          <p:cNvPr id="29" name="shape 11.28"/>
          <p:cNvSpPr/>
          <p:nvPr/>
        </p:nvSpPr>
        <p:spPr>
          <a:xfrm>
            <a:off x="2984425" y="4679833"/>
            <a:ext cx="7429314" cy="139697"/>
          </a:xfrm>
          <a:prstGeom prst="roundRect">
            <a:avLst>
              <a:gd name="adj" fmla="val 50000"/>
            </a:avLst>
          </a:prstGeom>
          <a:solidFill>
            <a:srgbClr val="E8ECE3"/>
          </a:solidFill>
          <a:ln/>
        </p:spPr>
      </p:sp>
      <p:sp>
        <p:nvSpPr>
          <p:cNvPr id="30" name="shape 11.29"/>
          <p:cNvSpPr/>
          <p:nvPr/>
        </p:nvSpPr>
        <p:spPr>
          <a:xfrm>
            <a:off x="2984425" y="4679833"/>
            <a:ext cx="4038499" cy="139697"/>
          </a:xfrm>
          <a:prstGeom prst="roundRect">
            <a:avLst>
              <a:gd name="adj" fmla="val 50000"/>
            </a:avLst>
          </a:prstGeom>
          <a:solidFill>
            <a:srgbClr val="8F55F5"/>
          </a:solidFill>
          <a:ln/>
        </p:spPr>
      </p:sp>
      <p:sp>
        <p:nvSpPr>
          <p:cNvPr id="31" name="text 11.30"/>
          <p:cNvSpPr txBox="1"/>
          <p:nvPr/>
        </p:nvSpPr>
        <p:spPr>
          <a:xfrm>
            <a:off x="10566136" y="4660783"/>
            <a:ext cx="761981" cy="165096"/>
          </a:xfrm>
          <a:prstGeom prst="rect">
            <a:avLst/>
          </a:prstGeom>
          <a:noFill/>
          <a:ln/>
        </p:spPr>
        <p:txBody>
          <a:bodyPr wrap="square" lIns="0" tIns="0" rIns="0" bIns="0" rtlCol="0" anchor="t"/>
          <a:lstStyle/>
          <a:p>
            <a:pPr algn="r" indent="0" marL="0">
              <a:lnSpc>
                <a:spcPts val="1300"/>
              </a:lnSpc>
              <a:buNone/>
            </a:pPr>
            <a:r>
              <a:rPr lang="en-US" sz="1300" dirty="0">
                <a:solidFill>
                  <a:srgbClr val="8F55F5"/>
                </a:solidFill>
                <a:latin typeface="Arial Rounded MT Bold" pitchFamily="34" charset="0"/>
                <a:ea typeface="Arial Rounded MT Bold" pitchFamily="34" charset="-122"/>
                <a:cs typeface="Arial Rounded MT Bold" pitchFamily="34" charset="-120"/>
              </a:rPr>
              <a:t>1,017</a:t>
            </a:r>
            <a:endParaRPr lang="en-US" sz="1300" dirty="0"/>
          </a:p>
        </p:txBody>
      </p:sp>
      <p:sp>
        <p:nvSpPr>
          <p:cNvPr id="32" name="text 11.31"/>
          <p:cNvSpPr txBox="1"/>
          <p:nvPr/>
        </p:nvSpPr>
        <p:spPr>
          <a:xfrm>
            <a:off x="863578" y="4940176"/>
            <a:ext cx="2070048" cy="144776"/>
          </a:xfrm>
          <a:prstGeom prst="rect">
            <a:avLst/>
          </a:prstGeom>
          <a:noFill/>
          <a:ln/>
        </p:spPr>
        <p:txBody>
          <a:bodyPr wrap="square" lIns="0" tIns="0" rIns="0" bIns="0" rtlCol="0" anchor="t"/>
          <a:lstStyle/>
          <a:p>
            <a:pPr algn="l" indent="0" marL="0">
              <a:lnSpc>
                <a:spcPts val="1140"/>
              </a:lnSpc>
              <a:buNone/>
            </a:pPr>
            <a:r>
              <a:rPr lang="en-US" sz="950" b="1" dirty="0">
                <a:solidFill>
                  <a:srgbClr val="1B2340"/>
                </a:solidFill>
                <a:latin typeface="Arial" pitchFamily="34" charset="0"/>
                <a:ea typeface="Arial" pitchFamily="34" charset="-122"/>
                <a:cs typeface="Arial" pitchFamily="34" charset="-120"/>
              </a:rPr>
              <a:t>LAN PvP</a:t>
            </a:r>
            <a:endParaRPr lang="en-US" sz="950" dirty="0"/>
          </a:p>
        </p:txBody>
      </p:sp>
      <p:sp>
        <p:nvSpPr>
          <p:cNvPr id="33" name="shape 11.32"/>
          <p:cNvSpPr/>
          <p:nvPr/>
        </p:nvSpPr>
        <p:spPr>
          <a:xfrm>
            <a:off x="2984425" y="4946526"/>
            <a:ext cx="7429314" cy="139697"/>
          </a:xfrm>
          <a:prstGeom prst="roundRect">
            <a:avLst>
              <a:gd name="adj" fmla="val 50000"/>
            </a:avLst>
          </a:prstGeom>
          <a:solidFill>
            <a:srgbClr val="E8ECE3"/>
          </a:solidFill>
          <a:ln/>
        </p:spPr>
      </p:sp>
      <p:sp>
        <p:nvSpPr>
          <p:cNvPr id="34" name="shape 11.33"/>
          <p:cNvSpPr/>
          <p:nvPr/>
        </p:nvSpPr>
        <p:spPr>
          <a:xfrm>
            <a:off x="2984425" y="4946526"/>
            <a:ext cx="1162021" cy="139697"/>
          </a:xfrm>
          <a:prstGeom prst="roundRect">
            <a:avLst>
              <a:gd name="adj" fmla="val 50000"/>
            </a:avLst>
          </a:prstGeom>
          <a:solidFill>
            <a:srgbClr val="FF6B1F"/>
          </a:solidFill>
          <a:ln/>
        </p:spPr>
      </p:sp>
      <p:sp>
        <p:nvSpPr>
          <p:cNvPr id="35" name="text 11.34"/>
          <p:cNvSpPr txBox="1"/>
          <p:nvPr/>
        </p:nvSpPr>
        <p:spPr>
          <a:xfrm>
            <a:off x="10566136" y="4927477"/>
            <a:ext cx="761981" cy="165096"/>
          </a:xfrm>
          <a:prstGeom prst="rect">
            <a:avLst/>
          </a:prstGeom>
          <a:noFill/>
          <a:ln/>
        </p:spPr>
        <p:txBody>
          <a:bodyPr wrap="square" lIns="0" tIns="0" rIns="0" bIns="0" rtlCol="0" anchor="t"/>
          <a:lstStyle/>
          <a:p>
            <a:pPr algn="r" indent="0" marL="0">
              <a:lnSpc>
                <a:spcPts val="1300"/>
              </a:lnSpc>
              <a:buNone/>
            </a:pPr>
            <a:r>
              <a:rPr lang="en-US" sz="1300" dirty="0">
                <a:solidFill>
                  <a:srgbClr val="FF6B1F"/>
                </a:solidFill>
                <a:latin typeface="Arial Rounded MT Bold" pitchFamily="34" charset="0"/>
                <a:ea typeface="Arial Rounded MT Bold" pitchFamily="34" charset="-122"/>
                <a:cs typeface="Arial Rounded MT Bold" pitchFamily="34" charset="-120"/>
              </a:rPr>
              <a:t>292</a:t>
            </a:r>
            <a:endParaRPr lang="en-US" sz="1300" dirty="0"/>
          </a:p>
        </p:txBody>
      </p:sp>
      <p:sp>
        <p:nvSpPr>
          <p:cNvPr id="36" name="text 11.35"/>
          <p:cNvSpPr txBox="1"/>
          <p:nvPr/>
        </p:nvSpPr>
        <p:spPr>
          <a:xfrm>
            <a:off x="8254794" y="4171846"/>
            <a:ext cx="3073323" cy="133347"/>
          </a:xfrm>
          <a:prstGeom prst="rect">
            <a:avLst/>
          </a:prstGeom>
          <a:noFill/>
          <a:ln/>
        </p:spPr>
        <p:txBody>
          <a:bodyPr wrap="square" lIns="0" tIns="0" rIns="0" bIns="0" rtlCol="0" anchor="t"/>
          <a:lstStyle/>
          <a:p>
            <a:pPr algn="r" indent="0" marL="0">
              <a:lnSpc>
                <a:spcPts val="1050"/>
              </a:lnSpc>
              <a:buNone/>
            </a:pPr>
            <a:r>
              <a:rPr lang="en-US" sz="750" dirty="0">
                <a:solidFill>
                  <a:srgbClr val="6F778C"/>
                </a:solidFill>
                <a:latin typeface="Arial" pitchFamily="34" charset="0"/>
                <a:ea typeface="Arial" pitchFamily="34" charset="-122"/>
                <a:cs typeface="Arial" pitchFamily="34" charset="-120"/>
              </a:rPr>
              <a:t>Steam store search, 17 Oct 2026 [4]. Tags are user-applied.</a:t>
            </a:r>
            <a:endParaRPr lang="en-US" sz="750" dirty="0"/>
          </a:p>
        </p:txBody>
      </p:sp>
      <p:sp>
        <p:nvSpPr>
          <p:cNvPr id="37" name="text 11.36"/>
          <p:cNvSpPr txBox="1"/>
          <p:nvPr/>
        </p:nvSpPr>
        <p:spPr>
          <a:xfrm>
            <a:off x="863578" y="5549761"/>
            <a:ext cx="1534711"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A57600"/>
                </a:solidFill>
                <a:latin typeface="Arial" pitchFamily="34" charset="0"/>
                <a:ea typeface="Arial" pitchFamily="34" charset="-122"/>
                <a:cs typeface="Arial" pitchFamily="34" charset="-120"/>
              </a:rPr>
              <a:t>RISK, STATED PLAINLY</a:t>
            </a:r>
            <a:endParaRPr lang="en-US" sz="800" dirty="0"/>
          </a:p>
        </p:txBody>
      </p:sp>
      <p:sp>
        <p:nvSpPr>
          <p:cNvPr id="38" name="text 11.37"/>
          <p:cNvSpPr txBox="1"/>
          <p:nvPr/>
        </p:nvSpPr>
        <p:spPr>
          <a:xfrm>
            <a:off x="863578" y="5752956"/>
            <a:ext cx="10515337" cy="193353"/>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An estimated 65.9% of 2025 Steam releases earned under $1,000 [5], while 5,863 games passed $100K in 2025 (Valve) [6]. </a:t>
            </a:r>
            <a:pPr algn="l" indent="0" marL="0">
              <a:lnSpc>
                <a:spcPts val="1520"/>
              </a:lnSpc>
              <a:buNone/>
            </a:pPr>
            <a:r>
              <a:rPr lang="en-US" sz="1050" b="1" dirty="0">
                <a:solidFill>
                  <a:srgbClr val="1B2340"/>
                </a:solidFill>
                <a:latin typeface="Arial" pitchFamily="34" charset="0"/>
                <a:ea typeface="Arial" pitchFamily="34" charset="-122"/>
                <a:cs typeface="Arial" pitchFamily="34" charset="-120"/>
              </a:rPr>
              <a:t>LAN is our differentiator, not a demand driver.</a:t>
            </a:r>
            <a:endParaRPr lang="en-US" sz="1050" dirty="0"/>
          </a:p>
        </p:txBody>
      </p:sp>
      <p:pic>
        <p:nvPicPr>
          <p:cNvPr id="39" name="raster 11.38" descr="diagram">    </p:cNvPr>
          <p:cNvPicPr>
            <a:picLocks noChangeAspect="1"/>
          </p:cNvPicPr>
          <p:nvPr/>
        </p:nvPicPr>
        <p:blipFill>
          <a:blip r:embed="rId2"/>
          <a:stretch>
            <a:fillRect/>
          </a:stretch>
        </p:blipFill>
        <p:spPr>
          <a:xfrm>
            <a:off x="609585" y="266693"/>
            <a:ext cx="190495" cy="190495"/>
          </a:xfrm>
          <a:prstGeom prst="rect">
            <a:avLst/>
          </a:prstGeom>
        </p:spPr>
      </p:pic>
      <p:sp>
        <p:nvSpPr>
          <p:cNvPr id="40" name="text 11.39"/>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41" name="text 11.40"/>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42" name="text 11.41"/>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43" name="text 11.42"/>
          <p:cNvSpPr txBox="1"/>
          <p:nvPr/>
        </p:nvSpPr>
        <p:spPr>
          <a:xfrm>
            <a:off x="11296070" y="6546686"/>
            <a:ext cx="366701"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11 / 25</a:t>
            </a:r>
            <a:endParaRPr lang="en-US" sz="750" dirty="0"/>
          </a:p>
        </p:txBody>
      </p:sp>
      <p:sp>
        <p:nvSpPr>
          <p:cNvPr id="44" name="text 11.43"/>
          <p:cNvSpPr txBox="1"/>
          <p:nvPr/>
        </p:nvSpPr>
        <p:spPr>
          <a:xfrm>
            <a:off x="609585" y="698483"/>
            <a:ext cx="958173"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03 · MARKET</a:t>
            </a:r>
            <a:endParaRPr lang="en-US" sz="8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2.1"/>
          <p:cNvSpPr/>
          <p:nvPr/>
        </p:nvSpPr>
        <p:spPr>
          <a:xfrm>
            <a:off x="609585" y="1803355"/>
            <a:ext cx="2095448" cy="4444889"/>
          </a:xfrm>
          <a:prstGeom prst="roundRect">
            <a:avLst>
              <a:gd name="adj" fmla="val 7273"/>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12.2"/>
          <p:cNvSpPr/>
          <p:nvPr/>
        </p:nvSpPr>
        <p:spPr>
          <a:xfrm>
            <a:off x="2832029" y="1803355"/>
            <a:ext cx="2095448" cy="4444889"/>
          </a:xfrm>
          <a:prstGeom prst="roundRect">
            <a:avLst>
              <a:gd name="adj" fmla="val 7273"/>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12.3"/>
          <p:cNvSpPr/>
          <p:nvPr/>
        </p:nvSpPr>
        <p:spPr>
          <a:xfrm>
            <a:off x="5054474" y="1803355"/>
            <a:ext cx="2095448" cy="4444889"/>
          </a:xfrm>
          <a:prstGeom prst="roundRect">
            <a:avLst>
              <a:gd name="adj" fmla="val 7273"/>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12.4"/>
          <p:cNvSpPr/>
          <p:nvPr/>
        </p:nvSpPr>
        <p:spPr>
          <a:xfrm>
            <a:off x="7276918" y="1803355"/>
            <a:ext cx="2095448" cy="4444889"/>
          </a:xfrm>
          <a:prstGeom prst="roundRect">
            <a:avLst>
              <a:gd name="adj" fmla="val 7273"/>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shape 12.5"/>
          <p:cNvSpPr/>
          <p:nvPr/>
        </p:nvSpPr>
        <p:spPr>
          <a:xfrm>
            <a:off x="9499363" y="1803355"/>
            <a:ext cx="2095448" cy="4444889"/>
          </a:xfrm>
          <a:prstGeom prst="roundRect">
            <a:avLst>
              <a:gd name="adj" fmla="val 7273"/>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7" name="img 12.6 adj10227" descr="1260320_3.jpg">    </p:cNvPr>
          <p:cNvPicPr>
            <a:picLocks noChangeAspect="1"/>
          </p:cNvPicPr>
          <p:nvPr/>
        </p:nvPicPr>
        <p:blipFill>
          <a:blip r:embed="rId2"/>
          <a:stretch>
            <a:fillRect/>
          </a:stretch>
        </p:blipFill>
        <p:spPr>
          <a:xfrm>
            <a:off x="673083" y="1866853"/>
            <a:ext cx="1968451" cy="1117572"/>
          </a:xfrm>
          <a:prstGeom prst="roundRect">
            <a:avLst>
              <a:gd name="adj" fmla="val 10227"/>
            </a:avLst>
          </a:prstGeom>
        </p:spPr>
      </p:pic>
      <p:pic>
        <p:nvPicPr>
          <p:cNvPr id="8" name="img 12.7 adj10227" descr="285900_1.jpg">    </p:cNvPr>
          <p:cNvPicPr>
            <a:picLocks noChangeAspect="1"/>
          </p:cNvPicPr>
          <p:nvPr/>
        </p:nvPicPr>
        <p:blipFill>
          <a:blip r:embed="rId3"/>
          <a:stretch>
            <a:fillRect/>
          </a:stretch>
        </p:blipFill>
        <p:spPr>
          <a:xfrm>
            <a:off x="2895528" y="1866853"/>
            <a:ext cx="1968451" cy="1117572"/>
          </a:xfrm>
          <a:prstGeom prst="roundRect">
            <a:avLst>
              <a:gd name="adj" fmla="val 10227"/>
            </a:avLst>
          </a:prstGeom>
        </p:spPr>
      </p:pic>
      <p:pic>
        <p:nvPicPr>
          <p:cNvPr id="9" name="img 12.8 adj10227" descr="1097150_2.jpg">    </p:cNvPr>
          <p:cNvPicPr>
            <a:picLocks noChangeAspect="1"/>
          </p:cNvPicPr>
          <p:nvPr/>
        </p:nvPicPr>
        <p:blipFill>
          <a:blip r:embed="rId4"/>
          <a:stretch>
            <a:fillRect/>
          </a:stretch>
        </p:blipFill>
        <p:spPr>
          <a:xfrm>
            <a:off x="5117972" y="1866853"/>
            <a:ext cx="1968451" cy="1117572"/>
          </a:xfrm>
          <a:prstGeom prst="roundRect">
            <a:avLst>
              <a:gd name="adj" fmla="val 10227"/>
            </a:avLst>
          </a:prstGeom>
        </p:spPr>
      </p:pic>
      <p:pic>
        <p:nvPicPr>
          <p:cNvPr id="10" name="img 12.9 adj10227" descr="880940_1.jpg">    </p:cNvPr>
          <p:cNvPicPr>
            <a:picLocks noChangeAspect="1"/>
          </p:cNvPicPr>
          <p:nvPr/>
        </p:nvPicPr>
        <p:blipFill>
          <a:blip r:embed="rId5"/>
          <a:stretch>
            <a:fillRect/>
          </a:stretch>
        </p:blipFill>
        <p:spPr>
          <a:xfrm>
            <a:off x="7340416" y="1866853"/>
            <a:ext cx="1968451" cy="1117572"/>
          </a:xfrm>
          <a:prstGeom prst="roundRect">
            <a:avLst>
              <a:gd name="adj" fmla="val 10227"/>
            </a:avLst>
          </a:prstGeom>
        </p:spPr>
      </p:pic>
      <p:pic>
        <p:nvPicPr>
          <p:cNvPr id="11" name="img 12.10 adj10227" descr="1858400_2.jpg">    </p:cNvPr>
          <p:cNvPicPr>
            <a:picLocks noChangeAspect="1"/>
          </p:cNvPicPr>
          <p:nvPr/>
        </p:nvPicPr>
        <p:blipFill>
          <a:blip r:embed="rId6"/>
          <a:stretch>
            <a:fillRect/>
          </a:stretch>
        </p:blipFill>
        <p:spPr>
          <a:xfrm>
            <a:off x="9562861" y="1866853"/>
            <a:ext cx="1968451" cy="1117572"/>
          </a:xfrm>
          <a:prstGeom prst="roundRect">
            <a:avLst>
              <a:gd name="adj" fmla="val 10227"/>
            </a:avLst>
          </a:prstGeom>
        </p:spPr>
      </p:pic>
      <p:sp>
        <p:nvSpPr>
          <p:cNvPr id="12" name="text 12.11"/>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Competitors</a:t>
            </a:r>
            <a:endParaRPr lang="en-US" sz="3000" dirty="0"/>
          </a:p>
        </p:txBody>
      </p:sp>
      <p:sp>
        <p:nvSpPr>
          <p:cNvPr id="13" name="text 12.12"/>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Five games we are measured against.</a:t>
            </a:r>
            <a:endParaRPr lang="en-US" sz="1350" dirty="0"/>
          </a:p>
        </p:txBody>
      </p:sp>
      <p:sp>
        <p:nvSpPr>
          <p:cNvPr id="14" name="shape 12.13"/>
          <p:cNvSpPr/>
          <p:nvPr/>
        </p:nvSpPr>
        <p:spPr>
          <a:xfrm>
            <a:off x="749281" y="1943051"/>
            <a:ext cx="825479" cy="203195"/>
          </a:xfrm>
          <a:prstGeom prst="roundRect">
            <a:avLst>
              <a:gd name="adj" fmla="val 50000"/>
            </a:avLst>
          </a:prstGeom>
          <a:solidFill>
            <a:srgbClr val="FF6B1F"/>
          </a:solidFill>
          <a:ln/>
        </p:spPr>
      </p:sp>
      <p:sp>
        <p:nvSpPr>
          <p:cNvPr id="15" name="text 12.14"/>
          <p:cNvSpPr txBox="1"/>
          <p:nvPr/>
        </p:nvSpPr>
        <p:spPr>
          <a:xfrm>
            <a:off x="749281" y="1943051"/>
            <a:ext cx="825479"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FFFF"/>
                </a:solidFill>
                <a:latin typeface="Arial" pitchFamily="34" charset="0"/>
                <a:ea typeface="Arial" pitchFamily="34" charset="-122"/>
                <a:cs typeface="Arial" pitchFamily="34" charset="-120"/>
              </a:rPr>
              <a:t>AUDIENCE</a:t>
            </a:r>
            <a:endParaRPr lang="en-US" sz="650" dirty="0"/>
          </a:p>
        </p:txBody>
      </p:sp>
      <p:sp>
        <p:nvSpPr>
          <p:cNvPr id="16" name="text 12.15"/>
          <p:cNvSpPr txBox="1"/>
          <p:nvPr/>
        </p:nvSpPr>
        <p:spPr>
          <a:xfrm>
            <a:off x="761981" y="3111422"/>
            <a:ext cx="1237082" cy="189860"/>
          </a:xfrm>
          <a:prstGeom prst="rect">
            <a:avLst/>
          </a:prstGeom>
          <a:noFill/>
          <a:ln/>
        </p:spPr>
        <p:txBody>
          <a:bodyPr wrap="square" lIns="0" tIns="0" rIns="0" bIns="0" rtlCol="0" anchor="t"/>
          <a:lstStyle/>
          <a:p>
            <a:pPr algn="l" indent="0" marL="0">
              <a:lnSpc>
                <a:spcPts val="1490"/>
              </a:lnSpc>
              <a:buNone/>
            </a:pPr>
            <a:r>
              <a:rPr lang="en-US" sz="1300" dirty="0">
                <a:solidFill>
                  <a:srgbClr val="1B2340"/>
                </a:solidFill>
                <a:latin typeface="Arial Rounded MT Bold" pitchFamily="34" charset="0"/>
                <a:ea typeface="Arial Rounded MT Bold" pitchFamily="34" charset="-122"/>
                <a:cs typeface="Arial Rounded MT Bold" pitchFamily="34" charset="-120"/>
              </a:rPr>
              <a:t>Party Animals</a:t>
            </a:r>
            <a:endParaRPr lang="en-US" sz="1300" dirty="0"/>
          </a:p>
        </p:txBody>
      </p:sp>
      <p:sp>
        <p:nvSpPr>
          <p:cNvPr id="17" name="text 12.16"/>
          <p:cNvSpPr txBox="1"/>
          <p:nvPr/>
        </p:nvSpPr>
        <p:spPr>
          <a:xfrm>
            <a:off x="761981" y="3340016"/>
            <a:ext cx="1212788"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Recreate Games · 2023</a:t>
            </a:r>
            <a:endParaRPr lang="en-US" sz="800" dirty="0"/>
          </a:p>
        </p:txBody>
      </p:sp>
      <p:sp>
        <p:nvSpPr>
          <p:cNvPr id="18" name="text 12.17"/>
          <p:cNvSpPr txBox="1"/>
          <p:nvPr/>
        </p:nvSpPr>
        <p:spPr>
          <a:xfrm>
            <a:off x="761981" y="3670208"/>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MECHANIC</a:t>
            </a:r>
            <a:endParaRPr lang="en-US" sz="700" dirty="0"/>
          </a:p>
        </p:txBody>
      </p:sp>
      <p:sp>
        <p:nvSpPr>
          <p:cNvPr id="19" name="text 12.18"/>
          <p:cNvSpPr txBox="1"/>
          <p:nvPr/>
        </p:nvSpPr>
        <p:spPr>
          <a:xfrm>
            <a:off x="761981" y="3809905"/>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Physics brawling: grab, punch, throw rivals out.</a:t>
            </a:r>
            <a:endParaRPr lang="en-US" sz="950" dirty="0"/>
          </a:p>
        </p:txBody>
      </p:sp>
      <p:sp>
        <p:nvSpPr>
          <p:cNvPr id="20" name="text 12.19"/>
          <p:cNvSpPr txBox="1"/>
          <p:nvPr/>
        </p:nvSpPr>
        <p:spPr>
          <a:xfrm>
            <a:off x="761981" y="4482988"/>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MULTIPLAYER</a:t>
            </a:r>
            <a:endParaRPr lang="en-US" sz="700" dirty="0"/>
          </a:p>
        </p:txBody>
      </p:sp>
      <p:sp>
        <p:nvSpPr>
          <p:cNvPr id="21" name="text 12.20"/>
          <p:cNvSpPr txBox="1"/>
          <p:nvPr/>
        </p:nvSpPr>
        <p:spPr>
          <a:xfrm>
            <a:off x="761981" y="4622684"/>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Online and same-screen. No LAN listed.</a:t>
            </a:r>
            <a:endParaRPr lang="en-US" sz="950" dirty="0"/>
          </a:p>
        </p:txBody>
      </p:sp>
      <p:sp>
        <p:nvSpPr>
          <p:cNvPr id="22" name="text 12.21"/>
          <p:cNvSpPr txBox="1"/>
          <p:nvPr/>
        </p:nvSpPr>
        <p:spPr>
          <a:xfrm>
            <a:off x="761981" y="5295768"/>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FINANCIALS</a:t>
            </a:r>
            <a:endParaRPr lang="en-US" sz="700" dirty="0"/>
          </a:p>
        </p:txBody>
      </p:sp>
      <p:sp>
        <p:nvSpPr>
          <p:cNvPr id="23" name="text 12.22"/>
          <p:cNvSpPr txBox="1"/>
          <p:nvPr/>
        </p:nvSpPr>
        <p:spPr>
          <a:xfrm>
            <a:off x="761981" y="5435464"/>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Launch peak 104,174 players. Owner est. 2.5M–6.0M.</a:t>
            </a:r>
            <a:endParaRPr lang="en-US" sz="950" dirty="0"/>
          </a:p>
        </p:txBody>
      </p:sp>
      <p:sp>
        <p:nvSpPr>
          <p:cNvPr id="24" name="shape 12.23"/>
          <p:cNvSpPr/>
          <p:nvPr/>
        </p:nvSpPr>
        <p:spPr>
          <a:xfrm>
            <a:off x="2971726" y="1943051"/>
            <a:ext cx="825479" cy="203195"/>
          </a:xfrm>
          <a:prstGeom prst="roundRect">
            <a:avLst>
              <a:gd name="adj" fmla="val 50000"/>
            </a:avLst>
          </a:prstGeom>
          <a:solidFill>
            <a:srgbClr val="1FA9EA"/>
          </a:solidFill>
          <a:ln/>
        </p:spPr>
      </p:sp>
      <p:sp>
        <p:nvSpPr>
          <p:cNvPr id="25" name="text 12.24"/>
          <p:cNvSpPr txBox="1"/>
          <p:nvPr/>
        </p:nvSpPr>
        <p:spPr>
          <a:xfrm>
            <a:off x="2971726" y="1943051"/>
            <a:ext cx="825479"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FFFF"/>
                </a:solidFill>
                <a:latin typeface="Arial" pitchFamily="34" charset="0"/>
                <a:ea typeface="Arial" pitchFamily="34" charset="-122"/>
                <a:cs typeface="Arial" pitchFamily="34" charset="-120"/>
              </a:rPr>
              <a:t>PHYSICS</a:t>
            </a:r>
            <a:endParaRPr lang="en-US" sz="650" dirty="0"/>
          </a:p>
        </p:txBody>
      </p:sp>
      <p:sp>
        <p:nvSpPr>
          <p:cNvPr id="26" name="text 12.25"/>
          <p:cNvSpPr txBox="1"/>
          <p:nvPr/>
        </p:nvSpPr>
        <p:spPr>
          <a:xfrm>
            <a:off x="2984425" y="3111422"/>
            <a:ext cx="1150423" cy="189860"/>
          </a:xfrm>
          <a:prstGeom prst="rect">
            <a:avLst/>
          </a:prstGeom>
          <a:noFill/>
          <a:ln/>
        </p:spPr>
        <p:txBody>
          <a:bodyPr wrap="square" lIns="0" tIns="0" rIns="0" bIns="0" rtlCol="0" anchor="t"/>
          <a:lstStyle/>
          <a:p>
            <a:pPr algn="l" indent="0" marL="0">
              <a:lnSpc>
                <a:spcPts val="1490"/>
              </a:lnSpc>
              <a:buNone/>
            </a:pPr>
            <a:r>
              <a:rPr lang="en-US" sz="1300" dirty="0">
                <a:solidFill>
                  <a:srgbClr val="1B2340"/>
                </a:solidFill>
                <a:latin typeface="Arial Rounded MT Bold" pitchFamily="34" charset="0"/>
                <a:ea typeface="Arial Rounded MT Bold" pitchFamily="34" charset="-122"/>
                <a:cs typeface="Arial Rounded MT Bold" pitchFamily="34" charset="-120"/>
              </a:rPr>
              <a:t>Gang Beasts</a:t>
            </a:r>
            <a:endParaRPr lang="en-US" sz="1300" dirty="0"/>
          </a:p>
        </p:txBody>
      </p:sp>
      <p:sp>
        <p:nvSpPr>
          <p:cNvPr id="27" name="text 12.26"/>
          <p:cNvSpPr txBox="1"/>
          <p:nvPr/>
        </p:nvSpPr>
        <p:spPr>
          <a:xfrm>
            <a:off x="2984425" y="3340016"/>
            <a:ext cx="823977"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Boneloaf · 2017</a:t>
            </a:r>
            <a:endParaRPr lang="en-US" sz="800" dirty="0"/>
          </a:p>
        </p:txBody>
      </p:sp>
      <p:sp>
        <p:nvSpPr>
          <p:cNvPr id="28" name="text 12.27"/>
          <p:cNvSpPr txBox="1"/>
          <p:nvPr/>
        </p:nvSpPr>
        <p:spPr>
          <a:xfrm>
            <a:off x="2984425" y="3670208"/>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MECHANIC</a:t>
            </a:r>
            <a:endParaRPr lang="en-US" sz="700" dirty="0"/>
          </a:p>
        </p:txBody>
      </p:sp>
      <p:sp>
        <p:nvSpPr>
          <p:cNvPr id="29" name="text 12.28"/>
          <p:cNvSpPr txBox="1"/>
          <p:nvPr/>
        </p:nvSpPr>
        <p:spPr>
          <a:xfrm>
            <a:off x="2984425" y="3809905"/>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Ragdoll brawling into stage hazards.</a:t>
            </a:r>
            <a:endParaRPr lang="en-US" sz="950" dirty="0"/>
          </a:p>
        </p:txBody>
      </p:sp>
      <p:sp>
        <p:nvSpPr>
          <p:cNvPr id="30" name="text 12.29"/>
          <p:cNvSpPr txBox="1"/>
          <p:nvPr/>
        </p:nvSpPr>
        <p:spPr>
          <a:xfrm>
            <a:off x="2984425" y="4482988"/>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MULTIPLAYER</a:t>
            </a:r>
            <a:endParaRPr lang="en-US" sz="700" dirty="0"/>
          </a:p>
        </p:txBody>
      </p:sp>
      <p:sp>
        <p:nvSpPr>
          <p:cNvPr id="31" name="text 12.30"/>
          <p:cNvSpPr txBox="1"/>
          <p:nvPr/>
        </p:nvSpPr>
        <p:spPr>
          <a:xfrm>
            <a:off x="2984425" y="4622684"/>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Same-screen and online. No LAN listed.</a:t>
            </a:r>
            <a:endParaRPr lang="en-US" sz="950" dirty="0"/>
          </a:p>
        </p:txBody>
      </p:sp>
      <p:sp>
        <p:nvSpPr>
          <p:cNvPr id="32" name="text 12.31"/>
          <p:cNvSpPr txBox="1"/>
          <p:nvPr/>
        </p:nvSpPr>
        <p:spPr>
          <a:xfrm>
            <a:off x="2984425" y="5295768"/>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FINANCIALS</a:t>
            </a:r>
            <a:endParaRPr lang="en-US" sz="700" dirty="0"/>
          </a:p>
        </p:txBody>
      </p:sp>
      <p:sp>
        <p:nvSpPr>
          <p:cNvPr id="33" name="text 12.32"/>
          <p:cNvSpPr txBox="1"/>
          <p:nvPr/>
        </p:nvSpPr>
        <p:spPr>
          <a:xfrm>
            <a:off x="2984425" y="5435464"/>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85% positive. Owner est. 4.6M–5.8M.</a:t>
            </a:r>
            <a:endParaRPr lang="en-US" sz="950" dirty="0"/>
          </a:p>
        </p:txBody>
      </p:sp>
      <p:sp>
        <p:nvSpPr>
          <p:cNvPr id="34" name="shape 12.33"/>
          <p:cNvSpPr/>
          <p:nvPr/>
        </p:nvSpPr>
        <p:spPr>
          <a:xfrm>
            <a:off x="5194170" y="1943051"/>
            <a:ext cx="825479" cy="203195"/>
          </a:xfrm>
          <a:prstGeom prst="roundRect">
            <a:avLst>
              <a:gd name="adj" fmla="val 50000"/>
            </a:avLst>
          </a:prstGeom>
          <a:solidFill>
            <a:srgbClr val="43B832"/>
          </a:solidFill>
          <a:ln/>
        </p:spPr>
      </p:sp>
      <p:sp>
        <p:nvSpPr>
          <p:cNvPr id="35" name="text 12.34"/>
          <p:cNvSpPr txBox="1"/>
          <p:nvPr/>
        </p:nvSpPr>
        <p:spPr>
          <a:xfrm>
            <a:off x="5194170" y="1943051"/>
            <a:ext cx="825479"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FFFF"/>
                </a:solidFill>
                <a:latin typeface="Arial" pitchFamily="34" charset="0"/>
                <a:ea typeface="Arial" pitchFamily="34" charset="-122"/>
                <a:cs typeface="Arial" pitchFamily="34" charset="-120"/>
              </a:rPr>
              <a:t>FORMAT</a:t>
            </a:r>
            <a:endParaRPr lang="en-US" sz="650" dirty="0"/>
          </a:p>
        </p:txBody>
      </p:sp>
      <p:sp>
        <p:nvSpPr>
          <p:cNvPr id="36" name="text 12.35"/>
          <p:cNvSpPr txBox="1"/>
          <p:nvPr/>
        </p:nvSpPr>
        <p:spPr>
          <a:xfrm>
            <a:off x="5206870" y="3111422"/>
            <a:ext cx="839227" cy="189860"/>
          </a:xfrm>
          <a:prstGeom prst="rect">
            <a:avLst/>
          </a:prstGeom>
          <a:noFill/>
          <a:ln/>
        </p:spPr>
        <p:txBody>
          <a:bodyPr wrap="square" lIns="0" tIns="0" rIns="0" bIns="0" rtlCol="0" anchor="t"/>
          <a:lstStyle/>
          <a:p>
            <a:pPr algn="l" indent="0" marL="0">
              <a:lnSpc>
                <a:spcPts val="1490"/>
              </a:lnSpc>
              <a:buNone/>
            </a:pPr>
            <a:r>
              <a:rPr lang="en-US" sz="1300" dirty="0">
                <a:solidFill>
                  <a:srgbClr val="1B2340"/>
                </a:solidFill>
                <a:latin typeface="Arial Rounded MT Bold" pitchFamily="34" charset="0"/>
                <a:ea typeface="Arial Rounded MT Bold" pitchFamily="34" charset="-122"/>
                <a:cs typeface="Arial Rounded MT Bold" pitchFamily="34" charset="-120"/>
              </a:rPr>
              <a:t>Fall Guys</a:t>
            </a:r>
            <a:endParaRPr lang="en-US" sz="1300" dirty="0"/>
          </a:p>
        </p:txBody>
      </p:sp>
      <p:sp>
        <p:nvSpPr>
          <p:cNvPr id="37" name="text 12.36"/>
          <p:cNvSpPr txBox="1"/>
          <p:nvPr/>
        </p:nvSpPr>
        <p:spPr>
          <a:xfrm>
            <a:off x="5206870" y="3340016"/>
            <a:ext cx="1218888"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Mediatonic / Epic · 2020</a:t>
            </a:r>
            <a:endParaRPr lang="en-US" sz="800" dirty="0"/>
          </a:p>
        </p:txBody>
      </p:sp>
      <p:sp>
        <p:nvSpPr>
          <p:cNvPr id="38" name="text 12.37"/>
          <p:cNvSpPr txBox="1"/>
          <p:nvPr/>
        </p:nvSpPr>
        <p:spPr>
          <a:xfrm>
            <a:off x="5206870" y="3670208"/>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MECHANIC</a:t>
            </a:r>
            <a:endParaRPr lang="en-US" sz="700" dirty="0"/>
          </a:p>
        </p:txBody>
      </p:sp>
      <p:sp>
        <p:nvSpPr>
          <p:cNvPr id="39" name="text 12.38"/>
          <p:cNvSpPr txBox="1"/>
          <p:nvPr/>
        </p:nvSpPr>
        <p:spPr>
          <a:xfrm>
            <a:off x="5206870" y="3809905"/>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Short race and survival rounds in a playlist.</a:t>
            </a:r>
            <a:endParaRPr lang="en-US" sz="950" dirty="0"/>
          </a:p>
        </p:txBody>
      </p:sp>
      <p:sp>
        <p:nvSpPr>
          <p:cNvPr id="40" name="text 12.39"/>
          <p:cNvSpPr txBox="1"/>
          <p:nvPr/>
        </p:nvSpPr>
        <p:spPr>
          <a:xfrm>
            <a:off x="5206870" y="4482988"/>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MULTIPLAYER</a:t>
            </a:r>
            <a:endParaRPr lang="en-US" sz="700" dirty="0"/>
          </a:p>
        </p:txBody>
      </p:sp>
      <p:sp>
        <p:nvSpPr>
          <p:cNvPr id="41" name="text 12.40"/>
          <p:cNvSpPr txBox="1"/>
          <p:nvPr/>
        </p:nvSpPr>
        <p:spPr>
          <a:xfrm>
            <a:off x="5206870" y="4622684"/>
            <a:ext cx="1879553" cy="16166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Online, cross-platform only.</a:t>
            </a:r>
            <a:endParaRPr lang="en-US" sz="950" dirty="0"/>
          </a:p>
        </p:txBody>
      </p:sp>
      <p:sp>
        <p:nvSpPr>
          <p:cNvPr id="42" name="text 12.41"/>
          <p:cNvSpPr txBox="1"/>
          <p:nvPr/>
        </p:nvSpPr>
        <p:spPr>
          <a:xfrm>
            <a:off x="5206870" y="5295768"/>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FINANCIALS</a:t>
            </a:r>
            <a:endParaRPr lang="en-US" sz="700" dirty="0"/>
          </a:p>
        </p:txBody>
      </p:sp>
      <p:sp>
        <p:nvSpPr>
          <p:cNvPr id="43" name="text 12.42"/>
          <p:cNvSpPr txBox="1"/>
          <p:nvPr/>
        </p:nvSpPr>
        <p:spPr>
          <a:xfrm>
            <a:off x="5206870" y="5435464"/>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Free-to-play. Legacy Steam peak 172,213. Metacritic 80.</a:t>
            </a:r>
            <a:endParaRPr lang="en-US" sz="950" dirty="0"/>
          </a:p>
        </p:txBody>
      </p:sp>
      <p:sp>
        <p:nvSpPr>
          <p:cNvPr id="44" name="shape 12.43"/>
          <p:cNvSpPr/>
          <p:nvPr/>
        </p:nvSpPr>
        <p:spPr>
          <a:xfrm>
            <a:off x="7416615" y="1943051"/>
            <a:ext cx="825479" cy="203195"/>
          </a:xfrm>
          <a:prstGeom prst="roundRect">
            <a:avLst>
              <a:gd name="adj" fmla="val 50000"/>
            </a:avLst>
          </a:prstGeom>
          <a:solidFill>
            <a:srgbClr val="43B832"/>
          </a:solidFill>
          <a:ln/>
        </p:spPr>
      </p:sp>
      <p:sp>
        <p:nvSpPr>
          <p:cNvPr id="45" name="text 12.44"/>
          <p:cNvSpPr txBox="1"/>
          <p:nvPr/>
        </p:nvSpPr>
        <p:spPr>
          <a:xfrm>
            <a:off x="7416615" y="1943051"/>
            <a:ext cx="825479"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FFFF"/>
                </a:solidFill>
                <a:latin typeface="Arial" pitchFamily="34" charset="0"/>
                <a:ea typeface="Arial" pitchFamily="34" charset="-122"/>
                <a:cs typeface="Arial" pitchFamily="34" charset="-120"/>
              </a:rPr>
              <a:t>FORMAT</a:t>
            </a:r>
            <a:endParaRPr lang="en-US" sz="650" dirty="0"/>
          </a:p>
        </p:txBody>
      </p:sp>
      <p:sp>
        <p:nvSpPr>
          <p:cNvPr id="46" name="text 12.45"/>
          <p:cNvSpPr txBox="1"/>
          <p:nvPr/>
        </p:nvSpPr>
        <p:spPr>
          <a:xfrm>
            <a:off x="7429314" y="3111422"/>
            <a:ext cx="1240447" cy="189860"/>
          </a:xfrm>
          <a:prstGeom prst="rect">
            <a:avLst/>
          </a:prstGeom>
          <a:noFill/>
          <a:ln/>
        </p:spPr>
        <p:txBody>
          <a:bodyPr wrap="square" lIns="0" tIns="0" rIns="0" bIns="0" rtlCol="0" anchor="t"/>
          <a:lstStyle/>
          <a:p>
            <a:pPr algn="l" indent="0" marL="0">
              <a:lnSpc>
                <a:spcPts val="1490"/>
              </a:lnSpc>
              <a:buNone/>
            </a:pPr>
            <a:r>
              <a:rPr lang="en-US" sz="1300" dirty="0">
                <a:solidFill>
                  <a:srgbClr val="1B2340"/>
                </a:solidFill>
                <a:latin typeface="Arial Rounded MT Bold" pitchFamily="34" charset="0"/>
                <a:ea typeface="Arial Rounded MT Bold" pitchFamily="34" charset="-122"/>
                <a:cs typeface="Arial Rounded MT Bold" pitchFamily="34" charset="-120"/>
              </a:rPr>
              <a:t>Pummel Party</a:t>
            </a:r>
            <a:endParaRPr lang="en-US" sz="1300" dirty="0"/>
          </a:p>
        </p:txBody>
      </p:sp>
      <p:sp>
        <p:nvSpPr>
          <p:cNvPr id="47" name="text 12.46"/>
          <p:cNvSpPr txBox="1"/>
          <p:nvPr/>
        </p:nvSpPr>
        <p:spPr>
          <a:xfrm>
            <a:off x="7429314" y="3340016"/>
            <a:ext cx="1111089"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Rebuilt Games · 2018</a:t>
            </a:r>
            <a:endParaRPr lang="en-US" sz="800" dirty="0"/>
          </a:p>
        </p:txBody>
      </p:sp>
      <p:sp>
        <p:nvSpPr>
          <p:cNvPr id="48" name="text 12.47"/>
          <p:cNvSpPr txBox="1"/>
          <p:nvPr/>
        </p:nvSpPr>
        <p:spPr>
          <a:xfrm>
            <a:off x="7429314" y="3670208"/>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MECHANIC</a:t>
            </a:r>
            <a:endParaRPr lang="en-US" sz="700" dirty="0"/>
          </a:p>
        </p:txBody>
      </p:sp>
      <p:sp>
        <p:nvSpPr>
          <p:cNvPr id="49" name="text 12.48"/>
          <p:cNvSpPr txBox="1"/>
          <p:nvPr/>
        </p:nvSpPr>
        <p:spPr>
          <a:xfrm>
            <a:off x="7429314" y="3809905"/>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Board game with short competitive mini-games.</a:t>
            </a:r>
            <a:endParaRPr lang="en-US" sz="950" dirty="0"/>
          </a:p>
        </p:txBody>
      </p:sp>
      <p:sp>
        <p:nvSpPr>
          <p:cNvPr id="50" name="text 12.49"/>
          <p:cNvSpPr txBox="1"/>
          <p:nvPr/>
        </p:nvSpPr>
        <p:spPr>
          <a:xfrm>
            <a:off x="7429314" y="4482988"/>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MULTIPLAYER</a:t>
            </a:r>
            <a:endParaRPr lang="en-US" sz="700" dirty="0"/>
          </a:p>
        </p:txBody>
      </p:sp>
      <p:sp>
        <p:nvSpPr>
          <p:cNvPr id="51" name="text 12.50"/>
          <p:cNvSpPr txBox="1"/>
          <p:nvPr/>
        </p:nvSpPr>
        <p:spPr>
          <a:xfrm>
            <a:off x="7429314" y="4622684"/>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4–8 online and local. No LAN listed.</a:t>
            </a:r>
            <a:endParaRPr lang="en-US" sz="950" dirty="0"/>
          </a:p>
        </p:txBody>
      </p:sp>
      <p:sp>
        <p:nvSpPr>
          <p:cNvPr id="52" name="text 12.51"/>
          <p:cNvSpPr txBox="1"/>
          <p:nvPr/>
        </p:nvSpPr>
        <p:spPr>
          <a:xfrm>
            <a:off x="7429314" y="5295768"/>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FINANCIALS</a:t>
            </a:r>
            <a:endParaRPr lang="en-US" sz="700" dirty="0"/>
          </a:p>
        </p:txBody>
      </p:sp>
      <p:sp>
        <p:nvSpPr>
          <p:cNvPr id="53" name="text 12.52"/>
          <p:cNvSpPr txBox="1"/>
          <p:nvPr/>
        </p:nvSpPr>
        <p:spPr>
          <a:xfrm>
            <a:off x="7429314" y="5435464"/>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$14.99. Peak 20,957. Owner est. 1.5M–7.6M.</a:t>
            </a:r>
            <a:endParaRPr lang="en-US" sz="950" dirty="0"/>
          </a:p>
        </p:txBody>
      </p:sp>
      <p:sp>
        <p:nvSpPr>
          <p:cNvPr id="54" name="shape 12.53"/>
          <p:cNvSpPr/>
          <p:nvPr/>
        </p:nvSpPr>
        <p:spPr>
          <a:xfrm>
            <a:off x="9639059" y="1943051"/>
            <a:ext cx="825479" cy="203195"/>
          </a:xfrm>
          <a:prstGeom prst="roundRect">
            <a:avLst>
              <a:gd name="adj" fmla="val 50000"/>
            </a:avLst>
          </a:prstGeom>
          <a:solidFill>
            <a:srgbClr val="8F55F5"/>
          </a:solidFill>
          <a:ln/>
        </p:spPr>
      </p:sp>
      <p:sp>
        <p:nvSpPr>
          <p:cNvPr id="55" name="text 12.54"/>
          <p:cNvSpPr txBox="1"/>
          <p:nvPr/>
        </p:nvSpPr>
        <p:spPr>
          <a:xfrm>
            <a:off x="9639059" y="1943051"/>
            <a:ext cx="825479"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FFFF"/>
                </a:solidFill>
                <a:latin typeface="Arial" pitchFamily="34" charset="0"/>
                <a:ea typeface="Arial" pitchFamily="34" charset="-122"/>
                <a:cs typeface="Arial" pitchFamily="34" charset="-120"/>
              </a:rPr>
              <a:t>MECHANIC</a:t>
            </a:r>
            <a:endParaRPr lang="en-US" sz="650" dirty="0"/>
          </a:p>
        </p:txBody>
      </p:sp>
      <p:sp>
        <p:nvSpPr>
          <p:cNvPr id="56" name="text 12.55"/>
          <p:cNvSpPr txBox="1"/>
          <p:nvPr/>
        </p:nvSpPr>
        <p:spPr>
          <a:xfrm>
            <a:off x="9651759" y="3111422"/>
            <a:ext cx="885291" cy="189860"/>
          </a:xfrm>
          <a:prstGeom prst="rect">
            <a:avLst/>
          </a:prstGeom>
          <a:noFill/>
          <a:ln/>
        </p:spPr>
        <p:txBody>
          <a:bodyPr wrap="square" lIns="0" tIns="0" rIns="0" bIns="0" rtlCol="0" anchor="t"/>
          <a:lstStyle/>
          <a:p>
            <a:pPr algn="l" indent="0" marL="0">
              <a:lnSpc>
                <a:spcPts val="1490"/>
              </a:lnSpc>
              <a:buNone/>
            </a:pPr>
            <a:r>
              <a:rPr lang="en-US" sz="1300" dirty="0">
                <a:solidFill>
                  <a:srgbClr val="1B2340"/>
                </a:solidFill>
                <a:latin typeface="Arial Rounded MT Bold" pitchFamily="34" charset="0"/>
                <a:ea typeface="Arial Rounded MT Bold" pitchFamily="34" charset="-122"/>
                <a:cs typeface="Arial Rounded MT Bold" pitchFamily="34" charset="-120"/>
              </a:rPr>
              <a:t>Squarena</a:t>
            </a:r>
            <a:endParaRPr lang="en-US" sz="1300" dirty="0"/>
          </a:p>
        </p:txBody>
      </p:sp>
      <p:sp>
        <p:nvSpPr>
          <p:cNvPr id="57" name="text 12.56"/>
          <p:cNvSpPr txBox="1"/>
          <p:nvPr/>
        </p:nvSpPr>
        <p:spPr>
          <a:xfrm>
            <a:off x="9651759" y="3340016"/>
            <a:ext cx="991301"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Codeaclysm · 2022</a:t>
            </a:r>
            <a:endParaRPr lang="en-US" sz="800" dirty="0"/>
          </a:p>
        </p:txBody>
      </p:sp>
      <p:sp>
        <p:nvSpPr>
          <p:cNvPr id="58" name="text 12.57"/>
          <p:cNvSpPr txBox="1"/>
          <p:nvPr/>
        </p:nvSpPr>
        <p:spPr>
          <a:xfrm>
            <a:off x="9651759" y="3670208"/>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8F55F5"/>
                </a:solidFill>
                <a:latin typeface="Arial" pitchFamily="34" charset="0"/>
                <a:ea typeface="Arial" pitchFamily="34" charset="-122"/>
                <a:cs typeface="Arial" pitchFamily="34" charset="-120"/>
              </a:rPr>
              <a:t>MECHANIC</a:t>
            </a:r>
            <a:endParaRPr lang="en-US" sz="700" dirty="0"/>
          </a:p>
        </p:txBody>
      </p:sp>
      <p:sp>
        <p:nvSpPr>
          <p:cNvPr id="59" name="text 12.58"/>
          <p:cNvSpPr txBox="1"/>
          <p:nvPr/>
        </p:nvSpPr>
        <p:spPr>
          <a:xfrm>
            <a:off x="9651759" y="3809905"/>
            <a:ext cx="1879553" cy="484870"/>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Minimal 2D arena shooter: low health shrinks you; small bodies feel more recoil.</a:t>
            </a:r>
            <a:endParaRPr lang="en-US" sz="950" dirty="0"/>
          </a:p>
        </p:txBody>
      </p:sp>
      <p:sp>
        <p:nvSpPr>
          <p:cNvPr id="60" name="text 12.59"/>
          <p:cNvSpPr txBox="1"/>
          <p:nvPr/>
        </p:nvSpPr>
        <p:spPr>
          <a:xfrm>
            <a:off x="9651759" y="4482988"/>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8F55F5"/>
                </a:solidFill>
                <a:latin typeface="Arial" pitchFamily="34" charset="0"/>
                <a:ea typeface="Arial" pitchFamily="34" charset="-122"/>
                <a:cs typeface="Arial" pitchFamily="34" charset="-120"/>
              </a:rPr>
              <a:t>MULTIPLAYER</a:t>
            </a:r>
            <a:endParaRPr lang="en-US" sz="700" dirty="0"/>
          </a:p>
        </p:txBody>
      </p:sp>
      <p:sp>
        <p:nvSpPr>
          <p:cNvPr id="61" name="text 12.60"/>
          <p:cNvSpPr txBox="1"/>
          <p:nvPr/>
        </p:nvSpPr>
        <p:spPr>
          <a:xfrm>
            <a:off x="9651759" y="4622684"/>
            <a:ext cx="1879553" cy="16166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Up to 6 local. No LAN listed.</a:t>
            </a:r>
            <a:endParaRPr lang="en-US" sz="950" dirty="0"/>
          </a:p>
        </p:txBody>
      </p:sp>
      <p:sp>
        <p:nvSpPr>
          <p:cNvPr id="62" name="text 12.61"/>
          <p:cNvSpPr txBox="1"/>
          <p:nvPr/>
        </p:nvSpPr>
        <p:spPr>
          <a:xfrm>
            <a:off x="9651759" y="5295768"/>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8F55F5"/>
                </a:solidFill>
                <a:latin typeface="Arial" pitchFamily="34" charset="0"/>
                <a:ea typeface="Arial" pitchFamily="34" charset="-122"/>
                <a:cs typeface="Arial" pitchFamily="34" charset="-120"/>
              </a:rPr>
              <a:t>FINANCIALS</a:t>
            </a:r>
            <a:endParaRPr lang="en-US" sz="700" dirty="0"/>
          </a:p>
        </p:txBody>
      </p:sp>
      <p:sp>
        <p:nvSpPr>
          <p:cNvPr id="63" name="text 12.62"/>
          <p:cNvSpPr txBox="1"/>
          <p:nvPr/>
        </p:nvSpPr>
        <p:spPr>
          <a:xfrm>
            <a:off x="9651759" y="5435464"/>
            <a:ext cx="1879553" cy="16166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$4.99. Sales not disclosed.</a:t>
            </a:r>
            <a:endParaRPr lang="en-US" sz="950" dirty="0"/>
          </a:p>
        </p:txBody>
      </p:sp>
      <p:sp>
        <p:nvSpPr>
          <p:cNvPr id="64" name="text 12.63"/>
          <p:cNvSpPr txBox="1"/>
          <p:nvPr/>
        </p:nvSpPr>
        <p:spPr>
          <a:xfrm>
            <a:off x="609585" y="6351131"/>
            <a:ext cx="11694376"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Screenshots: official Steam media, © publishers. “Owner est.” = third-party estimates via SteamDB, not sales. 17 Oct 2026 [7].</a:t>
            </a:r>
            <a:endParaRPr lang="en-US" sz="850" dirty="0"/>
          </a:p>
        </p:txBody>
      </p:sp>
      <p:pic>
        <p:nvPicPr>
          <p:cNvPr id="65" name="raster 12.64" descr="diagram">    </p:cNvPr>
          <p:cNvPicPr>
            <a:picLocks noChangeAspect="1"/>
          </p:cNvPicPr>
          <p:nvPr/>
        </p:nvPicPr>
        <p:blipFill>
          <a:blip r:embed="rId7"/>
          <a:stretch>
            <a:fillRect/>
          </a:stretch>
        </p:blipFill>
        <p:spPr>
          <a:xfrm>
            <a:off x="609585" y="266693"/>
            <a:ext cx="190495" cy="190495"/>
          </a:xfrm>
          <a:prstGeom prst="rect">
            <a:avLst/>
          </a:prstGeom>
        </p:spPr>
      </p:pic>
      <p:sp>
        <p:nvSpPr>
          <p:cNvPr id="66" name="text 12.65"/>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67" name="text 12.66"/>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68" name="text 12.67"/>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69" name="text 12.68"/>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12 / 25</a:t>
            </a:r>
            <a:endParaRPr lang="en-US" sz="750" dirty="0"/>
          </a:p>
        </p:txBody>
      </p:sp>
      <p:sp>
        <p:nvSpPr>
          <p:cNvPr id="70" name="text 12.69"/>
          <p:cNvSpPr txBox="1"/>
          <p:nvPr/>
        </p:nvSpPr>
        <p:spPr>
          <a:xfrm>
            <a:off x="609585" y="698483"/>
            <a:ext cx="958173"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03 · MARKET</a:t>
            </a:r>
            <a:endParaRPr lang="en-US" sz="8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3.1"/>
          <p:cNvSpPr/>
          <p:nvPr/>
        </p:nvSpPr>
        <p:spPr>
          <a:xfrm>
            <a:off x="609585" y="1435064"/>
            <a:ext cx="9708907" cy="4089298"/>
          </a:xfrm>
          <a:prstGeom prst="roundRect">
            <a:avLst>
              <a:gd name="adj" fmla="val 3727"/>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13.2"/>
          <p:cNvSpPr/>
          <p:nvPr/>
        </p:nvSpPr>
        <p:spPr>
          <a:xfrm>
            <a:off x="10381990" y="1346166"/>
            <a:ext cx="1187420" cy="4267093"/>
          </a:xfrm>
          <a:prstGeom prst="roundRect">
            <a:avLst>
              <a:gd name="adj" fmla="val 12834"/>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pic>
        <p:nvPicPr>
          <p:cNvPr id="4" name="raster 13.3" descr="diagram">    </p:cNvPr>
          <p:cNvPicPr>
            <a:picLocks noChangeAspect="1"/>
          </p:cNvPicPr>
          <p:nvPr/>
        </p:nvPicPr>
        <p:blipFill>
          <a:blip r:embed="rId2"/>
          <a:stretch>
            <a:fillRect/>
          </a:stretch>
        </p:blipFill>
        <p:spPr>
          <a:xfrm>
            <a:off x="4886203" y="1981150"/>
            <a:ext cx="304792" cy="304792"/>
          </a:xfrm>
          <a:prstGeom prst="rect">
            <a:avLst/>
          </a:prstGeom>
        </p:spPr>
      </p:pic>
      <p:pic>
        <p:nvPicPr>
          <p:cNvPr id="5" name="raster 13.4" descr="diagram">    </p:cNvPr>
          <p:cNvPicPr>
            <a:picLocks noChangeAspect="1"/>
          </p:cNvPicPr>
          <p:nvPr/>
        </p:nvPicPr>
        <p:blipFill>
          <a:blip r:embed="rId3"/>
          <a:stretch>
            <a:fillRect/>
          </a:stretch>
        </p:blipFill>
        <p:spPr>
          <a:xfrm>
            <a:off x="6073623" y="1981150"/>
            <a:ext cx="304792" cy="304792"/>
          </a:xfrm>
          <a:prstGeom prst="rect">
            <a:avLst/>
          </a:prstGeom>
        </p:spPr>
      </p:pic>
      <p:pic>
        <p:nvPicPr>
          <p:cNvPr id="6" name="raster 13.5" descr="diagram">    </p:cNvPr>
          <p:cNvPicPr>
            <a:picLocks noChangeAspect="1"/>
          </p:cNvPicPr>
          <p:nvPr/>
        </p:nvPicPr>
        <p:blipFill>
          <a:blip r:embed="rId4"/>
          <a:stretch>
            <a:fillRect/>
          </a:stretch>
        </p:blipFill>
        <p:spPr>
          <a:xfrm>
            <a:off x="7261043" y="1981150"/>
            <a:ext cx="304792" cy="304792"/>
          </a:xfrm>
          <a:prstGeom prst="rect">
            <a:avLst/>
          </a:prstGeom>
        </p:spPr>
      </p:pic>
      <p:pic>
        <p:nvPicPr>
          <p:cNvPr id="7" name="raster 13.6" descr="diagram">    </p:cNvPr>
          <p:cNvPicPr>
            <a:picLocks noChangeAspect="1"/>
          </p:cNvPicPr>
          <p:nvPr/>
        </p:nvPicPr>
        <p:blipFill>
          <a:blip r:embed="rId5"/>
          <a:stretch>
            <a:fillRect/>
          </a:stretch>
        </p:blipFill>
        <p:spPr>
          <a:xfrm>
            <a:off x="8448464" y="1981150"/>
            <a:ext cx="304792" cy="304792"/>
          </a:xfrm>
          <a:prstGeom prst="rect">
            <a:avLst/>
          </a:prstGeom>
        </p:spPr>
      </p:pic>
      <p:pic>
        <p:nvPicPr>
          <p:cNvPr id="8" name="raster 13.7" descr="diagram">    </p:cNvPr>
          <p:cNvPicPr>
            <a:picLocks noChangeAspect="1"/>
          </p:cNvPicPr>
          <p:nvPr/>
        </p:nvPicPr>
        <p:blipFill>
          <a:blip r:embed="rId6"/>
          <a:stretch>
            <a:fillRect/>
          </a:stretch>
        </p:blipFill>
        <p:spPr>
          <a:xfrm>
            <a:off x="9642234" y="1987500"/>
            <a:ext cx="292093" cy="292093"/>
          </a:xfrm>
          <a:prstGeom prst="rect">
            <a:avLst/>
          </a:prstGeom>
        </p:spPr>
      </p:pic>
      <p:pic>
        <p:nvPicPr>
          <p:cNvPr id="9" name="raster 13.8" descr="diagram">    </p:cNvPr>
          <p:cNvPicPr>
            <a:picLocks noChangeAspect="1"/>
          </p:cNvPicPr>
          <p:nvPr/>
        </p:nvPicPr>
        <p:blipFill>
          <a:blip r:embed="rId7"/>
          <a:stretch>
            <a:fillRect/>
          </a:stretch>
        </p:blipFill>
        <p:spPr>
          <a:xfrm>
            <a:off x="10823304" y="1981150"/>
            <a:ext cx="304792" cy="304792"/>
          </a:xfrm>
          <a:prstGeom prst="rect">
            <a:avLst/>
          </a:prstGeom>
        </p:spPr>
      </p:pic>
      <p:sp>
        <p:nvSpPr>
          <p:cNvPr id="10" name="shape 13.9"/>
          <p:cNvSpPr/>
          <p:nvPr/>
        </p:nvSpPr>
        <p:spPr>
          <a:xfrm>
            <a:off x="800080" y="2387540"/>
            <a:ext cx="9327917" cy="12700"/>
          </a:xfrm>
          <a:prstGeom prst="roundRect">
            <a:avLst>
              <a:gd name="adj" fmla="val 49999"/>
            </a:avLst>
          </a:prstGeom>
          <a:solidFill>
            <a:srgbClr val="E4E9DD"/>
          </a:solidFill>
          <a:ln/>
        </p:spPr>
      </p:sp>
      <p:pic>
        <p:nvPicPr>
          <p:cNvPr id="11" name="raster 13.10" descr="diagram">    </p:cNvPr>
          <p:cNvPicPr>
            <a:picLocks noChangeAspect="1"/>
          </p:cNvPicPr>
          <p:nvPr/>
        </p:nvPicPr>
        <p:blipFill>
          <a:blip r:embed="rId8"/>
          <a:stretch>
            <a:fillRect/>
          </a:stretch>
        </p:blipFill>
        <p:spPr>
          <a:xfrm>
            <a:off x="4886203" y="2489138"/>
            <a:ext cx="304792" cy="304792"/>
          </a:xfrm>
          <a:prstGeom prst="rect">
            <a:avLst/>
          </a:prstGeom>
        </p:spPr>
      </p:pic>
      <p:pic>
        <p:nvPicPr>
          <p:cNvPr id="12" name="raster 13.11" descr="diagram">    </p:cNvPr>
          <p:cNvPicPr>
            <a:picLocks noChangeAspect="1"/>
          </p:cNvPicPr>
          <p:nvPr/>
        </p:nvPicPr>
        <p:blipFill>
          <a:blip r:embed="rId9"/>
          <a:stretch>
            <a:fillRect/>
          </a:stretch>
        </p:blipFill>
        <p:spPr>
          <a:xfrm>
            <a:off x="6079973" y="2495488"/>
            <a:ext cx="292093" cy="292093"/>
          </a:xfrm>
          <a:prstGeom prst="rect">
            <a:avLst/>
          </a:prstGeom>
        </p:spPr>
      </p:pic>
      <p:pic>
        <p:nvPicPr>
          <p:cNvPr id="13" name="raster 13.12" descr="diagram">    </p:cNvPr>
          <p:cNvPicPr>
            <a:picLocks noChangeAspect="1"/>
          </p:cNvPicPr>
          <p:nvPr/>
        </p:nvPicPr>
        <p:blipFill>
          <a:blip r:embed="rId10"/>
          <a:stretch>
            <a:fillRect/>
          </a:stretch>
        </p:blipFill>
        <p:spPr>
          <a:xfrm>
            <a:off x="7267393" y="2495488"/>
            <a:ext cx="292093" cy="292093"/>
          </a:xfrm>
          <a:prstGeom prst="rect">
            <a:avLst/>
          </a:prstGeom>
        </p:spPr>
      </p:pic>
      <p:pic>
        <p:nvPicPr>
          <p:cNvPr id="14" name="raster 13.13" descr="diagram">    </p:cNvPr>
          <p:cNvPicPr>
            <a:picLocks noChangeAspect="1"/>
          </p:cNvPicPr>
          <p:nvPr/>
        </p:nvPicPr>
        <p:blipFill>
          <a:blip r:embed="rId11"/>
          <a:stretch>
            <a:fillRect/>
          </a:stretch>
        </p:blipFill>
        <p:spPr>
          <a:xfrm>
            <a:off x="8448464" y="2489138"/>
            <a:ext cx="304792" cy="304792"/>
          </a:xfrm>
          <a:prstGeom prst="rect">
            <a:avLst/>
          </a:prstGeom>
        </p:spPr>
      </p:pic>
      <p:pic>
        <p:nvPicPr>
          <p:cNvPr id="15" name="raster 13.14" descr="diagram">    </p:cNvPr>
          <p:cNvPicPr>
            <a:picLocks noChangeAspect="1"/>
          </p:cNvPicPr>
          <p:nvPr/>
        </p:nvPicPr>
        <p:blipFill>
          <a:blip r:embed="rId12"/>
          <a:stretch>
            <a:fillRect/>
          </a:stretch>
        </p:blipFill>
        <p:spPr>
          <a:xfrm>
            <a:off x="9635884" y="2489138"/>
            <a:ext cx="304792" cy="304792"/>
          </a:xfrm>
          <a:prstGeom prst="rect">
            <a:avLst/>
          </a:prstGeom>
        </p:spPr>
      </p:pic>
      <p:pic>
        <p:nvPicPr>
          <p:cNvPr id="16" name="raster 13.15" descr="diagram">    </p:cNvPr>
          <p:cNvPicPr>
            <a:picLocks noChangeAspect="1"/>
          </p:cNvPicPr>
          <p:nvPr/>
        </p:nvPicPr>
        <p:blipFill>
          <a:blip r:embed="rId13"/>
          <a:stretch>
            <a:fillRect/>
          </a:stretch>
        </p:blipFill>
        <p:spPr>
          <a:xfrm>
            <a:off x="10823304" y="2489138"/>
            <a:ext cx="304792" cy="304792"/>
          </a:xfrm>
          <a:prstGeom prst="rect">
            <a:avLst/>
          </a:prstGeom>
        </p:spPr>
      </p:pic>
      <p:sp>
        <p:nvSpPr>
          <p:cNvPr id="17" name="shape 13.16"/>
          <p:cNvSpPr/>
          <p:nvPr/>
        </p:nvSpPr>
        <p:spPr>
          <a:xfrm>
            <a:off x="800080" y="2895528"/>
            <a:ext cx="9327917" cy="12700"/>
          </a:xfrm>
          <a:prstGeom prst="roundRect">
            <a:avLst>
              <a:gd name="adj" fmla="val 49999"/>
            </a:avLst>
          </a:prstGeom>
          <a:solidFill>
            <a:srgbClr val="E4E9DD"/>
          </a:solidFill>
          <a:ln/>
        </p:spPr>
      </p:sp>
      <p:pic>
        <p:nvPicPr>
          <p:cNvPr id="18" name="raster 13.17" descr="diagram">    </p:cNvPr>
          <p:cNvPicPr>
            <a:picLocks noChangeAspect="1"/>
          </p:cNvPicPr>
          <p:nvPr/>
        </p:nvPicPr>
        <p:blipFill>
          <a:blip r:embed="rId14"/>
          <a:stretch>
            <a:fillRect/>
          </a:stretch>
        </p:blipFill>
        <p:spPr>
          <a:xfrm>
            <a:off x="4892553" y="3003475"/>
            <a:ext cx="292093" cy="292093"/>
          </a:xfrm>
          <a:prstGeom prst="rect">
            <a:avLst/>
          </a:prstGeom>
        </p:spPr>
      </p:pic>
      <p:pic>
        <p:nvPicPr>
          <p:cNvPr id="19" name="raster 13.18" descr="diagram">    </p:cNvPr>
          <p:cNvPicPr>
            <a:picLocks noChangeAspect="1"/>
          </p:cNvPicPr>
          <p:nvPr/>
        </p:nvPicPr>
        <p:blipFill>
          <a:blip r:embed="rId15"/>
          <a:stretch>
            <a:fillRect/>
          </a:stretch>
        </p:blipFill>
        <p:spPr>
          <a:xfrm>
            <a:off x="6079973" y="3003475"/>
            <a:ext cx="292093" cy="292093"/>
          </a:xfrm>
          <a:prstGeom prst="rect">
            <a:avLst/>
          </a:prstGeom>
        </p:spPr>
      </p:pic>
      <p:pic>
        <p:nvPicPr>
          <p:cNvPr id="20" name="raster 13.19" descr="diagram">    </p:cNvPr>
          <p:cNvPicPr>
            <a:picLocks noChangeAspect="1"/>
          </p:cNvPicPr>
          <p:nvPr/>
        </p:nvPicPr>
        <p:blipFill>
          <a:blip r:embed="rId16"/>
          <a:stretch>
            <a:fillRect/>
          </a:stretch>
        </p:blipFill>
        <p:spPr>
          <a:xfrm>
            <a:off x="7267393" y="3003475"/>
            <a:ext cx="292093" cy="292093"/>
          </a:xfrm>
          <a:prstGeom prst="rect">
            <a:avLst/>
          </a:prstGeom>
        </p:spPr>
      </p:pic>
      <p:pic>
        <p:nvPicPr>
          <p:cNvPr id="21" name="raster 13.20" descr="diagram">    </p:cNvPr>
          <p:cNvPicPr>
            <a:picLocks noChangeAspect="1"/>
          </p:cNvPicPr>
          <p:nvPr/>
        </p:nvPicPr>
        <p:blipFill>
          <a:blip r:embed="rId17"/>
          <a:stretch>
            <a:fillRect/>
          </a:stretch>
        </p:blipFill>
        <p:spPr>
          <a:xfrm>
            <a:off x="8454814" y="3003475"/>
            <a:ext cx="292093" cy="292093"/>
          </a:xfrm>
          <a:prstGeom prst="rect">
            <a:avLst/>
          </a:prstGeom>
        </p:spPr>
      </p:pic>
      <p:pic>
        <p:nvPicPr>
          <p:cNvPr id="22" name="raster 13.21" descr="diagram">    </p:cNvPr>
          <p:cNvPicPr>
            <a:picLocks noChangeAspect="1"/>
          </p:cNvPicPr>
          <p:nvPr/>
        </p:nvPicPr>
        <p:blipFill>
          <a:blip r:embed="rId18"/>
          <a:stretch>
            <a:fillRect/>
          </a:stretch>
        </p:blipFill>
        <p:spPr>
          <a:xfrm>
            <a:off x="9635884" y="2997125"/>
            <a:ext cx="304792" cy="304792"/>
          </a:xfrm>
          <a:prstGeom prst="rect">
            <a:avLst/>
          </a:prstGeom>
        </p:spPr>
      </p:pic>
      <p:pic>
        <p:nvPicPr>
          <p:cNvPr id="23" name="raster 13.22" descr="diagram">    </p:cNvPr>
          <p:cNvPicPr>
            <a:picLocks noChangeAspect="1"/>
          </p:cNvPicPr>
          <p:nvPr/>
        </p:nvPicPr>
        <p:blipFill>
          <a:blip r:embed="rId19"/>
          <a:stretch>
            <a:fillRect/>
          </a:stretch>
        </p:blipFill>
        <p:spPr>
          <a:xfrm>
            <a:off x="10823304" y="2997125"/>
            <a:ext cx="304792" cy="304792"/>
          </a:xfrm>
          <a:prstGeom prst="rect">
            <a:avLst/>
          </a:prstGeom>
        </p:spPr>
      </p:pic>
      <p:sp>
        <p:nvSpPr>
          <p:cNvPr id="24" name="shape 13.23"/>
          <p:cNvSpPr/>
          <p:nvPr/>
        </p:nvSpPr>
        <p:spPr>
          <a:xfrm>
            <a:off x="800080" y="3403515"/>
            <a:ext cx="9327917" cy="12700"/>
          </a:xfrm>
          <a:prstGeom prst="roundRect">
            <a:avLst>
              <a:gd name="adj" fmla="val 49999"/>
            </a:avLst>
          </a:prstGeom>
          <a:solidFill>
            <a:srgbClr val="E4E9DD"/>
          </a:solidFill>
          <a:ln/>
        </p:spPr>
      </p:sp>
      <p:pic>
        <p:nvPicPr>
          <p:cNvPr id="25" name="raster 13.24" descr="diagram">    </p:cNvPr>
          <p:cNvPicPr>
            <a:picLocks noChangeAspect="1"/>
          </p:cNvPicPr>
          <p:nvPr/>
        </p:nvPicPr>
        <p:blipFill>
          <a:blip r:embed="rId20"/>
          <a:stretch>
            <a:fillRect/>
          </a:stretch>
        </p:blipFill>
        <p:spPr>
          <a:xfrm>
            <a:off x="4892553" y="3511462"/>
            <a:ext cx="292093" cy="292093"/>
          </a:xfrm>
          <a:prstGeom prst="rect">
            <a:avLst/>
          </a:prstGeom>
        </p:spPr>
      </p:pic>
      <p:pic>
        <p:nvPicPr>
          <p:cNvPr id="26" name="raster 13.25" descr="diagram">    </p:cNvPr>
          <p:cNvPicPr>
            <a:picLocks noChangeAspect="1"/>
          </p:cNvPicPr>
          <p:nvPr/>
        </p:nvPicPr>
        <p:blipFill>
          <a:blip r:embed="rId21"/>
          <a:stretch>
            <a:fillRect/>
          </a:stretch>
        </p:blipFill>
        <p:spPr>
          <a:xfrm>
            <a:off x="6079973" y="3511462"/>
            <a:ext cx="292093" cy="292093"/>
          </a:xfrm>
          <a:prstGeom prst="rect">
            <a:avLst/>
          </a:prstGeom>
        </p:spPr>
      </p:pic>
      <p:pic>
        <p:nvPicPr>
          <p:cNvPr id="27" name="raster 13.26" descr="diagram">    </p:cNvPr>
          <p:cNvPicPr>
            <a:picLocks noChangeAspect="1"/>
          </p:cNvPicPr>
          <p:nvPr/>
        </p:nvPicPr>
        <p:blipFill>
          <a:blip r:embed="rId22"/>
          <a:stretch>
            <a:fillRect/>
          </a:stretch>
        </p:blipFill>
        <p:spPr>
          <a:xfrm>
            <a:off x="7267393" y="3511462"/>
            <a:ext cx="292093" cy="292093"/>
          </a:xfrm>
          <a:prstGeom prst="rect">
            <a:avLst/>
          </a:prstGeom>
        </p:spPr>
      </p:pic>
      <p:pic>
        <p:nvPicPr>
          <p:cNvPr id="28" name="raster 13.27" descr="diagram">    </p:cNvPr>
          <p:cNvPicPr>
            <a:picLocks noChangeAspect="1"/>
          </p:cNvPicPr>
          <p:nvPr/>
        </p:nvPicPr>
        <p:blipFill>
          <a:blip r:embed="rId23"/>
          <a:stretch>
            <a:fillRect/>
          </a:stretch>
        </p:blipFill>
        <p:spPr>
          <a:xfrm>
            <a:off x="8454814" y="3511462"/>
            <a:ext cx="292093" cy="292093"/>
          </a:xfrm>
          <a:prstGeom prst="rect">
            <a:avLst/>
          </a:prstGeom>
        </p:spPr>
      </p:pic>
      <p:pic>
        <p:nvPicPr>
          <p:cNvPr id="29" name="raster 13.28" descr="diagram">    </p:cNvPr>
          <p:cNvPicPr>
            <a:picLocks noChangeAspect="1"/>
          </p:cNvPicPr>
          <p:nvPr/>
        </p:nvPicPr>
        <p:blipFill>
          <a:blip r:embed="rId24"/>
          <a:stretch>
            <a:fillRect/>
          </a:stretch>
        </p:blipFill>
        <p:spPr>
          <a:xfrm>
            <a:off x="9642234" y="3511462"/>
            <a:ext cx="292093" cy="292093"/>
          </a:xfrm>
          <a:prstGeom prst="rect">
            <a:avLst/>
          </a:prstGeom>
        </p:spPr>
      </p:pic>
      <p:pic>
        <p:nvPicPr>
          <p:cNvPr id="30" name="raster 13.29" descr="diagram">    </p:cNvPr>
          <p:cNvPicPr>
            <a:picLocks noChangeAspect="1"/>
          </p:cNvPicPr>
          <p:nvPr/>
        </p:nvPicPr>
        <p:blipFill>
          <a:blip r:embed="rId25"/>
          <a:stretch>
            <a:fillRect/>
          </a:stretch>
        </p:blipFill>
        <p:spPr>
          <a:xfrm>
            <a:off x="10823304" y="3505112"/>
            <a:ext cx="304792" cy="304792"/>
          </a:xfrm>
          <a:prstGeom prst="rect">
            <a:avLst/>
          </a:prstGeom>
        </p:spPr>
      </p:pic>
      <p:sp>
        <p:nvSpPr>
          <p:cNvPr id="31" name="shape 13.30"/>
          <p:cNvSpPr/>
          <p:nvPr/>
        </p:nvSpPr>
        <p:spPr>
          <a:xfrm>
            <a:off x="800080" y="3911502"/>
            <a:ext cx="9327917" cy="12700"/>
          </a:xfrm>
          <a:prstGeom prst="roundRect">
            <a:avLst>
              <a:gd name="adj" fmla="val 49999"/>
            </a:avLst>
          </a:prstGeom>
          <a:solidFill>
            <a:srgbClr val="E4E9DD"/>
          </a:solidFill>
          <a:ln/>
        </p:spPr>
      </p:sp>
      <p:pic>
        <p:nvPicPr>
          <p:cNvPr id="32" name="raster 13.31" descr="diagram">    </p:cNvPr>
          <p:cNvPicPr>
            <a:picLocks noChangeAspect="1"/>
          </p:cNvPicPr>
          <p:nvPr/>
        </p:nvPicPr>
        <p:blipFill>
          <a:blip r:embed="rId26"/>
          <a:stretch>
            <a:fillRect/>
          </a:stretch>
        </p:blipFill>
        <p:spPr>
          <a:xfrm>
            <a:off x="4892553" y="4019450"/>
            <a:ext cx="292093" cy="292093"/>
          </a:xfrm>
          <a:prstGeom prst="rect">
            <a:avLst/>
          </a:prstGeom>
        </p:spPr>
      </p:pic>
      <p:pic>
        <p:nvPicPr>
          <p:cNvPr id="33" name="raster 13.32" descr="diagram">    </p:cNvPr>
          <p:cNvPicPr>
            <a:picLocks noChangeAspect="1"/>
          </p:cNvPicPr>
          <p:nvPr/>
        </p:nvPicPr>
        <p:blipFill>
          <a:blip r:embed="rId27"/>
          <a:stretch>
            <a:fillRect/>
          </a:stretch>
        </p:blipFill>
        <p:spPr>
          <a:xfrm>
            <a:off x="6079973" y="4019450"/>
            <a:ext cx="292093" cy="292093"/>
          </a:xfrm>
          <a:prstGeom prst="rect">
            <a:avLst/>
          </a:prstGeom>
        </p:spPr>
      </p:pic>
      <p:pic>
        <p:nvPicPr>
          <p:cNvPr id="34" name="raster 13.33" descr="diagram">    </p:cNvPr>
          <p:cNvPicPr>
            <a:picLocks noChangeAspect="1"/>
          </p:cNvPicPr>
          <p:nvPr/>
        </p:nvPicPr>
        <p:blipFill>
          <a:blip r:embed="rId28"/>
          <a:stretch>
            <a:fillRect/>
          </a:stretch>
        </p:blipFill>
        <p:spPr>
          <a:xfrm>
            <a:off x="7261043" y="4013100"/>
            <a:ext cx="304792" cy="304792"/>
          </a:xfrm>
          <a:prstGeom prst="rect">
            <a:avLst/>
          </a:prstGeom>
        </p:spPr>
      </p:pic>
      <p:pic>
        <p:nvPicPr>
          <p:cNvPr id="35" name="raster 13.34" descr="diagram">    </p:cNvPr>
          <p:cNvPicPr>
            <a:picLocks noChangeAspect="1"/>
          </p:cNvPicPr>
          <p:nvPr/>
        </p:nvPicPr>
        <p:blipFill>
          <a:blip r:embed="rId29"/>
          <a:stretch>
            <a:fillRect/>
          </a:stretch>
        </p:blipFill>
        <p:spPr>
          <a:xfrm>
            <a:off x="8448464" y="4013100"/>
            <a:ext cx="304792" cy="304792"/>
          </a:xfrm>
          <a:prstGeom prst="rect">
            <a:avLst/>
          </a:prstGeom>
        </p:spPr>
      </p:pic>
      <p:pic>
        <p:nvPicPr>
          <p:cNvPr id="36" name="raster 13.35" descr="diagram">    </p:cNvPr>
          <p:cNvPicPr>
            <a:picLocks noChangeAspect="1"/>
          </p:cNvPicPr>
          <p:nvPr/>
        </p:nvPicPr>
        <p:blipFill>
          <a:blip r:embed="rId30"/>
          <a:stretch>
            <a:fillRect/>
          </a:stretch>
        </p:blipFill>
        <p:spPr>
          <a:xfrm>
            <a:off x="9642234" y="4019450"/>
            <a:ext cx="292093" cy="292093"/>
          </a:xfrm>
          <a:prstGeom prst="rect">
            <a:avLst/>
          </a:prstGeom>
        </p:spPr>
      </p:pic>
      <p:pic>
        <p:nvPicPr>
          <p:cNvPr id="37" name="raster 13.36" descr="diagram">    </p:cNvPr>
          <p:cNvPicPr>
            <a:picLocks noChangeAspect="1"/>
          </p:cNvPicPr>
          <p:nvPr/>
        </p:nvPicPr>
        <p:blipFill>
          <a:blip r:embed="rId31"/>
          <a:stretch>
            <a:fillRect/>
          </a:stretch>
        </p:blipFill>
        <p:spPr>
          <a:xfrm>
            <a:off x="10823304" y="4013100"/>
            <a:ext cx="304792" cy="304792"/>
          </a:xfrm>
          <a:prstGeom prst="rect">
            <a:avLst/>
          </a:prstGeom>
        </p:spPr>
      </p:pic>
      <p:sp>
        <p:nvSpPr>
          <p:cNvPr id="38" name="shape 13.37"/>
          <p:cNvSpPr/>
          <p:nvPr/>
        </p:nvSpPr>
        <p:spPr>
          <a:xfrm>
            <a:off x="800080" y="4419490"/>
            <a:ext cx="9327917" cy="12700"/>
          </a:xfrm>
          <a:prstGeom prst="roundRect">
            <a:avLst>
              <a:gd name="adj" fmla="val 49999"/>
            </a:avLst>
          </a:prstGeom>
          <a:solidFill>
            <a:srgbClr val="E4E9DD"/>
          </a:solidFill>
          <a:ln/>
        </p:spPr>
      </p:sp>
      <p:pic>
        <p:nvPicPr>
          <p:cNvPr id="39" name="raster 13.38" descr="diagram">    </p:cNvPr>
          <p:cNvPicPr>
            <a:picLocks noChangeAspect="1"/>
          </p:cNvPicPr>
          <p:nvPr/>
        </p:nvPicPr>
        <p:blipFill>
          <a:blip r:embed="rId32"/>
          <a:stretch>
            <a:fillRect/>
          </a:stretch>
        </p:blipFill>
        <p:spPr>
          <a:xfrm>
            <a:off x="4892553" y="4527437"/>
            <a:ext cx="292093" cy="292093"/>
          </a:xfrm>
          <a:prstGeom prst="rect">
            <a:avLst/>
          </a:prstGeom>
        </p:spPr>
      </p:pic>
      <p:pic>
        <p:nvPicPr>
          <p:cNvPr id="40" name="raster 13.39" descr="diagram">    </p:cNvPr>
          <p:cNvPicPr>
            <a:picLocks noChangeAspect="1"/>
          </p:cNvPicPr>
          <p:nvPr/>
        </p:nvPicPr>
        <p:blipFill>
          <a:blip r:embed="rId33"/>
          <a:stretch>
            <a:fillRect/>
          </a:stretch>
        </p:blipFill>
        <p:spPr>
          <a:xfrm>
            <a:off x="6079973" y="4527437"/>
            <a:ext cx="292093" cy="292093"/>
          </a:xfrm>
          <a:prstGeom prst="rect">
            <a:avLst/>
          </a:prstGeom>
        </p:spPr>
      </p:pic>
      <p:pic>
        <p:nvPicPr>
          <p:cNvPr id="41" name="raster 13.40" descr="diagram">    </p:cNvPr>
          <p:cNvPicPr>
            <a:picLocks noChangeAspect="1"/>
          </p:cNvPicPr>
          <p:nvPr/>
        </p:nvPicPr>
        <p:blipFill>
          <a:blip r:embed="rId34"/>
          <a:stretch>
            <a:fillRect/>
          </a:stretch>
        </p:blipFill>
        <p:spPr>
          <a:xfrm>
            <a:off x="7267393" y="4527437"/>
            <a:ext cx="292093" cy="292093"/>
          </a:xfrm>
          <a:prstGeom prst="rect">
            <a:avLst/>
          </a:prstGeom>
        </p:spPr>
      </p:pic>
      <p:pic>
        <p:nvPicPr>
          <p:cNvPr id="42" name="raster 13.41" descr="diagram">    </p:cNvPr>
          <p:cNvPicPr>
            <a:picLocks noChangeAspect="1"/>
          </p:cNvPicPr>
          <p:nvPr/>
        </p:nvPicPr>
        <p:blipFill>
          <a:blip r:embed="rId35"/>
          <a:stretch>
            <a:fillRect/>
          </a:stretch>
        </p:blipFill>
        <p:spPr>
          <a:xfrm>
            <a:off x="8454814" y="4527437"/>
            <a:ext cx="292093" cy="292093"/>
          </a:xfrm>
          <a:prstGeom prst="rect">
            <a:avLst/>
          </a:prstGeom>
        </p:spPr>
      </p:pic>
      <p:pic>
        <p:nvPicPr>
          <p:cNvPr id="43" name="raster 13.42" descr="diagram">    </p:cNvPr>
          <p:cNvPicPr>
            <a:picLocks noChangeAspect="1"/>
          </p:cNvPicPr>
          <p:nvPr/>
        </p:nvPicPr>
        <p:blipFill>
          <a:blip r:embed="rId36"/>
          <a:stretch>
            <a:fillRect/>
          </a:stretch>
        </p:blipFill>
        <p:spPr>
          <a:xfrm>
            <a:off x="9642234" y="4527437"/>
            <a:ext cx="292093" cy="292093"/>
          </a:xfrm>
          <a:prstGeom prst="rect">
            <a:avLst/>
          </a:prstGeom>
        </p:spPr>
      </p:pic>
      <p:pic>
        <p:nvPicPr>
          <p:cNvPr id="44" name="raster 13.43" descr="diagram">    </p:cNvPr>
          <p:cNvPicPr>
            <a:picLocks noChangeAspect="1"/>
          </p:cNvPicPr>
          <p:nvPr/>
        </p:nvPicPr>
        <p:blipFill>
          <a:blip r:embed="rId37"/>
          <a:stretch>
            <a:fillRect/>
          </a:stretch>
        </p:blipFill>
        <p:spPr>
          <a:xfrm>
            <a:off x="10823304" y="4521087"/>
            <a:ext cx="304792" cy="304792"/>
          </a:xfrm>
          <a:prstGeom prst="rect">
            <a:avLst/>
          </a:prstGeom>
        </p:spPr>
      </p:pic>
      <p:sp>
        <p:nvSpPr>
          <p:cNvPr id="45" name="shape 13.44"/>
          <p:cNvSpPr/>
          <p:nvPr/>
        </p:nvSpPr>
        <p:spPr>
          <a:xfrm>
            <a:off x="800080" y="4927477"/>
            <a:ext cx="9327917" cy="12700"/>
          </a:xfrm>
          <a:prstGeom prst="roundRect">
            <a:avLst>
              <a:gd name="adj" fmla="val 49999"/>
            </a:avLst>
          </a:prstGeom>
          <a:solidFill>
            <a:srgbClr val="E4E9DD"/>
          </a:solidFill>
          <a:ln/>
        </p:spPr>
      </p:sp>
      <p:pic>
        <p:nvPicPr>
          <p:cNvPr id="46" name="raster 13.45" descr="diagram">    </p:cNvPr>
          <p:cNvPicPr>
            <a:picLocks noChangeAspect="1"/>
          </p:cNvPicPr>
          <p:nvPr/>
        </p:nvPicPr>
        <p:blipFill>
          <a:blip r:embed="rId38"/>
          <a:stretch>
            <a:fillRect/>
          </a:stretch>
        </p:blipFill>
        <p:spPr>
          <a:xfrm>
            <a:off x="4892553" y="5035424"/>
            <a:ext cx="292093" cy="292093"/>
          </a:xfrm>
          <a:prstGeom prst="rect">
            <a:avLst/>
          </a:prstGeom>
        </p:spPr>
      </p:pic>
      <p:pic>
        <p:nvPicPr>
          <p:cNvPr id="47" name="raster 13.46" descr="diagram">    </p:cNvPr>
          <p:cNvPicPr>
            <a:picLocks noChangeAspect="1"/>
          </p:cNvPicPr>
          <p:nvPr/>
        </p:nvPicPr>
        <p:blipFill>
          <a:blip r:embed="rId39"/>
          <a:stretch>
            <a:fillRect/>
          </a:stretch>
        </p:blipFill>
        <p:spPr>
          <a:xfrm>
            <a:off x="6073623" y="5029074"/>
            <a:ext cx="304792" cy="304792"/>
          </a:xfrm>
          <a:prstGeom prst="rect">
            <a:avLst/>
          </a:prstGeom>
        </p:spPr>
      </p:pic>
      <p:pic>
        <p:nvPicPr>
          <p:cNvPr id="48" name="raster 13.47" descr="diagram">    </p:cNvPr>
          <p:cNvPicPr>
            <a:picLocks noChangeAspect="1"/>
          </p:cNvPicPr>
          <p:nvPr/>
        </p:nvPicPr>
        <p:blipFill>
          <a:blip r:embed="rId40"/>
          <a:stretch>
            <a:fillRect/>
          </a:stretch>
        </p:blipFill>
        <p:spPr>
          <a:xfrm>
            <a:off x="7267393" y="5035424"/>
            <a:ext cx="292093" cy="292093"/>
          </a:xfrm>
          <a:prstGeom prst="rect">
            <a:avLst/>
          </a:prstGeom>
        </p:spPr>
      </p:pic>
      <p:pic>
        <p:nvPicPr>
          <p:cNvPr id="49" name="raster 13.48" descr="diagram">    </p:cNvPr>
          <p:cNvPicPr>
            <a:picLocks noChangeAspect="1"/>
          </p:cNvPicPr>
          <p:nvPr/>
        </p:nvPicPr>
        <p:blipFill>
          <a:blip r:embed="rId41"/>
          <a:stretch>
            <a:fillRect/>
          </a:stretch>
        </p:blipFill>
        <p:spPr>
          <a:xfrm>
            <a:off x="8448464" y="5029074"/>
            <a:ext cx="304792" cy="304792"/>
          </a:xfrm>
          <a:prstGeom prst="rect">
            <a:avLst/>
          </a:prstGeom>
        </p:spPr>
      </p:pic>
      <p:pic>
        <p:nvPicPr>
          <p:cNvPr id="50" name="raster 13.49" descr="diagram">    </p:cNvPr>
          <p:cNvPicPr>
            <a:picLocks noChangeAspect="1"/>
          </p:cNvPicPr>
          <p:nvPr/>
        </p:nvPicPr>
        <p:blipFill>
          <a:blip r:embed="rId42"/>
          <a:stretch>
            <a:fillRect/>
          </a:stretch>
        </p:blipFill>
        <p:spPr>
          <a:xfrm>
            <a:off x="9635884" y="5029074"/>
            <a:ext cx="304792" cy="304792"/>
          </a:xfrm>
          <a:prstGeom prst="rect">
            <a:avLst/>
          </a:prstGeom>
        </p:spPr>
      </p:pic>
      <p:pic>
        <p:nvPicPr>
          <p:cNvPr id="51" name="raster 13.50" descr="diagram">    </p:cNvPr>
          <p:cNvPicPr>
            <a:picLocks noChangeAspect="1"/>
          </p:cNvPicPr>
          <p:nvPr/>
        </p:nvPicPr>
        <p:blipFill>
          <a:blip r:embed="rId43"/>
          <a:stretch>
            <a:fillRect/>
          </a:stretch>
        </p:blipFill>
        <p:spPr>
          <a:xfrm>
            <a:off x="10823304" y="5029074"/>
            <a:ext cx="304792" cy="304792"/>
          </a:xfrm>
          <a:prstGeom prst="rect">
            <a:avLst/>
          </a:prstGeom>
        </p:spPr>
      </p:pic>
      <p:pic>
        <p:nvPicPr>
          <p:cNvPr id="52" name="raster 13.51" descr="diagram">    </p:cNvPr>
          <p:cNvPicPr>
            <a:picLocks noChangeAspect="1"/>
          </p:cNvPicPr>
          <p:nvPr/>
        </p:nvPicPr>
        <p:blipFill>
          <a:blip r:embed="rId44"/>
          <a:stretch>
            <a:fillRect/>
          </a:stretch>
        </p:blipFill>
        <p:spPr>
          <a:xfrm>
            <a:off x="565136" y="5638659"/>
            <a:ext cx="2654234" cy="241294"/>
          </a:xfrm>
          <a:prstGeom prst="rect">
            <a:avLst/>
          </a:prstGeom>
        </p:spPr>
      </p:pic>
      <p:sp>
        <p:nvSpPr>
          <p:cNvPr id="53" name="text 13.52"/>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Where we sit among them</a:t>
            </a:r>
            <a:endParaRPr lang="en-US" sz="3000" dirty="0"/>
          </a:p>
        </p:txBody>
      </p:sp>
      <p:sp>
        <p:nvSpPr>
          <p:cNvPr id="54" name="text 13.53"/>
          <p:cNvSpPr txBox="1"/>
          <p:nvPr/>
        </p:nvSpPr>
        <p:spPr>
          <a:xfrm>
            <a:off x="4444889" y="1612860"/>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F778C"/>
                </a:solidFill>
                <a:latin typeface="Arial" pitchFamily="34" charset="0"/>
                <a:ea typeface="Arial" pitchFamily="34" charset="-122"/>
                <a:cs typeface="Arial" pitchFamily="34" charset="-120"/>
              </a:rPr>
              <a:t>PARTY ANIMALS</a:t>
            </a:r>
            <a:endParaRPr lang="en-US" sz="750" dirty="0"/>
          </a:p>
        </p:txBody>
      </p:sp>
      <p:sp>
        <p:nvSpPr>
          <p:cNvPr id="55" name="text 13.54"/>
          <p:cNvSpPr txBox="1"/>
          <p:nvPr/>
        </p:nvSpPr>
        <p:spPr>
          <a:xfrm>
            <a:off x="5632309" y="1612860"/>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F778C"/>
                </a:solidFill>
                <a:latin typeface="Arial" pitchFamily="34" charset="0"/>
                <a:ea typeface="Arial" pitchFamily="34" charset="-122"/>
                <a:cs typeface="Arial" pitchFamily="34" charset="-120"/>
              </a:rPr>
              <a:t>GANG BEASTS</a:t>
            </a:r>
            <a:endParaRPr lang="en-US" sz="750" dirty="0"/>
          </a:p>
        </p:txBody>
      </p:sp>
      <p:sp>
        <p:nvSpPr>
          <p:cNvPr id="56" name="text 13.55"/>
          <p:cNvSpPr txBox="1"/>
          <p:nvPr/>
        </p:nvSpPr>
        <p:spPr>
          <a:xfrm>
            <a:off x="6819730" y="1612860"/>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F778C"/>
                </a:solidFill>
                <a:latin typeface="Arial" pitchFamily="34" charset="0"/>
                <a:ea typeface="Arial" pitchFamily="34" charset="-122"/>
                <a:cs typeface="Arial" pitchFamily="34" charset="-120"/>
              </a:rPr>
              <a:t>FALL GUYS</a:t>
            </a:r>
            <a:endParaRPr lang="en-US" sz="750" dirty="0"/>
          </a:p>
        </p:txBody>
      </p:sp>
      <p:sp>
        <p:nvSpPr>
          <p:cNvPr id="57" name="text 13.56"/>
          <p:cNvSpPr txBox="1"/>
          <p:nvPr/>
        </p:nvSpPr>
        <p:spPr>
          <a:xfrm>
            <a:off x="8007150" y="1612860"/>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F778C"/>
                </a:solidFill>
                <a:latin typeface="Arial" pitchFamily="34" charset="0"/>
                <a:ea typeface="Arial" pitchFamily="34" charset="-122"/>
                <a:cs typeface="Arial" pitchFamily="34" charset="-120"/>
              </a:rPr>
              <a:t>PUMMEL PARTY</a:t>
            </a:r>
            <a:endParaRPr lang="en-US" sz="750" dirty="0"/>
          </a:p>
        </p:txBody>
      </p:sp>
      <p:sp>
        <p:nvSpPr>
          <p:cNvPr id="58" name="text 13.57"/>
          <p:cNvSpPr txBox="1"/>
          <p:nvPr/>
        </p:nvSpPr>
        <p:spPr>
          <a:xfrm>
            <a:off x="9194570" y="1612860"/>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F778C"/>
                </a:solidFill>
                <a:latin typeface="Arial" pitchFamily="34" charset="0"/>
                <a:ea typeface="Arial" pitchFamily="34" charset="-122"/>
                <a:cs typeface="Arial" pitchFamily="34" charset="-120"/>
              </a:rPr>
              <a:t>SQUARENA</a:t>
            </a:r>
            <a:endParaRPr lang="en-US" sz="750" dirty="0"/>
          </a:p>
        </p:txBody>
      </p:sp>
      <p:sp>
        <p:nvSpPr>
          <p:cNvPr id="59" name="text 13.58"/>
          <p:cNvSpPr txBox="1"/>
          <p:nvPr/>
        </p:nvSpPr>
        <p:spPr>
          <a:xfrm>
            <a:off x="10381990" y="1612860"/>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SHOOTER PARTY</a:t>
            </a:r>
            <a:endParaRPr lang="en-US" sz="750" dirty="0"/>
          </a:p>
        </p:txBody>
      </p:sp>
      <p:sp>
        <p:nvSpPr>
          <p:cNvPr id="60" name="text 13.59"/>
          <p:cNvSpPr txBox="1"/>
          <p:nvPr/>
        </p:nvSpPr>
        <p:spPr>
          <a:xfrm>
            <a:off x="825479" y="2050999"/>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B2340"/>
                </a:solidFill>
                <a:latin typeface="Arial" pitchFamily="34" charset="0"/>
                <a:ea typeface="Arial" pitchFamily="34" charset="-122"/>
                <a:cs typeface="Arial" pitchFamily="34" charset="-120"/>
              </a:rPr>
              <a:t>3D characters</a:t>
            </a:r>
            <a:endParaRPr lang="en-US" sz="1100" dirty="0"/>
          </a:p>
        </p:txBody>
      </p:sp>
      <p:sp>
        <p:nvSpPr>
          <p:cNvPr id="61" name="text 13.60"/>
          <p:cNvSpPr txBox="1"/>
          <p:nvPr/>
        </p:nvSpPr>
        <p:spPr>
          <a:xfrm>
            <a:off x="825479" y="2558986"/>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B2340"/>
                </a:solidFill>
                <a:latin typeface="Arial" pitchFamily="34" charset="0"/>
                <a:ea typeface="Arial" pitchFamily="34" charset="-122"/>
                <a:cs typeface="Arial" pitchFamily="34" charset="-120"/>
              </a:rPr>
              <a:t>Ranged attacks</a:t>
            </a:r>
            <a:endParaRPr lang="en-US" sz="1100" dirty="0"/>
          </a:p>
        </p:txBody>
      </p:sp>
      <p:sp>
        <p:nvSpPr>
          <p:cNvPr id="62" name="text 13.61"/>
          <p:cNvSpPr txBox="1"/>
          <p:nvPr/>
        </p:nvSpPr>
        <p:spPr>
          <a:xfrm>
            <a:off x="825479" y="3066973"/>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B2340"/>
                </a:solidFill>
                <a:latin typeface="Arial" pitchFamily="34" charset="0"/>
                <a:ea typeface="Arial" pitchFamily="34" charset="-122"/>
                <a:cs typeface="Arial" pitchFamily="34" charset="-120"/>
              </a:rPr>
              <a:t>Hits weaken your body</a:t>
            </a:r>
            <a:endParaRPr lang="en-US" sz="1100" dirty="0"/>
          </a:p>
        </p:txBody>
      </p:sp>
      <p:sp>
        <p:nvSpPr>
          <p:cNvPr id="63" name="text 13.62"/>
          <p:cNvSpPr txBox="1"/>
          <p:nvPr/>
        </p:nvSpPr>
        <p:spPr>
          <a:xfrm>
            <a:off x="825479" y="3574961"/>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B2340"/>
                </a:solidFill>
                <a:latin typeface="Arial" pitchFamily="34" charset="0"/>
                <a:ea typeface="Arial" pitchFamily="34" charset="-122"/>
                <a:cs typeface="Arial" pitchFamily="34" charset="-120"/>
              </a:rPr>
              <a:t>Less mass, further knockback</a:t>
            </a:r>
            <a:endParaRPr lang="en-US" sz="1100" dirty="0"/>
          </a:p>
        </p:txBody>
      </p:sp>
      <p:sp>
        <p:nvSpPr>
          <p:cNvPr id="64" name="text 13.63"/>
          <p:cNvSpPr txBox="1"/>
          <p:nvPr/>
        </p:nvSpPr>
        <p:spPr>
          <a:xfrm>
            <a:off x="825479" y="4082948"/>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B2340"/>
                </a:solidFill>
                <a:latin typeface="Arial" pitchFamily="34" charset="0"/>
                <a:ea typeface="Arial" pitchFamily="34" charset="-122"/>
                <a:cs typeface="Arial" pitchFamily="34" charset="-120"/>
              </a:rPr>
              <a:t>Several mini-games, one result</a:t>
            </a:r>
            <a:endParaRPr lang="en-US" sz="1100" dirty="0"/>
          </a:p>
        </p:txBody>
      </p:sp>
      <p:sp>
        <p:nvSpPr>
          <p:cNvPr id="65" name="text 13.64"/>
          <p:cNvSpPr txBox="1"/>
          <p:nvPr/>
        </p:nvSpPr>
        <p:spPr>
          <a:xfrm>
            <a:off x="825479" y="4590935"/>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B2340"/>
                </a:solidFill>
                <a:latin typeface="Arial" pitchFamily="34" charset="0"/>
                <a:ea typeface="Arial" pitchFamily="34" charset="-122"/>
                <a:cs typeface="Arial" pitchFamily="34" charset="-120"/>
              </a:rPr>
              <a:t>Official LAN play</a:t>
            </a:r>
            <a:endParaRPr lang="en-US" sz="1100" dirty="0"/>
          </a:p>
        </p:txBody>
      </p:sp>
      <p:sp>
        <p:nvSpPr>
          <p:cNvPr id="66" name="text 13.65"/>
          <p:cNvSpPr txBox="1"/>
          <p:nvPr/>
        </p:nvSpPr>
        <p:spPr>
          <a:xfrm>
            <a:off x="825479" y="5098923"/>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B2340"/>
                </a:solidFill>
                <a:latin typeface="Arial" pitchFamily="34" charset="0"/>
                <a:ea typeface="Arial" pitchFamily="34" charset="-122"/>
                <a:cs typeface="Arial" pitchFamily="34" charset="-120"/>
              </a:rPr>
              <a:t>Plays with no internet</a:t>
            </a:r>
            <a:endParaRPr lang="en-US" sz="1100" dirty="0"/>
          </a:p>
        </p:txBody>
      </p:sp>
      <p:sp>
        <p:nvSpPr>
          <p:cNvPr id="67" name="text 13.66"/>
          <p:cNvSpPr txBox="1"/>
          <p:nvPr/>
        </p:nvSpPr>
        <p:spPr>
          <a:xfrm>
            <a:off x="812780" y="5695808"/>
            <a:ext cx="250174"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Yes</a:t>
            </a:r>
            <a:endParaRPr lang="en-US" sz="850" dirty="0"/>
          </a:p>
        </p:txBody>
      </p:sp>
      <p:sp>
        <p:nvSpPr>
          <p:cNvPr id="68" name="text 13.67"/>
          <p:cNvSpPr txBox="1"/>
          <p:nvPr/>
        </p:nvSpPr>
        <p:spPr>
          <a:xfrm>
            <a:off x="1638259" y="5695808"/>
            <a:ext cx="356079"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Partly</a:t>
            </a:r>
            <a:endParaRPr lang="en-US" sz="850" dirty="0"/>
          </a:p>
        </p:txBody>
      </p:sp>
      <p:sp>
        <p:nvSpPr>
          <p:cNvPr id="69" name="text 13.68"/>
          <p:cNvSpPr txBox="1"/>
          <p:nvPr/>
        </p:nvSpPr>
        <p:spPr>
          <a:xfrm>
            <a:off x="2527237" y="5695808"/>
            <a:ext cx="209789"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No</a:t>
            </a:r>
            <a:endParaRPr lang="en-US" sz="850" dirty="0"/>
          </a:p>
        </p:txBody>
      </p:sp>
      <p:sp>
        <p:nvSpPr>
          <p:cNvPr id="70" name="text 13.69"/>
          <p:cNvSpPr txBox="1"/>
          <p:nvPr/>
        </p:nvSpPr>
        <p:spPr>
          <a:xfrm>
            <a:off x="3225719" y="5695808"/>
            <a:ext cx="1291139"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Planned (Shooter Party)</a:t>
            </a:r>
            <a:endParaRPr lang="en-US" sz="850" dirty="0"/>
          </a:p>
        </p:txBody>
      </p:sp>
      <p:sp>
        <p:nvSpPr>
          <p:cNvPr id="71" name="text 13.70"/>
          <p:cNvSpPr txBox="1"/>
          <p:nvPr/>
        </p:nvSpPr>
        <p:spPr>
          <a:xfrm>
            <a:off x="609585" y="6200025"/>
            <a:ext cx="11694376" cy="302213"/>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“Official LAN: No” = not advertised in the game's Steam features. “Partly”: Party Animals and Pummel Party have some weapons or items; Fall Guys' playlist eliminates rather than scores. Squarena weakens you by shrinking your size; we lower mass instead. Party Animals needs internet even on one screen [8].</a:t>
            </a:r>
            <a:endParaRPr lang="en-US" sz="850" dirty="0"/>
          </a:p>
        </p:txBody>
      </p:sp>
      <p:pic>
        <p:nvPicPr>
          <p:cNvPr id="72" name="raster 13.71" descr="diagram">    </p:cNvPr>
          <p:cNvPicPr>
            <a:picLocks noChangeAspect="1"/>
          </p:cNvPicPr>
          <p:nvPr/>
        </p:nvPicPr>
        <p:blipFill>
          <a:blip r:embed="rId45"/>
          <a:stretch>
            <a:fillRect/>
          </a:stretch>
        </p:blipFill>
        <p:spPr>
          <a:xfrm>
            <a:off x="609585" y="266693"/>
            <a:ext cx="190495" cy="190495"/>
          </a:xfrm>
          <a:prstGeom prst="rect">
            <a:avLst/>
          </a:prstGeom>
        </p:spPr>
      </p:pic>
      <p:sp>
        <p:nvSpPr>
          <p:cNvPr id="73" name="text 13.72"/>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74" name="text 13.73"/>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75" name="text 13.74"/>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76" name="text 13.75"/>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13 / 25</a:t>
            </a:r>
            <a:endParaRPr lang="en-US" sz="750" dirty="0"/>
          </a:p>
        </p:txBody>
      </p:sp>
      <p:sp>
        <p:nvSpPr>
          <p:cNvPr id="77" name="text 13.76"/>
          <p:cNvSpPr txBox="1"/>
          <p:nvPr/>
        </p:nvSpPr>
        <p:spPr>
          <a:xfrm>
            <a:off x="609585" y="698483"/>
            <a:ext cx="958173"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03 · MARKET</a:t>
            </a:r>
            <a:endParaRPr lang="en-US" sz="85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4.1"/>
          <p:cNvSpPr/>
          <p:nvPr/>
        </p:nvSpPr>
        <p:spPr>
          <a:xfrm>
            <a:off x="609585" y="1841454"/>
            <a:ext cx="3555911" cy="2984425"/>
          </a:xfrm>
          <a:prstGeom prst="roundRect">
            <a:avLst>
              <a:gd name="adj" fmla="val 5106"/>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sp>
        <p:nvSpPr>
          <p:cNvPr id="3" name="shape 14.2"/>
          <p:cNvSpPr/>
          <p:nvPr/>
        </p:nvSpPr>
        <p:spPr>
          <a:xfrm>
            <a:off x="4317892" y="1841454"/>
            <a:ext cx="3555911" cy="2984425"/>
          </a:xfrm>
          <a:prstGeom prst="roundRect">
            <a:avLst>
              <a:gd name="adj" fmla="val 5106"/>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14.3"/>
          <p:cNvSpPr/>
          <p:nvPr/>
        </p:nvSpPr>
        <p:spPr>
          <a:xfrm>
            <a:off x="8026199" y="1841454"/>
            <a:ext cx="3555911" cy="2984425"/>
          </a:xfrm>
          <a:prstGeom prst="roundRect">
            <a:avLst>
              <a:gd name="adj" fmla="val 5106"/>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14.4"/>
          <p:cNvSpPr/>
          <p:nvPr/>
        </p:nvSpPr>
        <p:spPr>
          <a:xfrm>
            <a:off x="609585" y="5079873"/>
            <a:ext cx="10972526" cy="1206470"/>
          </a:xfrm>
          <a:prstGeom prst="roundRect">
            <a:avLst>
              <a:gd name="adj" fmla="val 12632"/>
            </a:avLst>
          </a:prstGeom>
          <a:solidFill>
            <a:srgbClr val="FFF0E6"/>
          </a:solidFill>
          <a:ln w="12700">
            <a:solidFill>
              <a:srgbClr val="FBDCC8"/>
            </a:solidFill>
            <a:prstDash val="solid"/>
          </a:ln>
          <a:effectLst>
            <a:outerShdw sx="100000" sy="100000" kx="0" ky="0" algn="bl" rotWithShape="0" blurRad="203200" dist="76200" dir="5400000">
              <a:srgbClr val="1E468C">
                <a:alpha val="16000"/>
              </a:srgbClr>
            </a:outerShdw>
          </a:effectLst>
        </p:spPr>
      </p:sp>
      <p:sp>
        <p:nvSpPr>
          <p:cNvPr id="6" name="text 14.5"/>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Innovation &amp; creativity</a:t>
            </a:r>
            <a:endParaRPr lang="en-US" sz="3000" dirty="0"/>
          </a:p>
        </p:txBody>
      </p:sp>
      <p:sp>
        <p:nvSpPr>
          <p:cNvPr id="7" name="text 14.6"/>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No shipped game we found ties knockback to </a:t>
            </a:r>
            <a:pPr algn="l" indent="0" marL="0">
              <a:lnSpc>
                <a:spcPts val="1820"/>
              </a:lnSpc>
              <a:buNone/>
            </a:pPr>
            <a:r>
              <a:rPr lang="en-US" sz="1350" b="1" dirty="0">
                <a:solidFill>
                  <a:srgbClr val="FF6B1F"/>
                </a:solidFill>
                <a:latin typeface="Arial" pitchFamily="34" charset="0"/>
                <a:ea typeface="Arial" pitchFamily="34" charset="-122"/>
                <a:cs typeface="Arial" pitchFamily="34" charset="-120"/>
              </a:rPr>
              <a:t>the mass you have lost.</a:t>
            </a:r>
            <a:endParaRPr lang="en-US" sz="1350" dirty="0"/>
          </a:p>
        </p:txBody>
      </p:sp>
      <p:sp>
        <p:nvSpPr>
          <p:cNvPr id="8" name="text 14.7"/>
          <p:cNvSpPr txBox="1"/>
          <p:nvPr/>
        </p:nvSpPr>
        <p:spPr>
          <a:xfrm>
            <a:off x="838179" y="2070048"/>
            <a:ext cx="575462" cy="406390"/>
          </a:xfrm>
          <a:prstGeom prst="rect">
            <a:avLst/>
          </a:prstGeom>
          <a:noFill/>
          <a:ln/>
        </p:spPr>
        <p:txBody>
          <a:bodyPr wrap="square" lIns="0" tIns="0" rIns="0" bIns="0" rtlCol="0" anchor="t"/>
          <a:lstStyle/>
          <a:p>
            <a:pPr algn="l" indent="0" marL="0">
              <a:lnSpc>
                <a:spcPts val="3200"/>
              </a:lnSpc>
              <a:buNone/>
            </a:pPr>
            <a:r>
              <a:rPr lang="en-US" sz="3200" dirty="0">
                <a:solidFill>
                  <a:srgbClr val="FF6B1F"/>
                </a:solidFill>
                <a:latin typeface="Arial Rounded MT Bold" pitchFamily="34" charset="0"/>
                <a:ea typeface="Arial Rounded MT Bold" pitchFamily="34" charset="-122"/>
                <a:cs typeface="Arial Rounded MT Bold" pitchFamily="34" charset="-120"/>
              </a:rPr>
              <a:t>01</a:t>
            </a:r>
            <a:endParaRPr lang="en-US" sz="3200" dirty="0"/>
          </a:p>
        </p:txBody>
      </p:sp>
      <p:pic>
        <p:nvPicPr>
          <p:cNvPr id="9" name="raster 14.8" descr="diagram">    </p:cNvPr>
          <p:cNvPicPr>
            <a:picLocks noChangeAspect="1"/>
          </p:cNvPicPr>
          <p:nvPr/>
        </p:nvPicPr>
        <p:blipFill>
          <a:blip r:embed="rId2"/>
          <a:stretch>
            <a:fillRect/>
          </a:stretch>
        </p:blipFill>
        <p:spPr>
          <a:xfrm>
            <a:off x="3149521" y="2044649"/>
            <a:ext cx="660383" cy="507987"/>
          </a:xfrm>
          <a:prstGeom prst="rect">
            <a:avLst/>
          </a:prstGeom>
        </p:spPr>
      </p:pic>
      <p:sp>
        <p:nvSpPr>
          <p:cNvPr id="10" name="text 14.9"/>
          <p:cNvSpPr txBox="1"/>
          <p:nvPr/>
        </p:nvSpPr>
        <p:spPr>
          <a:xfrm>
            <a:off x="838179" y="2730432"/>
            <a:ext cx="3149521"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Mass, not size</a:t>
            </a:r>
            <a:endParaRPr lang="en-US" sz="1500" dirty="0"/>
          </a:p>
        </p:txBody>
      </p:sp>
      <p:sp>
        <p:nvSpPr>
          <p:cNvPr id="11" name="text 14.10"/>
          <p:cNvSpPr txBox="1"/>
          <p:nvPr/>
        </p:nvSpPr>
        <p:spPr>
          <a:xfrm>
            <a:off x="838179" y="3111422"/>
            <a:ext cx="3149521" cy="957239"/>
          </a:xfrm>
          <a:prstGeom prst="rect">
            <a:avLst/>
          </a:prstGeom>
          <a:noFill/>
          <a:ln/>
        </p:spPr>
        <p:txBody>
          <a:bodyPr wrap="square" lIns="0" tIns="0" rIns="0" bIns="0" rtlCol="0" anchor="t"/>
          <a:lstStyle/>
          <a:p>
            <a:pPr algn="l" indent="0" marL="0">
              <a:lnSpc>
                <a:spcPts val="1890"/>
              </a:lnSpc>
              <a:buNone/>
            </a:pPr>
            <a:r>
              <a:rPr lang="en-US" sz="1300" dirty="0">
                <a:solidFill>
                  <a:srgbClr val="3E475E"/>
                </a:solidFill>
                <a:latin typeface="Arial" pitchFamily="34" charset="0"/>
                <a:ea typeface="Arial" pitchFamily="34" charset="-122"/>
                <a:cs typeface="Arial" pitchFamily="34" charset="-120"/>
              </a:rPr>
              <a:t>Hits lower your mass while your size stays. The same shot launches a weakened player further, and everyone can see the danger build.</a:t>
            </a:r>
            <a:endParaRPr lang="en-US" sz="1300" dirty="0"/>
          </a:p>
        </p:txBody>
      </p:sp>
      <p:sp>
        <p:nvSpPr>
          <p:cNvPr id="12" name="text 14.11"/>
          <p:cNvSpPr txBox="1"/>
          <p:nvPr/>
        </p:nvSpPr>
        <p:spPr>
          <a:xfrm>
            <a:off x="4546486" y="2070048"/>
            <a:ext cx="575462" cy="406390"/>
          </a:xfrm>
          <a:prstGeom prst="rect">
            <a:avLst/>
          </a:prstGeom>
          <a:noFill/>
          <a:ln/>
        </p:spPr>
        <p:txBody>
          <a:bodyPr wrap="square" lIns="0" tIns="0" rIns="0" bIns="0" rtlCol="0" anchor="t"/>
          <a:lstStyle/>
          <a:p>
            <a:pPr algn="l" indent="0" marL="0">
              <a:lnSpc>
                <a:spcPts val="3200"/>
              </a:lnSpc>
              <a:buNone/>
            </a:pPr>
            <a:r>
              <a:rPr lang="en-US" sz="3200" dirty="0">
                <a:solidFill>
                  <a:srgbClr val="1FA9EA"/>
                </a:solidFill>
                <a:latin typeface="Arial Rounded MT Bold" pitchFamily="34" charset="0"/>
                <a:ea typeface="Arial Rounded MT Bold" pitchFamily="34" charset="-122"/>
                <a:cs typeface="Arial Rounded MT Bold" pitchFamily="34" charset="-120"/>
              </a:rPr>
              <a:t>02</a:t>
            </a:r>
            <a:endParaRPr lang="en-US" sz="3200" dirty="0"/>
          </a:p>
        </p:txBody>
      </p:sp>
      <p:pic>
        <p:nvPicPr>
          <p:cNvPr id="13" name="raster 14.12" descr="diagram">    </p:cNvPr>
          <p:cNvPicPr>
            <a:picLocks noChangeAspect="1"/>
          </p:cNvPicPr>
          <p:nvPr/>
        </p:nvPicPr>
        <p:blipFill>
          <a:blip r:embed="rId3"/>
          <a:stretch>
            <a:fillRect/>
          </a:stretch>
        </p:blipFill>
        <p:spPr>
          <a:xfrm>
            <a:off x="6857829" y="2044649"/>
            <a:ext cx="660383" cy="507987"/>
          </a:xfrm>
          <a:prstGeom prst="rect">
            <a:avLst/>
          </a:prstGeom>
        </p:spPr>
      </p:pic>
      <p:sp>
        <p:nvSpPr>
          <p:cNvPr id="14" name="text 14.13"/>
          <p:cNvSpPr txBox="1"/>
          <p:nvPr/>
        </p:nvSpPr>
        <p:spPr>
          <a:xfrm>
            <a:off x="4546486" y="2730432"/>
            <a:ext cx="3149521"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One trigger, many effects</a:t>
            </a:r>
            <a:endParaRPr lang="en-US" sz="1500" dirty="0"/>
          </a:p>
        </p:txBody>
      </p:sp>
      <p:sp>
        <p:nvSpPr>
          <p:cNvPr id="15" name="text 14.14"/>
          <p:cNvSpPr txBox="1"/>
          <p:nvPr/>
        </p:nvSpPr>
        <p:spPr>
          <a:xfrm>
            <a:off x="4546486" y="3111422"/>
            <a:ext cx="3149521" cy="957239"/>
          </a:xfrm>
          <a:prstGeom prst="rect">
            <a:avLst/>
          </a:prstGeom>
          <a:noFill/>
          <a:ln/>
        </p:spPr>
        <p:txBody>
          <a:bodyPr wrap="square" lIns="0" tIns="0" rIns="0" bIns="0" rtlCol="0" anchor="t"/>
          <a:lstStyle/>
          <a:p>
            <a:pPr algn="l" indent="0" marL="0">
              <a:lnSpc>
                <a:spcPts val="1890"/>
              </a:lnSpc>
              <a:buNone/>
            </a:pPr>
            <a:r>
              <a:rPr lang="en-US" sz="1300" dirty="0">
                <a:solidFill>
                  <a:srgbClr val="3E475E"/>
                </a:solidFill>
                <a:latin typeface="Arial" pitchFamily="34" charset="0"/>
                <a:ea typeface="Arial" pitchFamily="34" charset="-122"/>
                <a:cs typeface="Arial" pitchFamily="34" charset="-120"/>
              </a:rPr>
              <a:t>The same shot pushes, damages or lifts you, depending on the mini-game. Controls are learned once; each mini-game feels new.</a:t>
            </a:r>
            <a:endParaRPr lang="en-US" sz="1300" dirty="0"/>
          </a:p>
        </p:txBody>
      </p:sp>
      <p:sp>
        <p:nvSpPr>
          <p:cNvPr id="16" name="text 14.15"/>
          <p:cNvSpPr txBox="1"/>
          <p:nvPr/>
        </p:nvSpPr>
        <p:spPr>
          <a:xfrm>
            <a:off x="8254794" y="2070048"/>
            <a:ext cx="575462" cy="406390"/>
          </a:xfrm>
          <a:prstGeom prst="rect">
            <a:avLst/>
          </a:prstGeom>
          <a:noFill/>
          <a:ln/>
        </p:spPr>
        <p:txBody>
          <a:bodyPr wrap="square" lIns="0" tIns="0" rIns="0" bIns="0" rtlCol="0" anchor="t"/>
          <a:lstStyle/>
          <a:p>
            <a:pPr algn="l" indent="0" marL="0">
              <a:lnSpc>
                <a:spcPts val="3200"/>
              </a:lnSpc>
              <a:buNone/>
            </a:pPr>
            <a:r>
              <a:rPr lang="en-US" sz="3200" dirty="0">
                <a:solidFill>
                  <a:srgbClr val="43B832"/>
                </a:solidFill>
                <a:latin typeface="Arial Rounded MT Bold" pitchFamily="34" charset="0"/>
                <a:ea typeface="Arial Rounded MT Bold" pitchFamily="34" charset="-122"/>
                <a:cs typeface="Arial Rounded MT Bold" pitchFamily="34" charset="-120"/>
              </a:rPr>
              <a:t>03</a:t>
            </a:r>
            <a:endParaRPr lang="en-US" sz="3200" dirty="0"/>
          </a:p>
        </p:txBody>
      </p:sp>
      <p:pic>
        <p:nvPicPr>
          <p:cNvPr id="17" name="raster 14.16" descr="diagram">    </p:cNvPr>
          <p:cNvPicPr>
            <a:picLocks noChangeAspect="1"/>
          </p:cNvPicPr>
          <p:nvPr/>
        </p:nvPicPr>
        <p:blipFill>
          <a:blip r:embed="rId4"/>
          <a:stretch>
            <a:fillRect/>
          </a:stretch>
        </p:blipFill>
        <p:spPr>
          <a:xfrm>
            <a:off x="10566136" y="2044649"/>
            <a:ext cx="660383" cy="507987"/>
          </a:xfrm>
          <a:prstGeom prst="rect">
            <a:avLst/>
          </a:prstGeom>
        </p:spPr>
      </p:pic>
      <p:sp>
        <p:nvSpPr>
          <p:cNvPr id="18" name="text 14.17"/>
          <p:cNvSpPr txBox="1"/>
          <p:nvPr/>
        </p:nvSpPr>
        <p:spPr>
          <a:xfrm>
            <a:off x="8254794" y="2730432"/>
            <a:ext cx="3149521"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Your session, your rules</a:t>
            </a:r>
            <a:endParaRPr lang="en-US" sz="1500" dirty="0"/>
          </a:p>
        </p:txBody>
      </p:sp>
      <p:sp>
        <p:nvSpPr>
          <p:cNvPr id="19" name="text 14.18"/>
          <p:cNvSpPr txBox="1"/>
          <p:nvPr/>
        </p:nvSpPr>
        <p:spPr>
          <a:xfrm>
            <a:off x="8254794" y="3111422"/>
            <a:ext cx="3149521" cy="717929"/>
          </a:xfrm>
          <a:prstGeom prst="rect">
            <a:avLst/>
          </a:prstGeom>
          <a:noFill/>
          <a:ln/>
        </p:spPr>
        <p:txBody>
          <a:bodyPr wrap="square" lIns="0" tIns="0" rIns="0" bIns="0" rtlCol="0" anchor="t"/>
          <a:lstStyle/>
          <a:p>
            <a:pPr algn="l" indent="0" marL="0">
              <a:lnSpc>
                <a:spcPts val="1890"/>
              </a:lnSpc>
              <a:buNone/>
            </a:pPr>
            <a:r>
              <a:rPr lang="en-US" sz="1300" dirty="0">
                <a:solidFill>
                  <a:srgbClr val="3E475E"/>
                </a:solidFill>
                <a:latin typeface="Arial" pitchFamily="34" charset="0"/>
                <a:ea typeface="Arial" pitchFamily="34" charset="-122"/>
                <a:cs typeface="Arial" pitchFamily="34" charset="-120"/>
              </a:rPr>
              <a:t>Random or custom playlists, excluded or repeated mini-games, and an end by rounds or score. All on a LAN, no internet.</a:t>
            </a:r>
            <a:endParaRPr lang="en-US" sz="1300" dirty="0"/>
          </a:p>
        </p:txBody>
      </p:sp>
      <p:sp>
        <p:nvSpPr>
          <p:cNvPr id="20" name="text 14.19"/>
          <p:cNvSpPr txBox="1"/>
          <p:nvPr/>
        </p:nvSpPr>
        <p:spPr>
          <a:xfrm>
            <a:off x="863578" y="5308467"/>
            <a:ext cx="10515337" cy="504812"/>
          </a:xfrm>
          <a:prstGeom prst="rect">
            <a:avLst/>
          </a:prstGeom>
          <a:noFill/>
          <a:ln/>
        </p:spPr>
        <p:txBody>
          <a:bodyPr wrap="square" lIns="0" tIns="0" rIns="0" bIns="0" rtlCol="0" anchor="t"/>
          <a:lstStyle/>
          <a:p>
            <a:pPr algn="l" indent="0" marL="0">
              <a:lnSpc>
                <a:spcPts val="1990"/>
              </a:lnSpc>
              <a:buNone/>
            </a:pPr>
            <a:r>
              <a:rPr lang="en-US" sz="1400" dirty="0">
                <a:solidFill>
                  <a:srgbClr val="1B2340"/>
                </a:solidFill>
                <a:latin typeface="Arial" pitchFamily="34" charset="0"/>
                <a:ea typeface="Arial" pitchFamily="34" charset="-122"/>
                <a:cs typeface="Arial" pitchFamily="34" charset="-120"/>
              </a:rPr>
              <a:t>Most party games pick one: a playlist of unrelated mini-games, or one physics brawler. </a:t>
            </a:r>
            <a:pPr algn="l" indent="0" marL="0">
              <a:lnSpc>
                <a:spcPts val="1990"/>
              </a:lnSpc>
              <a:buNone/>
            </a:pPr>
            <a:r>
              <a:rPr lang="en-US" sz="1400" b="1" dirty="0">
                <a:solidFill>
                  <a:srgbClr val="FF6B1F"/>
                </a:solidFill>
                <a:latin typeface="Arial" pitchFamily="34" charset="0"/>
                <a:ea typeface="Arial" pitchFamily="34" charset="-122"/>
                <a:cs typeface="Arial" pitchFamily="34" charset="-120"/>
              </a:rPr>
              <a:t>Shooter Party keeps one character and one shot across the whole session, and lets each mini-game bend what that shot means.</a:t>
            </a:r>
            <a:endParaRPr lang="en-US" sz="1400" dirty="0"/>
          </a:p>
        </p:txBody>
      </p:sp>
      <p:pic>
        <p:nvPicPr>
          <p:cNvPr id="21" name="raster 14.20" descr="diagram">    </p:cNvPr>
          <p:cNvPicPr>
            <a:picLocks noChangeAspect="1"/>
          </p:cNvPicPr>
          <p:nvPr/>
        </p:nvPicPr>
        <p:blipFill>
          <a:blip r:embed="rId5"/>
          <a:stretch>
            <a:fillRect/>
          </a:stretch>
        </p:blipFill>
        <p:spPr>
          <a:xfrm>
            <a:off x="609585" y="266693"/>
            <a:ext cx="190495" cy="190495"/>
          </a:xfrm>
          <a:prstGeom prst="rect">
            <a:avLst/>
          </a:prstGeom>
        </p:spPr>
      </p:pic>
      <p:sp>
        <p:nvSpPr>
          <p:cNvPr id="22" name="text 14.21"/>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23" name="text 14.22"/>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24" name="text 14.23"/>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25" name="text 14.24"/>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14 / 25</a:t>
            </a:r>
            <a:endParaRPr lang="en-US" sz="750" dirty="0"/>
          </a:p>
        </p:txBody>
      </p:sp>
      <p:sp>
        <p:nvSpPr>
          <p:cNvPr id="26" name="text 14.25"/>
          <p:cNvSpPr txBox="1"/>
          <p:nvPr/>
        </p:nvSpPr>
        <p:spPr>
          <a:xfrm>
            <a:off x="609585" y="698483"/>
            <a:ext cx="1234137"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04 · INNOVATION</a:t>
            </a:r>
            <a:endParaRPr lang="en-US" sz="85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5.1"/>
          <p:cNvSpPr/>
          <p:nvPr/>
        </p:nvSpPr>
        <p:spPr>
          <a:xfrm>
            <a:off x="609585" y="1993850"/>
            <a:ext cx="10972526" cy="711182"/>
          </a:xfrm>
          <a:prstGeom prst="roundRect">
            <a:avLst>
              <a:gd name="adj" fmla="val 21429"/>
            </a:avLst>
          </a:prstGeom>
          <a:solidFill>
            <a:srgbClr val="FFFFFF"/>
          </a:solidFill>
          <a:ln w="12700">
            <a:solidFill>
              <a:srgbClr val="E4E9DD"/>
            </a:solidFill>
            <a:prstDash val="solid"/>
          </a:ln>
        </p:spPr>
      </p:sp>
      <p:sp>
        <p:nvSpPr>
          <p:cNvPr id="3" name="shape 15.2"/>
          <p:cNvSpPr/>
          <p:nvPr/>
        </p:nvSpPr>
        <p:spPr>
          <a:xfrm>
            <a:off x="609585" y="2806630"/>
            <a:ext cx="10972526" cy="711182"/>
          </a:xfrm>
          <a:prstGeom prst="roundRect">
            <a:avLst>
              <a:gd name="adj" fmla="val 21429"/>
            </a:avLst>
          </a:prstGeom>
          <a:solidFill>
            <a:srgbClr val="FFF0E6"/>
          </a:solidFill>
          <a:ln w="19050">
            <a:solidFill>
              <a:srgbClr val="FF6B1F"/>
            </a:solidFill>
            <a:prstDash val="solid"/>
          </a:ln>
        </p:spPr>
      </p:sp>
      <p:sp>
        <p:nvSpPr>
          <p:cNvPr id="4" name="shape 15.3"/>
          <p:cNvSpPr/>
          <p:nvPr/>
        </p:nvSpPr>
        <p:spPr>
          <a:xfrm>
            <a:off x="609585" y="3619410"/>
            <a:ext cx="10972526" cy="711182"/>
          </a:xfrm>
          <a:prstGeom prst="roundRect">
            <a:avLst>
              <a:gd name="adj" fmla="val 21429"/>
            </a:avLst>
          </a:prstGeom>
          <a:solidFill>
            <a:srgbClr val="FFFFFF"/>
          </a:solidFill>
          <a:ln w="12700">
            <a:solidFill>
              <a:srgbClr val="E4E9DD"/>
            </a:solidFill>
            <a:prstDash val="solid"/>
          </a:ln>
        </p:spPr>
      </p:sp>
      <p:sp>
        <p:nvSpPr>
          <p:cNvPr id="5" name="shape 15.4"/>
          <p:cNvSpPr/>
          <p:nvPr/>
        </p:nvSpPr>
        <p:spPr>
          <a:xfrm>
            <a:off x="609585" y="4432189"/>
            <a:ext cx="10972526" cy="711182"/>
          </a:xfrm>
          <a:prstGeom prst="roundRect">
            <a:avLst>
              <a:gd name="adj" fmla="val 21429"/>
            </a:avLst>
          </a:prstGeom>
          <a:solidFill>
            <a:srgbClr val="FFFFFF"/>
          </a:solidFill>
          <a:ln w="12700">
            <a:solidFill>
              <a:srgbClr val="E4E9DD"/>
            </a:solidFill>
            <a:prstDash val="solid"/>
          </a:ln>
        </p:spPr>
      </p:sp>
      <p:sp>
        <p:nvSpPr>
          <p:cNvPr id="6" name="shape 15.5"/>
          <p:cNvSpPr/>
          <p:nvPr/>
        </p:nvSpPr>
        <p:spPr>
          <a:xfrm>
            <a:off x="609585" y="5244969"/>
            <a:ext cx="10972526" cy="711182"/>
          </a:xfrm>
          <a:prstGeom prst="roundRect">
            <a:avLst>
              <a:gd name="adj" fmla="val 21429"/>
            </a:avLst>
          </a:prstGeom>
          <a:solidFill>
            <a:srgbClr val="FFF0E6"/>
          </a:solidFill>
          <a:ln w="19050">
            <a:solidFill>
              <a:srgbClr val="FF6B1F"/>
            </a:solidFill>
            <a:prstDash val="solid"/>
          </a:ln>
        </p:spPr>
      </p:sp>
      <p:sp>
        <p:nvSpPr>
          <p:cNvPr id="7" name="text 15.6"/>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Closest prior art</a:t>
            </a:r>
            <a:endParaRPr lang="en-US" sz="3000" dirty="0"/>
          </a:p>
        </p:txBody>
      </p:sp>
      <p:sp>
        <p:nvSpPr>
          <p:cNvPr id="8" name="text 15.7"/>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What exists already, and </a:t>
            </a:r>
            <a:pPr algn="l" indent="0" marL="0">
              <a:lnSpc>
                <a:spcPts val="1820"/>
              </a:lnSpc>
              <a:buNone/>
            </a:pPr>
            <a:r>
              <a:rPr lang="en-US" sz="1350" b="1" dirty="0">
                <a:solidFill>
                  <a:srgbClr val="FF6B1F"/>
                </a:solidFill>
                <a:latin typeface="Arial" pitchFamily="34" charset="0"/>
                <a:ea typeface="Arial" pitchFamily="34" charset="-122"/>
                <a:cs typeface="Arial" pitchFamily="34" charset="-120"/>
              </a:rPr>
              <a:t>what we did not find.</a:t>
            </a:r>
            <a:endParaRPr lang="en-US" sz="1350" dirty="0"/>
          </a:p>
        </p:txBody>
      </p:sp>
      <p:sp>
        <p:nvSpPr>
          <p:cNvPr id="9" name="text 15.8"/>
          <p:cNvSpPr txBox="1"/>
          <p:nvPr/>
        </p:nvSpPr>
        <p:spPr>
          <a:xfrm>
            <a:off x="863578" y="1790655"/>
            <a:ext cx="33388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IDEA</a:t>
            </a:r>
            <a:endParaRPr lang="en-US" sz="700" dirty="0"/>
          </a:p>
        </p:txBody>
      </p:sp>
      <p:sp>
        <p:nvSpPr>
          <p:cNvPr id="10" name="text 15.9"/>
          <p:cNvSpPr txBox="1"/>
          <p:nvPr/>
        </p:nvSpPr>
        <p:spPr>
          <a:xfrm>
            <a:off x="3936902" y="1790655"/>
            <a:ext cx="1241815"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CLOSEST PRIOR ART</a:t>
            </a:r>
            <a:endParaRPr lang="en-US" sz="700" dirty="0"/>
          </a:p>
        </p:txBody>
      </p:sp>
      <p:sp>
        <p:nvSpPr>
          <p:cNvPr id="11" name="text 15.10"/>
          <p:cNvSpPr txBox="1"/>
          <p:nvPr/>
        </p:nvSpPr>
        <p:spPr>
          <a:xfrm>
            <a:off x="9969251" y="1790655"/>
            <a:ext cx="494377"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STATUS</a:t>
            </a:r>
            <a:endParaRPr lang="en-US" sz="700" dirty="0"/>
          </a:p>
        </p:txBody>
      </p:sp>
      <p:sp>
        <p:nvSpPr>
          <p:cNvPr id="12" name="text 15.11"/>
          <p:cNvSpPr txBox="1"/>
          <p:nvPr/>
        </p:nvSpPr>
        <p:spPr>
          <a:xfrm>
            <a:off x="863578" y="2158946"/>
            <a:ext cx="2832029" cy="380990"/>
          </a:xfrm>
          <a:prstGeom prst="rect">
            <a:avLst/>
          </a:prstGeom>
          <a:noFill/>
          <a:ln/>
        </p:spPr>
        <p:txBody>
          <a:bodyPr wrap="square" lIns="0" tIns="0" rIns="0" bIns="0" rtlCol="0" anchor="ctr"/>
          <a:lstStyle/>
          <a:p>
            <a:pPr algn="l" indent="0" marL="0">
              <a:lnSpc>
                <a:spcPts val="1500"/>
              </a:lnSpc>
              <a:buNone/>
            </a:pPr>
            <a:r>
              <a:rPr lang="en-US" sz="1200" b="1" dirty="0">
                <a:solidFill>
                  <a:srgbClr val="1B2340"/>
                </a:solidFill>
                <a:latin typeface="Arial" pitchFamily="34" charset="0"/>
                <a:ea typeface="Arial" pitchFamily="34" charset="-122"/>
                <a:cs typeface="Arial" pitchFamily="34" charset="-120"/>
              </a:rPr>
              <a:t>Hits weaken your body</a:t>
            </a:r>
            <a:endParaRPr lang="en-US" sz="1200" dirty="0"/>
          </a:p>
        </p:txBody>
      </p:sp>
      <p:sp>
        <p:nvSpPr>
          <p:cNvPr id="13" name="text 15.12"/>
          <p:cNvSpPr txBox="1"/>
          <p:nvPr/>
        </p:nvSpPr>
        <p:spPr>
          <a:xfrm>
            <a:off x="3936902" y="2158946"/>
            <a:ext cx="5752956" cy="380990"/>
          </a:xfrm>
          <a:prstGeom prst="rect">
            <a:avLst/>
          </a:prstGeom>
          <a:noFill/>
          <a:ln/>
        </p:spPr>
        <p:txBody>
          <a:bodyPr wrap="square" lIns="0" tIns="0" rIns="0" bIns="0" rtlCol="0" anchor="ctr"/>
          <a:lstStyle/>
          <a:p>
            <a:pPr algn="l" indent="0" marL="0">
              <a:lnSpc>
                <a:spcPts val="1470"/>
              </a:lnSpc>
              <a:buNone/>
            </a:pPr>
            <a:r>
              <a:rPr lang="en-US" sz="1050" dirty="0">
                <a:solidFill>
                  <a:srgbClr val="3E475E"/>
                </a:solidFill>
                <a:latin typeface="Arial" pitchFamily="34" charset="0"/>
                <a:ea typeface="Arial" pitchFamily="34" charset="-122"/>
                <a:cs typeface="Arial" pitchFamily="34" charset="-120"/>
              </a:rPr>
              <a:t>Squarena (2D): lower health, smaller body. Morphies Law: hits move mass between robots.</a:t>
            </a:r>
            <a:endParaRPr lang="en-US" sz="1050" dirty="0"/>
          </a:p>
        </p:txBody>
      </p:sp>
      <p:sp>
        <p:nvSpPr>
          <p:cNvPr id="14" name="shape 15.13"/>
          <p:cNvSpPr/>
          <p:nvPr/>
        </p:nvSpPr>
        <p:spPr>
          <a:xfrm>
            <a:off x="9969251" y="2216095"/>
            <a:ext cx="1422364" cy="266693"/>
          </a:xfrm>
          <a:prstGeom prst="roundRect">
            <a:avLst>
              <a:gd name="adj" fmla="val 50000"/>
            </a:avLst>
          </a:prstGeom>
          <a:solidFill>
            <a:srgbClr val="E3F2FB"/>
          </a:solidFill>
          <a:ln/>
        </p:spPr>
      </p:sp>
      <p:sp>
        <p:nvSpPr>
          <p:cNvPr id="15" name="text 15.14"/>
          <p:cNvSpPr txBox="1"/>
          <p:nvPr/>
        </p:nvSpPr>
        <p:spPr>
          <a:xfrm>
            <a:off x="9969251" y="2216095"/>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1FA9EA"/>
                </a:solidFill>
                <a:latin typeface="Arial" pitchFamily="34" charset="0"/>
                <a:ea typeface="Arial" pitchFamily="34" charset="-122"/>
                <a:cs typeface="Arial" pitchFamily="34" charset="-120"/>
              </a:rPr>
              <a:t>PRECEDENT</a:t>
            </a:r>
            <a:endParaRPr lang="en-US" sz="700" dirty="0"/>
          </a:p>
        </p:txBody>
      </p:sp>
      <p:sp>
        <p:nvSpPr>
          <p:cNvPr id="16" name="text 15.15"/>
          <p:cNvSpPr txBox="1"/>
          <p:nvPr/>
        </p:nvSpPr>
        <p:spPr>
          <a:xfrm>
            <a:off x="863578" y="2971726"/>
            <a:ext cx="2832029" cy="380990"/>
          </a:xfrm>
          <a:prstGeom prst="rect">
            <a:avLst/>
          </a:prstGeom>
          <a:noFill/>
          <a:ln/>
        </p:spPr>
        <p:txBody>
          <a:bodyPr wrap="square" lIns="0" tIns="0" rIns="0" bIns="0" rtlCol="0" anchor="ctr"/>
          <a:lstStyle/>
          <a:p>
            <a:pPr algn="l" indent="0" marL="0">
              <a:lnSpc>
                <a:spcPts val="1500"/>
              </a:lnSpc>
              <a:buNone/>
            </a:pPr>
            <a:r>
              <a:rPr lang="en-US" sz="1200" b="1" dirty="0">
                <a:solidFill>
                  <a:srgbClr val="1B2340"/>
                </a:solidFill>
                <a:latin typeface="Arial" pitchFamily="34" charset="0"/>
                <a:ea typeface="Arial" pitchFamily="34" charset="-122"/>
                <a:cs typeface="Arial" pitchFamily="34" charset="-120"/>
              </a:rPr>
              <a:t>Lighter, launched further</a:t>
            </a:r>
            <a:endParaRPr lang="en-US" sz="1200" dirty="0"/>
          </a:p>
        </p:txBody>
      </p:sp>
      <p:sp>
        <p:nvSpPr>
          <p:cNvPr id="17" name="text 15.16"/>
          <p:cNvSpPr txBox="1"/>
          <p:nvPr/>
        </p:nvSpPr>
        <p:spPr>
          <a:xfrm>
            <a:off x="3936902" y="2971726"/>
            <a:ext cx="5752956" cy="380990"/>
          </a:xfrm>
          <a:prstGeom prst="rect">
            <a:avLst/>
          </a:prstGeom>
          <a:noFill/>
          <a:ln/>
        </p:spPr>
        <p:txBody>
          <a:bodyPr wrap="square" lIns="0" tIns="0" rIns="0" bIns="0" rtlCol="0" anchor="ctr"/>
          <a:lstStyle/>
          <a:p>
            <a:pPr algn="l" indent="0" marL="0">
              <a:lnSpc>
                <a:spcPts val="1470"/>
              </a:lnSpc>
              <a:buNone/>
            </a:pPr>
            <a:r>
              <a:rPr lang="en-US" sz="1050" dirty="0">
                <a:solidFill>
                  <a:srgbClr val="3E475E"/>
                </a:solidFill>
                <a:latin typeface="Arial" pitchFamily="34" charset="0"/>
                <a:ea typeface="Arial" pitchFamily="34" charset="-122"/>
                <a:cs typeface="Arial" pitchFamily="34" charset="-120"/>
              </a:rPr>
              <a:t>Smash Bros. raises knockback with a damage % counter, not mass. In Squarena, smaller bodies feel more of their own recoil.</a:t>
            </a:r>
            <a:endParaRPr lang="en-US" sz="1050" dirty="0"/>
          </a:p>
        </p:txBody>
      </p:sp>
      <p:sp>
        <p:nvSpPr>
          <p:cNvPr id="18" name="shape 15.17"/>
          <p:cNvSpPr/>
          <p:nvPr/>
        </p:nvSpPr>
        <p:spPr>
          <a:xfrm>
            <a:off x="9969251" y="3028874"/>
            <a:ext cx="1422364" cy="266693"/>
          </a:xfrm>
          <a:prstGeom prst="roundRect">
            <a:avLst>
              <a:gd name="adj" fmla="val 50000"/>
            </a:avLst>
          </a:prstGeom>
          <a:solidFill>
            <a:srgbClr val="FF6B1F"/>
          </a:solidFill>
          <a:ln/>
        </p:spPr>
      </p:sp>
      <p:sp>
        <p:nvSpPr>
          <p:cNvPr id="19" name="text 15.18"/>
          <p:cNvSpPr txBox="1"/>
          <p:nvPr/>
        </p:nvSpPr>
        <p:spPr>
          <a:xfrm>
            <a:off x="9969251" y="3028874"/>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NOT FOUND</a:t>
            </a:r>
            <a:endParaRPr lang="en-US" sz="700" dirty="0"/>
          </a:p>
        </p:txBody>
      </p:sp>
      <p:sp>
        <p:nvSpPr>
          <p:cNvPr id="20" name="text 15.19"/>
          <p:cNvSpPr txBox="1"/>
          <p:nvPr/>
        </p:nvSpPr>
        <p:spPr>
          <a:xfrm>
            <a:off x="863578" y="3784505"/>
            <a:ext cx="2832029" cy="380990"/>
          </a:xfrm>
          <a:prstGeom prst="rect">
            <a:avLst/>
          </a:prstGeom>
          <a:noFill/>
          <a:ln/>
        </p:spPr>
        <p:txBody>
          <a:bodyPr wrap="square" lIns="0" tIns="0" rIns="0" bIns="0" rtlCol="0" anchor="ctr"/>
          <a:lstStyle/>
          <a:p>
            <a:pPr algn="l" indent="0" marL="0">
              <a:lnSpc>
                <a:spcPts val="1500"/>
              </a:lnSpc>
              <a:buNone/>
            </a:pPr>
            <a:r>
              <a:rPr lang="en-US" sz="1200" b="1" dirty="0">
                <a:solidFill>
                  <a:srgbClr val="1B2340"/>
                </a:solidFill>
                <a:latin typeface="Arial" pitchFamily="34" charset="0"/>
                <a:ea typeface="Arial" pitchFamily="34" charset="-122"/>
                <a:cs typeface="Arial" pitchFamily="34" charset="-120"/>
              </a:rPr>
              <a:t>Blast to climb</a:t>
            </a:r>
            <a:endParaRPr lang="en-US" sz="1200" dirty="0"/>
          </a:p>
        </p:txBody>
      </p:sp>
      <p:sp>
        <p:nvSpPr>
          <p:cNvPr id="21" name="text 15.20"/>
          <p:cNvSpPr txBox="1"/>
          <p:nvPr/>
        </p:nvSpPr>
        <p:spPr>
          <a:xfrm>
            <a:off x="3936902" y="3784505"/>
            <a:ext cx="5752956" cy="380990"/>
          </a:xfrm>
          <a:prstGeom prst="rect">
            <a:avLst/>
          </a:prstGeom>
          <a:noFill/>
          <a:ln/>
        </p:spPr>
        <p:txBody>
          <a:bodyPr wrap="square" lIns="0" tIns="0" rIns="0" bIns="0" rtlCol="0" anchor="ctr"/>
          <a:lstStyle/>
          <a:p>
            <a:pPr algn="l" indent="0" marL="0">
              <a:lnSpc>
                <a:spcPts val="1470"/>
              </a:lnSpc>
              <a:buNone/>
            </a:pPr>
            <a:r>
              <a:rPr lang="en-US" sz="1050" dirty="0">
                <a:solidFill>
                  <a:srgbClr val="3E475E"/>
                </a:solidFill>
                <a:latin typeface="Arial" pitchFamily="34" charset="0"/>
                <a:ea typeface="Arial" pitchFamily="34" charset="-122"/>
                <a:cs typeface="Arial" pitchFamily="34" charset="-120"/>
              </a:rPr>
              <a:t>Rocket jumping in classic shooters such as Quake and Team Fortress 2.</a:t>
            </a:r>
            <a:endParaRPr lang="en-US" sz="1050" dirty="0"/>
          </a:p>
        </p:txBody>
      </p:sp>
      <p:sp>
        <p:nvSpPr>
          <p:cNvPr id="22" name="shape 15.21"/>
          <p:cNvSpPr/>
          <p:nvPr/>
        </p:nvSpPr>
        <p:spPr>
          <a:xfrm>
            <a:off x="9969251" y="3841654"/>
            <a:ext cx="1422364" cy="266693"/>
          </a:xfrm>
          <a:prstGeom prst="roundRect">
            <a:avLst>
              <a:gd name="adj" fmla="val 50000"/>
            </a:avLst>
          </a:prstGeom>
          <a:solidFill>
            <a:srgbClr val="E3F2FB"/>
          </a:solidFill>
          <a:ln/>
        </p:spPr>
      </p:sp>
      <p:sp>
        <p:nvSpPr>
          <p:cNvPr id="23" name="text 15.22"/>
          <p:cNvSpPr txBox="1"/>
          <p:nvPr/>
        </p:nvSpPr>
        <p:spPr>
          <a:xfrm>
            <a:off x="9969251" y="3841654"/>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1FA9EA"/>
                </a:solidFill>
                <a:latin typeface="Arial" pitchFamily="34" charset="0"/>
                <a:ea typeface="Arial" pitchFamily="34" charset="-122"/>
                <a:cs typeface="Arial" pitchFamily="34" charset="-120"/>
              </a:rPr>
              <a:t>PRECEDENT</a:t>
            </a:r>
            <a:endParaRPr lang="en-US" sz="700" dirty="0"/>
          </a:p>
        </p:txBody>
      </p:sp>
      <p:sp>
        <p:nvSpPr>
          <p:cNvPr id="24" name="text 15.23"/>
          <p:cNvSpPr txBox="1"/>
          <p:nvPr/>
        </p:nvSpPr>
        <p:spPr>
          <a:xfrm>
            <a:off x="863578" y="4597285"/>
            <a:ext cx="2832029" cy="380990"/>
          </a:xfrm>
          <a:prstGeom prst="rect">
            <a:avLst/>
          </a:prstGeom>
          <a:noFill/>
          <a:ln/>
        </p:spPr>
        <p:txBody>
          <a:bodyPr wrap="square" lIns="0" tIns="0" rIns="0" bIns="0" rtlCol="0" anchor="ctr"/>
          <a:lstStyle/>
          <a:p>
            <a:pPr algn="l" indent="0" marL="0">
              <a:lnSpc>
                <a:spcPts val="1500"/>
              </a:lnSpc>
              <a:buNone/>
            </a:pPr>
            <a:r>
              <a:rPr lang="en-US" sz="1200" b="1" dirty="0">
                <a:solidFill>
                  <a:srgbClr val="1B2340"/>
                </a:solidFill>
                <a:latin typeface="Arial" pitchFamily="34" charset="0"/>
                <a:ea typeface="Arial" pitchFamily="34" charset="-122"/>
                <a:cs typeface="Arial" pitchFamily="34" charset="-120"/>
              </a:rPr>
              <a:t>Shoot to steer on ice</a:t>
            </a:r>
            <a:endParaRPr lang="en-US" sz="1200" dirty="0"/>
          </a:p>
        </p:txBody>
      </p:sp>
      <p:sp>
        <p:nvSpPr>
          <p:cNvPr id="25" name="text 15.24"/>
          <p:cNvSpPr txBox="1"/>
          <p:nvPr/>
        </p:nvSpPr>
        <p:spPr>
          <a:xfrm>
            <a:off x="3936902" y="4597285"/>
            <a:ext cx="5752956" cy="380990"/>
          </a:xfrm>
          <a:prstGeom prst="rect">
            <a:avLst/>
          </a:prstGeom>
          <a:noFill/>
          <a:ln/>
        </p:spPr>
        <p:txBody>
          <a:bodyPr wrap="square" lIns="0" tIns="0" rIns="0" bIns="0" rtlCol="0" anchor="ctr"/>
          <a:lstStyle/>
          <a:p>
            <a:pPr algn="l" indent="0" marL="0">
              <a:lnSpc>
                <a:spcPts val="1470"/>
              </a:lnSpc>
              <a:buNone/>
            </a:pPr>
            <a:r>
              <a:rPr lang="en-US" sz="1050" dirty="0">
                <a:solidFill>
                  <a:srgbClr val="3E475E"/>
                </a:solidFill>
                <a:latin typeface="Arial" pitchFamily="34" charset="0"/>
                <a:ea typeface="Arial" pitchFamily="34" charset="-122"/>
                <a:cs typeface="Arial" pitchFamily="34" charset="-120"/>
              </a:rPr>
              <a:t>Recoil movement exists in some games; we did not search this one yet.</a:t>
            </a:r>
            <a:endParaRPr lang="en-US" sz="1050" dirty="0"/>
          </a:p>
        </p:txBody>
      </p:sp>
      <p:sp>
        <p:nvSpPr>
          <p:cNvPr id="26" name="shape 15.25"/>
          <p:cNvSpPr/>
          <p:nvPr/>
        </p:nvSpPr>
        <p:spPr>
          <a:xfrm>
            <a:off x="9969251" y="4654434"/>
            <a:ext cx="1422364" cy="266693"/>
          </a:xfrm>
          <a:prstGeom prst="roundRect">
            <a:avLst>
              <a:gd name="adj" fmla="val 50000"/>
            </a:avLst>
          </a:prstGeom>
          <a:solidFill>
            <a:srgbClr val="FFF6DA"/>
          </a:solidFill>
          <a:ln/>
        </p:spPr>
      </p:sp>
      <p:sp>
        <p:nvSpPr>
          <p:cNvPr id="27" name="text 15.26"/>
          <p:cNvSpPr txBox="1"/>
          <p:nvPr/>
        </p:nvSpPr>
        <p:spPr>
          <a:xfrm>
            <a:off x="9969251" y="4654434"/>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A57600"/>
                </a:solidFill>
                <a:latin typeface="Arial" pitchFamily="34" charset="0"/>
                <a:ea typeface="Arial" pitchFamily="34" charset="-122"/>
                <a:cs typeface="Arial" pitchFamily="34" charset="-120"/>
              </a:rPr>
              <a:t>TO CHECK</a:t>
            </a:r>
            <a:endParaRPr lang="en-US" sz="700" dirty="0"/>
          </a:p>
        </p:txBody>
      </p:sp>
      <p:sp>
        <p:nvSpPr>
          <p:cNvPr id="28" name="text 15.27"/>
          <p:cNvSpPr txBox="1"/>
          <p:nvPr/>
        </p:nvSpPr>
        <p:spPr>
          <a:xfrm>
            <a:off x="863578" y="5410065"/>
            <a:ext cx="2832029" cy="380990"/>
          </a:xfrm>
          <a:prstGeom prst="rect">
            <a:avLst/>
          </a:prstGeom>
          <a:noFill/>
          <a:ln/>
        </p:spPr>
        <p:txBody>
          <a:bodyPr wrap="square" lIns="0" tIns="0" rIns="0" bIns="0" rtlCol="0" anchor="ctr"/>
          <a:lstStyle/>
          <a:p>
            <a:pPr algn="l" indent="0" marL="0">
              <a:lnSpc>
                <a:spcPts val="1500"/>
              </a:lnSpc>
              <a:buNone/>
            </a:pPr>
            <a:r>
              <a:rPr lang="en-US" sz="1200" b="1" dirty="0">
                <a:solidFill>
                  <a:srgbClr val="1B2340"/>
                </a:solidFill>
                <a:latin typeface="Arial" pitchFamily="34" charset="0"/>
                <a:ea typeface="Arial" pitchFamily="34" charset="-122"/>
                <a:cs typeface="Arial" pitchFamily="34" charset="-120"/>
              </a:rPr>
              <a:t>Mass knockback in a LAN party game</a:t>
            </a:r>
            <a:endParaRPr lang="en-US" sz="1200" dirty="0"/>
          </a:p>
        </p:txBody>
      </p:sp>
      <p:sp>
        <p:nvSpPr>
          <p:cNvPr id="29" name="text 15.28"/>
          <p:cNvSpPr txBox="1"/>
          <p:nvPr/>
        </p:nvSpPr>
        <p:spPr>
          <a:xfrm>
            <a:off x="3936902" y="5410065"/>
            <a:ext cx="5752956" cy="380990"/>
          </a:xfrm>
          <a:prstGeom prst="rect">
            <a:avLst/>
          </a:prstGeom>
          <a:noFill/>
          <a:ln/>
        </p:spPr>
        <p:txBody>
          <a:bodyPr wrap="square" lIns="0" tIns="0" rIns="0" bIns="0" rtlCol="0" anchor="ctr"/>
          <a:lstStyle/>
          <a:p>
            <a:pPr algn="l" indent="0" marL="0">
              <a:lnSpc>
                <a:spcPts val="1470"/>
              </a:lnSpc>
              <a:buNone/>
            </a:pPr>
            <a:r>
              <a:rPr lang="en-US" sz="1050" dirty="0">
                <a:solidFill>
                  <a:srgbClr val="3E475E"/>
                </a:solidFill>
                <a:latin typeface="Arial" pitchFamily="34" charset="0"/>
                <a:ea typeface="Arial" pitchFamily="34" charset="-122"/>
                <a:cs typeface="Arial" pitchFamily="34" charset="-120"/>
              </a:rPr>
              <a:t>No shipped game found.</a:t>
            </a:r>
            <a:endParaRPr lang="en-US" sz="1050" dirty="0"/>
          </a:p>
        </p:txBody>
      </p:sp>
      <p:sp>
        <p:nvSpPr>
          <p:cNvPr id="30" name="shape 15.29"/>
          <p:cNvSpPr/>
          <p:nvPr/>
        </p:nvSpPr>
        <p:spPr>
          <a:xfrm>
            <a:off x="9969251" y="5467213"/>
            <a:ext cx="1422364" cy="266693"/>
          </a:xfrm>
          <a:prstGeom prst="roundRect">
            <a:avLst>
              <a:gd name="adj" fmla="val 50000"/>
            </a:avLst>
          </a:prstGeom>
          <a:solidFill>
            <a:srgbClr val="FF6B1F"/>
          </a:solidFill>
          <a:ln/>
        </p:spPr>
      </p:sp>
      <p:sp>
        <p:nvSpPr>
          <p:cNvPr id="31" name="text 15.30"/>
          <p:cNvSpPr txBox="1"/>
          <p:nvPr/>
        </p:nvSpPr>
        <p:spPr>
          <a:xfrm>
            <a:off x="9969251" y="5467213"/>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NOT FOUND</a:t>
            </a:r>
            <a:endParaRPr lang="en-US" sz="700" dirty="0"/>
          </a:p>
        </p:txBody>
      </p:sp>
      <p:sp>
        <p:nvSpPr>
          <p:cNvPr id="32" name="text 15.31"/>
          <p:cNvSpPr txBox="1"/>
          <p:nvPr/>
        </p:nvSpPr>
        <p:spPr>
          <a:xfrm>
            <a:off x="609585" y="6351131"/>
            <a:ext cx="11694376"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Prior-art search of shipped games, Oct 2026 [9–10]. “Not found” means not found after searching.</a:t>
            </a:r>
            <a:endParaRPr lang="en-US" sz="850" dirty="0"/>
          </a:p>
        </p:txBody>
      </p:sp>
      <p:pic>
        <p:nvPicPr>
          <p:cNvPr id="33" name="raster 15.32" descr="diagram">    </p:cNvPr>
          <p:cNvPicPr>
            <a:picLocks noChangeAspect="1"/>
          </p:cNvPicPr>
          <p:nvPr/>
        </p:nvPicPr>
        <p:blipFill>
          <a:blip r:embed="rId2"/>
          <a:stretch>
            <a:fillRect/>
          </a:stretch>
        </p:blipFill>
        <p:spPr>
          <a:xfrm>
            <a:off x="609585" y="266693"/>
            <a:ext cx="190495" cy="190495"/>
          </a:xfrm>
          <a:prstGeom prst="rect">
            <a:avLst/>
          </a:prstGeom>
        </p:spPr>
      </p:pic>
      <p:sp>
        <p:nvSpPr>
          <p:cNvPr id="34" name="text 15.33"/>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35" name="text 15.34"/>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36" name="text 15.35"/>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37" name="text 15.36"/>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15 / 25</a:t>
            </a:r>
            <a:endParaRPr lang="en-US" sz="750" dirty="0"/>
          </a:p>
        </p:txBody>
      </p:sp>
      <p:sp>
        <p:nvSpPr>
          <p:cNvPr id="38" name="text 15.37"/>
          <p:cNvSpPr txBox="1"/>
          <p:nvPr/>
        </p:nvSpPr>
        <p:spPr>
          <a:xfrm>
            <a:off x="609585" y="698483"/>
            <a:ext cx="1234137"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04 · INNOVATION</a:t>
            </a:r>
            <a:endParaRPr lang="en-US" sz="8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16.1 adj9600" descr="blk1.png">    </p:cNvPr>
          <p:cNvPicPr>
            <a:picLocks noChangeAspect="1"/>
          </p:cNvPicPr>
          <p:nvPr/>
        </p:nvPicPr>
        <p:blipFill>
          <a:blip r:embed="rId2"/>
          <a:stretch>
            <a:fillRect/>
          </a:stretch>
        </p:blipFill>
        <p:spPr>
          <a:xfrm>
            <a:off x="609585" y="1803355"/>
            <a:ext cx="2628834" cy="1587460"/>
          </a:xfrm>
          <a:prstGeom prst="roundRect">
            <a:avLst>
              <a:gd name="adj" fmla="val 9600"/>
            </a:avLst>
          </a:prstGeom>
        </p:spPr>
      </p:pic>
      <p:pic>
        <p:nvPicPr>
          <p:cNvPr id="3" name="img 16.2 adj9600" descr="blk2.png">    </p:cNvPr>
          <p:cNvPicPr>
            <a:picLocks noChangeAspect="1"/>
          </p:cNvPicPr>
          <p:nvPr/>
        </p:nvPicPr>
        <p:blipFill>
          <a:blip r:embed="rId3"/>
          <a:stretch>
            <a:fillRect/>
          </a:stretch>
        </p:blipFill>
        <p:spPr>
          <a:xfrm>
            <a:off x="3390815" y="1803355"/>
            <a:ext cx="2628834" cy="1587460"/>
          </a:xfrm>
          <a:prstGeom prst="roundRect">
            <a:avLst>
              <a:gd name="adj" fmla="val 9600"/>
            </a:avLst>
          </a:prstGeom>
        </p:spPr>
      </p:pic>
      <p:pic>
        <p:nvPicPr>
          <p:cNvPr id="4" name="img 16.3 adj9600" descr="blk3.png">    </p:cNvPr>
          <p:cNvPicPr>
            <a:picLocks noChangeAspect="1"/>
          </p:cNvPicPr>
          <p:nvPr/>
        </p:nvPicPr>
        <p:blipFill>
          <a:blip r:embed="rId4"/>
          <a:stretch>
            <a:fillRect/>
          </a:stretch>
        </p:blipFill>
        <p:spPr>
          <a:xfrm>
            <a:off x="6172046" y="1803355"/>
            <a:ext cx="2628834" cy="1587460"/>
          </a:xfrm>
          <a:prstGeom prst="roundRect">
            <a:avLst>
              <a:gd name="adj" fmla="val 9600"/>
            </a:avLst>
          </a:prstGeom>
        </p:spPr>
      </p:pic>
      <p:pic>
        <p:nvPicPr>
          <p:cNvPr id="5" name="img 16.4 adj9600" descr="blk4.png">    </p:cNvPr>
          <p:cNvPicPr>
            <a:picLocks noChangeAspect="1"/>
          </p:cNvPicPr>
          <p:nvPr/>
        </p:nvPicPr>
        <p:blipFill>
          <a:blip r:embed="rId5"/>
          <a:stretch>
            <a:fillRect/>
          </a:stretch>
        </p:blipFill>
        <p:spPr>
          <a:xfrm>
            <a:off x="8953276" y="1803355"/>
            <a:ext cx="2628834" cy="1587460"/>
          </a:xfrm>
          <a:prstGeom prst="roundRect">
            <a:avLst>
              <a:gd name="adj" fmla="val 9600"/>
            </a:avLst>
          </a:prstGeom>
        </p:spPr>
      </p:pic>
      <p:sp>
        <p:nvSpPr>
          <p:cNvPr id="6" name="shape 16.5"/>
          <p:cNvSpPr/>
          <p:nvPr/>
        </p:nvSpPr>
        <p:spPr>
          <a:xfrm>
            <a:off x="609585" y="4317892"/>
            <a:ext cx="5410065" cy="1904952"/>
          </a:xfrm>
          <a:prstGeom prst="roundRect">
            <a:avLst>
              <a:gd name="adj" fmla="val 8000"/>
            </a:avLst>
          </a:prstGeom>
          <a:solidFill>
            <a:srgbClr val="E7F5E1"/>
          </a:solidFill>
          <a:ln w="12700">
            <a:solidFill>
              <a:srgbClr val="D2EBC7"/>
            </a:solidFill>
            <a:prstDash val="solid"/>
          </a:ln>
          <a:effectLst>
            <a:outerShdw sx="100000" sy="100000" kx="0" ky="0" algn="bl" rotWithShape="0" blurRad="203200" dist="76200" dir="5400000">
              <a:srgbClr val="1E468C">
                <a:alpha val="16000"/>
              </a:srgbClr>
            </a:outerShdw>
          </a:effectLst>
        </p:spPr>
      </p:sp>
      <p:sp>
        <p:nvSpPr>
          <p:cNvPr id="7" name="shape 16.6"/>
          <p:cNvSpPr/>
          <p:nvPr/>
        </p:nvSpPr>
        <p:spPr>
          <a:xfrm>
            <a:off x="6172046" y="4317892"/>
            <a:ext cx="5410065" cy="1904952"/>
          </a:xfrm>
          <a:prstGeom prst="roundRect">
            <a:avLst>
              <a:gd name="adj" fmla="val 8000"/>
            </a:avLst>
          </a:prstGeom>
          <a:solidFill>
            <a:srgbClr val="FFF6DA"/>
          </a:solidFill>
          <a:ln w="12700">
            <a:solidFill>
              <a:srgbClr val="F6E3A6"/>
            </a:solidFill>
            <a:prstDash val="solid"/>
          </a:ln>
          <a:effectLst>
            <a:outerShdw sx="100000" sy="100000" kx="0" ky="0" algn="bl" rotWithShape="0" blurRad="203200" dist="76200" dir="5400000">
              <a:srgbClr val="1E468C">
                <a:alpha val="16000"/>
              </a:srgbClr>
            </a:outerShdw>
          </a:effectLst>
        </p:spPr>
      </p:sp>
      <p:pic>
        <p:nvPicPr>
          <p:cNvPr id="8" name="raster 16.7" descr="diagram">    </p:cNvPr>
          <p:cNvPicPr>
            <a:picLocks noChangeAspect="1"/>
          </p:cNvPicPr>
          <p:nvPr/>
        </p:nvPicPr>
        <p:blipFill>
          <a:blip r:embed="rId6"/>
          <a:stretch>
            <a:fillRect/>
          </a:stretch>
        </p:blipFill>
        <p:spPr>
          <a:xfrm>
            <a:off x="647684" y="3555911"/>
            <a:ext cx="10896328" cy="253994"/>
          </a:xfrm>
          <a:prstGeom prst="rect">
            <a:avLst/>
          </a:prstGeom>
        </p:spPr>
      </p:pic>
      <p:sp>
        <p:nvSpPr>
          <p:cNvPr id="9" name="text 16.8"/>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Physics prototype</a:t>
            </a:r>
            <a:endParaRPr lang="en-US" sz="3000" dirty="0"/>
          </a:p>
        </p:txBody>
      </p:sp>
      <p:sp>
        <p:nvSpPr>
          <p:cNvPr id="10" name="text 16.9"/>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Does knockback </a:t>
            </a:r>
            <a:pPr algn="l" indent="0" marL="0">
              <a:lnSpc>
                <a:spcPts val="1820"/>
              </a:lnSpc>
              <a:buNone/>
            </a:pPr>
            <a:r>
              <a:rPr lang="en-US" sz="1350" b="1" dirty="0">
                <a:solidFill>
                  <a:srgbClr val="43B832"/>
                </a:solidFill>
                <a:latin typeface="Arial" pitchFamily="34" charset="0"/>
                <a:ea typeface="Arial" pitchFamily="34" charset="-122"/>
                <a:cs typeface="Arial" pitchFamily="34" charset="-120"/>
              </a:rPr>
              <a:t>read on screen?</a:t>
            </a:r>
            <a:endParaRPr lang="en-US" sz="1350" dirty="0"/>
          </a:p>
        </p:txBody>
      </p:sp>
      <p:sp>
        <p:nvSpPr>
          <p:cNvPr id="11" name="text 16.10"/>
          <p:cNvSpPr txBox="1"/>
          <p:nvPr/>
        </p:nvSpPr>
        <p:spPr>
          <a:xfrm>
            <a:off x="609585" y="3848004"/>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1B2340"/>
                </a:solidFill>
                <a:latin typeface="Arial Rounded MT Bold" pitchFamily="34" charset="0"/>
                <a:ea typeface="Arial Rounded MT Bold" pitchFamily="34" charset="-122"/>
                <a:cs typeface="Arial Rounded MT Bold" pitchFamily="34" charset="-120"/>
              </a:rPr>
              <a:t>Before</a:t>
            </a:r>
            <a:endParaRPr lang="en-US" sz="1200" dirty="0"/>
          </a:p>
        </p:txBody>
      </p:sp>
      <p:sp>
        <p:nvSpPr>
          <p:cNvPr id="12" name="text 16.11"/>
          <p:cNvSpPr txBox="1"/>
          <p:nvPr/>
        </p:nvSpPr>
        <p:spPr>
          <a:xfrm>
            <a:off x="3390815" y="3848004"/>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43B832"/>
                </a:solidFill>
                <a:latin typeface="Arial Rounded MT Bold" pitchFamily="34" charset="0"/>
                <a:ea typeface="Arial Rounded MT Bold" pitchFamily="34" charset="-122"/>
                <a:cs typeface="Arial Rounded MT Bold" pitchFamily="34" charset="-120"/>
              </a:rPr>
              <a:t>Shot 1</a:t>
            </a:r>
            <a:endParaRPr lang="en-US" sz="1200" dirty="0"/>
          </a:p>
        </p:txBody>
      </p:sp>
      <p:sp>
        <p:nvSpPr>
          <p:cNvPr id="13" name="text 16.12"/>
          <p:cNvSpPr txBox="1"/>
          <p:nvPr/>
        </p:nvSpPr>
        <p:spPr>
          <a:xfrm>
            <a:off x="6172046" y="3848004"/>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43B832"/>
                </a:solidFill>
                <a:latin typeface="Arial Rounded MT Bold" pitchFamily="34" charset="0"/>
                <a:ea typeface="Arial Rounded MT Bold" pitchFamily="34" charset="-122"/>
                <a:cs typeface="Arial Rounded MT Bold" pitchFamily="34" charset="-120"/>
              </a:rPr>
              <a:t>Shot 2</a:t>
            </a:r>
            <a:endParaRPr lang="en-US" sz="1200" dirty="0"/>
          </a:p>
        </p:txBody>
      </p:sp>
      <p:sp>
        <p:nvSpPr>
          <p:cNvPr id="14" name="text 16.13"/>
          <p:cNvSpPr txBox="1"/>
          <p:nvPr/>
        </p:nvSpPr>
        <p:spPr>
          <a:xfrm>
            <a:off x="8953276" y="3848004"/>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43B832"/>
                </a:solidFill>
                <a:latin typeface="Arial Rounded MT Bold" pitchFamily="34" charset="0"/>
                <a:ea typeface="Arial Rounded MT Bold" pitchFamily="34" charset="-122"/>
                <a:cs typeface="Arial Rounded MT Bold" pitchFamily="34" charset="-120"/>
              </a:rPr>
              <a:t>Shot 3</a:t>
            </a:r>
            <a:endParaRPr lang="en-US" sz="1200" dirty="0"/>
          </a:p>
        </p:txBody>
      </p:sp>
      <p:sp>
        <p:nvSpPr>
          <p:cNvPr id="15" name="text 16.14"/>
          <p:cNvSpPr txBox="1"/>
          <p:nvPr/>
        </p:nvSpPr>
        <p:spPr>
          <a:xfrm>
            <a:off x="863578" y="4546486"/>
            <a:ext cx="1726750"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43B832"/>
                </a:solidFill>
                <a:latin typeface="Arial" pitchFamily="34" charset="0"/>
                <a:ea typeface="Arial" pitchFamily="34" charset="-122"/>
                <a:cs typeface="Arial" pitchFamily="34" charset="-120"/>
              </a:rPr>
              <a:t>WHAT WE BUILT AND SAW</a:t>
            </a:r>
            <a:endParaRPr lang="en-US" sz="800" dirty="0"/>
          </a:p>
        </p:txBody>
      </p:sp>
      <p:sp>
        <p:nvSpPr>
          <p:cNvPr id="16" name="text 16.15"/>
          <p:cNvSpPr txBox="1"/>
          <p:nvPr/>
        </p:nvSpPr>
        <p:spPr>
          <a:xfrm>
            <a:off x="863578" y="4800480"/>
            <a:ext cx="4940176" cy="460363"/>
          </a:xfrm>
          <a:prstGeom prst="rect">
            <a:avLst/>
          </a:prstGeom>
          <a:noFill/>
          <a:ln/>
        </p:spPr>
        <p:txBody>
          <a:bodyPr wrap="square" lIns="0" tIns="0" rIns="0" bIns="0" rtlCol="0" anchor="t"/>
          <a:lstStyle/>
          <a:p>
            <a:pPr algn="l" indent="0" marL="0">
              <a:lnSpc>
                <a:spcPts val="1810"/>
              </a:lnSpc>
              <a:buNone/>
            </a:pPr>
            <a:r>
              <a:rPr lang="en-US" sz="1250" dirty="0">
                <a:solidFill>
                  <a:srgbClr val="1B2340"/>
                </a:solidFill>
                <a:latin typeface="Arial" pitchFamily="34" charset="0"/>
                <a:ea typeface="Arial" pitchFamily="34" charset="-122"/>
                <a:cs typeface="Arial" pitchFamily="34" charset="-120"/>
              </a:rPr>
              <a:t>A deterministic physics test in Three.js. Over three shots the target flies further each time, and the rule is readable without any UI.</a:t>
            </a:r>
            <a:endParaRPr lang="en-US" sz="1250" dirty="0"/>
          </a:p>
        </p:txBody>
      </p:sp>
      <p:sp>
        <p:nvSpPr>
          <p:cNvPr id="17" name="text 16.16"/>
          <p:cNvSpPr txBox="1"/>
          <p:nvPr/>
        </p:nvSpPr>
        <p:spPr>
          <a:xfrm>
            <a:off x="6426039" y="4546486"/>
            <a:ext cx="1544597"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A57600"/>
                </a:solidFill>
                <a:latin typeface="Arial" pitchFamily="34" charset="0"/>
                <a:ea typeface="Arial" pitchFamily="34" charset="-122"/>
                <a:cs typeface="Arial" pitchFamily="34" charset="-120"/>
              </a:rPr>
              <a:t>WHAT CHANGED SINCE</a:t>
            </a:r>
            <a:endParaRPr lang="en-US" sz="800" dirty="0"/>
          </a:p>
        </p:txBody>
      </p:sp>
      <p:sp>
        <p:nvSpPr>
          <p:cNvPr id="18" name="text 16.17"/>
          <p:cNvSpPr txBox="1"/>
          <p:nvPr/>
        </p:nvSpPr>
        <p:spPr>
          <a:xfrm>
            <a:off x="6426039" y="4800480"/>
            <a:ext cx="4940176" cy="690545"/>
          </a:xfrm>
          <a:prstGeom prst="rect">
            <a:avLst/>
          </a:prstGeom>
          <a:noFill/>
          <a:ln/>
        </p:spPr>
        <p:txBody>
          <a:bodyPr wrap="square" lIns="0" tIns="0" rIns="0" bIns="0" rtlCol="0" anchor="t"/>
          <a:lstStyle/>
          <a:p>
            <a:pPr algn="l" indent="0" marL="0">
              <a:lnSpc>
                <a:spcPts val="1810"/>
              </a:lnSpc>
              <a:buNone/>
            </a:pPr>
            <a:r>
              <a:rPr lang="en-US" sz="1250" dirty="0">
                <a:solidFill>
                  <a:srgbClr val="1B2340"/>
                </a:solidFill>
                <a:latin typeface="Arial" pitchFamily="34" charset="0"/>
                <a:ea typeface="Arial" pitchFamily="34" charset="-122"/>
                <a:cs typeface="Arial" pitchFamily="34" charset="-120"/>
              </a:rPr>
              <a:t>This early test showed lost mass as shrinking. Our rule now keeps the size and lowers only the mass, so the Unity test needs another way to show it: a HUD bar, a colour or an effect, to be chosen.</a:t>
            </a:r>
            <a:endParaRPr lang="en-US" sz="1250" dirty="0"/>
          </a:p>
        </p:txBody>
      </p:sp>
      <p:pic>
        <p:nvPicPr>
          <p:cNvPr id="19" name="raster 16.18" descr="diagram">    </p:cNvPr>
          <p:cNvPicPr>
            <a:picLocks noChangeAspect="1"/>
          </p:cNvPicPr>
          <p:nvPr/>
        </p:nvPicPr>
        <p:blipFill>
          <a:blip r:embed="rId7"/>
          <a:stretch>
            <a:fillRect/>
          </a:stretch>
        </p:blipFill>
        <p:spPr>
          <a:xfrm>
            <a:off x="609585" y="266693"/>
            <a:ext cx="190495" cy="190495"/>
          </a:xfrm>
          <a:prstGeom prst="rect">
            <a:avLst/>
          </a:prstGeom>
        </p:spPr>
      </p:pic>
      <p:sp>
        <p:nvSpPr>
          <p:cNvPr id="20" name="text 16.19"/>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21" name="text 16.20"/>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22" name="text 16.21"/>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23" name="text 16.22"/>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16 / 25</a:t>
            </a:r>
            <a:endParaRPr lang="en-US" sz="750" dirty="0"/>
          </a:p>
        </p:txBody>
      </p:sp>
      <p:sp>
        <p:nvSpPr>
          <p:cNvPr id="24" name="text 16.23"/>
          <p:cNvSpPr txBox="1"/>
          <p:nvPr/>
        </p:nvSpPr>
        <p:spPr>
          <a:xfrm>
            <a:off x="609585" y="698483"/>
            <a:ext cx="2067183"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43B832"/>
                </a:solidFill>
                <a:latin typeface="Arial" pitchFamily="34" charset="0"/>
                <a:ea typeface="Arial" pitchFamily="34" charset="-122"/>
                <a:cs typeface="Arial" pitchFamily="34" charset="-120"/>
              </a:rPr>
              <a:t>05 · DRAFTS &amp; PROTOTYPES</a:t>
            </a:r>
            <a:endParaRPr lang="en-US" sz="85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17.1 adj8000" descr="draft_direction_A_vinyl.png">    </p:cNvPr>
          <p:cNvPicPr>
            <a:picLocks noChangeAspect="1"/>
          </p:cNvPicPr>
          <p:nvPr/>
        </p:nvPicPr>
        <p:blipFill>
          <a:blip r:embed="rId2"/>
          <a:stretch>
            <a:fillRect/>
          </a:stretch>
        </p:blipFill>
        <p:spPr>
          <a:xfrm>
            <a:off x="609585" y="1803355"/>
            <a:ext cx="3987700" cy="1904952"/>
          </a:xfrm>
          <a:prstGeom prst="roundRect">
            <a:avLst>
              <a:gd name="adj" fmla="val 8000"/>
            </a:avLst>
          </a:prstGeom>
        </p:spPr>
      </p:pic>
      <p:pic>
        <p:nvPicPr>
          <p:cNvPr id="3" name="img 17.2 adj8000" descr="draft_direction_B_blocks.png">    </p:cNvPr>
          <p:cNvPicPr>
            <a:picLocks noChangeAspect="1"/>
          </p:cNvPicPr>
          <p:nvPr/>
        </p:nvPicPr>
        <p:blipFill>
          <a:blip r:embed="rId3"/>
          <a:stretch>
            <a:fillRect/>
          </a:stretch>
        </p:blipFill>
        <p:spPr>
          <a:xfrm>
            <a:off x="4749681" y="1803355"/>
            <a:ext cx="3987700" cy="1904952"/>
          </a:xfrm>
          <a:prstGeom prst="roundRect">
            <a:avLst>
              <a:gd name="adj" fmla="val 8000"/>
            </a:avLst>
          </a:prstGeom>
        </p:spPr>
      </p:pic>
      <p:sp>
        <p:nvSpPr>
          <p:cNvPr id="4" name="shape 17.3"/>
          <p:cNvSpPr/>
          <p:nvPr/>
        </p:nvSpPr>
        <p:spPr>
          <a:xfrm>
            <a:off x="609585" y="4089298"/>
            <a:ext cx="3987700" cy="1904952"/>
          </a:xfrm>
          <a:prstGeom prst="roundRect">
            <a:avLst>
              <a:gd name="adj" fmla="val 8000"/>
            </a:avLst>
          </a:prstGeom>
          <a:solidFill>
            <a:srgbClr val="4C8EEA"/>
          </a:solidFill>
          <a:ln w="25400">
            <a:solidFill>
              <a:srgbClr val="FF6B1F"/>
            </a:solidFill>
            <a:prstDash val="solid"/>
          </a:ln>
          <a:effectLst>
            <a:outerShdw sx="100000" sy="100000" kx="0" ky="0" algn="bl" rotWithShape="0" blurRad="203200" dist="76200" dir="5400000">
              <a:srgbClr val="1E468C">
                <a:alpha val="16000"/>
              </a:srgbClr>
            </a:outerShdw>
          </a:effectLst>
        </p:spPr>
      </p:sp>
      <p:pic>
        <p:nvPicPr>
          <p:cNvPr id="5" name="img 17.4" descr="glossy_lineup.png">    </p:cNvPr>
          <p:cNvPicPr>
            <a:picLocks noChangeAspect="1"/>
          </p:cNvPicPr>
          <p:nvPr/>
        </p:nvPicPr>
        <p:blipFill>
          <a:blip r:embed="rId4"/>
          <a:stretch>
            <a:fillRect/>
          </a:stretch>
        </p:blipFill>
        <p:spPr>
          <a:xfrm>
            <a:off x="634984" y="4580418"/>
            <a:ext cx="3936902" cy="922711"/>
          </a:xfrm>
          <a:prstGeom prst="rect">
            <a:avLst/>
          </a:prstGeom>
        </p:spPr>
      </p:pic>
      <p:pic>
        <p:nvPicPr>
          <p:cNvPr id="6" name="img 17.5 adj8000" descr="character_sheet_jelly.png">    </p:cNvPr>
          <p:cNvPicPr>
            <a:picLocks noChangeAspect="1"/>
          </p:cNvPicPr>
          <p:nvPr/>
        </p:nvPicPr>
        <p:blipFill>
          <a:blip r:embed="rId5"/>
          <a:stretch>
            <a:fillRect/>
          </a:stretch>
        </p:blipFill>
        <p:spPr>
          <a:xfrm>
            <a:off x="4749681" y="4089298"/>
            <a:ext cx="3987700" cy="1904952"/>
          </a:xfrm>
          <a:prstGeom prst="roundRect">
            <a:avLst>
              <a:gd name="adj" fmla="val 8000"/>
            </a:avLst>
          </a:prstGeom>
        </p:spPr>
      </p:pic>
      <p:sp>
        <p:nvSpPr>
          <p:cNvPr id="7" name="shape 17.6"/>
          <p:cNvSpPr/>
          <p:nvPr/>
        </p:nvSpPr>
        <p:spPr>
          <a:xfrm>
            <a:off x="8762781" y="1803355"/>
            <a:ext cx="2819330" cy="4482988"/>
          </a:xfrm>
          <a:prstGeom prst="roundRect">
            <a:avLst>
              <a:gd name="adj" fmla="val 5405"/>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8" name="text 17.7"/>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Art direction: glossy toy</a:t>
            </a:r>
            <a:endParaRPr lang="en-US" sz="3000" dirty="0"/>
          </a:p>
        </p:txBody>
      </p:sp>
      <p:sp>
        <p:nvSpPr>
          <p:cNvPr id="9" name="text 17.8"/>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Four looks compared before modelling; </a:t>
            </a:r>
            <a:pPr algn="l" indent="0" marL="0">
              <a:lnSpc>
                <a:spcPts val="1820"/>
              </a:lnSpc>
              <a:buNone/>
            </a:pPr>
            <a:r>
              <a:rPr lang="en-US" sz="1350" b="1" dirty="0">
                <a:solidFill>
                  <a:srgbClr val="43B832"/>
                </a:solidFill>
                <a:latin typeface="Arial" pitchFamily="34" charset="0"/>
                <a:ea typeface="Arial" pitchFamily="34" charset="-122"/>
                <a:cs typeface="Arial" pitchFamily="34" charset="-120"/>
              </a:rPr>
              <a:t>the glossy toy was chosen.</a:t>
            </a:r>
            <a:endParaRPr lang="en-US" sz="1350" dirty="0"/>
          </a:p>
        </p:txBody>
      </p:sp>
      <p:sp>
        <p:nvSpPr>
          <p:cNvPr id="10" name="shape 17.9"/>
          <p:cNvSpPr/>
          <p:nvPr/>
        </p:nvSpPr>
        <p:spPr>
          <a:xfrm>
            <a:off x="609585" y="3784505"/>
            <a:ext cx="215895" cy="215895"/>
          </a:xfrm>
          <a:prstGeom prst="roundRect">
            <a:avLst>
              <a:gd name="adj" fmla="val 50000"/>
            </a:avLst>
          </a:prstGeom>
          <a:solidFill>
            <a:srgbClr val="FF6B1F"/>
          </a:solidFill>
          <a:ln/>
        </p:spPr>
      </p:sp>
      <p:sp>
        <p:nvSpPr>
          <p:cNvPr id="11" name="text 17.10"/>
          <p:cNvSpPr txBox="1"/>
          <p:nvPr/>
        </p:nvSpPr>
        <p:spPr>
          <a:xfrm>
            <a:off x="609585" y="3784505"/>
            <a:ext cx="215895" cy="215895"/>
          </a:xfrm>
          <a:prstGeom prst="rect">
            <a:avLst/>
          </a:prstGeom>
          <a:noFill/>
          <a:ln/>
        </p:spPr>
        <p:txBody>
          <a:bodyPr wrap="square" lIns="0" tIns="0" rIns="0" bIns="0" rtlCol="0" anchor="ctr"/>
          <a:lstStyle/>
          <a:p>
            <a:pPr algn="ctr" indent="0" marL="0">
              <a:lnSpc>
                <a:spcPts val="900"/>
              </a:lnSpc>
              <a:buNone/>
            </a:pPr>
            <a:r>
              <a:rPr lang="en-US" sz="900" dirty="0">
                <a:solidFill>
                  <a:srgbClr val="FFFFFF"/>
                </a:solidFill>
                <a:latin typeface="Arial Rounded MT Bold" pitchFamily="34" charset="0"/>
                <a:ea typeface="Arial Rounded MT Bold" pitchFamily="34" charset="-122"/>
                <a:cs typeface="Arial Rounded MT Bold" pitchFamily="34" charset="-120"/>
              </a:rPr>
              <a:t>A</a:t>
            </a:r>
            <a:endParaRPr lang="en-US" sz="900" dirty="0"/>
          </a:p>
        </p:txBody>
      </p:sp>
      <p:sp>
        <p:nvSpPr>
          <p:cNvPr id="12" name="text 17.11"/>
          <p:cNvSpPr txBox="1"/>
          <p:nvPr/>
        </p:nvSpPr>
        <p:spPr>
          <a:xfrm>
            <a:off x="901677" y="3822604"/>
            <a:ext cx="650027" cy="133347"/>
          </a:xfrm>
          <a:prstGeom prst="rect">
            <a:avLst/>
          </a:prstGeom>
          <a:noFill/>
          <a:ln/>
        </p:spPr>
        <p:txBody>
          <a:bodyPr wrap="square" lIns="0" tIns="0" rIns="0" bIns="0" rtlCol="0" anchor="t"/>
          <a:lstStyle/>
          <a:p>
            <a:pPr algn="l" indent="0" marL="0">
              <a:lnSpc>
                <a:spcPts val="1050"/>
              </a:lnSpc>
              <a:buNone/>
            </a:pPr>
            <a:r>
              <a:rPr lang="en-US" sz="1050" b="1" dirty="0">
                <a:solidFill>
                  <a:srgbClr val="1B2340"/>
                </a:solidFill>
                <a:latin typeface="Arial" pitchFamily="34" charset="0"/>
                <a:ea typeface="Arial" pitchFamily="34" charset="-122"/>
                <a:cs typeface="Arial" pitchFamily="34" charset="-120"/>
              </a:rPr>
              <a:t>Vinyl toy</a:t>
            </a:r>
            <a:endParaRPr lang="en-US" sz="1050" dirty="0"/>
          </a:p>
        </p:txBody>
      </p:sp>
      <p:sp>
        <p:nvSpPr>
          <p:cNvPr id="13" name="shape 17.12"/>
          <p:cNvSpPr/>
          <p:nvPr/>
        </p:nvSpPr>
        <p:spPr>
          <a:xfrm>
            <a:off x="4749681" y="3784505"/>
            <a:ext cx="215895" cy="215895"/>
          </a:xfrm>
          <a:prstGeom prst="roundRect">
            <a:avLst>
              <a:gd name="adj" fmla="val 50000"/>
            </a:avLst>
          </a:prstGeom>
          <a:solidFill>
            <a:srgbClr val="FF6B1F"/>
          </a:solidFill>
          <a:ln/>
        </p:spPr>
      </p:sp>
      <p:sp>
        <p:nvSpPr>
          <p:cNvPr id="14" name="text 17.13"/>
          <p:cNvSpPr txBox="1"/>
          <p:nvPr/>
        </p:nvSpPr>
        <p:spPr>
          <a:xfrm>
            <a:off x="4749681" y="3784505"/>
            <a:ext cx="215895" cy="215895"/>
          </a:xfrm>
          <a:prstGeom prst="rect">
            <a:avLst/>
          </a:prstGeom>
          <a:noFill/>
          <a:ln/>
        </p:spPr>
        <p:txBody>
          <a:bodyPr wrap="square" lIns="0" tIns="0" rIns="0" bIns="0" rtlCol="0" anchor="ctr"/>
          <a:lstStyle/>
          <a:p>
            <a:pPr algn="ctr" indent="0" marL="0">
              <a:lnSpc>
                <a:spcPts val="900"/>
              </a:lnSpc>
              <a:buNone/>
            </a:pPr>
            <a:r>
              <a:rPr lang="en-US" sz="900" dirty="0">
                <a:solidFill>
                  <a:srgbClr val="FFFFFF"/>
                </a:solidFill>
                <a:latin typeface="Arial Rounded MT Bold" pitchFamily="34" charset="0"/>
                <a:ea typeface="Arial Rounded MT Bold" pitchFamily="34" charset="-122"/>
                <a:cs typeface="Arial Rounded MT Bold" pitchFamily="34" charset="-120"/>
              </a:rPr>
              <a:t>B</a:t>
            </a:r>
            <a:endParaRPr lang="en-US" sz="900" dirty="0"/>
          </a:p>
        </p:txBody>
      </p:sp>
      <p:sp>
        <p:nvSpPr>
          <p:cNvPr id="15" name="text 17.14"/>
          <p:cNvSpPr txBox="1"/>
          <p:nvPr/>
        </p:nvSpPr>
        <p:spPr>
          <a:xfrm>
            <a:off x="5041774" y="3822604"/>
            <a:ext cx="1115822" cy="133347"/>
          </a:xfrm>
          <a:prstGeom prst="rect">
            <a:avLst/>
          </a:prstGeom>
          <a:noFill/>
          <a:ln/>
        </p:spPr>
        <p:txBody>
          <a:bodyPr wrap="square" lIns="0" tIns="0" rIns="0" bIns="0" rtlCol="0" anchor="t"/>
          <a:lstStyle/>
          <a:p>
            <a:pPr algn="l" indent="0" marL="0">
              <a:lnSpc>
                <a:spcPts val="1050"/>
              </a:lnSpc>
              <a:buNone/>
            </a:pPr>
            <a:r>
              <a:rPr lang="en-US" sz="1050" b="1" dirty="0">
                <a:solidFill>
                  <a:srgbClr val="1B2340"/>
                </a:solidFill>
                <a:latin typeface="Arial" pitchFamily="34" charset="0"/>
                <a:ea typeface="Arial" pitchFamily="34" charset="-122"/>
                <a:cs typeface="Arial" pitchFamily="34" charset="-120"/>
              </a:rPr>
              <a:t>Building blocks</a:t>
            </a:r>
            <a:endParaRPr lang="en-US" sz="1050" dirty="0"/>
          </a:p>
        </p:txBody>
      </p:sp>
      <p:sp>
        <p:nvSpPr>
          <p:cNvPr id="16" name="shape 17.15"/>
          <p:cNvSpPr/>
          <p:nvPr/>
        </p:nvSpPr>
        <p:spPr>
          <a:xfrm>
            <a:off x="609585" y="6070448"/>
            <a:ext cx="215895" cy="215895"/>
          </a:xfrm>
          <a:prstGeom prst="roundRect">
            <a:avLst>
              <a:gd name="adj" fmla="val 50000"/>
            </a:avLst>
          </a:prstGeom>
          <a:solidFill>
            <a:srgbClr val="FF6B1F"/>
          </a:solidFill>
          <a:ln/>
        </p:spPr>
      </p:sp>
      <p:sp>
        <p:nvSpPr>
          <p:cNvPr id="17" name="text 17.16"/>
          <p:cNvSpPr txBox="1"/>
          <p:nvPr/>
        </p:nvSpPr>
        <p:spPr>
          <a:xfrm>
            <a:off x="609585" y="6070448"/>
            <a:ext cx="215895" cy="215895"/>
          </a:xfrm>
          <a:prstGeom prst="rect">
            <a:avLst/>
          </a:prstGeom>
          <a:noFill/>
          <a:ln/>
        </p:spPr>
        <p:txBody>
          <a:bodyPr wrap="square" lIns="0" tIns="0" rIns="0" bIns="0" rtlCol="0" anchor="ctr"/>
          <a:lstStyle/>
          <a:p>
            <a:pPr algn="ctr" indent="0" marL="0">
              <a:lnSpc>
                <a:spcPts val="900"/>
              </a:lnSpc>
              <a:buNone/>
            </a:pPr>
            <a:r>
              <a:rPr lang="en-US" sz="900" dirty="0">
                <a:solidFill>
                  <a:srgbClr val="FFFFFF"/>
                </a:solidFill>
                <a:latin typeface="Arial Rounded MT Bold" pitchFamily="34" charset="0"/>
                <a:ea typeface="Arial Rounded MT Bold" pitchFamily="34" charset="-122"/>
                <a:cs typeface="Arial Rounded MT Bold" pitchFamily="34" charset="-120"/>
              </a:rPr>
              <a:t>C</a:t>
            </a:r>
            <a:endParaRPr lang="en-US" sz="900" dirty="0"/>
          </a:p>
        </p:txBody>
      </p:sp>
      <p:sp>
        <p:nvSpPr>
          <p:cNvPr id="18" name="text 17.17"/>
          <p:cNvSpPr txBox="1"/>
          <p:nvPr/>
        </p:nvSpPr>
        <p:spPr>
          <a:xfrm>
            <a:off x="901677" y="6108547"/>
            <a:ext cx="1406720" cy="133347"/>
          </a:xfrm>
          <a:prstGeom prst="rect">
            <a:avLst/>
          </a:prstGeom>
          <a:noFill/>
          <a:ln/>
        </p:spPr>
        <p:txBody>
          <a:bodyPr wrap="square" lIns="0" tIns="0" rIns="0" bIns="0" rtlCol="0" anchor="t"/>
          <a:lstStyle/>
          <a:p>
            <a:pPr algn="l" indent="0" marL="0">
              <a:lnSpc>
                <a:spcPts val="1050"/>
              </a:lnSpc>
              <a:buNone/>
            </a:pPr>
            <a:r>
              <a:rPr lang="en-US" sz="1050" b="1" dirty="0">
                <a:solidFill>
                  <a:srgbClr val="FF6B1F"/>
                </a:solidFill>
                <a:latin typeface="Arial" pitchFamily="34" charset="0"/>
                <a:ea typeface="Arial" pitchFamily="34" charset="-122"/>
                <a:cs typeface="Arial" pitchFamily="34" charset="-120"/>
              </a:rPr>
              <a:t>Glossy toy · chosen</a:t>
            </a:r>
            <a:endParaRPr lang="en-US" sz="1050" dirty="0"/>
          </a:p>
        </p:txBody>
      </p:sp>
      <p:sp>
        <p:nvSpPr>
          <p:cNvPr id="19" name="shape 17.18"/>
          <p:cNvSpPr/>
          <p:nvPr/>
        </p:nvSpPr>
        <p:spPr>
          <a:xfrm>
            <a:off x="4749681" y="6070448"/>
            <a:ext cx="215895" cy="215895"/>
          </a:xfrm>
          <a:prstGeom prst="roundRect">
            <a:avLst>
              <a:gd name="adj" fmla="val 50000"/>
            </a:avLst>
          </a:prstGeom>
          <a:solidFill>
            <a:srgbClr val="FF6B1F"/>
          </a:solidFill>
          <a:ln/>
        </p:spPr>
      </p:sp>
      <p:sp>
        <p:nvSpPr>
          <p:cNvPr id="20" name="text 17.19"/>
          <p:cNvSpPr txBox="1"/>
          <p:nvPr/>
        </p:nvSpPr>
        <p:spPr>
          <a:xfrm>
            <a:off x="4749681" y="6070448"/>
            <a:ext cx="215895" cy="215895"/>
          </a:xfrm>
          <a:prstGeom prst="rect">
            <a:avLst/>
          </a:prstGeom>
          <a:noFill/>
          <a:ln/>
        </p:spPr>
        <p:txBody>
          <a:bodyPr wrap="square" lIns="0" tIns="0" rIns="0" bIns="0" rtlCol="0" anchor="ctr"/>
          <a:lstStyle/>
          <a:p>
            <a:pPr algn="ctr" indent="0" marL="0">
              <a:lnSpc>
                <a:spcPts val="900"/>
              </a:lnSpc>
              <a:buNone/>
            </a:pPr>
            <a:r>
              <a:rPr lang="en-US" sz="900" dirty="0">
                <a:solidFill>
                  <a:srgbClr val="FFFFFF"/>
                </a:solidFill>
                <a:latin typeface="Arial Rounded MT Bold" pitchFamily="34" charset="0"/>
                <a:ea typeface="Arial Rounded MT Bold" pitchFamily="34" charset="-122"/>
                <a:cs typeface="Arial Rounded MT Bold" pitchFamily="34" charset="-120"/>
              </a:rPr>
              <a:t>D</a:t>
            </a:r>
            <a:endParaRPr lang="en-US" sz="900" dirty="0"/>
          </a:p>
        </p:txBody>
      </p:sp>
      <p:sp>
        <p:nvSpPr>
          <p:cNvPr id="21" name="text 17.20"/>
          <p:cNvSpPr txBox="1"/>
          <p:nvPr/>
        </p:nvSpPr>
        <p:spPr>
          <a:xfrm>
            <a:off x="5041774" y="6108547"/>
            <a:ext cx="377954" cy="133347"/>
          </a:xfrm>
          <a:prstGeom prst="rect">
            <a:avLst/>
          </a:prstGeom>
          <a:noFill/>
          <a:ln/>
        </p:spPr>
        <p:txBody>
          <a:bodyPr wrap="square" lIns="0" tIns="0" rIns="0" bIns="0" rtlCol="0" anchor="t"/>
          <a:lstStyle/>
          <a:p>
            <a:pPr algn="l" indent="0" marL="0">
              <a:lnSpc>
                <a:spcPts val="1050"/>
              </a:lnSpc>
              <a:buNone/>
            </a:pPr>
            <a:r>
              <a:rPr lang="en-US" sz="1050" b="1" dirty="0">
                <a:solidFill>
                  <a:srgbClr val="1B2340"/>
                </a:solidFill>
                <a:latin typeface="Arial" pitchFamily="34" charset="0"/>
                <a:ea typeface="Arial" pitchFamily="34" charset="-122"/>
                <a:cs typeface="Arial" pitchFamily="34" charset="-120"/>
              </a:rPr>
              <a:t>Jelly</a:t>
            </a:r>
            <a:endParaRPr lang="en-US" sz="1050" dirty="0"/>
          </a:p>
        </p:txBody>
      </p:sp>
      <p:sp>
        <p:nvSpPr>
          <p:cNvPr id="22" name="text 17.21"/>
          <p:cNvSpPr txBox="1"/>
          <p:nvPr/>
        </p:nvSpPr>
        <p:spPr>
          <a:xfrm>
            <a:off x="8991375" y="1993850"/>
            <a:ext cx="601860"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B2340"/>
                </a:solidFill>
                <a:latin typeface="Arial" pitchFamily="34" charset="0"/>
                <a:ea typeface="Arial" pitchFamily="34" charset="-122"/>
                <a:cs typeface="Arial" pitchFamily="34" charset="-120"/>
              </a:rPr>
              <a:t>CHOSEN</a:t>
            </a:r>
            <a:endParaRPr lang="en-US" sz="800" dirty="0"/>
          </a:p>
        </p:txBody>
      </p:sp>
      <p:sp>
        <p:nvSpPr>
          <p:cNvPr id="23" name="text 17.22"/>
          <p:cNvSpPr txBox="1"/>
          <p:nvPr/>
        </p:nvSpPr>
        <p:spPr>
          <a:xfrm>
            <a:off x="8991375" y="2209745"/>
            <a:ext cx="2451039" cy="386547"/>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C, glossy toy. Every concept render in this deck uses it.</a:t>
            </a:r>
            <a:endParaRPr lang="en-US" sz="1050" dirty="0"/>
          </a:p>
        </p:txBody>
      </p:sp>
      <p:sp>
        <p:nvSpPr>
          <p:cNvPr id="24" name="text 17.23"/>
          <p:cNvSpPr txBox="1"/>
          <p:nvPr/>
        </p:nvSpPr>
        <p:spPr>
          <a:xfrm>
            <a:off x="8991375" y="2920927"/>
            <a:ext cx="705451"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B2340"/>
                </a:solidFill>
                <a:latin typeface="Arial" pitchFamily="34" charset="0"/>
                <a:ea typeface="Arial" pitchFamily="34" charset="-122"/>
                <a:cs typeface="Arial" pitchFamily="34" charset="-120"/>
              </a:rPr>
              <a:t>SETTINGS</a:t>
            </a:r>
            <a:endParaRPr lang="en-US" sz="800" dirty="0"/>
          </a:p>
        </p:txBody>
      </p:sp>
      <p:sp>
        <p:nvSpPr>
          <p:cNvPr id="25" name="text 17.24"/>
          <p:cNvSpPr txBox="1"/>
          <p:nvPr/>
        </p:nvSpPr>
        <p:spPr>
          <a:xfrm>
            <a:off x="8991375" y="3136822"/>
            <a:ext cx="2451039" cy="579820"/>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Arenas take bright party settings, such as grass, sky and water. Ice is the theme of one mini-game, not the whole game.</a:t>
            </a:r>
            <a:endParaRPr lang="en-US" sz="1050" dirty="0"/>
          </a:p>
        </p:txBody>
      </p:sp>
      <p:sp>
        <p:nvSpPr>
          <p:cNvPr id="26" name="text 17.25"/>
          <p:cNvSpPr txBox="1"/>
          <p:nvPr/>
        </p:nvSpPr>
        <p:spPr>
          <a:xfrm>
            <a:off x="8991375" y="4381390"/>
            <a:ext cx="1239816"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B2340"/>
                </a:solidFill>
                <a:latin typeface="Arial" pitchFamily="34" charset="0"/>
                <a:ea typeface="Arial" pitchFamily="34" charset="-122"/>
                <a:cs typeface="Arial" pitchFamily="34" charset="-120"/>
              </a:rPr>
              <a:t>PLAYER COLOURS</a:t>
            </a:r>
            <a:endParaRPr lang="en-US" sz="800" dirty="0"/>
          </a:p>
        </p:txBody>
      </p:sp>
      <p:sp>
        <p:nvSpPr>
          <p:cNvPr id="27" name="shape 17.26"/>
          <p:cNvSpPr/>
          <p:nvPr/>
        </p:nvSpPr>
        <p:spPr>
          <a:xfrm>
            <a:off x="8991375" y="4609985"/>
            <a:ext cx="507987" cy="507987"/>
          </a:xfrm>
          <a:prstGeom prst="roundRect">
            <a:avLst>
              <a:gd name="adj" fmla="val 27500"/>
            </a:avLst>
          </a:prstGeom>
          <a:solidFill>
            <a:srgbClr val="FF6B1F"/>
          </a:solidFill>
          <a:ln/>
        </p:spPr>
      </p:sp>
      <p:sp>
        <p:nvSpPr>
          <p:cNvPr id="28" name="text 17.27"/>
          <p:cNvSpPr txBox="1"/>
          <p:nvPr/>
        </p:nvSpPr>
        <p:spPr>
          <a:xfrm>
            <a:off x="8991375" y="5194170"/>
            <a:ext cx="609585" cy="142236"/>
          </a:xfrm>
          <a:prstGeom prst="rect">
            <a:avLst/>
          </a:prstGeom>
          <a:noFill/>
          <a:ln/>
        </p:spPr>
        <p:txBody>
          <a:bodyPr wrap="square" lIns="0" tIns="0" rIns="0" bIns="0" rtlCol="0" anchor="t"/>
          <a:lstStyle/>
          <a:p>
            <a:pPr algn="l" indent="0" marL="0">
              <a:lnSpc>
                <a:spcPts val="1120"/>
              </a:lnSpc>
              <a:buNone/>
            </a:pPr>
            <a:r>
              <a:rPr lang="en-US" sz="800" dirty="0">
                <a:solidFill>
                  <a:srgbClr val="1B2340"/>
                </a:solidFill>
                <a:latin typeface="Arial" pitchFamily="34" charset="0"/>
                <a:ea typeface="Arial" pitchFamily="34" charset="-122"/>
                <a:cs typeface="Arial" pitchFamily="34" charset="-120"/>
              </a:rPr>
              <a:t>Orange</a:t>
            </a:r>
            <a:endParaRPr lang="en-US" sz="800" dirty="0"/>
          </a:p>
        </p:txBody>
      </p:sp>
      <p:sp>
        <p:nvSpPr>
          <p:cNvPr id="29" name="shape 17.28"/>
          <p:cNvSpPr/>
          <p:nvPr/>
        </p:nvSpPr>
        <p:spPr>
          <a:xfrm>
            <a:off x="9600960" y="4609985"/>
            <a:ext cx="507987" cy="507987"/>
          </a:xfrm>
          <a:prstGeom prst="roundRect">
            <a:avLst>
              <a:gd name="adj" fmla="val 27500"/>
            </a:avLst>
          </a:prstGeom>
          <a:solidFill>
            <a:srgbClr val="1FA9EA"/>
          </a:solidFill>
          <a:ln/>
        </p:spPr>
      </p:sp>
      <p:sp>
        <p:nvSpPr>
          <p:cNvPr id="30" name="text 17.29"/>
          <p:cNvSpPr txBox="1"/>
          <p:nvPr/>
        </p:nvSpPr>
        <p:spPr>
          <a:xfrm>
            <a:off x="9600960" y="5194170"/>
            <a:ext cx="609585" cy="142236"/>
          </a:xfrm>
          <a:prstGeom prst="rect">
            <a:avLst/>
          </a:prstGeom>
          <a:noFill/>
          <a:ln/>
        </p:spPr>
        <p:txBody>
          <a:bodyPr wrap="square" lIns="0" tIns="0" rIns="0" bIns="0" rtlCol="0" anchor="t"/>
          <a:lstStyle/>
          <a:p>
            <a:pPr algn="l" indent="0" marL="0">
              <a:lnSpc>
                <a:spcPts val="1120"/>
              </a:lnSpc>
              <a:buNone/>
            </a:pPr>
            <a:r>
              <a:rPr lang="en-US" sz="800" dirty="0">
                <a:solidFill>
                  <a:srgbClr val="1B2340"/>
                </a:solidFill>
                <a:latin typeface="Arial" pitchFamily="34" charset="0"/>
                <a:ea typeface="Arial" pitchFamily="34" charset="-122"/>
                <a:cs typeface="Arial" pitchFamily="34" charset="-120"/>
              </a:rPr>
              <a:t>Cyan</a:t>
            </a:r>
            <a:endParaRPr lang="en-US" sz="800" dirty="0"/>
          </a:p>
        </p:txBody>
      </p:sp>
      <p:sp>
        <p:nvSpPr>
          <p:cNvPr id="31" name="shape 17.30"/>
          <p:cNvSpPr/>
          <p:nvPr/>
        </p:nvSpPr>
        <p:spPr>
          <a:xfrm>
            <a:off x="10210545" y="4609985"/>
            <a:ext cx="507987" cy="507987"/>
          </a:xfrm>
          <a:prstGeom prst="roundRect">
            <a:avLst>
              <a:gd name="adj" fmla="val 27500"/>
            </a:avLst>
          </a:prstGeom>
          <a:solidFill>
            <a:srgbClr val="43B832"/>
          </a:solidFill>
          <a:ln/>
        </p:spPr>
      </p:sp>
      <p:sp>
        <p:nvSpPr>
          <p:cNvPr id="32" name="text 17.31"/>
          <p:cNvSpPr txBox="1"/>
          <p:nvPr/>
        </p:nvSpPr>
        <p:spPr>
          <a:xfrm>
            <a:off x="10210545" y="5194170"/>
            <a:ext cx="609585" cy="142236"/>
          </a:xfrm>
          <a:prstGeom prst="rect">
            <a:avLst/>
          </a:prstGeom>
          <a:noFill/>
          <a:ln/>
        </p:spPr>
        <p:txBody>
          <a:bodyPr wrap="square" lIns="0" tIns="0" rIns="0" bIns="0" rtlCol="0" anchor="t"/>
          <a:lstStyle/>
          <a:p>
            <a:pPr algn="l" indent="0" marL="0">
              <a:lnSpc>
                <a:spcPts val="1120"/>
              </a:lnSpc>
              <a:buNone/>
            </a:pPr>
            <a:r>
              <a:rPr lang="en-US" sz="800" dirty="0">
                <a:solidFill>
                  <a:srgbClr val="1B2340"/>
                </a:solidFill>
                <a:latin typeface="Arial" pitchFamily="34" charset="0"/>
                <a:ea typeface="Arial" pitchFamily="34" charset="-122"/>
                <a:cs typeface="Arial" pitchFamily="34" charset="-120"/>
              </a:rPr>
              <a:t>Lime</a:t>
            </a:r>
            <a:endParaRPr lang="en-US" sz="800" dirty="0"/>
          </a:p>
        </p:txBody>
      </p:sp>
      <p:sp>
        <p:nvSpPr>
          <p:cNvPr id="33" name="shape 17.32"/>
          <p:cNvSpPr/>
          <p:nvPr/>
        </p:nvSpPr>
        <p:spPr>
          <a:xfrm>
            <a:off x="10820129" y="4609985"/>
            <a:ext cx="507987" cy="507987"/>
          </a:xfrm>
          <a:prstGeom prst="roundRect">
            <a:avLst>
              <a:gd name="adj" fmla="val 27500"/>
            </a:avLst>
          </a:prstGeom>
          <a:solidFill>
            <a:srgbClr val="8F55F5"/>
          </a:solidFill>
          <a:ln/>
        </p:spPr>
      </p:sp>
      <p:sp>
        <p:nvSpPr>
          <p:cNvPr id="34" name="text 17.33"/>
          <p:cNvSpPr txBox="1"/>
          <p:nvPr/>
        </p:nvSpPr>
        <p:spPr>
          <a:xfrm>
            <a:off x="10820129" y="5194170"/>
            <a:ext cx="609585" cy="142236"/>
          </a:xfrm>
          <a:prstGeom prst="rect">
            <a:avLst/>
          </a:prstGeom>
          <a:noFill/>
          <a:ln/>
        </p:spPr>
        <p:txBody>
          <a:bodyPr wrap="square" lIns="0" tIns="0" rIns="0" bIns="0" rtlCol="0" anchor="t"/>
          <a:lstStyle/>
          <a:p>
            <a:pPr algn="l" indent="0" marL="0">
              <a:lnSpc>
                <a:spcPts val="1120"/>
              </a:lnSpc>
              <a:buNone/>
            </a:pPr>
            <a:r>
              <a:rPr lang="en-US" sz="800" dirty="0">
                <a:solidFill>
                  <a:srgbClr val="1B2340"/>
                </a:solidFill>
                <a:latin typeface="Arial" pitchFamily="34" charset="0"/>
                <a:ea typeface="Arial" pitchFamily="34" charset="-122"/>
                <a:cs typeface="Arial" pitchFamily="34" charset="-120"/>
              </a:rPr>
              <a:t>Purple</a:t>
            </a:r>
            <a:endParaRPr lang="en-US" sz="800" dirty="0"/>
          </a:p>
        </p:txBody>
      </p:sp>
      <p:sp>
        <p:nvSpPr>
          <p:cNvPr id="35" name="text 17.34"/>
          <p:cNvSpPr txBox="1"/>
          <p:nvPr/>
        </p:nvSpPr>
        <p:spPr>
          <a:xfrm>
            <a:off x="8991375" y="5714857"/>
            <a:ext cx="2451039"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All AI-generated drafts. None is gameplay.</a:t>
            </a:r>
            <a:endParaRPr lang="en-US" sz="850" dirty="0"/>
          </a:p>
        </p:txBody>
      </p:sp>
      <p:pic>
        <p:nvPicPr>
          <p:cNvPr id="36" name="raster 17.35" descr="diagram">    </p:cNvPr>
          <p:cNvPicPr>
            <a:picLocks noChangeAspect="1"/>
          </p:cNvPicPr>
          <p:nvPr/>
        </p:nvPicPr>
        <p:blipFill>
          <a:blip r:embed="rId6"/>
          <a:stretch>
            <a:fillRect/>
          </a:stretch>
        </p:blipFill>
        <p:spPr>
          <a:xfrm>
            <a:off x="609585" y="266693"/>
            <a:ext cx="190495" cy="190495"/>
          </a:xfrm>
          <a:prstGeom prst="rect">
            <a:avLst/>
          </a:prstGeom>
        </p:spPr>
      </p:pic>
      <p:sp>
        <p:nvSpPr>
          <p:cNvPr id="37" name="text 17.36"/>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38" name="text 17.37"/>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39" name="text 17.38"/>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40" name="text 17.39"/>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17 / 25</a:t>
            </a:r>
            <a:endParaRPr lang="en-US" sz="750" dirty="0"/>
          </a:p>
        </p:txBody>
      </p:sp>
      <p:sp>
        <p:nvSpPr>
          <p:cNvPr id="41" name="text 17.40"/>
          <p:cNvSpPr txBox="1"/>
          <p:nvPr/>
        </p:nvSpPr>
        <p:spPr>
          <a:xfrm>
            <a:off x="609585" y="698483"/>
            <a:ext cx="2067183"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43B832"/>
                </a:solidFill>
                <a:latin typeface="Arial" pitchFamily="34" charset="0"/>
                <a:ea typeface="Arial" pitchFamily="34" charset="-122"/>
                <a:cs typeface="Arial" pitchFamily="34" charset="-120"/>
              </a:rPr>
              <a:t>05 · DRAFTS &amp; PROTOTYPES</a:t>
            </a:r>
            <a:endParaRPr lang="en-US" sz="85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8.1"/>
          <p:cNvSpPr/>
          <p:nvPr/>
        </p:nvSpPr>
        <p:spPr>
          <a:xfrm>
            <a:off x="609585" y="1803355"/>
            <a:ext cx="3555911" cy="3428914"/>
          </a:xfrm>
          <a:prstGeom prst="roundRect">
            <a:avLst>
              <a:gd name="adj" fmla="val 4444"/>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3" name="raster 18.2" descr="diagram">    </p:cNvPr>
          <p:cNvPicPr>
            <a:picLocks noChangeAspect="1"/>
          </p:cNvPicPr>
          <p:nvPr/>
        </p:nvPicPr>
        <p:blipFill>
          <a:blip r:embed="rId2"/>
          <a:stretch>
            <a:fillRect/>
          </a:stretch>
        </p:blipFill>
        <p:spPr>
          <a:xfrm>
            <a:off x="622284" y="1816055"/>
            <a:ext cx="3555911" cy="3428914"/>
          </a:xfrm>
          <a:prstGeom prst="rect">
            <a:avLst/>
          </a:prstGeom>
        </p:spPr>
      </p:pic>
      <p:sp>
        <p:nvSpPr>
          <p:cNvPr id="4" name="shape 18.3"/>
          <p:cNvSpPr/>
          <p:nvPr/>
        </p:nvSpPr>
        <p:spPr>
          <a:xfrm>
            <a:off x="4317892" y="1803355"/>
            <a:ext cx="3555911" cy="3428914"/>
          </a:xfrm>
          <a:prstGeom prst="roundRect">
            <a:avLst>
              <a:gd name="adj" fmla="val 4444"/>
            </a:avLst>
          </a:prstGeom>
          <a:solidFill>
            <a:srgbClr val="E7F5E1"/>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5" name="raster 18.4" descr="diagram">    </p:cNvPr>
          <p:cNvPicPr>
            <a:picLocks noChangeAspect="1"/>
          </p:cNvPicPr>
          <p:nvPr/>
        </p:nvPicPr>
        <p:blipFill>
          <a:blip r:embed="rId3"/>
          <a:stretch>
            <a:fillRect/>
          </a:stretch>
        </p:blipFill>
        <p:spPr>
          <a:xfrm>
            <a:off x="4330592" y="1816055"/>
            <a:ext cx="3555911" cy="3428914"/>
          </a:xfrm>
          <a:prstGeom prst="rect">
            <a:avLst/>
          </a:prstGeom>
        </p:spPr>
      </p:pic>
      <p:sp>
        <p:nvSpPr>
          <p:cNvPr id="6" name="shape 18.5"/>
          <p:cNvSpPr/>
          <p:nvPr/>
        </p:nvSpPr>
        <p:spPr>
          <a:xfrm>
            <a:off x="8026199" y="1803355"/>
            <a:ext cx="3555911" cy="3428914"/>
          </a:xfrm>
          <a:prstGeom prst="roundRect">
            <a:avLst>
              <a:gd name="adj" fmla="val 4444"/>
            </a:avLst>
          </a:prstGeom>
          <a:solidFill>
            <a:srgbClr val="FF6B1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7" name="raster 18.6" descr="diagram">    </p:cNvPr>
          <p:cNvPicPr>
            <a:picLocks noChangeAspect="1"/>
          </p:cNvPicPr>
          <p:nvPr/>
        </p:nvPicPr>
        <p:blipFill>
          <a:blip r:embed="rId4"/>
          <a:stretch>
            <a:fillRect/>
          </a:stretch>
        </p:blipFill>
        <p:spPr>
          <a:xfrm>
            <a:off x="8038899" y="1816055"/>
            <a:ext cx="3555911" cy="3428914"/>
          </a:xfrm>
          <a:prstGeom prst="rect">
            <a:avLst/>
          </a:prstGeom>
        </p:spPr>
      </p:pic>
      <p:sp>
        <p:nvSpPr>
          <p:cNvPr id="8" name="text 18.7"/>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Logo drafts</a:t>
            </a:r>
            <a:endParaRPr lang="en-US" sz="3000" dirty="0"/>
          </a:p>
        </p:txBody>
      </p:sp>
      <p:sp>
        <p:nvSpPr>
          <p:cNvPr id="9" name="text 18.8"/>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Three uses of one mark. </a:t>
            </a:r>
            <a:pPr algn="l" indent="0" marL="0">
              <a:lnSpc>
                <a:spcPts val="1820"/>
              </a:lnSpc>
              <a:buNone/>
            </a:pPr>
            <a:r>
              <a:rPr lang="en-US" sz="1350" b="1" dirty="0">
                <a:solidFill>
                  <a:srgbClr val="43B832"/>
                </a:solidFill>
                <a:latin typeface="Arial" pitchFamily="34" charset="0"/>
                <a:ea typeface="Arial" pitchFamily="34" charset="-122"/>
                <a:cs typeface="Arial" pitchFamily="34" charset="-120"/>
              </a:rPr>
              <a:t>The name is a working title.</a:t>
            </a:r>
            <a:endParaRPr lang="en-US" sz="1350" dirty="0"/>
          </a:p>
        </p:txBody>
      </p:sp>
      <p:sp>
        <p:nvSpPr>
          <p:cNvPr id="10" name="text 18.9"/>
          <p:cNvSpPr txBox="1"/>
          <p:nvPr/>
        </p:nvSpPr>
        <p:spPr>
          <a:xfrm>
            <a:off x="609585" y="5397365"/>
            <a:ext cx="1520408"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B2340"/>
                </a:solidFill>
                <a:latin typeface="Arial" pitchFamily="34" charset="0"/>
                <a:ea typeface="Arial" pitchFamily="34" charset="-122"/>
                <a:cs typeface="Arial" pitchFamily="34" charset="-120"/>
              </a:rPr>
              <a:t>DRAFT A · WORDMARK</a:t>
            </a:r>
            <a:endParaRPr lang="en-US" sz="800" dirty="0"/>
          </a:p>
        </p:txBody>
      </p:sp>
      <p:sp>
        <p:nvSpPr>
          <p:cNvPr id="11" name="text 18.10"/>
          <p:cNvSpPr txBox="1"/>
          <p:nvPr/>
        </p:nvSpPr>
        <p:spPr>
          <a:xfrm>
            <a:off x="609585" y="5613260"/>
            <a:ext cx="3594010" cy="204465"/>
          </a:xfrm>
          <a:prstGeom prst="rect">
            <a:avLst/>
          </a:prstGeom>
          <a:noFill/>
          <a:ln/>
        </p:spPr>
        <p:txBody>
          <a:bodyPr wrap="square" lIns="0" tIns="0" rIns="0" bIns="0" rtlCol="0" anchor="t"/>
          <a:lstStyle/>
          <a:p>
            <a:pPr algn="l" indent="0" marL="0">
              <a:lnSpc>
                <a:spcPts val="1610"/>
              </a:lnSpc>
              <a:buNone/>
            </a:pPr>
            <a:r>
              <a:rPr lang="en-US" sz="1150" dirty="0">
                <a:solidFill>
                  <a:srgbClr val="3E475E"/>
                </a:solidFill>
                <a:latin typeface="Arial" pitchFamily="34" charset="0"/>
                <a:ea typeface="Arial" pitchFamily="34" charset="-122"/>
                <a:cs typeface="Arial" pitchFamily="34" charset="-120"/>
              </a:rPr>
              <a:t>Title screen, deck cover, video end card.</a:t>
            </a:r>
            <a:endParaRPr lang="en-US" sz="1150" dirty="0"/>
          </a:p>
        </p:txBody>
      </p:sp>
      <p:sp>
        <p:nvSpPr>
          <p:cNvPr id="12" name="text 18.11"/>
          <p:cNvSpPr txBox="1"/>
          <p:nvPr/>
        </p:nvSpPr>
        <p:spPr>
          <a:xfrm>
            <a:off x="4317892" y="5397365"/>
            <a:ext cx="1364021"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B2340"/>
                </a:solidFill>
                <a:latin typeface="Arial" pitchFamily="34" charset="0"/>
                <a:ea typeface="Arial" pitchFamily="34" charset="-122"/>
                <a:cs typeface="Arial" pitchFamily="34" charset="-120"/>
              </a:rPr>
              <a:t>DRAFT B · STACKED</a:t>
            </a:r>
            <a:endParaRPr lang="en-US" sz="800" dirty="0"/>
          </a:p>
        </p:txBody>
      </p:sp>
      <p:sp>
        <p:nvSpPr>
          <p:cNvPr id="13" name="text 18.12"/>
          <p:cNvSpPr txBox="1"/>
          <p:nvPr/>
        </p:nvSpPr>
        <p:spPr>
          <a:xfrm>
            <a:off x="4317892" y="5613260"/>
            <a:ext cx="3594010" cy="204465"/>
          </a:xfrm>
          <a:prstGeom prst="rect">
            <a:avLst/>
          </a:prstGeom>
          <a:noFill/>
          <a:ln/>
        </p:spPr>
        <p:txBody>
          <a:bodyPr wrap="square" lIns="0" tIns="0" rIns="0" bIns="0" rtlCol="0" anchor="t"/>
          <a:lstStyle/>
          <a:p>
            <a:pPr algn="l" indent="0" marL="0">
              <a:lnSpc>
                <a:spcPts val="1610"/>
              </a:lnSpc>
              <a:buNone/>
            </a:pPr>
            <a:r>
              <a:rPr lang="en-US" sz="1150" dirty="0">
                <a:solidFill>
                  <a:srgbClr val="3E475E"/>
                </a:solidFill>
                <a:latin typeface="Arial" pitchFamily="34" charset="0"/>
                <a:ea typeface="Arial" pitchFamily="34" charset="-122"/>
                <a:cs typeface="Arial" pitchFamily="34" charset="-120"/>
              </a:rPr>
              <a:t>Square formats: store capsule, lobby screen.</a:t>
            </a:r>
            <a:endParaRPr lang="en-US" sz="1150" dirty="0"/>
          </a:p>
        </p:txBody>
      </p:sp>
      <p:sp>
        <p:nvSpPr>
          <p:cNvPr id="14" name="text 18.13"/>
          <p:cNvSpPr txBox="1"/>
          <p:nvPr/>
        </p:nvSpPr>
        <p:spPr>
          <a:xfrm>
            <a:off x="8026199" y="5397365"/>
            <a:ext cx="1081957"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B2340"/>
                </a:solidFill>
                <a:latin typeface="Arial" pitchFamily="34" charset="0"/>
                <a:ea typeface="Arial" pitchFamily="34" charset="-122"/>
                <a:cs typeface="Arial" pitchFamily="34" charset="-120"/>
              </a:rPr>
              <a:t>DRAFT C · ICON</a:t>
            </a:r>
            <a:endParaRPr lang="en-US" sz="800" dirty="0"/>
          </a:p>
        </p:txBody>
      </p:sp>
      <p:sp>
        <p:nvSpPr>
          <p:cNvPr id="15" name="text 18.14"/>
          <p:cNvSpPr txBox="1"/>
          <p:nvPr/>
        </p:nvSpPr>
        <p:spPr>
          <a:xfrm>
            <a:off x="8026199" y="5613260"/>
            <a:ext cx="3594010" cy="204465"/>
          </a:xfrm>
          <a:prstGeom prst="rect">
            <a:avLst/>
          </a:prstGeom>
          <a:noFill/>
          <a:ln/>
        </p:spPr>
        <p:txBody>
          <a:bodyPr wrap="square" lIns="0" tIns="0" rIns="0" bIns="0" rtlCol="0" anchor="t"/>
          <a:lstStyle/>
          <a:p>
            <a:pPr algn="l" indent="0" marL="0">
              <a:lnSpc>
                <a:spcPts val="1610"/>
              </a:lnSpc>
              <a:buNone/>
            </a:pPr>
            <a:r>
              <a:rPr lang="en-US" sz="1150" dirty="0">
                <a:solidFill>
                  <a:srgbClr val="3E475E"/>
                </a:solidFill>
                <a:latin typeface="Arial" pitchFamily="34" charset="0"/>
                <a:ea typeface="Arial" pitchFamily="34" charset="-122"/>
                <a:cs typeface="Arial" pitchFamily="34" charset="-120"/>
              </a:rPr>
              <a:t>Taskbar, build icon, favicon.</a:t>
            </a:r>
            <a:endParaRPr lang="en-US" sz="1150" dirty="0"/>
          </a:p>
        </p:txBody>
      </p:sp>
      <p:pic>
        <p:nvPicPr>
          <p:cNvPr id="16" name="raster 18.15" descr="diagram">    </p:cNvPr>
          <p:cNvPicPr>
            <a:picLocks noChangeAspect="1"/>
          </p:cNvPicPr>
          <p:nvPr/>
        </p:nvPicPr>
        <p:blipFill>
          <a:blip r:embed="rId5"/>
          <a:stretch>
            <a:fillRect/>
          </a:stretch>
        </p:blipFill>
        <p:spPr>
          <a:xfrm>
            <a:off x="609585" y="266693"/>
            <a:ext cx="190495" cy="190495"/>
          </a:xfrm>
          <a:prstGeom prst="rect">
            <a:avLst/>
          </a:prstGeom>
        </p:spPr>
      </p:pic>
      <p:sp>
        <p:nvSpPr>
          <p:cNvPr id="17" name="text 18.16"/>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18" name="text 18.17"/>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19" name="text 18.18"/>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20" name="text 18.19"/>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18 / 25</a:t>
            </a:r>
            <a:endParaRPr lang="en-US" sz="750" dirty="0"/>
          </a:p>
        </p:txBody>
      </p:sp>
      <p:sp>
        <p:nvSpPr>
          <p:cNvPr id="21" name="text 18.20"/>
          <p:cNvSpPr txBox="1"/>
          <p:nvPr/>
        </p:nvSpPr>
        <p:spPr>
          <a:xfrm>
            <a:off x="609585" y="698483"/>
            <a:ext cx="2067183"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43B832"/>
                </a:solidFill>
                <a:latin typeface="Arial" pitchFamily="34" charset="0"/>
                <a:ea typeface="Arial" pitchFamily="34" charset="-122"/>
                <a:cs typeface="Arial" pitchFamily="34" charset="-120"/>
              </a:rPr>
              <a:t>05 · DRAFTS &amp; PROTOTYPES</a:t>
            </a:r>
            <a:endParaRPr lang="en-US" sz="8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9.1"/>
          <p:cNvSpPr/>
          <p:nvPr/>
        </p:nvSpPr>
        <p:spPr>
          <a:xfrm>
            <a:off x="609585" y="1841454"/>
            <a:ext cx="5359266" cy="4381390"/>
          </a:xfrm>
          <a:prstGeom prst="roundRect">
            <a:avLst>
              <a:gd name="adj" fmla="val 347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19.2"/>
          <p:cNvSpPr/>
          <p:nvPr/>
        </p:nvSpPr>
        <p:spPr>
          <a:xfrm>
            <a:off x="6222844" y="1841454"/>
            <a:ext cx="5359266" cy="4381390"/>
          </a:xfrm>
          <a:prstGeom prst="roundRect">
            <a:avLst>
              <a:gd name="adj" fmla="val 347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4" name="raster 19.3" descr="diagram">    </p:cNvPr>
          <p:cNvPicPr>
            <a:picLocks noChangeAspect="1"/>
          </p:cNvPicPr>
          <p:nvPr/>
        </p:nvPicPr>
        <p:blipFill>
          <a:blip r:embed="rId2"/>
          <a:stretch>
            <a:fillRect/>
          </a:stretch>
        </p:blipFill>
        <p:spPr>
          <a:xfrm>
            <a:off x="1320767" y="2425639"/>
            <a:ext cx="3086023" cy="3086023"/>
          </a:xfrm>
          <a:prstGeom prst="rect">
            <a:avLst/>
          </a:prstGeom>
        </p:spPr>
      </p:pic>
      <p:pic>
        <p:nvPicPr>
          <p:cNvPr id="5" name="raster 19.4" descr="diagram">    </p:cNvPr>
          <p:cNvPicPr>
            <a:picLocks noChangeAspect="1"/>
          </p:cNvPicPr>
          <p:nvPr/>
        </p:nvPicPr>
        <p:blipFill>
          <a:blip r:embed="rId3"/>
          <a:stretch>
            <a:fillRect/>
          </a:stretch>
        </p:blipFill>
        <p:spPr>
          <a:xfrm>
            <a:off x="6883228" y="2412940"/>
            <a:ext cx="4063898" cy="3441614"/>
          </a:xfrm>
          <a:prstGeom prst="rect">
            <a:avLst/>
          </a:prstGeom>
        </p:spPr>
      </p:pic>
      <p:sp>
        <p:nvSpPr>
          <p:cNvPr id="6" name="text 19.5"/>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Level drafts, top-down</a:t>
            </a:r>
            <a:endParaRPr lang="en-US" sz="3000" dirty="0"/>
          </a:p>
        </p:txBody>
      </p:sp>
      <p:sp>
        <p:nvSpPr>
          <p:cNvPr id="7" name="text 19.6"/>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FF6B1F"/>
                </a:solidFill>
                <a:latin typeface="Arial" pitchFamily="34" charset="0"/>
                <a:ea typeface="Arial" pitchFamily="34" charset="-122"/>
                <a:cs typeface="Arial" pitchFamily="34" charset="-120"/>
              </a:rPr>
              <a:t>Knockback Arena</a:t>
            </a:r>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 and </a:t>
            </a:r>
            <a:pPr algn="l" indent="0" marL="0">
              <a:lnSpc>
                <a:spcPts val="1820"/>
              </a:lnSpc>
              <a:buNone/>
            </a:pPr>
            <a:r>
              <a:rPr lang="en-US" sz="1350" b="1" dirty="0">
                <a:solidFill>
                  <a:srgbClr val="1FA9EA"/>
                </a:solidFill>
                <a:latin typeface="Arial" pitchFamily="34" charset="0"/>
                <a:ea typeface="Arial" pitchFamily="34" charset="-122"/>
                <a:cs typeface="Arial" pitchFamily="34" charset="-120"/>
              </a:rPr>
              <a:t>Ice Loop.</a:t>
            </a:r>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 Blast Parkour and Hole Grab come next, as blockouts in Unity.</a:t>
            </a:r>
            <a:endParaRPr lang="en-US" sz="1350" dirty="0"/>
          </a:p>
        </p:txBody>
      </p:sp>
      <p:sp>
        <p:nvSpPr>
          <p:cNvPr id="8" name="text 19.7"/>
          <p:cNvSpPr txBox="1"/>
          <p:nvPr/>
        </p:nvSpPr>
        <p:spPr>
          <a:xfrm>
            <a:off x="863578" y="2044649"/>
            <a:ext cx="2414557"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KNOCKBACK ARENA · ARENA DRAFT</a:t>
            </a:r>
            <a:endParaRPr lang="en-US" sz="800" dirty="0"/>
          </a:p>
        </p:txBody>
      </p:sp>
      <p:pic>
        <p:nvPicPr>
          <p:cNvPr id="9" name="raster 19.8" descr="diagram">    </p:cNvPr>
          <p:cNvPicPr>
            <a:picLocks noChangeAspect="1"/>
          </p:cNvPicPr>
          <p:nvPr/>
        </p:nvPicPr>
        <p:blipFill>
          <a:blip r:embed="rId4"/>
          <a:stretch>
            <a:fillRect/>
          </a:stretch>
        </p:blipFill>
        <p:spPr>
          <a:xfrm>
            <a:off x="1739857" y="2844729"/>
            <a:ext cx="279393" cy="279393"/>
          </a:xfrm>
          <a:prstGeom prst="rect">
            <a:avLst/>
          </a:prstGeom>
        </p:spPr>
      </p:pic>
      <p:pic>
        <p:nvPicPr>
          <p:cNvPr id="10" name="raster 19.9" descr="diagram">    </p:cNvPr>
          <p:cNvPicPr>
            <a:picLocks noChangeAspect="1"/>
          </p:cNvPicPr>
          <p:nvPr/>
        </p:nvPicPr>
        <p:blipFill>
          <a:blip r:embed="rId5"/>
          <a:stretch>
            <a:fillRect/>
          </a:stretch>
        </p:blipFill>
        <p:spPr>
          <a:xfrm>
            <a:off x="3606710" y="2844729"/>
            <a:ext cx="279393" cy="279393"/>
          </a:xfrm>
          <a:prstGeom prst="rect">
            <a:avLst/>
          </a:prstGeom>
        </p:spPr>
      </p:pic>
      <p:pic>
        <p:nvPicPr>
          <p:cNvPr id="11" name="raster 19.10" descr="diagram">    </p:cNvPr>
          <p:cNvPicPr>
            <a:picLocks noChangeAspect="1"/>
          </p:cNvPicPr>
          <p:nvPr/>
        </p:nvPicPr>
        <p:blipFill>
          <a:blip r:embed="rId6"/>
          <a:stretch>
            <a:fillRect/>
          </a:stretch>
        </p:blipFill>
        <p:spPr>
          <a:xfrm>
            <a:off x="1739857" y="4711582"/>
            <a:ext cx="279393" cy="279393"/>
          </a:xfrm>
          <a:prstGeom prst="rect">
            <a:avLst/>
          </a:prstGeom>
        </p:spPr>
      </p:pic>
      <p:pic>
        <p:nvPicPr>
          <p:cNvPr id="12" name="raster 19.11" descr="diagram">    </p:cNvPr>
          <p:cNvPicPr>
            <a:picLocks noChangeAspect="1"/>
          </p:cNvPicPr>
          <p:nvPr/>
        </p:nvPicPr>
        <p:blipFill>
          <a:blip r:embed="rId7"/>
          <a:stretch>
            <a:fillRect/>
          </a:stretch>
        </p:blipFill>
        <p:spPr>
          <a:xfrm>
            <a:off x="3606710" y="4711582"/>
            <a:ext cx="279393" cy="279393"/>
          </a:xfrm>
          <a:prstGeom prst="rect">
            <a:avLst/>
          </a:prstGeom>
        </p:spPr>
      </p:pic>
      <p:sp>
        <p:nvSpPr>
          <p:cNvPr id="13" name="text 19.12"/>
          <p:cNvSpPr txBox="1"/>
          <p:nvPr/>
        </p:nvSpPr>
        <p:spPr>
          <a:xfrm>
            <a:off x="1371566" y="5625959"/>
            <a:ext cx="2984425" cy="106677"/>
          </a:xfrm>
          <a:prstGeom prst="rect">
            <a:avLst/>
          </a:prstGeom>
          <a:noFill/>
          <a:ln/>
        </p:spPr>
        <p:txBody>
          <a:bodyPr wrap="square" lIns="0" tIns="0" rIns="0" bIns="0" rtlCol="0" anchor="t"/>
          <a:lstStyle/>
          <a:p>
            <a:pPr algn="ctr"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OPEN EDGE = KNOCKOUT LINE</a:t>
            </a:r>
            <a:endParaRPr lang="en-US" sz="700" dirty="0"/>
          </a:p>
        </p:txBody>
      </p:sp>
      <p:sp>
        <p:nvSpPr>
          <p:cNvPr id="14" name="text 19.13"/>
          <p:cNvSpPr txBox="1"/>
          <p:nvPr/>
        </p:nvSpPr>
        <p:spPr>
          <a:xfrm>
            <a:off x="4521087" y="2603435"/>
            <a:ext cx="1308067" cy="302213"/>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Fall zone. No walls, no cover.</a:t>
            </a:r>
            <a:endParaRPr lang="en-US" sz="850" dirty="0"/>
          </a:p>
        </p:txBody>
      </p:sp>
      <p:sp>
        <p:nvSpPr>
          <p:cNvPr id="15" name="text 19.14"/>
          <p:cNvSpPr txBox="1"/>
          <p:nvPr/>
        </p:nvSpPr>
        <p:spPr>
          <a:xfrm>
            <a:off x="4521087" y="3835304"/>
            <a:ext cx="1308067"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One flat square platform.</a:t>
            </a:r>
            <a:endParaRPr lang="en-US" sz="850" dirty="0"/>
          </a:p>
        </p:txBody>
      </p:sp>
      <p:sp>
        <p:nvSpPr>
          <p:cNvPr id="16" name="text 19.15"/>
          <p:cNvSpPr txBox="1"/>
          <p:nvPr/>
        </p:nvSpPr>
        <p:spPr>
          <a:xfrm>
            <a:off x="4521087" y="4825879"/>
            <a:ext cx="1308067"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Spawn near corners.</a:t>
            </a:r>
            <a:endParaRPr lang="en-US" sz="850" dirty="0"/>
          </a:p>
        </p:txBody>
      </p:sp>
      <p:sp>
        <p:nvSpPr>
          <p:cNvPr id="17" name="text 19.16"/>
          <p:cNvSpPr txBox="1"/>
          <p:nvPr/>
        </p:nvSpPr>
        <p:spPr>
          <a:xfrm>
            <a:off x="6476838" y="2044649"/>
            <a:ext cx="1727907"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FA9EA"/>
                </a:solidFill>
                <a:latin typeface="Arial" pitchFamily="34" charset="0"/>
                <a:ea typeface="Arial" pitchFamily="34" charset="-122"/>
                <a:cs typeface="Arial" pitchFamily="34" charset="-120"/>
              </a:rPr>
              <a:t>ICE LOOP · TRACK DRAFT</a:t>
            </a:r>
            <a:endParaRPr lang="en-US" sz="800" dirty="0"/>
          </a:p>
        </p:txBody>
      </p:sp>
      <p:sp>
        <p:nvSpPr>
          <p:cNvPr id="18" name="text 19.17"/>
          <p:cNvSpPr txBox="1"/>
          <p:nvPr/>
        </p:nvSpPr>
        <p:spPr>
          <a:xfrm>
            <a:off x="7429314" y="4368691"/>
            <a:ext cx="42717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B2340"/>
                </a:solidFill>
                <a:latin typeface="Arial" pitchFamily="34" charset="0"/>
                <a:ea typeface="Arial" pitchFamily="34" charset="-122"/>
                <a:cs typeface="Arial" pitchFamily="34" charset="-120"/>
              </a:rPr>
              <a:t>START</a:t>
            </a:r>
            <a:endParaRPr lang="en-US" sz="700" dirty="0"/>
          </a:p>
        </p:txBody>
      </p:sp>
      <p:sp>
        <p:nvSpPr>
          <p:cNvPr id="19" name="text 19.18"/>
          <p:cNvSpPr txBox="1"/>
          <p:nvPr/>
        </p:nvSpPr>
        <p:spPr>
          <a:xfrm>
            <a:off x="8369091" y="2222444"/>
            <a:ext cx="280778"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CP1</a:t>
            </a:r>
            <a:endParaRPr lang="en-US" sz="700" dirty="0"/>
          </a:p>
        </p:txBody>
      </p:sp>
      <p:sp>
        <p:nvSpPr>
          <p:cNvPr id="20" name="text 19.19"/>
          <p:cNvSpPr txBox="1"/>
          <p:nvPr/>
        </p:nvSpPr>
        <p:spPr>
          <a:xfrm>
            <a:off x="8737382" y="3568611"/>
            <a:ext cx="280778"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CP2</a:t>
            </a:r>
            <a:endParaRPr lang="en-US" sz="700" dirty="0"/>
          </a:p>
        </p:txBody>
      </p:sp>
      <p:sp>
        <p:nvSpPr>
          <p:cNvPr id="21" name="text 19.20"/>
          <p:cNvSpPr txBox="1"/>
          <p:nvPr/>
        </p:nvSpPr>
        <p:spPr>
          <a:xfrm>
            <a:off x="10959826" y="5117972"/>
            <a:ext cx="280778"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CP3</a:t>
            </a:r>
            <a:endParaRPr lang="en-US" sz="700" dirty="0"/>
          </a:p>
        </p:txBody>
      </p:sp>
      <p:sp>
        <p:nvSpPr>
          <p:cNvPr id="22" name="text 19.21"/>
          <p:cNvSpPr txBox="1"/>
          <p:nvPr/>
        </p:nvSpPr>
        <p:spPr>
          <a:xfrm>
            <a:off x="9842254" y="2730432"/>
            <a:ext cx="1562061" cy="302213"/>
          </a:xfrm>
          <a:prstGeom prst="rect">
            <a:avLst/>
          </a:prstGeom>
          <a:noFill/>
          <a:ln/>
        </p:spPr>
        <p:txBody>
          <a:bodyPr wrap="square" lIns="0" tIns="0" rIns="0" bIns="0" rtlCol="0" anchor="t"/>
          <a:lstStyle/>
          <a:p>
            <a:pPr algn="l" indent="0" marL="0">
              <a:lnSpc>
                <a:spcPts val="1190"/>
              </a:lnSpc>
              <a:buNone/>
            </a:pPr>
            <a:r>
              <a:rPr lang="en-US" sz="850" b="1" dirty="0">
                <a:solidFill>
                  <a:srgbClr val="A57600"/>
                </a:solidFill>
                <a:latin typeface="Arial" pitchFamily="34" charset="0"/>
                <a:ea typeface="Arial" pitchFamily="34" charset="-122"/>
                <a:cs typeface="Arial" pitchFamily="34" charset="-120"/>
              </a:rPr>
              <a:t>Yellow:</a:t>
            </a:r>
            <a:pPr algn="l" indent="0" marL="0">
              <a:lnSpc>
                <a:spcPts val="1190"/>
              </a:lnSpc>
              <a:buNone/>
            </a:pPr>
            <a:r>
              <a:rPr lang="en-US" sz="850" dirty="0">
                <a:solidFill>
                  <a:srgbClr val="6F778C"/>
                </a:solidFill>
                <a:latin typeface="Arial" pitchFamily="34" charset="0"/>
                <a:ea typeface="Arial" pitchFamily="34" charset="-122"/>
                <a:cs typeface="Arial" pitchFamily="34" charset="-120"/>
              </a:rPr>
              <a:t> slippery corners. Set up early or slide off.</a:t>
            </a:r>
            <a:endParaRPr lang="en-US" sz="850" dirty="0"/>
          </a:p>
        </p:txBody>
      </p:sp>
      <p:sp>
        <p:nvSpPr>
          <p:cNvPr id="23" name="text 19.22"/>
          <p:cNvSpPr txBox="1"/>
          <p:nvPr/>
        </p:nvSpPr>
        <p:spPr>
          <a:xfrm>
            <a:off x="9842254" y="3657509"/>
            <a:ext cx="1562061" cy="302213"/>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The track loops; every checkpoint counts +1.</a:t>
            </a:r>
            <a:endParaRPr lang="en-US" sz="850" dirty="0"/>
          </a:p>
        </p:txBody>
      </p:sp>
      <p:sp>
        <p:nvSpPr>
          <p:cNvPr id="24" name="text 19.23"/>
          <p:cNvSpPr txBox="1"/>
          <p:nvPr/>
        </p:nvSpPr>
        <p:spPr>
          <a:xfrm>
            <a:off x="609585" y="6351131"/>
            <a:ext cx="11694376"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Draft layouts. Dimensions, spawn points and checkpoint count are not set.</a:t>
            </a:r>
            <a:endParaRPr lang="en-US" sz="850" dirty="0"/>
          </a:p>
        </p:txBody>
      </p:sp>
      <p:pic>
        <p:nvPicPr>
          <p:cNvPr id="25" name="raster 19.24" descr="diagram">    </p:cNvPr>
          <p:cNvPicPr>
            <a:picLocks noChangeAspect="1"/>
          </p:cNvPicPr>
          <p:nvPr/>
        </p:nvPicPr>
        <p:blipFill>
          <a:blip r:embed="rId8"/>
          <a:stretch>
            <a:fillRect/>
          </a:stretch>
        </p:blipFill>
        <p:spPr>
          <a:xfrm>
            <a:off x="609585" y="266693"/>
            <a:ext cx="190495" cy="190495"/>
          </a:xfrm>
          <a:prstGeom prst="rect">
            <a:avLst/>
          </a:prstGeom>
        </p:spPr>
      </p:pic>
      <p:sp>
        <p:nvSpPr>
          <p:cNvPr id="26" name="text 19.25"/>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27" name="text 19.26"/>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28" name="text 19.27"/>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29" name="text 19.28"/>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19 / 25</a:t>
            </a:r>
            <a:endParaRPr lang="en-US" sz="750" dirty="0"/>
          </a:p>
        </p:txBody>
      </p:sp>
      <p:sp>
        <p:nvSpPr>
          <p:cNvPr id="30" name="text 19.29"/>
          <p:cNvSpPr txBox="1"/>
          <p:nvPr/>
        </p:nvSpPr>
        <p:spPr>
          <a:xfrm>
            <a:off x="609585" y="698483"/>
            <a:ext cx="2067183"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43B832"/>
                </a:solidFill>
                <a:latin typeface="Arial" pitchFamily="34" charset="0"/>
                <a:ea typeface="Arial" pitchFamily="34" charset="-122"/>
                <a:cs typeface="Arial" pitchFamily="34" charset="-120"/>
              </a:rPr>
              <a:t>05 · DRAFTS &amp; PROTOTYPES</a:t>
            </a:r>
            <a:endParaRPr lang="en-US" sz="85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0.1"/>
          <p:cNvSpPr/>
          <p:nvPr/>
        </p:nvSpPr>
        <p:spPr>
          <a:xfrm>
            <a:off x="609585" y="2565336"/>
            <a:ext cx="2628834" cy="1396965"/>
          </a:xfrm>
          <a:prstGeom prst="roundRect">
            <a:avLst>
              <a:gd name="adj" fmla="val 10909"/>
            </a:avLst>
          </a:prstGeom>
          <a:solidFill>
            <a:srgbClr val="E7F5E1"/>
          </a:solidFill>
          <a:ln w="12700">
            <a:solidFill>
              <a:srgbClr val="D2EBC7"/>
            </a:solidFill>
            <a:prstDash val="solid"/>
          </a:ln>
          <a:effectLst>
            <a:outerShdw sx="100000" sy="100000" kx="0" ky="0" algn="bl" rotWithShape="0" blurRad="203200" dist="76200" dir="5400000">
              <a:srgbClr val="1E468C">
                <a:alpha val="16000"/>
              </a:srgbClr>
            </a:outerShdw>
          </a:effectLst>
        </p:spPr>
      </p:sp>
      <p:sp>
        <p:nvSpPr>
          <p:cNvPr id="3" name="shape 20.2"/>
          <p:cNvSpPr/>
          <p:nvPr/>
        </p:nvSpPr>
        <p:spPr>
          <a:xfrm>
            <a:off x="3390815" y="2565336"/>
            <a:ext cx="2628834" cy="1396965"/>
          </a:xfrm>
          <a:prstGeom prst="roundRect">
            <a:avLst>
              <a:gd name="adj" fmla="val 10909"/>
            </a:avLst>
          </a:prstGeom>
          <a:solidFill>
            <a:srgbClr val="E3F2FB"/>
          </a:solidFill>
          <a:ln w="12700">
            <a:solidFill>
              <a:srgbClr val="CDE7F7"/>
            </a:solidFill>
            <a:prstDash val="solid"/>
          </a:ln>
          <a:effectLst>
            <a:outerShdw sx="100000" sy="100000" kx="0" ky="0" algn="bl" rotWithShape="0" blurRad="203200" dist="76200" dir="5400000">
              <a:srgbClr val="1E468C">
                <a:alpha val="16000"/>
              </a:srgbClr>
            </a:outerShdw>
          </a:effectLst>
        </p:spPr>
      </p:sp>
      <p:sp>
        <p:nvSpPr>
          <p:cNvPr id="4" name="shape 20.3"/>
          <p:cNvSpPr/>
          <p:nvPr/>
        </p:nvSpPr>
        <p:spPr>
          <a:xfrm>
            <a:off x="6172046" y="2565336"/>
            <a:ext cx="2628834" cy="1396965"/>
          </a:xfrm>
          <a:prstGeom prst="roundRect">
            <a:avLst>
              <a:gd name="adj" fmla="val 10909"/>
            </a:avLst>
          </a:prstGeom>
          <a:solidFill>
            <a:srgbClr val="FFF0E6"/>
          </a:solidFill>
          <a:ln w="12700">
            <a:solidFill>
              <a:srgbClr val="FBDCC8"/>
            </a:solidFill>
            <a:prstDash val="solid"/>
          </a:ln>
          <a:effectLst>
            <a:outerShdw sx="100000" sy="100000" kx="0" ky="0" algn="bl" rotWithShape="0" blurRad="203200" dist="76200" dir="5400000">
              <a:srgbClr val="1E468C">
                <a:alpha val="16000"/>
              </a:srgbClr>
            </a:outerShdw>
          </a:effectLst>
        </p:spPr>
      </p:sp>
      <p:sp>
        <p:nvSpPr>
          <p:cNvPr id="5" name="shape 20.4"/>
          <p:cNvSpPr/>
          <p:nvPr/>
        </p:nvSpPr>
        <p:spPr>
          <a:xfrm>
            <a:off x="8953276" y="2565336"/>
            <a:ext cx="2628834" cy="1396965"/>
          </a:xfrm>
          <a:prstGeom prst="roundRect">
            <a:avLst>
              <a:gd name="adj" fmla="val 10909"/>
            </a:avLst>
          </a:prstGeom>
          <a:solidFill>
            <a:srgbClr val="F1E9FF"/>
          </a:solidFill>
          <a:ln w="12700">
            <a:solidFill>
              <a:srgbClr val="E0D2FB"/>
            </a:solidFill>
            <a:prstDash val="solid"/>
          </a:ln>
          <a:effectLst>
            <a:outerShdw sx="100000" sy="100000" kx="0" ky="0" algn="bl" rotWithShape="0" blurRad="203200" dist="76200" dir="5400000">
              <a:srgbClr val="1E468C">
                <a:alpha val="16000"/>
              </a:srgbClr>
            </a:outerShdw>
          </a:effectLst>
        </p:spPr>
      </p:sp>
      <p:sp>
        <p:nvSpPr>
          <p:cNvPr id="6" name="shape 20.5"/>
          <p:cNvSpPr/>
          <p:nvPr/>
        </p:nvSpPr>
        <p:spPr>
          <a:xfrm>
            <a:off x="609585" y="4101997"/>
            <a:ext cx="3555911" cy="1447764"/>
          </a:xfrm>
          <a:prstGeom prst="roundRect">
            <a:avLst>
              <a:gd name="adj" fmla="val 10526"/>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7" name="shape 20.6"/>
          <p:cNvSpPr/>
          <p:nvPr/>
        </p:nvSpPr>
        <p:spPr>
          <a:xfrm>
            <a:off x="4317892" y="4101997"/>
            <a:ext cx="3555911" cy="1447764"/>
          </a:xfrm>
          <a:prstGeom prst="roundRect">
            <a:avLst>
              <a:gd name="adj" fmla="val 10526"/>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8" name="shape 20.7"/>
          <p:cNvSpPr/>
          <p:nvPr/>
        </p:nvSpPr>
        <p:spPr>
          <a:xfrm>
            <a:off x="8026199" y="4101997"/>
            <a:ext cx="3555911" cy="1447764"/>
          </a:xfrm>
          <a:prstGeom prst="roundRect">
            <a:avLst>
              <a:gd name="adj" fmla="val 10526"/>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9" name="raster 20.8" descr="diagram">    </p:cNvPr>
          <p:cNvPicPr>
            <a:picLocks noChangeAspect="1"/>
          </p:cNvPicPr>
          <p:nvPr/>
        </p:nvPicPr>
        <p:blipFill>
          <a:blip r:embed="rId2"/>
          <a:stretch>
            <a:fillRect/>
          </a:stretch>
        </p:blipFill>
        <p:spPr>
          <a:xfrm>
            <a:off x="1873203" y="2311342"/>
            <a:ext cx="8445289" cy="101597"/>
          </a:xfrm>
          <a:prstGeom prst="rect">
            <a:avLst/>
          </a:prstGeom>
        </p:spPr>
      </p:pic>
      <p:sp>
        <p:nvSpPr>
          <p:cNvPr id="10" name="text 20.9"/>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Development plan</a:t>
            </a:r>
            <a:endParaRPr lang="en-US" sz="3000" dirty="0"/>
          </a:p>
        </p:txBody>
      </p:sp>
      <p:sp>
        <p:nvSpPr>
          <p:cNvPr id="11" name="text 20.10"/>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12 weeks, four presentations, </a:t>
            </a:r>
            <a:pPr algn="l" indent="0" marL="0">
              <a:lnSpc>
                <a:spcPts val="1820"/>
              </a:lnSpc>
              <a:buNone/>
            </a:pPr>
            <a:r>
              <a:rPr lang="en-US" sz="1350" b="1" dirty="0">
                <a:solidFill>
                  <a:srgbClr val="1FA9EA"/>
                </a:solidFill>
                <a:latin typeface="Arial" pitchFamily="34" charset="0"/>
                <a:ea typeface="Arial" pitchFamily="34" charset="-122"/>
                <a:cs typeface="Arial" pitchFamily="34" charset="-120"/>
              </a:rPr>
              <a:t>one playable step each.</a:t>
            </a:r>
            <a:endParaRPr lang="en-US" sz="1350" dirty="0"/>
          </a:p>
        </p:txBody>
      </p:sp>
      <p:sp>
        <p:nvSpPr>
          <p:cNvPr id="12" name="text 20.11"/>
          <p:cNvSpPr txBox="1"/>
          <p:nvPr/>
        </p:nvSpPr>
        <p:spPr>
          <a:xfrm>
            <a:off x="609585" y="1752556"/>
            <a:ext cx="11010625" cy="405001"/>
          </a:xfrm>
          <a:prstGeom prst="rect">
            <a:avLst/>
          </a:prstGeom>
          <a:noFill/>
          <a:ln/>
        </p:spPr>
        <p:txBody>
          <a:bodyPr wrap="square" lIns="0" tIns="0" rIns="0" bIns="0" rtlCol="0" anchor="t"/>
          <a:lstStyle/>
          <a:p>
            <a:pPr algn="l" indent="0" marL="0">
              <a:lnSpc>
                <a:spcPts val="1590"/>
              </a:lnSpc>
              <a:buNone/>
            </a:pPr>
            <a:r>
              <a:rPr lang="en-US" sz="1100" b="1" dirty="0">
                <a:solidFill>
                  <a:srgbClr val="1B2340"/>
                </a:solidFill>
                <a:latin typeface="Arial" pitchFamily="34" charset="0"/>
                <a:ea typeface="Arial" pitchFamily="34" charset="-122"/>
                <a:cs typeface="Arial" pitchFamily="34" charset="-120"/>
              </a:rPr>
              <a:t>Proposed MVP:</a:t>
            </a:r>
            <a:pPr algn="l" indent="0" marL="0">
              <a:lnSpc>
                <a:spcPts val="1590"/>
              </a:lnSpc>
              <a:buNone/>
            </a:pPr>
            <a:r>
              <a:rPr lang="en-US" sz="1100" dirty="0">
                <a:solidFill>
                  <a:srgbClr val="3E475E"/>
                </a:solidFill>
                <a:latin typeface="Arial" pitchFamily="34" charset="0"/>
                <a:ea typeface="Arial" pitchFamily="34" charset="-122"/>
                <a:cs typeface="Arial" pitchFamily="34" charset="-120"/>
              </a:rPr>
              <a:t> the shared core plus three mini-games (Knockback Arena, Ice Loop, Hole Grab). Blast Parkour joins in the final phase if time allows; the ideas in progress come after the term. Course checkpoints are on Mondays.</a:t>
            </a:r>
            <a:endParaRPr lang="en-US" sz="1100" dirty="0"/>
          </a:p>
        </p:txBody>
      </p:sp>
      <p:sp>
        <p:nvSpPr>
          <p:cNvPr id="13" name="shape 20.12"/>
          <p:cNvSpPr/>
          <p:nvPr/>
        </p:nvSpPr>
        <p:spPr>
          <a:xfrm>
            <a:off x="1822404" y="2260543"/>
            <a:ext cx="203195" cy="203195"/>
          </a:xfrm>
          <a:prstGeom prst="roundRect">
            <a:avLst>
              <a:gd name="adj" fmla="val 50000"/>
            </a:avLst>
          </a:prstGeom>
          <a:solidFill>
            <a:srgbClr val="43B832"/>
          </a:solidFill>
          <a:ln/>
        </p:spPr>
      </p:sp>
      <p:sp>
        <p:nvSpPr>
          <p:cNvPr id="14" name="text 20.13"/>
          <p:cNvSpPr txBox="1"/>
          <p:nvPr/>
        </p:nvSpPr>
        <p:spPr>
          <a:xfrm>
            <a:off x="787380" y="2717732"/>
            <a:ext cx="833758" cy="228594"/>
          </a:xfrm>
          <a:prstGeom prst="rect">
            <a:avLst/>
          </a:prstGeom>
          <a:noFill/>
          <a:ln/>
        </p:spPr>
        <p:txBody>
          <a:bodyPr wrap="square" lIns="0" tIns="0" rIns="0" bIns="0" rtlCol="0" anchor="t"/>
          <a:lstStyle/>
          <a:p>
            <a:pPr algn="l" indent="0" marL="0">
              <a:lnSpc>
                <a:spcPts val="1800"/>
              </a:lnSpc>
              <a:buNone/>
            </a:pPr>
            <a:r>
              <a:rPr lang="en-US" sz="1800" dirty="0">
                <a:solidFill>
                  <a:srgbClr val="43B832"/>
                </a:solidFill>
                <a:latin typeface="Arial Rounded MT Bold" pitchFamily="34" charset="0"/>
                <a:ea typeface="Arial Rounded MT Bold" pitchFamily="34" charset="-122"/>
                <a:cs typeface="Arial Rounded MT Bold" pitchFamily="34" charset="-120"/>
              </a:rPr>
              <a:t>19 Oct</a:t>
            </a:r>
            <a:endParaRPr lang="en-US" sz="1800" dirty="0"/>
          </a:p>
        </p:txBody>
      </p:sp>
      <p:sp>
        <p:nvSpPr>
          <p:cNvPr id="15" name="text 20.14"/>
          <p:cNvSpPr txBox="1"/>
          <p:nvPr/>
        </p:nvSpPr>
        <p:spPr>
          <a:xfrm>
            <a:off x="787380" y="3009825"/>
            <a:ext cx="759298" cy="175256"/>
          </a:xfrm>
          <a:prstGeom prst="rect">
            <a:avLst/>
          </a:prstGeom>
          <a:noFill/>
          <a:ln/>
        </p:spPr>
        <p:txBody>
          <a:bodyPr wrap="square" lIns="0" tIns="0" rIns="0" bIns="0" rtlCol="0" anchor="t"/>
          <a:lstStyle/>
          <a:p>
            <a:pPr algn="l" indent="0" marL="0">
              <a:lnSpc>
                <a:spcPts val="1380"/>
              </a:lnSpc>
              <a:buNone/>
            </a:pPr>
            <a:r>
              <a:rPr lang="en-US" sz="1200" dirty="0">
                <a:solidFill>
                  <a:srgbClr val="1B2340"/>
                </a:solidFill>
                <a:latin typeface="Arial Rounded MT Bold" pitchFamily="34" charset="0"/>
                <a:ea typeface="Arial Rounded MT Bold" pitchFamily="34" charset="-122"/>
                <a:cs typeface="Arial Rounded MT Bold" pitchFamily="34" charset="-120"/>
              </a:rPr>
              <a:t>Proposal</a:t>
            </a:r>
            <a:endParaRPr lang="en-US" sz="1200" dirty="0"/>
          </a:p>
        </p:txBody>
      </p:sp>
      <p:sp>
        <p:nvSpPr>
          <p:cNvPr id="16" name="text 20.15"/>
          <p:cNvSpPr txBox="1"/>
          <p:nvPr/>
        </p:nvSpPr>
        <p:spPr>
          <a:xfrm>
            <a:off x="787380" y="3238419"/>
            <a:ext cx="2324042" cy="350432"/>
          </a:xfrm>
          <a:prstGeom prst="rect">
            <a:avLst/>
          </a:prstGeom>
          <a:noFill/>
          <a:ln/>
        </p:spPr>
        <p:txBody>
          <a:bodyPr wrap="square" lIns="0" tIns="0" rIns="0" bIns="0" rtlCol="0" anchor="t"/>
          <a:lstStyle/>
          <a:p>
            <a:pPr algn="l" indent="0" marL="0">
              <a:lnSpc>
                <a:spcPts val="1380"/>
              </a:lnSpc>
              <a:buNone/>
            </a:pPr>
            <a:r>
              <a:rPr lang="en-US" sz="1000" dirty="0">
                <a:solidFill>
                  <a:srgbClr val="3E475E"/>
                </a:solidFill>
                <a:latin typeface="Arial" pitchFamily="34" charset="0"/>
                <a:ea typeface="Arial" pitchFamily="34" charset="-122"/>
                <a:cs typeface="Arial" pitchFamily="34" charset="-120"/>
              </a:rPr>
              <a:t>Concept, research, physics prototype and this pitch.</a:t>
            </a:r>
            <a:endParaRPr lang="en-US" sz="1000" dirty="0"/>
          </a:p>
        </p:txBody>
      </p:sp>
      <p:sp>
        <p:nvSpPr>
          <p:cNvPr id="17" name="shape 20.16"/>
          <p:cNvSpPr/>
          <p:nvPr/>
        </p:nvSpPr>
        <p:spPr>
          <a:xfrm>
            <a:off x="2451039" y="2743131"/>
            <a:ext cx="609585" cy="203195"/>
          </a:xfrm>
          <a:prstGeom prst="roundRect">
            <a:avLst>
              <a:gd name="adj" fmla="val 50000"/>
            </a:avLst>
          </a:prstGeom>
          <a:solidFill>
            <a:srgbClr val="43B832"/>
          </a:solidFill>
          <a:ln/>
        </p:spPr>
      </p:sp>
      <p:sp>
        <p:nvSpPr>
          <p:cNvPr id="18" name="text 20.17"/>
          <p:cNvSpPr txBox="1"/>
          <p:nvPr/>
        </p:nvSpPr>
        <p:spPr>
          <a:xfrm>
            <a:off x="2451039" y="2743131"/>
            <a:ext cx="609585"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FFFF"/>
                </a:solidFill>
                <a:latin typeface="Arial" pitchFamily="34" charset="0"/>
                <a:ea typeface="Arial" pitchFamily="34" charset="-122"/>
                <a:cs typeface="Arial" pitchFamily="34" charset="-120"/>
              </a:rPr>
              <a:t>DONE</a:t>
            </a:r>
            <a:endParaRPr lang="en-US" sz="650" dirty="0"/>
          </a:p>
        </p:txBody>
      </p:sp>
      <p:sp>
        <p:nvSpPr>
          <p:cNvPr id="19" name="shape 20.18"/>
          <p:cNvSpPr/>
          <p:nvPr/>
        </p:nvSpPr>
        <p:spPr>
          <a:xfrm>
            <a:off x="4603635" y="2260543"/>
            <a:ext cx="203195" cy="203195"/>
          </a:xfrm>
          <a:prstGeom prst="roundRect">
            <a:avLst>
              <a:gd name="adj" fmla="val 50000"/>
            </a:avLst>
          </a:prstGeom>
          <a:solidFill>
            <a:srgbClr val="1FA9EA"/>
          </a:solidFill>
          <a:ln/>
        </p:spPr>
      </p:sp>
      <p:sp>
        <p:nvSpPr>
          <p:cNvPr id="20" name="text 20.19"/>
          <p:cNvSpPr txBox="1"/>
          <p:nvPr/>
        </p:nvSpPr>
        <p:spPr>
          <a:xfrm>
            <a:off x="3568611" y="2717732"/>
            <a:ext cx="870672" cy="228594"/>
          </a:xfrm>
          <a:prstGeom prst="rect">
            <a:avLst/>
          </a:prstGeom>
          <a:noFill/>
          <a:ln/>
        </p:spPr>
        <p:txBody>
          <a:bodyPr wrap="square" lIns="0" tIns="0" rIns="0" bIns="0" rtlCol="0" anchor="t"/>
          <a:lstStyle/>
          <a:p>
            <a:pPr algn="l" indent="0" marL="0">
              <a:lnSpc>
                <a:spcPts val="1800"/>
              </a:lnSpc>
              <a:buNone/>
            </a:pPr>
            <a:r>
              <a:rPr lang="en-US" sz="1800" dirty="0">
                <a:solidFill>
                  <a:srgbClr val="1FA9EA"/>
                </a:solidFill>
                <a:latin typeface="Arial Rounded MT Bold" pitchFamily="34" charset="0"/>
                <a:ea typeface="Arial Rounded MT Bold" pitchFamily="34" charset="-122"/>
                <a:cs typeface="Arial Rounded MT Bold" pitchFamily="34" charset="-120"/>
              </a:rPr>
              <a:t>16 Nov</a:t>
            </a:r>
            <a:endParaRPr lang="en-US" sz="1800" dirty="0"/>
          </a:p>
        </p:txBody>
      </p:sp>
      <p:sp>
        <p:nvSpPr>
          <p:cNvPr id="21" name="text 20.20"/>
          <p:cNvSpPr txBox="1"/>
          <p:nvPr/>
        </p:nvSpPr>
        <p:spPr>
          <a:xfrm>
            <a:off x="3568611" y="3009825"/>
            <a:ext cx="656022" cy="175256"/>
          </a:xfrm>
          <a:prstGeom prst="rect">
            <a:avLst/>
          </a:prstGeom>
          <a:noFill/>
          <a:ln/>
        </p:spPr>
        <p:txBody>
          <a:bodyPr wrap="square" lIns="0" tIns="0" rIns="0" bIns="0" rtlCol="0" anchor="t"/>
          <a:lstStyle/>
          <a:p>
            <a:pPr algn="l" indent="0" marL="0">
              <a:lnSpc>
                <a:spcPts val="1380"/>
              </a:lnSpc>
              <a:buNone/>
            </a:pPr>
            <a:r>
              <a:rPr lang="en-US" sz="1200" dirty="0">
                <a:solidFill>
                  <a:srgbClr val="1B2340"/>
                </a:solidFill>
                <a:latin typeface="Arial Rounded MT Bold" pitchFamily="34" charset="0"/>
                <a:ea typeface="Arial Rounded MT Bold" pitchFamily="34" charset="-122"/>
                <a:cs typeface="Arial Rounded MT Bold" pitchFamily="34" charset="-120"/>
              </a:rPr>
              <a:t>Demo 1</a:t>
            </a:r>
            <a:endParaRPr lang="en-US" sz="1200" dirty="0"/>
          </a:p>
        </p:txBody>
      </p:sp>
      <p:sp>
        <p:nvSpPr>
          <p:cNvPr id="22" name="text 20.21"/>
          <p:cNvSpPr txBox="1"/>
          <p:nvPr/>
        </p:nvSpPr>
        <p:spPr>
          <a:xfrm>
            <a:off x="3568611" y="3238419"/>
            <a:ext cx="2324042" cy="350432"/>
          </a:xfrm>
          <a:prstGeom prst="rect">
            <a:avLst/>
          </a:prstGeom>
          <a:noFill/>
          <a:ln/>
        </p:spPr>
        <p:txBody>
          <a:bodyPr wrap="square" lIns="0" tIns="0" rIns="0" bIns="0" rtlCol="0" anchor="t"/>
          <a:lstStyle/>
          <a:p>
            <a:pPr algn="l" indent="0" marL="0">
              <a:lnSpc>
                <a:spcPts val="1380"/>
              </a:lnSpc>
              <a:buNone/>
            </a:pPr>
            <a:r>
              <a:rPr lang="en-US" sz="1000" dirty="0">
                <a:solidFill>
                  <a:srgbClr val="3E475E"/>
                </a:solidFill>
                <a:latin typeface="Arial" pitchFamily="34" charset="0"/>
                <a:ea typeface="Arial" pitchFamily="34" charset="-122"/>
                <a:cs typeface="Arial" pitchFamily="34" charset="-120"/>
              </a:rPr>
              <a:t>Shared core, LAN host/join and a playable Knockback Arena.</a:t>
            </a:r>
            <a:endParaRPr lang="en-US" sz="1000" dirty="0"/>
          </a:p>
        </p:txBody>
      </p:sp>
      <p:sp>
        <p:nvSpPr>
          <p:cNvPr id="23" name="shape 20.22"/>
          <p:cNvSpPr/>
          <p:nvPr/>
        </p:nvSpPr>
        <p:spPr>
          <a:xfrm>
            <a:off x="7384865" y="2260543"/>
            <a:ext cx="203195" cy="203195"/>
          </a:xfrm>
          <a:prstGeom prst="roundRect">
            <a:avLst>
              <a:gd name="adj" fmla="val 50000"/>
            </a:avLst>
          </a:prstGeom>
          <a:solidFill>
            <a:srgbClr val="FF6B1F"/>
          </a:solidFill>
          <a:ln/>
        </p:spPr>
      </p:sp>
      <p:sp>
        <p:nvSpPr>
          <p:cNvPr id="24" name="text 20.23"/>
          <p:cNvSpPr txBox="1"/>
          <p:nvPr/>
        </p:nvSpPr>
        <p:spPr>
          <a:xfrm>
            <a:off x="6349841" y="2717732"/>
            <a:ext cx="879401" cy="228594"/>
          </a:xfrm>
          <a:prstGeom prst="rect">
            <a:avLst/>
          </a:prstGeom>
          <a:noFill/>
          <a:ln/>
        </p:spPr>
        <p:txBody>
          <a:bodyPr wrap="square" lIns="0" tIns="0" rIns="0" bIns="0" rtlCol="0" anchor="t"/>
          <a:lstStyle/>
          <a:p>
            <a:pPr algn="l" indent="0" marL="0">
              <a:lnSpc>
                <a:spcPts val="1800"/>
              </a:lnSpc>
              <a:buNone/>
            </a:pPr>
            <a:r>
              <a:rPr lang="en-US" sz="1800" dirty="0">
                <a:solidFill>
                  <a:srgbClr val="FF6B1F"/>
                </a:solidFill>
                <a:latin typeface="Arial Rounded MT Bold" pitchFamily="34" charset="0"/>
                <a:ea typeface="Arial Rounded MT Bold" pitchFamily="34" charset="-122"/>
                <a:cs typeface="Arial Rounded MT Bold" pitchFamily="34" charset="-120"/>
              </a:rPr>
              <a:t>14 Dec</a:t>
            </a:r>
            <a:endParaRPr lang="en-US" sz="1800" dirty="0"/>
          </a:p>
        </p:txBody>
      </p:sp>
      <p:sp>
        <p:nvSpPr>
          <p:cNvPr id="25" name="text 20.24"/>
          <p:cNvSpPr txBox="1"/>
          <p:nvPr/>
        </p:nvSpPr>
        <p:spPr>
          <a:xfrm>
            <a:off x="6349841" y="3009825"/>
            <a:ext cx="656022" cy="175256"/>
          </a:xfrm>
          <a:prstGeom prst="rect">
            <a:avLst/>
          </a:prstGeom>
          <a:noFill/>
          <a:ln/>
        </p:spPr>
        <p:txBody>
          <a:bodyPr wrap="square" lIns="0" tIns="0" rIns="0" bIns="0" rtlCol="0" anchor="t"/>
          <a:lstStyle/>
          <a:p>
            <a:pPr algn="l" indent="0" marL="0">
              <a:lnSpc>
                <a:spcPts val="1380"/>
              </a:lnSpc>
              <a:buNone/>
            </a:pPr>
            <a:r>
              <a:rPr lang="en-US" sz="1200" dirty="0">
                <a:solidFill>
                  <a:srgbClr val="1B2340"/>
                </a:solidFill>
                <a:latin typeface="Arial Rounded MT Bold" pitchFamily="34" charset="0"/>
                <a:ea typeface="Arial Rounded MT Bold" pitchFamily="34" charset="-122"/>
                <a:cs typeface="Arial Rounded MT Bold" pitchFamily="34" charset="-120"/>
              </a:rPr>
              <a:t>Demo 2</a:t>
            </a:r>
            <a:endParaRPr lang="en-US" sz="1200" dirty="0"/>
          </a:p>
        </p:txBody>
      </p:sp>
      <p:sp>
        <p:nvSpPr>
          <p:cNvPr id="26" name="text 20.25"/>
          <p:cNvSpPr txBox="1"/>
          <p:nvPr/>
        </p:nvSpPr>
        <p:spPr>
          <a:xfrm>
            <a:off x="6349841" y="3238419"/>
            <a:ext cx="2324042" cy="350432"/>
          </a:xfrm>
          <a:prstGeom prst="rect">
            <a:avLst/>
          </a:prstGeom>
          <a:noFill/>
          <a:ln/>
        </p:spPr>
        <p:txBody>
          <a:bodyPr wrap="square" lIns="0" tIns="0" rIns="0" bIns="0" rtlCol="0" anchor="t"/>
          <a:lstStyle/>
          <a:p>
            <a:pPr algn="l" indent="0" marL="0">
              <a:lnSpc>
                <a:spcPts val="1380"/>
              </a:lnSpc>
              <a:buNone/>
            </a:pPr>
            <a:r>
              <a:rPr lang="en-US" sz="1000" dirty="0">
                <a:solidFill>
                  <a:srgbClr val="3E475E"/>
                </a:solidFill>
                <a:latin typeface="Arial" pitchFamily="34" charset="0"/>
                <a:ea typeface="Arial" pitchFamily="34" charset="-122"/>
                <a:cs typeface="Arial" pitchFamily="34" charset="-120"/>
              </a:rPr>
              <a:t>Ice Loop and Hole Grab. A full session with playlist and scoreboard.</a:t>
            </a:r>
            <a:endParaRPr lang="en-US" sz="1000" dirty="0"/>
          </a:p>
        </p:txBody>
      </p:sp>
      <p:sp>
        <p:nvSpPr>
          <p:cNvPr id="27" name="shape 20.26"/>
          <p:cNvSpPr/>
          <p:nvPr/>
        </p:nvSpPr>
        <p:spPr>
          <a:xfrm>
            <a:off x="10166096" y="2260543"/>
            <a:ext cx="203195" cy="203195"/>
          </a:xfrm>
          <a:prstGeom prst="roundRect">
            <a:avLst>
              <a:gd name="adj" fmla="val 50000"/>
            </a:avLst>
          </a:prstGeom>
          <a:solidFill>
            <a:srgbClr val="8F55F5"/>
          </a:solidFill>
          <a:ln/>
        </p:spPr>
      </p:sp>
      <p:sp>
        <p:nvSpPr>
          <p:cNvPr id="28" name="text 20.27"/>
          <p:cNvSpPr txBox="1"/>
          <p:nvPr/>
        </p:nvSpPr>
        <p:spPr>
          <a:xfrm>
            <a:off x="9131072" y="2717732"/>
            <a:ext cx="841330" cy="228594"/>
          </a:xfrm>
          <a:prstGeom prst="rect">
            <a:avLst/>
          </a:prstGeom>
          <a:noFill/>
          <a:ln/>
        </p:spPr>
        <p:txBody>
          <a:bodyPr wrap="square" lIns="0" tIns="0" rIns="0" bIns="0" rtlCol="0" anchor="t"/>
          <a:lstStyle/>
          <a:p>
            <a:pPr algn="l" indent="0" marL="0">
              <a:lnSpc>
                <a:spcPts val="1800"/>
              </a:lnSpc>
              <a:buNone/>
            </a:pPr>
            <a:r>
              <a:rPr lang="en-US" sz="1800" dirty="0">
                <a:solidFill>
                  <a:srgbClr val="8F55F5"/>
                </a:solidFill>
                <a:latin typeface="Arial Rounded MT Bold" pitchFamily="34" charset="0"/>
                <a:ea typeface="Arial Rounded MT Bold" pitchFamily="34" charset="-122"/>
                <a:cs typeface="Arial Rounded MT Bold" pitchFamily="34" charset="-120"/>
              </a:rPr>
              <a:t>11 Jan</a:t>
            </a:r>
            <a:endParaRPr lang="en-US" sz="1800" dirty="0"/>
          </a:p>
        </p:txBody>
      </p:sp>
      <p:sp>
        <p:nvSpPr>
          <p:cNvPr id="29" name="text 20.28"/>
          <p:cNvSpPr txBox="1"/>
          <p:nvPr/>
        </p:nvSpPr>
        <p:spPr>
          <a:xfrm>
            <a:off x="9131072" y="3009825"/>
            <a:ext cx="440109" cy="175256"/>
          </a:xfrm>
          <a:prstGeom prst="rect">
            <a:avLst/>
          </a:prstGeom>
          <a:noFill/>
          <a:ln/>
        </p:spPr>
        <p:txBody>
          <a:bodyPr wrap="square" lIns="0" tIns="0" rIns="0" bIns="0" rtlCol="0" anchor="t"/>
          <a:lstStyle/>
          <a:p>
            <a:pPr algn="l" indent="0" marL="0">
              <a:lnSpc>
                <a:spcPts val="1380"/>
              </a:lnSpc>
              <a:buNone/>
            </a:pPr>
            <a:r>
              <a:rPr lang="en-US" sz="1200" dirty="0">
                <a:solidFill>
                  <a:srgbClr val="1B2340"/>
                </a:solidFill>
                <a:latin typeface="Arial Rounded MT Bold" pitchFamily="34" charset="0"/>
                <a:ea typeface="Arial Rounded MT Bold" pitchFamily="34" charset="-122"/>
                <a:cs typeface="Arial Rounded MT Bold" pitchFamily="34" charset="-120"/>
              </a:rPr>
              <a:t>Final</a:t>
            </a:r>
            <a:endParaRPr lang="en-US" sz="1200" dirty="0"/>
          </a:p>
        </p:txBody>
      </p:sp>
      <p:sp>
        <p:nvSpPr>
          <p:cNvPr id="30" name="text 20.29"/>
          <p:cNvSpPr txBox="1"/>
          <p:nvPr/>
        </p:nvSpPr>
        <p:spPr>
          <a:xfrm>
            <a:off x="9131072" y="3238419"/>
            <a:ext cx="2324042" cy="350432"/>
          </a:xfrm>
          <a:prstGeom prst="rect">
            <a:avLst/>
          </a:prstGeom>
          <a:noFill/>
          <a:ln/>
        </p:spPr>
        <p:txBody>
          <a:bodyPr wrap="square" lIns="0" tIns="0" rIns="0" bIns="0" rtlCol="0" anchor="t"/>
          <a:lstStyle/>
          <a:p>
            <a:pPr algn="l" indent="0" marL="0">
              <a:lnSpc>
                <a:spcPts val="1380"/>
              </a:lnSpc>
              <a:buNone/>
            </a:pPr>
            <a:r>
              <a:rPr lang="en-US" sz="1000" dirty="0">
                <a:solidFill>
                  <a:srgbClr val="3E475E"/>
                </a:solidFill>
                <a:latin typeface="Arial" pitchFamily="34" charset="0"/>
                <a:ea typeface="Arial" pitchFamily="34" charset="-122"/>
                <a:cs typeface="Arial" pitchFamily="34" charset="-120"/>
              </a:rPr>
              <a:t>Blast Parkour if time allows. Tuning, polish, promo video.</a:t>
            </a:r>
            <a:endParaRPr lang="en-US" sz="1000" dirty="0"/>
          </a:p>
        </p:txBody>
      </p:sp>
      <p:sp>
        <p:nvSpPr>
          <p:cNvPr id="31" name="shape 20.30"/>
          <p:cNvSpPr/>
          <p:nvPr/>
        </p:nvSpPr>
        <p:spPr>
          <a:xfrm>
            <a:off x="787380" y="4254394"/>
            <a:ext cx="660383" cy="190495"/>
          </a:xfrm>
          <a:prstGeom prst="roundRect">
            <a:avLst>
              <a:gd name="adj" fmla="val 50000"/>
            </a:avLst>
          </a:prstGeom>
          <a:solidFill>
            <a:srgbClr val="E3F2FB"/>
          </a:solidFill>
          <a:ln/>
        </p:spPr>
      </p:sp>
      <p:sp>
        <p:nvSpPr>
          <p:cNvPr id="32" name="text 20.31"/>
          <p:cNvSpPr txBox="1"/>
          <p:nvPr/>
        </p:nvSpPr>
        <p:spPr>
          <a:xfrm>
            <a:off x="787380" y="4254394"/>
            <a:ext cx="660383" cy="1904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1FA9EA"/>
                </a:solidFill>
                <a:latin typeface="Arial" pitchFamily="34" charset="0"/>
                <a:ea typeface="Arial" pitchFamily="34" charset="-122"/>
                <a:cs typeface="Arial" pitchFamily="34" charset="-120"/>
              </a:rPr>
              <a:t>RISK 01</a:t>
            </a:r>
            <a:endParaRPr lang="en-US" sz="650" dirty="0"/>
          </a:p>
        </p:txBody>
      </p:sp>
      <p:sp>
        <p:nvSpPr>
          <p:cNvPr id="33" name="text 20.32"/>
          <p:cNvSpPr txBox="1"/>
          <p:nvPr/>
        </p:nvSpPr>
        <p:spPr>
          <a:xfrm>
            <a:off x="1549361" y="4254394"/>
            <a:ext cx="1928570" cy="190495"/>
          </a:xfrm>
          <a:prstGeom prst="rect">
            <a:avLst/>
          </a:prstGeom>
          <a:noFill/>
          <a:ln/>
        </p:spPr>
        <p:txBody>
          <a:bodyPr wrap="square" lIns="0" tIns="0" rIns="0" bIns="0" rtlCol="0" anchor="t"/>
          <a:lstStyle/>
          <a:p>
            <a:pPr algn="l" indent="0" marL="0">
              <a:lnSpc>
                <a:spcPts val="1500"/>
              </a:lnSpc>
              <a:buNone/>
            </a:pPr>
            <a:r>
              <a:rPr lang="en-US" sz="1500" dirty="0">
                <a:solidFill>
                  <a:srgbClr val="1FA9EA"/>
                </a:solidFill>
                <a:latin typeface="Arial Rounded MT Bold" pitchFamily="34" charset="0"/>
                <a:ea typeface="Arial Rounded MT Bold" pitchFamily="34" charset="-122"/>
                <a:cs typeface="Arial Rounded MT Bold" pitchFamily="34" charset="-120"/>
              </a:rPr>
              <a:t>Networked physics</a:t>
            </a:r>
            <a:endParaRPr lang="en-US" sz="1500" dirty="0"/>
          </a:p>
        </p:txBody>
      </p:sp>
      <p:sp>
        <p:nvSpPr>
          <p:cNvPr id="34" name="text 20.33"/>
          <p:cNvSpPr txBox="1"/>
          <p:nvPr/>
        </p:nvSpPr>
        <p:spPr>
          <a:xfrm>
            <a:off x="787380" y="4584585"/>
            <a:ext cx="3238419" cy="171446"/>
          </a:xfrm>
          <a:prstGeom prst="rect">
            <a:avLst/>
          </a:prstGeom>
          <a:noFill/>
          <a:ln/>
        </p:spPr>
        <p:txBody>
          <a:bodyPr wrap="square" lIns="0" tIns="0" rIns="0" bIns="0" rtlCol="0" anchor="t"/>
          <a:lstStyle/>
          <a:p>
            <a:pPr algn="l" indent="0" marL="0">
              <a:lnSpc>
                <a:spcPts val="1350"/>
              </a:lnSpc>
              <a:buNone/>
            </a:pPr>
            <a:r>
              <a:rPr lang="en-US" sz="1000" b="1" dirty="0">
                <a:solidFill>
                  <a:srgbClr val="1B2340"/>
                </a:solidFill>
                <a:latin typeface="Arial" pitchFamily="34" charset="0"/>
                <a:ea typeface="Arial" pitchFamily="34" charset="-122"/>
                <a:cs typeface="Arial" pitchFamily="34" charset="-120"/>
              </a:rPr>
              <a:t>Clients disagree on a push or a fall.</a:t>
            </a:r>
            <a:endParaRPr lang="en-US" sz="1000" dirty="0"/>
          </a:p>
        </p:txBody>
      </p:sp>
      <p:sp>
        <p:nvSpPr>
          <p:cNvPr id="35" name="text 20.34"/>
          <p:cNvSpPr txBox="1"/>
          <p:nvPr/>
        </p:nvSpPr>
        <p:spPr>
          <a:xfrm>
            <a:off x="787380" y="4940176"/>
            <a:ext cx="3238419" cy="350432"/>
          </a:xfrm>
          <a:prstGeom prst="rect">
            <a:avLst/>
          </a:prstGeom>
          <a:noFill/>
          <a:ln/>
        </p:spPr>
        <p:txBody>
          <a:bodyPr wrap="square" lIns="0" tIns="0" rIns="0" bIns="0" rtlCol="0" anchor="t"/>
          <a:lstStyle/>
          <a:p>
            <a:pPr algn="l" indent="0" marL="0">
              <a:lnSpc>
                <a:spcPts val="1380"/>
              </a:lnSpc>
              <a:buNone/>
            </a:pPr>
            <a:r>
              <a:rPr lang="en-US" sz="1000" b="1" dirty="0">
                <a:solidFill>
                  <a:srgbClr val="1FA9EA"/>
                </a:solidFill>
                <a:latin typeface="Arial" pitchFamily="34" charset="0"/>
                <a:ea typeface="Arial" pitchFamily="34" charset="-122"/>
                <a:cs typeface="Arial" pitchFamily="34" charset="-120"/>
              </a:rPr>
              <a:t>Plan:</a:t>
            </a:r>
            <a:pPr algn="l" indent="0" marL="0">
              <a:lnSpc>
                <a:spcPts val="1380"/>
              </a:lnSpc>
              <a:buNone/>
            </a:pPr>
            <a:r>
              <a:rPr lang="en-US" sz="1000" dirty="0">
                <a:solidFill>
                  <a:srgbClr val="3E475E"/>
                </a:solidFill>
                <a:latin typeface="Arial" pitchFamily="34" charset="0"/>
                <a:ea typeface="Arial" pitchFamily="34" charset="-122"/>
                <a:cs typeface="Arial" pitchFamily="34" charset="-120"/>
              </a:rPr>
              <a:t> The host simulates; clients only render and interpolate.</a:t>
            </a:r>
            <a:endParaRPr lang="en-US" sz="1000" dirty="0"/>
          </a:p>
        </p:txBody>
      </p:sp>
      <p:sp>
        <p:nvSpPr>
          <p:cNvPr id="36" name="shape 20.35"/>
          <p:cNvSpPr/>
          <p:nvPr/>
        </p:nvSpPr>
        <p:spPr>
          <a:xfrm>
            <a:off x="4495688" y="4254394"/>
            <a:ext cx="660383" cy="190495"/>
          </a:xfrm>
          <a:prstGeom prst="roundRect">
            <a:avLst>
              <a:gd name="adj" fmla="val 50000"/>
            </a:avLst>
          </a:prstGeom>
          <a:solidFill>
            <a:srgbClr val="FFF0E6"/>
          </a:solidFill>
          <a:ln/>
        </p:spPr>
      </p:sp>
      <p:sp>
        <p:nvSpPr>
          <p:cNvPr id="37" name="text 20.36"/>
          <p:cNvSpPr txBox="1"/>
          <p:nvPr/>
        </p:nvSpPr>
        <p:spPr>
          <a:xfrm>
            <a:off x="4495688" y="4254394"/>
            <a:ext cx="660383" cy="1904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6B1F"/>
                </a:solidFill>
                <a:latin typeface="Arial" pitchFamily="34" charset="0"/>
                <a:ea typeface="Arial" pitchFamily="34" charset="-122"/>
                <a:cs typeface="Arial" pitchFamily="34" charset="-120"/>
              </a:rPr>
              <a:t>RISK 02</a:t>
            </a:r>
            <a:endParaRPr lang="en-US" sz="650" dirty="0"/>
          </a:p>
        </p:txBody>
      </p:sp>
      <p:sp>
        <p:nvSpPr>
          <p:cNvPr id="38" name="text 20.37"/>
          <p:cNvSpPr txBox="1"/>
          <p:nvPr/>
        </p:nvSpPr>
        <p:spPr>
          <a:xfrm>
            <a:off x="5257669" y="4254394"/>
            <a:ext cx="865414" cy="190495"/>
          </a:xfrm>
          <a:prstGeom prst="rect">
            <a:avLst/>
          </a:prstGeom>
          <a:noFill/>
          <a:ln/>
        </p:spPr>
        <p:txBody>
          <a:bodyPr wrap="square" lIns="0" tIns="0" rIns="0" bIns="0" rtlCol="0" anchor="t"/>
          <a:lstStyle/>
          <a:p>
            <a:pPr algn="l" indent="0" marL="0">
              <a:lnSpc>
                <a:spcPts val="1500"/>
              </a:lnSpc>
              <a:buNone/>
            </a:pPr>
            <a:r>
              <a:rPr lang="en-US" sz="1500" dirty="0">
                <a:solidFill>
                  <a:srgbClr val="FF6B1F"/>
                </a:solidFill>
                <a:latin typeface="Arial Rounded MT Bold" pitchFamily="34" charset="0"/>
                <a:ea typeface="Arial Rounded MT Bold" pitchFamily="34" charset="-122"/>
                <a:cs typeface="Arial Rounded MT Bold" pitchFamily="34" charset="-120"/>
              </a:rPr>
              <a:t>Balance</a:t>
            </a:r>
            <a:endParaRPr lang="en-US" sz="1500" dirty="0"/>
          </a:p>
        </p:txBody>
      </p:sp>
      <p:sp>
        <p:nvSpPr>
          <p:cNvPr id="39" name="text 20.38"/>
          <p:cNvSpPr txBox="1"/>
          <p:nvPr/>
        </p:nvSpPr>
        <p:spPr>
          <a:xfrm>
            <a:off x="4495688" y="4584585"/>
            <a:ext cx="3238419" cy="171446"/>
          </a:xfrm>
          <a:prstGeom prst="rect">
            <a:avLst/>
          </a:prstGeom>
          <a:noFill/>
          <a:ln/>
        </p:spPr>
        <p:txBody>
          <a:bodyPr wrap="square" lIns="0" tIns="0" rIns="0" bIns="0" rtlCol="0" anchor="t"/>
          <a:lstStyle/>
          <a:p>
            <a:pPr algn="l" indent="0" marL="0">
              <a:lnSpc>
                <a:spcPts val="1350"/>
              </a:lnSpc>
              <a:buNone/>
            </a:pPr>
            <a:r>
              <a:rPr lang="en-US" sz="1000" b="1" dirty="0">
                <a:solidFill>
                  <a:srgbClr val="1B2340"/>
                </a:solidFill>
                <a:latin typeface="Arial" pitchFamily="34" charset="0"/>
                <a:ea typeface="Arial" pitchFamily="34" charset="-122"/>
                <a:cs typeface="Arial" pitchFamily="34" charset="-120"/>
              </a:rPr>
              <a:t>Hits too easy, or mass loss snowballing.</a:t>
            </a:r>
            <a:endParaRPr lang="en-US" sz="1000" dirty="0"/>
          </a:p>
        </p:txBody>
      </p:sp>
      <p:sp>
        <p:nvSpPr>
          <p:cNvPr id="40" name="text 20.39"/>
          <p:cNvSpPr txBox="1"/>
          <p:nvPr/>
        </p:nvSpPr>
        <p:spPr>
          <a:xfrm>
            <a:off x="4495688" y="4940176"/>
            <a:ext cx="3238419" cy="175256"/>
          </a:xfrm>
          <a:prstGeom prst="rect">
            <a:avLst/>
          </a:prstGeom>
          <a:noFill/>
          <a:ln/>
        </p:spPr>
        <p:txBody>
          <a:bodyPr wrap="square" lIns="0" tIns="0" rIns="0" bIns="0" rtlCol="0" anchor="t"/>
          <a:lstStyle/>
          <a:p>
            <a:pPr algn="l" indent="0" marL="0">
              <a:lnSpc>
                <a:spcPts val="1380"/>
              </a:lnSpc>
              <a:buNone/>
            </a:pPr>
            <a:r>
              <a:rPr lang="en-US" sz="1000" b="1" dirty="0">
                <a:solidFill>
                  <a:srgbClr val="FF6B1F"/>
                </a:solidFill>
                <a:latin typeface="Arial" pitchFamily="34" charset="0"/>
                <a:ea typeface="Arial" pitchFamily="34" charset="-122"/>
                <a:cs typeface="Arial" pitchFamily="34" charset="-120"/>
              </a:rPr>
              <a:t>Plan:</a:t>
            </a:r>
            <a:pPr algn="l" indent="0" marL="0">
              <a:lnSpc>
                <a:spcPts val="1380"/>
              </a:lnSpc>
              <a:buNone/>
            </a:pPr>
            <a:r>
              <a:rPr lang="en-US" sz="1000" dirty="0">
                <a:solidFill>
                  <a:srgbClr val="3E475E"/>
                </a:solidFill>
                <a:latin typeface="Arial" pitchFamily="34" charset="0"/>
                <a:ea typeface="Arial" pitchFamily="34" charset="-122"/>
                <a:cs typeface="Arial" pitchFamily="34" charset="-120"/>
              </a:rPr>
              <a:t> Fire-rate limits; gravity shots if needed.</a:t>
            </a:r>
            <a:endParaRPr lang="en-US" sz="1000" dirty="0"/>
          </a:p>
        </p:txBody>
      </p:sp>
      <p:sp>
        <p:nvSpPr>
          <p:cNvPr id="41" name="shape 20.40"/>
          <p:cNvSpPr/>
          <p:nvPr/>
        </p:nvSpPr>
        <p:spPr>
          <a:xfrm>
            <a:off x="8203995" y="4254394"/>
            <a:ext cx="660383" cy="190495"/>
          </a:xfrm>
          <a:prstGeom prst="roundRect">
            <a:avLst>
              <a:gd name="adj" fmla="val 50000"/>
            </a:avLst>
          </a:prstGeom>
          <a:solidFill>
            <a:srgbClr val="F1E9FF"/>
          </a:solidFill>
          <a:ln/>
        </p:spPr>
      </p:sp>
      <p:sp>
        <p:nvSpPr>
          <p:cNvPr id="42" name="text 20.41"/>
          <p:cNvSpPr txBox="1"/>
          <p:nvPr/>
        </p:nvSpPr>
        <p:spPr>
          <a:xfrm>
            <a:off x="8203995" y="4254394"/>
            <a:ext cx="660383" cy="1904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8F55F5"/>
                </a:solidFill>
                <a:latin typeface="Arial" pitchFamily="34" charset="0"/>
                <a:ea typeface="Arial" pitchFamily="34" charset="-122"/>
                <a:cs typeface="Arial" pitchFamily="34" charset="-120"/>
              </a:rPr>
              <a:t>RISK 03</a:t>
            </a:r>
            <a:endParaRPr lang="en-US" sz="650" dirty="0"/>
          </a:p>
        </p:txBody>
      </p:sp>
      <p:sp>
        <p:nvSpPr>
          <p:cNvPr id="43" name="text 20.42"/>
          <p:cNvSpPr txBox="1"/>
          <p:nvPr/>
        </p:nvSpPr>
        <p:spPr>
          <a:xfrm>
            <a:off x="8965976" y="4254394"/>
            <a:ext cx="686416" cy="190495"/>
          </a:xfrm>
          <a:prstGeom prst="rect">
            <a:avLst/>
          </a:prstGeom>
          <a:noFill/>
          <a:ln/>
        </p:spPr>
        <p:txBody>
          <a:bodyPr wrap="square" lIns="0" tIns="0" rIns="0" bIns="0" rtlCol="0" anchor="t"/>
          <a:lstStyle/>
          <a:p>
            <a:pPr algn="l" indent="0" marL="0">
              <a:lnSpc>
                <a:spcPts val="1500"/>
              </a:lnSpc>
              <a:buNone/>
            </a:pPr>
            <a:r>
              <a:rPr lang="en-US" sz="1500" dirty="0">
                <a:solidFill>
                  <a:srgbClr val="8F55F5"/>
                </a:solidFill>
                <a:latin typeface="Arial Rounded MT Bold" pitchFamily="34" charset="0"/>
                <a:ea typeface="Arial Rounded MT Bold" pitchFamily="34" charset="-122"/>
                <a:cs typeface="Arial Rounded MT Bold" pitchFamily="34" charset="-120"/>
              </a:rPr>
              <a:t>Scope</a:t>
            </a:r>
            <a:endParaRPr lang="en-US" sz="1500" dirty="0"/>
          </a:p>
        </p:txBody>
      </p:sp>
      <p:sp>
        <p:nvSpPr>
          <p:cNvPr id="44" name="text 20.43"/>
          <p:cNvSpPr txBox="1"/>
          <p:nvPr/>
        </p:nvSpPr>
        <p:spPr>
          <a:xfrm>
            <a:off x="8203995" y="4584585"/>
            <a:ext cx="3238419" cy="171446"/>
          </a:xfrm>
          <a:prstGeom prst="rect">
            <a:avLst/>
          </a:prstGeom>
          <a:noFill/>
          <a:ln/>
        </p:spPr>
        <p:txBody>
          <a:bodyPr wrap="square" lIns="0" tIns="0" rIns="0" bIns="0" rtlCol="0" anchor="t"/>
          <a:lstStyle/>
          <a:p>
            <a:pPr algn="l" indent="0" marL="0">
              <a:lnSpc>
                <a:spcPts val="1350"/>
              </a:lnSpc>
              <a:buNone/>
            </a:pPr>
            <a:r>
              <a:rPr lang="en-US" sz="1000" b="1" dirty="0">
                <a:solidFill>
                  <a:srgbClr val="1B2340"/>
                </a:solidFill>
                <a:latin typeface="Arial" pitchFamily="34" charset="0"/>
                <a:ea typeface="Arial" pitchFamily="34" charset="-122"/>
                <a:cs typeface="Arial" pitchFamily="34" charset="-120"/>
              </a:rPr>
              <a:t>More mini-game ideas than one term allows.</a:t>
            </a:r>
            <a:endParaRPr lang="en-US" sz="1000" dirty="0"/>
          </a:p>
        </p:txBody>
      </p:sp>
      <p:sp>
        <p:nvSpPr>
          <p:cNvPr id="45" name="text 20.44"/>
          <p:cNvSpPr txBox="1"/>
          <p:nvPr/>
        </p:nvSpPr>
        <p:spPr>
          <a:xfrm>
            <a:off x="8203995" y="4940176"/>
            <a:ext cx="3238419" cy="350432"/>
          </a:xfrm>
          <a:prstGeom prst="rect">
            <a:avLst/>
          </a:prstGeom>
          <a:noFill/>
          <a:ln/>
        </p:spPr>
        <p:txBody>
          <a:bodyPr wrap="square" lIns="0" tIns="0" rIns="0" bIns="0" rtlCol="0" anchor="t"/>
          <a:lstStyle/>
          <a:p>
            <a:pPr algn="l" indent="0" marL="0">
              <a:lnSpc>
                <a:spcPts val="1380"/>
              </a:lnSpc>
              <a:buNone/>
            </a:pPr>
            <a:r>
              <a:rPr lang="en-US" sz="1000" b="1" dirty="0">
                <a:solidFill>
                  <a:srgbClr val="8F55F5"/>
                </a:solidFill>
                <a:latin typeface="Arial" pitchFamily="34" charset="0"/>
                <a:ea typeface="Arial" pitchFamily="34" charset="-122"/>
                <a:cs typeface="Arial" pitchFamily="34" charset="-120"/>
              </a:rPr>
              <a:t>Plan:</a:t>
            </a:r>
            <a:pPr algn="l" indent="0" marL="0">
              <a:lnSpc>
                <a:spcPts val="1380"/>
              </a:lnSpc>
              <a:buNone/>
            </a:pPr>
            <a:r>
              <a:rPr lang="en-US" sz="1000" dirty="0">
                <a:solidFill>
                  <a:srgbClr val="3E475E"/>
                </a:solidFill>
                <a:latin typeface="Arial" pitchFamily="34" charset="0"/>
                <a:ea typeface="Arial" pitchFamily="34" charset="-122"/>
                <a:cs typeface="Arial" pitchFamily="34" charset="-120"/>
              </a:rPr>
              <a:t> The core first; mini-games in priority order; extras only once the MVP is fun.</a:t>
            </a:r>
            <a:endParaRPr lang="en-US" sz="1000" dirty="0"/>
          </a:p>
        </p:txBody>
      </p:sp>
      <p:sp>
        <p:nvSpPr>
          <p:cNvPr id="46" name="text 20.45"/>
          <p:cNvSpPr txBox="1"/>
          <p:nvPr/>
        </p:nvSpPr>
        <p:spPr>
          <a:xfrm>
            <a:off x="609585" y="5879953"/>
            <a:ext cx="1217521"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B2340"/>
                </a:solidFill>
                <a:latin typeface="Arial" pitchFamily="34" charset="0"/>
                <a:ea typeface="Arial" pitchFamily="34" charset="-122"/>
                <a:cs typeface="Arial" pitchFamily="34" charset="-120"/>
              </a:rPr>
              <a:t>PROPOSED OWNERS</a:t>
            </a:r>
            <a:endParaRPr lang="en-US" sz="700" dirty="0"/>
          </a:p>
        </p:txBody>
      </p:sp>
      <p:sp>
        <p:nvSpPr>
          <p:cNvPr id="47" name="shape 20.46"/>
          <p:cNvSpPr/>
          <p:nvPr/>
        </p:nvSpPr>
        <p:spPr>
          <a:xfrm>
            <a:off x="2095448" y="5803755"/>
            <a:ext cx="241294" cy="241294"/>
          </a:xfrm>
          <a:prstGeom prst="roundRect">
            <a:avLst>
              <a:gd name="adj" fmla="val 28947"/>
            </a:avLst>
          </a:prstGeom>
          <a:solidFill>
            <a:srgbClr val="FF6B1F"/>
          </a:solidFill>
          <a:ln/>
        </p:spPr>
      </p:sp>
      <p:sp>
        <p:nvSpPr>
          <p:cNvPr id="48" name="text 20.47"/>
          <p:cNvSpPr txBox="1"/>
          <p:nvPr/>
        </p:nvSpPr>
        <p:spPr>
          <a:xfrm>
            <a:off x="2412940" y="5797405"/>
            <a:ext cx="332942"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Ezel</a:t>
            </a:r>
            <a:endParaRPr lang="en-US" sz="1000" dirty="0"/>
          </a:p>
        </p:txBody>
      </p:sp>
      <p:sp>
        <p:nvSpPr>
          <p:cNvPr id="49" name="text 20.48"/>
          <p:cNvSpPr txBox="1"/>
          <p:nvPr/>
        </p:nvSpPr>
        <p:spPr>
          <a:xfrm>
            <a:off x="2412940" y="5949801"/>
            <a:ext cx="745836"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Network, build</a:t>
            </a:r>
            <a:endParaRPr lang="en-US" sz="800" dirty="0"/>
          </a:p>
        </p:txBody>
      </p:sp>
      <p:sp>
        <p:nvSpPr>
          <p:cNvPr id="50" name="shape 20.49"/>
          <p:cNvSpPr/>
          <p:nvPr/>
        </p:nvSpPr>
        <p:spPr>
          <a:xfrm>
            <a:off x="4000400" y="5803755"/>
            <a:ext cx="241294" cy="241294"/>
          </a:xfrm>
          <a:prstGeom prst="roundRect">
            <a:avLst>
              <a:gd name="adj" fmla="val 28947"/>
            </a:avLst>
          </a:prstGeom>
          <a:solidFill>
            <a:srgbClr val="1FA9EA"/>
          </a:solidFill>
          <a:ln/>
        </p:spPr>
      </p:sp>
      <p:sp>
        <p:nvSpPr>
          <p:cNvPr id="51" name="text 20.50"/>
          <p:cNvSpPr txBox="1"/>
          <p:nvPr/>
        </p:nvSpPr>
        <p:spPr>
          <a:xfrm>
            <a:off x="4317892" y="5797405"/>
            <a:ext cx="826396"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Abdurrahim</a:t>
            </a:r>
            <a:endParaRPr lang="en-US" sz="1000" dirty="0"/>
          </a:p>
        </p:txBody>
      </p:sp>
      <p:sp>
        <p:nvSpPr>
          <p:cNvPr id="52" name="text 20.51"/>
          <p:cNvSpPr txBox="1"/>
          <p:nvPr/>
        </p:nvSpPr>
        <p:spPr>
          <a:xfrm>
            <a:off x="4317892" y="5949801"/>
            <a:ext cx="1164831"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Shots, mini-game rules</a:t>
            </a:r>
            <a:endParaRPr lang="en-US" sz="800" dirty="0"/>
          </a:p>
        </p:txBody>
      </p:sp>
      <p:sp>
        <p:nvSpPr>
          <p:cNvPr id="53" name="shape 20.52"/>
          <p:cNvSpPr/>
          <p:nvPr/>
        </p:nvSpPr>
        <p:spPr>
          <a:xfrm>
            <a:off x="5905352" y="5803755"/>
            <a:ext cx="241294" cy="241294"/>
          </a:xfrm>
          <a:prstGeom prst="roundRect">
            <a:avLst>
              <a:gd name="adj" fmla="val 28947"/>
            </a:avLst>
          </a:prstGeom>
          <a:solidFill>
            <a:srgbClr val="43B832"/>
          </a:solidFill>
          <a:ln/>
        </p:spPr>
      </p:sp>
      <p:sp>
        <p:nvSpPr>
          <p:cNvPr id="54" name="text 20.53"/>
          <p:cNvSpPr txBox="1"/>
          <p:nvPr/>
        </p:nvSpPr>
        <p:spPr>
          <a:xfrm>
            <a:off x="6222844" y="5797405"/>
            <a:ext cx="489960"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Kürşat</a:t>
            </a:r>
            <a:endParaRPr lang="en-US" sz="1000" dirty="0"/>
          </a:p>
        </p:txBody>
      </p:sp>
      <p:sp>
        <p:nvSpPr>
          <p:cNvPr id="55" name="text 20.54"/>
          <p:cNvSpPr txBox="1"/>
          <p:nvPr/>
        </p:nvSpPr>
        <p:spPr>
          <a:xfrm>
            <a:off x="6222844" y="5949801"/>
            <a:ext cx="901487"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Movement, levels</a:t>
            </a:r>
            <a:endParaRPr lang="en-US" sz="800" dirty="0"/>
          </a:p>
        </p:txBody>
      </p:sp>
      <p:sp>
        <p:nvSpPr>
          <p:cNvPr id="56" name="shape 20.55"/>
          <p:cNvSpPr/>
          <p:nvPr/>
        </p:nvSpPr>
        <p:spPr>
          <a:xfrm>
            <a:off x="7810305" y="5803755"/>
            <a:ext cx="241294" cy="241294"/>
          </a:xfrm>
          <a:prstGeom prst="roundRect">
            <a:avLst>
              <a:gd name="adj" fmla="val 28947"/>
            </a:avLst>
          </a:prstGeom>
          <a:solidFill>
            <a:srgbClr val="8F55F5"/>
          </a:solidFill>
          <a:ln/>
        </p:spPr>
      </p:sp>
      <p:sp>
        <p:nvSpPr>
          <p:cNvPr id="57" name="text 20.56"/>
          <p:cNvSpPr txBox="1"/>
          <p:nvPr/>
        </p:nvSpPr>
        <p:spPr>
          <a:xfrm>
            <a:off x="8127797" y="5797405"/>
            <a:ext cx="370172"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Ardıl</a:t>
            </a:r>
            <a:endParaRPr lang="en-US" sz="1000" dirty="0"/>
          </a:p>
        </p:txBody>
      </p:sp>
      <p:sp>
        <p:nvSpPr>
          <p:cNvPr id="58" name="text 20.57"/>
          <p:cNvSpPr txBox="1"/>
          <p:nvPr/>
        </p:nvSpPr>
        <p:spPr>
          <a:xfrm>
            <a:off x="8127797" y="5949801"/>
            <a:ext cx="793688"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Art, UI, session</a:t>
            </a:r>
            <a:endParaRPr lang="en-US" sz="800" dirty="0"/>
          </a:p>
        </p:txBody>
      </p:sp>
      <p:sp>
        <p:nvSpPr>
          <p:cNvPr id="59" name="shape 20.58"/>
          <p:cNvSpPr/>
          <p:nvPr/>
        </p:nvSpPr>
        <p:spPr>
          <a:xfrm>
            <a:off x="9715257" y="5803755"/>
            <a:ext cx="241294" cy="241294"/>
          </a:xfrm>
          <a:prstGeom prst="roundRect">
            <a:avLst>
              <a:gd name="adj" fmla="val 28947"/>
            </a:avLst>
          </a:prstGeom>
          <a:solidFill>
            <a:srgbClr val="1B2340"/>
          </a:solidFill>
          <a:ln/>
        </p:spPr>
      </p:sp>
      <p:sp>
        <p:nvSpPr>
          <p:cNvPr id="60" name="text 20.59"/>
          <p:cNvSpPr txBox="1"/>
          <p:nvPr/>
        </p:nvSpPr>
        <p:spPr>
          <a:xfrm>
            <a:off x="10032749" y="5797405"/>
            <a:ext cx="405193"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Team</a:t>
            </a:r>
            <a:endParaRPr lang="en-US" sz="1000" dirty="0"/>
          </a:p>
        </p:txBody>
      </p:sp>
      <p:sp>
        <p:nvSpPr>
          <p:cNvPr id="61" name="text 20.60"/>
          <p:cNvSpPr txBox="1"/>
          <p:nvPr/>
        </p:nvSpPr>
        <p:spPr>
          <a:xfrm>
            <a:off x="10032749" y="5949801"/>
            <a:ext cx="692095"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Shared tasks</a:t>
            </a:r>
            <a:endParaRPr lang="en-US" sz="800" dirty="0"/>
          </a:p>
        </p:txBody>
      </p:sp>
      <p:pic>
        <p:nvPicPr>
          <p:cNvPr id="62" name="raster 20.61" descr="diagram">    </p:cNvPr>
          <p:cNvPicPr>
            <a:picLocks noChangeAspect="1"/>
          </p:cNvPicPr>
          <p:nvPr/>
        </p:nvPicPr>
        <p:blipFill>
          <a:blip r:embed="rId3"/>
          <a:stretch>
            <a:fillRect/>
          </a:stretch>
        </p:blipFill>
        <p:spPr>
          <a:xfrm>
            <a:off x="609585" y="266693"/>
            <a:ext cx="190495" cy="190495"/>
          </a:xfrm>
          <a:prstGeom prst="rect">
            <a:avLst/>
          </a:prstGeom>
        </p:spPr>
      </p:pic>
      <p:sp>
        <p:nvSpPr>
          <p:cNvPr id="63" name="text 20.62"/>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64" name="text 20.63"/>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65" name="text 20.64"/>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66" name="text 20.65"/>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20 / 25</a:t>
            </a:r>
            <a:endParaRPr lang="en-US" sz="750" dirty="0"/>
          </a:p>
        </p:txBody>
      </p:sp>
      <p:sp>
        <p:nvSpPr>
          <p:cNvPr id="67" name="text 20.66"/>
          <p:cNvSpPr txBox="1"/>
          <p:nvPr/>
        </p:nvSpPr>
        <p:spPr>
          <a:xfrm>
            <a:off x="609585" y="698483"/>
            <a:ext cx="1843172"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1FA9EA"/>
                </a:solidFill>
                <a:latin typeface="Arial" pitchFamily="34" charset="0"/>
                <a:ea typeface="Arial" pitchFamily="34" charset="-122"/>
                <a:cs typeface="Arial" pitchFamily="34" charset="-120"/>
              </a:rPr>
              <a:t>06 · DEVELOPMENT PLAN</a:t>
            </a:r>
            <a:endParaRPr lang="en-US" sz="8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1.1"/>
          <p:cNvSpPr/>
          <p:nvPr/>
        </p:nvSpPr>
        <p:spPr>
          <a:xfrm>
            <a:off x="609585" y="1460463"/>
            <a:ext cx="10972526" cy="4724282"/>
          </a:xfrm>
          <a:prstGeom prst="roundRect">
            <a:avLst>
              <a:gd name="adj" fmla="val 3226"/>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21.2"/>
          <p:cNvSpPr/>
          <p:nvPr/>
        </p:nvSpPr>
        <p:spPr>
          <a:xfrm>
            <a:off x="698483" y="2260543"/>
            <a:ext cx="10794730" cy="279393"/>
          </a:xfrm>
          <a:prstGeom prst="roundRect">
            <a:avLst>
              <a:gd name="adj" fmla="val 31818"/>
            </a:avLst>
          </a:prstGeom>
          <a:solidFill>
            <a:srgbClr val="F1F5EA"/>
          </a:solidFill>
          <a:ln/>
        </p:spPr>
      </p:sp>
      <p:pic>
        <p:nvPicPr>
          <p:cNvPr id="4" name="raster 21.3" descr="diagram">    </p:cNvPr>
          <p:cNvPicPr>
            <a:picLocks noChangeAspect="1"/>
          </p:cNvPicPr>
          <p:nvPr/>
        </p:nvPicPr>
        <p:blipFill>
          <a:blip r:embed="rId2"/>
          <a:stretch>
            <a:fillRect/>
          </a:stretch>
        </p:blipFill>
        <p:spPr>
          <a:xfrm>
            <a:off x="6311742" y="2501837"/>
            <a:ext cx="5168771" cy="3619410"/>
          </a:xfrm>
          <a:prstGeom prst="rect">
            <a:avLst/>
          </a:prstGeom>
        </p:spPr>
      </p:pic>
      <p:sp>
        <p:nvSpPr>
          <p:cNvPr id="5" name="shape 21.4"/>
          <p:cNvSpPr/>
          <p:nvPr/>
        </p:nvSpPr>
        <p:spPr>
          <a:xfrm>
            <a:off x="761981" y="2882828"/>
            <a:ext cx="5524362" cy="9525"/>
          </a:xfrm>
          <a:prstGeom prst="rect">
            <a:avLst/>
          </a:prstGeom>
          <a:solidFill>
            <a:srgbClr val="EEF1EA"/>
          </a:solidFill>
          <a:ln/>
        </p:spPr>
      </p:sp>
      <p:sp>
        <p:nvSpPr>
          <p:cNvPr id="6" name="shape 21.5"/>
          <p:cNvSpPr/>
          <p:nvPr/>
        </p:nvSpPr>
        <p:spPr>
          <a:xfrm>
            <a:off x="761981" y="3200320"/>
            <a:ext cx="5524362" cy="9525"/>
          </a:xfrm>
          <a:prstGeom prst="rect">
            <a:avLst/>
          </a:prstGeom>
          <a:solidFill>
            <a:srgbClr val="EEF1EA"/>
          </a:solidFill>
          <a:ln/>
        </p:spPr>
      </p:sp>
      <p:sp>
        <p:nvSpPr>
          <p:cNvPr id="7" name="shape 21.6"/>
          <p:cNvSpPr/>
          <p:nvPr/>
        </p:nvSpPr>
        <p:spPr>
          <a:xfrm>
            <a:off x="761981" y="3517812"/>
            <a:ext cx="5524362" cy="9525"/>
          </a:xfrm>
          <a:prstGeom prst="rect">
            <a:avLst/>
          </a:prstGeom>
          <a:solidFill>
            <a:srgbClr val="EEF1EA"/>
          </a:solidFill>
          <a:ln/>
        </p:spPr>
      </p:sp>
      <p:sp>
        <p:nvSpPr>
          <p:cNvPr id="8" name="shape 21.7"/>
          <p:cNvSpPr/>
          <p:nvPr/>
        </p:nvSpPr>
        <p:spPr>
          <a:xfrm>
            <a:off x="761981" y="3835304"/>
            <a:ext cx="5524362" cy="9525"/>
          </a:xfrm>
          <a:prstGeom prst="rect">
            <a:avLst/>
          </a:prstGeom>
          <a:solidFill>
            <a:srgbClr val="EEF1EA"/>
          </a:solidFill>
          <a:ln/>
        </p:spPr>
      </p:sp>
      <p:sp>
        <p:nvSpPr>
          <p:cNvPr id="9" name="shape 21.8"/>
          <p:cNvSpPr/>
          <p:nvPr/>
        </p:nvSpPr>
        <p:spPr>
          <a:xfrm>
            <a:off x="761981" y="4152796"/>
            <a:ext cx="5524362" cy="9525"/>
          </a:xfrm>
          <a:prstGeom prst="rect">
            <a:avLst/>
          </a:prstGeom>
          <a:solidFill>
            <a:srgbClr val="EEF1EA"/>
          </a:solidFill>
          <a:ln/>
        </p:spPr>
      </p:sp>
      <p:sp>
        <p:nvSpPr>
          <p:cNvPr id="10" name="shape 21.9"/>
          <p:cNvSpPr/>
          <p:nvPr/>
        </p:nvSpPr>
        <p:spPr>
          <a:xfrm>
            <a:off x="761981" y="4470288"/>
            <a:ext cx="5524362" cy="9525"/>
          </a:xfrm>
          <a:prstGeom prst="rect">
            <a:avLst/>
          </a:prstGeom>
          <a:solidFill>
            <a:srgbClr val="EEF1EA"/>
          </a:solidFill>
          <a:ln/>
        </p:spPr>
      </p:sp>
      <p:sp>
        <p:nvSpPr>
          <p:cNvPr id="11" name="shape 21.10"/>
          <p:cNvSpPr/>
          <p:nvPr/>
        </p:nvSpPr>
        <p:spPr>
          <a:xfrm>
            <a:off x="761981" y="4787780"/>
            <a:ext cx="5524362" cy="9525"/>
          </a:xfrm>
          <a:prstGeom prst="rect">
            <a:avLst/>
          </a:prstGeom>
          <a:solidFill>
            <a:srgbClr val="EEF1EA"/>
          </a:solidFill>
          <a:ln/>
        </p:spPr>
      </p:sp>
      <p:sp>
        <p:nvSpPr>
          <p:cNvPr id="12" name="shape 21.11"/>
          <p:cNvSpPr/>
          <p:nvPr/>
        </p:nvSpPr>
        <p:spPr>
          <a:xfrm>
            <a:off x="761981" y="5105272"/>
            <a:ext cx="5524362" cy="9525"/>
          </a:xfrm>
          <a:prstGeom prst="rect">
            <a:avLst/>
          </a:prstGeom>
          <a:solidFill>
            <a:srgbClr val="EEF1EA"/>
          </a:solidFill>
          <a:ln/>
        </p:spPr>
      </p:sp>
      <p:sp>
        <p:nvSpPr>
          <p:cNvPr id="13" name="shape 21.12"/>
          <p:cNvSpPr/>
          <p:nvPr/>
        </p:nvSpPr>
        <p:spPr>
          <a:xfrm>
            <a:off x="761981" y="5422764"/>
            <a:ext cx="5524362" cy="9525"/>
          </a:xfrm>
          <a:prstGeom prst="rect">
            <a:avLst/>
          </a:prstGeom>
          <a:solidFill>
            <a:srgbClr val="EEF1EA"/>
          </a:solidFill>
          <a:ln/>
        </p:spPr>
      </p:sp>
      <p:sp>
        <p:nvSpPr>
          <p:cNvPr id="14" name="shape 21.13"/>
          <p:cNvSpPr/>
          <p:nvPr/>
        </p:nvSpPr>
        <p:spPr>
          <a:xfrm>
            <a:off x="761981" y="5740256"/>
            <a:ext cx="5524362" cy="9525"/>
          </a:xfrm>
          <a:prstGeom prst="rect">
            <a:avLst/>
          </a:prstGeom>
          <a:solidFill>
            <a:srgbClr val="EEF1EA"/>
          </a:solidFill>
          <a:ln/>
        </p:spPr>
      </p:sp>
      <p:sp>
        <p:nvSpPr>
          <p:cNvPr id="15" name="text 21.14"/>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Gantt chart: </a:t>
            </a:r>
            <a:pPr algn="l" indent="0" marL="0">
              <a:lnSpc>
                <a:spcPts val="3300"/>
              </a:lnSpc>
              <a:buNone/>
            </a:pPr>
            <a:r>
              <a:rPr lang="en-US" sz="3000" dirty="0">
                <a:solidFill>
                  <a:srgbClr val="1FA9EA"/>
                </a:solidFill>
                <a:latin typeface="Arial Rounded MT Bold" pitchFamily="34" charset="0"/>
                <a:ea typeface="Arial Rounded MT Bold" pitchFamily="34" charset="-122"/>
                <a:cs typeface="Arial Rounded MT Bold" pitchFamily="34" charset="-120"/>
              </a:rPr>
              <a:t>demo 1</a:t>
            </a:r>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 · 16 Nov</a:t>
            </a:r>
            <a:endParaRPr lang="en-US" sz="3000" dirty="0"/>
          </a:p>
        </p:txBody>
      </p:sp>
      <p:sp>
        <p:nvSpPr>
          <p:cNvPr id="16" name="text 21.15"/>
          <p:cNvSpPr txBox="1"/>
          <p:nvPr/>
        </p:nvSpPr>
        <p:spPr>
          <a:xfrm>
            <a:off x="761981" y="1854154"/>
            <a:ext cx="45718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WBS</a:t>
            </a:r>
            <a:endParaRPr lang="en-US" sz="700" dirty="0"/>
          </a:p>
        </p:txBody>
      </p:sp>
      <p:sp>
        <p:nvSpPr>
          <p:cNvPr id="17" name="text 21.16"/>
          <p:cNvSpPr txBox="1"/>
          <p:nvPr/>
        </p:nvSpPr>
        <p:spPr>
          <a:xfrm>
            <a:off x="1244569" y="1854154"/>
            <a:ext cx="3149521"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TASK</a:t>
            </a:r>
            <a:endParaRPr lang="en-US" sz="700" dirty="0"/>
          </a:p>
        </p:txBody>
      </p:sp>
      <p:sp>
        <p:nvSpPr>
          <p:cNvPr id="18" name="text 21.17"/>
          <p:cNvSpPr txBox="1"/>
          <p:nvPr/>
        </p:nvSpPr>
        <p:spPr>
          <a:xfrm>
            <a:off x="4419490" y="1854154"/>
            <a:ext cx="1181070"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OWNER</a:t>
            </a:r>
            <a:endParaRPr lang="en-US" sz="700" dirty="0"/>
          </a:p>
        </p:txBody>
      </p:sp>
      <p:sp>
        <p:nvSpPr>
          <p:cNvPr id="19" name="text 21.18"/>
          <p:cNvSpPr txBox="1"/>
          <p:nvPr/>
        </p:nvSpPr>
        <p:spPr>
          <a:xfrm>
            <a:off x="5625959" y="1854154"/>
            <a:ext cx="673083"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DURATION</a:t>
            </a:r>
            <a:endParaRPr lang="en-US" sz="700" dirty="0"/>
          </a:p>
        </p:txBody>
      </p:sp>
      <p:sp>
        <p:nvSpPr>
          <p:cNvPr id="20" name="text 21.19"/>
          <p:cNvSpPr txBox="1"/>
          <p:nvPr/>
        </p:nvSpPr>
        <p:spPr>
          <a:xfrm>
            <a:off x="6362541" y="1600160"/>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19–23 Oct</a:t>
            </a:r>
            <a:endParaRPr lang="en-US" sz="900" dirty="0"/>
          </a:p>
        </p:txBody>
      </p:sp>
      <p:sp>
        <p:nvSpPr>
          <p:cNvPr id="21" name="shape 21.20"/>
          <p:cNvSpPr/>
          <p:nvPr/>
        </p:nvSpPr>
        <p:spPr>
          <a:xfrm>
            <a:off x="6387940" y="1790655"/>
            <a:ext cx="1215995" cy="203195"/>
          </a:xfrm>
          <a:prstGeom prst="roundRect">
            <a:avLst>
              <a:gd name="adj" fmla="val 50000"/>
            </a:avLst>
          </a:prstGeom>
          <a:solidFill>
            <a:srgbClr val="1FA9EA"/>
          </a:solidFill>
          <a:ln/>
        </p:spPr>
      </p:sp>
      <p:sp>
        <p:nvSpPr>
          <p:cNvPr id="22" name="text 21.21"/>
          <p:cNvSpPr txBox="1"/>
          <p:nvPr/>
        </p:nvSpPr>
        <p:spPr>
          <a:xfrm>
            <a:off x="6387940" y="1790655"/>
            <a:ext cx="1215995"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W1</a:t>
            </a:r>
            <a:endParaRPr lang="en-US" sz="800" dirty="0"/>
          </a:p>
        </p:txBody>
      </p:sp>
      <p:sp>
        <p:nvSpPr>
          <p:cNvPr id="23" name="text 21.22"/>
          <p:cNvSpPr txBox="1"/>
          <p:nvPr/>
        </p:nvSpPr>
        <p:spPr>
          <a:xfrm>
            <a:off x="6362541"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24" name="text 21.23"/>
          <p:cNvSpPr txBox="1"/>
          <p:nvPr/>
        </p:nvSpPr>
        <p:spPr>
          <a:xfrm>
            <a:off x="6615840"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25" name="text 21.24"/>
          <p:cNvSpPr txBox="1"/>
          <p:nvPr/>
        </p:nvSpPr>
        <p:spPr>
          <a:xfrm>
            <a:off x="6869238"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26" name="text 21.25"/>
          <p:cNvSpPr txBox="1"/>
          <p:nvPr/>
        </p:nvSpPr>
        <p:spPr>
          <a:xfrm>
            <a:off x="7122538"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27" name="text 21.26"/>
          <p:cNvSpPr txBox="1"/>
          <p:nvPr/>
        </p:nvSpPr>
        <p:spPr>
          <a:xfrm>
            <a:off x="7375936"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28" name="text 21.27"/>
          <p:cNvSpPr txBox="1"/>
          <p:nvPr/>
        </p:nvSpPr>
        <p:spPr>
          <a:xfrm>
            <a:off x="7629334" y="1600160"/>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26–30 Oct</a:t>
            </a:r>
            <a:endParaRPr lang="en-US" sz="900" dirty="0"/>
          </a:p>
        </p:txBody>
      </p:sp>
      <p:sp>
        <p:nvSpPr>
          <p:cNvPr id="29" name="shape 21.28"/>
          <p:cNvSpPr/>
          <p:nvPr/>
        </p:nvSpPr>
        <p:spPr>
          <a:xfrm>
            <a:off x="7654734" y="1790655"/>
            <a:ext cx="1215995" cy="203195"/>
          </a:xfrm>
          <a:prstGeom prst="roundRect">
            <a:avLst>
              <a:gd name="adj" fmla="val 50000"/>
            </a:avLst>
          </a:prstGeom>
          <a:solidFill>
            <a:srgbClr val="1FA9EA"/>
          </a:solidFill>
          <a:ln/>
        </p:spPr>
      </p:sp>
      <p:sp>
        <p:nvSpPr>
          <p:cNvPr id="30" name="text 21.29"/>
          <p:cNvSpPr txBox="1"/>
          <p:nvPr/>
        </p:nvSpPr>
        <p:spPr>
          <a:xfrm>
            <a:off x="7654734" y="1790655"/>
            <a:ext cx="1215995"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W2</a:t>
            </a:r>
            <a:endParaRPr lang="en-US" sz="800" dirty="0"/>
          </a:p>
        </p:txBody>
      </p:sp>
      <p:sp>
        <p:nvSpPr>
          <p:cNvPr id="31" name="text 21.30"/>
          <p:cNvSpPr txBox="1"/>
          <p:nvPr/>
        </p:nvSpPr>
        <p:spPr>
          <a:xfrm>
            <a:off x="7629334"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32" name="text 21.31"/>
          <p:cNvSpPr txBox="1"/>
          <p:nvPr/>
        </p:nvSpPr>
        <p:spPr>
          <a:xfrm>
            <a:off x="7882633"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33" name="text 21.32"/>
          <p:cNvSpPr txBox="1"/>
          <p:nvPr/>
        </p:nvSpPr>
        <p:spPr>
          <a:xfrm>
            <a:off x="8136032"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34" name="text 21.33"/>
          <p:cNvSpPr txBox="1"/>
          <p:nvPr/>
        </p:nvSpPr>
        <p:spPr>
          <a:xfrm>
            <a:off x="8389331"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35" name="text 21.34"/>
          <p:cNvSpPr txBox="1"/>
          <p:nvPr/>
        </p:nvSpPr>
        <p:spPr>
          <a:xfrm>
            <a:off x="8642729"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36" name="text 21.35"/>
          <p:cNvSpPr txBox="1"/>
          <p:nvPr/>
        </p:nvSpPr>
        <p:spPr>
          <a:xfrm>
            <a:off x="8896128" y="1600160"/>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2–6 Nov</a:t>
            </a:r>
            <a:endParaRPr lang="en-US" sz="900" dirty="0"/>
          </a:p>
        </p:txBody>
      </p:sp>
      <p:sp>
        <p:nvSpPr>
          <p:cNvPr id="37" name="shape 21.36"/>
          <p:cNvSpPr/>
          <p:nvPr/>
        </p:nvSpPr>
        <p:spPr>
          <a:xfrm>
            <a:off x="8921527" y="1790655"/>
            <a:ext cx="1215995" cy="203195"/>
          </a:xfrm>
          <a:prstGeom prst="roundRect">
            <a:avLst>
              <a:gd name="adj" fmla="val 50000"/>
            </a:avLst>
          </a:prstGeom>
          <a:solidFill>
            <a:srgbClr val="1FA9EA"/>
          </a:solidFill>
          <a:ln/>
        </p:spPr>
      </p:sp>
      <p:sp>
        <p:nvSpPr>
          <p:cNvPr id="38" name="text 21.37"/>
          <p:cNvSpPr txBox="1"/>
          <p:nvPr/>
        </p:nvSpPr>
        <p:spPr>
          <a:xfrm>
            <a:off x="8921527" y="1790655"/>
            <a:ext cx="1215995"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W3</a:t>
            </a:r>
            <a:endParaRPr lang="en-US" sz="800" dirty="0"/>
          </a:p>
        </p:txBody>
      </p:sp>
      <p:sp>
        <p:nvSpPr>
          <p:cNvPr id="39" name="text 21.38"/>
          <p:cNvSpPr txBox="1"/>
          <p:nvPr/>
        </p:nvSpPr>
        <p:spPr>
          <a:xfrm>
            <a:off x="8896128"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40" name="text 21.39"/>
          <p:cNvSpPr txBox="1"/>
          <p:nvPr/>
        </p:nvSpPr>
        <p:spPr>
          <a:xfrm>
            <a:off x="9149427"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41" name="text 21.40"/>
          <p:cNvSpPr txBox="1"/>
          <p:nvPr/>
        </p:nvSpPr>
        <p:spPr>
          <a:xfrm>
            <a:off x="9402825"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42" name="text 21.41"/>
          <p:cNvSpPr txBox="1"/>
          <p:nvPr/>
        </p:nvSpPr>
        <p:spPr>
          <a:xfrm>
            <a:off x="9656124"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43" name="text 21.42"/>
          <p:cNvSpPr txBox="1"/>
          <p:nvPr/>
        </p:nvSpPr>
        <p:spPr>
          <a:xfrm>
            <a:off x="9909523"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44" name="text 21.43"/>
          <p:cNvSpPr txBox="1"/>
          <p:nvPr/>
        </p:nvSpPr>
        <p:spPr>
          <a:xfrm>
            <a:off x="10162921" y="1600160"/>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9–13 Nov</a:t>
            </a:r>
            <a:endParaRPr lang="en-US" sz="900" dirty="0"/>
          </a:p>
        </p:txBody>
      </p:sp>
      <p:sp>
        <p:nvSpPr>
          <p:cNvPr id="45" name="shape 21.44"/>
          <p:cNvSpPr/>
          <p:nvPr/>
        </p:nvSpPr>
        <p:spPr>
          <a:xfrm>
            <a:off x="10188320" y="1790655"/>
            <a:ext cx="1215995" cy="203195"/>
          </a:xfrm>
          <a:prstGeom prst="roundRect">
            <a:avLst>
              <a:gd name="adj" fmla="val 50000"/>
            </a:avLst>
          </a:prstGeom>
          <a:solidFill>
            <a:srgbClr val="1FA9EA"/>
          </a:solidFill>
          <a:ln/>
        </p:spPr>
      </p:sp>
      <p:sp>
        <p:nvSpPr>
          <p:cNvPr id="46" name="text 21.45"/>
          <p:cNvSpPr txBox="1"/>
          <p:nvPr/>
        </p:nvSpPr>
        <p:spPr>
          <a:xfrm>
            <a:off x="10188320" y="1790655"/>
            <a:ext cx="1215995"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W4</a:t>
            </a:r>
            <a:endParaRPr lang="en-US" sz="800" dirty="0"/>
          </a:p>
        </p:txBody>
      </p:sp>
      <p:sp>
        <p:nvSpPr>
          <p:cNvPr id="47" name="text 21.46"/>
          <p:cNvSpPr txBox="1"/>
          <p:nvPr/>
        </p:nvSpPr>
        <p:spPr>
          <a:xfrm>
            <a:off x="10162921"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48" name="text 21.47"/>
          <p:cNvSpPr txBox="1"/>
          <p:nvPr/>
        </p:nvSpPr>
        <p:spPr>
          <a:xfrm>
            <a:off x="10416220"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49" name="text 21.48"/>
          <p:cNvSpPr txBox="1"/>
          <p:nvPr/>
        </p:nvSpPr>
        <p:spPr>
          <a:xfrm>
            <a:off x="10669618"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50" name="text 21.49"/>
          <p:cNvSpPr txBox="1"/>
          <p:nvPr/>
        </p:nvSpPr>
        <p:spPr>
          <a:xfrm>
            <a:off x="10922918"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51" name="text 21.50"/>
          <p:cNvSpPr txBox="1"/>
          <p:nvPr/>
        </p:nvSpPr>
        <p:spPr>
          <a:xfrm>
            <a:off x="11176316"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52" name="text 21.51"/>
          <p:cNvSpPr txBox="1"/>
          <p:nvPr/>
        </p:nvSpPr>
        <p:spPr>
          <a:xfrm>
            <a:off x="761981" y="2330392"/>
            <a:ext cx="155522" cy="146046"/>
          </a:xfrm>
          <a:prstGeom prst="rect">
            <a:avLst/>
          </a:prstGeom>
          <a:noFill/>
          <a:ln/>
        </p:spPr>
        <p:txBody>
          <a:bodyPr wrap="square" lIns="0" tIns="0" rIns="0" bIns="0" rtlCol="0" anchor="t"/>
          <a:lstStyle/>
          <a:p>
            <a:pPr algn="l" indent="0" marL="0">
              <a:lnSpc>
                <a:spcPts val="1150"/>
              </a:lnSpc>
              <a:buNone/>
            </a:pPr>
            <a:r>
              <a:rPr lang="en-US" sz="1150" dirty="0">
                <a:solidFill>
                  <a:srgbClr val="1B2340"/>
                </a:solidFill>
                <a:latin typeface="Arial Rounded MT Bold" pitchFamily="34" charset="0"/>
                <a:ea typeface="Arial Rounded MT Bold" pitchFamily="34" charset="-122"/>
                <a:cs typeface="Arial Rounded MT Bold" pitchFamily="34" charset="-120"/>
              </a:rPr>
              <a:t>1</a:t>
            </a:r>
            <a:endParaRPr lang="en-US" sz="1150" dirty="0"/>
          </a:p>
        </p:txBody>
      </p:sp>
      <p:sp>
        <p:nvSpPr>
          <p:cNvPr id="53" name="text 21.52"/>
          <p:cNvSpPr txBox="1"/>
          <p:nvPr/>
        </p:nvSpPr>
        <p:spPr>
          <a:xfrm>
            <a:off x="1244569" y="2330392"/>
            <a:ext cx="1275995" cy="146046"/>
          </a:xfrm>
          <a:prstGeom prst="rect">
            <a:avLst/>
          </a:prstGeom>
          <a:noFill/>
          <a:ln/>
        </p:spPr>
        <p:txBody>
          <a:bodyPr wrap="square" lIns="0" tIns="0" rIns="0" bIns="0" rtlCol="0" anchor="t"/>
          <a:lstStyle/>
          <a:p>
            <a:pPr algn="l" indent="0" marL="0">
              <a:lnSpc>
                <a:spcPts val="1150"/>
              </a:lnSpc>
              <a:buNone/>
            </a:pPr>
            <a:r>
              <a:rPr lang="en-US" sz="1150" dirty="0">
                <a:solidFill>
                  <a:srgbClr val="1B2340"/>
                </a:solidFill>
                <a:latin typeface="Arial Rounded MT Bold" pitchFamily="34" charset="0"/>
                <a:ea typeface="Arial Rounded MT Bold" pitchFamily="34" charset="-122"/>
                <a:cs typeface="Arial Rounded MT Bold" pitchFamily="34" charset="-120"/>
              </a:rPr>
              <a:t>Demo 1 · 16 Nov</a:t>
            </a:r>
            <a:endParaRPr lang="en-US" sz="1150" dirty="0"/>
          </a:p>
        </p:txBody>
      </p:sp>
      <p:sp>
        <p:nvSpPr>
          <p:cNvPr id="54" name="text 21.53"/>
          <p:cNvSpPr txBox="1"/>
          <p:nvPr/>
        </p:nvSpPr>
        <p:spPr>
          <a:xfrm>
            <a:off x="761981" y="2673283"/>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1.1</a:t>
            </a:r>
            <a:endParaRPr lang="en-US" sz="950" dirty="0"/>
          </a:p>
        </p:txBody>
      </p:sp>
      <p:sp>
        <p:nvSpPr>
          <p:cNvPr id="55" name="text 21.54"/>
          <p:cNvSpPr txBox="1"/>
          <p:nvPr/>
        </p:nvSpPr>
        <p:spPr>
          <a:xfrm>
            <a:off x="1244569" y="2666933"/>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Unity project, scenes, build pipeline</a:t>
            </a:r>
            <a:endParaRPr lang="en-US" sz="1050" dirty="0"/>
          </a:p>
        </p:txBody>
      </p:sp>
      <p:sp>
        <p:nvSpPr>
          <p:cNvPr id="56" name="shape 21.55"/>
          <p:cNvSpPr/>
          <p:nvPr/>
        </p:nvSpPr>
        <p:spPr>
          <a:xfrm>
            <a:off x="4419490" y="2635184"/>
            <a:ext cx="977876" cy="203195"/>
          </a:xfrm>
          <a:prstGeom prst="roundRect">
            <a:avLst>
              <a:gd name="adj" fmla="val 50000"/>
            </a:avLst>
          </a:prstGeom>
          <a:solidFill>
            <a:srgbClr val="FFF0E6"/>
          </a:solidFill>
          <a:ln/>
        </p:spPr>
      </p:sp>
      <p:sp>
        <p:nvSpPr>
          <p:cNvPr id="57" name="text 21.56"/>
          <p:cNvSpPr txBox="1"/>
          <p:nvPr/>
        </p:nvSpPr>
        <p:spPr>
          <a:xfrm>
            <a:off x="4419490" y="2635184"/>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58" name="text 21.57"/>
          <p:cNvSpPr txBox="1"/>
          <p:nvPr/>
        </p:nvSpPr>
        <p:spPr>
          <a:xfrm>
            <a:off x="5625959" y="2673283"/>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1 wk</a:t>
            </a:r>
            <a:endParaRPr lang="en-US" sz="950" dirty="0"/>
          </a:p>
        </p:txBody>
      </p:sp>
      <p:sp>
        <p:nvSpPr>
          <p:cNvPr id="59" name="shape 21.58"/>
          <p:cNvSpPr/>
          <p:nvPr/>
        </p:nvSpPr>
        <p:spPr>
          <a:xfrm>
            <a:off x="6387940" y="2647884"/>
            <a:ext cx="1215995" cy="177796"/>
          </a:xfrm>
          <a:prstGeom prst="roundRect">
            <a:avLst>
              <a:gd name="adj" fmla="val 50000"/>
            </a:avLst>
          </a:prstGeom>
          <a:solidFill>
            <a:srgbClr val="FF6B1F"/>
          </a:solidFill>
          <a:ln/>
        </p:spPr>
      </p:sp>
      <p:sp>
        <p:nvSpPr>
          <p:cNvPr id="60" name="text 21.59"/>
          <p:cNvSpPr txBox="1"/>
          <p:nvPr/>
        </p:nvSpPr>
        <p:spPr>
          <a:xfrm>
            <a:off x="761981" y="2990775"/>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1.2</a:t>
            </a:r>
            <a:endParaRPr lang="en-US" sz="950" dirty="0"/>
          </a:p>
        </p:txBody>
      </p:sp>
      <p:sp>
        <p:nvSpPr>
          <p:cNvPr id="61" name="text 21.60"/>
          <p:cNvSpPr txBox="1"/>
          <p:nvPr/>
        </p:nvSpPr>
        <p:spPr>
          <a:xfrm>
            <a:off x="1244569" y="2984425"/>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Cube controller: WASD, jump</a:t>
            </a:r>
            <a:endParaRPr lang="en-US" sz="1050" dirty="0"/>
          </a:p>
        </p:txBody>
      </p:sp>
      <p:sp>
        <p:nvSpPr>
          <p:cNvPr id="62" name="shape 21.61"/>
          <p:cNvSpPr/>
          <p:nvPr/>
        </p:nvSpPr>
        <p:spPr>
          <a:xfrm>
            <a:off x="4419490" y="2952676"/>
            <a:ext cx="977876" cy="203195"/>
          </a:xfrm>
          <a:prstGeom prst="roundRect">
            <a:avLst>
              <a:gd name="adj" fmla="val 50000"/>
            </a:avLst>
          </a:prstGeom>
          <a:solidFill>
            <a:srgbClr val="E7F5E1"/>
          </a:solidFill>
          <a:ln/>
        </p:spPr>
      </p:sp>
      <p:sp>
        <p:nvSpPr>
          <p:cNvPr id="63" name="text 21.62"/>
          <p:cNvSpPr txBox="1"/>
          <p:nvPr/>
        </p:nvSpPr>
        <p:spPr>
          <a:xfrm>
            <a:off x="4419490" y="2952676"/>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64" name="text 21.63"/>
          <p:cNvSpPr txBox="1"/>
          <p:nvPr/>
        </p:nvSpPr>
        <p:spPr>
          <a:xfrm>
            <a:off x="5625959" y="2990775"/>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65" name="shape 21.64"/>
          <p:cNvSpPr/>
          <p:nvPr/>
        </p:nvSpPr>
        <p:spPr>
          <a:xfrm>
            <a:off x="6387940" y="2965376"/>
            <a:ext cx="2482788" cy="177796"/>
          </a:xfrm>
          <a:prstGeom prst="roundRect">
            <a:avLst>
              <a:gd name="adj" fmla="val 50000"/>
            </a:avLst>
          </a:prstGeom>
          <a:solidFill>
            <a:srgbClr val="43B832"/>
          </a:solidFill>
          <a:ln/>
        </p:spPr>
      </p:sp>
      <p:sp>
        <p:nvSpPr>
          <p:cNvPr id="66" name="text 21.65"/>
          <p:cNvSpPr txBox="1"/>
          <p:nvPr/>
        </p:nvSpPr>
        <p:spPr>
          <a:xfrm>
            <a:off x="761981" y="3308267"/>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1.3</a:t>
            </a:r>
            <a:endParaRPr lang="en-US" sz="950" dirty="0"/>
          </a:p>
        </p:txBody>
      </p:sp>
      <p:sp>
        <p:nvSpPr>
          <p:cNvPr id="67" name="text 21.66"/>
          <p:cNvSpPr txBox="1"/>
          <p:nvPr/>
        </p:nvSpPr>
        <p:spPr>
          <a:xfrm>
            <a:off x="1244569" y="3301917"/>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Third-person camera</a:t>
            </a:r>
            <a:endParaRPr lang="en-US" sz="1050" dirty="0"/>
          </a:p>
        </p:txBody>
      </p:sp>
      <p:sp>
        <p:nvSpPr>
          <p:cNvPr id="68" name="shape 21.67"/>
          <p:cNvSpPr/>
          <p:nvPr/>
        </p:nvSpPr>
        <p:spPr>
          <a:xfrm>
            <a:off x="4419490" y="3270168"/>
            <a:ext cx="977876" cy="203195"/>
          </a:xfrm>
          <a:prstGeom prst="roundRect">
            <a:avLst>
              <a:gd name="adj" fmla="val 50000"/>
            </a:avLst>
          </a:prstGeom>
          <a:solidFill>
            <a:srgbClr val="E7F5E1"/>
          </a:solidFill>
          <a:ln/>
        </p:spPr>
      </p:sp>
      <p:sp>
        <p:nvSpPr>
          <p:cNvPr id="69" name="text 21.68"/>
          <p:cNvSpPr txBox="1"/>
          <p:nvPr/>
        </p:nvSpPr>
        <p:spPr>
          <a:xfrm>
            <a:off x="4419490" y="3270168"/>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70" name="text 21.69"/>
          <p:cNvSpPr txBox="1"/>
          <p:nvPr/>
        </p:nvSpPr>
        <p:spPr>
          <a:xfrm>
            <a:off x="5625959" y="3308267"/>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1 wk</a:t>
            </a:r>
            <a:endParaRPr lang="en-US" sz="950" dirty="0"/>
          </a:p>
        </p:txBody>
      </p:sp>
      <p:sp>
        <p:nvSpPr>
          <p:cNvPr id="71" name="shape 21.70"/>
          <p:cNvSpPr/>
          <p:nvPr/>
        </p:nvSpPr>
        <p:spPr>
          <a:xfrm>
            <a:off x="8921527" y="3282868"/>
            <a:ext cx="1215995" cy="177796"/>
          </a:xfrm>
          <a:prstGeom prst="roundRect">
            <a:avLst>
              <a:gd name="adj" fmla="val 50000"/>
            </a:avLst>
          </a:prstGeom>
          <a:solidFill>
            <a:srgbClr val="43B832"/>
          </a:solidFill>
          <a:ln/>
        </p:spPr>
      </p:sp>
      <p:sp>
        <p:nvSpPr>
          <p:cNvPr id="72" name="text 21.71"/>
          <p:cNvSpPr txBox="1"/>
          <p:nvPr/>
        </p:nvSpPr>
        <p:spPr>
          <a:xfrm>
            <a:off x="761981" y="3625759"/>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1.4</a:t>
            </a:r>
            <a:endParaRPr lang="en-US" sz="950" dirty="0"/>
          </a:p>
        </p:txBody>
      </p:sp>
      <p:sp>
        <p:nvSpPr>
          <p:cNvPr id="73" name="text 21.72"/>
          <p:cNvSpPr txBox="1"/>
          <p:nvPr/>
        </p:nvSpPr>
        <p:spPr>
          <a:xfrm>
            <a:off x="1244569" y="3619410"/>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LAN host / join (Netcode)</a:t>
            </a:r>
            <a:endParaRPr lang="en-US" sz="1050" dirty="0"/>
          </a:p>
        </p:txBody>
      </p:sp>
      <p:sp>
        <p:nvSpPr>
          <p:cNvPr id="74" name="shape 21.73"/>
          <p:cNvSpPr/>
          <p:nvPr/>
        </p:nvSpPr>
        <p:spPr>
          <a:xfrm>
            <a:off x="4419490" y="3587660"/>
            <a:ext cx="977876" cy="203195"/>
          </a:xfrm>
          <a:prstGeom prst="roundRect">
            <a:avLst>
              <a:gd name="adj" fmla="val 50000"/>
            </a:avLst>
          </a:prstGeom>
          <a:solidFill>
            <a:srgbClr val="FFF0E6"/>
          </a:solidFill>
          <a:ln/>
        </p:spPr>
      </p:sp>
      <p:sp>
        <p:nvSpPr>
          <p:cNvPr id="75" name="text 21.74"/>
          <p:cNvSpPr txBox="1"/>
          <p:nvPr/>
        </p:nvSpPr>
        <p:spPr>
          <a:xfrm>
            <a:off x="4419490" y="3587660"/>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76" name="text 21.75"/>
          <p:cNvSpPr txBox="1"/>
          <p:nvPr/>
        </p:nvSpPr>
        <p:spPr>
          <a:xfrm>
            <a:off x="5625959" y="3625759"/>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77" name="shape 21.76"/>
          <p:cNvSpPr/>
          <p:nvPr/>
        </p:nvSpPr>
        <p:spPr>
          <a:xfrm>
            <a:off x="7654734" y="3600360"/>
            <a:ext cx="2482788" cy="177796"/>
          </a:xfrm>
          <a:prstGeom prst="roundRect">
            <a:avLst>
              <a:gd name="adj" fmla="val 50000"/>
            </a:avLst>
          </a:prstGeom>
          <a:solidFill>
            <a:srgbClr val="FF6B1F"/>
          </a:solidFill>
          <a:ln/>
        </p:spPr>
      </p:sp>
      <p:sp>
        <p:nvSpPr>
          <p:cNvPr id="78" name="text 21.77"/>
          <p:cNvSpPr txBox="1"/>
          <p:nvPr/>
        </p:nvSpPr>
        <p:spPr>
          <a:xfrm>
            <a:off x="761981" y="3943251"/>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1.5</a:t>
            </a:r>
            <a:endParaRPr lang="en-US" sz="950" dirty="0"/>
          </a:p>
        </p:txBody>
      </p:sp>
      <p:sp>
        <p:nvSpPr>
          <p:cNvPr id="79" name="text 21.78"/>
          <p:cNvSpPr txBox="1"/>
          <p:nvPr/>
        </p:nvSpPr>
        <p:spPr>
          <a:xfrm>
            <a:off x="1244569" y="3936902"/>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Host authority &amp; state sync</a:t>
            </a:r>
            <a:endParaRPr lang="en-US" sz="1050" dirty="0"/>
          </a:p>
        </p:txBody>
      </p:sp>
      <p:sp>
        <p:nvSpPr>
          <p:cNvPr id="80" name="shape 21.79"/>
          <p:cNvSpPr/>
          <p:nvPr/>
        </p:nvSpPr>
        <p:spPr>
          <a:xfrm>
            <a:off x="4419490" y="3905152"/>
            <a:ext cx="977876" cy="203195"/>
          </a:xfrm>
          <a:prstGeom prst="roundRect">
            <a:avLst>
              <a:gd name="adj" fmla="val 50000"/>
            </a:avLst>
          </a:prstGeom>
          <a:solidFill>
            <a:srgbClr val="FFF0E6"/>
          </a:solidFill>
          <a:ln/>
        </p:spPr>
      </p:sp>
      <p:sp>
        <p:nvSpPr>
          <p:cNvPr id="81" name="text 21.80"/>
          <p:cNvSpPr txBox="1"/>
          <p:nvPr/>
        </p:nvSpPr>
        <p:spPr>
          <a:xfrm>
            <a:off x="4419490" y="3905152"/>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82" name="text 21.81"/>
          <p:cNvSpPr txBox="1"/>
          <p:nvPr/>
        </p:nvSpPr>
        <p:spPr>
          <a:xfrm>
            <a:off x="5625959" y="3943251"/>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1 wk</a:t>
            </a:r>
            <a:endParaRPr lang="en-US" sz="950" dirty="0"/>
          </a:p>
        </p:txBody>
      </p:sp>
      <p:sp>
        <p:nvSpPr>
          <p:cNvPr id="83" name="shape 21.82"/>
          <p:cNvSpPr/>
          <p:nvPr/>
        </p:nvSpPr>
        <p:spPr>
          <a:xfrm>
            <a:off x="10188320" y="3917852"/>
            <a:ext cx="1215995" cy="177796"/>
          </a:xfrm>
          <a:prstGeom prst="roundRect">
            <a:avLst>
              <a:gd name="adj" fmla="val 50000"/>
            </a:avLst>
          </a:prstGeom>
          <a:solidFill>
            <a:srgbClr val="FF6B1F"/>
          </a:solidFill>
          <a:ln/>
        </p:spPr>
      </p:sp>
      <p:sp>
        <p:nvSpPr>
          <p:cNvPr id="84" name="text 21.83"/>
          <p:cNvSpPr txBox="1"/>
          <p:nvPr/>
        </p:nvSpPr>
        <p:spPr>
          <a:xfrm>
            <a:off x="761981" y="4260743"/>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1.6</a:t>
            </a:r>
            <a:endParaRPr lang="en-US" sz="950" dirty="0"/>
          </a:p>
        </p:txBody>
      </p:sp>
      <p:sp>
        <p:nvSpPr>
          <p:cNvPr id="85" name="text 21.84"/>
          <p:cNvSpPr txBox="1"/>
          <p:nvPr/>
        </p:nvSpPr>
        <p:spPr>
          <a:xfrm>
            <a:off x="1244569" y="4254394"/>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Shot system: projectiles, fire rate</a:t>
            </a:r>
            <a:endParaRPr lang="en-US" sz="1050" dirty="0"/>
          </a:p>
        </p:txBody>
      </p:sp>
      <p:sp>
        <p:nvSpPr>
          <p:cNvPr id="86" name="shape 21.85"/>
          <p:cNvSpPr/>
          <p:nvPr/>
        </p:nvSpPr>
        <p:spPr>
          <a:xfrm>
            <a:off x="4419490" y="4222644"/>
            <a:ext cx="977876" cy="203195"/>
          </a:xfrm>
          <a:prstGeom prst="roundRect">
            <a:avLst>
              <a:gd name="adj" fmla="val 50000"/>
            </a:avLst>
          </a:prstGeom>
          <a:solidFill>
            <a:srgbClr val="E3F2FB"/>
          </a:solidFill>
          <a:ln/>
        </p:spPr>
      </p:sp>
      <p:sp>
        <p:nvSpPr>
          <p:cNvPr id="87" name="text 21.86"/>
          <p:cNvSpPr txBox="1"/>
          <p:nvPr/>
        </p:nvSpPr>
        <p:spPr>
          <a:xfrm>
            <a:off x="4419490" y="4222644"/>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FA9EA"/>
                </a:solidFill>
                <a:latin typeface="Arial" pitchFamily="34" charset="0"/>
                <a:ea typeface="Arial" pitchFamily="34" charset="-122"/>
                <a:cs typeface="Arial" pitchFamily="34" charset="-120"/>
              </a:rPr>
              <a:t>Abdurrahim</a:t>
            </a:r>
            <a:endParaRPr lang="en-US" sz="850" dirty="0"/>
          </a:p>
        </p:txBody>
      </p:sp>
      <p:sp>
        <p:nvSpPr>
          <p:cNvPr id="88" name="text 21.87"/>
          <p:cNvSpPr txBox="1"/>
          <p:nvPr/>
        </p:nvSpPr>
        <p:spPr>
          <a:xfrm>
            <a:off x="5625959" y="4260743"/>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89" name="shape 21.88"/>
          <p:cNvSpPr/>
          <p:nvPr/>
        </p:nvSpPr>
        <p:spPr>
          <a:xfrm>
            <a:off x="6387940" y="4235344"/>
            <a:ext cx="2482788" cy="177796"/>
          </a:xfrm>
          <a:prstGeom prst="roundRect">
            <a:avLst>
              <a:gd name="adj" fmla="val 50000"/>
            </a:avLst>
          </a:prstGeom>
          <a:solidFill>
            <a:srgbClr val="1FA9EA"/>
          </a:solidFill>
          <a:ln/>
        </p:spPr>
      </p:sp>
      <p:sp>
        <p:nvSpPr>
          <p:cNvPr id="90" name="text 21.89"/>
          <p:cNvSpPr txBox="1"/>
          <p:nvPr/>
        </p:nvSpPr>
        <p:spPr>
          <a:xfrm>
            <a:off x="761981" y="4578236"/>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1.7</a:t>
            </a:r>
            <a:endParaRPr lang="en-US" sz="950" dirty="0"/>
          </a:p>
        </p:txBody>
      </p:sp>
      <p:sp>
        <p:nvSpPr>
          <p:cNvPr id="91" name="text 21.90"/>
          <p:cNvSpPr txBox="1"/>
          <p:nvPr/>
        </p:nvSpPr>
        <p:spPr>
          <a:xfrm>
            <a:off x="1244569" y="4571886"/>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Mass loss &amp; knockback rule</a:t>
            </a:r>
            <a:endParaRPr lang="en-US" sz="1050" dirty="0"/>
          </a:p>
        </p:txBody>
      </p:sp>
      <p:sp>
        <p:nvSpPr>
          <p:cNvPr id="92" name="shape 21.91"/>
          <p:cNvSpPr/>
          <p:nvPr/>
        </p:nvSpPr>
        <p:spPr>
          <a:xfrm>
            <a:off x="4419490" y="4540136"/>
            <a:ext cx="977876" cy="203195"/>
          </a:xfrm>
          <a:prstGeom prst="roundRect">
            <a:avLst>
              <a:gd name="adj" fmla="val 50000"/>
            </a:avLst>
          </a:prstGeom>
          <a:solidFill>
            <a:srgbClr val="E3F2FB"/>
          </a:solidFill>
          <a:ln/>
        </p:spPr>
      </p:sp>
      <p:sp>
        <p:nvSpPr>
          <p:cNvPr id="93" name="text 21.92"/>
          <p:cNvSpPr txBox="1"/>
          <p:nvPr/>
        </p:nvSpPr>
        <p:spPr>
          <a:xfrm>
            <a:off x="4419490" y="4540136"/>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FA9EA"/>
                </a:solidFill>
                <a:latin typeface="Arial" pitchFamily="34" charset="0"/>
                <a:ea typeface="Arial" pitchFamily="34" charset="-122"/>
                <a:cs typeface="Arial" pitchFamily="34" charset="-120"/>
              </a:rPr>
              <a:t>Abdurrahim</a:t>
            </a:r>
            <a:endParaRPr lang="en-US" sz="850" dirty="0"/>
          </a:p>
        </p:txBody>
      </p:sp>
      <p:sp>
        <p:nvSpPr>
          <p:cNvPr id="94" name="text 21.93"/>
          <p:cNvSpPr txBox="1"/>
          <p:nvPr/>
        </p:nvSpPr>
        <p:spPr>
          <a:xfrm>
            <a:off x="5625959" y="4578236"/>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95" name="shape 21.94"/>
          <p:cNvSpPr/>
          <p:nvPr/>
        </p:nvSpPr>
        <p:spPr>
          <a:xfrm>
            <a:off x="8921527" y="4552836"/>
            <a:ext cx="2482788" cy="177796"/>
          </a:xfrm>
          <a:prstGeom prst="roundRect">
            <a:avLst>
              <a:gd name="adj" fmla="val 50000"/>
            </a:avLst>
          </a:prstGeom>
          <a:solidFill>
            <a:srgbClr val="1FA9EA"/>
          </a:solidFill>
          <a:ln/>
        </p:spPr>
      </p:sp>
      <p:sp>
        <p:nvSpPr>
          <p:cNvPr id="96" name="text 21.95"/>
          <p:cNvSpPr txBox="1"/>
          <p:nvPr/>
        </p:nvSpPr>
        <p:spPr>
          <a:xfrm>
            <a:off x="761981" y="4895728"/>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1.8</a:t>
            </a:r>
            <a:endParaRPr lang="en-US" sz="950" dirty="0"/>
          </a:p>
        </p:txBody>
      </p:sp>
      <p:sp>
        <p:nvSpPr>
          <p:cNvPr id="97" name="text 21.96"/>
          <p:cNvSpPr txBox="1"/>
          <p:nvPr/>
        </p:nvSpPr>
        <p:spPr>
          <a:xfrm>
            <a:off x="1244569" y="4889378"/>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Knockback Arena level &amp; fall-out</a:t>
            </a:r>
            <a:endParaRPr lang="en-US" sz="1050" dirty="0"/>
          </a:p>
        </p:txBody>
      </p:sp>
      <p:sp>
        <p:nvSpPr>
          <p:cNvPr id="98" name="shape 21.97"/>
          <p:cNvSpPr/>
          <p:nvPr/>
        </p:nvSpPr>
        <p:spPr>
          <a:xfrm>
            <a:off x="4419490" y="4857629"/>
            <a:ext cx="977876" cy="203195"/>
          </a:xfrm>
          <a:prstGeom prst="roundRect">
            <a:avLst>
              <a:gd name="adj" fmla="val 50000"/>
            </a:avLst>
          </a:prstGeom>
          <a:solidFill>
            <a:srgbClr val="E7F5E1"/>
          </a:solidFill>
          <a:ln/>
        </p:spPr>
      </p:sp>
      <p:sp>
        <p:nvSpPr>
          <p:cNvPr id="99" name="text 21.98"/>
          <p:cNvSpPr txBox="1"/>
          <p:nvPr/>
        </p:nvSpPr>
        <p:spPr>
          <a:xfrm>
            <a:off x="4419490" y="4857629"/>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100" name="text 21.99"/>
          <p:cNvSpPr txBox="1"/>
          <p:nvPr/>
        </p:nvSpPr>
        <p:spPr>
          <a:xfrm>
            <a:off x="5625959" y="4895728"/>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1 wk</a:t>
            </a:r>
            <a:endParaRPr lang="en-US" sz="950" dirty="0"/>
          </a:p>
        </p:txBody>
      </p:sp>
      <p:sp>
        <p:nvSpPr>
          <p:cNvPr id="101" name="shape 21.100"/>
          <p:cNvSpPr/>
          <p:nvPr/>
        </p:nvSpPr>
        <p:spPr>
          <a:xfrm>
            <a:off x="10188320" y="4870328"/>
            <a:ext cx="1215995" cy="177796"/>
          </a:xfrm>
          <a:prstGeom prst="roundRect">
            <a:avLst>
              <a:gd name="adj" fmla="val 50000"/>
            </a:avLst>
          </a:prstGeom>
          <a:solidFill>
            <a:srgbClr val="43B832"/>
          </a:solidFill>
          <a:ln/>
        </p:spPr>
      </p:sp>
      <p:sp>
        <p:nvSpPr>
          <p:cNvPr id="102" name="text 21.101"/>
          <p:cNvSpPr txBox="1"/>
          <p:nvPr/>
        </p:nvSpPr>
        <p:spPr>
          <a:xfrm>
            <a:off x="761981" y="5213220"/>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1.9</a:t>
            </a:r>
            <a:endParaRPr lang="en-US" sz="950" dirty="0"/>
          </a:p>
        </p:txBody>
      </p:sp>
      <p:sp>
        <p:nvSpPr>
          <p:cNvPr id="103" name="text 21.102"/>
          <p:cNvSpPr txBox="1"/>
          <p:nvPr/>
        </p:nvSpPr>
        <p:spPr>
          <a:xfrm>
            <a:off x="1244569" y="5206870"/>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Lobby &amp; join UI</a:t>
            </a:r>
            <a:endParaRPr lang="en-US" sz="1050" dirty="0"/>
          </a:p>
        </p:txBody>
      </p:sp>
      <p:sp>
        <p:nvSpPr>
          <p:cNvPr id="104" name="shape 21.103"/>
          <p:cNvSpPr/>
          <p:nvPr/>
        </p:nvSpPr>
        <p:spPr>
          <a:xfrm>
            <a:off x="4419490" y="5175121"/>
            <a:ext cx="977876" cy="203195"/>
          </a:xfrm>
          <a:prstGeom prst="roundRect">
            <a:avLst>
              <a:gd name="adj" fmla="val 50000"/>
            </a:avLst>
          </a:prstGeom>
          <a:solidFill>
            <a:srgbClr val="F1E9FF"/>
          </a:solidFill>
          <a:ln/>
        </p:spPr>
      </p:sp>
      <p:sp>
        <p:nvSpPr>
          <p:cNvPr id="105" name="text 21.104"/>
          <p:cNvSpPr txBox="1"/>
          <p:nvPr/>
        </p:nvSpPr>
        <p:spPr>
          <a:xfrm>
            <a:off x="4419490" y="5175121"/>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106" name="text 21.105"/>
          <p:cNvSpPr txBox="1"/>
          <p:nvPr/>
        </p:nvSpPr>
        <p:spPr>
          <a:xfrm>
            <a:off x="5625959" y="5213220"/>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107" name="shape 21.106"/>
          <p:cNvSpPr/>
          <p:nvPr/>
        </p:nvSpPr>
        <p:spPr>
          <a:xfrm>
            <a:off x="7654734" y="5187820"/>
            <a:ext cx="2482788" cy="177796"/>
          </a:xfrm>
          <a:prstGeom prst="roundRect">
            <a:avLst>
              <a:gd name="adj" fmla="val 50000"/>
            </a:avLst>
          </a:prstGeom>
          <a:solidFill>
            <a:srgbClr val="8F55F5"/>
          </a:solidFill>
          <a:ln/>
        </p:spPr>
      </p:sp>
      <p:sp>
        <p:nvSpPr>
          <p:cNvPr id="108" name="text 21.107"/>
          <p:cNvSpPr txBox="1"/>
          <p:nvPr/>
        </p:nvSpPr>
        <p:spPr>
          <a:xfrm>
            <a:off x="761981" y="5530712"/>
            <a:ext cx="312434"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1.10</a:t>
            </a:r>
            <a:endParaRPr lang="en-US" sz="950" dirty="0"/>
          </a:p>
        </p:txBody>
      </p:sp>
      <p:sp>
        <p:nvSpPr>
          <p:cNvPr id="109" name="text 21.108"/>
          <p:cNvSpPr txBox="1"/>
          <p:nvPr/>
        </p:nvSpPr>
        <p:spPr>
          <a:xfrm>
            <a:off x="1244569" y="5524362"/>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Character model, four colours</a:t>
            </a:r>
            <a:endParaRPr lang="en-US" sz="1050" dirty="0"/>
          </a:p>
        </p:txBody>
      </p:sp>
      <p:sp>
        <p:nvSpPr>
          <p:cNvPr id="110" name="shape 21.109"/>
          <p:cNvSpPr/>
          <p:nvPr/>
        </p:nvSpPr>
        <p:spPr>
          <a:xfrm>
            <a:off x="4419490" y="5492613"/>
            <a:ext cx="977876" cy="203195"/>
          </a:xfrm>
          <a:prstGeom prst="roundRect">
            <a:avLst>
              <a:gd name="adj" fmla="val 50000"/>
            </a:avLst>
          </a:prstGeom>
          <a:solidFill>
            <a:srgbClr val="F1E9FF"/>
          </a:solidFill>
          <a:ln/>
        </p:spPr>
      </p:sp>
      <p:sp>
        <p:nvSpPr>
          <p:cNvPr id="111" name="text 21.110"/>
          <p:cNvSpPr txBox="1"/>
          <p:nvPr/>
        </p:nvSpPr>
        <p:spPr>
          <a:xfrm>
            <a:off x="4419490" y="5492613"/>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112" name="text 21.111"/>
          <p:cNvSpPr txBox="1"/>
          <p:nvPr/>
        </p:nvSpPr>
        <p:spPr>
          <a:xfrm>
            <a:off x="5625959" y="5530712"/>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1 wk</a:t>
            </a:r>
            <a:endParaRPr lang="en-US" sz="950" dirty="0"/>
          </a:p>
        </p:txBody>
      </p:sp>
      <p:sp>
        <p:nvSpPr>
          <p:cNvPr id="113" name="shape 21.112"/>
          <p:cNvSpPr/>
          <p:nvPr/>
        </p:nvSpPr>
        <p:spPr>
          <a:xfrm>
            <a:off x="10188320" y="5505312"/>
            <a:ext cx="1215995" cy="177796"/>
          </a:xfrm>
          <a:prstGeom prst="roundRect">
            <a:avLst>
              <a:gd name="adj" fmla="val 50000"/>
            </a:avLst>
          </a:prstGeom>
          <a:solidFill>
            <a:srgbClr val="8F55F5"/>
          </a:solidFill>
          <a:ln/>
        </p:spPr>
      </p:sp>
      <p:sp>
        <p:nvSpPr>
          <p:cNvPr id="114" name="text 21.113"/>
          <p:cNvSpPr txBox="1"/>
          <p:nvPr/>
        </p:nvSpPr>
        <p:spPr>
          <a:xfrm>
            <a:off x="761981" y="5848204"/>
            <a:ext cx="302969"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1.11</a:t>
            </a:r>
            <a:endParaRPr lang="en-US" sz="950" dirty="0"/>
          </a:p>
        </p:txBody>
      </p:sp>
      <p:sp>
        <p:nvSpPr>
          <p:cNvPr id="115" name="text 21.114"/>
          <p:cNvSpPr txBox="1"/>
          <p:nvPr/>
        </p:nvSpPr>
        <p:spPr>
          <a:xfrm>
            <a:off x="1244569" y="5841854"/>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Demo 1 build &amp; presentation</a:t>
            </a:r>
            <a:endParaRPr lang="en-US" sz="1050" dirty="0"/>
          </a:p>
        </p:txBody>
      </p:sp>
      <p:sp>
        <p:nvSpPr>
          <p:cNvPr id="116" name="shape 21.115"/>
          <p:cNvSpPr/>
          <p:nvPr/>
        </p:nvSpPr>
        <p:spPr>
          <a:xfrm>
            <a:off x="4419490" y="5810105"/>
            <a:ext cx="977876" cy="203195"/>
          </a:xfrm>
          <a:prstGeom prst="roundRect">
            <a:avLst>
              <a:gd name="adj" fmla="val 50000"/>
            </a:avLst>
          </a:prstGeom>
          <a:solidFill>
            <a:srgbClr val="E9ECF2"/>
          </a:solidFill>
          <a:ln/>
        </p:spPr>
      </p:sp>
      <p:sp>
        <p:nvSpPr>
          <p:cNvPr id="117" name="text 21.116"/>
          <p:cNvSpPr txBox="1"/>
          <p:nvPr/>
        </p:nvSpPr>
        <p:spPr>
          <a:xfrm>
            <a:off x="4419490" y="5810105"/>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B2340"/>
                </a:solidFill>
                <a:latin typeface="Arial" pitchFamily="34" charset="0"/>
                <a:ea typeface="Arial" pitchFamily="34" charset="-122"/>
                <a:cs typeface="Arial" pitchFamily="34" charset="-120"/>
              </a:rPr>
              <a:t>Team</a:t>
            </a:r>
            <a:endParaRPr lang="en-US" sz="850" dirty="0"/>
          </a:p>
        </p:txBody>
      </p:sp>
      <p:sp>
        <p:nvSpPr>
          <p:cNvPr id="118" name="text 21.117"/>
          <p:cNvSpPr txBox="1"/>
          <p:nvPr/>
        </p:nvSpPr>
        <p:spPr>
          <a:xfrm>
            <a:off x="5625959" y="5848204"/>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1 wk</a:t>
            </a:r>
            <a:endParaRPr lang="en-US" sz="950" dirty="0"/>
          </a:p>
        </p:txBody>
      </p:sp>
      <p:sp>
        <p:nvSpPr>
          <p:cNvPr id="119" name="shape 21.118"/>
          <p:cNvSpPr/>
          <p:nvPr/>
        </p:nvSpPr>
        <p:spPr>
          <a:xfrm>
            <a:off x="10188320" y="5822804"/>
            <a:ext cx="1215995" cy="177796"/>
          </a:xfrm>
          <a:prstGeom prst="roundRect">
            <a:avLst>
              <a:gd name="adj" fmla="val 50000"/>
            </a:avLst>
          </a:prstGeom>
          <a:solidFill>
            <a:srgbClr val="1B2340"/>
          </a:solidFill>
          <a:ln/>
        </p:spPr>
      </p:sp>
      <p:pic>
        <p:nvPicPr>
          <p:cNvPr id="120" name="raster 21.119" descr="diagram">    </p:cNvPr>
          <p:cNvPicPr>
            <a:picLocks noChangeAspect="1"/>
          </p:cNvPicPr>
          <p:nvPr/>
        </p:nvPicPr>
        <p:blipFill>
          <a:blip r:embed="rId3"/>
          <a:stretch>
            <a:fillRect/>
          </a:stretch>
        </p:blipFill>
        <p:spPr>
          <a:xfrm>
            <a:off x="609585" y="266693"/>
            <a:ext cx="190495" cy="190495"/>
          </a:xfrm>
          <a:prstGeom prst="rect">
            <a:avLst/>
          </a:prstGeom>
        </p:spPr>
      </p:pic>
      <p:sp>
        <p:nvSpPr>
          <p:cNvPr id="121" name="text 21.120"/>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122" name="text 21.121"/>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123" name="text 21.122"/>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124" name="text 21.123"/>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21 / 25</a:t>
            </a:r>
            <a:endParaRPr lang="en-US" sz="750" dirty="0"/>
          </a:p>
        </p:txBody>
      </p:sp>
      <p:sp>
        <p:nvSpPr>
          <p:cNvPr id="125" name="text 21.124"/>
          <p:cNvSpPr txBox="1"/>
          <p:nvPr/>
        </p:nvSpPr>
        <p:spPr>
          <a:xfrm>
            <a:off x="609585" y="698483"/>
            <a:ext cx="1843172"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1FA9EA"/>
                </a:solidFill>
                <a:latin typeface="Arial" pitchFamily="34" charset="0"/>
                <a:ea typeface="Arial" pitchFamily="34" charset="-122"/>
                <a:cs typeface="Arial" pitchFamily="34" charset="-120"/>
              </a:rPr>
              <a:t>06 · DEVELOPMENT PLAN</a:t>
            </a:r>
            <a:endParaRPr lang="en-US" sz="8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2.1"/>
          <p:cNvSpPr/>
          <p:nvPr/>
        </p:nvSpPr>
        <p:spPr>
          <a:xfrm>
            <a:off x="609585" y="1460463"/>
            <a:ext cx="10972526" cy="4368691"/>
          </a:xfrm>
          <a:prstGeom prst="roundRect">
            <a:avLst>
              <a:gd name="adj" fmla="val 348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22.2"/>
          <p:cNvSpPr/>
          <p:nvPr/>
        </p:nvSpPr>
        <p:spPr>
          <a:xfrm>
            <a:off x="698483" y="2260543"/>
            <a:ext cx="10794730" cy="393690"/>
          </a:xfrm>
          <a:prstGeom prst="roundRect">
            <a:avLst>
              <a:gd name="adj" fmla="val 22581"/>
            </a:avLst>
          </a:prstGeom>
          <a:solidFill>
            <a:srgbClr val="F1F5EA"/>
          </a:solidFill>
          <a:ln/>
        </p:spPr>
      </p:sp>
      <p:pic>
        <p:nvPicPr>
          <p:cNvPr id="4" name="raster 22.3" descr="diagram">    </p:cNvPr>
          <p:cNvPicPr>
            <a:picLocks noChangeAspect="1"/>
          </p:cNvPicPr>
          <p:nvPr/>
        </p:nvPicPr>
        <p:blipFill>
          <a:blip r:embed="rId2"/>
          <a:stretch>
            <a:fillRect/>
          </a:stretch>
        </p:blipFill>
        <p:spPr>
          <a:xfrm>
            <a:off x="6311742" y="2616135"/>
            <a:ext cx="5168771" cy="3149521"/>
          </a:xfrm>
          <a:prstGeom prst="rect">
            <a:avLst/>
          </a:prstGeom>
        </p:spPr>
      </p:pic>
      <p:sp>
        <p:nvSpPr>
          <p:cNvPr id="5" name="shape 22.4"/>
          <p:cNvSpPr/>
          <p:nvPr/>
        </p:nvSpPr>
        <p:spPr>
          <a:xfrm>
            <a:off x="761981" y="3111422"/>
            <a:ext cx="5524362" cy="9525"/>
          </a:xfrm>
          <a:prstGeom prst="rect">
            <a:avLst/>
          </a:prstGeom>
          <a:solidFill>
            <a:srgbClr val="EEF1EA"/>
          </a:solidFill>
          <a:ln/>
        </p:spPr>
      </p:sp>
      <p:sp>
        <p:nvSpPr>
          <p:cNvPr id="6" name="shape 22.5"/>
          <p:cNvSpPr/>
          <p:nvPr/>
        </p:nvSpPr>
        <p:spPr>
          <a:xfrm>
            <a:off x="761981" y="3543211"/>
            <a:ext cx="5524362" cy="9525"/>
          </a:xfrm>
          <a:prstGeom prst="rect">
            <a:avLst/>
          </a:prstGeom>
          <a:solidFill>
            <a:srgbClr val="EEF1EA"/>
          </a:solidFill>
          <a:ln/>
        </p:spPr>
      </p:sp>
      <p:sp>
        <p:nvSpPr>
          <p:cNvPr id="7" name="shape 22.6"/>
          <p:cNvSpPr/>
          <p:nvPr/>
        </p:nvSpPr>
        <p:spPr>
          <a:xfrm>
            <a:off x="761981" y="3975001"/>
            <a:ext cx="5524362" cy="9525"/>
          </a:xfrm>
          <a:prstGeom prst="rect">
            <a:avLst/>
          </a:prstGeom>
          <a:solidFill>
            <a:srgbClr val="EEF1EA"/>
          </a:solidFill>
          <a:ln/>
        </p:spPr>
      </p:sp>
      <p:sp>
        <p:nvSpPr>
          <p:cNvPr id="8" name="shape 22.7"/>
          <p:cNvSpPr/>
          <p:nvPr/>
        </p:nvSpPr>
        <p:spPr>
          <a:xfrm>
            <a:off x="761981" y="4406790"/>
            <a:ext cx="5524362" cy="9525"/>
          </a:xfrm>
          <a:prstGeom prst="rect">
            <a:avLst/>
          </a:prstGeom>
          <a:solidFill>
            <a:srgbClr val="EEF1EA"/>
          </a:solidFill>
          <a:ln/>
        </p:spPr>
      </p:sp>
      <p:sp>
        <p:nvSpPr>
          <p:cNvPr id="9" name="shape 22.8"/>
          <p:cNvSpPr/>
          <p:nvPr/>
        </p:nvSpPr>
        <p:spPr>
          <a:xfrm>
            <a:off x="761981" y="4838579"/>
            <a:ext cx="5524362" cy="9525"/>
          </a:xfrm>
          <a:prstGeom prst="rect">
            <a:avLst/>
          </a:prstGeom>
          <a:solidFill>
            <a:srgbClr val="EEF1EA"/>
          </a:solidFill>
          <a:ln/>
        </p:spPr>
      </p:sp>
      <p:sp>
        <p:nvSpPr>
          <p:cNvPr id="10" name="shape 22.9"/>
          <p:cNvSpPr/>
          <p:nvPr/>
        </p:nvSpPr>
        <p:spPr>
          <a:xfrm>
            <a:off x="761981" y="5270368"/>
            <a:ext cx="5524362" cy="9525"/>
          </a:xfrm>
          <a:prstGeom prst="rect">
            <a:avLst/>
          </a:prstGeom>
          <a:solidFill>
            <a:srgbClr val="EEF1EA"/>
          </a:solidFill>
          <a:ln/>
        </p:spPr>
      </p:sp>
      <p:sp>
        <p:nvSpPr>
          <p:cNvPr id="11" name="text 22.10"/>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Gantt chart: </a:t>
            </a:r>
            <a:pPr algn="l" indent="0" marL="0">
              <a:lnSpc>
                <a:spcPts val="3300"/>
              </a:lnSpc>
              <a:buNone/>
            </a:pPr>
            <a:r>
              <a:rPr lang="en-US" sz="3000" dirty="0">
                <a:solidFill>
                  <a:srgbClr val="FF6B1F"/>
                </a:solidFill>
                <a:latin typeface="Arial Rounded MT Bold" pitchFamily="34" charset="0"/>
                <a:ea typeface="Arial Rounded MT Bold" pitchFamily="34" charset="-122"/>
                <a:cs typeface="Arial Rounded MT Bold" pitchFamily="34" charset="-120"/>
              </a:rPr>
              <a:t>demo 2</a:t>
            </a:r>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 · 14 Dec</a:t>
            </a:r>
            <a:endParaRPr lang="en-US" sz="3000" dirty="0"/>
          </a:p>
        </p:txBody>
      </p:sp>
      <p:sp>
        <p:nvSpPr>
          <p:cNvPr id="12" name="text 22.11"/>
          <p:cNvSpPr txBox="1"/>
          <p:nvPr/>
        </p:nvSpPr>
        <p:spPr>
          <a:xfrm>
            <a:off x="761981" y="1854154"/>
            <a:ext cx="45718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WBS</a:t>
            </a:r>
            <a:endParaRPr lang="en-US" sz="700" dirty="0"/>
          </a:p>
        </p:txBody>
      </p:sp>
      <p:sp>
        <p:nvSpPr>
          <p:cNvPr id="13" name="text 22.12"/>
          <p:cNvSpPr txBox="1"/>
          <p:nvPr/>
        </p:nvSpPr>
        <p:spPr>
          <a:xfrm>
            <a:off x="1244569" y="1854154"/>
            <a:ext cx="3149521"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TASK</a:t>
            </a:r>
            <a:endParaRPr lang="en-US" sz="700" dirty="0"/>
          </a:p>
        </p:txBody>
      </p:sp>
      <p:sp>
        <p:nvSpPr>
          <p:cNvPr id="14" name="text 22.13"/>
          <p:cNvSpPr txBox="1"/>
          <p:nvPr/>
        </p:nvSpPr>
        <p:spPr>
          <a:xfrm>
            <a:off x="4419490" y="1854154"/>
            <a:ext cx="1181070"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OWNER</a:t>
            </a:r>
            <a:endParaRPr lang="en-US" sz="700" dirty="0"/>
          </a:p>
        </p:txBody>
      </p:sp>
      <p:sp>
        <p:nvSpPr>
          <p:cNvPr id="15" name="text 22.14"/>
          <p:cNvSpPr txBox="1"/>
          <p:nvPr/>
        </p:nvSpPr>
        <p:spPr>
          <a:xfrm>
            <a:off x="5625959" y="1854154"/>
            <a:ext cx="673083"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DURATION</a:t>
            </a:r>
            <a:endParaRPr lang="en-US" sz="700" dirty="0"/>
          </a:p>
        </p:txBody>
      </p:sp>
      <p:sp>
        <p:nvSpPr>
          <p:cNvPr id="16" name="text 22.15"/>
          <p:cNvSpPr txBox="1"/>
          <p:nvPr/>
        </p:nvSpPr>
        <p:spPr>
          <a:xfrm>
            <a:off x="6362541" y="1600160"/>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16–20 Nov</a:t>
            </a:r>
            <a:endParaRPr lang="en-US" sz="900" dirty="0"/>
          </a:p>
        </p:txBody>
      </p:sp>
      <p:sp>
        <p:nvSpPr>
          <p:cNvPr id="17" name="shape 22.16"/>
          <p:cNvSpPr/>
          <p:nvPr/>
        </p:nvSpPr>
        <p:spPr>
          <a:xfrm>
            <a:off x="6387940" y="1790655"/>
            <a:ext cx="1215995" cy="203195"/>
          </a:xfrm>
          <a:prstGeom prst="roundRect">
            <a:avLst>
              <a:gd name="adj" fmla="val 50000"/>
            </a:avLst>
          </a:prstGeom>
          <a:solidFill>
            <a:srgbClr val="FF6B1F"/>
          </a:solidFill>
          <a:ln/>
        </p:spPr>
      </p:sp>
      <p:sp>
        <p:nvSpPr>
          <p:cNvPr id="18" name="text 22.17"/>
          <p:cNvSpPr txBox="1"/>
          <p:nvPr/>
        </p:nvSpPr>
        <p:spPr>
          <a:xfrm>
            <a:off x="6387940" y="1790655"/>
            <a:ext cx="1215995"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W5</a:t>
            </a:r>
            <a:endParaRPr lang="en-US" sz="800" dirty="0"/>
          </a:p>
        </p:txBody>
      </p:sp>
      <p:sp>
        <p:nvSpPr>
          <p:cNvPr id="19" name="text 22.18"/>
          <p:cNvSpPr txBox="1"/>
          <p:nvPr/>
        </p:nvSpPr>
        <p:spPr>
          <a:xfrm>
            <a:off x="6362541"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20" name="text 22.19"/>
          <p:cNvSpPr txBox="1"/>
          <p:nvPr/>
        </p:nvSpPr>
        <p:spPr>
          <a:xfrm>
            <a:off x="6615840"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21" name="text 22.20"/>
          <p:cNvSpPr txBox="1"/>
          <p:nvPr/>
        </p:nvSpPr>
        <p:spPr>
          <a:xfrm>
            <a:off x="6869238"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22" name="text 22.21"/>
          <p:cNvSpPr txBox="1"/>
          <p:nvPr/>
        </p:nvSpPr>
        <p:spPr>
          <a:xfrm>
            <a:off x="7122538"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23" name="text 22.22"/>
          <p:cNvSpPr txBox="1"/>
          <p:nvPr/>
        </p:nvSpPr>
        <p:spPr>
          <a:xfrm>
            <a:off x="7375936"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24" name="text 22.23"/>
          <p:cNvSpPr txBox="1"/>
          <p:nvPr/>
        </p:nvSpPr>
        <p:spPr>
          <a:xfrm>
            <a:off x="7629334" y="1600160"/>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23–27 Nov</a:t>
            </a:r>
            <a:endParaRPr lang="en-US" sz="900" dirty="0"/>
          </a:p>
        </p:txBody>
      </p:sp>
      <p:sp>
        <p:nvSpPr>
          <p:cNvPr id="25" name="shape 22.24"/>
          <p:cNvSpPr/>
          <p:nvPr/>
        </p:nvSpPr>
        <p:spPr>
          <a:xfrm>
            <a:off x="7654734" y="1790655"/>
            <a:ext cx="1215995" cy="203195"/>
          </a:xfrm>
          <a:prstGeom prst="roundRect">
            <a:avLst>
              <a:gd name="adj" fmla="val 50000"/>
            </a:avLst>
          </a:prstGeom>
          <a:solidFill>
            <a:srgbClr val="FF6B1F"/>
          </a:solidFill>
          <a:ln/>
        </p:spPr>
      </p:sp>
      <p:sp>
        <p:nvSpPr>
          <p:cNvPr id="26" name="text 22.25"/>
          <p:cNvSpPr txBox="1"/>
          <p:nvPr/>
        </p:nvSpPr>
        <p:spPr>
          <a:xfrm>
            <a:off x="7654734" y="1790655"/>
            <a:ext cx="1215995"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W6</a:t>
            </a:r>
            <a:endParaRPr lang="en-US" sz="800" dirty="0"/>
          </a:p>
        </p:txBody>
      </p:sp>
      <p:sp>
        <p:nvSpPr>
          <p:cNvPr id="27" name="text 22.26"/>
          <p:cNvSpPr txBox="1"/>
          <p:nvPr/>
        </p:nvSpPr>
        <p:spPr>
          <a:xfrm>
            <a:off x="7629334"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28" name="text 22.27"/>
          <p:cNvSpPr txBox="1"/>
          <p:nvPr/>
        </p:nvSpPr>
        <p:spPr>
          <a:xfrm>
            <a:off x="7882633"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29" name="text 22.28"/>
          <p:cNvSpPr txBox="1"/>
          <p:nvPr/>
        </p:nvSpPr>
        <p:spPr>
          <a:xfrm>
            <a:off x="8136032"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30" name="text 22.29"/>
          <p:cNvSpPr txBox="1"/>
          <p:nvPr/>
        </p:nvSpPr>
        <p:spPr>
          <a:xfrm>
            <a:off x="8389331"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31" name="text 22.30"/>
          <p:cNvSpPr txBox="1"/>
          <p:nvPr/>
        </p:nvSpPr>
        <p:spPr>
          <a:xfrm>
            <a:off x="8642729"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32" name="text 22.31"/>
          <p:cNvSpPr txBox="1"/>
          <p:nvPr/>
        </p:nvSpPr>
        <p:spPr>
          <a:xfrm>
            <a:off x="8896128" y="1600160"/>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30 Nov–4 Dec</a:t>
            </a:r>
            <a:endParaRPr lang="en-US" sz="900" dirty="0"/>
          </a:p>
        </p:txBody>
      </p:sp>
      <p:sp>
        <p:nvSpPr>
          <p:cNvPr id="33" name="shape 22.32"/>
          <p:cNvSpPr/>
          <p:nvPr/>
        </p:nvSpPr>
        <p:spPr>
          <a:xfrm>
            <a:off x="8921527" y="1790655"/>
            <a:ext cx="1215995" cy="203195"/>
          </a:xfrm>
          <a:prstGeom prst="roundRect">
            <a:avLst>
              <a:gd name="adj" fmla="val 50000"/>
            </a:avLst>
          </a:prstGeom>
          <a:solidFill>
            <a:srgbClr val="FF6B1F"/>
          </a:solidFill>
          <a:ln/>
        </p:spPr>
      </p:sp>
      <p:sp>
        <p:nvSpPr>
          <p:cNvPr id="34" name="text 22.33"/>
          <p:cNvSpPr txBox="1"/>
          <p:nvPr/>
        </p:nvSpPr>
        <p:spPr>
          <a:xfrm>
            <a:off x="8921527" y="1790655"/>
            <a:ext cx="1215995"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W7</a:t>
            </a:r>
            <a:endParaRPr lang="en-US" sz="800" dirty="0"/>
          </a:p>
        </p:txBody>
      </p:sp>
      <p:sp>
        <p:nvSpPr>
          <p:cNvPr id="35" name="text 22.34"/>
          <p:cNvSpPr txBox="1"/>
          <p:nvPr/>
        </p:nvSpPr>
        <p:spPr>
          <a:xfrm>
            <a:off x="8896128"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36" name="text 22.35"/>
          <p:cNvSpPr txBox="1"/>
          <p:nvPr/>
        </p:nvSpPr>
        <p:spPr>
          <a:xfrm>
            <a:off x="9149427"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37" name="text 22.36"/>
          <p:cNvSpPr txBox="1"/>
          <p:nvPr/>
        </p:nvSpPr>
        <p:spPr>
          <a:xfrm>
            <a:off x="9402825"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38" name="text 22.37"/>
          <p:cNvSpPr txBox="1"/>
          <p:nvPr/>
        </p:nvSpPr>
        <p:spPr>
          <a:xfrm>
            <a:off x="9656124"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39" name="text 22.38"/>
          <p:cNvSpPr txBox="1"/>
          <p:nvPr/>
        </p:nvSpPr>
        <p:spPr>
          <a:xfrm>
            <a:off x="9909523"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40" name="text 22.39"/>
          <p:cNvSpPr txBox="1"/>
          <p:nvPr/>
        </p:nvSpPr>
        <p:spPr>
          <a:xfrm>
            <a:off x="10162921" y="1600160"/>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7–11 Dec</a:t>
            </a:r>
            <a:endParaRPr lang="en-US" sz="900" dirty="0"/>
          </a:p>
        </p:txBody>
      </p:sp>
      <p:sp>
        <p:nvSpPr>
          <p:cNvPr id="41" name="shape 22.40"/>
          <p:cNvSpPr/>
          <p:nvPr/>
        </p:nvSpPr>
        <p:spPr>
          <a:xfrm>
            <a:off x="10188320" y="1790655"/>
            <a:ext cx="1215995" cy="203195"/>
          </a:xfrm>
          <a:prstGeom prst="roundRect">
            <a:avLst>
              <a:gd name="adj" fmla="val 50000"/>
            </a:avLst>
          </a:prstGeom>
          <a:solidFill>
            <a:srgbClr val="FF6B1F"/>
          </a:solidFill>
          <a:ln/>
        </p:spPr>
      </p:sp>
      <p:sp>
        <p:nvSpPr>
          <p:cNvPr id="42" name="text 22.41"/>
          <p:cNvSpPr txBox="1"/>
          <p:nvPr/>
        </p:nvSpPr>
        <p:spPr>
          <a:xfrm>
            <a:off x="10188320" y="1790655"/>
            <a:ext cx="1215995"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W8</a:t>
            </a:r>
            <a:endParaRPr lang="en-US" sz="800" dirty="0"/>
          </a:p>
        </p:txBody>
      </p:sp>
      <p:sp>
        <p:nvSpPr>
          <p:cNvPr id="43" name="text 22.42"/>
          <p:cNvSpPr txBox="1"/>
          <p:nvPr/>
        </p:nvSpPr>
        <p:spPr>
          <a:xfrm>
            <a:off x="10162921"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44" name="text 22.43"/>
          <p:cNvSpPr txBox="1"/>
          <p:nvPr/>
        </p:nvSpPr>
        <p:spPr>
          <a:xfrm>
            <a:off x="10416220"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45" name="text 22.44"/>
          <p:cNvSpPr txBox="1"/>
          <p:nvPr/>
        </p:nvSpPr>
        <p:spPr>
          <a:xfrm>
            <a:off x="10669618"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46" name="text 22.45"/>
          <p:cNvSpPr txBox="1"/>
          <p:nvPr/>
        </p:nvSpPr>
        <p:spPr>
          <a:xfrm>
            <a:off x="10922918"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47" name="text 22.46"/>
          <p:cNvSpPr txBox="1"/>
          <p:nvPr/>
        </p:nvSpPr>
        <p:spPr>
          <a:xfrm>
            <a:off x="11176316"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48" name="text 22.47"/>
          <p:cNvSpPr txBox="1"/>
          <p:nvPr/>
        </p:nvSpPr>
        <p:spPr>
          <a:xfrm>
            <a:off x="761981" y="2387540"/>
            <a:ext cx="155522" cy="146046"/>
          </a:xfrm>
          <a:prstGeom prst="rect">
            <a:avLst/>
          </a:prstGeom>
          <a:noFill/>
          <a:ln/>
        </p:spPr>
        <p:txBody>
          <a:bodyPr wrap="square" lIns="0" tIns="0" rIns="0" bIns="0" rtlCol="0" anchor="t"/>
          <a:lstStyle/>
          <a:p>
            <a:pPr algn="l" indent="0" marL="0">
              <a:lnSpc>
                <a:spcPts val="1150"/>
              </a:lnSpc>
              <a:buNone/>
            </a:pPr>
            <a:r>
              <a:rPr lang="en-US" sz="1150" dirty="0">
                <a:solidFill>
                  <a:srgbClr val="1B2340"/>
                </a:solidFill>
                <a:latin typeface="Arial Rounded MT Bold" pitchFamily="34" charset="0"/>
                <a:ea typeface="Arial Rounded MT Bold" pitchFamily="34" charset="-122"/>
                <a:cs typeface="Arial Rounded MT Bold" pitchFamily="34" charset="-120"/>
              </a:rPr>
              <a:t>2</a:t>
            </a:r>
            <a:endParaRPr lang="en-US" sz="1150" dirty="0"/>
          </a:p>
        </p:txBody>
      </p:sp>
      <p:sp>
        <p:nvSpPr>
          <p:cNvPr id="49" name="text 22.48"/>
          <p:cNvSpPr txBox="1"/>
          <p:nvPr/>
        </p:nvSpPr>
        <p:spPr>
          <a:xfrm>
            <a:off x="1244569" y="2387540"/>
            <a:ext cx="1281569" cy="146046"/>
          </a:xfrm>
          <a:prstGeom prst="rect">
            <a:avLst/>
          </a:prstGeom>
          <a:noFill/>
          <a:ln/>
        </p:spPr>
        <p:txBody>
          <a:bodyPr wrap="square" lIns="0" tIns="0" rIns="0" bIns="0" rtlCol="0" anchor="t"/>
          <a:lstStyle/>
          <a:p>
            <a:pPr algn="l" indent="0" marL="0">
              <a:lnSpc>
                <a:spcPts val="1150"/>
              </a:lnSpc>
              <a:buNone/>
            </a:pPr>
            <a:r>
              <a:rPr lang="en-US" sz="1150" dirty="0">
                <a:solidFill>
                  <a:srgbClr val="1B2340"/>
                </a:solidFill>
                <a:latin typeface="Arial Rounded MT Bold" pitchFamily="34" charset="0"/>
                <a:ea typeface="Arial Rounded MT Bold" pitchFamily="34" charset="-122"/>
                <a:cs typeface="Arial Rounded MT Bold" pitchFamily="34" charset="-120"/>
              </a:rPr>
              <a:t>Demo 2 · 14 Dec</a:t>
            </a:r>
            <a:endParaRPr lang="en-US" sz="1150" dirty="0"/>
          </a:p>
        </p:txBody>
      </p:sp>
      <p:sp>
        <p:nvSpPr>
          <p:cNvPr id="50" name="text 22.49"/>
          <p:cNvSpPr txBox="1"/>
          <p:nvPr/>
        </p:nvSpPr>
        <p:spPr>
          <a:xfrm>
            <a:off x="761981" y="2844729"/>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2.1</a:t>
            </a:r>
            <a:endParaRPr lang="en-US" sz="950" dirty="0"/>
          </a:p>
        </p:txBody>
      </p:sp>
      <p:sp>
        <p:nvSpPr>
          <p:cNvPr id="51" name="text 22.50"/>
          <p:cNvSpPr txBox="1"/>
          <p:nvPr/>
        </p:nvSpPr>
        <p:spPr>
          <a:xfrm>
            <a:off x="1244569" y="2838379"/>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Networked projectiles &amp; hits</a:t>
            </a:r>
            <a:endParaRPr lang="en-US" sz="1050" dirty="0"/>
          </a:p>
        </p:txBody>
      </p:sp>
      <p:sp>
        <p:nvSpPr>
          <p:cNvPr id="52" name="shape 22.51"/>
          <p:cNvSpPr/>
          <p:nvPr/>
        </p:nvSpPr>
        <p:spPr>
          <a:xfrm>
            <a:off x="4419490" y="2806630"/>
            <a:ext cx="977876" cy="203195"/>
          </a:xfrm>
          <a:prstGeom prst="roundRect">
            <a:avLst>
              <a:gd name="adj" fmla="val 50000"/>
            </a:avLst>
          </a:prstGeom>
          <a:solidFill>
            <a:srgbClr val="FFF0E6"/>
          </a:solidFill>
          <a:ln/>
        </p:spPr>
      </p:sp>
      <p:sp>
        <p:nvSpPr>
          <p:cNvPr id="53" name="text 22.52"/>
          <p:cNvSpPr txBox="1"/>
          <p:nvPr/>
        </p:nvSpPr>
        <p:spPr>
          <a:xfrm>
            <a:off x="4419490" y="2806630"/>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54" name="text 22.53"/>
          <p:cNvSpPr txBox="1"/>
          <p:nvPr/>
        </p:nvSpPr>
        <p:spPr>
          <a:xfrm>
            <a:off x="5625959" y="2844729"/>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3 wk</a:t>
            </a:r>
            <a:endParaRPr lang="en-US" sz="950" dirty="0"/>
          </a:p>
        </p:txBody>
      </p:sp>
      <p:sp>
        <p:nvSpPr>
          <p:cNvPr id="55" name="shape 22.54"/>
          <p:cNvSpPr/>
          <p:nvPr/>
        </p:nvSpPr>
        <p:spPr>
          <a:xfrm>
            <a:off x="6387940" y="2819330"/>
            <a:ext cx="3749581" cy="177796"/>
          </a:xfrm>
          <a:prstGeom prst="roundRect">
            <a:avLst>
              <a:gd name="adj" fmla="val 50000"/>
            </a:avLst>
          </a:prstGeom>
          <a:solidFill>
            <a:srgbClr val="FF6B1F"/>
          </a:solidFill>
          <a:ln/>
        </p:spPr>
      </p:sp>
      <p:sp>
        <p:nvSpPr>
          <p:cNvPr id="56" name="text 22.55"/>
          <p:cNvSpPr txBox="1"/>
          <p:nvPr/>
        </p:nvSpPr>
        <p:spPr>
          <a:xfrm>
            <a:off x="761981" y="3276518"/>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2.2</a:t>
            </a:r>
            <a:endParaRPr lang="en-US" sz="950" dirty="0"/>
          </a:p>
        </p:txBody>
      </p:sp>
      <p:sp>
        <p:nvSpPr>
          <p:cNvPr id="57" name="text 22.56"/>
          <p:cNvSpPr txBox="1"/>
          <p:nvPr/>
        </p:nvSpPr>
        <p:spPr>
          <a:xfrm>
            <a:off x="1244569" y="3270168"/>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Session: playlist and end rules</a:t>
            </a:r>
            <a:endParaRPr lang="en-US" sz="1050" dirty="0"/>
          </a:p>
        </p:txBody>
      </p:sp>
      <p:sp>
        <p:nvSpPr>
          <p:cNvPr id="58" name="shape 22.57"/>
          <p:cNvSpPr/>
          <p:nvPr/>
        </p:nvSpPr>
        <p:spPr>
          <a:xfrm>
            <a:off x="4419490" y="3238419"/>
            <a:ext cx="977876" cy="203195"/>
          </a:xfrm>
          <a:prstGeom prst="roundRect">
            <a:avLst>
              <a:gd name="adj" fmla="val 50000"/>
            </a:avLst>
          </a:prstGeom>
          <a:solidFill>
            <a:srgbClr val="F1E9FF"/>
          </a:solidFill>
          <a:ln/>
        </p:spPr>
      </p:sp>
      <p:sp>
        <p:nvSpPr>
          <p:cNvPr id="59" name="text 22.58"/>
          <p:cNvSpPr txBox="1"/>
          <p:nvPr/>
        </p:nvSpPr>
        <p:spPr>
          <a:xfrm>
            <a:off x="4419490" y="3238419"/>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60" name="text 22.59"/>
          <p:cNvSpPr txBox="1"/>
          <p:nvPr/>
        </p:nvSpPr>
        <p:spPr>
          <a:xfrm>
            <a:off x="5625959" y="3276518"/>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61" name="shape 22.60"/>
          <p:cNvSpPr/>
          <p:nvPr/>
        </p:nvSpPr>
        <p:spPr>
          <a:xfrm>
            <a:off x="6387940" y="3251119"/>
            <a:ext cx="2482788" cy="177796"/>
          </a:xfrm>
          <a:prstGeom prst="roundRect">
            <a:avLst>
              <a:gd name="adj" fmla="val 50000"/>
            </a:avLst>
          </a:prstGeom>
          <a:solidFill>
            <a:srgbClr val="8F55F5"/>
          </a:solidFill>
          <a:ln/>
        </p:spPr>
      </p:sp>
      <p:sp>
        <p:nvSpPr>
          <p:cNvPr id="62" name="text 22.61"/>
          <p:cNvSpPr txBox="1"/>
          <p:nvPr/>
        </p:nvSpPr>
        <p:spPr>
          <a:xfrm>
            <a:off x="761981" y="3708307"/>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2.3</a:t>
            </a:r>
            <a:endParaRPr lang="en-US" sz="950" dirty="0"/>
          </a:p>
        </p:txBody>
      </p:sp>
      <p:sp>
        <p:nvSpPr>
          <p:cNvPr id="63" name="text 22.62"/>
          <p:cNvSpPr txBox="1"/>
          <p:nvPr/>
        </p:nvSpPr>
        <p:spPr>
          <a:xfrm>
            <a:off x="1244569" y="3701957"/>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Scoreboard &amp; placement points</a:t>
            </a:r>
            <a:endParaRPr lang="en-US" sz="1050" dirty="0"/>
          </a:p>
        </p:txBody>
      </p:sp>
      <p:sp>
        <p:nvSpPr>
          <p:cNvPr id="64" name="shape 22.63"/>
          <p:cNvSpPr/>
          <p:nvPr/>
        </p:nvSpPr>
        <p:spPr>
          <a:xfrm>
            <a:off x="4419490" y="3670208"/>
            <a:ext cx="977876" cy="203195"/>
          </a:xfrm>
          <a:prstGeom prst="roundRect">
            <a:avLst>
              <a:gd name="adj" fmla="val 50000"/>
            </a:avLst>
          </a:prstGeom>
          <a:solidFill>
            <a:srgbClr val="F1E9FF"/>
          </a:solidFill>
          <a:ln/>
        </p:spPr>
      </p:sp>
      <p:sp>
        <p:nvSpPr>
          <p:cNvPr id="65" name="text 22.64"/>
          <p:cNvSpPr txBox="1"/>
          <p:nvPr/>
        </p:nvSpPr>
        <p:spPr>
          <a:xfrm>
            <a:off x="4419490" y="3670208"/>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66" name="text 22.65"/>
          <p:cNvSpPr txBox="1"/>
          <p:nvPr/>
        </p:nvSpPr>
        <p:spPr>
          <a:xfrm>
            <a:off x="5625959" y="3708307"/>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67" name="shape 22.66"/>
          <p:cNvSpPr/>
          <p:nvPr/>
        </p:nvSpPr>
        <p:spPr>
          <a:xfrm>
            <a:off x="8921527" y="3682908"/>
            <a:ext cx="2482788" cy="177796"/>
          </a:xfrm>
          <a:prstGeom prst="roundRect">
            <a:avLst>
              <a:gd name="adj" fmla="val 50000"/>
            </a:avLst>
          </a:prstGeom>
          <a:solidFill>
            <a:srgbClr val="8F55F5"/>
          </a:solidFill>
          <a:ln/>
        </p:spPr>
      </p:sp>
      <p:sp>
        <p:nvSpPr>
          <p:cNvPr id="68" name="text 22.67"/>
          <p:cNvSpPr txBox="1"/>
          <p:nvPr/>
        </p:nvSpPr>
        <p:spPr>
          <a:xfrm>
            <a:off x="761981" y="4140096"/>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2.4</a:t>
            </a:r>
            <a:endParaRPr lang="en-US" sz="950" dirty="0"/>
          </a:p>
        </p:txBody>
      </p:sp>
      <p:sp>
        <p:nvSpPr>
          <p:cNvPr id="69" name="text 22.68"/>
          <p:cNvSpPr txBox="1"/>
          <p:nvPr/>
        </p:nvSpPr>
        <p:spPr>
          <a:xfrm>
            <a:off x="1244569" y="4133747"/>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Ice Loop: ice physics, checkpoints</a:t>
            </a:r>
            <a:endParaRPr lang="en-US" sz="1050" dirty="0"/>
          </a:p>
        </p:txBody>
      </p:sp>
      <p:sp>
        <p:nvSpPr>
          <p:cNvPr id="70" name="shape 22.69"/>
          <p:cNvSpPr/>
          <p:nvPr/>
        </p:nvSpPr>
        <p:spPr>
          <a:xfrm>
            <a:off x="4419490" y="4101997"/>
            <a:ext cx="977876" cy="203195"/>
          </a:xfrm>
          <a:prstGeom prst="roundRect">
            <a:avLst>
              <a:gd name="adj" fmla="val 50000"/>
            </a:avLst>
          </a:prstGeom>
          <a:solidFill>
            <a:srgbClr val="E7F5E1"/>
          </a:solidFill>
          <a:ln/>
        </p:spPr>
      </p:sp>
      <p:sp>
        <p:nvSpPr>
          <p:cNvPr id="71" name="text 22.70"/>
          <p:cNvSpPr txBox="1"/>
          <p:nvPr/>
        </p:nvSpPr>
        <p:spPr>
          <a:xfrm>
            <a:off x="4419490" y="4101997"/>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72" name="text 22.71"/>
          <p:cNvSpPr txBox="1"/>
          <p:nvPr/>
        </p:nvSpPr>
        <p:spPr>
          <a:xfrm>
            <a:off x="5625959" y="4140096"/>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3 wk</a:t>
            </a:r>
            <a:endParaRPr lang="en-US" sz="950" dirty="0"/>
          </a:p>
        </p:txBody>
      </p:sp>
      <p:sp>
        <p:nvSpPr>
          <p:cNvPr id="73" name="shape 22.72"/>
          <p:cNvSpPr/>
          <p:nvPr/>
        </p:nvSpPr>
        <p:spPr>
          <a:xfrm>
            <a:off x="6387940" y="4114697"/>
            <a:ext cx="3749581" cy="177796"/>
          </a:xfrm>
          <a:prstGeom prst="roundRect">
            <a:avLst>
              <a:gd name="adj" fmla="val 50000"/>
            </a:avLst>
          </a:prstGeom>
          <a:solidFill>
            <a:srgbClr val="43B832"/>
          </a:solidFill>
          <a:ln/>
        </p:spPr>
      </p:sp>
      <p:sp>
        <p:nvSpPr>
          <p:cNvPr id="74" name="text 22.73"/>
          <p:cNvSpPr txBox="1"/>
          <p:nvPr/>
        </p:nvSpPr>
        <p:spPr>
          <a:xfrm>
            <a:off x="761981" y="4571886"/>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2.5</a:t>
            </a:r>
            <a:endParaRPr lang="en-US" sz="950" dirty="0"/>
          </a:p>
        </p:txBody>
      </p:sp>
      <p:sp>
        <p:nvSpPr>
          <p:cNvPr id="75" name="text 22.74"/>
          <p:cNvSpPr txBox="1"/>
          <p:nvPr/>
        </p:nvSpPr>
        <p:spPr>
          <a:xfrm>
            <a:off x="1244569" y="4565536"/>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Hole Grab: holes, rounds, bulldozer</a:t>
            </a:r>
            <a:endParaRPr lang="en-US" sz="1050" dirty="0"/>
          </a:p>
        </p:txBody>
      </p:sp>
      <p:sp>
        <p:nvSpPr>
          <p:cNvPr id="76" name="shape 22.75"/>
          <p:cNvSpPr/>
          <p:nvPr/>
        </p:nvSpPr>
        <p:spPr>
          <a:xfrm>
            <a:off x="4419490" y="4533787"/>
            <a:ext cx="977876" cy="203195"/>
          </a:xfrm>
          <a:prstGeom prst="roundRect">
            <a:avLst>
              <a:gd name="adj" fmla="val 50000"/>
            </a:avLst>
          </a:prstGeom>
          <a:solidFill>
            <a:srgbClr val="E3F2FB"/>
          </a:solidFill>
          <a:ln/>
        </p:spPr>
      </p:sp>
      <p:sp>
        <p:nvSpPr>
          <p:cNvPr id="77" name="text 22.76"/>
          <p:cNvSpPr txBox="1"/>
          <p:nvPr/>
        </p:nvSpPr>
        <p:spPr>
          <a:xfrm>
            <a:off x="4419490" y="4533787"/>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FA9EA"/>
                </a:solidFill>
                <a:latin typeface="Arial" pitchFamily="34" charset="0"/>
                <a:ea typeface="Arial" pitchFamily="34" charset="-122"/>
                <a:cs typeface="Arial" pitchFamily="34" charset="-120"/>
              </a:rPr>
              <a:t>Abdurrahim</a:t>
            </a:r>
            <a:endParaRPr lang="en-US" sz="850" dirty="0"/>
          </a:p>
        </p:txBody>
      </p:sp>
      <p:sp>
        <p:nvSpPr>
          <p:cNvPr id="78" name="text 22.77"/>
          <p:cNvSpPr txBox="1"/>
          <p:nvPr/>
        </p:nvSpPr>
        <p:spPr>
          <a:xfrm>
            <a:off x="5625959" y="4571886"/>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3 wk</a:t>
            </a:r>
            <a:endParaRPr lang="en-US" sz="950" dirty="0"/>
          </a:p>
        </p:txBody>
      </p:sp>
      <p:sp>
        <p:nvSpPr>
          <p:cNvPr id="79" name="shape 22.78"/>
          <p:cNvSpPr/>
          <p:nvPr/>
        </p:nvSpPr>
        <p:spPr>
          <a:xfrm>
            <a:off x="6387940" y="4546486"/>
            <a:ext cx="3749581" cy="177796"/>
          </a:xfrm>
          <a:prstGeom prst="roundRect">
            <a:avLst>
              <a:gd name="adj" fmla="val 50000"/>
            </a:avLst>
          </a:prstGeom>
          <a:solidFill>
            <a:srgbClr val="1FA9EA"/>
          </a:solidFill>
          <a:ln/>
        </p:spPr>
      </p:sp>
      <p:sp>
        <p:nvSpPr>
          <p:cNvPr id="80" name="text 22.79"/>
          <p:cNvSpPr txBox="1"/>
          <p:nvPr/>
        </p:nvSpPr>
        <p:spPr>
          <a:xfrm>
            <a:off x="761981" y="5003675"/>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2.6</a:t>
            </a:r>
            <a:endParaRPr lang="en-US" sz="950" dirty="0"/>
          </a:p>
        </p:txBody>
      </p:sp>
      <p:sp>
        <p:nvSpPr>
          <p:cNvPr id="81" name="text 22.80"/>
          <p:cNvSpPr txBox="1"/>
          <p:nvPr/>
        </p:nvSpPr>
        <p:spPr>
          <a:xfrm>
            <a:off x="1244569" y="4997325"/>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First full-session playtest</a:t>
            </a:r>
            <a:endParaRPr lang="en-US" sz="1050" dirty="0"/>
          </a:p>
        </p:txBody>
      </p:sp>
      <p:sp>
        <p:nvSpPr>
          <p:cNvPr id="82" name="shape 22.81"/>
          <p:cNvSpPr/>
          <p:nvPr/>
        </p:nvSpPr>
        <p:spPr>
          <a:xfrm>
            <a:off x="4419490" y="4965576"/>
            <a:ext cx="977876" cy="203195"/>
          </a:xfrm>
          <a:prstGeom prst="roundRect">
            <a:avLst>
              <a:gd name="adj" fmla="val 50000"/>
            </a:avLst>
          </a:prstGeom>
          <a:solidFill>
            <a:srgbClr val="E9ECF2"/>
          </a:solidFill>
          <a:ln/>
        </p:spPr>
      </p:sp>
      <p:sp>
        <p:nvSpPr>
          <p:cNvPr id="83" name="text 22.82"/>
          <p:cNvSpPr txBox="1"/>
          <p:nvPr/>
        </p:nvSpPr>
        <p:spPr>
          <a:xfrm>
            <a:off x="4419490" y="4965576"/>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B2340"/>
                </a:solidFill>
                <a:latin typeface="Arial" pitchFamily="34" charset="0"/>
                <a:ea typeface="Arial" pitchFamily="34" charset="-122"/>
                <a:cs typeface="Arial" pitchFamily="34" charset="-120"/>
              </a:rPr>
              <a:t>Team</a:t>
            </a:r>
            <a:endParaRPr lang="en-US" sz="850" dirty="0"/>
          </a:p>
        </p:txBody>
      </p:sp>
      <p:sp>
        <p:nvSpPr>
          <p:cNvPr id="84" name="text 22.83"/>
          <p:cNvSpPr txBox="1"/>
          <p:nvPr/>
        </p:nvSpPr>
        <p:spPr>
          <a:xfrm>
            <a:off x="5625959" y="5003675"/>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1 wk</a:t>
            </a:r>
            <a:endParaRPr lang="en-US" sz="950" dirty="0"/>
          </a:p>
        </p:txBody>
      </p:sp>
      <p:sp>
        <p:nvSpPr>
          <p:cNvPr id="85" name="shape 22.84"/>
          <p:cNvSpPr/>
          <p:nvPr/>
        </p:nvSpPr>
        <p:spPr>
          <a:xfrm>
            <a:off x="10188320" y="4978276"/>
            <a:ext cx="1215995" cy="177796"/>
          </a:xfrm>
          <a:prstGeom prst="roundRect">
            <a:avLst>
              <a:gd name="adj" fmla="val 50000"/>
            </a:avLst>
          </a:prstGeom>
          <a:solidFill>
            <a:srgbClr val="1B2340"/>
          </a:solidFill>
          <a:ln/>
        </p:spPr>
      </p:sp>
      <p:sp>
        <p:nvSpPr>
          <p:cNvPr id="86" name="text 22.85"/>
          <p:cNvSpPr txBox="1"/>
          <p:nvPr/>
        </p:nvSpPr>
        <p:spPr>
          <a:xfrm>
            <a:off x="761981" y="5435464"/>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2.7</a:t>
            </a:r>
            <a:endParaRPr lang="en-US" sz="950" dirty="0"/>
          </a:p>
        </p:txBody>
      </p:sp>
      <p:sp>
        <p:nvSpPr>
          <p:cNvPr id="87" name="text 22.86"/>
          <p:cNvSpPr txBox="1"/>
          <p:nvPr/>
        </p:nvSpPr>
        <p:spPr>
          <a:xfrm>
            <a:off x="1244569" y="5429114"/>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Demo 2 build &amp; presentation</a:t>
            </a:r>
            <a:endParaRPr lang="en-US" sz="1050" dirty="0"/>
          </a:p>
        </p:txBody>
      </p:sp>
      <p:sp>
        <p:nvSpPr>
          <p:cNvPr id="88" name="shape 22.87"/>
          <p:cNvSpPr/>
          <p:nvPr/>
        </p:nvSpPr>
        <p:spPr>
          <a:xfrm>
            <a:off x="4419490" y="5397365"/>
            <a:ext cx="977876" cy="203195"/>
          </a:xfrm>
          <a:prstGeom prst="roundRect">
            <a:avLst>
              <a:gd name="adj" fmla="val 50000"/>
            </a:avLst>
          </a:prstGeom>
          <a:solidFill>
            <a:srgbClr val="E9ECF2"/>
          </a:solidFill>
          <a:ln/>
        </p:spPr>
      </p:sp>
      <p:sp>
        <p:nvSpPr>
          <p:cNvPr id="89" name="text 22.88"/>
          <p:cNvSpPr txBox="1"/>
          <p:nvPr/>
        </p:nvSpPr>
        <p:spPr>
          <a:xfrm>
            <a:off x="4419490" y="5397365"/>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B2340"/>
                </a:solidFill>
                <a:latin typeface="Arial" pitchFamily="34" charset="0"/>
                <a:ea typeface="Arial" pitchFamily="34" charset="-122"/>
                <a:cs typeface="Arial" pitchFamily="34" charset="-120"/>
              </a:rPr>
              <a:t>Team</a:t>
            </a:r>
            <a:endParaRPr lang="en-US" sz="850" dirty="0"/>
          </a:p>
        </p:txBody>
      </p:sp>
      <p:sp>
        <p:nvSpPr>
          <p:cNvPr id="90" name="text 22.89"/>
          <p:cNvSpPr txBox="1"/>
          <p:nvPr/>
        </p:nvSpPr>
        <p:spPr>
          <a:xfrm>
            <a:off x="5625959" y="5435464"/>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1 wk</a:t>
            </a:r>
            <a:endParaRPr lang="en-US" sz="950" dirty="0"/>
          </a:p>
        </p:txBody>
      </p:sp>
      <p:sp>
        <p:nvSpPr>
          <p:cNvPr id="91" name="shape 22.90"/>
          <p:cNvSpPr/>
          <p:nvPr/>
        </p:nvSpPr>
        <p:spPr>
          <a:xfrm>
            <a:off x="10188320" y="5410065"/>
            <a:ext cx="1215995" cy="177796"/>
          </a:xfrm>
          <a:prstGeom prst="roundRect">
            <a:avLst>
              <a:gd name="adj" fmla="val 50000"/>
            </a:avLst>
          </a:prstGeom>
          <a:solidFill>
            <a:srgbClr val="1B2340"/>
          </a:solidFill>
          <a:ln/>
        </p:spPr>
      </p:sp>
      <p:pic>
        <p:nvPicPr>
          <p:cNvPr id="92" name="raster 22.91" descr="diagram">    </p:cNvPr>
          <p:cNvPicPr>
            <a:picLocks noChangeAspect="1"/>
          </p:cNvPicPr>
          <p:nvPr/>
        </p:nvPicPr>
        <p:blipFill>
          <a:blip r:embed="rId3"/>
          <a:stretch>
            <a:fillRect/>
          </a:stretch>
        </p:blipFill>
        <p:spPr>
          <a:xfrm>
            <a:off x="609585" y="266693"/>
            <a:ext cx="190495" cy="190495"/>
          </a:xfrm>
          <a:prstGeom prst="rect">
            <a:avLst/>
          </a:prstGeom>
        </p:spPr>
      </p:pic>
      <p:sp>
        <p:nvSpPr>
          <p:cNvPr id="93" name="text 22.92"/>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94" name="text 22.93"/>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95" name="text 22.94"/>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96" name="text 22.95"/>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22 / 25</a:t>
            </a:r>
            <a:endParaRPr lang="en-US" sz="750" dirty="0"/>
          </a:p>
        </p:txBody>
      </p:sp>
      <p:sp>
        <p:nvSpPr>
          <p:cNvPr id="97" name="text 22.96"/>
          <p:cNvSpPr txBox="1"/>
          <p:nvPr/>
        </p:nvSpPr>
        <p:spPr>
          <a:xfrm>
            <a:off x="609585" y="698483"/>
            <a:ext cx="1843172"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06 · DEVELOPMENT PLAN</a:t>
            </a:r>
            <a:endParaRPr lang="en-US" sz="8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3.1"/>
          <p:cNvSpPr/>
          <p:nvPr/>
        </p:nvSpPr>
        <p:spPr>
          <a:xfrm>
            <a:off x="609585" y="1460463"/>
            <a:ext cx="10972526" cy="4368691"/>
          </a:xfrm>
          <a:prstGeom prst="roundRect">
            <a:avLst>
              <a:gd name="adj" fmla="val 348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23.2"/>
          <p:cNvSpPr/>
          <p:nvPr/>
        </p:nvSpPr>
        <p:spPr>
          <a:xfrm>
            <a:off x="698483" y="2260543"/>
            <a:ext cx="10794730" cy="393690"/>
          </a:xfrm>
          <a:prstGeom prst="roundRect">
            <a:avLst>
              <a:gd name="adj" fmla="val 22581"/>
            </a:avLst>
          </a:prstGeom>
          <a:solidFill>
            <a:srgbClr val="F1F5EA"/>
          </a:solidFill>
          <a:ln/>
        </p:spPr>
      </p:sp>
      <p:pic>
        <p:nvPicPr>
          <p:cNvPr id="4" name="raster 23.3" descr="diagram">    </p:cNvPr>
          <p:cNvPicPr>
            <a:picLocks noChangeAspect="1"/>
          </p:cNvPicPr>
          <p:nvPr/>
        </p:nvPicPr>
        <p:blipFill>
          <a:blip r:embed="rId2"/>
          <a:stretch>
            <a:fillRect/>
          </a:stretch>
        </p:blipFill>
        <p:spPr>
          <a:xfrm>
            <a:off x="6311742" y="2616135"/>
            <a:ext cx="5168771" cy="3149521"/>
          </a:xfrm>
          <a:prstGeom prst="rect">
            <a:avLst/>
          </a:prstGeom>
        </p:spPr>
      </p:pic>
      <p:sp>
        <p:nvSpPr>
          <p:cNvPr id="5" name="shape 23.4"/>
          <p:cNvSpPr/>
          <p:nvPr/>
        </p:nvSpPr>
        <p:spPr>
          <a:xfrm>
            <a:off x="761981" y="3111422"/>
            <a:ext cx="5524362" cy="9525"/>
          </a:xfrm>
          <a:prstGeom prst="rect">
            <a:avLst/>
          </a:prstGeom>
          <a:solidFill>
            <a:srgbClr val="EEF1EA"/>
          </a:solidFill>
          <a:ln/>
        </p:spPr>
      </p:sp>
      <p:sp>
        <p:nvSpPr>
          <p:cNvPr id="6" name="shape 23.5"/>
          <p:cNvSpPr/>
          <p:nvPr/>
        </p:nvSpPr>
        <p:spPr>
          <a:xfrm>
            <a:off x="761981" y="3543211"/>
            <a:ext cx="5524362" cy="9525"/>
          </a:xfrm>
          <a:prstGeom prst="rect">
            <a:avLst/>
          </a:prstGeom>
          <a:solidFill>
            <a:srgbClr val="EEF1EA"/>
          </a:solidFill>
          <a:ln/>
        </p:spPr>
      </p:sp>
      <p:sp>
        <p:nvSpPr>
          <p:cNvPr id="7" name="shape 23.6"/>
          <p:cNvSpPr/>
          <p:nvPr/>
        </p:nvSpPr>
        <p:spPr>
          <a:xfrm>
            <a:off x="761981" y="3975001"/>
            <a:ext cx="5524362" cy="9525"/>
          </a:xfrm>
          <a:prstGeom prst="rect">
            <a:avLst/>
          </a:prstGeom>
          <a:solidFill>
            <a:srgbClr val="EEF1EA"/>
          </a:solidFill>
          <a:ln/>
        </p:spPr>
      </p:sp>
      <p:sp>
        <p:nvSpPr>
          <p:cNvPr id="8" name="shape 23.7"/>
          <p:cNvSpPr/>
          <p:nvPr/>
        </p:nvSpPr>
        <p:spPr>
          <a:xfrm>
            <a:off x="761981" y="4406790"/>
            <a:ext cx="5524362" cy="9525"/>
          </a:xfrm>
          <a:prstGeom prst="rect">
            <a:avLst/>
          </a:prstGeom>
          <a:solidFill>
            <a:srgbClr val="EEF1EA"/>
          </a:solidFill>
          <a:ln/>
        </p:spPr>
      </p:sp>
      <p:sp>
        <p:nvSpPr>
          <p:cNvPr id="9" name="shape 23.8"/>
          <p:cNvSpPr/>
          <p:nvPr/>
        </p:nvSpPr>
        <p:spPr>
          <a:xfrm>
            <a:off x="761981" y="4838579"/>
            <a:ext cx="5524362" cy="9525"/>
          </a:xfrm>
          <a:prstGeom prst="rect">
            <a:avLst/>
          </a:prstGeom>
          <a:solidFill>
            <a:srgbClr val="EEF1EA"/>
          </a:solidFill>
          <a:ln/>
        </p:spPr>
      </p:sp>
      <p:sp>
        <p:nvSpPr>
          <p:cNvPr id="10" name="shape 23.9"/>
          <p:cNvSpPr/>
          <p:nvPr/>
        </p:nvSpPr>
        <p:spPr>
          <a:xfrm>
            <a:off x="761981" y="5270368"/>
            <a:ext cx="5524362" cy="9525"/>
          </a:xfrm>
          <a:prstGeom prst="rect">
            <a:avLst/>
          </a:prstGeom>
          <a:solidFill>
            <a:srgbClr val="EEF1EA"/>
          </a:solidFill>
          <a:ln/>
        </p:spPr>
      </p:sp>
      <p:sp>
        <p:nvSpPr>
          <p:cNvPr id="11" name="text 23.10"/>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Gantt chart: </a:t>
            </a:r>
            <a:pPr algn="l" indent="0" marL="0">
              <a:lnSpc>
                <a:spcPts val="3300"/>
              </a:lnSpc>
              <a:buNone/>
            </a:pPr>
            <a:r>
              <a:rPr lang="en-US" sz="3000" dirty="0">
                <a:solidFill>
                  <a:srgbClr val="8F55F5"/>
                </a:solidFill>
                <a:latin typeface="Arial Rounded MT Bold" pitchFamily="34" charset="0"/>
                <a:ea typeface="Arial Rounded MT Bold" pitchFamily="34" charset="-122"/>
                <a:cs typeface="Arial Rounded MT Bold" pitchFamily="34" charset="-120"/>
              </a:rPr>
              <a:t>final</a:t>
            </a:r>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 · 11 Jan</a:t>
            </a:r>
            <a:endParaRPr lang="en-US" sz="3000" dirty="0"/>
          </a:p>
        </p:txBody>
      </p:sp>
      <p:sp>
        <p:nvSpPr>
          <p:cNvPr id="12" name="text 23.11"/>
          <p:cNvSpPr txBox="1"/>
          <p:nvPr/>
        </p:nvSpPr>
        <p:spPr>
          <a:xfrm>
            <a:off x="761981" y="1854154"/>
            <a:ext cx="45718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WBS</a:t>
            </a:r>
            <a:endParaRPr lang="en-US" sz="700" dirty="0"/>
          </a:p>
        </p:txBody>
      </p:sp>
      <p:sp>
        <p:nvSpPr>
          <p:cNvPr id="13" name="text 23.12"/>
          <p:cNvSpPr txBox="1"/>
          <p:nvPr/>
        </p:nvSpPr>
        <p:spPr>
          <a:xfrm>
            <a:off x="1244569" y="1854154"/>
            <a:ext cx="3149521"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TASK</a:t>
            </a:r>
            <a:endParaRPr lang="en-US" sz="700" dirty="0"/>
          </a:p>
        </p:txBody>
      </p:sp>
      <p:sp>
        <p:nvSpPr>
          <p:cNvPr id="14" name="text 23.13"/>
          <p:cNvSpPr txBox="1"/>
          <p:nvPr/>
        </p:nvSpPr>
        <p:spPr>
          <a:xfrm>
            <a:off x="4419490" y="1854154"/>
            <a:ext cx="1181070"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OWNER</a:t>
            </a:r>
            <a:endParaRPr lang="en-US" sz="700" dirty="0"/>
          </a:p>
        </p:txBody>
      </p:sp>
      <p:sp>
        <p:nvSpPr>
          <p:cNvPr id="15" name="text 23.14"/>
          <p:cNvSpPr txBox="1"/>
          <p:nvPr/>
        </p:nvSpPr>
        <p:spPr>
          <a:xfrm>
            <a:off x="5625959" y="1854154"/>
            <a:ext cx="673083"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DURATION</a:t>
            </a:r>
            <a:endParaRPr lang="en-US" sz="700" dirty="0"/>
          </a:p>
        </p:txBody>
      </p:sp>
      <p:sp>
        <p:nvSpPr>
          <p:cNvPr id="16" name="text 23.15"/>
          <p:cNvSpPr txBox="1"/>
          <p:nvPr/>
        </p:nvSpPr>
        <p:spPr>
          <a:xfrm>
            <a:off x="6362541" y="1600160"/>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14–18 Dec</a:t>
            </a:r>
            <a:endParaRPr lang="en-US" sz="900" dirty="0"/>
          </a:p>
        </p:txBody>
      </p:sp>
      <p:sp>
        <p:nvSpPr>
          <p:cNvPr id="17" name="shape 23.16"/>
          <p:cNvSpPr/>
          <p:nvPr/>
        </p:nvSpPr>
        <p:spPr>
          <a:xfrm>
            <a:off x="6387940" y="1790655"/>
            <a:ext cx="1215995" cy="203195"/>
          </a:xfrm>
          <a:prstGeom prst="roundRect">
            <a:avLst>
              <a:gd name="adj" fmla="val 50000"/>
            </a:avLst>
          </a:prstGeom>
          <a:solidFill>
            <a:srgbClr val="8F55F5"/>
          </a:solidFill>
          <a:ln/>
        </p:spPr>
      </p:sp>
      <p:sp>
        <p:nvSpPr>
          <p:cNvPr id="18" name="text 23.17"/>
          <p:cNvSpPr txBox="1"/>
          <p:nvPr/>
        </p:nvSpPr>
        <p:spPr>
          <a:xfrm>
            <a:off x="6387940" y="1790655"/>
            <a:ext cx="1215995"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W9</a:t>
            </a:r>
            <a:endParaRPr lang="en-US" sz="800" dirty="0"/>
          </a:p>
        </p:txBody>
      </p:sp>
      <p:sp>
        <p:nvSpPr>
          <p:cNvPr id="19" name="text 23.18"/>
          <p:cNvSpPr txBox="1"/>
          <p:nvPr/>
        </p:nvSpPr>
        <p:spPr>
          <a:xfrm>
            <a:off x="6362541"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20" name="text 23.19"/>
          <p:cNvSpPr txBox="1"/>
          <p:nvPr/>
        </p:nvSpPr>
        <p:spPr>
          <a:xfrm>
            <a:off x="6615840"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21" name="text 23.20"/>
          <p:cNvSpPr txBox="1"/>
          <p:nvPr/>
        </p:nvSpPr>
        <p:spPr>
          <a:xfrm>
            <a:off x="6869238"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22" name="text 23.21"/>
          <p:cNvSpPr txBox="1"/>
          <p:nvPr/>
        </p:nvSpPr>
        <p:spPr>
          <a:xfrm>
            <a:off x="7122538"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23" name="text 23.22"/>
          <p:cNvSpPr txBox="1"/>
          <p:nvPr/>
        </p:nvSpPr>
        <p:spPr>
          <a:xfrm>
            <a:off x="7375936"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24" name="text 23.23"/>
          <p:cNvSpPr txBox="1"/>
          <p:nvPr/>
        </p:nvSpPr>
        <p:spPr>
          <a:xfrm>
            <a:off x="7629334" y="1600160"/>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21–25 Dec</a:t>
            </a:r>
            <a:endParaRPr lang="en-US" sz="900" dirty="0"/>
          </a:p>
        </p:txBody>
      </p:sp>
      <p:sp>
        <p:nvSpPr>
          <p:cNvPr id="25" name="shape 23.24"/>
          <p:cNvSpPr/>
          <p:nvPr/>
        </p:nvSpPr>
        <p:spPr>
          <a:xfrm>
            <a:off x="7654734" y="1790655"/>
            <a:ext cx="1215995" cy="203195"/>
          </a:xfrm>
          <a:prstGeom prst="roundRect">
            <a:avLst>
              <a:gd name="adj" fmla="val 50000"/>
            </a:avLst>
          </a:prstGeom>
          <a:solidFill>
            <a:srgbClr val="8F55F5"/>
          </a:solidFill>
          <a:ln/>
        </p:spPr>
      </p:sp>
      <p:sp>
        <p:nvSpPr>
          <p:cNvPr id="26" name="text 23.25"/>
          <p:cNvSpPr txBox="1"/>
          <p:nvPr/>
        </p:nvSpPr>
        <p:spPr>
          <a:xfrm>
            <a:off x="7654734" y="1790655"/>
            <a:ext cx="1215995"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W10</a:t>
            </a:r>
            <a:endParaRPr lang="en-US" sz="800" dirty="0"/>
          </a:p>
        </p:txBody>
      </p:sp>
      <p:sp>
        <p:nvSpPr>
          <p:cNvPr id="27" name="text 23.26"/>
          <p:cNvSpPr txBox="1"/>
          <p:nvPr/>
        </p:nvSpPr>
        <p:spPr>
          <a:xfrm>
            <a:off x="7629334"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28" name="text 23.27"/>
          <p:cNvSpPr txBox="1"/>
          <p:nvPr/>
        </p:nvSpPr>
        <p:spPr>
          <a:xfrm>
            <a:off x="7882633"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29" name="text 23.28"/>
          <p:cNvSpPr txBox="1"/>
          <p:nvPr/>
        </p:nvSpPr>
        <p:spPr>
          <a:xfrm>
            <a:off x="8136032"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30" name="text 23.29"/>
          <p:cNvSpPr txBox="1"/>
          <p:nvPr/>
        </p:nvSpPr>
        <p:spPr>
          <a:xfrm>
            <a:off x="8389331"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31" name="text 23.30"/>
          <p:cNvSpPr txBox="1"/>
          <p:nvPr/>
        </p:nvSpPr>
        <p:spPr>
          <a:xfrm>
            <a:off x="8642729"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32" name="text 23.31"/>
          <p:cNvSpPr txBox="1"/>
          <p:nvPr/>
        </p:nvSpPr>
        <p:spPr>
          <a:xfrm>
            <a:off x="8896128" y="1600160"/>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28 Dec–1 Jan</a:t>
            </a:r>
            <a:endParaRPr lang="en-US" sz="900" dirty="0"/>
          </a:p>
        </p:txBody>
      </p:sp>
      <p:sp>
        <p:nvSpPr>
          <p:cNvPr id="33" name="shape 23.32"/>
          <p:cNvSpPr/>
          <p:nvPr/>
        </p:nvSpPr>
        <p:spPr>
          <a:xfrm>
            <a:off x="8921527" y="1790655"/>
            <a:ext cx="1215995" cy="203195"/>
          </a:xfrm>
          <a:prstGeom prst="roundRect">
            <a:avLst>
              <a:gd name="adj" fmla="val 50000"/>
            </a:avLst>
          </a:prstGeom>
          <a:solidFill>
            <a:srgbClr val="8F55F5"/>
          </a:solidFill>
          <a:ln/>
        </p:spPr>
      </p:sp>
      <p:sp>
        <p:nvSpPr>
          <p:cNvPr id="34" name="text 23.33"/>
          <p:cNvSpPr txBox="1"/>
          <p:nvPr/>
        </p:nvSpPr>
        <p:spPr>
          <a:xfrm>
            <a:off x="8921527" y="1790655"/>
            <a:ext cx="1215995"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W11</a:t>
            </a:r>
            <a:endParaRPr lang="en-US" sz="800" dirty="0"/>
          </a:p>
        </p:txBody>
      </p:sp>
      <p:sp>
        <p:nvSpPr>
          <p:cNvPr id="35" name="text 23.34"/>
          <p:cNvSpPr txBox="1"/>
          <p:nvPr/>
        </p:nvSpPr>
        <p:spPr>
          <a:xfrm>
            <a:off x="8896128"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36" name="text 23.35"/>
          <p:cNvSpPr txBox="1"/>
          <p:nvPr/>
        </p:nvSpPr>
        <p:spPr>
          <a:xfrm>
            <a:off x="9149427"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37" name="text 23.36"/>
          <p:cNvSpPr txBox="1"/>
          <p:nvPr/>
        </p:nvSpPr>
        <p:spPr>
          <a:xfrm>
            <a:off x="9402825"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38" name="text 23.37"/>
          <p:cNvSpPr txBox="1"/>
          <p:nvPr/>
        </p:nvSpPr>
        <p:spPr>
          <a:xfrm>
            <a:off x="9656124"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39" name="text 23.38"/>
          <p:cNvSpPr txBox="1"/>
          <p:nvPr/>
        </p:nvSpPr>
        <p:spPr>
          <a:xfrm>
            <a:off x="9909523"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40" name="text 23.39"/>
          <p:cNvSpPr txBox="1"/>
          <p:nvPr/>
        </p:nvSpPr>
        <p:spPr>
          <a:xfrm>
            <a:off x="10162921" y="1600160"/>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4–8 Jan</a:t>
            </a:r>
            <a:endParaRPr lang="en-US" sz="900" dirty="0"/>
          </a:p>
        </p:txBody>
      </p:sp>
      <p:sp>
        <p:nvSpPr>
          <p:cNvPr id="41" name="shape 23.40"/>
          <p:cNvSpPr/>
          <p:nvPr/>
        </p:nvSpPr>
        <p:spPr>
          <a:xfrm>
            <a:off x="10188320" y="1790655"/>
            <a:ext cx="1215995" cy="203195"/>
          </a:xfrm>
          <a:prstGeom prst="roundRect">
            <a:avLst>
              <a:gd name="adj" fmla="val 50000"/>
            </a:avLst>
          </a:prstGeom>
          <a:solidFill>
            <a:srgbClr val="8F55F5"/>
          </a:solidFill>
          <a:ln/>
        </p:spPr>
      </p:sp>
      <p:sp>
        <p:nvSpPr>
          <p:cNvPr id="42" name="text 23.41"/>
          <p:cNvSpPr txBox="1"/>
          <p:nvPr/>
        </p:nvSpPr>
        <p:spPr>
          <a:xfrm>
            <a:off x="10188320" y="1790655"/>
            <a:ext cx="1215995"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W12</a:t>
            </a:r>
            <a:endParaRPr lang="en-US" sz="800" dirty="0"/>
          </a:p>
        </p:txBody>
      </p:sp>
      <p:sp>
        <p:nvSpPr>
          <p:cNvPr id="43" name="text 23.42"/>
          <p:cNvSpPr txBox="1"/>
          <p:nvPr/>
        </p:nvSpPr>
        <p:spPr>
          <a:xfrm>
            <a:off x="10162921"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44" name="text 23.43"/>
          <p:cNvSpPr txBox="1"/>
          <p:nvPr/>
        </p:nvSpPr>
        <p:spPr>
          <a:xfrm>
            <a:off x="10416220"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45" name="text 23.44"/>
          <p:cNvSpPr txBox="1"/>
          <p:nvPr/>
        </p:nvSpPr>
        <p:spPr>
          <a:xfrm>
            <a:off x="10669618"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46" name="text 23.45"/>
          <p:cNvSpPr txBox="1"/>
          <p:nvPr/>
        </p:nvSpPr>
        <p:spPr>
          <a:xfrm>
            <a:off x="10922918"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47" name="text 23.46"/>
          <p:cNvSpPr txBox="1"/>
          <p:nvPr/>
        </p:nvSpPr>
        <p:spPr>
          <a:xfrm>
            <a:off x="11176316" y="2031949"/>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48" name="text 23.47"/>
          <p:cNvSpPr txBox="1"/>
          <p:nvPr/>
        </p:nvSpPr>
        <p:spPr>
          <a:xfrm>
            <a:off x="761981" y="2387540"/>
            <a:ext cx="155522" cy="146046"/>
          </a:xfrm>
          <a:prstGeom prst="rect">
            <a:avLst/>
          </a:prstGeom>
          <a:noFill/>
          <a:ln/>
        </p:spPr>
        <p:txBody>
          <a:bodyPr wrap="square" lIns="0" tIns="0" rIns="0" bIns="0" rtlCol="0" anchor="t"/>
          <a:lstStyle/>
          <a:p>
            <a:pPr algn="l" indent="0" marL="0">
              <a:lnSpc>
                <a:spcPts val="1150"/>
              </a:lnSpc>
              <a:buNone/>
            </a:pPr>
            <a:r>
              <a:rPr lang="en-US" sz="1150" dirty="0">
                <a:solidFill>
                  <a:srgbClr val="1B2340"/>
                </a:solidFill>
                <a:latin typeface="Arial Rounded MT Bold" pitchFamily="34" charset="0"/>
                <a:ea typeface="Arial Rounded MT Bold" pitchFamily="34" charset="-122"/>
                <a:cs typeface="Arial Rounded MT Bold" pitchFamily="34" charset="-120"/>
              </a:rPr>
              <a:t>3</a:t>
            </a:r>
            <a:endParaRPr lang="en-US" sz="1150" dirty="0"/>
          </a:p>
        </p:txBody>
      </p:sp>
      <p:sp>
        <p:nvSpPr>
          <p:cNvPr id="49" name="text 23.48"/>
          <p:cNvSpPr txBox="1"/>
          <p:nvPr/>
        </p:nvSpPr>
        <p:spPr>
          <a:xfrm>
            <a:off x="1244569" y="2387540"/>
            <a:ext cx="1050301" cy="146046"/>
          </a:xfrm>
          <a:prstGeom prst="rect">
            <a:avLst/>
          </a:prstGeom>
          <a:noFill/>
          <a:ln/>
        </p:spPr>
        <p:txBody>
          <a:bodyPr wrap="square" lIns="0" tIns="0" rIns="0" bIns="0" rtlCol="0" anchor="t"/>
          <a:lstStyle/>
          <a:p>
            <a:pPr algn="l" indent="0" marL="0">
              <a:lnSpc>
                <a:spcPts val="1150"/>
              </a:lnSpc>
              <a:buNone/>
            </a:pPr>
            <a:r>
              <a:rPr lang="en-US" sz="1150" dirty="0">
                <a:solidFill>
                  <a:srgbClr val="1B2340"/>
                </a:solidFill>
                <a:latin typeface="Arial Rounded MT Bold" pitchFamily="34" charset="0"/>
                <a:ea typeface="Arial Rounded MT Bold" pitchFamily="34" charset="-122"/>
                <a:cs typeface="Arial Rounded MT Bold" pitchFamily="34" charset="-120"/>
              </a:rPr>
              <a:t>Final · 11 Jan</a:t>
            </a:r>
            <a:endParaRPr lang="en-US" sz="1150" dirty="0"/>
          </a:p>
        </p:txBody>
      </p:sp>
      <p:sp>
        <p:nvSpPr>
          <p:cNvPr id="50" name="text 23.49"/>
          <p:cNvSpPr txBox="1"/>
          <p:nvPr/>
        </p:nvSpPr>
        <p:spPr>
          <a:xfrm>
            <a:off x="761981" y="2844729"/>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3.1</a:t>
            </a:r>
            <a:endParaRPr lang="en-US" sz="950" dirty="0"/>
          </a:p>
        </p:txBody>
      </p:sp>
      <p:sp>
        <p:nvSpPr>
          <p:cNvPr id="51" name="text 23.50"/>
          <p:cNvSpPr txBox="1"/>
          <p:nvPr/>
        </p:nvSpPr>
        <p:spPr>
          <a:xfrm>
            <a:off x="1244569" y="2838379"/>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Blast Parkour (stretch goal)</a:t>
            </a:r>
            <a:endParaRPr lang="en-US" sz="1050" dirty="0"/>
          </a:p>
        </p:txBody>
      </p:sp>
      <p:sp>
        <p:nvSpPr>
          <p:cNvPr id="52" name="shape 23.51"/>
          <p:cNvSpPr/>
          <p:nvPr/>
        </p:nvSpPr>
        <p:spPr>
          <a:xfrm>
            <a:off x="4419490" y="2806630"/>
            <a:ext cx="977876" cy="203195"/>
          </a:xfrm>
          <a:prstGeom prst="roundRect">
            <a:avLst>
              <a:gd name="adj" fmla="val 50000"/>
            </a:avLst>
          </a:prstGeom>
          <a:solidFill>
            <a:srgbClr val="E3F2FB"/>
          </a:solidFill>
          <a:ln/>
        </p:spPr>
      </p:sp>
      <p:sp>
        <p:nvSpPr>
          <p:cNvPr id="53" name="text 23.52"/>
          <p:cNvSpPr txBox="1"/>
          <p:nvPr/>
        </p:nvSpPr>
        <p:spPr>
          <a:xfrm>
            <a:off x="4419490" y="2806630"/>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FA9EA"/>
                </a:solidFill>
                <a:latin typeface="Arial" pitchFamily="34" charset="0"/>
                <a:ea typeface="Arial" pitchFamily="34" charset="-122"/>
                <a:cs typeface="Arial" pitchFamily="34" charset="-120"/>
              </a:rPr>
              <a:t>Abdurrahim</a:t>
            </a:r>
            <a:endParaRPr lang="en-US" sz="850" dirty="0"/>
          </a:p>
        </p:txBody>
      </p:sp>
      <p:sp>
        <p:nvSpPr>
          <p:cNvPr id="54" name="text 23.53"/>
          <p:cNvSpPr txBox="1"/>
          <p:nvPr/>
        </p:nvSpPr>
        <p:spPr>
          <a:xfrm>
            <a:off x="5625959" y="2844729"/>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3 wk</a:t>
            </a:r>
            <a:endParaRPr lang="en-US" sz="950" dirty="0"/>
          </a:p>
        </p:txBody>
      </p:sp>
      <p:sp>
        <p:nvSpPr>
          <p:cNvPr id="55" name="shape 23.54"/>
          <p:cNvSpPr/>
          <p:nvPr/>
        </p:nvSpPr>
        <p:spPr>
          <a:xfrm>
            <a:off x="6387940" y="2819330"/>
            <a:ext cx="3749581" cy="177796"/>
          </a:xfrm>
          <a:prstGeom prst="roundRect">
            <a:avLst>
              <a:gd name="adj" fmla="val 50000"/>
            </a:avLst>
          </a:prstGeom>
          <a:solidFill>
            <a:srgbClr val="1FA9EA"/>
          </a:solidFill>
          <a:ln/>
        </p:spPr>
      </p:sp>
      <p:sp>
        <p:nvSpPr>
          <p:cNvPr id="56" name="text 23.55"/>
          <p:cNvSpPr txBox="1"/>
          <p:nvPr/>
        </p:nvSpPr>
        <p:spPr>
          <a:xfrm>
            <a:off x="761981" y="3276518"/>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3.2</a:t>
            </a:r>
            <a:endParaRPr lang="en-US" sz="950" dirty="0"/>
          </a:p>
        </p:txBody>
      </p:sp>
      <p:sp>
        <p:nvSpPr>
          <p:cNvPr id="57" name="text 23.56"/>
          <p:cNvSpPr txBox="1"/>
          <p:nvPr/>
        </p:nvSpPr>
        <p:spPr>
          <a:xfrm>
            <a:off x="1244569" y="3270168"/>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Network fixes from playtests</a:t>
            </a:r>
            <a:endParaRPr lang="en-US" sz="1050" dirty="0"/>
          </a:p>
        </p:txBody>
      </p:sp>
      <p:sp>
        <p:nvSpPr>
          <p:cNvPr id="58" name="shape 23.57"/>
          <p:cNvSpPr/>
          <p:nvPr/>
        </p:nvSpPr>
        <p:spPr>
          <a:xfrm>
            <a:off x="4419490" y="3238419"/>
            <a:ext cx="977876" cy="203195"/>
          </a:xfrm>
          <a:prstGeom prst="roundRect">
            <a:avLst>
              <a:gd name="adj" fmla="val 50000"/>
            </a:avLst>
          </a:prstGeom>
          <a:solidFill>
            <a:srgbClr val="FFF0E6"/>
          </a:solidFill>
          <a:ln/>
        </p:spPr>
      </p:sp>
      <p:sp>
        <p:nvSpPr>
          <p:cNvPr id="59" name="text 23.58"/>
          <p:cNvSpPr txBox="1"/>
          <p:nvPr/>
        </p:nvSpPr>
        <p:spPr>
          <a:xfrm>
            <a:off x="4419490" y="3238419"/>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60" name="text 23.59"/>
          <p:cNvSpPr txBox="1"/>
          <p:nvPr/>
        </p:nvSpPr>
        <p:spPr>
          <a:xfrm>
            <a:off x="5625959" y="3276518"/>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61" name="shape 23.60"/>
          <p:cNvSpPr/>
          <p:nvPr/>
        </p:nvSpPr>
        <p:spPr>
          <a:xfrm>
            <a:off x="6387940" y="3251119"/>
            <a:ext cx="2482788" cy="177796"/>
          </a:xfrm>
          <a:prstGeom prst="roundRect">
            <a:avLst>
              <a:gd name="adj" fmla="val 50000"/>
            </a:avLst>
          </a:prstGeom>
          <a:solidFill>
            <a:srgbClr val="FF6B1F"/>
          </a:solidFill>
          <a:ln/>
        </p:spPr>
      </p:sp>
      <p:sp>
        <p:nvSpPr>
          <p:cNvPr id="62" name="text 23.61"/>
          <p:cNvSpPr txBox="1"/>
          <p:nvPr/>
        </p:nvSpPr>
        <p:spPr>
          <a:xfrm>
            <a:off x="761981" y="3708307"/>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3.3</a:t>
            </a:r>
            <a:endParaRPr lang="en-US" sz="950" dirty="0"/>
          </a:p>
        </p:txBody>
      </p:sp>
      <p:sp>
        <p:nvSpPr>
          <p:cNvPr id="63" name="text 23.62"/>
          <p:cNvSpPr txBox="1"/>
          <p:nvPr/>
        </p:nvSpPr>
        <p:spPr>
          <a:xfrm>
            <a:off x="1244569" y="3701957"/>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Balance tuning from playtests</a:t>
            </a:r>
            <a:endParaRPr lang="en-US" sz="1050" dirty="0"/>
          </a:p>
        </p:txBody>
      </p:sp>
      <p:sp>
        <p:nvSpPr>
          <p:cNvPr id="64" name="shape 23.63"/>
          <p:cNvSpPr/>
          <p:nvPr/>
        </p:nvSpPr>
        <p:spPr>
          <a:xfrm>
            <a:off x="4419490" y="3670208"/>
            <a:ext cx="977876" cy="203195"/>
          </a:xfrm>
          <a:prstGeom prst="roundRect">
            <a:avLst>
              <a:gd name="adj" fmla="val 50000"/>
            </a:avLst>
          </a:prstGeom>
          <a:solidFill>
            <a:srgbClr val="E9ECF2"/>
          </a:solidFill>
          <a:ln/>
        </p:spPr>
      </p:sp>
      <p:sp>
        <p:nvSpPr>
          <p:cNvPr id="65" name="text 23.64"/>
          <p:cNvSpPr txBox="1"/>
          <p:nvPr/>
        </p:nvSpPr>
        <p:spPr>
          <a:xfrm>
            <a:off x="4419490" y="3670208"/>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B2340"/>
                </a:solidFill>
                <a:latin typeface="Arial" pitchFamily="34" charset="0"/>
                <a:ea typeface="Arial" pitchFamily="34" charset="-122"/>
                <a:cs typeface="Arial" pitchFamily="34" charset="-120"/>
              </a:rPr>
              <a:t>Team</a:t>
            </a:r>
            <a:endParaRPr lang="en-US" sz="850" dirty="0"/>
          </a:p>
        </p:txBody>
      </p:sp>
      <p:sp>
        <p:nvSpPr>
          <p:cNvPr id="66" name="text 23.65"/>
          <p:cNvSpPr txBox="1"/>
          <p:nvPr/>
        </p:nvSpPr>
        <p:spPr>
          <a:xfrm>
            <a:off x="5625959" y="3708307"/>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67" name="shape 23.66"/>
          <p:cNvSpPr/>
          <p:nvPr/>
        </p:nvSpPr>
        <p:spPr>
          <a:xfrm>
            <a:off x="6387940" y="3682908"/>
            <a:ext cx="2482788" cy="177796"/>
          </a:xfrm>
          <a:prstGeom prst="roundRect">
            <a:avLst>
              <a:gd name="adj" fmla="val 50000"/>
            </a:avLst>
          </a:prstGeom>
          <a:solidFill>
            <a:srgbClr val="1B2340"/>
          </a:solidFill>
          <a:ln/>
        </p:spPr>
      </p:sp>
      <p:sp>
        <p:nvSpPr>
          <p:cNvPr id="68" name="text 23.67"/>
          <p:cNvSpPr txBox="1"/>
          <p:nvPr/>
        </p:nvSpPr>
        <p:spPr>
          <a:xfrm>
            <a:off x="761981" y="4140096"/>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3.4</a:t>
            </a:r>
            <a:endParaRPr lang="en-US" sz="950" dirty="0"/>
          </a:p>
        </p:txBody>
      </p:sp>
      <p:sp>
        <p:nvSpPr>
          <p:cNvPr id="69" name="text 23.68"/>
          <p:cNvSpPr txBox="1"/>
          <p:nvPr/>
        </p:nvSpPr>
        <p:spPr>
          <a:xfrm>
            <a:off x="1244569" y="4133747"/>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VFX &amp; sound</a:t>
            </a:r>
            <a:endParaRPr lang="en-US" sz="1050" dirty="0"/>
          </a:p>
        </p:txBody>
      </p:sp>
      <p:sp>
        <p:nvSpPr>
          <p:cNvPr id="70" name="shape 23.69"/>
          <p:cNvSpPr/>
          <p:nvPr/>
        </p:nvSpPr>
        <p:spPr>
          <a:xfrm>
            <a:off x="4419490" y="4101997"/>
            <a:ext cx="977876" cy="203195"/>
          </a:xfrm>
          <a:prstGeom prst="roundRect">
            <a:avLst>
              <a:gd name="adj" fmla="val 50000"/>
            </a:avLst>
          </a:prstGeom>
          <a:solidFill>
            <a:srgbClr val="E7F5E1"/>
          </a:solidFill>
          <a:ln/>
        </p:spPr>
      </p:sp>
      <p:sp>
        <p:nvSpPr>
          <p:cNvPr id="71" name="text 23.70"/>
          <p:cNvSpPr txBox="1"/>
          <p:nvPr/>
        </p:nvSpPr>
        <p:spPr>
          <a:xfrm>
            <a:off x="4419490" y="4101997"/>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72" name="text 23.71"/>
          <p:cNvSpPr txBox="1"/>
          <p:nvPr/>
        </p:nvSpPr>
        <p:spPr>
          <a:xfrm>
            <a:off x="5625959" y="4140096"/>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73" name="shape 23.72"/>
          <p:cNvSpPr/>
          <p:nvPr/>
        </p:nvSpPr>
        <p:spPr>
          <a:xfrm>
            <a:off x="7654734" y="4114697"/>
            <a:ext cx="2482788" cy="177796"/>
          </a:xfrm>
          <a:prstGeom prst="roundRect">
            <a:avLst>
              <a:gd name="adj" fmla="val 50000"/>
            </a:avLst>
          </a:prstGeom>
          <a:solidFill>
            <a:srgbClr val="43B832"/>
          </a:solidFill>
          <a:ln/>
        </p:spPr>
      </p:sp>
      <p:sp>
        <p:nvSpPr>
          <p:cNvPr id="74" name="text 23.73"/>
          <p:cNvSpPr txBox="1"/>
          <p:nvPr/>
        </p:nvSpPr>
        <p:spPr>
          <a:xfrm>
            <a:off x="761981" y="4571886"/>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3.5</a:t>
            </a:r>
            <a:endParaRPr lang="en-US" sz="950" dirty="0"/>
          </a:p>
        </p:txBody>
      </p:sp>
      <p:sp>
        <p:nvSpPr>
          <p:cNvPr id="75" name="text 23.74"/>
          <p:cNvSpPr txBox="1"/>
          <p:nvPr/>
        </p:nvSpPr>
        <p:spPr>
          <a:xfrm>
            <a:off x="1244569" y="4565536"/>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Art &amp; UI polish, party-theme arenas</a:t>
            </a:r>
            <a:endParaRPr lang="en-US" sz="1050" dirty="0"/>
          </a:p>
        </p:txBody>
      </p:sp>
      <p:sp>
        <p:nvSpPr>
          <p:cNvPr id="76" name="shape 23.75"/>
          <p:cNvSpPr/>
          <p:nvPr/>
        </p:nvSpPr>
        <p:spPr>
          <a:xfrm>
            <a:off x="4419490" y="4533787"/>
            <a:ext cx="977876" cy="203195"/>
          </a:xfrm>
          <a:prstGeom prst="roundRect">
            <a:avLst>
              <a:gd name="adj" fmla="val 50000"/>
            </a:avLst>
          </a:prstGeom>
          <a:solidFill>
            <a:srgbClr val="F1E9FF"/>
          </a:solidFill>
          <a:ln/>
        </p:spPr>
      </p:sp>
      <p:sp>
        <p:nvSpPr>
          <p:cNvPr id="77" name="text 23.76"/>
          <p:cNvSpPr txBox="1"/>
          <p:nvPr/>
        </p:nvSpPr>
        <p:spPr>
          <a:xfrm>
            <a:off x="4419490" y="4533787"/>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78" name="text 23.77"/>
          <p:cNvSpPr txBox="1"/>
          <p:nvPr/>
        </p:nvSpPr>
        <p:spPr>
          <a:xfrm>
            <a:off x="5625959" y="4571886"/>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3 wk</a:t>
            </a:r>
            <a:endParaRPr lang="en-US" sz="950" dirty="0"/>
          </a:p>
        </p:txBody>
      </p:sp>
      <p:sp>
        <p:nvSpPr>
          <p:cNvPr id="79" name="shape 23.78"/>
          <p:cNvSpPr/>
          <p:nvPr/>
        </p:nvSpPr>
        <p:spPr>
          <a:xfrm>
            <a:off x="6387940" y="4546486"/>
            <a:ext cx="3749581" cy="177796"/>
          </a:xfrm>
          <a:prstGeom prst="roundRect">
            <a:avLst>
              <a:gd name="adj" fmla="val 50000"/>
            </a:avLst>
          </a:prstGeom>
          <a:solidFill>
            <a:srgbClr val="8F55F5"/>
          </a:solidFill>
          <a:ln/>
        </p:spPr>
      </p:sp>
      <p:sp>
        <p:nvSpPr>
          <p:cNvPr id="80" name="text 23.79"/>
          <p:cNvSpPr txBox="1"/>
          <p:nvPr/>
        </p:nvSpPr>
        <p:spPr>
          <a:xfrm>
            <a:off x="761981" y="5003675"/>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3.6</a:t>
            </a:r>
            <a:endParaRPr lang="en-US" sz="950" dirty="0"/>
          </a:p>
        </p:txBody>
      </p:sp>
      <p:sp>
        <p:nvSpPr>
          <p:cNvPr id="81" name="text 23.80"/>
          <p:cNvSpPr txBox="1"/>
          <p:nvPr/>
        </p:nvSpPr>
        <p:spPr>
          <a:xfrm>
            <a:off x="1244569" y="4997325"/>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LAN stress test &amp; final build</a:t>
            </a:r>
            <a:endParaRPr lang="en-US" sz="1050" dirty="0"/>
          </a:p>
        </p:txBody>
      </p:sp>
      <p:sp>
        <p:nvSpPr>
          <p:cNvPr id="82" name="shape 23.81"/>
          <p:cNvSpPr/>
          <p:nvPr/>
        </p:nvSpPr>
        <p:spPr>
          <a:xfrm>
            <a:off x="4419490" y="4965576"/>
            <a:ext cx="977876" cy="203195"/>
          </a:xfrm>
          <a:prstGeom prst="roundRect">
            <a:avLst>
              <a:gd name="adj" fmla="val 50000"/>
            </a:avLst>
          </a:prstGeom>
          <a:solidFill>
            <a:srgbClr val="FFF0E6"/>
          </a:solidFill>
          <a:ln/>
        </p:spPr>
      </p:sp>
      <p:sp>
        <p:nvSpPr>
          <p:cNvPr id="83" name="text 23.82"/>
          <p:cNvSpPr txBox="1"/>
          <p:nvPr/>
        </p:nvSpPr>
        <p:spPr>
          <a:xfrm>
            <a:off x="4419490" y="4965576"/>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84" name="text 23.83"/>
          <p:cNvSpPr txBox="1"/>
          <p:nvPr/>
        </p:nvSpPr>
        <p:spPr>
          <a:xfrm>
            <a:off x="5625959" y="5003675"/>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1 wk</a:t>
            </a:r>
            <a:endParaRPr lang="en-US" sz="950" dirty="0"/>
          </a:p>
        </p:txBody>
      </p:sp>
      <p:sp>
        <p:nvSpPr>
          <p:cNvPr id="85" name="shape 23.84"/>
          <p:cNvSpPr/>
          <p:nvPr/>
        </p:nvSpPr>
        <p:spPr>
          <a:xfrm>
            <a:off x="8921527" y="4978276"/>
            <a:ext cx="1215995" cy="177796"/>
          </a:xfrm>
          <a:prstGeom prst="roundRect">
            <a:avLst>
              <a:gd name="adj" fmla="val 50000"/>
            </a:avLst>
          </a:prstGeom>
          <a:solidFill>
            <a:srgbClr val="FF6B1F"/>
          </a:solidFill>
          <a:ln/>
        </p:spPr>
      </p:sp>
      <p:sp>
        <p:nvSpPr>
          <p:cNvPr id="86" name="text 23.85"/>
          <p:cNvSpPr txBox="1"/>
          <p:nvPr/>
        </p:nvSpPr>
        <p:spPr>
          <a:xfrm>
            <a:off x="761981" y="5435464"/>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3.7</a:t>
            </a:r>
            <a:endParaRPr lang="en-US" sz="950" dirty="0"/>
          </a:p>
        </p:txBody>
      </p:sp>
      <p:sp>
        <p:nvSpPr>
          <p:cNvPr id="87" name="text 23.86"/>
          <p:cNvSpPr txBox="1"/>
          <p:nvPr/>
        </p:nvSpPr>
        <p:spPr>
          <a:xfrm>
            <a:off x="1244569" y="5429114"/>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Promo video &amp; final deck</a:t>
            </a:r>
            <a:endParaRPr lang="en-US" sz="1050" dirty="0"/>
          </a:p>
        </p:txBody>
      </p:sp>
      <p:sp>
        <p:nvSpPr>
          <p:cNvPr id="88" name="shape 23.87"/>
          <p:cNvSpPr/>
          <p:nvPr/>
        </p:nvSpPr>
        <p:spPr>
          <a:xfrm>
            <a:off x="4419490" y="5397365"/>
            <a:ext cx="977876" cy="203195"/>
          </a:xfrm>
          <a:prstGeom prst="roundRect">
            <a:avLst>
              <a:gd name="adj" fmla="val 50000"/>
            </a:avLst>
          </a:prstGeom>
          <a:solidFill>
            <a:srgbClr val="E9ECF2"/>
          </a:solidFill>
          <a:ln/>
        </p:spPr>
      </p:sp>
      <p:sp>
        <p:nvSpPr>
          <p:cNvPr id="89" name="text 23.88"/>
          <p:cNvSpPr txBox="1"/>
          <p:nvPr/>
        </p:nvSpPr>
        <p:spPr>
          <a:xfrm>
            <a:off x="4419490" y="5397365"/>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B2340"/>
                </a:solidFill>
                <a:latin typeface="Arial" pitchFamily="34" charset="0"/>
                <a:ea typeface="Arial" pitchFamily="34" charset="-122"/>
                <a:cs typeface="Arial" pitchFamily="34" charset="-120"/>
              </a:rPr>
              <a:t>Team</a:t>
            </a:r>
            <a:endParaRPr lang="en-US" sz="850" dirty="0"/>
          </a:p>
        </p:txBody>
      </p:sp>
      <p:sp>
        <p:nvSpPr>
          <p:cNvPr id="90" name="text 23.89"/>
          <p:cNvSpPr txBox="1"/>
          <p:nvPr/>
        </p:nvSpPr>
        <p:spPr>
          <a:xfrm>
            <a:off x="5625959" y="5435464"/>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1 wk</a:t>
            </a:r>
            <a:endParaRPr lang="en-US" sz="950" dirty="0"/>
          </a:p>
        </p:txBody>
      </p:sp>
      <p:sp>
        <p:nvSpPr>
          <p:cNvPr id="91" name="shape 23.90"/>
          <p:cNvSpPr/>
          <p:nvPr/>
        </p:nvSpPr>
        <p:spPr>
          <a:xfrm>
            <a:off x="10188320" y="5410065"/>
            <a:ext cx="1215995" cy="177796"/>
          </a:xfrm>
          <a:prstGeom prst="roundRect">
            <a:avLst>
              <a:gd name="adj" fmla="val 50000"/>
            </a:avLst>
          </a:prstGeom>
          <a:solidFill>
            <a:srgbClr val="1B2340"/>
          </a:solidFill>
          <a:ln/>
        </p:spPr>
      </p:sp>
      <p:sp>
        <p:nvSpPr>
          <p:cNvPr id="92" name="text 23.91"/>
          <p:cNvSpPr txBox="1"/>
          <p:nvPr/>
        </p:nvSpPr>
        <p:spPr>
          <a:xfrm>
            <a:off x="609585" y="6197445"/>
            <a:ext cx="1217521"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B2340"/>
                </a:solidFill>
                <a:latin typeface="Arial" pitchFamily="34" charset="0"/>
                <a:ea typeface="Arial" pitchFamily="34" charset="-122"/>
                <a:cs typeface="Arial" pitchFamily="34" charset="-120"/>
              </a:rPr>
              <a:t>PROPOSED OWNERS</a:t>
            </a:r>
            <a:endParaRPr lang="en-US" sz="700" dirty="0"/>
          </a:p>
        </p:txBody>
      </p:sp>
      <p:sp>
        <p:nvSpPr>
          <p:cNvPr id="93" name="shape 23.92"/>
          <p:cNvSpPr/>
          <p:nvPr/>
        </p:nvSpPr>
        <p:spPr>
          <a:xfrm>
            <a:off x="2095448" y="6121247"/>
            <a:ext cx="241294" cy="241294"/>
          </a:xfrm>
          <a:prstGeom prst="roundRect">
            <a:avLst>
              <a:gd name="adj" fmla="val 28947"/>
            </a:avLst>
          </a:prstGeom>
          <a:solidFill>
            <a:srgbClr val="FF6B1F"/>
          </a:solidFill>
          <a:ln/>
        </p:spPr>
      </p:sp>
      <p:sp>
        <p:nvSpPr>
          <p:cNvPr id="94" name="text 23.93"/>
          <p:cNvSpPr txBox="1"/>
          <p:nvPr/>
        </p:nvSpPr>
        <p:spPr>
          <a:xfrm>
            <a:off x="2412940" y="6114897"/>
            <a:ext cx="332942"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Ezel</a:t>
            </a:r>
            <a:endParaRPr lang="en-US" sz="1000" dirty="0"/>
          </a:p>
        </p:txBody>
      </p:sp>
      <p:sp>
        <p:nvSpPr>
          <p:cNvPr id="95" name="text 23.94"/>
          <p:cNvSpPr txBox="1"/>
          <p:nvPr/>
        </p:nvSpPr>
        <p:spPr>
          <a:xfrm>
            <a:off x="2412940" y="6267293"/>
            <a:ext cx="745836"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Network, build</a:t>
            </a:r>
            <a:endParaRPr lang="en-US" sz="800" dirty="0"/>
          </a:p>
        </p:txBody>
      </p:sp>
      <p:sp>
        <p:nvSpPr>
          <p:cNvPr id="96" name="shape 23.95"/>
          <p:cNvSpPr/>
          <p:nvPr/>
        </p:nvSpPr>
        <p:spPr>
          <a:xfrm>
            <a:off x="4000400" y="6121247"/>
            <a:ext cx="241294" cy="241294"/>
          </a:xfrm>
          <a:prstGeom prst="roundRect">
            <a:avLst>
              <a:gd name="adj" fmla="val 28947"/>
            </a:avLst>
          </a:prstGeom>
          <a:solidFill>
            <a:srgbClr val="1FA9EA"/>
          </a:solidFill>
          <a:ln/>
        </p:spPr>
      </p:sp>
      <p:sp>
        <p:nvSpPr>
          <p:cNvPr id="97" name="text 23.96"/>
          <p:cNvSpPr txBox="1"/>
          <p:nvPr/>
        </p:nvSpPr>
        <p:spPr>
          <a:xfrm>
            <a:off x="4317892" y="6114897"/>
            <a:ext cx="826396"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Abdurrahim</a:t>
            </a:r>
            <a:endParaRPr lang="en-US" sz="1000" dirty="0"/>
          </a:p>
        </p:txBody>
      </p:sp>
      <p:sp>
        <p:nvSpPr>
          <p:cNvPr id="98" name="text 23.97"/>
          <p:cNvSpPr txBox="1"/>
          <p:nvPr/>
        </p:nvSpPr>
        <p:spPr>
          <a:xfrm>
            <a:off x="4317892" y="6267293"/>
            <a:ext cx="1164831"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Shots, mini-game rules</a:t>
            </a:r>
            <a:endParaRPr lang="en-US" sz="800" dirty="0"/>
          </a:p>
        </p:txBody>
      </p:sp>
      <p:sp>
        <p:nvSpPr>
          <p:cNvPr id="99" name="shape 23.98"/>
          <p:cNvSpPr/>
          <p:nvPr/>
        </p:nvSpPr>
        <p:spPr>
          <a:xfrm>
            <a:off x="5905352" y="6121247"/>
            <a:ext cx="241294" cy="241294"/>
          </a:xfrm>
          <a:prstGeom prst="roundRect">
            <a:avLst>
              <a:gd name="adj" fmla="val 28947"/>
            </a:avLst>
          </a:prstGeom>
          <a:solidFill>
            <a:srgbClr val="43B832"/>
          </a:solidFill>
          <a:ln/>
        </p:spPr>
      </p:sp>
      <p:sp>
        <p:nvSpPr>
          <p:cNvPr id="100" name="text 23.99"/>
          <p:cNvSpPr txBox="1"/>
          <p:nvPr/>
        </p:nvSpPr>
        <p:spPr>
          <a:xfrm>
            <a:off x="6222844" y="6114897"/>
            <a:ext cx="489960"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Kürşat</a:t>
            </a:r>
            <a:endParaRPr lang="en-US" sz="1000" dirty="0"/>
          </a:p>
        </p:txBody>
      </p:sp>
      <p:sp>
        <p:nvSpPr>
          <p:cNvPr id="101" name="text 23.100"/>
          <p:cNvSpPr txBox="1"/>
          <p:nvPr/>
        </p:nvSpPr>
        <p:spPr>
          <a:xfrm>
            <a:off x="6222844" y="6267293"/>
            <a:ext cx="901487"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Movement, levels</a:t>
            </a:r>
            <a:endParaRPr lang="en-US" sz="800" dirty="0"/>
          </a:p>
        </p:txBody>
      </p:sp>
      <p:sp>
        <p:nvSpPr>
          <p:cNvPr id="102" name="shape 23.101"/>
          <p:cNvSpPr/>
          <p:nvPr/>
        </p:nvSpPr>
        <p:spPr>
          <a:xfrm>
            <a:off x="7810305" y="6121247"/>
            <a:ext cx="241294" cy="241294"/>
          </a:xfrm>
          <a:prstGeom prst="roundRect">
            <a:avLst>
              <a:gd name="adj" fmla="val 28947"/>
            </a:avLst>
          </a:prstGeom>
          <a:solidFill>
            <a:srgbClr val="8F55F5"/>
          </a:solidFill>
          <a:ln/>
        </p:spPr>
      </p:sp>
      <p:sp>
        <p:nvSpPr>
          <p:cNvPr id="103" name="text 23.102"/>
          <p:cNvSpPr txBox="1"/>
          <p:nvPr/>
        </p:nvSpPr>
        <p:spPr>
          <a:xfrm>
            <a:off x="8127797" y="6114897"/>
            <a:ext cx="370172"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Ardıl</a:t>
            </a:r>
            <a:endParaRPr lang="en-US" sz="1000" dirty="0"/>
          </a:p>
        </p:txBody>
      </p:sp>
      <p:sp>
        <p:nvSpPr>
          <p:cNvPr id="104" name="text 23.103"/>
          <p:cNvSpPr txBox="1"/>
          <p:nvPr/>
        </p:nvSpPr>
        <p:spPr>
          <a:xfrm>
            <a:off x="8127797" y="6267293"/>
            <a:ext cx="793688"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Art, UI, session</a:t>
            </a:r>
            <a:endParaRPr lang="en-US" sz="800" dirty="0"/>
          </a:p>
        </p:txBody>
      </p:sp>
      <p:sp>
        <p:nvSpPr>
          <p:cNvPr id="105" name="shape 23.104"/>
          <p:cNvSpPr/>
          <p:nvPr/>
        </p:nvSpPr>
        <p:spPr>
          <a:xfrm>
            <a:off x="9715257" y="6121247"/>
            <a:ext cx="241294" cy="241294"/>
          </a:xfrm>
          <a:prstGeom prst="roundRect">
            <a:avLst>
              <a:gd name="adj" fmla="val 28947"/>
            </a:avLst>
          </a:prstGeom>
          <a:solidFill>
            <a:srgbClr val="1B2340"/>
          </a:solidFill>
          <a:ln/>
        </p:spPr>
      </p:sp>
      <p:sp>
        <p:nvSpPr>
          <p:cNvPr id="106" name="text 23.105"/>
          <p:cNvSpPr txBox="1"/>
          <p:nvPr/>
        </p:nvSpPr>
        <p:spPr>
          <a:xfrm>
            <a:off x="10032749" y="6114897"/>
            <a:ext cx="405193"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Team</a:t>
            </a:r>
            <a:endParaRPr lang="en-US" sz="1000" dirty="0"/>
          </a:p>
        </p:txBody>
      </p:sp>
      <p:sp>
        <p:nvSpPr>
          <p:cNvPr id="107" name="text 23.106"/>
          <p:cNvSpPr txBox="1"/>
          <p:nvPr/>
        </p:nvSpPr>
        <p:spPr>
          <a:xfrm>
            <a:off x="10032749" y="6267293"/>
            <a:ext cx="692095"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Shared tasks</a:t>
            </a:r>
            <a:endParaRPr lang="en-US" sz="800" dirty="0"/>
          </a:p>
        </p:txBody>
      </p:sp>
      <p:pic>
        <p:nvPicPr>
          <p:cNvPr id="108" name="raster 23.107" descr="diagram">    </p:cNvPr>
          <p:cNvPicPr>
            <a:picLocks noChangeAspect="1"/>
          </p:cNvPicPr>
          <p:nvPr/>
        </p:nvPicPr>
        <p:blipFill>
          <a:blip r:embed="rId3"/>
          <a:stretch>
            <a:fillRect/>
          </a:stretch>
        </p:blipFill>
        <p:spPr>
          <a:xfrm>
            <a:off x="609585" y="266693"/>
            <a:ext cx="190495" cy="190495"/>
          </a:xfrm>
          <a:prstGeom prst="rect">
            <a:avLst/>
          </a:prstGeom>
        </p:spPr>
      </p:pic>
      <p:sp>
        <p:nvSpPr>
          <p:cNvPr id="109" name="text 23.108"/>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110" name="text 23.109"/>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111" name="text 23.110"/>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112" name="text 23.111"/>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23 / 25</a:t>
            </a:r>
            <a:endParaRPr lang="en-US" sz="750" dirty="0"/>
          </a:p>
        </p:txBody>
      </p:sp>
      <p:sp>
        <p:nvSpPr>
          <p:cNvPr id="113" name="text 23.112"/>
          <p:cNvSpPr txBox="1"/>
          <p:nvPr/>
        </p:nvSpPr>
        <p:spPr>
          <a:xfrm>
            <a:off x="609585" y="698483"/>
            <a:ext cx="1843172"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8F55F5"/>
                </a:solidFill>
                <a:latin typeface="Arial" pitchFamily="34" charset="0"/>
                <a:ea typeface="Arial" pitchFamily="34" charset="-122"/>
                <a:cs typeface="Arial" pitchFamily="34" charset="-120"/>
              </a:rPr>
              <a:t>06 · DEVELOPMENT PLAN</a:t>
            </a:r>
            <a:endParaRPr lang="en-US" sz="85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24.1" descr="sp_cover.png">    </p:cNvPr>
          <p:cNvPicPr>
            <a:picLocks noChangeAspect="1"/>
          </p:cNvPicPr>
          <p:nvPr/>
        </p:nvPicPr>
        <p:blipFill>
          <a:blip r:embed="rId2"/>
          <a:stretch>
            <a:fillRect/>
          </a:stretch>
        </p:blipFill>
        <p:spPr>
          <a:xfrm>
            <a:off x="0" y="0"/>
            <a:ext cx="12191695" cy="6857829"/>
          </a:xfrm>
          <a:prstGeom prst="rect">
            <a:avLst/>
          </a:prstGeom>
        </p:spPr>
      </p:pic>
      <p:sp>
        <p:nvSpPr>
          <p:cNvPr id="3" name="shape 24.2"/>
          <p:cNvSpPr/>
          <p:nvPr/>
        </p:nvSpPr>
        <p:spPr>
          <a:xfrm>
            <a:off x="609585" y="419090"/>
            <a:ext cx="6349841" cy="5714857"/>
          </a:xfrm>
          <a:prstGeom prst="roundRect">
            <a:avLst>
              <a:gd name="adj" fmla="val 2667"/>
            </a:avLst>
          </a:prstGeom>
          <a:solidFill>
            <a:srgbClr val="FFFFFF"/>
          </a:solidFill>
          <a:ln/>
          <a:effectLst>
            <a:outerShdw sx="100000" sy="100000" kx="0" ky="0" algn="bl" rotWithShape="0" blurRad="203200" dist="76200" dir="5400000">
              <a:srgbClr val="1E468C">
                <a:alpha val="16000"/>
              </a:srgbClr>
            </a:outerShdw>
          </a:effectLst>
        </p:spPr>
      </p:sp>
      <p:sp>
        <p:nvSpPr>
          <p:cNvPr id="4" name="shape 24.3"/>
          <p:cNvSpPr/>
          <p:nvPr/>
        </p:nvSpPr>
        <p:spPr>
          <a:xfrm>
            <a:off x="888978" y="1904952"/>
            <a:ext cx="5714857" cy="698483"/>
          </a:xfrm>
          <a:prstGeom prst="roundRect">
            <a:avLst>
              <a:gd name="adj" fmla="val 2181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24.4"/>
          <p:cNvSpPr/>
          <p:nvPr/>
        </p:nvSpPr>
        <p:spPr>
          <a:xfrm>
            <a:off x="888978" y="2743131"/>
            <a:ext cx="5714857" cy="698483"/>
          </a:xfrm>
          <a:prstGeom prst="roundRect">
            <a:avLst>
              <a:gd name="adj" fmla="val 2181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shape 24.5"/>
          <p:cNvSpPr/>
          <p:nvPr/>
        </p:nvSpPr>
        <p:spPr>
          <a:xfrm>
            <a:off x="888978" y="3581310"/>
            <a:ext cx="5714857" cy="698483"/>
          </a:xfrm>
          <a:prstGeom prst="roundRect">
            <a:avLst>
              <a:gd name="adj" fmla="val 2181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7" name="text 24.6"/>
          <p:cNvSpPr txBox="1"/>
          <p:nvPr/>
        </p:nvSpPr>
        <p:spPr>
          <a:xfrm>
            <a:off x="914377" y="736582"/>
            <a:ext cx="1228668"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6F778C"/>
                </a:solidFill>
                <a:latin typeface="Arial" pitchFamily="34" charset="0"/>
                <a:ea typeface="Arial" pitchFamily="34" charset="-122"/>
                <a:cs typeface="Arial" pitchFamily="34" charset="-120"/>
              </a:rPr>
              <a:t>FINAL STANDINGS</a:t>
            </a:r>
            <a:endParaRPr lang="en-US" sz="800" dirty="0"/>
          </a:p>
        </p:txBody>
      </p:sp>
      <p:sp>
        <p:nvSpPr>
          <p:cNvPr id="8" name="text 24.7"/>
          <p:cNvSpPr txBox="1"/>
          <p:nvPr/>
        </p:nvSpPr>
        <p:spPr>
          <a:xfrm>
            <a:off x="888978" y="977876"/>
            <a:ext cx="6064561" cy="533387"/>
          </a:xfrm>
          <a:prstGeom prst="rect">
            <a:avLst/>
          </a:prstGeom>
          <a:noFill/>
          <a:ln/>
        </p:spPr>
        <p:txBody>
          <a:bodyPr wrap="square" lIns="0" tIns="0" rIns="0" bIns="0" rtlCol="0" anchor="t"/>
          <a:lstStyle/>
          <a:p>
            <a:pPr algn="l" indent="0" marL="0">
              <a:lnSpc>
                <a:spcPts val="4200"/>
              </a:lnSpc>
              <a:buNone/>
            </a:pPr>
            <a:r>
              <a:rPr lang="en-US" sz="42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4200"/>
              </a:lnSpc>
              <a:buNone/>
            </a:pPr>
            <a:r>
              <a:rPr lang="en-US" sz="4200" dirty="0">
                <a:solidFill>
                  <a:srgbClr val="43B832"/>
                </a:solidFill>
                <a:latin typeface="Arial Rounded MT Bold" pitchFamily="34" charset="0"/>
                <a:ea typeface="Arial Rounded MT Bold" pitchFamily="34" charset="-122"/>
                <a:cs typeface="Arial Rounded MT Bold" pitchFamily="34" charset="-120"/>
              </a:rPr>
              <a:t>Party</a:t>
            </a:r>
            <a:pPr algn="l" indent="0" marL="0">
              <a:lnSpc>
                <a:spcPts val="4200"/>
              </a:lnSpc>
              <a:buNone/>
            </a:pPr>
            <a:r>
              <a:rPr lang="en-US" sz="4200" dirty="0">
                <a:solidFill>
                  <a:srgbClr val="1B2340"/>
                </a:solidFill>
                <a:latin typeface="Arial Rounded MT Bold" pitchFamily="34" charset="0"/>
                <a:ea typeface="Arial Rounded MT Bold" pitchFamily="34" charset="-122"/>
                <a:cs typeface="Arial Rounded MT Bold" pitchFamily="34" charset="-120"/>
              </a:rPr>
              <a:t> in short</a:t>
            </a:r>
            <a:endParaRPr lang="en-US" sz="4200" dirty="0"/>
          </a:p>
        </p:txBody>
      </p:sp>
      <p:sp>
        <p:nvSpPr>
          <p:cNvPr id="9" name="shape 24.8"/>
          <p:cNvSpPr/>
          <p:nvPr/>
        </p:nvSpPr>
        <p:spPr>
          <a:xfrm>
            <a:off x="1054074" y="2101797"/>
            <a:ext cx="546086" cy="304792"/>
          </a:xfrm>
          <a:prstGeom prst="roundRect">
            <a:avLst>
              <a:gd name="adj" fmla="val 50000"/>
            </a:avLst>
          </a:prstGeom>
          <a:solidFill>
            <a:srgbClr val="FF6B1F"/>
          </a:solidFill>
          <a:ln/>
        </p:spPr>
      </p:sp>
      <p:sp>
        <p:nvSpPr>
          <p:cNvPr id="10" name="text 24.9"/>
          <p:cNvSpPr txBox="1"/>
          <p:nvPr/>
        </p:nvSpPr>
        <p:spPr>
          <a:xfrm>
            <a:off x="1054074" y="2101797"/>
            <a:ext cx="546086" cy="304792"/>
          </a:xfrm>
          <a:prstGeom prst="rect">
            <a:avLst/>
          </a:prstGeom>
          <a:noFill/>
          <a:ln/>
        </p:spPr>
        <p:txBody>
          <a:bodyPr wrap="square" lIns="0" tIns="0" rIns="0" bIns="0" rtlCol="0" anchor="ctr"/>
          <a:lstStyle/>
          <a:p>
            <a:pPr algn="ctr" indent="0" marL="0">
              <a:lnSpc>
                <a:spcPts val="1300"/>
              </a:lnSpc>
              <a:buNone/>
            </a:pPr>
            <a:r>
              <a:rPr lang="en-US" sz="1300" dirty="0">
                <a:solidFill>
                  <a:srgbClr val="FFFFFF"/>
                </a:solidFill>
                <a:latin typeface="Arial Rounded MT Bold" pitchFamily="34" charset="0"/>
                <a:ea typeface="Arial Rounded MT Bold" pitchFamily="34" charset="-122"/>
                <a:cs typeface="Arial Rounded MT Bold" pitchFamily="34" charset="-120"/>
              </a:rPr>
              <a:t>1st</a:t>
            </a:r>
            <a:endParaRPr lang="en-US" sz="1300" dirty="0"/>
          </a:p>
        </p:txBody>
      </p:sp>
      <p:sp>
        <p:nvSpPr>
          <p:cNvPr id="11" name="text 24.10"/>
          <p:cNvSpPr txBox="1"/>
          <p:nvPr/>
        </p:nvSpPr>
        <p:spPr>
          <a:xfrm>
            <a:off x="1777956" y="2063698"/>
            <a:ext cx="4673483" cy="380990"/>
          </a:xfrm>
          <a:prstGeom prst="rect">
            <a:avLst/>
          </a:prstGeom>
          <a:noFill/>
          <a:ln/>
        </p:spPr>
        <p:txBody>
          <a:bodyPr wrap="square" lIns="0" tIns="0" rIns="0" bIns="0" rtlCol="0" anchor="ctr"/>
          <a:lstStyle/>
          <a:p>
            <a:pPr algn="l" indent="0" marL="0">
              <a:lnSpc>
                <a:spcPts val="1650"/>
              </a:lnSpc>
              <a:buNone/>
            </a:pPr>
            <a:r>
              <a:rPr lang="en-US" sz="1250" dirty="0">
                <a:solidFill>
                  <a:srgbClr val="1B2340"/>
                </a:solidFill>
                <a:latin typeface="Arial" pitchFamily="34" charset="0"/>
                <a:ea typeface="Arial" pitchFamily="34" charset="-122"/>
                <a:cs typeface="Arial" pitchFamily="34" charset="-120"/>
              </a:rPr>
              <a:t>2–4 players, one LAN, no internet, your own playlist.</a:t>
            </a:r>
            <a:endParaRPr lang="en-US" sz="1250" dirty="0"/>
          </a:p>
        </p:txBody>
      </p:sp>
      <p:sp>
        <p:nvSpPr>
          <p:cNvPr id="12" name="shape 24.11"/>
          <p:cNvSpPr/>
          <p:nvPr/>
        </p:nvSpPr>
        <p:spPr>
          <a:xfrm>
            <a:off x="1054074" y="2939976"/>
            <a:ext cx="546086" cy="304792"/>
          </a:xfrm>
          <a:prstGeom prst="roundRect">
            <a:avLst>
              <a:gd name="adj" fmla="val 50000"/>
            </a:avLst>
          </a:prstGeom>
          <a:solidFill>
            <a:srgbClr val="1FA9EA"/>
          </a:solidFill>
          <a:ln/>
        </p:spPr>
      </p:sp>
      <p:sp>
        <p:nvSpPr>
          <p:cNvPr id="13" name="text 24.12"/>
          <p:cNvSpPr txBox="1"/>
          <p:nvPr/>
        </p:nvSpPr>
        <p:spPr>
          <a:xfrm>
            <a:off x="1054074" y="2939976"/>
            <a:ext cx="546086" cy="304792"/>
          </a:xfrm>
          <a:prstGeom prst="rect">
            <a:avLst/>
          </a:prstGeom>
          <a:noFill/>
          <a:ln/>
        </p:spPr>
        <p:txBody>
          <a:bodyPr wrap="square" lIns="0" tIns="0" rIns="0" bIns="0" rtlCol="0" anchor="ctr"/>
          <a:lstStyle/>
          <a:p>
            <a:pPr algn="ctr" indent="0" marL="0">
              <a:lnSpc>
                <a:spcPts val="1300"/>
              </a:lnSpc>
              <a:buNone/>
            </a:pPr>
            <a:r>
              <a:rPr lang="en-US" sz="1300" dirty="0">
                <a:solidFill>
                  <a:srgbClr val="FFFFFF"/>
                </a:solidFill>
                <a:latin typeface="Arial Rounded MT Bold" pitchFamily="34" charset="0"/>
                <a:ea typeface="Arial Rounded MT Bold" pitchFamily="34" charset="-122"/>
                <a:cs typeface="Arial Rounded MT Bold" pitchFamily="34" charset="-120"/>
              </a:rPr>
              <a:t>2nd</a:t>
            </a:r>
            <a:endParaRPr lang="en-US" sz="1300" dirty="0"/>
          </a:p>
        </p:txBody>
      </p:sp>
      <p:sp>
        <p:nvSpPr>
          <p:cNvPr id="14" name="text 24.13"/>
          <p:cNvSpPr txBox="1"/>
          <p:nvPr/>
        </p:nvSpPr>
        <p:spPr>
          <a:xfrm>
            <a:off x="1777956" y="2901877"/>
            <a:ext cx="4673483" cy="380990"/>
          </a:xfrm>
          <a:prstGeom prst="rect">
            <a:avLst/>
          </a:prstGeom>
          <a:noFill/>
          <a:ln/>
        </p:spPr>
        <p:txBody>
          <a:bodyPr wrap="square" lIns="0" tIns="0" rIns="0" bIns="0" rtlCol="0" anchor="ctr"/>
          <a:lstStyle/>
          <a:p>
            <a:pPr algn="l" indent="0" marL="0">
              <a:lnSpc>
                <a:spcPts val="1650"/>
              </a:lnSpc>
              <a:buNone/>
            </a:pPr>
            <a:r>
              <a:rPr lang="en-US" sz="1250" dirty="0">
                <a:solidFill>
                  <a:srgbClr val="1B2340"/>
                </a:solidFill>
                <a:latin typeface="Arial" pitchFamily="34" charset="0"/>
                <a:ea typeface="Arial" pitchFamily="34" charset="-122"/>
                <a:cs typeface="Arial" pitchFamily="34" charset="-120"/>
              </a:rPr>
              <a:t>One shooting cube; every mini-game changes what a shot does.</a:t>
            </a:r>
            <a:endParaRPr lang="en-US" sz="1250" dirty="0"/>
          </a:p>
        </p:txBody>
      </p:sp>
      <p:sp>
        <p:nvSpPr>
          <p:cNvPr id="15" name="shape 24.14"/>
          <p:cNvSpPr/>
          <p:nvPr/>
        </p:nvSpPr>
        <p:spPr>
          <a:xfrm>
            <a:off x="1054074" y="3778156"/>
            <a:ext cx="546086" cy="304792"/>
          </a:xfrm>
          <a:prstGeom prst="roundRect">
            <a:avLst>
              <a:gd name="adj" fmla="val 50000"/>
            </a:avLst>
          </a:prstGeom>
          <a:solidFill>
            <a:srgbClr val="43B832"/>
          </a:solidFill>
          <a:ln/>
        </p:spPr>
      </p:sp>
      <p:sp>
        <p:nvSpPr>
          <p:cNvPr id="16" name="text 24.15"/>
          <p:cNvSpPr txBox="1"/>
          <p:nvPr/>
        </p:nvSpPr>
        <p:spPr>
          <a:xfrm>
            <a:off x="1054074" y="3778156"/>
            <a:ext cx="546086" cy="304792"/>
          </a:xfrm>
          <a:prstGeom prst="rect">
            <a:avLst/>
          </a:prstGeom>
          <a:noFill/>
          <a:ln/>
        </p:spPr>
        <p:txBody>
          <a:bodyPr wrap="square" lIns="0" tIns="0" rIns="0" bIns="0" rtlCol="0" anchor="ctr"/>
          <a:lstStyle/>
          <a:p>
            <a:pPr algn="ctr" indent="0" marL="0">
              <a:lnSpc>
                <a:spcPts val="1300"/>
              </a:lnSpc>
              <a:buNone/>
            </a:pPr>
            <a:r>
              <a:rPr lang="en-US" sz="1300" dirty="0">
                <a:solidFill>
                  <a:srgbClr val="FFFFFF"/>
                </a:solidFill>
                <a:latin typeface="Arial Rounded MT Bold" pitchFamily="34" charset="0"/>
                <a:ea typeface="Arial Rounded MT Bold" pitchFamily="34" charset="-122"/>
                <a:cs typeface="Arial Rounded MT Bold" pitchFamily="34" charset="-120"/>
              </a:rPr>
              <a:t>3rd</a:t>
            </a:r>
            <a:endParaRPr lang="en-US" sz="1300" dirty="0"/>
          </a:p>
        </p:txBody>
      </p:sp>
      <p:sp>
        <p:nvSpPr>
          <p:cNvPr id="17" name="text 24.16"/>
          <p:cNvSpPr txBox="1"/>
          <p:nvPr/>
        </p:nvSpPr>
        <p:spPr>
          <a:xfrm>
            <a:off x="1777956" y="3740056"/>
            <a:ext cx="4673483" cy="380990"/>
          </a:xfrm>
          <a:prstGeom prst="rect">
            <a:avLst/>
          </a:prstGeom>
          <a:noFill/>
          <a:ln/>
        </p:spPr>
        <p:txBody>
          <a:bodyPr wrap="square" lIns="0" tIns="0" rIns="0" bIns="0" rtlCol="0" anchor="ctr"/>
          <a:lstStyle/>
          <a:p>
            <a:pPr algn="l" indent="0" marL="0">
              <a:lnSpc>
                <a:spcPts val="1650"/>
              </a:lnSpc>
              <a:buNone/>
            </a:pPr>
            <a:r>
              <a:rPr lang="en-US" sz="1250" dirty="0">
                <a:solidFill>
                  <a:srgbClr val="1B2340"/>
                </a:solidFill>
                <a:latin typeface="Arial" pitchFamily="34" charset="0"/>
                <a:ea typeface="Arial" pitchFamily="34" charset="-122"/>
                <a:cs typeface="Arial" pitchFamily="34" charset="-120"/>
              </a:rPr>
              <a:t>Every hit lowers your mass, so the next push sends you further.</a:t>
            </a:r>
            <a:endParaRPr lang="en-US" sz="1250" dirty="0"/>
          </a:p>
        </p:txBody>
      </p:sp>
      <p:sp>
        <p:nvSpPr>
          <p:cNvPr id="18" name="text 24.17"/>
          <p:cNvSpPr txBox="1"/>
          <p:nvPr/>
        </p:nvSpPr>
        <p:spPr>
          <a:xfrm>
            <a:off x="901677" y="4698883"/>
            <a:ext cx="3752310" cy="634984"/>
          </a:xfrm>
          <a:prstGeom prst="rect">
            <a:avLst/>
          </a:prstGeom>
          <a:noFill/>
          <a:ln/>
        </p:spPr>
        <p:txBody>
          <a:bodyPr wrap="square" lIns="0" tIns="0" rIns="0" bIns="0" rtlCol="0" anchor="t"/>
          <a:lstStyle/>
          <a:p>
            <a:pPr algn="l" indent="0" marL="0">
              <a:lnSpc>
                <a:spcPts val="5000"/>
              </a:lnSpc>
              <a:buNone/>
            </a:pPr>
            <a:r>
              <a:rPr lang="en-US" sz="5000" dirty="0">
                <a:solidFill>
                  <a:srgbClr val="FF6B1F"/>
                </a:solidFill>
                <a:latin typeface="Arial Rounded MT Bold" pitchFamily="34" charset="0"/>
                <a:ea typeface="Arial Rounded MT Bold" pitchFamily="34" charset="-122"/>
                <a:cs typeface="Arial Rounded MT Bold" pitchFamily="34" charset="-120"/>
              </a:rPr>
              <a:t>Questions?</a:t>
            </a:r>
            <a:endParaRPr lang="en-US" sz="5000" dirty="0"/>
          </a:p>
        </p:txBody>
      </p:sp>
      <p:sp>
        <p:nvSpPr>
          <p:cNvPr id="19" name="text 24.18"/>
          <p:cNvSpPr txBox="1"/>
          <p:nvPr/>
        </p:nvSpPr>
        <p:spPr>
          <a:xfrm>
            <a:off x="914377" y="5714857"/>
            <a:ext cx="5752956" cy="177796"/>
          </a:xfrm>
          <a:prstGeom prst="rect">
            <a:avLst/>
          </a:prstGeom>
          <a:noFill/>
          <a:ln/>
        </p:spPr>
        <p:txBody>
          <a:bodyPr wrap="square" lIns="0" tIns="0" rIns="0" bIns="0" rtlCol="0" anchor="t"/>
          <a:lstStyle/>
          <a:p>
            <a:pPr algn="l" indent="0" marL="0">
              <a:lnSpc>
                <a:spcPts val="1400"/>
              </a:lnSpc>
              <a:buNone/>
            </a:pPr>
            <a:r>
              <a:rPr lang="en-US" sz="1000" dirty="0">
                <a:solidFill>
                  <a:srgbClr val="6F778C"/>
                </a:solidFill>
                <a:latin typeface="Arial" pitchFamily="34" charset="0"/>
                <a:ea typeface="Arial" pitchFamily="34" charset="-122"/>
                <a:cs typeface="Arial" pitchFamily="34" charset="-120"/>
              </a:rPr>
              <a:t>Ezel Bayraktar · Abdurrahim Özağaç · Kürşat Hürkan Aydın · Ardıl Bilal Ülkü</a:t>
            </a:r>
            <a:endParaRPr lang="en-US" sz="10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5.1"/>
          <p:cNvSpPr/>
          <p:nvPr/>
        </p:nvSpPr>
        <p:spPr>
          <a:xfrm>
            <a:off x="609585" y="1498563"/>
            <a:ext cx="10972526" cy="4825879"/>
          </a:xfrm>
          <a:prstGeom prst="roundRect">
            <a:avLst>
              <a:gd name="adj" fmla="val 315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text 25.2"/>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Sources</a:t>
            </a:r>
            <a:endParaRPr lang="en-US" sz="3000" dirty="0"/>
          </a:p>
        </p:txBody>
      </p:sp>
      <p:sp>
        <p:nvSpPr>
          <p:cNvPr id="4" name="text 25.3"/>
          <p:cNvSpPr txBox="1"/>
          <p:nvPr/>
        </p:nvSpPr>
        <p:spPr>
          <a:xfrm>
            <a:off x="863578" y="1714457"/>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[1] Newzoo final 2025 figures, via GameDev Reports, 26 Jun 2026. gamedevreports.substack.com/p/newzoo-gaming-market-surpassed-200</a:t>
            </a:r>
            <a:endParaRPr lang="en-US" sz="950" dirty="0"/>
          </a:p>
        </p:txBody>
      </p:sp>
      <p:sp>
        <p:nvSpPr>
          <p:cNvPr id="5" name="text 25.4"/>
          <p:cNvSpPr txBox="1"/>
          <p:nvPr/>
        </p:nvSpPr>
        <p:spPr>
          <a:xfrm>
            <a:off x="863578" y="2108147"/>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[2] Alinea Analytics, games with co-op on Steam, H1 2025 (proprietary estimates). alineaanalytics.substack.com/p/games-with-co-op-generated-over-4</a:t>
            </a:r>
            <a:endParaRPr lang="en-US" sz="950" dirty="0"/>
          </a:p>
        </p:txBody>
      </p:sp>
      <p:sp>
        <p:nvSpPr>
          <p:cNvPr id="6" name="text 25.5"/>
          <p:cNvSpPr txBox="1"/>
          <p:nvPr/>
        </p:nvSpPr>
        <p:spPr>
          <a:xfrm>
            <a:off x="863578" y="2501837"/>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[3] ESA Essential Facts 2026 (survey Feb 2026, n=13,545). theesa.com</a:t>
            </a:r>
            <a:endParaRPr lang="en-US" sz="950" dirty="0"/>
          </a:p>
        </p:txBody>
      </p:sp>
      <p:sp>
        <p:nvSpPr>
          <p:cNvPr id="7" name="text 25.6"/>
          <p:cNvSpPr txBox="1"/>
          <p:nvPr/>
        </p:nvSpPr>
        <p:spPr>
          <a:xfrm>
            <a:off x="863578" y="289552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[4] Steam store search, tag “Party Game” × LAN PvP / Online PvP / Shared-Split-screen PvP, 17 Oct 2026. Tags are user-applied.</a:t>
            </a:r>
            <a:endParaRPr lang="en-US" sz="950" dirty="0"/>
          </a:p>
        </p:txBody>
      </p:sp>
      <p:sp>
        <p:nvSpPr>
          <p:cNvPr id="8" name="text 25.7"/>
          <p:cNvSpPr txBox="1"/>
          <p:nvPr/>
        </p:nvSpPr>
        <p:spPr>
          <a:xfrm>
            <a:off x="863578" y="328921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[5] Game Developers, 2025 Steam revenue distribution (Gamalytic estimates), 21 Aug 2026. game-developers.org/2025-steam-game-revenue-distribution</a:t>
            </a:r>
            <a:endParaRPr lang="en-US" sz="950" dirty="0"/>
          </a:p>
        </p:txBody>
      </p:sp>
      <p:sp>
        <p:nvSpPr>
          <p:cNvPr id="9" name="text 25.8"/>
          <p:cNvSpPr txBox="1"/>
          <p:nvPr/>
        </p:nvSpPr>
        <p:spPr>
          <a:xfrm>
            <a:off x="863578" y="368290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[6] PC Gamer, Valve at GDC 2026: 5,863 games over $100K on Steam in 2025. pcgamer.com</a:t>
            </a:r>
            <a:endParaRPr lang="en-US" sz="950" dirty="0"/>
          </a:p>
        </p:txBody>
      </p:sp>
      <p:sp>
        <p:nvSpPr>
          <p:cNvPr id="10" name="text 25.9"/>
          <p:cNvSpPr txBox="1"/>
          <p:nvPr/>
        </p:nvSpPr>
        <p:spPr>
          <a:xfrm>
            <a:off x="863578" y="407659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[7] Steam store pages and SteamDB charts, apps 1260320, 285900, 1097150, 880940, 1858400: prices, peaks, reviews, owner estimates. 17 Oct 2026.</a:t>
            </a:r>
            <a:endParaRPr lang="en-US" sz="950" dirty="0"/>
          </a:p>
        </p:txBody>
      </p:sp>
      <p:sp>
        <p:nvSpPr>
          <p:cNvPr id="11" name="text 25.10"/>
          <p:cNvSpPr txBox="1"/>
          <p:nvPr/>
        </p:nvSpPr>
        <p:spPr>
          <a:xfrm>
            <a:off x="863578" y="447028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[8] GameRevolution / Prima Games: Party Animals requires an internet connection, including split-screen.</a:t>
            </a:r>
            <a:endParaRPr lang="en-US" sz="950" dirty="0"/>
          </a:p>
        </p:txBody>
      </p:sp>
      <p:sp>
        <p:nvSpPr>
          <p:cNvPr id="12" name="text 25.11"/>
          <p:cNvSpPr txBox="1"/>
          <p:nvPr/>
        </p:nvSpPr>
        <p:spPr>
          <a:xfrm>
            <a:off x="863578" y="486397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[9] Squarena on Steam (app 1858400); codeaclysmgames.com/squarena-details.</a:t>
            </a:r>
            <a:endParaRPr lang="en-US" sz="950" dirty="0"/>
          </a:p>
        </p:txBody>
      </p:sp>
      <p:sp>
        <p:nvSpPr>
          <p:cNvPr id="13" name="text 25.12"/>
          <p:cNvSpPr txBox="1"/>
          <p:nvPr/>
        </p:nvSpPr>
        <p:spPr>
          <a:xfrm>
            <a:off x="863578" y="5257669"/>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[10] Morphies Law official site, morphieslaw.com/game.</a:t>
            </a:r>
            <a:endParaRPr lang="en-US" sz="950" dirty="0"/>
          </a:p>
        </p:txBody>
      </p:sp>
      <p:sp>
        <p:nvSpPr>
          <p:cNvPr id="14" name="text 25.13"/>
          <p:cNvSpPr txBox="1"/>
          <p:nvPr/>
        </p:nvSpPr>
        <p:spPr>
          <a:xfrm>
            <a:off x="863578" y="5651359"/>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6F778C"/>
                </a:solidFill>
                <a:latin typeface="Arial" pitchFamily="34" charset="0"/>
                <a:ea typeface="Arial" pitchFamily="34" charset="-122"/>
                <a:cs typeface="Arial" pitchFamily="34" charset="-120"/>
              </a:rPr>
              <a:t>Images: concept renders are AI-generated (GPT Image via Higgsfield; MiniMax H3) from our own reference art; illustrations and level drafts were made for this pitch. None show gameplay.</a:t>
            </a:r>
            <a:endParaRPr lang="en-US" sz="950" dirty="0"/>
          </a:p>
        </p:txBody>
      </p:sp>
      <p:pic>
        <p:nvPicPr>
          <p:cNvPr id="15" name="raster 25.14" descr="diagram">    </p:cNvPr>
          <p:cNvPicPr>
            <a:picLocks noChangeAspect="1"/>
          </p:cNvPicPr>
          <p:nvPr/>
        </p:nvPicPr>
        <p:blipFill>
          <a:blip r:embed="rId2"/>
          <a:stretch>
            <a:fillRect/>
          </a:stretch>
        </p:blipFill>
        <p:spPr>
          <a:xfrm>
            <a:off x="609585" y="266693"/>
            <a:ext cx="190495" cy="190495"/>
          </a:xfrm>
          <a:prstGeom prst="rect">
            <a:avLst/>
          </a:prstGeom>
        </p:spPr>
      </p:pic>
      <p:sp>
        <p:nvSpPr>
          <p:cNvPr id="16" name="text 25.15"/>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Party</a:t>
            </a:r>
            <a:endParaRPr lang="en-US" sz="1100" dirty="0"/>
          </a:p>
        </p:txBody>
      </p:sp>
      <p:sp>
        <p:nvSpPr>
          <p:cNvPr id="17" name="text 25.16"/>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18" name="text 25.17"/>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19" name="text 25.18"/>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25 / 25</a:t>
            </a:r>
            <a:endParaRPr lang="en-US" sz="750" dirty="0"/>
          </a:p>
        </p:txBody>
      </p:sp>
      <p:sp>
        <p:nvSpPr>
          <p:cNvPr id="20" name="text 25.19"/>
          <p:cNvSpPr txBox="1"/>
          <p:nvPr/>
        </p:nvSpPr>
        <p:spPr>
          <a:xfrm>
            <a:off x="609585" y="698483"/>
            <a:ext cx="776651"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1FA9EA"/>
                </a:solidFill>
                <a:latin typeface="Arial" pitchFamily="34" charset="0"/>
                <a:ea typeface="Arial" pitchFamily="34" charset="-122"/>
                <a:cs typeface="Arial" pitchFamily="34" charset="-120"/>
              </a:rPr>
              <a:t>APPENDIX</a:t>
            </a:r>
            <a:endParaRPr lang="en-US" sz="8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Rounded MT 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Shooter Party — Game Proposal</dc:title>
  <dc:subject>PptxGenJS Presentation</dc:subject>
  <dc:creator>Ezel Bayraktar, Abdurrahim Özağaç, Kürşat Hürkan Aydın, Ardıl Bilal Ülkü</dc:creator>
  <cp:lastModifiedBy>Ezel Bayraktar, Abdurrahim Özağaç, Kürşat Hürkan Aydın, Ardıl Bilal Ülkü</cp:lastModifiedBy>
  <cp:revision>1</cp:revision>
  <dcterms:created xsi:type="dcterms:W3CDTF">2026-10-18T07:36:06Z</dcterms:created>
  <dcterms:modified xsi:type="dcterms:W3CDTF">2026-10-18T07:36:06Z</dcterms:modified>
</cp:coreProperties>
</file>