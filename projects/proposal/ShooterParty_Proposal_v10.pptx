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3a839ae-f500-9546-96c9-9a175b97a960}">
          <p14:sldIdLst>
            <p14:sldId id="256"/>
          </p14:sldIdLst>
        </p14:section>
        <p14:section name="The game" id="{182fe90a-25d1-7fc9-eab0-c5efb3ce64af}">
          <p14:sldIdLst>
            <p14:sldId id="257"/>
            <p14:sldId id="258"/>
          </p14:sldIdLst>
        </p14:section>
        <p14:section name="Gameplay" id="{c28d1ae0-cf0e-dbf0-5aa1-e00c0ca80a7a}">
          <p14:sldIdLst>
            <p14:sldId id="259"/>
            <p14:sldId id="260"/>
          </p14:sldIdLst>
        </p14:section>
        <p14:section name="Mini-games" id="{3bca06b7-a1ed-7ad0-d013-9929460944ed}">
          <p14:sldIdLst>
            <p14:sldId id="261"/>
            <p14:sldId id="262"/>
            <p14:sldId id="263"/>
            <p14:sldId id="264"/>
            <p14:sldId id="265"/>
            <p14:sldId id="266"/>
          </p14:sldIdLst>
        </p14:section>
        <p14:section name="Technology" id="{9b30ed25-65a6-06f0-9751-bc7e544c122a}">
          <p14:sldIdLst>
            <p14:sldId id="267"/>
            <p14:sldId id="268"/>
          </p14:sldIdLst>
        </p14:section>
        <p14:section name="Market" id="{64a8668e-540e-c7e1-9a38-fdd503e5c73f}">
          <p14:sldIdLst>
            <p14:sldId id="269"/>
            <p14:sldId id="270"/>
            <p14:sldId id="271"/>
            <p14:sldId id="272"/>
          </p14:sldIdLst>
        </p14:section>
        <p14:section name="Innovation" id="{b0391faa-b8dc-7c38-ba56-dff8b43f3621}">
          <p14:sldIdLst>
            <p14:sldId id="273"/>
            <p14:sldId id="274"/>
          </p14:sldIdLst>
        </p14:section>
        <p14:section name="Drafts" id="{04ffae35-d9b9-90da-b86d-e372b9f88076}">
          <p14:sldIdLst>
            <p14:sldId id="275"/>
            <p14:sldId id="276"/>
          </p14:sldIdLst>
        </p14:section>
        <p14:section name="Plan" id="{8a50b97c-7825-ad67-b8ac-1acb8dd18437}">
          <p14:sldIdLst>
            <p14:sldId id="277"/>
            <p14:sldId id="278"/>
            <p14:sldId id="279"/>
            <p14:sldId id="280"/>
            <p14:sldId id="281"/>
          </p14:sldIdLst>
        </p14:section>
        <p14:section name="Close" id="{daf4ce1b-1695-83fa-6b9b-d6693d4167d2}">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Shooter Party, our working title. A multiplayer party game: one shooting cube, many mini-games, and a shot that does something new in each one. The four of us are at the bottom right with our shared systems; everyone also designs one mini-game. All character and scene images are 3D concept renders made for this pitch; none show final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player is on their own device; one hosts and the others join over the network. Everyone is a small shooting cube in their own colour, and every mini-game changes what the shot does. A session runs lobby, pick, play, place, standings, and repeats. The host sets the rules: the session ends after a set number of mini-games or at a target score; the playlist is random or custom, with exclusions and repeats; and a mini-game can run rounds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Placement in each mini-game becomes points: 4, 3, 2, 1 for four players, as a proposal; the scale grows with the player count. Three comeback rules keep the session open. The player in last place overall earns one bonus point after each mini-game. On equal points, the player who was further behind ranks higher. And the leader wears a crown, so everyone can see who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shooting cube everywhere: a small character whose barrel fires real physics projectiles, not instant hits. Its proportions stay close to 1:1:1, and every player has their own colour. One trigger, three effects. Damage lowers the target's health. Knockback pushes the target away from where the shot came from. Blast explodes, and fired at the ground it lifts you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shot, five meanings. In Knockback Arena it pushes, and every hit lowers the target's mass. In Blast Parkour it is a blast that lifts you and pushes rivals off ledges; hold it for a strong one. In Ice Loop it is knockback and momentum: push rivals and steer yourself with recoil. In Hole Grab it pushes rivals away from the holes. In Battle it does damage. Movement is WASD; jumping only where a mini-game allows it; Shift to dash on a cooldown or as charges from a power-up. The camera is a third-person shooter camera in a 3D world, and a mini-game can adjust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Knockback Arena. Shoot the others off a flat floor. Shooting is free with a fire-rate limit; shots are real thrown objects and do nothing to the shooter. A hit is a force from the shot's direction and a drop in mass; the size stays the same. So the same shot sends a weakened player further: at full mass a hit pushes a little, after a few hits it is a longer push, after many one more shot sends it off the edge. Jump is a pickup because it is strong, and a lighter cube jumps higher; dash is on Shift, for example three charges. Falling off means you are out; placement by order of elimination.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Blast Parkour, an obstacle course in the sky. Open islands with no walls or cover, so everyone is always in someone's line of fire. Hold to fire a strong explosion, but while charging you cannot move. A shot at the ground lifts you up, and the same blast can push a nearby rival off a ledge. Whoever drops below the course is out; first to the top flag wins and the rest are ranked by height. If hitting is too easy, shots fall with gravity; we decide that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Loop. Most checkpoints before the timer runs out wins. When the track ends it starts again, and every checkpoint you pass counts plus one; the count, not the lap, decides the placement. The ice is slippery: push rivals off it into the water and they restart from their last checkpoint. Firing forward while sliding pushes you back, so a shot can also correct your line. Ice is the theme of this mini-game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Hole Grab: musical chairs with holes. Holes open in the ground in the player's shape, with the barrel's angle marked, so you have to line up to drop in. Each round has one hole fewer than players: with four players, three holes, then two, then one. Whoever is left without a hole is crushed by the bulldozer. Shots push other players away from the holes, but a player already inside a hole cannot be pushed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playlist is built to grow: same cube, same shot, new maps and rules. Battle is a straight shoot-out where the shot does damage; a harder setting can raise the damage or remove power-ups. In The Monster, one player becomes the monster for a round and everyone else plays against them; the role moves on each round. Battle is next in line once the four are fun. Two concept ideas, not in the plan yet: character types, where weight is the natural first difference because knockback depends on mass, and a rage meter that builds up across mini-games and can be spent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can make the cube their own, but cosmetics change the look, never the game. Four slots: head, face, ears and extras. An in-game shop lets players browse cosmetics, try them on in the lobby and dress their cube before a session. Nothing in the shop changes mass, speed or the shot. Cosmetics never cover the barrel or the eyes, so aiming stays readable. And the crown is not for sale: only the current session leader wears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mini-game implements the same small contract: set up with the players and the session settings, run, and report placement. Below it is shared gameplay: the cube controller with WASD, jump and dash; the third-person camera with per-game tweaks; the shot system whose effect each mini-game sets; the session and playlist; the scoreboard with points, comeback rules and the crown; and menus, UI and the shop. Under that, one player hosts and the others join as clients; Unity Netcode is our candidate, and online servers come later. The engine is Unity in 3D with built-in rigidbody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shot end to end. Client A sends fire input and aim direction. The host checks the fire-rate limit and spawns the projectile; the shooter is not affected. The physics step carries it to B, and the host applies this mini-game's effect: B loses mass and is pushed from the shot's direction. The host sends the same snapshot of positions, mass and scores to every client, and clients interpolate between snapshots. Your own movement is predicted locally so it feels instant. The main risk is smooth physics on every client; we tune the snapshot rate and test with real players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audience is groups of friends who want short, chaotic rounds together, online or in the same room, plus streamers and viewers who enjoy party-game chaos. The global games market was 197 billion dollars in 2025; PC alone was 43.6 billion, up 12 percent. 70 percent of US players aged 8 and up play with other people, and co-op games made an estimated 4.1 billion dollars on Steam in the first half of 2025. The risk: Steam is crowded, and most releases earn very little. Our one-sentence hook is one shot that means something new in every mini-game.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data points. Super Mario Party sold over 21 million: mini-game party games are a mass-market genre. Jamboree sold 5.6 million in 11 weeks, the series' fastest seller, so the genre is still growing. Stick Fight, a small studio's physics shooter, reached an estimated 4.75 million. Pummel Party still sells years after launch. Party Animals had 135,834 players in its free playtest and over 113,000 Twitch viewers. Feather Party, 22 mini-games for up to 8 players, is at 87 percent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games we are measured against. Party Animals and Gang Beasts are physics brawlers. Fall Guys runs short rounds in a playlist. Pummel Party is a board game with competitive mini-games. Feather Party has a board mode and 22 mini-games where ice, fire and electric effects change the physics.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competitors have 3D characters and cosmetic customisation. Pummel Party and Feather Party combine several mini-games into one result; Fall Guys partly, since its playlist eliminates players instead of scoring each round. None keeps one shot whose effect changes per mini-game; Feather Party changes physics with elemental effects but has no shared shot. Our column is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together. One trigger, many effects: the same shot pushes, damages, lifts or steers, so controls are learned once. Shooting at the heart: aiming and timing a shot is the core skill in every round, where most party games are about brawling, racing or luck. Variety on one mechanic: different maps, themes and rules on the same cube and shot. A comeback built in: plus one for last place, ties to the underdog and a crown on the leader. Your session, your rules. And mass, not size: hits lower mass while the size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differ. Pummel Party and Feather Party give each mini-game its own controls and goal; neither keeps one shot as the common verb. Racing and party games often help the trailing player with random items; our comeback is a fixed, visible rule. Smash Bros. raises knockback with a damage percentage; we use the physical mass a hit removes. Many party games let players pick mini-games; we add an end by score or count, and favourites that can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art direction is a glossy toy: rounded cubes in bright colours, a barrel on every character, and bright party settings such as grass, sky and water. Ice appears in Ice Loop only. Each mini-game was blocked out in 3D to check the camera angle, the scale and how readable the shots are before we build it in 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level drafts seen from above, for scope and blockout. Knockback Arena: one flat square platform with open edges and no walls; players spawn near the corners and the open edge is the knockout line. Ice Loop: a looping track with checkpoints; a fall into the water respawns you at your last checkpoint. Dimensions, spawn points and checkpoint count are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Monday checkpoints. The proposal on 19 October: concept, research, 3D drafts and this pitch. Demo 1 on 16 November: the core prototype, host and join, and the first mini-games playable. Demo 2 on 14 December: all four mini-games and a full session with scoreboard and menus. The final on 11 January: UI, sound, cosmetics, polish and the promo video. Three risks: networked physics, handled by host simulation; balance, handled by fire-rate limits, jump as a power-up and comeback rules; and scope, handled by building one shared core first and keeping mini-games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designs and builds at least one mini-game, including what the shot does in it, and finds its assets; each of us also owns a shared system. Abdurrahim: Knockback Arena, plus the core mechanics prototype and the scoreboard. Ardıl: Blast Parkour, plus menus and the promo video. Kürşat: Ice Loop, plus UI design, sound and music. Ezel: Hole Grab, plus the online system, sound and music. The assignments are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1 to 4. Abdurrahim builds the core mechanics prototype: move, shoot and mass. Ezel researches the online system and builds host and join. Everyone designs their own mini-game and its shot in week 1. Ardıl does the main menu and lobby flow, Kürşat the UI style and HUD drafts. In weeks 3 and 4 each of us blocks out our mini-game, and week 4 ends with the Demo 1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5 to 8. Scoreboard, points and comeback rules; networked shots and state sync; everyone finishes their own mini-game and its shot and makes its assets; the session menu with playlist and end rules; the in-game HUD and scoreboard screens. Week 8 is the first full-session playtest and the Demo 2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9 to 12. The cosmetics shop, sound effects and music, balance tuning from playtests, polishing our own mini-games, and the Battle mini-game as the stretch goal. In the last two weeks: online tests and the final build, the promo video, and the final deck and hand-in. The final date may still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One shooting cube; every mini-game changes what a shot does. A comeback built in: plus one for last place, ties to the underdog, a crown on the leader. And multiplayer sessions you shape: your playlist, your end rule, your look.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with dates. Owner counts are third-party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image" Target="../media/image-16-6.jp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image" Target="../media/image-17-24.png"/><Relationship Id="rId25" Type="http://schemas.openxmlformats.org/officeDocument/2006/relationships/image" Target="../media/image-17-25.png"/><Relationship Id="rId26" Type="http://schemas.openxmlformats.org/officeDocument/2006/relationships/image" Target="../media/image-17-26.png"/><Relationship Id="rId27" Type="http://schemas.openxmlformats.org/officeDocument/2006/relationships/image" Target="../media/image-17-27.png"/><Relationship Id="rId28" Type="http://schemas.openxmlformats.org/officeDocument/2006/relationships/slideLayout" Target="../slideLayouts/slideLayout1.xml"/><Relationship Id="rId2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image" Target="../media/image-20-5.jpg"/><Relationship Id="rId6" Type="http://schemas.openxmlformats.org/officeDocument/2006/relationships/image" Target="../media/image-20-6.jp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1.1" descr="sp2_cover.png">    </p:cNvPr>
          <p:cNvPicPr>
            <a:picLocks noChangeAspect="1"/>
          </p:cNvPicPr>
          <p:nvPr/>
        </p:nvPicPr>
        <p:blipFill>
          <a:blip r:embed="rId2"/>
          <a:stretch>
            <a:fillRect/>
          </a:stretch>
        </p:blipFill>
        <p:spPr>
          <a:xfrm>
            <a:off x="0" y="0"/>
            <a:ext cx="12191695" cy="4063898"/>
          </a:xfrm>
          <a:prstGeom prst="rect">
            <a:avLst/>
          </a:prstGeom>
        </p:spPr>
      </p:pic>
      <p:sp>
        <p:nvSpPr>
          <p:cNvPr id="3" name="shape 1.2"/>
          <p:cNvSpPr/>
          <p:nvPr/>
        </p:nvSpPr>
        <p:spPr>
          <a:xfrm>
            <a:off x="6730832" y="4381390"/>
            <a:ext cx="2362141" cy="952476"/>
          </a:xfrm>
          <a:prstGeom prst="roundRect">
            <a:avLst>
              <a:gd name="adj" fmla="val 160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3"/>
          <p:cNvSpPr/>
          <p:nvPr/>
        </p:nvSpPr>
        <p:spPr>
          <a:xfrm>
            <a:off x="9219969" y="4381390"/>
            <a:ext cx="2362141" cy="952476"/>
          </a:xfrm>
          <a:prstGeom prst="roundRect">
            <a:avLst>
              <a:gd name="adj" fmla="val 160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4"/>
          <p:cNvSpPr/>
          <p:nvPr/>
        </p:nvSpPr>
        <p:spPr>
          <a:xfrm>
            <a:off x="6730832" y="5460863"/>
            <a:ext cx="2362141" cy="952476"/>
          </a:xfrm>
          <a:prstGeom prst="roundRect">
            <a:avLst>
              <a:gd name="adj" fmla="val 160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1.5"/>
          <p:cNvSpPr/>
          <p:nvPr/>
        </p:nvSpPr>
        <p:spPr>
          <a:xfrm>
            <a:off x="9219969" y="5460863"/>
            <a:ext cx="2362141" cy="952476"/>
          </a:xfrm>
          <a:prstGeom prst="roundRect">
            <a:avLst>
              <a:gd name="adj" fmla="val 160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1.6"/>
          <p:cNvSpPr/>
          <p:nvPr/>
        </p:nvSpPr>
        <p:spPr>
          <a:xfrm>
            <a:off x="609585" y="279393"/>
            <a:ext cx="2095448" cy="279393"/>
          </a:xfrm>
          <a:prstGeom prst="roundRect">
            <a:avLst>
              <a:gd name="adj" fmla="val 50000"/>
            </a:avLst>
          </a:prstGeom>
          <a:solidFill>
            <a:srgbClr val="FFFFFF"/>
          </a:solidFill>
          <a:ln/>
        </p:spPr>
      </p:sp>
      <p:sp>
        <p:nvSpPr>
          <p:cNvPr id="8" name="text 1.7"/>
          <p:cNvSpPr txBox="1"/>
          <p:nvPr/>
        </p:nvSpPr>
        <p:spPr>
          <a:xfrm>
            <a:off x="609585" y="279393"/>
            <a:ext cx="2095448" cy="279393"/>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1B2340"/>
                </a:solidFill>
                <a:latin typeface="Arial" pitchFamily="34" charset="0"/>
                <a:ea typeface="Arial" pitchFamily="34" charset="-122"/>
                <a:cs typeface="Arial" pitchFamily="34" charset="-120"/>
              </a:rPr>
              <a:t>CMP406 GAMETECH · FALL 2026</a:t>
            </a:r>
            <a:endParaRPr lang="en-US" sz="750" dirty="0"/>
          </a:p>
        </p:txBody>
      </p:sp>
      <p:sp>
        <p:nvSpPr>
          <p:cNvPr id="9" name="text 1.8"/>
          <p:cNvSpPr txBox="1"/>
          <p:nvPr/>
        </p:nvSpPr>
        <p:spPr>
          <a:xfrm>
            <a:off x="609585" y="4394090"/>
            <a:ext cx="2334944"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WRITTEN PITCH · GAME PROPOSAL</a:t>
            </a:r>
            <a:endParaRPr lang="en-US" sz="800" dirty="0"/>
          </a:p>
        </p:txBody>
      </p:sp>
      <p:sp>
        <p:nvSpPr>
          <p:cNvPr id="10" name="text 1.9"/>
          <p:cNvSpPr txBox="1"/>
          <p:nvPr/>
        </p:nvSpPr>
        <p:spPr>
          <a:xfrm>
            <a:off x="584185" y="4584585"/>
            <a:ext cx="5102683" cy="711182"/>
          </a:xfrm>
          <a:prstGeom prst="rect">
            <a:avLst/>
          </a:prstGeom>
          <a:noFill/>
          <a:ln/>
        </p:spPr>
        <p:txBody>
          <a:bodyPr wrap="square" lIns="0" tIns="0" rIns="0" bIns="0" rtlCol="0" anchor="t"/>
          <a:lstStyle/>
          <a:p>
            <a:pPr algn="l" indent="0" marL="0">
              <a:lnSpc>
                <a:spcPts val="5600"/>
              </a:lnSpc>
              <a:buNone/>
            </a:pPr>
            <a:r>
              <a:rPr lang="en-US" sz="56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5600"/>
              </a:lnSpc>
              <a:buNone/>
            </a:pPr>
            <a:r>
              <a:rPr lang="en-US" sz="5600" dirty="0">
                <a:solidFill>
                  <a:srgbClr val="43B832"/>
                </a:solidFill>
                <a:latin typeface="Arial Rounded MT Bold" pitchFamily="34" charset="0"/>
                <a:ea typeface="Arial Rounded MT Bold" pitchFamily="34" charset="-122"/>
                <a:cs typeface="Arial Rounded MT Bold" pitchFamily="34" charset="-120"/>
              </a:rPr>
              <a:t>Party</a:t>
            </a:r>
            <a:endParaRPr lang="en-US" sz="5600" dirty="0"/>
          </a:p>
        </p:txBody>
      </p:sp>
      <p:sp>
        <p:nvSpPr>
          <p:cNvPr id="11" name="shape 1.10"/>
          <p:cNvSpPr/>
          <p:nvPr/>
        </p:nvSpPr>
        <p:spPr>
          <a:xfrm>
            <a:off x="609585" y="5448164"/>
            <a:ext cx="1142971" cy="241294"/>
          </a:xfrm>
          <a:prstGeom prst="roundRect">
            <a:avLst>
              <a:gd name="adj" fmla="val 50000"/>
            </a:avLst>
          </a:prstGeom>
          <a:solidFill>
            <a:srgbClr val="FF6B1F"/>
          </a:solidFill>
          <a:ln/>
        </p:spPr>
      </p:sp>
      <p:sp>
        <p:nvSpPr>
          <p:cNvPr id="12" name="text 1.11"/>
          <p:cNvSpPr txBox="1"/>
          <p:nvPr/>
        </p:nvSpPr>
        <p:spPr>
          <a:xfrm>
            <a:off x="609585" y="5448164"/>
            <a:ext cx="1142971"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WORKING TITLE</a:t>
            </a:r>
            <a:endParaRPr lang="en-US" sz="700" dirty="0"/>
          </a:p>
        </p:txBody>
      </p:sp>
      <p:sp>
        <p:nvSpPr>
          <p:cNvPr id="13" name="text 1.12"/>
          <p:cNvSpPr txBox="1"/>
          <p:nvPr/>
        </p:nvSpPr>
        <p:spPr>
          <a:xfrm>
            <a:off x="1879553" y="5511662"/>
            <a:ext cx="831234" cy="114297"/>
          </a:xfrm>
          <a:prstGeom prst="rect">
            <a:avLst/>
          </a:prstGeom>
          <a:noFill/>
          <a:ln/>
        </p:spPr>
        <p:txBody>
          <a:bodyPr wrap="square" lIns="0" tIns="0" rIns="0" bIns="0" rtlCol="0" anchor="t"/>
          <a:lstStyle/>
          <a:p>
            <a:pPr algn="l" indent="0" marL="0">
              <a:lnSpc>
                <a:spcPts val="900"/>
              </a:lnSpc>
              <a:buNone/>
            </a:pPr>
            <a:r>
              <a:rPr lang="en-US" sz="900" b="1" dirty="0">
                <a:solidFill>
                  <a:srgbClr val="6F778C"/>
                </a:solidFill>
                <a:latin typeface="Arial" pitchFamily="34" charset="0"/>
                <a:ea typeface="Arial" pitchFamily="34" charset="-122"/>
                <a:cs typeface="Arial" pitchFamily="34" charset="-120"/>
              </a:rPr>
              <a:t>October 2026</a:t>
            </a:r>
            <a:endParaRPr lang="en-US" sz="900" dirty="0"/>
          </a:p>
        </p:txBody>
      </p:sp>
      <p:sp>
        <p:nvSpPr>
          <p:cNvPr id="14" name="text 1.13"/>
          <p:cNvSpPr txBox="1"/>
          <p:nvPr/>
        </p:nvSpPr>
        <p:spPr>
          <a:xfrm>
            <a:off x="609585" y="5841854"/>
            <a:ext cx="5752956" cy="473063"/>
          </a:xfrm>
          <a:prstGeom prst="rect">
            <a:avLst/>
          </a:prstGeom>
          <a:noFill/>
          <a:ln/>
        </p:spPr>
        <p:txBody>
          <a:bodyPr wrap="square" lIns="0" tIns="0" rIns="0" bIns="0" rtlCol="0" anchor="t"/>
          <a:lstStyle/>
          <a:p>
            <a:pPr algn="l" indent="0" marL="0">
              <a:lnSpc>
                <a:spcPts val="1860"/>
              </a:lnSpc>
              <a:buNone/>
            </a:pPr>
            <a:r>
              <a:rPr lang="en-US" sz="1350" b="1" dirty="0">
                <a:solidFill>
                  <a:srgbClr val="1B2340"/>
                </a:solidFill>
                <a:latin typeface="Arial" pitchFamily="34" charset="0"/>
                <a:ea typeface="Arial" pitchFamily="34" charset="-122"/>
                <a:cs typeface="Arial" pitchFamily="34" charset="-120"/>
              </a:rPr>
              <a:t>A multiplayer party game: one shooting cube, many mini-games, and a shot that does something new in each one.</a:t>
            </a:r>
            <a:endParaRPr lang="en-US" sz="1350" dirty="0"/>
          </a:p>
        </p:txBody>
      </p:sp>
      <p:sp>
        <p:nvSpPr>
          <p:cNvPr id="15" name="shape 1.14"/>
          <p:cNvSpPr/>
          <p:nvPr/>
        </p:nvSpPr>
        <p:spPr>
          <a:xfrm>
            <a:off x="6883228" y="4546486"/>
            <a:ext cx="177796" cy="177796"/>
          </a:xfrm>
          <a:prstGeom prst="roundRect">
            <a:avLst>
              <a:gd name="adj" fmla="val 28571"/>
            </a:avLst>
          </a:prstGeom>
          <a:solidFill>
            <a:srgbClr val="FF6B1F"/>
          </a:solidFill>
          <a:ln/>
        </p:spPr>
      </p:sp>
      <p:sp>
        <p:nvSpPr>
          <p:cNvPr id="16" name="text 1.15"/>
          <p:cNvSpPr txBox="1"/>
          <p:nvPr/>
        </p:nvSpPr>
        <p:spPr>
          <a:xfrm>
            <a:off x="7149921" y="4559186"/>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Ezel Bayraktar</a:t>
            </a:r>
            <a:endParaRPr lang="en-US" sz="1100" dirty="0"/>
          </a:p>
        </p:txBody>
      </p:sp>
      <p:sp>
        <p:nvSpPr>
          <p:cNvPr id="17" name="text 1.16"/>
          <p:cNvSpPr txBox="1"/>
          <p:nvPr/>
        </p:nvSpPr>
        <p:spPr>
          <a:xfrm>
            <a:off x="7149921" y="4775081"/>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2220356197</a:t>
            </a:r>
            <a:endParaRPr lang="en-US" sz="850" dirty="0"/>
          </a:p>
        </p:txBody>
      </p:sp>
      <p:sp>
        <p:nvSpPr>
          <p:cNvPr id="18" name="text 1.17"/>
          <p:cNvSpPr txBox="1"/>
          <p:nvPr/>
        </p:nvSpPr>
        <p:spPr>
          <a:xfrm>
            <a:off x="7149921" y="4978276"/>
            <a:ext cx="1879553" cy="137157"/>
          </a:xfrm>
          <a:prstGeom prst="rect">
            <a:avLst/>
          </a:prstGeom>
          <a:noFill/>
          <a:ln/>
        </p:spPr>
        <p:txBody>
          <a:bodyPr wrap="square" lIns="0" tIns="0" rIns="0" bIns="0" rtlCol="0" anchor="t"/>
          <a:lstStyle/>
          <a:p>
            <a:pPr algn="l" indent="0" marL="0">
              <a:lnSpc>
                <a:spcPts val="1080"/>
              </a:lnSpc>
              <a:buNone/>
            </a:pPr>
            <a:r>
              <a:rPr lang="en-US" sz="900" b="1" dirty="0">
                <a:solidFill>
                  <a:srgbClr val="FF6B1F"/>
                </a:solidFill>
                <a:latin typeface="Arial" pitchFamily="34" charset="0"/>
                <a:ea typeface="Arial" pitchFamily="34" charset="-122"/>
                <a:cs typeface="Arial" pitchFamily="34" charset="-120"/>
              </a:rPr>
              <a:t>Online system, sound</a:t>
            </a:r>
            <a:endParaRPr lang="en-US" sz="900" dirty="0"/>
          </a:p>
        </p:txBody>
      </p:sp>
      <p:sp>
        <p:nvSpPr>
          <p:cNvPr id="19" name="shape 1.18"/>
          <p:cNvSpPr/>
          <p:nvPr/>
        </p:nvSpPr>
        <p:spPr>
          <a:xfrm>
            <a:off x="9372366" y="4546486"/>
            <a:ext cx="177796" cy="177796"/>
          </a:xfrm>
          <a:prstGeom prst="roundRect">
            <a:avLst>
              <a:gd name="adj" fmla="val 28571"/>
            </a:avLst>
          </a:prstGeom>
          <a:solidFill>
            <a:srgbClr val="1FA9EA"/>
          </a:solidFill>
          <a:ln/>
        </p:spPr>
      </p:sp>
      <p:sp>
        <p:nvSpPr>
          <p:cNvPr id="20" name="text 1.19"/>
          <p:cNvSpPr txBox="1"/>
          <p:nvPr/>
        </p:nvSpPr>
        <p:spPr>
          <a:xfrm>
            <a:off x="9639059" y="4559186"/>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Abdurrahim Özağaç</a:t>
            </a:r>
            <a:endParaRPr lang="en-US" sz="1100" dirty="0"/>
          </a:p>
        </p:txBody>
      </p:sp>
      <p:sp>
        <p:nvSpPr>
          <p:cNvPr id="21" name="text 1.20"/>
          <p:cNvSpPr txBox="1"/>
          <p:nvPr/>
        </p:nvSpPr>
        <p:spPr>
          <a:xfrm>
            <a:off x="9639059" y="4775081"/>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2220356033</a:t>
            </a:r>
            <a:endParaRPr lang="en-US" sz="850" dirty="0"/>
          </a:p>
        </p:txBody>
      </p:sp>
      <p:sp>
        <p:nvSpPr>
          <p:cNvPr id="22" name="text 1.21"/>
          <p:cNvSpPr txBox="1"/>
          <p:nvPr/>
        </p:nvSpPr>
        <p:spPr>
          <a:xfrm>
            <a:off x="9639059" y="4978276"/>
            <a:ext cx="1879553" cy="137157"/>
          </a:xfrm>
          <a:prstGeom prst="rect">
            <a:avLst/>
          </a:prstGeom>
          <a:noFill/>
          <a:ln/>
        </p:spPr>
        <p:txBody>
          <a:bodyPr wrap="square" lIns="0" tIns="0" rIns="0" bIns="0" rtlCol="0" anchor="t"/>
          <a:lstStyle/>
          <a:p>
            <a:pPr algn="l" indent="0" marL="0">
              <a:lnSpc>
                <a:spcPts val="1080"/>
              </a:lnSpc>
              <a:buNone/>
            </a:pPr>
            <a:r>
              <a:rPr lang="en-US" sz="900" b="1" dirty="0">
                <a:solidFill>
                  <a:srgbClr val="1FA9EA"/>
                </a:solidFill>
                <a:latin typeface="Arial" pitchFamily="34" charset="0"/>
                <a:ea typeface="Arial" pitchFamily="34" charset="-122"/>
                <a:cs typeface="Arial" pitchFamily="34" charset="-120"/>
              </a:rPr>
              <a:t>Core prototype, scoreboard</a:t>
            </a:r>
            <a:endParaRPr lang="en-US" sz="900" dirty="0"/>
          </a:p>
        </p:txBody>
      </p:sp>
      <p:sp>
        <p:nvSpPr>
          <p:cNvPr id="23" name="shape 1.22"/>
          <p:cNvSpPr/>
          <p:nvPr/>
        </p:nvSpPr>
        <p:spPr>
          <a:xfrm>
            <a:off x="6883228" y="5625959"/>
            <a:ext cx="177796" cy="177796"/>
          </a:xfrm>
          <a:prstGeom prst="roundRect">
            <a:avLst>
              <a:gd name="adj" fmla="val 28571"/>
            </a:avLst>
          </a:prstGeom>
          <a:solidFill>
            <a:srgbClr val="43B832"/>
          </a:solidFill>
          <a:ln/>
        </p:spPr>
      </p:sp>
      <p:sp>
        <p:nvSpPr>
          <p:cNvPr id="24" name="text 1.23"/>
          <p:cNvSpPr txBox="1"/>
          <p:nvPr/>
        </p:nvSpPr>
        <p:spPr>
          <a:xfrm>
            <a:off x="7149921" y="56386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Kürşat Hürkan Aydın</a:t>
            </a:r>
            <a:endParaRPr lang="en-US" sz="1100" dirty="0"/>
          </a:p>
        </p:txBody>
      </p:sp>
      <p:sp>
        <p:nvSpPr>
          <p:cNvPr id="25" name="text 1.24"/>
          <p:cNvSpPr txBox="1"/>
          <p:nvPr/>
        </p:nvSpPr>
        <p:spPr>
          <a:xfrm>
            <a:off x="7149921"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2230356008</a:t>
            </a:r>
            <a:endParaRPr lang="en-US" sz="850" dirty="0"/>
          </a:p>
        </p:txBody>
      </p:sp>
      <p:sp>
        <p:nvSpPr>
          <p:cNvPr id="26" name="text 1.25"/>
          <p:cNvSpPr txBox="1"/>
          <p:nvPr/>
        </p:nvSpPr>
        <p:spPr>
          <a:xfrm>
            <a:off x="7149921" y="6057749"/>
            <a:ext cx="1879553" cy="137157"/>
          </a:xfrm>
          <a:prstGeom prst="rect">
            <a:avLst/>
          </a:prstGeom>
          <a:noFill/>
          <a:ln/>
        </p:spPr>
        <p:txBody>
          <a:bodyPr wrap="square" lIns="0" tIns="0" rIns="0" bIns="0" rtlCol="0" anchor="t"/>
          <a:lstStyle/>
          <a:p>
            <a:pPr algn="l" indent="0" marL="0">
              <a:lnSpc>
                <a:spcPts val="1080"/>
              </a:lnSpc>
              <a:buNone/>
            </a:pPr>
            <a:r>
              <a:rPr lang="en-US" sz="900" b="1" dirty="0">
                <a:solidFill>
                  <a:srgbClr val="43B832"/>
                </a:solidFill>
                <a:latin typeface="Arial" pitchFamily="34" charset="0"/>
                <a:ea typeface="Arial" pitchFamily="34" charset="-122"/>
                <a:cs typeface="Arial" pitchFamily="34" charset="-120"/>
              </a:rPr>
              <a:t>UI design, sound &amp; music</a:t>
            </a:r>
            <a:endParaRPr lang="en-US" sz="900" dirty="0"/>
          </a:p>
        </p:txBody>
      </p:sp>
      <p:sp>
        <p:nvSpPr>
          <p:cNvPr id="27" name="shape 1.26"/>
          <p:cNvSpPr/>
          <p:nvPr/>
        </p:nvSpPr>
        <p:spPr>
          <a:xfrm>
            <a:off x="9372366" y="5625959"/>
            <a:ext cx="177796" cy="177796"/>
          </a:xfrm>
          <a:prstGeom prst="roundRect">
            <a:avLst>
              <a:gd name="adj" fmla="val 28571"/>
            </a:avLst>
          </a:prstGeom>
          <a:solidFill>
            <a:srgbClr val="8F55F5"/>
          </a:solidFill>
          <a:ln/>
        </p:spPr>
      </p:sp>
      <p:sp>
        <p:nvSpPr>
          <p:cNvPr id="28" name="text 1.27"/>
          <p:cNvSpPr txBox="1"/>
          <p:nvPr/>
        </p:nvSpPr>
        <p:spPr>
          <a:xfrm>
            <a:off x="9639059" y="56386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B2340"/>
                </a:solidFill>
                <a:latin typeface="Arial" pitchFamily="34" charset="0"/>
                <a:ea typeface="Arial" pitchFamily="34" charset="-122"/>
                <a:cs typeface="Arial" pitchFamily="34" charset="-120"/>
              </a:rPr>
              <a:t>Ardıl Bilal Ülkü</a:t>
            </a:r>
            <a:endParaRPr lang="en-US" sz="1100" dirty="0"/>
          </a:p>
        </p:txBody>
      </p:sp>
      <p:sp>
        <p:nvSpPr>
          <p:cNvPr id="29" name="text 1.28"/>
          <p:cNvSpPr txBox="1"/>
          <p:nvPr/>
        </p:nvSpPr>
        <p:spPr>
          <a:xfrm>
            <a:off x="9639059" y="5854554"/>
            <a:ext cx="699878"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2230356051</a:t>
            </a:r>
            <a:endParaRPr lang="en-US" sz="850" dirty="0"/>
          </a:p>
        </p:txBody>
      </p:sp>
      <p:sp>
        <p:nvSpPr>
          <p:cNvPr id="30" name="text 1.29"/>
          <p:cNvSpPr txBox="1"/>
          <p:nvPr/>
        </p:nvSpPr>
        <p:spPr>
          <a:xfrm>
            <a:off x="9639059" y="6057749"/>
            <a:ext cx="1879553" cy="137157"/>
          </a:xfrm>
          <a:prstGeom prst="rect">
            <a:avLst/>
          </a:prstGeom>
          <a:noFill/>
          <a:ln/>
        </p:spPr>
        <p:txBody>
          <a:bodyPr wrap="square" lIns="0" tIns="0" rIns="0" bIns="0" rtlCol="0" anchor="t"/>
          <a:lstStyle/>
          <a:p>
            <a:pPr algn="l" indent="0" marL="0">
              <a:lnSpc>
                <a:spcPts val="1080"/>
              </a:lnSpc>
              <a:buNone/>
            </a:pPr>
            <a:r>
              <a:rPr lang="en-US" sz="900" b="1" dirty="0">
                <a:solidFill>
                  <a:srgbClr val="8F55F5"/>
                </a:solidFill>
                <a:latin typeface="Arial" pitchFamily="34" charset="0"/>
                <a:ea typeface="Arial" pitchFamily="34" charset="-122"/>
                <a:cs typeface="Arial" pitchFamily="34" charset="-120"/>
              </a:rPr>
              <a:t>Menus, promo video</a:t>
            </a:r>
            <a:endParaRPr lang="en-US" sz="900" dirty="0"/>
          </a:p>
        </p:txBody>
      </p:sp>
      <p:sp>
        <p:nvSpPr>
          <p:cNvPr id="31" name="text 1.30"/>
          <p:cNvSpPr txBox="1"/>
          <p:nvPr/>
        </p:nvSpPr>
        <p:spPr>
          <a:xfrm>
            <a:off x="6730832" y="6553036"/>
            <a:ext cx="4851279" cy="151126"/>
          </a:xfrm>
          <a:prstGeom prst="rect">
            <a:avLst/>
          </a:prstGeom>
          <a:noFill/>
          <a:ln/>
        </p:spPr>
        <p:txBody>
          <a:bodyPr wrap="square" lIns="0" tIns="0" rIns="0" bIns="0" rtlCol="0" anchor="t"/>
          <a:lstStyle/>
          <a:p>
            <a:pPr algn="r" indent="0" marL="0">
              <a:lnSpc>
                <a:spcPts val="1190"/>
              </a:lnSpc>
              <a:buNone/>
            </a:pPr>
            <a:r>
              <a:rPr lang="en-US" sz="850" dirty="0">
                <a:solidFill>
                  <a:srgbClr val="6F778C"/>
                </a:solidFill>
                <a:latin typeface="Arial" pitchFamily="34" charset="0"/>
                <a:ea typeface="Arial" pitchFamily="34" charset="-122"/>
                <a:cs typeface="Arial" pitchFamily="34" charset="-120"/>
              </a:rPr>
              <a:t>Everyone also designs one mini-game.</a:t>
            </a:r>
            <a:endParaRPr lang="en-US" sz="8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
          <p:cNvSpPr/>
          <p:nvPr/>
        </p:nvSpPr>
        <p:spPr>
          <a:xfrm>
            <a:off x="609585" y="2870128"/>
            <a:ext cx="2006550" cy="1346166"/>
          </a:xfrm>
          <a:prstGeom prst="roundRect">
            <a:avLst>
              <a:gd name="adj" fmla="val 1132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2"/>
          <p:cNvSpPr/>
          <p:nvPr/>
        </p:nvSpPr>
        <p:spPr>
          <a:xfrm>
            <a:off x="2876478" y="2870128"/>
            <a:ext cx="2006550" cy="1346166"/>
          </a:xfrm>
          <a:prstGeom prst="roundRect">
            <a:avLst>
              <a:gd name="adj" fmla="val 1132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2.3"/>
          <p:cNvSpPr/>
          <p:nvPr/>
        </p:nvSpPr>
        <p:spPr>
          <a:xfrm>
            <a:off x="5143371" y="2870128"/>
            <a:ext cx="2006550" cy="1346166"/>
          </a:xfrm>
          <a:prstGeom prst="roundRect">
            <a:avLst>
              <a:gd name="adj" fmla="val 11321"/>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5" name="shape 2.4"/>
          <p:cNvSpPr/>
          <p:nvPr/>
        </p:nvSpPr>
        <p:spPr>
          <a:xfrm>
            <a:off x="7410265" y="2870128"/>
            <a:ext cx="2006550" cy="1346166"/>
          </a:xfrm>
          <a:prstGeom prst="roundRect">
            <a:avLst>
              <a:gd name="adj" fmla="val 1132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2.5"/>
          <p:cNvSpPr/>
          <p:nvPr/>
        </p:nvSpPr>
        <p:spPr>
          <a:xfrm>
            <a:off x="9677158" y="2870128"/>
            <a:ext cx="2006550" cy="1346166"/>
          </a:xfrm>
          <a:prstGeom prst="roundRect">
            <a:avLst>
              <a:gd name="adj" fmla="val 1132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2.6"/>
          <p:cNvSpPr/>
          <p:nvPr/>
        </p:nvSpPr>
        <p:spPr>
          <a:xfrm>
            <a:off x="609585" y="4444889"/>
            <a:ext cx="10972526" cy="1841454"/>
          </a:xfrm>
          <a:prstGeom prst="roundRect">
            <a:avLst>
              <a:gd name="adj" fmla="val 827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8" name="raster 2.7" descr="diagram">    </p:cNvPr>
          <p:cNvPicPr>
            <a:picLocks noChangeAspect="1"/>
          </p:cNvPicPr>
          <p:nvPr/>
        </p:nvPicPr>
        <p:blipFill>
          <a:blip r:embed="rId2"/>
          <a:stretch>
            <a:fillRect/>
          </a:stretch>
        </p:blipFill>
        <p:spPr>
          <a:xfrm>
            <a:off x="2616135" y="3454314"/>
            <a:ext cx="165096" cy="190495"/>
          </a:xfrm>
          <a:prstGeom prst="rect">
            <a:avLst/>
          </a:prstGeom>
        </p:spPr>
      </p:pic>
      <p:pic>
        <p:nvPicPr>
          <p:cNvPr id="9" name="raster 2.8" descr="diagram">    </p:cNvPr>
          <p:cNvPicPr>
            <a:picLocks noChangeAspect="1"/>
          </p:cNvPicPr>
          <p:nvPr/>
        </p:nvPicPr>
        <p:blipFill>
          <a:blip r:embed="rId3"/>
          <a:stretch>
            <a:fillRect/>
          </a:stretch>
        </p:blipFill>
        <p:spPr>
          <a:xfrm>
            <a:off x="4883028" y="3454314"/>
            <a:ext cx="165096" cy="190495"/>
          </a:xfrm>
          <a:prstGeom prst="rect">
            <a:avLst/>
          </a:prstGeom>
        </p:spPr>
      </p:pic>
      <p:pic>
        <p:nvPicPr>
          <p:cNvPr id="10" name="raster 2.9" descr="diagram">    </p:cNvPr>
          <p:cNvPicPr>
            <a:picLocks noChangeAspect="1"/>
          </p:cNvPicPr>
          <p:nvPr/>
        </p:nvPicPr>
        <p:blipFill>
          <a:blip r:embed="rId4"/>
          <a:stretch>
            <a:fillRect/>
          </a:stretch>
        </p:blipFill>
        <p:spPr>
          <a:xfrm>
            <a:off x="7149921" y="3454314"/>
            <a:ext cx="165096" cy="190495"/>
          </a:xfrm>
          <a:prstGeom prst="rect">
            <a:avLst/>
          </a:prstGeom>
        </p:spPr>
      </p:pic>
      <p:pic>
        <p:nvPicPr>
          <p:cNvPr id="11" name="raster 2.10" descr="diagram">    </p:cNvPr>
          <p:cNvPicPr>
            <a:picLocks noChangeAspect="1"/>
          </p:cNvPicPr>
          <p:nvPr/>
        </p:nvPicPr>
        <p:blipFill>
          <a:blip r:embed="rId5"/>
          <a:stretch>
            <a:fillRect/>
          </a:stretch>
        </p:blipFill>
        <p:spPr>
          <a:xfrm>
            <a:off x="9416815" y="3454314"/>
            <a:ext cx="165096" cy="190495"/>
          </a:xfrm>
          <a:prstGeom prst="rect">
            <a:avLst/>
          </a:prstGeom>
        </p:spPr>
      </p:pic>
      <p:sp>
        <p:nvSpPr>
          <p:cNvPr id="12" name="text 2.1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Game description</a:t>
            </a:r>
            <a:endParaRPr lang="en-US" sz="3000" dirty="0"/>
          </a:p>
        </p:txBody>
      </p:sp>
      <p:sp>
        <p:nvSpPr>
          <p:cNvPr id="13" name="text 2.12"/>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Every round is a new mini-game, and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placement turns into points.</a:t>
            </a:r>
            <a:endParaRPr lang="en-US" sz="1350" dirty="0"/>
          </a:p>
        </p:txBody>
      </p:sp>
      <p:sp>
        <p:nvSpPr>
          <p:cNvPr id="14" name="text 2.13"/>
          <p:cNvSpPr txBox="1"/>
          <p:nvPr/>
        </p:nvSpPr>
        <p:spPr>
          <a:xfrm>
            <a:off x="609585" y="1790655"/>
            <a:ext cx="11010625" cy="662864"/>
          </a:xfrm>
          <a:prstGeom prst="rect">
            <a:avLst/>
          </a:prstGeom>
          <a:noFill/>
          <a:ln/>
        </p:spPr>
        <p:txBody>
          <a:bodyPr wrap="square" lIns="0" tIns="0" rIns="0" bIns="0" rtlCol="0" anchor="t"/>
          <a:lstStyle/>
          <a:p>
            <a:pPr algn="l" indent="0" marL="0">
              <a:lnSpc>
                <a:spcPts val="1740"/>
              </a:lnSpc>
              <a:buNone/>
            </a:pPr>
            <a:r>
              <a:rPr lang="en-US" sz="1200" dirty="0">
                <a:solidFill>
                  <a:srgbClr val="3E475E"/>
                </a:solidFill>
                <a:latin typeface="Arial" pitchFamily="34" charset="0"/>
                <a:ea typeface="Arial" pitchFamily="34" charset="-122"/>
                <a:cs typeface="Arial" pitchFamily="34" charset="-120"/>
              </a:rPr>
              <a:t>Shooter Party is a multiplayer party game. Each player plays on their own device: one hosts the session and the others join over the network. Everyone controls a small shooting cube in their own colour. The mini-games change what a shot does: one pushes, one damages, one lifts you with a blast. When the session ends, the player with the most points wins.</a:t>
            </a:r>
            <a:endParaRPr lang="en-US" sz="1200" dirty="0"/>
          </a:p>
        </p:txBody>
      </p:sp>
      <p:sp>
        <p:nvSpPr>
          <p:cNvPr id="15" name="text 2.14"/>
          <p:cNvSpPr txBox="1"/>
          <p:nvPr/>
        </p:nvSpPr>
        <p:spPr>
          <a:xfrm>
            <a:off x="609585" y="2654234"/>
            <a:ext cx="1502845"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HOW A SESSION RUNS</a:t>
            </a:r>
            <a:endParaRPr lang="en-US" sz="800" dirty="0"/>
          </a:p>
        </p:txBody>
      </p:sp>
      <p:sp>
        <p:nvSpPr>
          <p:cNvPr id="16" name="shape 2.15"/>
          <p:cNvSpPr/>
          <p:nvPr/>
        </p:nvSpPr>
        <p:spPr>
          <a:xfrm>
            <a:off x="761981" y="3022524"/>
            <a:ext cx="279393" cy="279393"/>
          </a:xfrm>
          <a:prstGeom prst="roundRect">
            <a:avLst>
              <a:gd name="adj" fmla="val 50000"/>
            </a:avLst>
          </a:prstGeom>
          <a:solidFill>
            <a:srgbClr val="FFF0E6"/>
          </a:solidFill>
          <a:ln/>
        </p:spPr>
      </p:sp>
      <p:sp>
        <p:nvSpPr>
          <p:cNvPr id="17" name="text 2.16"/>
          <p:cNvSpPr txBox="1"/>
          <p:nvPr/>
        </p:nvSpPr>
        <p:spPr>
          <a:xfrm>
            <a:off x="761981" y="3022524"/>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1</a:t>
            </a:r>
            <a:endParaRPr lang="en-US" sz="1100" dirty="0"/>
          </a:p>
        </p:txBody>
      </p:sp>
      <p:sp>
        <p:nvSpPr>
          <p:cNvPr id="18" name="text 2.17"/>
          <p:cNvSpPr txBox="1"/>
          <p:nvPr/>
        </p:nvSpPr>
        <p:spPr>
          <a:xfrm>
            <a:off x="1130272" y="3073323"/>
            <a:ext cx="664015"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Lobby</a:t>
            </a:r>
            <a:endParaRPr lang="en-US" sz="1500" dirty="0"/>
          </a:p>
        </p:txBody>
      </p:sp>
      <p:sp>
        <p:nvSpPr>
          <p:cNvPr id="19" name="text 2.18"/>
          <p:cNvSpPr txBox="1"/>
          <p:nvPr/>
        </p:nvSpPr>
        <p:spPr>
          <a:xfrm>
            <a:off x="761981" y="3428914"/>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Host sets the session rules. Others join over the network.</a:t>
            </a:r>
            <a:endParaRPr lang="en-US" sz="1050" dirty="0"/>
          </a:p>
        </p:txBody>
      </p:sp>
      <p:sp>
        <p:nvSpPr>
          <p:cNvPr id="20" name="shape 2.19"/>
          <p:cNvSpPr/>
          <p:nvPr/>
        </p:nvSpPr>
        <p:spPr>
          <a:xfrm>
            <a:off x="3028874" y="3022524"/>
            <a:ext cx="279393" cy="279393"/>
          </a:xfrm>
          <a:prstGeom prst="roundRect">
            <a:avLst>
              <a:gd name="adj" fmla="val 50000"/>
            </a:avLst>
          </a:prstGeom>
          <a:solidFill>
            <a:srgbClr val="FFF0E6"/>
          </a:solidFill>
          <a:ln/>
        </p:spPr>
      </p:sp>
      <p:sp>
        <p:nvSpPr>
          <p:cNvPr id="21" name="text 2.20"/>
          <p:cNvSpPr txBox="1"/>
          <p:nvPr/>
        </p:nvSpPr>
        <p:spPr>
          <a:xfrm>
            <a:off x="3028874" y="3022524"/>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text 2.21"/>
          <p:cNvSpPr txBox="1"/>
          <p:nvPr/>
        </p:nvSpPr>
        <p:spPr>
          <a:xfrm>
            <a:off x="3397165" y="3073323"/>
            <a:ext cx="481020"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Pick</a:t>
            </a:r>
            <a:endParaRPr lang="en-US" sz="1500" dirty="0"/>
          </a:p>
        </p:txBody>
      </p:sp>
      <p:sp>
        <p:nvSpPr>
          <p:cNvPr id="23" name="text 2.22"/>
          <p:cNvSpPr txBox="1"/>
          <p:nvPr/>
        </p:nvSpPr>
        <p:spPr>
          <a:xfrm>
            <a:off x="3028874" y="3428914"/>
            <a:ext cx="1790655" cy="543804"/>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The playlist picks the next mini-game. Everyone loads the same arena.</a:t>
            </a:r>
            <a:endParaRPr lang="en-US" sz="1050" dirty="0"/>
          </a:p>
        </p:txBody>
      </p:sp>
      <p:sp>
        <p:nvSpPr>
          <p:cNvPr id="24" name="shape 2.23"/>
          <p:cNvSpPr/>
          <p:nvPr/>
        </p:nvSpPr>
        <p:spPr>
          <a:xfrm>
            <a:off x="5295768" y="3022524"/>
            <a:ext cx="279393" cy="279393"/>
          </a:xfrm>
          <a:prstGeom prst="roundRect">
            <a:avLst>
              <a:gd name="adj" fmla="val 50000"/>
            </a:avLst>
          </a:prstGeom>
          <a:solidFill>
            <a:srgbClr val="FF6B1F"/>
          </a:solidFill>
          <a:ln/>
        </p:spPr>
      </p:sp>
      <p:sp>
        <p:nvSpPr>
          <p:cNvPr id="25" name="text 2.24"/>
          <p:cNvSpPr txBox="1"/>
          <p:nvPr/>
        </p:nvSpPr>
        <p:spPr>
          <a:xfrm>
            <a:off x="5295768" y="3022524"/>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text 2.25"/>
          <p:cNvSpPr txBox="1"/>
          <p:nvPr/>
        </p:nvSpPr>
        <p:spPr>
          <a:xfrm>
            <a:off x="5664058" y="3073323"/>
            <a:ext cx="479758"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Play</a:t>
            </a:r>
            <a:endParaRPr lang="en-US" sz="1500" dirty="0"/>
          </a:p>
        </p:txBody>
      </p:sp>
      <p:sp>
        <p:nvSpPr>
          <p:cNvPr id="27" name="text 2.26"/>
          <p:cNvSpPr txBox="1"/>
          <p:nvPr/>
        </p:nvSpPr>
        <p:spPr>
          <a:xfrm>
            <a:off x="5295768" y="3428914"/>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Some mini-games have their own rounds inside.</a:t>
            </a:r>
            <a:endParaRPr lang="en-US" sz="1050" dirty="0"/>
          </a:p>
        </p:txBody>
      </p:sp>
      <p:sp>
        <p:nvSpPr>
          <p:cNvPr id="28" name="shape 2.27"/>
          <p:cNvSpPr/>
          <p:nvPr/>
        </p:nvSpPr>
        <p:spPr>
          <a:xfrm>
            <a:off x="7562661" y="3022524"/>
            <a:ext cx="279393" cy="279393"/>
          </a:xfrm>
          <a:prstGeom prst="roundRect">
            <a:avLst>
              <a:gd name="adj" fmla="val 50000"/>
            </a:avLst>
          </a:prstGeom>
          <a:solidFill>
            <a:srgbClr val="FFF0E6"/>
          </a:solidFill>
          <a:ln/>
        </p:spPr>
      </p:sp>
      <p:sp>
        <p:nvSpPr>
          <p:cNvPr id="29" name="text 2.28"/>
          <p:cNvSpPr txBox="1"/>
          <p:nvPr/>
        </p:nvSpPr>
        <p:spPr>
          <a:xfrm>
            <a:off x="7562661" y="3022524"/>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text 2.29"/>
          <p:cNvSpPr txBox="1"/>
          <p:nvPr/>
        </p:nvSpPr>
        <p:spPr>
          <a:xfrm>
            <a:off x="7930952" y="3073323"/>
            <a:ext cx="612903"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Place</a:t>
            </a:r>
            <a:endParaRPr lang="en-US" sz="1500" dirty="0"/>
          </a:p>
        </p:txBody>
      </p:sp>
      <p:sp>
        <p:nvSpPr>
          <p:cNvPr id="31" name="text 2.30"/>
          <p:cNvSpPr txBox="1"/>
          <p:nvPr/>
        </p:nvSpPr>
        <p:spPr>
          <a:xfrm>
            <a:off x="7562661" y="3428914"/>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Final placement becomes points.</a:t>
            </a:r>
            <a:endParaRPr lang="en-US" sz="1050" dirty="0"/>
          </a:p>
        </p:txBody>
      </p:sp>
      <p:sp>
        <p:nvSpPr>
          <p:cNvPr id="32" name="shape 2.31"/>
          <p:cNvSpPr/>
          <p:nvPr/>
        </p:nvSpPr>
        <p:spPr>
          <a:xfrm>
            <a:off x="9829554" y="3022524"/>
            <a:ext cx="279393" cy="279393"/>
          </a:xfrm>
          <a:prstGeom prst="roundRect">
            <a:avLst>
              <a:gd name="adj" fmla="val 50000"/>
            </a:avLst>
          </a:prstGeom>
          <a:solidFill>
            <a:srgbClr val="FFF0E6"/>
          </a:solidFill>
          <a:ln/>
        </p:spPr>
      </p:sp>
      <p:sp>
        <p:nvSpPr>
          <p:cNvPr id="33" name="text 2.32"/>
          <p:cNvSpPr txBox="1"/>
          <p:nvPr/>
        </p:nvSpPr>
        <p:spPr>
          <a:xfrm>
            <a:off x="9829554" y="3022524"/>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6B1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text 2.33"/>
          <p:cNvSpPr txBox="1"/>
          <p:nvPr/>
        </p:nvSpPr>
        <p:spPr>
          <a:xfrm>
            <a:off x="10197845" y="3073323"/>
            <a:ext cx="1050196"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Standings</a:t>
            </a:r>
            <a:endParaRPr lang="en-US" sz="1500" dirty="0"/>
          </a:p>
        </p:txBody>
      </p:sp>
      <p:sp>
        <p:nvSpPr>
          <p:cNvPr id="35" name="text 2.34"/>
          <p:cNvSpPr txBox="1"/>
          <p:nvPr/>
        </p:nvSpPr>
        <p:spPr>
          <a:xfrm>
            <a:off x="9829554" y="3428914"/>
            <a:ext cx="1790655" cy="362536"/>
          </a:xfrm>
          <a:prstGeom prst="rect">
            <a:avLst/>
          </a:prstGeom>
          <a:noFill/>
          <a:ln/>
        </p:spPr>
        <p:txBody>
          <a:bodyPr wrap="square" lIns="0" tIns="0" rIns="0" bIns="0" rtlCol="0" anchor="t"/>
          <a:lstStyle/>
          <a:p>
            <a:pPr algn="l" indent="0" marL="0">
              <a:lnSpc>
                <a:spcPts val="1430"/>
              </a:lnSpc>
              <a:buNone/>
            </a:pPr>
            <a:r>
              <a:rPr lang="en-US" sz="1050" dirty="0">
                <a:solidFill>
                  <a:srgbClr val="3E475E"/>
                </a:solidFill>
                <a:latin typeface="Arial" pitchFamily="34" charset="0"/>
                <a:ea typeface="Arial" pitchFamily="34" charset="-122"/>
                <a:cs typeface="Arial" pitchFamily="34" charset="-120"/>
              </a:rPr>
              <a:t>Scoreboard updates; the leader wears the crown.</a:t>
            </a:r>
            <a:endParaRPr lang="en-US" sz="1050" dirty="0"/>
          </a:p>
        </p:txBody>
      </p:sp>
      <p:sp>
        <p:nvSpPr>
          <p:cNvPr id="36" name="text 2.35"/>
          <p:cNvSpPr txBox="1"/>
          <p:nvPr/>
        </p:nvSpPr>
        <p:spPr>
          <a:xfrm>
            <a:off x="863578" y="4635384"/>
            <a:ext cx="1317536"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SESSION SETTINGS</a:t>
            </a:r>
            <a:endParaRPr lang="en-US" sz="800" dirty="0"/>
          </a:p>
        </p:txBody>
      </p:sp>
      <p:sp>
        <p:nvSpPr>
          <p:cNvPr id="37" name="text 2.36"/>
          <p:cNvSpPr txBox="1"/>
          <p:nvPr/>
        </p:nvSpPr>
        <p:spPr>
          <a:xfrm>
            <a:off x="863578" y="4940176"/>
            <a:ext cx="1321954" cy="204465"/>
          </a:xfrm>
          <a:prstGeom prst="rect">
            <a:avLst/>
          </a:prstGeom>
          <a:noFill/>
          <a:ln/>
        </p:spPr>
        <p:txBody>
          <a:bodyPr wrap="square" lIns="0" tIns="0" rIns="0" bIns="0" rtlCol="0" anchor="t"/>
          <a:lstStyle/>
          <a:p>
            <a:pPr algn="l" indent="0" marL="0">
              <a:lnSpc>
                <a:spcPts val="1610"/>
              </a:lnSpc>
              <a:buNone/>
            </a:pPr>
            <a:r>
              <a:rPr lang="en-US" sz="1400" dirty="0">
                <a:solidFill>
                  <a:srgbClr val="1B2340"/>
                </a:solidFill>
                <a:latin typeface="Arial Rounded MT Bold" pitchFamily="34" charset="0"/>
                <a:ea typeface="Arial Rounded MT Bold" pitchFamily="34" charset="-122"/>
                <a:cs typeface="Arial Rounded MT Bold" pitchFamily="34" charset="-120"/>
              </a:rPr>
              <a:t>End condition</a:t>
            </a:r>
            <a:endParaRPr lang="en-US" sz="1400" dirty="0"/>
          </a:p>
        </p:txBody>
      </p:sp>
      <p:sp>
        <p:nvSpPr>
          <p:cNvPr id="38" name="text 2.37"/>
          <p:cNvSpPr txBox="1"/>
          <p:nvPr/>
        </p:nvSpPr>
        <p:spPr>
          <a:xfrm>
            <a:off x="863578" y="5244969"/>
            <a:ext cx="3213020" cy="396667"/>
          </a:xfrm>
          <a:prstGeom prst="rect">
            <a:avLst/>
          </a:prstGeom>
          <a:noFill/>
          <a:ln/>
        </p:spPr>
        <p:txBody>
          <a:bodyPr wrap="square" lIns="0" tIns="0" rIns="0" bIns="0" rtlCol="0" anchor="t"/>
          <a:lstStyle/>
          <a:p>
            <a:pPr algn="l" indent="0" marL="0">
              <a:lnSpc>
                <a:spcPts val="1560"/>
              </a:lnSpc>
              <a:buNone/>
            </a:pPr>
            <a:r>
              <a:rPr lang="en-US" sz="1100" dirty="0">
                <a:solidFill>
                  <a:srgbClr val="3E475E"/>
                </a:solidFill>
                <a:latin typeface="Arial" pitchFamily="34" charset="0"/>
                <a:ea typeface="Arial" pitchFamily="34" charset="-122"/>
                <a:cs typeface="Arial" pitchFamily="34" charset="-120"/>
              </a:rPr>
              <a:t>After a set number of mini-games, or when a player reaches a target score.</a:t>
            </a:r>
            <a:endParaRPr lang="en-US" sz="1100" dirty="0"/>
          </a:p>
        </p:txBody>
      </p:sp>
      <p:sp>
        <p:nvSpPr>
          <p:cNvPr id="39" name="shape 2.38"/>
          <p:cNvSpPr/>
          <p:nvPr/>
        </p:nvSpPr>
        <p:spPr>
          <a:xfrm>
            <a:off x="4241694" y="4940176"/>
            <a:ext cx="12700" cy="1142971"/>
          </a:xfrm>
          <a:prstGeom prst="rect">
            <a:avLst/>
          </a:prstGeom>
          <a:solidFill>
            <a:srgbClr val="E4E9DD"/>
          </a:solidFill>
          <a:ln/>
        </p:spPr>
      </p:sp>
      <p:sp>
        <p:nvSpPr>
          <p:cNvPr id="40" name="text 2.39"/>
          <p:cNvSpPr txBox="1"/>
          <p:nvPr/>
        </p:nvSpPr>
        <p:spPr>
          <a:xfrm>
            <a:off x="4432189" y="4940176"/>
            <a:ext cx="723015" cy="204465"/>
          </a:xfrm>
          <a:prstGeom prst="rect">
            <a:avLst/>
          </a:prstGeom>
          <a:noFill/>
          <a:ln/>
        </p:spPr>
        <p:txBody>
          <a:bodyPr wrap="square" lIns="0" tIns="0" rIns="0" bIns="0" rtlCol="0" anchor="t"/>
          <a:lstStyle/>
          <a:p>
            <a:pPr algn="l" indent="0" marL="0">
              <a:lnSpc>
                <a:spcPts val="1610"/>
              </a:lnSpc>
              <a:buNone/>
            </a:pPr>
            <a:r>
              <a:rPr lang="en-US" sz="1400" dirty="0">
                <a:solidFill>
                  <a:srgbClr val="1B2340"/>
                </a:solidFill>
                <a:latin typeface="Arial Rounded MT Bold" pitchFamily="34" charset="0"/>
                <a:ea typeface="Arial Rounded MT Bold" pitchFamily="34" charset="-122"/>
                <a:cs typeface="Arial Rounded MT Bold" pitchFamily="34" charset="-120"/>
              </a:rPr>
              <a:t>Playlist</a:t>
            </a:r>
            <a:endParaRPr lang="en-US" sz="1400" dirty="0"/>
          </a:p>
        </p:txBody>
      </p:sp>
      <p:sp>
        <p:nvSpPr>
          <p:cNvPr id="41" name="text 2.40"/>
          <p:cNvSpPr txBox="1"/>
          <p:nvPr/>
        </p:nvSpPr>
        <p:spPr>
          <a:xfrm>
            <a:off x="4432189" y="5244969"/>
            <a:ext cx="3213020" cy="595000"/>
          </a:xfrm>
          <a:prstGeom prst="rect">
            <a:avLst/>
          </a:prstGeom>
          <a:noFill/>
          <a:ln/>
        </p:spPr>
        <p:txBody>
          <a:bodyPr wrap="square" lIns="0" tIns="0" rIns="0" bIns="0" rtlCol="0" anchor="t"/>
          <a:lstStyle/>
          <a:p>
            <a:pPr algn="l" indent="0" marL="0">
              <a:lnSpc>
                <a:spcPts val="1560"/>
              </a:lnSpc>
              <a:buNone/>
            </a:pPr>
            <a:r>
              <a:rPr lang="en-US" sz="1100" dirty="0">
                <a:solidFill>
                  <a:srgbClr val="3E475E"/>
                </a:solidFill>
                <a:latin typeface="Arial" pitchFamily="34" charset="0"/>
                <a:ea typeface="Arial" pitchFamily="34" charset="-122"/>
                <a:cs typeface="Arial" pitchFamily="34" charset="-120"/>
              </a:rPr>
              <a:t>Random or custom. Unwanted mini-games can be excluded, and one mini-game can be played many times.</a:t>
            </a:r>
            <a:endParaRPr lang="en-US" sz="1100" dirty="0"/>
          </a:p>
        </p:txBody>
      </p:sp>
      <p:sp>
        <p:nvSpPr>
          <p:cNvPr id="42" name="shape 2.41"/>
          <p:cNvSpPr/>
          <p:nvPr/>
        </p:nvSpPr>
        <p:spPr>
          <a:xfrm>
            <a:off x="7810305" y="4940176"/>
            <a:ext cx="12700" cy="1142971"/>
          </a:xfrm>
          <a:prstGeom prst="rect">
            <a:avLst/>
          </a:prstGeom>
          <a:solidFill>
            <a:srgbClr val="E4E9DD"/>
          </a:solidFill>
          <a:ln/>
        </p:spPr>
      </p:sp>
      <p:sp>
        <p:nvSpPr>
          <p:cNvPr id="43" name="text 2.42"/>
          <p:cNvSpPr txBox="1"/>
          <p:nvPr/>
        </p:nvSpPr>
        <p:spPr>
          <a:xfrm>
            <a:off x="8000800" y="4940176"/>
            <a:ext cx="1228668" cy="204465"/>
          </a:xfrm>
          <a:prstGeom prst="rect">
            <a:avLst/>
          </a:prstGeom>
          <a:noFill/>
          <a:ln/>
        </p:spPr>
        <p:txBody>
          <a:bodyPr wrap="square" lIns="0" tIns="0" rIns="0" bIns="0" rtlCol="0" anchor="t"/>
          <a:lstStyle/>
          <a:p>
            <a:pPr algn="l" indent="0" marL="0">
              <a:lnSpc>
                <a:spcPts val="1610"/>
              </a:lnSpc>
              <a:buNone/>
            </a:pPr>
            <a:r>
              <a:rPr lang="en-US" sz="1400" dirty="0">
                <a:solidFill>
                  <a:srgbClr val="1B2340"/>
                </a:solidFill>
                <a:latin typeface="Arial Rounded MT Bold" pitchFamily="34" charset="0"/>
                <a:ea typeface="Arial Rounded MT Bold" pitchFamily="34" charset="-122"/>
                <a:cs typeface="Arial Rounded MT Bold" pitchFamily="34" charset="-120"/>
              </a:rPr>
              <a:t>Inner rounds</a:t>
            </a:r>
            <a:endParaRPr lang="en-US" sz="1400" dirty="0"/>
          </a:p>
        </p:txBody>
      </p:sp>
      <p:sp>
        <p:nvSpPr>
          <p:cNvPr id="44" name="text 2.43"/>
          <p:cNvSpPr txBox="1"/>
          <p:nvPr/>
        </p:nvSpPr>
        <p:spPr>
          <a:xfrm>
            <a:off x="8000800" y="5244969"/>
            <a:ext cx="3213020" cy="396667"/>
          </a:xfrm>
          <a:prstGeom prst="rect">
            <a:avLst/>
          </a:prstGeom>
          <a:noFill/>
          <a:ln/>
        </p:spPr>
        <p:txBody>
          <a:bodyPr wrap="square" lIns="0" tIns="0" rIns="0" bIns="0" rtlCol="0" anchor="t"/>
          <a:lstStyle/>
          <a:p>
            <a:pPr algn="l" indent="0" marL="0">
              <a:lnSpc>
                <a:spcPts val="1560"/>
              </a:lnSpc>
              <a:buNone/>
            </a:pPr>
            <a:r>
              <a:rPr lang="en-US" sz="1100" dirty="0">
                <a:solidFill>
                  <a:srgbClr val="3E475E"/>
                </a:solidFill>
                <a:latin typeface="Arial" pitchFamily="34" charset="0"/>
                <a:ea typeface="Arial" pitchFamily="34" charset="-122"/>
                <a:cs typeface="Arial" pitchFamily="34" charset="-120"/>
              </a:rPr>
              <a:t>A mini-game can run its own rounds, like Hole Grab losing one hole each round.</a:t>
            </a:r>
            <a:endParaRPr lang="en-US" sz="1100" dirty="0"/>
          </a:p>
        </p:txBody>
      </p:sp>
      <p:pic>
        <p:nvPicPr>
          <p:cNvPr id="45" name="raster 2.44" descr="diagram">    </p:cNvPr>
          <p:cNvPicPr>
            <a:picLocks noChangeAspect="1"/>
          </p:cNvPicPr>
          <p:nvPr/>
        </p:nvPicPr>
        <p:blipFill>
          <a:blip r:embed="rId6"/>
          <a:stretch>
            <a:fillRect/>
          </a:stretch>
        </p:blipFill>
        <p:spPr>
          <a:xfrm>
            <a:off x="609585" y="266693"/>
            <a:ext cx="190495" cy="190495"/>
          </a:xfrm>
          <a:prstGeom prst="rect">
            <a:avLst/>
          </a:prstGeom>
        </p:spPr>
      </p:pic>
      <p:sp>
        <p:nvSpPr>
          <p:cNvPr id="46" name="text 2.45"/>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7" name="text 2.46"/>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48" name="text 2.47"/>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9" name="text 2.48"/>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02 / 28</a:t>
            </a:r>
            <a:endParaRPr lang="en-US" sz="750" dirty="0"/>
          </a:p>
        </p:txBody>
      </p:sp>
      <p:sp>
        <p:nvSpPr>
          <p:cNvPr id="50" name="text 2.49"/>
          <p:cNvSpPr txBox="1"/>
          <p:nvPr/>
        </p:nvSpPr>
        <p:spPr>
          <a:xfrm>
            <a:off x="609585" y="698483"/>
            <a:ext cx="1104674"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01 · THE GAME</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3.1"/>
          <p:cNvSpPr/>
          <p:nvPr/>
        </p:nvSpPr>
        <p:spPr>
          <a:xfrm>
            <a:off x="609585" y="1803355"/>
            <a:ext cx="5079873" cy="4482988"/>
          </a:xfrm>
          <a:prstGeom prst="roundRect">
            <a:avLst>
              <a:gd name="adj" fmla="val 339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3.2"/>
          <p:cNvSpPr/>
          <p:nvPr/>
        </p:nvSpPr>
        <p:spPr>
          <a:xfrm>
            <a:off x="5943451" y="2044649"/>
            <a:ext cx="5638659" cy="1320767"/>
          </a:xfrm>
          <a:prstGeom prst="roundRect">
            <a:avLst>
              <a:gd name="adj" fmla="val 1153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3.3"/>
          <p:cNvSpPr/>
          <p:nvPr/>
        </p:nvSpPr>
        <p:spPr>
          <a:xfrm>
            <a:off x="5943451" y="3492413"/>
            <a:ext cx="5638659" cy="1320767"/>
          </a:xfrm>
          <a:prstGeom prst="roundRect">
            <a:avLst>
              <a:gd name="adj" fmla="val 1153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3.4"/>
          <p:cNvSpPr/>
          <p:nvPr/>
        </p:nvSpPr>
        <p:spPr>
          <a:xfrm>
            <a:off x="5943451" y="4940176"/>
            <a:ext cx="5638659" cy="1320767"/>
          </a:xfrm>
          <a:prstGeom prst="roundRect">
            <a:avLst>
              <a:gd name="adj" fmla="val 1153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text 3.5"/>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Placement points &amp; comeback rules</a:t>
            </a:r>
            <a:endParaRPr lang="en-US" sz="3000" dirty="0"/>
          </a:p>
        </p:txBody>
      </p:sp>
      <p:sp>
        <p:nvSpPr>
          <p:cNvPr id="7" name="text 3.6"/>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Placement turns into points,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and whoever is behind gets an edge.</a:t>
            </a:r>
            <a:endParaRPr lang="en-US" sz="1350" dirty="0"/>
          </a:p>
        </p:txBody>
      </p:sp>
      <p:sp>
        <p:nvSpPr>
          <p:cNvPr id="8" name="text 3.7"/>
          <p:cNvSpPr txBox="1"/>
          <p:nvPr/>
        </p:nvSpPr>
        <p:spPr>
          <a:xfrm>
            <a:off x="863578" y="2019250"/>
            <a:ext cx="2219468"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PLACEMENT POINTS · PROPOSED</a:t>
            </a:r>
            <a:endParaRPr lang="en-US" sz="800" dirty="0"/>
          </a:p>
        </p:txBody>
      </p:sp>
      <p:sp>
        <p:nvSpPr>
          <p:cNvPr id="9" name="text 3.8"/>
          <p:cNvSpPr txBox="1"/>
          <p:nvPr/>
        </p:nvSpPr>
        <p:spPr>
          <a:xfrm>
            <a:off x="863578" y="2476438"/>
            <a:ext cx="504894" cy="279393"/>
          </a:xfrm>
          <a:prstGeom prst="rect">
            <a:avLst/>
          </a:prstGeom>
          <a:noFill/>
          <a:ln/>
        </p:spPr>
        <p:txBody>
          <a:bodyPr wrap="square" lIns="0" tIns="0" rIns="0" bIns="0" rtlCol="0" anchor="t"/>
          <a:lstStyle/>
          <a:p>
            <a:pPr algn="l" indent="0" marL="0">
              <a:lnSpc>
                <a:spcPts val="2200"/>
              </a:lnSpc>
              <a:buNone/>
            </a:pPr>
            <a:r>
              <a:rPr lang="en-US" sz="2200" dirty="0">
                <a:solidFill>
                  <a:srgbClr val="FF6B1F"/>
                </a:solidFill>
                <a:latin typeface="Arial Rounded MT Bold" pitchFamily="34" charset="0"/>
                <a:ea typeface="Arial Rounded MT Bold" pitchFamily="34" charset="-122"/>
                <a:cs typeface="Arial Rounded MT Bold" pitchFamily="34" charset="-120"/>
              </a:rPr>
              <a:t>1st</a:t>
            </a:r>
            <a:endParaRPr lang="en-US" sz="2200" dirty="0"/>
          </a:p>
        </p:txBody>
      </p:sp>
      <p:sp>
        <p:nvSpPr>
          <p:cNvPr id="10" name="shape 3.9"/>
          <p:cNvSpPr/>
          <p:nvPr/>
        </p:nvSpPr>
        <p:spPr>
          <a:xfrm>
            <a:off x="1777956" y="2539937"/>
            <a:ext cx="2539937" cy="165096"/>
          </a:xfrm>
          <a:prstGeom prst="roundRect">
            <a:avLst>
              <a:gd name="adj" fmla="val 50000"/>
            </a:avLst>
          </a:prstGeom>
          <a:solidFill>
            <a:srgbClr val="E8ECE3"/>
          </a:solidFill>
          <a:ln/>
        </p:spPr>
      </p:sp>
      <p:sp>
        <p:nvSpPr>
          <p:cNvPr id="11" name="shape 3.10"/>
          <p:cNvSpPr/>
          <p:nvPr/>
        </p:nvSpPr>
        <p:spPr>
          <a:xfrm>
            <a:off x="1777956" y="2539937"/>
            <a:ext cx="2539937" cy="165096"/>
          </a:xfrm>
          <a:prstGeom prst="roundRect">
            <a:avLst>
              <a:gd name="adj" fmla="val 50000"/>
            </a:avLst>
          </a:prstGeom>
          <a:solidFill>
            <a:srgbClr val="FF6B1F"/>
          </a:solidFill>
          <a:ln/>
        </p:spPr>
      </p:sp>
      <p:sp>
        <p:nvSpPr>
          <p:cNvPr id="12" name="text 3.11"/>
          <p:cNvSpPr txBox="1"/>
          <p:nvPr/>
        </p:nvSpPr>
        <p:spPr>
          <a:xfrm>
            <a:off x="4521087" y="2489138"/>
            <a:ext cx="517619" cy="253994"/>
          </a:xfrm>
          <a:prstGeom prst="rect">
            <a:avLst/>
          </a:prstGeom>
          <a:noFill/>
          <a:ln/>
        </p:spPr>
        <p:txBody>
          <a:bodyPr wrap="square" lIns="0" tIns="0" rIns="0" bIns="0" rtlCol="0" anchor="t"/>
          <a:lstStyle/>
          <a:p>
            <a:pPr algn="l" indent="0" marL="0">
              <a:lnSpc>
                <a:spcPts val="2000"/>
              </a:lnSpc>
              <a:buNone/>
            </a:pPr>
            <a:r>
              <a:rPr lang="en-US" sz="2000" dirty="0">
                <a:solidFill>
                  <a:srgbClr val="1B2340"/>
                </a:solidFill>
                <a:latin typeface="Arial Rounded MT Bold" pitchFamily="34" charset="0"/>
                <a:ea typeface="Arial Rounded MT Bold" pitchFamily="34" charset="-122"/>
                <a:cs typeface="Arial Rounded MT Bold" pitchFamily="34" charset="-120"/>
              </a:rPr>
              <a:t>4 </a:t>
            </a:r>
            <a:pPr algn="l" indent="0" marL="0">
              <a:lnSpc>
                <a:spcPts val="2000"/>
              </a:lnSpc>
              <a:buNone/>
            </a:pPr>
            <a:r>
              <a:rPr lang="en-US" sz="750" b="1" spc="75" kern="0" dirty="0">
                <a:solidFill>
                  <a:srgbClr val="6F778C"/>
                </a:solidFill>
                <a:latin typeface="Arial" pitchFamily="34" charset="0"/>
                <a:ea typeface="Arial" pitchFamily="34" charset="-122"/>
                <a:cs typeface="Arial" pitchFamily="34" charset="-120"/>
              </a:rPr>
              <a:t>PTS</a:t>
            </a:r>
            <a:endParaRPr lang="en-US" sz="2000" dirty="0"/>
          </a:p>
        </p:txBody>
      </p:sp>
      <p:sp>
        <p:nvSpPr>
          <p:cNvPr id="13" name="text 3.12"/>
          <p:cNvSpPr txBox="1"/>
          <p:nvPr/>
        </p:nvSpPr>
        <p:spPr>
          <a:xfrm>
            <a:off x="863578" y="3263818"/>
            <a:ext cx="603542" cy="279393"/>
          </a:xfrm>
          <a:prstGeom prst="rect">
            <a:avLst/>
          </a:prstGeom>
          <a:noFill/>
          <a:ln/>
        </p:spPr>
        <p:txBody>
          <a:bodyPr wrap="square" lIns="0" tIns="0" rIns="0" bIns="0" rtlCol="0" anchor="t"/>
          <a:lstStyle/>
          <a:p>
            <a:pPr algn="l" indent="0" marL="0">
              <a:lnSpc>
                <a:spcPts val="2200"/>
              </a:lnSpc>
              <a:buNone/>
            </a:pPr>
            <a:r>
              <a:rPr lang="en-US" sz="2200" dirty="0">
                <a:solidFill>
                  <a:srgbClr val="1B2340"/>
                </a:solidFill>
                <a:latin typeface="Arial Rounded MT Bold" pitchFamily="34" charset="0"/>
                <a:ea typeface="Arial Rounded MT Bold" pitchFamily="34" charset="-122"/>
                <a:cs typeface="Arial Rounded MT Bold" pitchFamily="34" charset="-120"/>
              </a:rPr>
              <a:t>2nd</a:t>
            </a:r>
            <a:endParaRPr lang="en-US" sz="2200" dirty="0"/>
          </a:p>
        </p:txBody>
      </p:sp>
      <p:sp>
        <p:nvSpPr>
          <p:cNvPr id="14" name="shape 3.13"/>
          <p:cNvSpPr/>
          <p:nvPr/>
        </p:nvSpPr>
        <p:spPr>
          <a:xfrm>
            <a:off x="1777956" y="3327317"/>
            <a:ext cx="2539937" cy="165096"/>
          </a:xfrm>
          <a:prstGeom prst="roundRect">
            <a:avLst>
              <a:gd name="adj" fmla="val 50000"/>
            </a:avLst>
          </a:prstGeom>
          <a:solidFill>
            <a:srgbClr val="E8ECE3"/>
          </a:solidFill>
          <a:ln/>
        </p:spPr>
      </p:sp>
      <p:sp>
        <p:nvSpPr>
          <p:cNvPr id="15" name="shape 3.14"/>
          <p:cNvSpPr/>
          <p:nvPr/>
        </p:nvSpPr>
        <p:spPr>
          <a:xfrm>
            <a:off x="1777956" y="3327317"/>
            <a:ext cx="1904952" cy="165096"/>
          </a:xfrm>
          <a:prstGeom prst="roundRect">
            <a:avLst>
              <a:gd name="adj" fmla="val 50000"/>
            </a:avLst>
          </a:prstGeom>
          <a:solidFill>
            <a:srgbClr val="43B832"/>
          </a:solidFill>
          <a:ln/>
        </p:spPr>
      </p:sp>
      <p:sp>
        <p:nvSpPr>
          <p:cNvPr id="16" name="text 3.15"/>
          <p:cNvSpPr txBox="1"/>
          <p:nvPr/>
        </p:nvSpPr>
        <p:spPr>
          <a:xfrm>
            <a:off x="4521087" y="3276518"/>
            <a:ext cx="517619" cy="253994"/>
          </a:xfrm>
          <a:prstGeom prst="rect">
            <a:avLst/>
          </a:prstGeom>
          <a:noFill/>
          <a:ln/>
        </p:spPr>
        <p:txBody>
          <a:bodyPr wrap="square" lIns="0" tIns="0" rIns="0" bIns="0" rtlCol="0" anchor="t"/>
          <a:lstStyle/>
          <a:p>
            <a:pPr algn="l" indent="0" marL="0">
              <a:lnSpc>
                <a:spcPts val="2000"/>
              </a:lnSpc>
              <a:buNone/>
            </a:pPr>
            <a:r>
              <a:rPr lang="en-US" sz="2000" dirty="0">
                <a:solidFill>
                  <a:srgbClr val="1B2340"/>
                </a:solidFill>
                <a:latin typeface="Arial Rounded MT Bold" pitchFamily="34" charset="0"/>
                <a:ea typeface="Arial Rounded MT Bold" pitchFamily="34" charset="-122"/>
                <a:cs typeface="Arial Rounded MT Bold" pitchFamily="34" charset="-120"/>
              </a:rPr>
              <a:t>3 </a:t>
            </a:r>
            <a:pPr algn="l" indent="0" marL="0">
              <a:lnSpc>
                <a:spcPts val="2000"/>
              </a:lnSpc>
              <a:buNone/>
            </a:pPr>
            <a:r>
              <a:rPr lang="en-US" sz="750" b="1" spc="75" kern="0" dirty="0">
                <a:solidFill>
                  <a:srgbClr val="6F778C"/>
                </a:solidFill>
                <a:latin typeface="Arial" pitchFamily="34" charset="0"/>
                <a:ea typeface="Arial" pitchFamily="34" charset="-122"/>
                <a:cs typeface="Arial" pitchFamily="34" charset="-120"/>
              </a:rPr>
              <a:t>PTS</a:t>
            </a:r>
            <a:endParaRPr lang="en-US" sz="2000" dirty="0"/>
          </a:p>
        </p:txBody>
      </p:sp>
      <p:sp>
        <p:nvSpPr>
          <p:cNvPr id="17" name="text 3.16"/>
          <p:cNvSpPr txBox="1"/>
          <p:nvPr/>
        </p:nvSpPr>
        <p:spPr>
          <a:xfrm>
            <a:off x="863578" y="4051199"/>
            <a:ext cx="546646" cy="279393"/>
          </a:xfrm>
          <a:prstGeom prst="rect">
            <a:avLst/>
          </a:prstGeom>
          <a:noFill/>
          <a:ln/>
        </p:spPr>
        <p:txBody>
          <a:bodyPr wrap="square" lIns="0" tIns="0" rIns="0" bIns="0" rtlCol="0" anchor="t"/>
          <a:lstStyle/>
          <a:p>
            <a:pPr algn="l" indent="0" marL="0">
              <a:lnSpc>
                <a:spcPts val="2200"/>
              </a:lnSpc>
              <a:buNone/>
            </a:pPr>
            <a:r>
              <a:rPr lang="en-US" sz="2200" dirty="0">
                <a:solidFill>
                  <a:srgbClr val="1B2340"/>
                </a:solidFill>
                <a:latin typeface="Arial Rounded MT Bold" pitchFamily="34" charset="0"/>
                <a:ea typeface="Arial Rounded MT Bold" pitchFamily="34" charset="-122"/>
                <a:cs typeface="Arial Rounded MT Bold" pitchFamily="34" charset="-120"/>
              </a:rPr>
              <a:t>3rd</a:t>
            </a:r>
            <a:endParaRPr lang="en-US" sz="2200" dirty="0"/>
          </a:p>
        </p:txBody>
      </p:sp>
      <p:sp>
        <p:nvSpPr>
          <p:cNvPr id="18" name="shape 3.17"/>
          <p:cNvSpPr/>
          <p:nvPr/>
        </p:nvSpPr>
        <p:spPr>
          <a:xfrm>
            <a:off x="1777956" y="4114697"/>
            <a:ext cx="2539937" cy="165096"/>
          </a:xfrm>
          <a:prstGeom prst="roundRect">
            <a:avLst>
              <a:gd name="adj" fmla="val 50000"/>
            </a:avLst>
          </a:prstGeom>
          <a:solidFill>
            <a:srgbClr val="E8ECE3"/>
          </a:solidFill>
          <a:ln/>
        </p:spPr>
      </p:sp>
      <p:sp>
        <p:nvSpPr>
          <p:cNvPr id="19" name="shape 3.18"/>
          <p:cNvSpPr/>
          <p:nvPr/>
        </p:nvSpPr>
        <p:spPr>
          <a:xfrm>
            <a:off x="1777956" y="4114697"/>
            <a:ext cx="1269968" cy="165096"/>
          </a:xfrm>
          <a:prstGeom prst="roundRect">
            <a:avLst>
              <a:gd name="adj" fmla="val 50000"/>
            </a:avLst>
          </a:prstGeom>
          <a:solidFill>
            <a:srgbClr val="43B832"/>
          </a:solidFill>
          <a:ln/>
        </p:spPr>
      </p:sp>
      <p:sp>
        <p:nvSpPr>
          <p:cNvPr id="20" name="text 3.19"/>
          <p:cNvSpPr txBox="1"/>
          <p:nvPr/>
        </p:nvSpPr>
        <p:spPr>
          <a:xfrm>
            <a:off x="4521087" y="4063898"/>
            <a:ext cx="517619" cy="253994"/>
          </a:xfrm>
          <a:prstGeom prst="rect">
            <a:avLst/>
          </a:prstGeom>
          <a:noFill/>
          <a:ln/>
        </p:spPr>
        <p:txBody>
          <a:bodyPr wrap="square" lIns="0" tIns="0" rIns="0" bIns="0" rtlCol="0" anchor="t"/>
          <a:lstStyle/>
          <a:p>
            <a:pPr algn="l" indent="0" marL="0">
              <a:lnSpc>
                <a:spcPts val="2000"/>
              </a:lnSpc>
              <a:buNone/>
            </a:pPr>
            <a:r>
              <a:rPr lang="en-US" sz="2000" dirty="0">
                <a:solidFill>
                  <a:srgbClr val="1B2340"/>
                </a:solidFill>
                <a:latin typeface="Arial Rounded MT Bold" pitchFamily="34" charset="0"/>
                <a:ea typeface="Arial Rounded MT Bold" pitchFamily="34" charset="-122"/>
                <a:cs typeface="Arial Rounded MT Bold" pitchFamily="34" charset="-120"/>
              </a:rPr>
              <a:t>2 </a:t>
            </a:r>
            <a:pPr algn="l" indent="0" marL="0">
              <a:lnSpc>
                <a:spcPts val="2000"/>
              </a:lnSpc>
              <a:buNone/>
            </a:pPr>
            <a:r>
              <a:rPr lang="en-US" sz="750" b="1" spc="75" kern="0" dirty="0">
                <a:solidFill>
                  <a:srgbClr val="6F778C"/>
                </a:solidFill>
                <a:latin typeface="Arial" pitchFamily="34" charset="0"/>
                <a:ea typeface="Arial" pitchFamily="34" charset="-122"/>
                <a:cs typeface="Arial" pitchFamily="34" charset="-120"/>
              </a:rPr>
              <a:t>PTS</a:t>
            </a:r>
            <a:endParaRPr lang="en-US" sz="2000" dirty="0"/>
          </a:p>
        </p:txBody>
      </p:sp>
      <p:sp>
        <p:nvSpPr>
          <p:cNvPr id="21" name="text 3.20"/>
          <p:cNvSpPr txBox="1"/>
          <p:nvPr/>
        </p:nvSpPr>
        <p:spPr>
          <a:xfrm>
            <a:off x="863578" y="4838579"/>
            <a:ext cx="523298" cy="279393"/>
          </a:xfrm>
          <a:prstGeom prst="rect">
            <a:avLst/>
          </a:prstGeom>
          <a:noFill/>
          <a:ln/>
        </p:spPr>
        <p:txBody>
          <a:bodyPr wrap="square" lIns="0" tIns="0" rIns="0" bIns="0" rtlCol="0" anchor="t"/>
          <a:lstStyle/>
          <a:p>
            <a:pPr algn="l" indent="0" marL="0">
              <a:lnSpc>
                <a:spcPts val="2200"/>
              </a:lnSpc>
              <a:buNone/>
            </a:pPr>
            <a:r>
              <a:rPr lang="en-US" sz="2200" dirty="0">
                <a:solidFill>
                  <a:srgbClr val="1B2340"/>
                </a:solidFill>
                <a:latin typeface="Arial Rounded MT Bold" pitchFamily="34" charset="0"/>
                <a:ea typeface="Arial Rounded MT Bold" pitchFamily="34" charset="-122"/>
                <a:cs typeface="Arial Rounded MT Bold" pitchFamily="34" charset="-120"/>
              </a:rPr>
              <a:t>4th</a:t>
            </a:r>
            <a:endParaRPr lang="en-US" sz="2200" dirty="0"/>
          </a:p>
        </p:txBody>
      </p:sp>
      <p:sp>
        <p:nvSpPr>
          <p:cNvPr id="22" name="shape 3.21"/>
          <p:cNvSpPr/>
          <p:nvPr/>
        </p:nvSpPr>
        <p:spPr>
          <a:xfrm>
            <a:off x="1777956" y="4902077"/>
            <a:ext cx="2539937" cy="165096"/>
          </a:xfrm>
          <a:prstGeom prst="roundRect">
            <a:avLst>
              <a:gd name="adj" fmla="val 50000"/>
            </a:avLst>
          </a:prstGeom>
          <a:solidFill>
            <a:srgbClr val="E8ECE3"/>
          </a:solidFill>
          <a:ln/>
        </p:spPr>
      </p:sp>
      <p:sp>
        <p:nvSpPr>
          <p:cNvPr id="23" name="shape 3.22"/>
          <p:cNvSpPr/>
          <p:nvPr/>
        </p:nvSpPr>
        <p:spPr>
          <a:xfrm>
            <a:off x="1777956" y="4902077"/>
            <a:ext cx="634984" cy="165096"/>
          </a:xfrm>
          <a:prstGeom prst="roundRect">
            <a:avLst>
              <a:gd name="adj" fmla="val 50000"/>
            </a:avLst>
          </a:prstGeom>
          <a:solidFill>
            <a:srgbClr val="43B832"/>
          </a:solidFill>
          <a:ln/>
        </p:spPr>
      </p:sp>
      <p:sp>
        <p:nvSpPr>
          <p:cNvPr id="24" name="text 3.23"/>
          <p:cNvSpPr txBox="1"/>
          <p:nvPr/>
        </p:nvSpPr>
        <p:spPr>
          <a:xfrm>
            <a:off x="4521087" y="4851279"/>
            <a:ext cx="440109" cy="253994"/>
          </a:xfrm>
          <a:prstGeom prst="rect">
            <a:avLst/>
          </a:prstGeom>
          <a:noFill/>
          <a:ln/>
        </p:spPr>
        <p:txBody>
          <a:bodyPr wrap="square" lIns="0" tIns="0" rIns="0" bIns="0" rtlCol="0" anchor="t"/>
          <a:lstStyle/>
          <a:p>
            <a:pPr algn="l" indent="0" marL="0">
              <a:lnSpc>
                <a:spcPts val="2000"/>
              </a:lnSpc>
              <a:buNone/>
            </a:pPr>
            <a:r>
              <a:rPr lang="en-US" sz="2000" dirty="0">
                <a:solidFill>
                  <a:srgbClr val="1B2340"/>
                </a:solidFill>
                <a:latin typeface="Arial Rounded MT Bold" pitchFamily="34" charset="0"/>
                <a:ea typeface="Arial Rounded MT Bold" pitchFamily="34" charset="-122"/>
                <a:cs typeface="Arial Rounded MT Bold" pitchFamily="34" charset="-120"/>
              </a:rPr>
              <a:t>1 </a:t>
            </a:r>
            <a:pPr algn="l" indent="0" marL="0">
              <a:lnSpc>
                <a:spcPts val="2000"/>
              </a:lnSpc>
              <a:buNone/>
            </a:pPr>
            <a:r>
              <a:rPr lang="en-US" sz="750" b="1" spc="75" kern="0" dirty="0">
                <a:solidFill>
                  <a:srgbClr val="6F778C"/>
                </a:solidFill>
                <a:latin typeface="Arial" pitchFamily="34" charset="0"/>
                <a:ea typeface="Arial" pitchFamily="34" charset="-122"/>
                <a:cs typeface="Arial" pitchFamily="34" charset="-120"/>
              </a:rPr>
              <a:t>PT</a:t>
            </a:r>
            <a:endParaRPr lang="en-US" sz="2000" dirty="0"/>
          </a:p>
        </p:txBody>
      </p:sp>
      <p:sp>
        <p:nvSpPr>
          <p:cNvPr id="25" name="text 3.24"/>
          <p:cNvSpPr txBox="1"/>
          <p:nvPr/>
        </p:nvSpPr>
        <p:spPr>
          <a:xfrm>
            <a:off x="863578" y="5791055"/>
            <a:ext cx="4609985"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Shown for four players; the scale grows with the player count.</a:t>
            </a:r>
            <a:endParaRPr lang="en-US" sz="850" dirty="0"/>
          </a:p>
        </p:txBody>
      </p:sp>
      <p:sp>
        <p:nvSpPr>
          <p:cNvPr id="26" name="text 3.25"/>
          <p:cNvSpPr txBox="1"/>
          <p:nvPr/>
        </p:nvSpPr>
        <p:spPr>
          <a:xfrm>
            <a:off x="5943451" y="1816055"/>
            <a:ext cx="3644722"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COMEBACK RULES: AN EDGE FOR WHOEVER IS BEHIND</a:t>
            </a:r>
            <a:endParaRPr lang="en-US" sz="800" dirty="0"/>
          </a:p>
        </p:txBody>
      </p:sp>
      <p:sp>
        <p:nvSpPr>
          <p:cNvPr id="27" name="shape 3.26"/>
          <p:cNvSpPr/>
          <p:nvPr/>
        </p:nvSpPr>
        <p:spPr>
          <a:xfrm>
            <a:off x="6146646" y="2260543"/>
            <a:ext cx="888978" cy="888978"/>
          </a:xfrm>
          <a:prstGeom prst="roundRect">
            <a:avLst>
              <a:gd name="adj" fmla="val 20000"/>
            </a:avLst>
          </a:prstGeom>
          <a:solidFill>
            <a:srgbClr val="FFF0E6"/>
          </a:solidFill>
          <a:ln/>
        </p:spPr>
      </p:sp>
      <p:sp>
        <p:nvSpPr>
          <p:cNvPr id="28" name="text 3.27"/>
          <p:cNvSpPr txBox="1"/>
          <p:nvPr/>
        </p:nvSpPr>
        <p:spPr>
          <a:xfrm>
            <a:off x="6146646" y="2260543"/>
            <a:ext cx="888978" cy="888978"/>
          </a:xfrm>
          <a:prstGeom prst="rect">
            <a:avLst/>
          </a:prstGeom>
          <a:noFill/>
          <a:ln/>
        </p:spPr>
        <p:txBody>
          <a:bodyPr wrap="square" lIns="0" tIns="0" rIns="0" bIns="0" rtlCol="0" anchor="ctr"/>
          <a:lstStyle/>
          <a:p>
            <a:pPr algn="ctr" indent="0" marL="0">
              <a:lnSpc>
                <a:spcPts val="3200"/>
              </a:lnSpc>
              <a:buNone/>
            </a:pPr>
            <a:r>
              <a:rPr lang="en-US" sz="3200" dirty="0">
                <a:solidFill>
                  <a:srgbClr val="FF6B1F"/>
                </a:solidFill>
                <a:latin typeface="Arial Rounded MT Bold" pitchFamily="34" charset="0"/>
                <a:ea typeface="Arial Rounded MT Bold" pitchFamily="34" charset="-122"/>
                <a:cs typeface="Arial Rounded MT Bold" pitchFamily="34" charset="-120"/>
              </a:rPr>
              <a:t>+1</a:t>
            </a:r>
            <a:endParaRPr lang="en-US" sz="3200" dirty="0"/>
          </a:p>
        </p:txBody>
      </p:sp>
      <p:sp>
        <p:nvSpPr>
          <p:cNvPr id="29" name="text 3.28"/>
          <p:cNvSpPr txBox="1"/>
          <p:nvPr/>
        </p:nvSpPr>
        <p:spPr>
          <a:xfrm>
            <a:off x="7238819" y="2336742"/>
            <a:ext cx="1910796"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+1 comeback point</a:t>
            </a:r>
            <a:endParaRPr lang="en-US" sz="1500" dirty="0"/>
          </a:p>
        </p:txBody>
      </p:sp>
      <p:sp>
        <p:nvSpPr>
          <p:cNvPr id="30" name="text 3.29"/>
          <p:cNvSpPr txBox="1"/>
          <p:nvPr/>
        </p:nvSpPr>
        <p:spPr>
          <a:xfrm>
            <a:off x="7238819" y="2641534"/>
            <a:ext cx="4101997" cy="423455"/>
          </a:xfrm>
          <a:prstGeom prst="rect">
            <a:avLst/>
          </a:prstGeom>
          <a:noFill/>
          <a:ln/>
        </p:spPr>
        <p:txBody>
          <a:bodyPr wrap="square" lIns="0" tIns="0" rIns="0" bIns="0" rtlCol="0" anchor="t"/>
          <a:lstStyle/>
          <a:p>
            <a:pPr algn="l" indent="0" marL="0">
              <a:lnSpc>
                <a:spcPts val="1670"/>
              </a:lnSpc>
              <a:buNone/>
            </a:pPr>
            <a:r>
              <a:rPr lang="en-US" sz="1150" dirty="0">
                <a:solidFill>
                  <a:srgbClr val="3E475E"/>
                </a:solidFill>
                <a:latin typeface="Arial" pitchFamily="34" charset="0"/>
                <a:ea typeface="Arial" pitchFamily="34" charset="-122"/>
                <a:cs typeface="Arial" pitchFamily="34" charset="-120"/>
              </a:rPr>
              <a:t>The player in last place overall earns one bonus point after each mini-game.</a:t>
            </a:r>
            <a:endParaRPr lang="en-US" sz="1150" dirty="0"/>
          </a:p>
        </p:txBody>
      </p:sp>
      <p:sp>
        <p:nvSpPr>
          <p:cNvPr id="31" name="shape 3.30"/>
          <p:cNvSpPr/>
          <p:nvPr/>
        </p:nvSpPr>
        <p:spPr>
          <a:xfrm>
            <a:off x="6146646" y="3708307"/>
            <a:ext cx="888978" cy="888978"/>
          </a:xfrm>
          <a:prstGeom prst="roundRect">
            <a:avLst>
              <a:gd name="adj" fmla="val 20000"/>
            </a:avLst>
          </a:prstGeom>
          <a:solidFill>
            <a:srgbClr val="E3F2FB"/>
          </a:solidFill>
          <a:ln/>
        </p:spPr>
      </p:sp>
      <p:sp>
        <p:nvSpPr>
          <p:cNvPr id="32" name="text 3.31"/>
          <p:cNvSpPr txBox="1"/>
          <p:nvPr/>
        </p:nvSpPr>
        <p:spPr>
          <a:xfrm>
            <a:off x="6146646" y="3708307"/>
            <a:ext cx="888978" cy="888978"/>
          </a:xfrm>
          <a:prstGeom prst="rect">
            <a:avLst/>
          </a:prstGeom>
          <a:noFill/>
          <a:ln/>
        </p:spPr>
        <p:txBody>
          <a:bodyPr wrap="square" lIns="0" tIns="0" rIns="0" bIns="0" rtlCol="0" anchor="ctr"/>
          <a:lstStyle/>
          <a:p>
            <a:pPr algn="ctr" indent="0" marL="0">
              <a:lnSpc>
                <a:spcPts val="3200"/>
              </a:lnSpc>
              <a:buNone/>
            </a:pPr>
            <a:r>
              <a:rPr lang="en-US" sz="3200" dirty="0">
                <a:solidFill>
                  <a:srgbClr val="1FA9EA"/>
                </a:solidFill>
                <a:latin typeface="Arial Rounded MT Bold" pitchFamily="34" charset="0"/>
                <a:ea typeface="Arial Rounded MT Bold" pitchFamily="34" charset="-122"/>
                <a:cs typeface="Arial Rounded MT Bold" pitchFamily="34" charset="-120"/>
              </a:rPr>
              <a:t>=</a:t>
            </a:r>
            <a:endParaRPr lang="en-US" sz="3200" dirty="0"/>
          </a:p>
        </p:txBody>
      </p:sp>
      <p:sp>
        <p:nvSpPr>
          <p:cNvPr id="33" name="text 3.32"/>
          <p:cNvSpPr txBox="1"/>
          <p:nvPr/>
        </p:nvSpPr>
        <p:spPr>
          <a:xfrm>
            <a:off x="7238819" y="3784505"/>
            <a:ext cx="2370912"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Ties go to the underdog</a:t>
            </a:r>
            <a:endParaRPr lang="en-US" sz="1500" dirty="0"/>
          </a:p>
        </p:txBody>
      </p:sp>
      <p:sp>
        <p:nvSpPr>
          <p:cNvPr id="34" name="text 3.33"/>
          <p:cNvSpPr txBox="1"/>
          <p:nvPr/>
        </p:nvSpPr>
        <p:spPr>
          <a:xfrm>
            <a:off x="7238819" y="4089298"/>
            <a:ext cx="4101997" cy="423455"/>
          </a:xfrm>
          <a:prstGeom prst="rect">
            <a:avLst/>
          </a:prstGeom>
          <a:noFill/>
          <a:ln/>
        </p:spPr>
        <p:txBody>
          <a:bodyPr wrap="square" lIns="0" tIns="0" rIns="0" bIns="0" rtlCol="0" anchor="t"/>
          <a:lstStyle/>
          <a:p>
            <a:pPr algn="l" indent="0" marL="0">
              <a:lnSpc>
                <a:spcPts val="1670"/>
              </a:lnSpc>
              <a:buNone/>
            </a:pPr>
            <a:r>
              <a:rPr lang="en-US" sz="1150" dirty="0">
                <a:solidFill>
                  <a:srgbClr val="3E475E"/>
                </a:solidFill>
                <a:latin typeface="Arial" pitchFamily="34" charset="0"/>
                <a:ea typeface="Arial" pitchFamily="34" charset="-122"/>
                <a:cs typeface="Arial" pitchFamily="34" charset="-120"/>
              </a:rPr>
              <a:t>On equal points, the player who was further behind ranks higher.</a:t>
            </a:r>
            <a:endParaRPr lang="en-US" sz="1150" dirty="0"/>
          </a:p>
        </p:txBody>
      </p:sp>
      <p:sp>
        <p:nvSpPr>
          <p:cNvPr id="35" name="shape 3.34"/>
          <p:cNvSpPr/>
          <p:nvPr/>
        </p:nvSpPr>
        <p:spPr>
          <a:xfrm>
            <a:off x="6146646" y="5156071"/>
            <a:ext cx="888978" cy="888978"/>
          </a:xfrm>
          <a:prstGeom prst="roundRect">
            <a:avLst>
              <a:gd name="adj" fmla="val 20000"/>
            </a:avLst>
          </a:prstGeom>
          <a:solidFill>
            <a:srgbClr val="FFF6DA"/>
          </a:solidFill>
          <a:ln/>
        </p:spPr>
      </p:sp>
      <p:pic>
        <p:nvPicPr>
          <p:cNvPr id="36" name="raster 3.35" descr="diagram">    </p:cNvPr>
          <p:cNvPicPr>
            <a:picLocks noChangeAspect="1"/>
          </p:cNvPicPr>
          <p:nvPr/>
        </p:nvPicPr>
        <p:blipFill>
          <a:blip r:embed="rId2"/>
          <a:stretch>
            <a:fillRect/>
          </a:stretch>
        </p:blipFill>
        <p:spPr>
          <a:xfrm>
            <a:off x="6324442" y="5397365"/>
            <a:ext cx="533387" cy="406390"/>
          </a:xfrm>
          <a:prstGeom prst="rect">
            <a:avLst/>
          </a:prstGeom>
        </p:spPr>
      </p:pic>
      <p:sp>
        <p:nvSpPr>
          <p:cNvPr id="37" name="text 3.36"/>
          <p:cNvSpPr txBox="1"/>
          <p:nvPr/>
        </p:nvSpPr>
        <p:spPr>
          <a:xfrm>
            <a:off x="7238819" y="5232269"/>
            <a:ext cx="220621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A crown on the leader</a:t>
            </a:r>
            <a:endParaRPr lang="en-US" sz="1500" dirty="0"/>
          </a:p>
        </p:txBody>
      </p:sp>
      <p:sp>
        <p:nvSpPr>
          <p:cNvPr id="38" name="text 3.37"/>
          <p:cNvSpPr txBox="1"/>
          <p:nvPr/>
        </p:nvSpPr>
        <p:spPr>
          <a:xfrm>
            <a:off x="7238819" y="5537062"/>
            <a:ext cx="4101997" cy="423455"/>
          </a:xfrm>
          <a:prstGeom prst="rect">
            <a:avLst/>
          </a:prstGeom>
          <a:noFill/>
          <a:ln/>
        </p:spPr>
        <p:txBody>
          <a:bodyPr wrap="square" lIns="0" tIns="0" rIns="0" bIns="0" rtlCol="0" anchor="t"/>
          <a:lstStyle/>
          <a:p>
            <a:pPr algn="l" indent="0" marL="0">
              <a:lnSpc>
                <a:spcPts val="1670"/>
              </a:lnSpc>
              <a:buNone/>
            </a:pPr>
            <a:r>
              <a:rPr lang="en-US" sz="1150" dirty="0">
                <a:solidFill>
                  <a:srgbClr val="3E475E"/>
                </a:solidFill>
                <a:latin typeface="Arial" pitchFamily="34" charset="0"/>
                <a:ea typeface="Arial" pitchFamily="34" charset="-122"/>
                <a:cs typeface="Arial" pitchFamily="34" charset="-120"/>
              </a:rPr>
              <a:t>Everyone can see who to catch, so the leader becomes the target.</a:t>
            </a:r>
            <a:endParaRPr lang="en-US" sz="1150" dirty="0"/>
          </a:p>
        </p:txBody>
      </p:sp>
      <p:pic>
        <p:nvPicPr>
          <p:cNvPr id="39" name="raster 3.38" descr="diagram">    </p:cNvPr>
          <p:cNvPicPr>
            <a:picLocks noChangeAspect="1"/>
          </p:cNvPicPr>
          <p:nvPr/>
        </p:nvPicPr>
        <p:blipFill>
          <a:blip r:embed="rId3"/>
          <a:stretch>
            <a:fillRect/>
          </a:stretch>
        </p:blipFill>
        <p:spPr>
          <a:xfrm>
            <a:off x="609585" y="266693"/>
            <a:ext cx="190495" cy="190495"/>
          </a:xfrm>
          <a:prstGeom prst="rect">
            <a:avLst/>
          </a:prstGeom>
        </p:spPr>
      </p:pic>
      <p:sp>
        <p:nvSpPr>
          <p:cNvPr id="40" name="text 3.39"/>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1" name="text 3.40"/>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42" name="text 3.41"/>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3" name="text 3.42"/>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03 / 28</a:t>
            </a:r>
            <a:endParaRPr lang="en-US" sz="750" dirty="0"/>
          </a:p>
        </p:txBody>
      </p:sp>
      <p:sp>
        <p:nvSpPr>
          <p:cNvPr id="44" name="text 3.43"/>
          <p:cNvSpPr txBox="1"/>
          <p:nvPr/>
        </p:nvSpPr>
        <p:spPr>
          <a:xfrm>
            <a:off x="609585" y="698483"/>
            <a:ext cx="1104674"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01 · THE GAME</a:t>
            </a:r>
            <a:endParaRPr lang="en-US" sz="8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4.1 adj9677" descr="sp2_lineup.png">    </p:cNvPr>
          <p:cNvPicPr>
            <a:picLocks noChangeAspect="1"/>
          </p:cNvPicPr>
          <p:nvPr/>
        </p:nvPicPr>
        <p:blipFill>
          <a:blip r:embed="rId2"/>
          <a:stretch>
            <a:fillRect/>
          </a:stretch>
        </p:blipFill>
        <p:spPr>
          <a:xfrm>
            <a:off x="609585" y="1803355"/>
            <a:ext cx="6984825" cy="1574761"/>
          </a:xfrm>
          <a:prstGeom prst="roundRect">
            <a:avLst>
              <a:gd name="adj" fmla="val 9677"/>
            </a:avLst>
          </a:prstGeom>
        </p:spPr>
      </p:pic>
      <p:sp>
        <p:nvSpPr>
          <p:cNvPr id="3" name="shape 4.2"/>
          <p:cNvSpPr/>
          <p:nvPr/>
        </p:nvSpPr>
        <p:spPr>
          <a:xfrm>
            <a:off x="7848404" y="1803355"/>
            <a:ext cx="3733707" cy="1574761"/>
          </a:xfrm>
          <a:prstGeom prst="roundRect">
            <a:avLst>
              <a:gd name="adj" fmla="val 967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4.3"/>
          <p:cNvSpPr/>
          <p:nvPr/>
        </p:nvSpPr>
        <p:spPr>
          <a:xfrm>
            <a:off x="609585" y="3860703"/>
            <a:ext cx="3555911" cy="2425639"/>
          </a:xfrm>
          <a:prstGeom prst="roundRect">
            <a:avLst>
              <a:gd name="adj" fmla="val 628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4.4"/>
          <p:cNvSpPr/>
          <p:nvPr/>
        </p:nvSpPr>
        <p:spPr>
          <a:xfrm>
            <a:off x="4317892" y="3860703"/>
            <a:ext cx="3555911" cy="2425639"/>
          </a:xfrm>
          <a:prstGeom prst="roundRect">
            <a:avLst>
              <a:gd name="adj" fmla="val 628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4.5"/>
          <p:cNvSpPr/>
          <p:nvPr/>
        </p:nvSpPr>
        <p:spPr>
          <a:xfrm>
            <a:off x="8026199" y="3860703"/>
            <a:ext cx="3555911" cy="2425639"/>
          </a:xfrm>
          <a:prstGeom prst="roundRect">
            <a:avLst>
              <a:gd name="adj" fmla="val 628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7" name="img 4.6 adj8081" descr="sp2_fx_damage.png">    </p:cNvPr>
          <p:cNvPicPr>
            <a:picLocks noChangeAspect="1"/>
          </p:cNvPicPr>
          <p:nvPr/>
        </p:nvPicPr>
        <p:blipFill>
          <a:blip r:embed="rId3"/>
          <a:stretch>
            <a:fillRect/>
          </a:stretch>
        </p:blipFill>
        <p:spPr>
          <a:xfrm>
            <a:off x="736582" y="3987700"/>
            <a:ext cx="3301917" cy="1257269"/>
          </a:xfrm>
          <a:prstGeom prst="roundRect">
            <a:avLst>
              <a:gd name="adj" fmla="val 8081"/>
            </a:avLst>
          </a:prstGeom>
        </p:spPr>
      </p:pic>
      <p:pic>
        <p:nvPicPr>
          <p:cNvPr id="8" name="img 4.7 adj8081" descr="sp2_fx_knock.png">    </p:cNvPr>
          <p:cNvPicPr>
            <a:picLocks noChangeAspect="1"/>
          </p:cNvPicPr>
          <p:nvPr/>
        </p:nvPicPr>
        <p:blipFill>
          <a:blip r:embed="rId4"/>
          <a:stretch>
            <a:fillRect/>
          </a:stretch>
        </p:blipFill>
        <p:spPr>
          <a:xfrm>
            <a:off x="4444889" y="3987700"/>
            <a:ext cx="3301917" cy="1257269"/>
          </a:xfrm>
          <a:prstGeom prst="roundRect">
            <a:avLst>
              <a:gd name="adj" fmla="val 8081"/>
            </a:avLst>
          </a:prstGeom>
        </p:spPr>
      </p:pic>
      <p:pic>
        <p:nvPicPr>
          <p:cNvPr id="9" name="img 4.8 adj8081" descr="sp2_fx_blast.png">    </p:cNvPr>
          <p:cNvPicPr>
            <a:picLocks noChangeAspect="1"/>
          </p:cNvPicPr>
          <p:nvPr/>
        </p:nvPicPr>
        <p:blipFill>
          <a:blip r:embed="rId5"/>
          <a:stretch>
            <a:fillRect/>
          </a:stretch>
        </p:blipFill>
        <p:spPr>
          <a:xfrm>
            <a:off x="8153196" y="3987700"/>
            <a:ext cx="3301917" cy="1257269"/>
          </a:xfrm>
          <a:prstGeom prst="roundRect">
            <a:avLst>
              <a:gd name="adj" fmla="val 8081"/>
            </a:avLst>
          </a:prstGeom>
        </p:spPr>
      </p:pic>
      <p:sp>
        <p:nvSpPr>
          <p:cNvPr id="10" name="text 4.9"/>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Core mechanics</a:t>
            </a:r>
            <a:endParaRPr lang="en-US" sz="3000" dirty="0"/>
          </a:p>
        </p:txBody>
      </p:sp>
      <p:sp>
        <p:nvSpPr>
          <p:cNvPr id="11" name="text 4.10"/>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One shooting cube.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Every mini-game changes what a shot does.</a:t>
            </a:r>
            <a:endParaRPr lang="en-US" sz="1350" dirty="0"/>
          </a:p>
        </p:txBody>
      </p:sp>
      <p:sp>
        <p:nvSpPr>
          <p:cNvPr id="12" name="text 4.11"/>
          <p:cNvSpPr txBox="1"/>
          <p:nvPr/>
        </p:nvSpPr>
        <p:spPr>
          <a:xfrm>
            <a:off x="8076998" y="1968451"/>
            <a:ext cx="864993"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THE PLAYER</a:t>
            </a:r>
            <a:endParaRPr lang="en-US" sz="800" dirty="0"/>
          </a:p>
        </p:txBody>
      </p:sp>
      <p:sp>
        <p:nvSpPr>
          <p:cNvPr id="13" name="text 4.12"/>
          <p:cNvSpPr txBox="1"/>
          <p:nvPr/>
        </p:nvSpPr>
        <p:spPr>
          <a:xfrm>
            <a:off x="8076998" y="2171646"/>
            <a:ext cx="3340016" cy="773093"/>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small character whose barrel fires real projectiles: physics objects, not instant hits. It does not have to be a cube, but its proportions stay close to 1:1:1. Every player gets a different colour.</a:t>
            </a:r>
            <a:endParaRPr lang="en-US" sz="1050" dirty="0"/>
          </a:p>
        </p:txBody>
      </p:sp>
      <p:sp>
        <p:nvSpPr>
          <p:cNvPr id="14" name="text 4.13"/>
          <p:cNvSpPr txBox="1"/>
          <p:nvPr/>
        </p:nvSpPr>
        <p:spPr>
          <a:xfrm>
            <a:off x="609585" y="3632109"/>
            <a:ext cx="209883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ONE TRIGGER, THREE EFFECTS</a:t>
            </a:r>
            <a:endParaRPr lang="en-US" sz="800" dirty="0"/>
          </a:p>
        </p:txBody>
      </p:sp>
      <p:sp>
        <p:nvSpPr>
          <p:cNvPr id="15" name="text 4.14"/>
          <p:cNvSpPr txBox="1"/>
          <p:nvPr/>
        </p:nvSpPr>
        <p:spPr>
          <a:xfrm>
            <a:off x="787380" y="5384665"/>
            <a:ext cx="87014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Damage</a:t>
            </a:r>
            <a:endParaRPr lang="en-US" sz="1500" dirty="0"/>
          </a:p>
        </p:txBody>
      </p:sp>
      <p:sp>
        <p:nvSpPr>
          <p:cNvPr id="16" name="text 4.15"/>
          <p:cNvSpPr txBox="1"/>
          <p:nvPr/>
        </p:nvSpPr>
        <p:spPr>
          <a:xfrm>
            <a:off x="787380" y="5664058"/>
            <a:ext cx="3213020" cy="195575"/>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The shot lowers the target’s health.</a:t>
            </a:r>
            <a:endParaRPr lang="en-US" sz="1100" dirty="0"/>
          </a:p>
        </p:txBody>
      </p:sp>
      <p:sp>
        <p:nvSpPr>
          <p:cNvPr id="17" name="text 4.16"/>
          <p:cNvSpPr txBox="1"/>
          <p:nvPr/>
        </p:nvSpPr>
        <p:spPr>
          <a:xfrm>
            <a:off x="4495688" y="5384665"/>
            <a:ext cx="115925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Knockback</a:t>
            </a:r>
            <a:endParaRPr lang="en-US" sz="1500" dirty="0"/>
          </a:p>
        </p:txBody>
      </p:sp>
      <p:sp>
        <p:nvSpPr>
          <p:cNvPr id="18" name="text 4.17"/>
          <p:cNvSpPr txBox="1"/>
          <p:nvPr/>
        </p:nvSpPr>
        <p:spPr>
          <a:xfrm>
            <a:off x="4495688" y="5664058"/>
            <a:ext cx="3213020"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The target is pushed away from where the shot came from.</a:t>
            </a:r>
            <a:endParaRPr lang="en-US" sz="1100" dirty="0"/>
          </a:p>
        </p:txBody>
      </p:sp>
      <p:sp>
        <p:nvSpPr>
          <p:cNvPr id="19" name="text 4.18"/>
          <p:cNvSpPr txBox="1"/>
          <p:nvPr/>
        </p:nvSpPr>
        <p:spPr>
          <a:xfrm>
            <a:off x="8203995" y="5384665"/>
            <a:ext cx="564420"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Blast</a:t>
            </a:r>
            <a:endParaRPr lang="en-US" sz="1500" dirty="0"/>
          </a:p>
        </p:txBody>
      </p:sp>
      <p:sp>
        <p:nvSpPr>
          <p:cNvPr id="20" name="text 4.19"/>
          <p:cNvSpPr txBox="1"/>
          <p:nvPr/>
        </p:nvSpPr>
        <p:spPr>
          <a:xfrm>
            <a:off x="8203995" y="5664058"/>
            <a:ext cx="3213020"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The shot explodes. Fired at the ground, it lifts you up.</a:t>
            </a:r>
            <a:endParaRPr lang="en-US" sz="1100" dirty="0"/>
          </a:p>
        </p:txBody>
      </p:sp>
      <p:pic>
        <p:nvPicPr>
          <p:cNvPr id="21" name="raster 4.20" descr="diagram">    </p:cNvPr>
          <p:cNvPicPr>
            <a:picLocks noChangeAspect="1"/>
          </p:cNvPicPr>
          <p:nvPr/>
        </p:nvPicPr>
        <p:blipFill>
          <a:blip r:embed="rId6"/>
          <a:stretch>
            <a:fillRect/>
          </a:stretch>
        </p:blipFill>
        <p:spPr>
          <a:xfrm>
            <a:off x="609585" y="266693"/>
            <a:ext cx="190495" cy="190495"/>
          </a:xfrm>
          <a:prstGeom prst="rect">
            <a:avLst/>
          </a:prstGeom>
        </p:spPr>
      </p:pic>
      <p:sp>
        <p:nvSpPr>
          <p:cNvPr id="22" name="text 4.21"/>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3" name="text 4.22"/>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4" name="text 4.23"/>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5" name="text 4.24"/>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04 / 28</a:t>
            </a:r>
            <a:endParaRPr lang="en-US" sz="750" dirty="0"/>
          </a:p>
        </p:txBody>
      </p:sp>
      <p:sp>
        <p:nvSpPr>
          <p:cNvPr id="26" name="text 4.25"/>
          <p:cNvSpPr txBox="1"/>
          <p:nvPr/>
        </p:nvSpPr>
        <p:spPr>
          <a:xfrm>
            <a:off x="609585" y="698483"/>
            <a:ext cx="2021539"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02 · GAMEPLAY MECHANICS</a:t>
            </a:r>
            <a:endParaRPr lang="en-US" sz="8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5.1"/>
          <p:cNvSpPr/>
          <p:nvPr/>
        </p:nvSpPr>
        <p:spPr>
          <a:xfrm>
            <a:off x="609585" y="1803355"/>
            <a:ext cx="10972526" cy="3479713"/>
          </a:xfrm>
          <a:prstGeom prst="roundRect">
            <a:avLst>
              <a:gd name="adj" fmla="val 438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5.2"/>
          <p:cNvSpPr/>
          <p:nvPr/>
        </p:nvSpPr>
        <p:spPr>
          <a:xfrm>
            <a:off x="609585" y="5410065"/>
            <a:ext cx="5410065" cy="876278"/>
          </a:xfrm>
          <a:prstGeom prst="roundRect">
            <a:avLst>
              <a:gd name="adj" fmla="val 1739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5.3"/>
          <p:cNvSpPr/>
          <p:nvPr/>
        </p:nvSpPr>
        <p:spPr>
          <a:xfrm>
            <a:off x="6172046" y="5410065"/>
            <a:ext cx="5410065" cy="876278"/>
          </a:xfrm>
          <a:prstGeom prst="roundRect">
            <a:avLst>
              <a:gd name="adj" fmla="val 1739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5" name="img 5.4 adj15385" descr="sp2_arena.png">    </p:cNvPr>
          <p:cNvPicPr>
            <a:picLocks noChangeAspect="1"/>
          </p:cNvPicPr>
          <p:nvPr/>
        </p:nvPicPr>
        <p:blipFill>
          <a:blip r:embed="rId2"/>
          <a:stretch>
            <a:fillRect/>
          </a:stretch>
        </p:blipFill>
        <p:spPr>
          <a:xfrm>
            <a:off x="800080" y="2184345"/>
            <a:ext cx="939777" cy="495288"/>
          </a:xfrm>
          <a:prstGeom prst="roundRect">
            <a:avLst>
              <a:gd name="adj" fmla="val 15385"/>
            </a:avLst>
          </a:prstGeom>
        </p:spPr>
      </p:pic>
      <p:sp>
        <p:nvSpPr>
          <p:cNvPr id="6" name="shape 5.5"/>
          <p:cNvSpPr/>
          <p:nvPr/>
        </p:nvSpPr>
        <p:spPr>
          <a:xfrm>
            <a:off x="800080" y="2730432"/>
            <a:ext cx="10591535" cy="12700"/>
          </a:xfrm>
          <a:prstGeom prst="roundRect">
            <a:avLst>
              <a:gd name="adj" fmla="val 49999"/>
            </a:avLst>
          </a:prstGeom>
          <a:solidFill>
            <a:srgbClr val="E4E9DD"/>
          </a:solidFill>
          <a:ln/>
        </p:spPr>
      </p:sp>
      <p:pic>
        <p:nvPicPr>
          <p:cNvPr id="7" name="img 5.6 adj15385" descr="sp2_parkour.png">    </p:cNvPr>
          <p:cNvPicPr>
            <a:picLocks noChangeAspect="1"/>
          </p:cNvPicPr>
          <p:nvPr/>
        </p:nvPicPr>
        <p:blipFill>
          <a:blip r:embed="rId3"/>
          <a:stretch>
            <a:fillRect/>
          </a:stretch>
        </p:blipFill>
        <p:spPr>
          <a:xfrm>
            <a:off x="800080" y="2793930"/>
            <a:ext cx="939777" cy="495288"/>
          </a:xfrm>
          <a:prstGeom prst="roundRect">
            <a:avLst>
              <a:gd name="adj" fmla="val 15385"/>
            </a:avLst>
          </a:prstGeom>
        </p:spPr>
      </p:pic>
      <p:sp>
        <p:nvSpPr>
          <p:cNvPr id="8" name="shape 5.7"/>
          <p:cNvSpPr/>
          <p:nvPr/>
        </p:nvSpPr>
        <p:spPr>
          <a:xfrm>
            <a:off x="800080" y="3340016"/>
            <a:ext cx="10591535" cy="12700"/>
          </a:xfrm>
          <a:prstGeom prst="roundRect">
            <a:avLst>
              <a:gd name="adj" fmla="val 49999"/>
            </a:avLst>
          </a:prstGeom>
          <a:solidFill>
            <a:srgbClr val="E4E9DD"/>
          </a:solidFill>
          <a:ln/>
        </p:spPr>
      </p:sp>
      <p:pic>
        <p:nvPicPr>
          <p:cNvPr id="9" name="img 5.8 adj15385" descr="sp2_iceloop.png">    </p:cNvPr>
          <p:cNvPicPr>
            <a:picLocks noChangeAspect="1"/>
          </p:cNvPicPr>
          <p:nvPr/>
        </p:nvPicPr>
        <p:blipFill>
          <a:blip r:embed="rId4"/>
          <a:stretch>
            <a:fillRect/>
          </a:stretch>
        </p:blipFill>
        <p:spPr>
          <a:xfrm>
            <a:off x="800080" y="3403515"/>
            <a:ext cx="939777" cy="495288"/>
          </a:xfrm>
          <a:prstGeom prst="roundRect">
            <a:avLst>
              <a:gd name="adj" fmla="val 15385"/>
            </a:avLst>
          </a:prstGeom>
        </p:spPr>
      </p:pic>
      <p:sp>
        <p:nvSpPr>
          <p:cNvPr id="10" name="shape 5.9"/>
          <p:cNvSpPr/>
          <p:nvPr/>
        </p:nvSpPr>
        <p:spPr>
          <a:xfrm>
            <a:off x="800080" y="3949601"/>
            <a:ext cx="10591535" cy="12700"/>
          </a:xfrm>
          <a:prstGeom prst="roundRect">
            <a:avLst>
              <a:gd name="adj" fmla="val 49999"/>
            </a:avLst>
          </a:prstGeom>
          <a:solidFill>
            <a:srgbClr val="E4E9DD"/>
          </a:solidFill>
          <a:ln/>
        </p:spPr>
      </p:sp>
      <p:pic>
        <p:nvPicPr>
          <p:cNvPr id="11" name="img 5.10 adj15385" descr="sp2_holegrab.png">    </p:cNvPr>
          <p:cNvPicPr>
            <a:picLocks noChangeAspect="1"/>
          </p:cNvPicPr>
          <p:nvPr/>
        </p:nvPicPr>
        <p:blipFill>
          <a:blip r:embed="rId5"/>
          <a:stretch>
            <a:fillRect/>
          </a:stretch>
        </p:blipFill>
        <p:spPr>
          <a:xfrm>
            <a:off x="800080" y="4013100"/>
            <a:ext cx="939777" cy="495288"/>
          </a:xfrm>
          <a:prstGeom prst="roundRect">
            <a:avLst>
              <a:gd name="adj" fmla="val 15385"/>
            </a:avLst>
          </a:prstGeom>
        </p:spPr>
      </p:pic>
      <p:sp>
        <p:nvSpPr>
          <p:cNvPr id="12" name="shape 5.11"/>
          <p:cNvSpPr/>
          <p:nvPr/>
        </p:nvSpPr>
        <p:spPr>
          <a:xfrm>
            <a:off x="800080" y="4559186"/>
            <a:ext cx="10591535" cy="12700"/>
          </a:xfrm>
          <a:prstGeom prst="roundRect">
            <a:avLst>
              <a:gd name="adj" fmla="val 49999"/>
            </a:avLst>
          </a:prstGeom>
          <a:solidFill>
            <a:srgbClr val="E4E9DD"/>
          </a:solidFill>
          <a:ln/>
        </p:spPr>
      </p:sp>
      <p:pic>
        <p:nvPicPr>
          <p:cNvPr id="13" name="img 5.12 adj15385" descr="sp2_fx_damage.png">    </p:cNvPr>
          <p:cNvPicPr>
            <a:picLocks noChangeAspect="1"/>
          </p:cNvPicPr>
          <p:nvPr/>
        </p:nvPicPr>
        <p:blipFill>
          <a:blip r:embed="rId6"/>
          <a:stretch>
            <a:fillRect/>
          </a:stretch>
        </p:blipFill>
        <p:spPr>
          <a:xfrm>
            <a:off x="800080" y="4622684"/>
            <a:ext cx="939777" cy="495288"/>
          </a:xfrm>
          <a:prstGeom prst="roundRect">
            <a:avLst>
              <a:gd name="adj" fmla="val 15385"/>
            </a:avLst>
          </a:prstGeom>
        </p:spPr>
      </p:pic>
      <p:sp>
        <p:nvSpPr>
          <p:cNvPr id="14" name="text 5.13"/>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What the shot does in each mini-game</a:t>
            </a:r>
            <a:endParaRPr lang="en-US" sz="3000" dirty="0"/>
          </a:p>
        </p:txBody>
      </p:sp>
      <p:sp>
        <p:nvSpPr>
          <p:cNvPr id="15" name="text 5.14"/>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One input everywhere;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each mini-game sets the effect.</a:t>
            </a:r>
            <a:endParaRPr lang="en-US" sz="1350" dirty="0"/>
          </a:p>
        </p:txBody>
      </p:sp>
      <p:sp>
        <p:nvSpPr>
          <p:cNvPr id="16" name="text 5.15"/>
          <p:cNvSpPr txBox="1"/>
          <p:nvPr/>
        </p:nvSpPr>
        <p:spPr>
          <a:xfrm>
            <a:off x="1904952" y="1955751"/>
            <a:ext cx="67831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MINI-GAME</a:t>
            </a:r>
            <a:endParaRPr lang="en-US" sz="700" dirty="0"/>
          </a:p>
        </p:txBody>
      </p:sp>
      <p:sp>
        <p:nvSpPr>
          <p:cNvPr id="17" name="text 5.16"/>
          <p:cNvSpPr txBox="1"/>
          <p:nvPr/>
        </p:nvSpPr>
        <p:spPr>
          <a:xfrm>
            <a:off x="4190895" y="1955751"/>
            <a:ext cx="497847"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EFFECT</a:t>
            </a:r>
            <a:endParaRPr lang="en-US" sz="700" dirty="0"/>
          </a:p>
        </p:txBody>
      </p:sp>
      <p:sp>
        <p:nvSpPr>
          <p:cNvPr id="18" name="text 5.17"/>
          <p:cNvSpPr txBox="1"/>
          <p:nvPr/>
        </p:nvSpPr>
        <p:spPr>
          <a:xfrm>
            <a:off x="5905352" y="1955751"/>
            <a:ext cx="133846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WHAT THE SHOT DOES</a:t>
            </a:r>
            <a:endParaRPr lang="en-US" sz="700" dirty="0"/>
          </a:p>
        </p:txBody>
      </p:sp>
      <p:sp>
        <p:nvSpPr>
          <p:cNvPr id="19" name="text 5.18"/>
          <p:cNvSpPr txBox="1"/>
          <p:nvPr/>
        </p:nvSpPr>
        <p:spPr>
          <a:xfrm>
            <a:off x="1904952" y="2349441"/>
            <a:ext cx="1422180" cy="182875"/>
          </a:xfrm>
          <a:prstGeom prst="rect">
            <a:avLst/>
          </a:prstGeom>
          <a:noFill/>
          <a:ln/>
        </p:spPr>
        <p:txBody>
          <a:bodyPr wrap="square" lIns="0" tIns="0" rIns="0" bIns="0" rtlCol="0" anchor="t"/>
          <a:lstStyle/>
          <a:p>
            <a:pPr algn="l" indent="0" marL="0">
              <a:lnSpc>
                <a:spcPts val="1440"/>
              </a:lnSpc>
              <a:buNone/>
            </a:pPr>
            <a:r>
              <a:rPr lang="en-US" sz="1200" b="1" dirty="0">
                <a:solidFill>
                  <a:srgbClr val="1B2340"/>
                </a:solidFill>
                <a:latin typeface="Arial" pitchFamily="34" charset="0"/>
                <a:ea typeface="Arial" pitchFamily="34" charset="-122"/>
                <a:cs typeface="Arial" pitchFamily="34" charset="-120"/>
              </a:rPr>
              <a:t>Knockback Arena</a:t>
            </a:r>
            <a:endParaRPr lang="en-US" sz="1200" dirty="0"/>
          </a:p>
        </p:txBody>
      </p:sp>
      <p:sp>
        <p:nvSpPr>
          <p:cNvPr id="20" name="shape 5.19"/>
          <p:cNvSpPr/>
          <p:nvPr/>
        </p:nvSpPr>
        <p:spPr>
          <a:xfrm>
            <a:off x="4190895" y="2317692"/>
            <a:ext cx="1523962" cy="241294"/>
          </a:xfrm>
          <a:prstGeom prst="roundRect">
            <a:avLst>
              <a:gd name="adj" fmla="val 50000"/>
            </a:avLst>
          </a:prstGeom>
          <a:solidFill>
            <a:srgbClr val="FFF0E6"/>
          </a:solidFill>
          <a:ln/>
        </p:spPr>
      </p:sp>
      <p:sp>
        <p:nvSpPr>
          <p:cNvPr id="21" name="text 5.20"/>
          <p:cNvSpPr txBox="1"/>
          <p:nvPr/>
        </p:nvSpPr>
        <p:spPr>
          <a:xfrm>
            <a:off x="4190895" y="2317692"/>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6B1F"/>
                </a:solidFill>
                <a:latin typeface="Arial" pitchFamily="34" charset="0"/>
                <a:ea typeface="Arial" pitchFamily="34" charset="-122"/>
                <a:cs typeface="Arial" pitchFamily="34" charset="-120"/>
              </a:rPr>
              <a:t>KNOCKBACK + MASS</a:t>
            </a:r>
            <a:endParaRPr lang="en-US" sz="700" dirty="0"/>
          </a:p>
        </p:txBody>
      </p:sp>
      <p:sp>
        <p:nvSpPr>
          <p:cNvPr id="22" name="text 5.21"/>
          <p:cNvSpPr txBox="1"/>
          <p:nvPr/>
        </p:nvSpPr>
        <p:spPr>
          <a:xfrm>
            <a:off x="5905352" y="2349441"/>
            <a:ext cx="5498963" cy="181605"/>
          </a:xfrm>
          <a:prstGeom prst="rect">
            <a:avLst/>
          </a:prstGeom>
          <a:noFill/>
          <a:ln/>
        </p:spPr>
        <p:txBody>
          <a:bodyPr wrap="square" lIns="0" tIns="0" rIns="0" bIns="0" rtlCol="0" anchor="t"/>
          <a:lstStyle/>
          <a:p>
            <a:pPr algn="l" indent="0" marL="0">
              <a:lnSpc>
                <a:spcPts val="1430"/>
              </a:lnSpc>
              <a:buNone/>
            </a:pPr>
            <a:r>
              <a:rPr lang="en-US" sz="1100" dirty="0">
                <a:solidFill>
                  <a:srgbClr val="3E475E"/>
                </a:solidFill>
                <a:latin typeface="Arial" pitchFamily="34" charset="0"/>
                <a:ea typeface="Arial" pitchFamily="34" charset="-122"/>
                <a:cs typeface="Arial" pitchFamily="34" charset="-120"/>
              </a:rPr>
              <a:t>Knockback, and every hit lowers the target’s mass.</a:t>
            </a:r>
            <a:endParaRPr lang="en-US" sz="1100" dirty="0"/>
          </a:p>
        </p:txBody>
      </p:sp>
      <p:sp>
        <p:nvSpPr>
          <p:cNvPr id="23" name="text 5.22"/>
          <p:cNvSpPr txBox="1"/>
          <p:nvPr/>
        </p:nvSpPr>
        <p:spPr>
          <a:xfrm>
            <a:off x="1904952" y="2959026"/>
            <a:ext cx="1113929" cy="182875"/>
          </a:xfrm>
          <a:prstGeom prst="rect">
            <a:avLst/>
          </a:prstGeom>
          <a:noFill/>
          <a:ln/>
        </p:spPr>
        <p:txBody>
          <a:bodyPr wrap="square" lIns="0" tIns="0" rIns="0" bIns="0" rtlCol="0" anchor="t"/>
          <a:lstStyle/>
          <a:p>
            <a:pPr algn="l" indent="0" marL="0">
              <a:lnSpc>
                <a:spcPts val="1440"/>
              </a:lnSpc>
              <a:buNone/>
            </a:pPr>
            <a:r>
              <a:rPr lang="en-US" sz="1200" b="1" dirty="0">
                <a:solidFill>
                  <a:srgbClr val="1B2340"/>
                </a:solidFill>
                <a:latin typeface="Arial" pitchFamily="34" charset="0"/>
                <a:ea typeface="Arial" pitchFamily="34" charset="-122"/>
                <a:cs typeface="Arial" pitchFamily="34" charset="-120"/>
              </a:rPr>
              <a:t>Blast Parkour</a:t>
            </a:r>
            <a:endParaRPr lang="en-US" sz="1200" dirty="0"/>
          </a:p>
        </p:txBody>
      </p:sp>
      <p:sp>
        <p:nvSpPr>
          <p:cNvPr id="24" name="shape 5.23"/>
          <p:cNvSpPr/>
          <p:nvPr/>
        </p:nvSpPr>
        <p:spPr>
          <a:xfrm>
            <a:off x="4190895" y="2927277"/>
            <a:ext cx="1523962" cy="241294"/>
          </a:xfrm>
          <a:prstGeom prst="roundRect">
            <a:avLst>
              <a:gd name="adj" fmla="val 50000"/>
            </a:avLst>
          </a:prstGeom>
          <a:solidFill>
            <a:srgbClr val="F1E9FF"/>
          </a:solidFill>
          <a:ln/>
        </p:spPr>
      </p:sp>
      <p:sp>
        <p:nvSpPr>
          <p:cNvPr id="25" name="text 5.24"/>
          <p:cNvSpPr txBox="1"/>
          <p:nvPr/>
        </p:nvSpPr>
        <p:spPr>
          <a:xfrm>
            <a:off x="4190895" y="2927277"/>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8F55F5"/>
                </a:solidFill>
                <a:latin typeface="Arial" pitchFamily="34" charset="0"/>
                <a:ea typeface="Arial" pitchFamily="34" charset="-122"/>
                <a:cs typeface="Arial" pitchFamily="34" charset="-120"/>
              </a:rPr>
              <a:t>BLAST</a:t>
            </a:r>
            <a:endParaRPr lang="en-US" sz="700" dirty="0"/>
          </a:p>
        </p:txBody>
      </p:sp>
      <p:sp>
        <p:nvSpPr>
          <p:cNvPr id="26" name="text 5.25"/>
          <p:cNvSpPr txBox="1"/>
          <p:nvPr/>
        </p:nvSpPr>
        <p:spPr>
          <a:xfrm>
            <a:off x="5905352" y="2959026"/>
            <a:ext cx="5498963" cy="181605"/>
          </a:xfrm>
          <a:prstGeom prst="rect">
            <a:avLst/>
          </a:prstGeom>
          <a:noFill/>
          <a:ln/>
        </p:spPr>
        <p:txBody>
          <a:bodyPr wrap="square" lIns="0" tIns="0" rIns="0" bIns="0" rtlCol="0" anchor="t"/>
          <a:lstStyle/>
          <a:p>
            <a:pPr algn="l" indent="0" marL="0">
              <a:lnSpc>
                <a:spcPts val="1430"/>
              </a:lnSpc>
              <a:buNone/>
            </a:pPr>
            <a:r>
              <a:rPr lang="en-US" sz="1100" dirty="0">
                <a:solidFill>
                  <a:srgbClr val="3E475E"/>
                </a:solidFill>
                <a:latin typeface="Arial" pitchFamily="34" charset="0"/>
                <a:ea typeface="Arial" pitchFamily="34" charset="-122"/>
                <a:cs typeface="Arial" pitchFamily="34" charset="-120"/>
              </a:rPr>
              <a:t>Blast: lifts you, pushes rivals off ledges; hold for a strong one.</a:t>
            </a:r>
            <a:endParaRPr lang="en-US" sz="1100" dirty="0"/>
          </a:p>
        </p:txBody>
      </p:sp>
      <p:sp>
        <p:nvSpPr>
          <p:cNvPr id="27" name="text 5.26"/>
          <p:cNvSpPr txBox="1"/>
          <p:nvPr/>
        </p:nvSpPr>
        <p:spPr>
          <a:xfrm>
            <a:off x="1904952" y="3568611"/>
            <a:ext cx="727642" cy="182875"/>
          </a:xfrm>
          <a:prstGeom prst="rect">
            <a:avLst/>
          </a:prstGeom>
          <a:noFill/>
          <a:ln/>
        </p:spPr>
        <p:txBody>
          <a:bodyPr wrap="square" lIns="0" tIns="0" rIns="0" bIns="0" rtlCol="0" anchor="t"/>
          <a:lstStyle/>
          <a:p>
            <a:pPr algn="l" indent="0" marL="0">
              <a:lnSpc>
                <a:spcPts val="1440"/>
              </a:lnSpc>
              <a:buNone/>
            </a:pPr>
            <a:r>
              <a:rPr lang="en-US" sz="1200" b="1" dirty="0">
                <a:solidFill>
                  <a:srgbClr val="1B2340"/>
                </a:solidFill>
                <a:latin typeface="Arial" pitchFamily="34" charset="0"/>
                <a:ea typeface="Arial" pitchFamily="34" charset="-122"/>
                <a:cs typeface="Arial" pitchFamily="34" charset="-120"/>
              </a:rPr>
              <a:t>Ice Loop</a:t>
            </a:r>
            <a:endParaRPr lang="en-US" sz="1200" dirty="0"/>
          </a:p>
        </p:txBody>
      </p:sp>
      <p:sp>
        <p:nvSpPr>
          <p:cNvPr id="28" name="shape 5.27"/>
          <p:cNvSpPr/>
          <p:nvPr/>
        </p:nvSpPr>
        <p:spPr>
          <a:xfrm>
            <a:off x="4190895" y="3536862"/>
            <a:ext cx="1523962" cy="241294"/>
          </a:xfrm>
          <a:prstGeom prst="roundRect">
            <a:avLst>
              <a:gd name="adj" fmla="val 50000"/>
            </a:avLst>
          </a:prstGeom>
          <a:solidFill>
            <a:srgbClr val="E3F2FB"/>
          </a:solidFill>
          <a:ln/>
        </p:spPr>
      </p:sp>
      <p:sp>
        <p:nvSpPr>
          <p:cNvPr id="29" name="text 5.28"/>
          <p:cNvSpPr txBox="1"/>
          <p:nvPr/>
        </p:nvSpPr>
        <p:spPr>
          <a:xfrm>
            <a:off x="4190895" y="3536862"/>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KNOCKBACK + MOMENTUM</a:t>
            </a:r>
            <a:endParaRPr lang="en-US" sz="700" dirty="0"/>
          </a:p>
        </p:txBody>
      </p:sp>
      <p:sp>
        <p:nvSpPr>
          <p:cNvPr id="30" name="text 5.29"/>
          <p:cNvSpPr txBox="1"/>
          <p:nvPr/>
        </p:nvSpPr>
        <p:spPr>
          <a:xfrm>
            <a:off x="5905352" y="3568611"/>
            <a:ext cx="5498963" cy="181605"/>
          </a:xfrm>
          <a:prstGeom prst="rect">
            <a:avLst/>
          </a:prstGeom>
          <a:noFill/>
          <a:ln/>
        </p:spPr>
        <p:txBody>
          <a:bodyPr wrap="square" lIns="0" tIns="0" rIns="0" bIns="0" rtlCol="0" anchor="t"/>
          <a:lstStyle/>
          <a:p>
            <a:pPr algn="l" indent="0" marL="0">
              <a:lnSpc>
                <a:spcPts val="1430"/>
              </a:lnSpc>
              <a:buNone/>
            </a:pPr>
            <a:r>
              <a:rPr lang="en-US" sz="1100" dirty="0">
                <a:solidFill>
                  <a:srgbClr val="3E475E"/>
                </a:solidFill>
                <a:latin typeface="Arial" pitchFamily="34" charset="0"/>
                <a:ea typeface="Arial" pitchFamily="34" charset="-122"/>
                <a:cs typeface="Arial" pitchFamily="34" charset="-120"/>
              </a:rPr>
              <a:t>Knockback and momentum: push rivals, steer yourself with recoil.</a:t>
            </a:r>
            <a:endParaRPr lang="en-US" sz="1100" dirty="0"/>
          </a:p>
        </p:txBody>
      </p:sp>
      <p:sp>
        <p:nvSpPr>
          <p:cNvPr id="31" name="text 5.30"/>
          <p:cNvSpPr txBox="1"/>
          <p:nvPr/>
        </p:nvSpPr>
        <p:spPr>
          <a:xfrm>
            <a:off x="1904952" y="4178196"/>
            <a:ext cx="835546" cy="182875"/>
          </a:xfrm>
          <a:prstGeom prst="rect">
            <a:avLst/>
          </a:prstGeom>
          <a:noFill/>
          <a:ln/>
        </p:spPr>
        <p:txBody>
          <a:bodyPr wrap="square" lIns="0" tIns="0" rIns="0" bIns="0" rtlCol="0" anchor="t"/>
          <a:lstStyle/>
          <a:p>
            <a:pPr algn="l" indent="0" marL="0">
              <a:lnSpc>
                <a:spcPts val="1440"/>
              </a:lnSpc>
              <a:buNone/>
            </a:pPr>
            <a:r>
              <a:rPr lang="en-US" sz="1200" b="1" dirty="0">
                <a:solidFill>
                  <a:srgbClr val="1B2340"/>
                </a:solidFill>
                <a:latin typeface="Arial" pitchFamily="34" charset="0"/>
                <a:ea typeface="Arial" pitchFamily="34" charset="-122"/>
                <a:cs typeface="Arial" pitchFamily="34" charset="-120"/>
              </a:rPr>
              <a:t>Hole Grab</a:t>
            </a:r>
            <a:endParaRPr lang="en-US" sz="1200" dirty="0"/>
          </a:p>
        </p:txBody>
      </p:sp>
      <p:sp>
        <p:nvSpPr>
          <p:cNvPr id="32" name="shape 5.31"/>
          <p:cNvSpPr/>
          <p:nvPr/>
        </p:nvSpPr>
        <p:spPr>
          <a:xfrm>
            <a:off x="4190895" y="4146446"/>
            <a:ext cx="1523962" cy="241294"/>
          </a:xfrm>
          <a:prstGeom prst="roundRect">
            <a:avLst>
              <a:gd name="adj" fmla="val 50000"/>
            </a:avLst>
          </a:prstGeom>
          <a:solidFill>
            <a:srgbClr val="E7F5E1"/>
          </a:solidFill>
          <a:ln/>
        </p:spPr>
      </p:sp>
      <p:sp>
        <p:nvSpPr>
          <p:cNvPr id="33" name="text 5.32"/>
          <p:cNvSpPr txBox="1"/>
          <p:nvPr/>
        </p:nvSpPr>
        <p:spPr>
          <a:xfrm>
            <a:off x="4190895" y="4146446"/>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43B832"/>
                </a:solidFill>
                <a:latin typeface="Arial" pitchFamily="34" charset="0"/>
                <a:ea typeface="Arial" pitchFamily="34" charset="-122"/>
                <a:cs typeface="Arial" pitchFamily="34" charset="-120"/>
              </a:rPr>
              <a:t>KNOCKBACK</a:t>
            </a:r>
            <a:endParaRPr lang="en-US" sz="700" dirty="0"/>
          </a:p>
        </p:txBody>
      </p:sp>
      <p:sp>
        <p:nvSpPr>
          <p:cNvPr id="34" name="text 5.33"/>
          <p:cNvSpPr txBox="1"/>
          <p:nvPr/>
        </p:nvSpPr>
        <p:spPr>
          <a:xfrm>
            <a:off x="5905352" y="4178196"/>
            <a:ext cx="5498963" cy="181605"/>
          </a:xfrm>
          <a:prstGeom prst="rect">
            <a:avLst/>
          </a:prstGeom>
          <a:noFill/>
          <a:ln/>
        </p:spPr>
        <p:txBody>
          <a:bodyPr wrap="square" lIns="0" tIns="0" rIns="0" bIns="0" rtlCol="0" anchor="t"/>
          <a:lstStyle/>
          <a:p>
            <a:pPr algn="l" indent="0" marL="0">
              <a:lnSpc>
                <a:spcPts val="1430"/>
              </a:lnSpc>
              <a:buNone/>
            </a:pPr>
            <a:r>
              <a:rPr lang="en-US" sz="1100" dirty="0">
                <a:solidFill>
                  <a:srgbClr val="3E475E"/>
                </a:solidFill>
                <a:latin typeface="Arial" pitchFamily="34" charset="0"/>
                <a:ea typeface="Arial" pitchFamily="34" charset="-122"/>
                <a:cs typeface="Arial" pitchFamily="34" charset="-120"/>
              </a:rPr>
              <a:t>Knockback: push rivals away from the holes.</a:t>
            </a:r>
            <a:endParaRPr lang="en-US" sz="1100" dirty="0"/>
          </a:p>
        </p:txBody>
      </p:sp>
      <p:sp>
        <p:nvSpPr>
          <p:cNvPr id="35" name="text 5.34"/>
          <p:cNvSpPr txBox="1"/>
          <p:nvPr/>
        </p:nvSpPr>
        <p:spPr>
          <a:xfrm>
            <a:off x="1904952" y="4787780"/>
            <a:ext cx="512361" cy="182875"/>
          </a:xfrm>
          <a:prstGeom prst="rect">
            <a:avLst/>
          </a:prstGeom>
          <a:noFill/>
          <a:ln/>
        </p:spPr>
        <p:txBody>
          <a:bodyPr wrap="square" lIns="0" tIns="0" rIns="0" bIns="0" rtlCol="0" anchor="t"/>
          <a:lstStyle/>
          <a:p>
            <a:pPr algn="l" indent="0" marL="0">
              <a:lnSpc>
                <a:spcPts val="1440"/>
              </a:lnSpc>
              <a:buNone/>
            </a:pPr>
            <a:r>
              <a:rPr lang="en-US" sz="1200" b="1" dirty="0">
                <a:solidFill>
                  <a:srgbClr val="1B2340"/>
                </a:solidFill>
                <a:latin typeface="Arial" pitchFamily="34" charset="0"/>
                <a:ea typeface="Arial" pitchFamily="34" charset="-122"/>
                <a:cs typeface="Arial" pitchFamily="34" charset="-120"/>
              </a:rPr>
              <a:t>Battle</a:t>
            </a:r>
            <a:endParaRPr lang="en-US" sz="1200" dirty="0"/>
          </a:p>
        </p:txBody>
      </p:sp>
      <p:sp>
        <p:nvSpPr>
          <p:cNvPr id="36" name="shape 5.35"/>
          <p:cNvSpPr/>
          <p:nvPr/>
        </p:nvSpPr>
        <p:spPr>
          <a:xfrm>
            <a:off x="4190895" y="4756031"/>
            <a:ext cx="1523962" cy="241294"/>
          </a:xfrm>
          <a:prstGeom prst="roundRect">
            <a:avLst>
              <a:gd name="adj" fmla="val 50000"/>
            </a:avLst>
          </a:prstGeom>
          <a:solidFill>
            <a:srgbClr val="E9ECF2"/>
          </a:solidFill>
          <a:ln/>
        </p:spPr>
      </p:sp>
      <p:sp>
        <p:nvSpPr>
          <p:cNvPr id="37" name="text 5.36"/>
          <p:cNvSpPr txBox="1"/>
          <p:nvPr/>
        </p:nvSpPr>
        <p:spPr>
          <a:xfrm>
            <a:off x="4190895" y="4756031"/>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B2340"/>
                </a:solidFill>
                <a:latin typeface="Arial" pitchFamily="34" charset="0"/>
                <a:ea typeface="Arial" pitchFamily="34" charset="-122"/>
                <a:cs typeface="Arial" pitchFamily="34" charset="-120"/>
              </a:rPr>
              <a:t>DAMAGE</a:t>
            </a:r>
            <a:endParaRPr lang="en-US" sz="700" dirty="0"/>
          </a:p>
        </p:txBody>
      </p:sp>
      <p:sp>
        <p:nvSpPr>
          <p:cNvPr id="38" name="text 5.37"/>
          <p:cNvSpPr txBox="1"/>
          <p:nvPr/>
        </p:nvSpPr>
        <p:spPr>
          <a:xfrm>
            <a:off x="5905352" y="4787780"/>
            <a:ext cx="5498963" cy="181605"/>
          </a:xfrm>
          <a:prstGeom prst="rect">
            <a:avLst/>
          </a:prstGeom>
          <a:noFill/>
          <a:ln/>
        </p:spPr>
        <p:txBody>
          <a:bodyPr wrap="square" lIns="0" tIns="0" rIns="0" bIns="0" rtlCol="0" anchor="t"/>
          <a:lstStyle/>
          <a:p>
            <a:pPr algn="l" indent="0" marL="0">
              <a:lnSpc>
                <a:spcPts val="1430"/>
              </a:lnSpc>
              <a:buNone/>
            </a:pPr>
            <a:r>
              <a:rPr lang="en-US" sz="1100" dirty="0">
                <a:solidFill>
                  <a:srgbClr val="3E475E"/>
                </a:solidFill>
                <a:latin typeface="Arial" pitchFamily="34" charset="0"/>
                <a:ea typeface="Arial" pitchFamily="34" charset="-122"/>
                <a:cs typeface="Arial" pitchFamily="34" charset="-120"/>
              </a:rPr>
              <a:t>Damage: shots lower health, last cube standing wins.</a:t>
            </a:r>
            <a:endParaRPr lang="en-US" sz="1100" dirty="0"/>
          </a:p>
        </p:txBody>
      </p:sp>
      <p:sp>
        <p:nvSpPr>
          <p:cNvPr id="39" name="text 5.38"/>
          <p:cNvSpPr txBox="1"/>
          <p:nvPr/>
        </p:nvSpPr>
        <p:spPr>
          <a:xfrm>
            <a:off x="812780" y="5549761"/>
            <a:ext cx="789166"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MOVEMENT</a:t>
            </a:r>
            <a:endParaRPr lang="en-US" sz="800" dirty="0"/>
          </a:p>
        </p:txBody>
      </p:sp>
      <p:sp>
        <p:nvSpPr>
          <p:cNvPr id="40" name="text 5.39"/>
          <p:cNvSpPr txBox="1"/>
          <p:nvPr/>
        </p:nvSpPr>
        <p:spPr>
          <a:xfrm>
            <a:off x="812780" y="5752956"/>
            <a:ext cx="5054474"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WASD to move. Jumping only where a mini-game allows it. Shift to dash, on a cooldown or as charges from a power-up.</a:t>
            </a:r>
            <a:endParaRPr lang="en-US" sz="1050" dirty="0"/>
          </a:p>
        </p:txBody>
      </p:sp>
      <p:sp>
        <p:nvSpPr>
          <p:cNvPr id="41" name="text 5.40"/>
          <p:cNvSpPr txBox="1"/>
          <p:nvPr/>
        </p:nvSpPr>
        <p:spPr>
          <a:xfrm>
            <a:off x="6375241" y="5549761"/>
            <a:ext cx="613744"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CAMERA</a:t>
            </a:r>
            <a:endParaRPr lang="en-US" sz="800" dirty="0"/>
          </a:p>
        </p:txBody>
      </p:sp>
      <p:sp>
        <p:nvSpPr>
          <p:cNvPr id="42" name="text 5.41"/>
          <p:cNvSpPr txBox="1"/>
          <p:nvPr/>
        </p:nvSpPr>
        <p:spPr>
          <a:xfrm>
            <a:off x="6375241" y="5752956"/>
            <a:ext cx="5054474"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third-person shooter camera in a 3D world, since aiming is the heart of the game. A mini-game can adjust it where it needs to.</a:t>
            </a:r>
            <a:endParaRPr lang="en-US" sz="1050" dirty="0"/>
          </a:p>
        </p:txBody>
      </p:sp>
      <p:pic>
        <p:nvPicPr>
          <p:cNvPr id="43" name="raster 5.42" descr="diagram">    </p:cNvPr>
          <p:cNvPicPr>
            <a:picLocks noChangeAspect="1"/>
          </p:cNvPicPr>
          <p:nvPr/>
        </p:nvPicPr>
        <p:blipFill>
          <a:blip r:embed="rId7"/>
          <a:stretch>
            <a:fillRect/>
          </a:stretch>
        </p:blipFill>
        <p:spPr>
          <a:xfrm>
            <a:off x="609585" y="266693"/>
            <a:ext cx="190495" cy="190495"/>
          </a:xfrm>
          <a:prstGeom prst="rect">
            <a:avLst/>
          </a:prstGeom>
        </p:spPr>
      </p:pic>
      <p:sp>
        <p:nvSpPr>
          <p:cNvPr id="44" name="text 5.4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5" name="text 5.4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46" name="text 5.4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7" name="text 5.4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05 / 28</a:t>
            </a:r>
            <a:endParaRPr lang="en-US" sz="750" dirty="0"/>
          </a:p>
        </p:txBody>
      </p:sp>
      <p:sp>
        <p:nvSpPr>
          <p:cNvPr id="48" name="text 5.47"/>
          <p:cNvSpPr txBox="1"/>
          <p:nvPr/>
        </p:nvSpPr>
        <p:spPr>
          <a:xfrm>
            <a:off x="609585" y="698483"/>
            <a:ext cx="2021539"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02 · GAMEPLAY MECHANICS</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6.1 adj6186" descr="sp2_arena.png">    </p:cNvPr>
          <p:cNvPicPr>
            <a:picLocks noChangeAspect="1"/>
          </p:cNvPicPr>
          <p:nvPr/>
        </p:nvPicPr>
        <p:blipFill>
          <a:blip r:embed="rId2"/>
          <a:stretch>
            <a:fillRect/>
          </a:stretch>
        </p:blipFill>
        <p:spPr>
          <a:xfrm>
            <a:off x="609585" y="1803355"/>
            <a:ext cx="6984825" cy="2463738"/>
          </a:xfrm>
          <a:prstGeom prst="roundRect">
            <a:avLst>
              <a:gd name="adj" fmla="val 6186"/>
            </a:avLst>
          </a:prstGeom>
        </p:spPr>
      </p:pic>
      <p:sp>
        <p:nvSpPr>
          <p:cNvPr id="3" name="shape 6.2"/>
          <p:cNvSpPr/>
          <p:nvPr/>
        </p:nvSpPr>
        <p:spPr>
          <a:xfrm>
            <a:off x="609585" y="4622684"/>
            <a:ext cx="6984825" cy="1663658"/>
          </a:xfrm>
          <a:prstGeom prst="roundRect">
            <a:avLst>
              <a:gd name="adj" fmla="val 916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6.3"/>
          <p:cNvSpPr/>
          <p:nvPr/>
        </p:nvSpPr>
        <p:spPr>
          <a:xfrm>
            <a:off x="7848404" y="1803355"/>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6.4"/>
          <p:cNvSpPr/>
          <p:nvPr/>
        </p:nvSpPr>
        <p:spPr>
          <a:xfrm>
            <a:off x="7848404" y="2949501"/>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6.5"/>
          <p:cNvSpPr/>
          <p:nvPr/>
        </p:nvSpPr>
        <p:spPr>
          <a:xfrm>
            <a:off x="7848404" y="4095648"/>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6.6"/>
          <p:cNvSpPr/>
          <p:nvPr/>
        </p:nvSpPr>
        <p:spPr>
          <a:xfrm>
            <a:off x="7848404" y="5241794"/>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8" name="raster 6.7" descr="diagram">    </p:cNvPr>
          <p:cNvPicPr>
            <a:picLocks noChangeAspect="1"/>
          </p:cNvPicPr>
          <p:nvPr/>
        </p:nvPicPr>
        <p:blipFill>
          <a:blip r:embed="rId3"/>
          <a:stretch>
            <a:fillRect/>
          </a:stretch>
        </p:blipFill>
        <p:spPr>
          <a:xfrm>
            <a:off x="1257269" y="5149721"/>
            <a:ext cx="673083" cy="215895"/>
          </a:xfrm>
          <a:prstGeom prst="rect">
            <a:avLst/>
          </a:prstGeom>
        </p:spPr>
      </p:pic>
      <p:pic>
        <p:nvPicPr>
          <p:cNvPr id="9" name="raster 6.8" descr="diagram">    </p:cNvPr>
          <p:cNvPicPr>
            <a:picLocks noChangeAspect="1"/>
          </p:cNvPicPr>
          <p:nvPr/>
        </p:nvPicPr>
        <p:blipFill>
          <a:blip r:embed="rId4"/>
          <a:stretch>
            <a:fillRect/>
          </a:stretch>
        </p:blipFill>
        <p:spPr>
          <a:xfrm>
            <a:off x="3416215" y="5149721"/>
            <a:ext cx="1308067" cy="215895"/>
          </a:xfrm>
          <a:prstGeom prst="rect">
            <a:avLst/>
          </a:prstGeom>
        </p:spPr>
      </p:pic>
      <p:pic>
        <p:nvPicPr>
          <p:cNvPr id="10" name="raster 6.9" descr="diagram">    </p:cNvPr>
          <p:cNvPicPr>
            <a:picLocks noChangeAspect="1"/>
          </p:cNvPicPr>
          <p:nvPr/>
        </p:nvPicPr>
        <p:blipFill>
          <a:blip r:embed="rId5"/>
          <a:stretch>
            <a:fillRect/>
          </a:stretch>
        </p:blipFill>
        <p:spPr>
          <a:xfrm>
            <a:off x="5575161" y="5149721"/>
            <a:ext cx="1752556" cy="215895"/>
          </a:xfrm>
          <a:prstGeom prst="rect">
            <a:avLst/>
          </a:prstGeom>
        </p:spPr>
      </p:pic>
      <p:sp>
        <p:nvSpPr>
          <p:cNvPr id="11" name="text 6.10"/>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Knockback Arena</a:t>
            </a:r>
            <a:endParaRPr lang="en-US" sz="3000" dirty="0"/>
          </a:p>
        </p:txBody>
      </p:sp>
      <p:sp>
        <p:nvSpPr>
          <p:cNvPr id="12" name="text 6.11"/>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Shoot the others off a flat floor.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Every hit makes them lighter.</a:t>
            </a:r>
            <a:endParaRPr lang="en-US" sz="1350" dirty="0"/>
          </a:p>
        </p:txBody>
      </p:sp>
      <p:sp>
        <p:nvSpPr>
          <p:cNvPr id="13" name="text 6.12"/>
          <p:cNvSpPr txBox="1"/>
          <p:nvPr/>
        </p:nvSpPr>
        <p:spPr>
          <a:xfrm>
            <a:off x="609585" y="4343291"/>
            <a:ext cx="3515363"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3D concept render, not gameplay. Arena theme and size are not set.</a:t>
            </a:r>
            <a:endParaRPr lang="en-US" sz="850" dirty="0"/>
          </a:p>
        </p:txBody>
      </p:sp>
      <p:sp>
        <p:nvSpPr>
          <p:cNvPr id="14" name="text 6.13"/>
          <p:cNvSpPr txBox="1"/>
          <p:nvPr/>
        </p:nvSpPr>
        <p:spPr>
          <a:xfrm>
            <a:off x="863578" y="4787780"/>
            <a:ext cx="350390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MASS, NOT SIZE: THE SAME SHOT, A LONGER FLIGHT</a:t>
            </a:r>
            <a:endParaRPr lang="en-US" sz="800" dirty="0"/>
          </a:p>
        </p:txBody>
      </p:sp>
      <p:sp>
        <p:nvSpPr>
          <p:cNvPr id="15" name="shape 6.14"/>
          <p:cNvSpPr/>
          <p:nvPr/>
        </p:nvSpPr>
        <p:spPr>
          <a:xfrm>
            <a:off x="863578" y="5079873"/>
            <a:ext cx="355591" cy="355591"/>
          </a:xfrm>
          <a:prstGeom prst="roundRect">
            <a:avLst>
              <a:gd name="adj" fmla="val 25000"/>
            </a:avLst>
          </a:prstGeom>
          <a:solidFill>
            <a:srgbClr val="1FA9EA"/>
          </a:solidFill>
          <a:ln/>
        </p:spPr>
      </p:sp>
      <p:sp>
        <p:nvSpPr>
          <p:cNvPr id="16" name="text 6.15"/>
          <p:cNvSpPr txBox="1"/>
          <p:nvPr/>
        </p:nvSpPr>
        <p:spPr>
          <a:xfrm>
            <a:off x="863578" y="5587860"/>
            <a:ext cx="2070048" cy="177796"/>
          </a:xfrm>
          <a:prstGeom prst="rect">
            <a:avLst/>
          </a:prstGeom>
          <a:noFill/>
          <a:ln/>
        </p:spPr>
        <p:txBody>
          <a:bodyPr wrap="square" lIns="0" tIns="0" rIns="0" bIns="0" rtlCol="0" anchor="t"/>
          <a:lstStyle/>
          <a:p>
            <a:pPr algn="l" indent="0" marL="0">
              <a:lnSpc>
                <a:spcPts val="1400"/>
              </a:lnSpc>
              <a:buNone/>
            </a:pPr>
            <a:r>
              <a:rPr lang="en-US" sz="1000" b="1" dirty="0">
                <a:solidFill>
                  <a:srgbClr val="1B2340"/>
                </a:solidFill>
                <a:latin typeface="Arial" pitchFamily="34" charset="0"/>
                <a:ea typeface="Arial" pitchFamily="34" charset="-122"/>
                <a:cs typeface="Arial" pitchFamily="34" charset="-120"/>
              </a:rPr>
              <a:t>Full mass.</a:t>
            </a:r>
            <a:pPr algn="l" indent="0" marL="0">
              <a:lnSpc>
                <a:spcPts val="1400"/>
              </a:lnSpc>
              <a:buNone/>
            </a:pPr>
            <a:r>
              <a:rPr lang="en-US" sz="1000" dirty="0">
                <a:solidFill>
                  <a:srgbClr val="3E475E"/>
                </a:solidFill>
                <a:latin typeface="Arial" pitchFamily="34" charset="0"/>
                <a:ea typeface="Arial" pitchFamily="34" charset="-122"/>
                <a:cs typeface="Arial" pitchFamily="34" charset="-120"/>
              </a:rPr>
              <a:t> A hit pushes a little.</a:t>
            </a:r>
            <a:endParaRPr lang="en-US" sz="1000" dirty="0"/>
          </a:p>
        </p:txBody>
      </p:sp>
      <p:sp>
        <p:nvSpPr>
          <p:cNvPr id="17" name="shape 6.16"/>
          <p:cNvSpPr/>
          <p:nvPr/>
        </p:nvSpPr>
        <p:spPr>
          <a:xfrm>
            <a:off x="3022524" y="5079873"/>
            <a:ext cx="355591" cy="355591"/>
          </a:xfrm>
          <a:prstGeom prst="roundRect">
            <a:avLst>
              <a:gd name="adj" fmla="val 25000"/>
            </a:avLst>
          </a:prstGeom>
          <a:solidFill>
            <a:srgbClr val="7CC6EF"/>
          </a:solidFill>
          <a:ln/>
        </p:spPr>
      </p:sp>
      <p:sp>
        <p:nvSpPr>
          <p:cNvPr id="18" name="text 6.17"/>
          <p:cNvSpPr txBox="1"/>
          <p:nvPr/>
        </p:nvSpPr>
        <p:spPr>
          <a:xfrm>
            <a:off x="3022524" y="5587860"/>
            <a:ext cx="2070048" cy="355591"/>
          </a:xfrm>
          <a:prstGeom prst="rect">
            <a:avLst/>
          </a:prstGeom>
          <a:noFill/>
          <a:ln/>
        </p:spPr>
        <p:txBody>
          <a:bodyPr wrap="square" lIns="0" tIns="0" rIns="0" bIns="0" rtlCol="0" anchor="t"/>
          <a:lstStyle/>
          <a:p>
            <a:pPr algn="l" indent="0" marL="0">
              <a:lnSpc>
                <a:spcPts val="1400"/>
              </a:lnSpc>
              <a:buNone/>
            </a:pPr>
            <a:r>
              <a:rPr lang="en-US" sz="1000" b="1" dirty="0">
                <a:solidFill>
                  <a:srgbClr val="1B2340"/>
                </a:solidFill>
                <a:latin typeface="Arial" pitchFamily="34" charset="0"/>
                <a:ea typeface="Arial" pitchFamily="34" charset="-122"/>
                <a:cs typeface="Arial" pitchFamily="34" charset="-120"/>
              </a:rPr>
              <a:t>After a few hits.</a:t>
            </a:r>
            <a:pPr algn="l" indent="0" marL="0">
              <a:lnSpc>
                <a:spcPts val="1400"/>
              </a:lnSpc>
              <a:buNone/>
            </a:pPr>
            <a:r>
              <a:rPr lang="en-US" sz="1000" dirty="0">
                <a:solidFill>
                  <a:srgbClr val="3E475E"/>
                </a:solidFill>
                <a:latin typeface="Arial" pitchFamily="34" charset="0"/>
                <a:ea typeface="Arial" pitchFamily="34" charset="-122"/>
                <a:cs typeface="Arial" pitchFamily="34" charset="-120"/>
              </a:rPr>
              <a:t> Same size, less mass, a longer push.</a:t>
            </a:r>
            <a:endParaRPr lang="en-US" sz="1000" dirty="0"/>
          </a:p>
        </p:txBody>
      </p:sp>
      <p:sp>
        <p:nvSpPr>
          <p:cNvPr id="19" name="shape 6.18"/>
          <p:cNvSpPr/>
          <p:nvPr/>
        </p:nvSpPr>
        <p:spPr>
          <a:xfrm>
            <a:off x="5181470" y="5079873"/>
            <a:ext cx="355591" cy="355591"/>
          </a:xfrm>
          <a:prstGeom prst="roundRect">
            <a:avLst>
              <a:gd name="adj" fmla="val 25000"/>
            </a:avLst>
          </a:prstGeom>
          <a:solidFill>
            <a:srgbClr val="BDE2F7"/>
          </a:solidFill>
          <a:ln/>
        </p:spPr>
      </p:sp>
      <p:sp>
        <p:nvSpPr>
          <p:cNvPr id="20" name="text 6.19"/>
          <p:cNvSpPr txBox="1"/>
          <p:nvPr/>
        </p:nvSpPr>
        <p:spPr>
          <a:xfrm>
            <a:off x="5181470" y="5587860"/>
            <a:ext cx="2070048" cy="355591"/>
          </a:xfrm>
          <a:prstGeom prst="rect">
            <a:avLst/>
          </a:prstGeom>
          <a:noFill/>
          <a:ln/>
        </p:spPr>
        <p:txBody>
          <a:bodyPr wrap="square" lIns="0" tIns="0" rIns="0" bIns="0" rtlCol="0" anchor="t"/>
          <a:lstStyle/>
          <a:p>
            <a:pPr algn="l" indent="0" marL="0">
              <a:lnSpc>
                <a:spcPts val="1400"/>
              </a:lnSpc>
              <a:buNone/>
            </a:pPr>
            <a:r>
              <a:rPr lang="en-US" sz="1000" b="1" dirty="0">
                <a:solidFill>
                  <a:srgbClr val="1B2340"/>
                </a:solidFill>
                <a:latin typeface="Arial" pitchFamily="34" charset="0"/>
                <a:ea typeface="Arial" pitchFamily="34" charset="-122"/>
                <a:cs typeface="Arial" pitchFamily="34" charset="-120"/>
              </a:rPr>
              <a:t>Many hits.</a:t>
            </a:r>
            <a:pPr algn="l" indent="0" marL="0">
              <a:lnSpc>
                <a:spcPts val="1400"/>
              </a:lnSpc>
              <a:buNone/>
            </a:pPr>
            <a:r>
              <a:rPr lang="en-US" sz="1000" dirty="0">
                <a:solidFill>
                  <a:srgbClr val="3E475E"/>
                </a:solidFill>
                <a:latin typeface="Arial" pitchFamily="34" charset="0"/>
                <a:ea typeface="Arial" pitchFamily="34" charset="-122"/>
                <a:cs typeface="Arial" pitchFamily="34" charset="-120"/>
              </a:rPr>
              <a:t> One more shot sends it off the edge.</a:t>
            </a:r>
            <a:endParaRPr lang="en-US" sz="1000" dirty="0"/>
          </a:p>
        </p:txBody>
      </p:sp>
      <p:sp>
        <p:nvSpPr>
          <p:cNvPr id="21" name="text 6.20"/>
          <p:cNvSpPr txBox="1"/>
          <p:nvPr/>
        </p:nvSpPr>
        <p:spPr>
          <a:xfrm>
            <a:off x="8064298" y="1955751"/>
            <a:ext cx="741314"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SHOOTING</a:t>
            </a:r>
            <a:endParaRPr lang="en-US" sz="800" dirty="0"/>
          </a:p>
        </p:txBody>
      </p:sp>
      <p:sp>
        <p:nvSpPr>
          <p:cNvPr id="22" name="text 6.21"/>
          <p:cNvSpPr txBox="1"/>
          <p:nvPr/>
        </p:nvSpPr>
        <p:spPr>
          <a:xfrm>
            <a:off x="8064298" y="2158946"/>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Free, with a fire-rate limit. Shots are real thrown objects and have no effect on the shooter.</a:t>
            </a:r>
            <a:endParaRPr lang="en-US" sz="1050" dirty="0"/>
          </a:p>
        </p:txBody>
      </p:sp>
      <p:sp>
        <p:nvSpPr>
          <p:cNvPr id="23" name="text 6.22"/>
          <p:cNvSpPr txBox="1"/>
          <p:nvPr/>
        </p:nvSpPr>
        <p:spPr>
          <a:xfrm>
            <a:off x="8064298" y="3101897"/>
            <a:ext cx="88771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GETTING HIT</a:t>
            </a:r>
            <a:endParaRPr lang="en-US" sz="800" dirty="0"/>
          </a:p>
        </p:txBody>
      </p:sp>
      <p:sp>
        <p:nvSpPr>
          <p:cNvPr id="24" name="text 6.23"/>
          <p:cNvSpPr txBox="1"/>
          <p:nvPr/>
        </p:nvSpPr>
        <p:spPr>
          <a:xfrm>
            <a:off x="8064298" y="3305092"/>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force from the shot’s direction, and a drop in mass. The size stays the same.</a:t>
            </a:r>
            <a:endParaRPr lang="en-US" sz="1050" dirty="0"/>
          </a:p>
        </p:txBody>
      </p:sp>
      <p:sp>
        <p:nvSpPr>
          <p:cNvPr id="25" name="text 6.24"/>
          <p:cNvSpPr txBox="1"/>
          <p:nvPr/>
        </p:nvSpPr>
        <p:spPr>
          <a:xfrm>
            <a:off x="8064298" y="4248044"/>
            <a:ext cx="84395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POWER-UPS</a:t>
            </a:r>
            <a:endParaRPr lang="en-US" sz="800" dirty="0"/>
          </a:p>
        </p:txBody>
      </p:sp>
      <p:sp>
        <p:nvSpPr>
          <p:cNvPr id="26" name="text 6.25"/>
          <p:cNvSpPr txBox="1"/>
          <p:nvPr/>
        </p:nvSpPr>
        <p:spPr>
          <a:xfrm>
            <a:off x="8064298" y="4451239"/>
            <a:ext cx="3340016" cy="386547"/>
          </a:xfrm>
          <a:prstGeom prst="rect">
            <a:avLst/>
          </a:prstGeom>
          <a:noFill/>
          <a:ln/>
        </p:spPr>
        <p:txBody>
          <a:bodyPr wrap="square" lIns="0" tIns="0" rIns="0" bIns="0" rtlCol="0" anchor="t"/>
          <a:lstStyle/>
          <a:p>
            <a:pPr algn="l" indent="0" marL="0">
              <a:lnSpc>
                <a:spcPts val="1520"/>
              </a:lnSpc>
              <a:buNone/>
            </a:pPr>
            <a:r>
              <a:rPr lang="en-US" sz="1050" b="1" dirty="0">
                <a:solidFill>
                  <a:srgbClr val="1B2340"/>
                </a:solidFill>
                <a:latin typeface="Arial" pitchFamily="34" charset="0"/>
                <a:ea typeface="Arial" pitchFamily="34" charset="-122"/>
                <a:cs typeface="Arial" pitchFamily="34" charset="-120"/>
              </a:rPr>
              <a:t>Jump:</a:t>
            </a:r>
            <a:pPr algn="l" indent="0" marL="0">
              <a:lnSpc>
                <a:spcPts val="1520"/>
              </a:lnSpc>
              <a:buNone/>
            </a:pPr>
            <a:r>
              <a:rPr lang="en-US" sz="1050" dirty="0">
                <a:solidFill>
                  <a:srgbClr val="3E475E"/>
                </a:solidFill>
                <a:latin typeface="Arial" pitchFamily="34" charset="0"/>
                <a:ea typeface="Arial" pitchFamily="34" charset="-122"/>
                <a:cs typeface="Arial" pitchFamily="34" charset="-120"/>
              </a:rPr>
              <a:t> strong, so it is a pickup; a lighter cube jumps higher. </a:t>
            </a:r>
            <a:pPr algn="l" indent="0" marL="0">
              <a:lnSpc>
                <a:spcPts val="1520"/>
              </a:lnSpc>
              <a:buNone/>
            </a:pPr>
            <a:r>
              <a:rPr lang="en-US" sz="1050" b="1" dirty="0">
                <a:solidFill>
                  <a:srgbClr val="1B2340"/>
                </a:solidFill>
                <a:latin typeface="Arial" pitchFamily="34" charset="0"/>
                <a:ea typeface="Arial" pitchFamily="34" charset="-122"/>
                <a:cs typeface="Arial" pitchFamily="34" charset="-120"/>
              </a:rPr>
              <a:t>Dash:</a:t>
            </a:r>
            <a:pPr algn="l" indent="0" marL="0">
              <a:lnSpc>
                <a:spcPts val="1520"/>
              </a:lnSpc>
              <a:buNone/>
            </a:pPr>
            <a:r>
              <a:rPr lang="en-US" sz="1050" dirty="0">
                <a:solidFill>
                  <a:srgbClr val="3E475E"/>
                </a:solidFill>
                <a:latin typeface="Arial" pitchFamily="34" charset="0"/>
                <a:ea typeface="Arial" pitchFamily="34" charset="-122"/>
                <a:cs typeface="Arial" pitchFamily="34" charset="-120"/>
              </a:rPr>
              <a:t> Shift, e.g. 3 charges.</a:t>
            </a:r>
            <a:endParaRPr lang="en-US" sz="1050" dirty="0"/>
          </a:p>
        </p:txBody>
      </p:sp>
      <p:sp>
        <p:nvSpPr>
          <p:cNvPr id="27" name="text 6.26"/>
          <p:cNvSpPr txBox="1"/>
          <p:nvPr/>
        </p:nvSpPr>
        <p:spPr>
          <a:xfrm>
            <a:off x="8064298" y="5394190"/>
            <a:ext cx="1469822"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OUT AND PLACEMENT</a:t>
            </a:r>
            <a:endParaRPr lang="en-US" sz="800" dirty="0"/>
          </a:p>
        </p:txBody>
      </p:sp>
      <p:sp>
        <p:nvSpPr>
          <p:cNvPr id="28" name="text 6.27"/>
          <p:cNvSpPr txBox="1"/>
          <p:nvPr/>
        </p:nvSpPr>
        <p:spPr>
          <a:xfrm>
            <a:off x="8064298" y="5597385"/>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Falling off means you are out. Placement by order of elimination; the last cube standing wins.</a:t>
            </a:r>
            <a:endParaRPr lang="en-US" sz="1050" dirty="0"/>
          </a:p>
        </p:txBody>
      </p:sp>
      <p:pic>
        <p:nvPicPr>
          <p:cNvPr id="29" name="raster 6.28" descr="diagram">    </p:cNvPr>
          <p:cNvPicPr>
            <a:picLocks noChangeAspect="1"/>
          </p:cNvPicPr>
          <p:nvPr/>
        </p:nvPicPr>
        <p:blipFill>
          <a:blip r:embed="rId6"/>
          <a:stretch>
            <a:fillRect/>
          </a:stretch>
        </p:blipFill>
        <p:spPr>
          <a:xfrm>
            <a:off x="609585" y="266693"/>
            <a:ext cx="190495" cy="190495"/>
          </a:xfrm>
          <a:prstGeom prst="rect">
            <a:avLst/>
          </a:prstGeom>
        </p:spPr>
      </p:pic>
      <p:sp>
        <p:nvSpPr>
          <p:cNvPr id="30" name="text 6.29"/>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1" name="text 6.30"/>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2" name="text 6.31"/>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3" name="text 6.32"/>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06 / 28</a:t>
            </a:r>
            <a:endParaRPr lang="en-US" sz="750" dirty="0"/>
          </a:p>
        </p:txBody>
      </p:sp>
      <p:sp>
        <p:nvSpPr>
          <p:cNvPr id="34" name="text 6.33"/>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MINI-GAME 01 · WORKING NAME</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7.1 adj5811" descr="sp2_parkour.png">    </p:cNvPr>
          <p:cNvPicPr>
            <a:picLocks noChangeAspect="1"/>
          </p:cNvPicPr>
          <p:nvPr/>
        </p:nvPicPr>
        <p:blipFill>
          <a:blip r:embed="rId2"/>
          <a:stretch>
            <a:fillRect/>
          </a:stretch>
        </p:blipFill>
        <p:spPr>
          <a:xfrm>
            <a:off x="609585" y="1803355"/>
            <a:ext cx="6984825" cy="2622484"/>
          </a:xfrm>
          <a:prstGeom prst="roundRect">
            <a:avLst>
              <a:gd name="adj" fmla="val 5811"/>
            </a:avLst>
          </a:prstGeom>
        </p:spPr>
      </p:pic>
      <p:sp>
        <p:nvSpPr>
          <p:cNvPr id="3" name="shape 7.2"/>
          <p:cNvSpPr/>
          <p:nvPr/>
        </p:nvSpPr>
        <p:spPr>
          <a:xfrm>
            <a:off x="609585" y="5079873"/>
            <a:ext cx="6984825" cy="1206470"/>
          </a:xfrm>
          <a:prstGeom prst="roundRect">
            <a:avLst>
              <a:gd name="adj" fmla="val 12632"/>
            </a:avLst>
          </a:prstGeom>
          <a:solidFill>
            <a:srgbClr val="FFF6DA"/>
          </a:solidFill>
          <a:ln w="12700">
            <a:solidFill>
              <a:srgbClr val="F6E3A6"/>
            </a:solidFill>
            <a:prstDash val="solid"/>
          </a:ln>
          <a:effectLst>
            <a:outerShdw sx="100000" sy="100000" kx="0" ky="0" algn="bl" rotWithShape="0" blurRad="203200" dist="76200" dir="5400000">
              <a:srgbClr val="1E468C">
                <a:alpha val="16000"/>
              </a:srgbClr>
            </a:outerShdw>
          </a:effectLst>
        </p:spPr>
      </p:sp>
      <p:sp>
        <p:nvSpPr>
          <p:cNvPr id="4" name="shape 7.3"/>
          <p:cNvSpPr/>
          <p:nvPr/>
        </p:nvSpPr>
        <p:spPr>
          <a:xfrm>
            <a:off x="7848404" y="1803355"/>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7.4"/>
          <p:cNvSpPr/>
          <p:nvPr/>
        </p:nvSpPr>
        <p:spPr>
          <a:xfrm>
            <a:off x="7848404" y="2949501"/>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7.5"/>
          <p:cNvSpPr/>
          <p:nvPr/>
        </p:nvSpPr>
        <p:spPr>
          <a:xfrm>
            <a:off x="7848404" y="4095648"/>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7.6"/>
          <p:cNvSpPr/>
          <p:nvPr/>
        </p:nvSpPr>
        <p:spPr>
          <a:xfrm>
            <a:off x="7848404" y="5241794"/>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text 7.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Blast Parkour</a:t>
            </a:r>
            <a:endParaRPr lang="en-US" sz="3000" dirty="0"/>
          </a:p>
        </p:txBody>
      </p:sp>
      <p:sp>
        <p:nvSpPr>
          <p:cNvPr id="9" name="text 7.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An obstacle course in the sky: </a:t>
            </a:r>
            <a:pPr algn="l" indent="0" marL="0">
              <a:lnSpc>
                <a:spcPts val="1820"/>
              </a:lnSpc>
              <a:buNone/>
            </a:pPr>
            <a:r>
              <a:rPr lang="en-US" sz="1350" b="1" dirty="0">
                <a:solidFill>
                  <a:srgbClr val="8F55F5"/>
                </a:solidFill>
                <a:latin typeface="Arial" pitchFamily="34" charset="0"/>
                <a:ea typeface="Arial" pitchFamily="34" charset="-122"/>
                <a:cs typeface="Arial" pitchFamily="34" charset="-120"/>
              </a:rPr>
              <a:t>spit, blast and climb</a:t>
            </a:r>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 while knocking the others into the void.</a:t>
            </a:r>
            <a:endParaRPr lang="en-US" sz="1350" dirty="0"/>
          </a:p>
        </p:txBody>
      </p:sp>
      <p:sp>
        <p:nvSpPr>
          <p:cNvPr id="10" name="text 7.9"/>
          <p:cNvSpPr txBox="1"/>
          <p:nvPr/>
        </p:nvSpPr>
        <p:spPr>
          <a:xfrm>
            <a:off x="609585" y="4495688"/>
            <a:ext cx="7022924"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3D concept render, not gameplay. Orange blasts the ground to jump; purple charges a strong shot; cyan has been knocked into the void.</a:t>
            </a:r>
            <a:endParaRPr lang="en-US" sz="850" dirty="0"/>
          </a:p>
        </p:txBody>
      </p:sp>
      <p:sp>
        <p:nvSpPr>
          <p:cNvPr id="11" name="text 7.10"/>
          <p:cNvSpPr txBox="1"/>
          <p:nvPr/>
        </p:nvSpPr>
        <p:spPr>
          <a:xfrm>
            <a:off x="863578" y="5270368"/>
            <a:ext cx="162031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A57600"/>
                </a:solidFill>
                <a:latin typeface="Arial" pitchFamily="34" charset="0"/>
                <a:ea typeface="Arial" pitchFamily="34" charset="-122"/>
                <a:cs typeface="Arial" pitchFamily="34" charset="-120"/>
              </a:rPr>
              <a:t>IF HITTING IS TOO EASY</a:t>
            </a:r>
            <a:endParaRPr lang="en-US" sz="800" dirty="0"/>
          </a:p>
        </p:txBody>
      </p:sp>
      <p:sp>
        <p:nvSpPr>
          <p:cNvPr id="12" name="text 7.11"/>
          <p:cNvSpPr txBox="1"/>
          <p:nvPr/>
        </p:nvSpPr>
        <p:spPr>
          <a:xfrm>
            <a:off x="863578" y="5498963"/>
            <a:ext cx="6514937" cy="423455"/>
          </a:xfrm>
          <a:prstGeom prst="rect">
            <a:avLst/>
          </a:prstGeom>
          <a:noFill/>
          <a:ln/>
        </p:spPr>
        <p:txBody>
          <a:bodyPr wrap="square" lIns="0" tIns="0" rIns="0" bIns="0" rtlCol="0" anchor="t"/>
          <a:lstStyle/>
          <a:p>
            <a:pPr algn="l" indent="0" marL="0">
              <a:lnSpc>
                <a:spcPts val="1670"/>
              </a:lnSpc>
              <a:buNone/>
            </a:pPr>
            <a:r>
              <a:rPr lang="en-US" sz="1150" dirty="0">
                <a:solidFill>
                  <a:srgbClr val="3E475E"/>
                </a:solidFill>
                <a:latin typeface="Arial" pitchFamily="34" charset="0"/>
                <a:ea typeface="Arial" pitchFamily="34" charset="-122"/>
                <a:cs typeface="Arial" pitchFamily="34" charset="-120"/>
              </a:rPr>
              <a:t>We make shots fall with gravity, so players have to read the arc to land a hit. We decide this in playtests.</a:t>
            </a:r>
            <a:endParaRPr lang="en-US" sz="1150" dirty="0"/>
          </a:p>
        </p:txBody>
      </p:sp>
      <p:sp>
        <p:nvSpPr>
          <p:cNvPr id="13" name="text 7.12"/>
          <p:cNvSpPr txBox="1"/>
          <p:nvPr/>
        </p:nvSpPr>
        <p:spPr>
          <a:xfrm>
            <a:off x="8064298" y="1955751"/>
            <a:ext cx="1284513"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NOWHERE TO HIDE</a:t>
            </a:r>
            <a:endParaRPr lang="en-US" sz="800" dirty="0"/>
          </a:p>
        </p:txBody>
      </p:sp>
      <p:sp>
        <p:nvSpPr>
          <p:cNvPr id="14" name="text 7.13"/>
          <p:cNvSpPr txBox="1"/>
          <p:nvPr/>
        </p:nvSpPr>
        <p:spPr>
          <a:xfrm>
            <a:off x="8064298" y="2158946"/>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Open islands with no walls or cover. Everyone is always in someone’s line of fire.</a:t>
            </a:r>
            <a:endParaRPr lang="en-US" sz="1050" dirty="0"/>
          </a:p>
        </p:txBody>
      </p:sp>
      <p:sp>
        <p:nvSpPr>
          <p:cNvPr id="15" name="text 7.14"/>
          <p:cNvSpPr txBox="1"/>
          <p:nvPr/>
        </p:nvSpPr>
        <p:spPr>
          <a:xfrm>
            <a:off x="8064298" y="3101897"/>
            <a:ext cx="116483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CHARGED BLAST</a:t>
            </a:r>
            <a:endParaRPr lang="en-US" sz="800" dirty="0"/>
          </a:p>
        </p:txBody>
      </p:sp>
      <p:sp>
        <p:nvSpPr>
          <p:cNvPr id="16" name="text 7.15"/>
          <p:cNvSpPr txBox="1"/>
          <p:nvPr/>
        </p:nvSpPr>
        <p:spPr>
          <a:xfrm>
            <a:off x="8064298" y="3305092"/>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Hold to fire a strong explosion. While charging you cannot move, so you are open to attack.</a:t>
            </a:r>
            <a:endParaRPr lang="en-US" sz="1050" dirty="0"/>
          </a:p>
        </p:txBody>
      </p:sp>
      <p:sp>
        <p:nvSpPr>
          <p:cNvPr id="17" name="text 7.16"/>
          <p:cNvSpPr txBox="1"/>
          <p:nvPr/>
        </p:nvSpPr>
        <p:spPr>
          <a:xfrm>
            <a:off x="8064298" y="4248044"/>
            <a:ext cx="115179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BLAST TO CLIMB</a:t>
            </a:r>
            <a:endParaRPr lang="en-US" sz="800" dirty="0"/>
          </a:p>
        </p:txBody>
      </p:sp>
      <p:sp>
        <p:nvSpPr>
          <p:cNvPr id="18" name="text 7.17"/>
          <p:cNvSpPr txBox="1"/>
          <p:nvPr/>
        </p:nvSpPr>
        <p:spPr>
          <a:xfrm>
            <a:off x="8064298" y="4451239"/>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shot at the ground lifts you up. The same blast can push a nearby rival off a ledge.</a:t>
            </a:r>
            <a:endParaRPr lang="en-US" sz="1050" dirty="0"/>
          </a:p>
        </p:txBody>
      </p:sp>
      <p:sp>
        <p:nvSpPr>
          <p:cNvPr id="19" name="text 7.18"/>
          <p:cNvSpPr txBox="1"/>
          <p:nvPr/>
        </p:nvSpPr>
        <p:spPr>
          <a:xfrm>
            <a:off x="8064298" y="5394190"/>
            <a:ext cx="810095"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8F55F5"/>
                </a:solidFill>
                <a:latin typeface="Arial" pitchFamily="34" charset="0"/>
                <a:ea typeface="Arial" pitchFamily="34" charset="-122"/>
                <a:cs typeface="Arial" pitchFamily="34" charset="-120"/>
              </a:rPr>
              <a:t>FALL = OUT</a:t>
            </a:r>
            <a:endParaRPr lang="en-US" sz="800" dirty="0"/>
          </a:p>
        </p:txBody>
      </p:sp>
      <p:sp>
        <p:nvSpPr>
          <p:cNvPr id="20" name="text 7.19"/>
          <p:cNvSpPr txBox="1"/>
          <p:nvPr/>
        </p:nvSpPr>
        <p:spPr>
          <a:xfrm>
            <a:off x="8064298" y="5597385"/>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Whoever drops below the course is out. First to the top flag wins; the rest are ranked by height reached.</a:t>
            </a:r>
            <a:endParaRPr lang="en-US" sz="1050" dirty="0"/>
          </a:p>
        </p:txBody>
      </p:sp>
      <p:pic>
        <p:nvPicPr>
          <p:cNvPr id="21" name="raster 7.20" descr="diagram">    </p:cNvPr>
          <p:cNvPicPr>
            <a:picLocks noChangeAspect="1"/>
          </p:cNvPicPr>
          <p:nvPr/>
        </p:nvPicPr>
        <p:blipFill>
          <a:blip r:embed="rId3"/>
          <a:stretch>
            <a:fillRect/>
          </a:stretch>
        </p:blipFill>
        <p:spPr>
          <a:xfrm>
            <a:off x="609585" y="266693"/>
            <a:ext cx="190495" cy="190495"/>
          </a:xfrm>
          <a:prstGeom prst="rect">
            <a:avLst/>
          </a:prstGeom>
        </p:spPr>
      </p:pic>
      <p:sp>
        <p:nvSpPr>
          <p:cNvPr id="22" name="text 7.21"/>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3" name="text 7.22"/>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4" name="text 7.23"/>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5" name="text 7.24"/>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07 / 28</a:t>
            </a:r>
            <a:endParaRPr lang="en-US" sz="750" dirty="0"/>
          </a:p>
        </p:txBody>
      </p:sp>
      <p:sp>
        <p:nvSpPr>
          <p:cNvPr id="26" name="text 7.25"/>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8F55F5"/>
                </a:solidFill>
                <a:latin typeface="Arial" pitchFamily="34" charset="0"/>
                <a:ea typeface="Arial" pitchFamily="34" charset="-122"/>
                <a:cs typeface="Arial" pitchFamily="34" charset="-120"/>
              </a:rPr>
              <a:t>MINI-GAME 02 · WORKING NAME</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8.1 adj4839" descr="sp2_iceloop.png">    </p:cNvPr>
          <p:cNvPicPr>
            <a:picLocks noChangeAspect="1"/>
          </p:cNvPicPr>
          <p:nvPr/>
        </p:nvPicPr>
        <p:blipFill>
          <a:blip r:embed="rId2"/>
          <a:stretch>
            <a:fillRect/>
          </a:stretch>
        </p:blipFill>
        <p:spPr>
          <a:xfrm>
            <a:off x="609585" y="1803355"/>
            <a:ext cx="6984825" cy="3149521"/>
          </a:xfrm>
          <a:prstGeom prst="roundRect">
            <a:avLst>
              <a:gd name="adj" fmla="val 4839"/>
            </a:avLst>
          </a:prstGeom>
        </p:spPr>
      </p:pic>
      <p:sp>
        <p:nvSpPr>
          <p:cNvPr id="3" name="shape 8.2"/>
          <p:cNvSpPr/>
          <p:nvPr/>
        </p:nvSpPr>
        <p:spPr>
          <a:xfrm>
            <a:off x="7848404" y="1803355"/>
            <a:ext cx="3733707" cy="3149521"/>
          </a:xfrm>
          <a:prstGeom prst="roundRect">
            <a:avLst>
              <a:gd name="adj" fmla="val 483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8.3"/>
          <p:cNvSpPr/>
          <p:nvPr/>
        </p:nvSpPr>
        <p:spPr>
          <a:xfrm>
            <a:off x="609585" y="5283068"/>
            <a:ext cx="3555911" cy="1003275"/>
          </a:xfrm>
          <a:prstGeom prst="roundRect">
            <a:avLst>
              <a:gd name="adj" fmla="val 151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8.4"/>
          <p:cNvSpPr/>
          <p:nvPr/>
        </p:nvSpPr>
        <p:spPr>
          <a:xfrm>
            <a:off x="4317892" y="5283068"/>
            <a:ext cx="3555911" cy="1003275"/>
          </a:xfrm>
          <a:prstGeom prst="roundRect">
            <a:avLst>
              <a:gd name="adj" fmla="val 151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8.5"/>
          <p:cNvSpPr/>
          <p:nvPr/>
        </p:nvSpPr>
        <p:spPr>
          <a:xfrm>
            <a:off x="8026199" y="5283068"/>
            <a:ext cx="3555911" cy="1003275"/>
          </a:xfrm>
          <a:prstGeom prst="roundRect">
            <a:avLst>
              <a:gd name="adj" fmla="val 151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7" name="raster 8.6" descr="diagram">    </p:cNvPr>
          <p:cNvPicPr>
            <a:picLocks noChangeAspect="1"/>
          </p:cNvPicPr>
          <p:nvPr/>
        </p:nvPicPr>
        <p:blipFill>
          <a:blip r:embed="rId3"/>
          <a:stretch>
            <a:fillRect/>
          </a:stretch>
        </p:blipFill>
        <p:spPr>
          <a:xfrm>
            <a:off x="8159293" y="2453833"/>
            <a:ext cx="2800280" cy="2290769"/>
          </a:xfrm>
          <a:prstGeom prst="rect">
            <a:avLst/>
          </a:prstGeom>
        </p:spPr>
      </p:pic>
      <p:sp>
        <p:nvSpPr>
          <p:cNvPr id="8" name="text 8.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Ice Loop</a:t>
            </a:r>
            <a:endParaRPr lang="en-US" sz="3000" dirty="0"/>
          </a:p>
        </p:txBody>
      </p:sp>
      <p:sp>
        <p:nvSpPr>
          <p:cNvPr id="9" name="text 8.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Most checkpoints before the timer runs out wins.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The ice does not help.</a:t>
            </a:r>
            <a:endParaRPr lang="en-US" sz="1350" dirty="0"/>
          </a:p>
        </p:txBody>
      </p:sp>
      <p:sp>
        <p:nvSpPr>
          <p:cNvPr id="10" name="text 8.9"/>
          <p:cNvSpPr txBox="1"/>
          <p:nvPr/>
        </p:nvSpPr>
        <p:spPr>
          <a:xfrm>
            <a:off x="609585" y="5016375"/>
            <a:ext cx="7022924"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Concept render, not gameplay. Ice is the theme of this one mini-game only.</a:t>
            </a:r>
            <a:endParaRPr lang="en-US" sz="850" dirty="0"/>
          </a:p>
        </p:txBody>
      </p:sp>
      <p:sp>
        <p:nvSpPr>
          <p:cNvPr id="11" name="text 8.10"/>
          <p:cNvSpPr txBox="1"/>
          <p:nvPr/>
        </p:nvSpPr>
        <p:spPr>
          <a:xfrm>
            <a:off x="8064298" y="1981150"/>
            <a:ext cx="175072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TRACK DRAFT, TOP-DOWN</a:t>
            </a:r>
            <a:endParaRPr lang="en-US" sz="800" dirty="0"/>
          </a:p>
        </p:txBody>
      </p:sp>
      <p:sp>
        <p:nvSpPr>
          <p:cNvPr id="12" name="text 8.11"/>
          <p:cNvSpPr txBox="1"/>
          <p:nvPr/>
        </p:nvSpPr>
        <p:spPr>
          <a:xfrm>
            <a:off x="8503628" y="3795618"/>
            <a:ext cx="42717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START</a:t>
            </a:r>
            <a:endParaRPr lang="en-US" sz="700" dirty="0"/>
          </a:p>
        </p:txBody>
      </p:sp>
      <p:sp>
        <p:nvSpPr>
          <p:cNvPr id="13" name="text 8.12"/>
          <p:cNvSpPr txBox="1"/>
          <p:nvPr/>
        </p:nvSpPr>
        <p:spPr>
          <a:xfrm>
            <a:off x="9211834" y="2336146"/>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CP1</a:t>
            </a:r>
            <a:endParaRPr lang="en-US" sz="700" dirty="0"/>
          </a:p>
        </p:txBody>
      </p:sp>
      <p:sp>
        <p:nvSpPr>
          <p:cNvPr id="14" name="text 8.13"/>
          <p:cNvSpPr txBox="1"/>
          <p:nvPr/>
        </p:nvSpPr>
        <p:spPr>
          <a:xfrm>
            <a:off x="9876781" y="3260247"/>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CP2</a:t>
            </a:r>
            <a:endParaRPr lang="en-US" sz="700" dirty="0"/>
          </a:p>
        </p:txBody>
      </p:sp>
      <p:sp>
        <p:nvSpPr>
          <p:cNvPr id="15" name="text 8.14"/>
          <p:cNvSpPr txBox="1"/>
          <p:nvPr/>
        </p:nvSpPr>
        <p:spPr>
          <a:xfrm>
            <a:off x="10576256" y="4503724"/>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CP3</a:t>
            </a:r>
            <a:endParaRPr lang="en-US" sz="700" dirty="0"/>
          </a:p>
        </p:txBody>
      </p:sp>
      <p:sp>
        <p:nvSpPr>
          <p:cNvPr id="16" name="text 8.15"/>
          <p:cNvSpPr txBox="1"/>
          <p:nvPr/>
        </p:nvSpPr>
        <p:spPr>
          <a:xfrm>
            <a:off x="7848404" y="5016375"/>
            <a:ext cx="377180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Checkpoint count and length are not set.</a:t>
            </a:r>
            <a:endParaRPr lang="en-US" sz="850" dirty="0"/>
          </a:p>
        </p:txBody>
      </p:sp>
      <p:sp>
        <p:nvSpPr>
          <p:cNvPr id="17" name="text 8.16"/>
          <p:cNvSpPr txBox="1"/>
          <p:nvPr/>
        </p:nvSpPr>
        <p:spPr>
          <a:xfrm>
            <a:off x="800080" y="5422764"/>
            <a:ext cx="108017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LOOPED TRACK</a:t>
            </a:r>
            <a:endParaRPr lang="en-US" sz="800" dirty="0"/>
          </a:p>
        </p:txBody>
      </p:sp>
      <p:sp>
        <p:nvSpPr>
          <p:cNvPr id="18" name="text 8.17"/>
          <p:cNvSpPr txBox="1"/>
          <p:nvPr/>
        </p:nvSpPr>
        <p:spPr>
          <a:xfrm>
            <a:off x="800080" y="5613260"/>
            <a:ext cx="3213020" cy="552436"/>
          </a:xfrm>
          <a:prstGeom prst="rect">
            <a:avLst/>
          </a:prstGeom>
          <a:noFill/>
          <a:ln/>
        </p:spPr>
        <p:txBody>
          <a:bodyPr wrap="square" lIns="0" tIns="0" rIns="0" bIns="0" rtlCol="0" anchor="t"/>
          <a:lstStyle/>
          <a:p>
            <a:pPr algn="l" indent="0" marL="0">
              <a:lnSpc>
                <a:spcPts val="1450"/>
              </a:lnSpc>
              <a:buNone/>
            </a:pPr>
            <a:r>
              <a:rPr lang="en-US" sz="1000" dirty="0">
                <a:solidFill>
                  <a:srgbClr val="3E475E"/>
                </a:solidFill>
                <a:latin typeface="Arial" pitchFamily="34" charset="0"/>
                <a:ea typeface="Arial" pitchFamily="34" charset="-122"/>
                <a:cs typeface="Arial" pitchFamily="34" charset="-120"/>
              </a:rPr>
              <a:t>When the track ends it starts again, and every checkpoint you pass counts +1. The count, not the lap, decides the placement.</a:t>
            </a:r>
            <a:endParaRPr lang="en-US" sz="1000" dirty="0"/>
          </a:p>
        </p:txBody>
      </p:sp>
      <p:sp>
        <p:nvSpPr>
          <p:cNvPr id="19" name="text 8.18"/>
          <p:cNvSpPr txBox="1"/>
          <p:nvPr/>
        </p:nvSpPr>
        <p:spPr>
          <a:xfrm>
            <a:off x="4508387" y="5422764"/>
            <a:ext cx="92167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PUSH TO WIN</a:t>
            </a:r>
            <a:endParaRPr lang="en-US" sz="800" dirty="0"/>
          </a:p>
        </p:txBody>
      </p:sp>
      <p:sp>
        <p:nvSpPr>
          <p:cNvPr id="20" name="text 8.19"/>
          <p:cNvSpPr txBox="1"/>
          <p:nvPr/>
        </p:nvSpPr>
        <p:spPr>
          <a:xfrm>
            <a:off x="4508387" y="5613260"/>
            <a:ext cx="3213020" cy="368291"/>
          </a:xfrm>
          <a:prstGeom prst="rect">
            <a:avLst/>
          </a:prstGeom>
          <a:noFill/>
          <a:ln/>
        </p:spPr>
        <p:txBody>
          <a:bodyPr wrap="square" lIns="0" tIns="0" rIns="0" bIns="0" rtlCol="0" anchor="t"/>
          <a:lstStyle/>
          <a:p>
            <a:pPr algn="l" indent="0" marL="0">
              <a:lnSpc>
                <a:spcPts val="1450"/>
              </a:lnSpc>
              <a:buNone/>
            </a:pPr>
            <a:r>
              <a:rPr lang="en-US" sz="1000" dirty="0">
                <a:solidFill>
                  <a:srgbClr val="3E475E"/>
                </a:solidFill>
                <a:latin typeface="Arial" pitchFamily="34" charset="0"/>
                <a:ea typeface="Arial" pitchFamily="34" charset="-122"/>
                <a:cs typeface="Arial" pitchFamily="34" charset="-120"/>
              </a:rPr>
              <a:t>The ice is slippery. Push rivals off it into the water and they restart from their last checkpoint.</a:t>
            </a:r>
            <a:endParaRPr lang="en-US" sz="1000" dirty="0"/>
          </a:p>
        </p:txBody>
      </p:sp>
      <p:sp>
        <p:nvSpPr>
          <p:cNvPr id="21" name="text 8.20"/>
          <p:cNvSpPr txBox="1"/>
          <p:nvPr/>
        </p:nvSpPr>
        <p:spPr>
          <a:xfrm>
            <a:off x="8216695" y="5422764"/>
            <a:ext cx="1384109"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STEER WITH RECOIL</a:t>
            </a:r>
            <a:endParaRPr lang="en-US" sz="800" dirty="0"/>
          </a:p>
        </p:txBody>
      </p:sp>
      <p:sp>
        <p:nvSpPr>
          <p:cNvPr id="22" name="text 8.21"/>
          <p:cNvSpPr txBox="1"/>
          <p:nvPr/>
        </p:nvSpPr>
        <p:spPr>
          <a:xfrm>
            <a:off x="8216695" y="5613260"/>
            <a:ext cx="3213020" cy="368291"/>
          </a:xfrm>
          <a:prstGeom prst="rect">
            <a:avLst/>
          </a:prstGeom>
          <a:noFill/>
          <a:ln/>
        </p:spPr>
        <p:txBody>
          <a:bodyPr wrap="square" lIns="0" tIns="0" rIns="0" bIns="0" rtlCol="0" anchor="t"/>
          <a:lstStyle/>
          <a:p>
            <a:pPr algn="l" indent="0" marL="0">
              <a:lnSpc>
                <a:spcPts val="1450"/>
              </a:lnSpc>
              <a:buNone/>
            </a:pPr>
            <a:r>
              <a:rPr lang="en-US" sz="1000" dirty="0">
                <a:solidFill>
                  <a:srgbClr val="3E475E"/>
                </a:solidFill>
                <a:latin typeface="Arial" pitchFamily="34" charset="0"/>
                <a:ea typeface="Arial" pitchFamily="34" charset="-122"/>
                <a:cs typeface="Arial" pitchFamily="34" charset="-120"/>
              </a:rPr>
              <a:t>Firing forward while sliding pushes you back, so a shot can also correct your line.</a:t>
            </a:r>
            <a:endParaRPr lang="en-US" sz="1000" dirty="0"/>
          </a:p>
        </p:txBody>
      </p:sp>
      <p:pic>
        <p:nvPicPr>
          <p:cNvPr id="23" name="raster 8.22" descr="diagram">    </p:cNvPr>
          <p:cNvPicPr>
            <a:picLocks noChangeAspect="1"/>
          </p:cNvPicPr>
          <p:nvPr/>
        </p:nvPicPr>
        <p:blipFill>
          <a:blip r:embed="rId4"/>
          <a:stretch>
            <a:fillRect/>
          </a:stretch>
        </p:blipFill>
        <p:spPr>
          <a:xfrm>
            <a:off x="609585" y="266693"/>
            <a:ext cx="190495" cy="190495"/>
          </a:xfrm>
          <a:prstGeom prst="rect">
            <a:avLst/>
          </a:prstGeom>
        </p:spPr>
      </p:pic>
      <p:sp>
        <p:nvSpPr>
          <p:cNvPr id="24" name="text 8.2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5" name="text 8.2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6" name="text 8.2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7" name="text 8.2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08 / 28</a:t>
            </a:r>
            <a:endParaRPr lang="en-US" sz="750" dirty="0"/>
          </a:p>
        </p:txBody>
      </p:sp>
      <p:sp>
        <p:nvSpPr>
          <p:cNvPr id="28" name="text 8.27"/>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MINI-GAME 03 · WORKING NAME</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9.1 adj5811" descr="sp2_holegrab.png">    </p:cNvPr>
          <p:cNvPicPr>
            <a:picLocks noChangeAspect="1"/>
          </p:cNvPicPr>
          <p:nvPr/>
        </p:nvPicPr>
        <p:blipFill>
          <a:blip r:embed="rId2"/>
          <a:stretch>
            <a:fillRect/>
          </a:stretch>
        </p:blipFill>
        <p:spPr>
          <a:xfrm>
            <a:off x="609585" y="1803355"/>
            <a:ext cx="6984825" cy="2622484"/>
          </a:xfrm>
          <a:prstGeom prst="roundRect">
            <a:avLst>
              <a:gd name="adj" fmla="val 5811"/>
            </a:avLst>
          </a:prstGeom>
        </p:spPr>
      </p:pic>
      <p:sp>
        <p:nvSpPr>
          <p:cNvPr id="3" name="shape 9.2"/>
          <p:cNvSpPr/>
          <p:nvPr/>
        </p:nvSpPr>
        <p:spPr>
          <a:xfrm>
            <a:off x="609585" y="4914777"/>
            <a:ext cx="6984825" cy="1371566"/>
          </a:xfrm>
          <a:prstGeom prst="roundRect">
            <a:avLst>
              <a:gd name="adj" fmla="val 1111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9.3"/>
          <p:cNvSpPr/>
          <p:nvPr/>
        </p:nvSpPr>
        <p:spPr>
          <a:xfrm>
            <a:off x="863578" y="5283068"/>
            <a:ext cx="2070048" cy="634984"/>
          </a:xfrm>
          <a:prstGeom prst="roundRect">
            <a:avLst>
              <a:gd name="adj" fmla="val 24000"/>
            </a:avLst>
          </a:prstGeom>
          <a:solidFill>
            <a:srgbClr val="FFFFFF"/>
          </a:solidFill>
          <a:ln w="12700">
            <a:solidFill>
              <a:srgbClr val="E4E9DD"/>
            </a:solidFill>
            <a:prstDash val="solid"/>
          </a:ln>
        </p:spPr>
      </p:sp>
      <p:sp>
        <p:nvSpPr>
          <p:cNvPr id="5" name="shape 9.4"/>
          <p:cNvSpPr/>
          <p:nvPr/>
        </p:nvSpPr>
        <p:spPr>
          <a:xfrm>
            <a:off x="3060623" y="5283068"/>
            <a:ext cx="2070048" cy="634984"/>
          </a:xfrm>
          <a:prstGeom prst="roundRect">
            <a:avLst>
              <a:gd name="adj" fmla="val 24000"/>
            </a:avLst>
          </a:prstGeom>
          <a:solidFill>
            <a:srgbClr val="FFFFFF"/>
          </a:solidFill>
          <a:ln w="12700">
            <a:solidFill>
              <a:srgbClr val="E4E9DD"/>
            </a:solidFill>
            <a:prstDash val="solid"/>
          </a:ln>
        </p:spPr>
      </p:sp>
      <p:sp>
        <p:nvSpPr>
          <p:cNvPr id="6" name="shape 9.5"/>
          <p:cNvSpPr/>
          <p:nvPr/>
        </p:nvSpPr>
        <p:spPr>
          <a:xfrm>
            <a:off x="5257669" y="5283068"/>
            <a:ext cx="2070048" cy="634984"/>
          </a:xfrm>
          <a:prstGeom prst="roundRect">
            <a:avLst>
              <a:gd name="adj" fmla="val 24000"/>
            </a:avLst>
          </a:prstGeom>
          <a:solidFill>
            <a:srgbClr val="E7F5E1"/>
          </a:solidFill>
          <a:ln w="12700">
            <a:solidFill>
              <a:srgbClr val="D2EBC7"/>
            </a:solidFill>
            <a:prstDash val="solid"/>
          </a:ln>
        </p:spPr>
      </p:sp>
      <p:sp>
        <p:nvSpPr>
          <p:cNvPr id="7" name="shape 9.6"/>
          <p:cNvSpPr/>
          <p:nvPr/>
        </p:nvSpPr>
        <p:spPr>
          <a:xfrm>
            <a:off x="7848404" y="1803355"/>
            <a:ext cx="3733707" cy="2177996"/>
          </a:xfrm>
          <a:prstGeom prst="roundRect">
            <a:avLst>
              <a:gd name="adj" fmla="val 699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shape 9.7"/>
          <p:cNvSpPr/>
          <p:nvPr/>
        </p:nvSpPr>
        <p:spPr>
          <a:xfrm>
            <a:off x="7848404" y="4108347"/>
            <a:ext cx="3733707" cy="2177996"/>
          </a:xfrm>
          <a:prstGeom prst="roundRect">
            <a:avLst>
              <a:gd name="adj" fmla="val 699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9" name="text 9.8"/>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Hole Grab</a:t>
            </a:r>
            <a:endParaRPr lang="en-US" sz="3000" dirty="0"/>
          </a:p>
        </p:txBody>
      </p:sp>
      <p:sp>
        <p:nvSpPr>
          <p:cNvPr id="10" name="text 9.9"/>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Musical chairs with holes. </a:t>
            </a:r>
            <a:pPr algn="l" indent="0" marL="0">
              <a:lnSpc>
                <a:spcPts val="1820"/>
              </a:lnSpc>
              <a:buNone/>
            </a:pPr>
            <a:r>
              <a:rPr lang="en-US" sz="1350" b="1" dirty="0">
                <a:solidFill>
                  <a:srgbClr val="43B832"/>
                </a:solidFill>
                <a:latin typeface="Arial" pitchFamily="34" charset="0"/>
                <a:ea typeface="Arial" pitchFamily="34" charset="-122"/>
                <a:cs typeface="Arial" pitchFamily="34" charset="-120"/>
              </a:rPr>
              <a:t>No hole, and the bulldozer gets you.</a:t>
            </a:r>
            <a:endParaRPr lang="en-US" sz="1350" dirty="0"/>
          </a:p>
        </p:txBody>
      </p:sp>
      <p:sp>
        <p:nvSpPr>
          <p:cNvPr id="11" name="text 9.10"/>
          <p:cNvSpPr txBox="1"/>
          <p:nvPr/>
        </p:nvSpPr>
        <p:spPr>
          <a:xfrm>
            <a:off x="609585" y="4495688"/>
            <a:ext cx="7022924" cy="302213"/>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3D concept render, not gameplay. Each hole has the player’s shape and a fixed barrel slot. Orange is already in a hole; the bulldozer moves in from the right.</a:t>
            </a:r>
            <a:endParaRPr lang="en-US" sz="850" dirty="0"/>
          </a:p>
        </p:txBody>
      </p:sp>
      <p:sp>
        <p:nvSpPr>
          <p:cNvPr id="12" name="text 9.11"/>
          <p:cNvSpPr txBox="1"/>
          <p:nvPr/>
        </p:nvSpPr>
        <p:spPr>
          <a:xfrm>
            <a:off x="863578" y="5054474"/>
            <a:ext cx="399851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43B832"/>
                </a:solidFill>
                <a:latin typeface="Arial" pitchFamily="34" charset="0"/>
                <a:ea typeface="Arial" pitchFamily="34" charset="-122"/>
                <a:cs typeface="Arial" pitchFamily="34" charset="-120"/>
              </a:rPr>
              <a:t>ROUNDS INSIDE THE MINI-GAME (EXAMPLE WITH 4 PLAYERS)</a:t>
            </a:r>
            <a:endParaRPr lang="en-US" sz="800" dirty="0"/>
          </a:p>
        </p:txBody>
      </p:sp>
      <p:sp>
        <p:nvSpPr>
          <p:cNvPr id="13" name="text 9.12"/>
          <p:cNvSpPr txBox="1"/>
          <p:nvPr/>
        </p:nvSpPr>
        <p:spPr>
          <a:xfrm>
            <a:off x="990575" y="5371966"/>
            <a:ext cx="601965"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Round 1</a:t>
            </a:r>
            <a:endParaRPr lang="en-US" sz="1000" dirty="0"/>
          </a:p>
        </p:txBody>
      </p:sp>
      <p:sp>
        <p:nvSpPr>
          <p:cNvPr id="14" name="text 9.13"/>
          <p:cNvSpPr txBox="1"/>
          <p:nvPr/>
        </p:nvSpPr>
        <p:spPr>
          <a:xfrm>
            <a:off x="990575" y="5562461"/>
            <a:ext cx="1879553" cy="154301"/>
          </a:xfrm>
          <a:prstGeom prst="rect">
            <a:avLst/>
          </a:prstGeom>
          <a:noFill/>
          <a:ln/>
        </p:spPr>
        <p:txBody>
          <a:bodyPr wrap="square" lIns="0" tIns="0" rIns="0" bIns="0" rtlCol="0" anchor="t"/>
          <a:lstStyle/>
          <a:p>
            <a:pPr algn="l" indent="0" marL="0">
              <a:lnSpc>
                <a:spcPts val="1220"/>
              </a:lnSpc>
              <a:buNone/>
            </a:pPr>
            <a:r>
              <a:rPr lang="en-US" sz="900" dirty="0">
                <a:solidFill>
                  <a:srgbClr val="3E475E"/>
                </a:solidFill>
                <a:latin typeface="Arial" pitchFamily="34" charset="0"/>
                <a:ea typeface="Arial" pitchFamily="34" charset="-122"/>
                <a:cs typeface="Arial" pitchFamily="34" charset="-120"/>
              </a:rPr>
              <a:t>4 players, 3 holes. One is crushed.</a:t>
            </a:r>
            <a:endParaRPr lang="en-US" sz="900" dirty="0"/>
          </a:p>
        </p:txBody>
      </p:sp>
      <p:sp>
        <p:nvSpPr>
          <p:cNvPr id="15" name="text 9.14"/>
          <p:cNvSpPr txBox="1"/>
          <p:nvPr/>
        </p:nvSpPr>
        <p:spPr>
          <a:xfrm>
            <a:off x="3187620" y="5371966"/>
            <a:ext cx="601965"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Round 2</a:t>
            </a:r>
            <a:endParaRPr lang="en-US" sz="1000" dirty="0"/>
          </a:p>
        </p:txBody>
      </p:sp>
      <p:sp>
        <p:nvSpPr>
          <p:cNvPr id="16" name="text 9.15"/>
          <p:cNvSpPr txBox="1"/>
          <p:nvPr/>
        </p:nvSpPr>
        <p:spPr>
          <a:xfrm>
            <a:off x="3187620" y="5562461"/>
            <a:ext cx="1879553" cy="154301"/>
          </a:xfrm>
          <a:prstGeom prst="rect">
            <a:avLst/>
          </a:prstGeom>
          <a:noFill/>
          <a:ln/>
        </p:spPr>
        <p:txBody>
          <a:bodyPr wrap="square" lIns="0" tIns="0" rIns="0" bIns="0" rtlCol="0" anchor="t"/>
          <a:lstStyle/>
          <a:p>
            <a:pPr algn="l" indent="0" marL="0">
              <a:lnSpc>
                <a:spcPts val="1220"/>
              </a:lnSpc>
              <a:buNone/>
            </a:pPr>
            <a:r>
              <a:rPr lang="en-US" sz="900" dirty="0">
                <a:solidFill>
                  <a:srgbClr val="3E475E"/>
                </a:solidFill>
                <a:latin typeface="Arial" pitchFamily="34" charset="0"/>
                <a:ea typeface="Arial" pitchFamily="34" charset="-122"/>
                <a:cs typeface="Arial" pitchFamily="34" charset="-120"/>
              </a:rPr>
              <a:t>3 players, 2 holes. One is crushed.</a:t>
            </a:r>
            <a:endParaRPr lang="en-US" sz="900" dirty="0"/>
          </a:p>
        </p:txBody>
      </p:sp>
      <p:sp>
        <p:nvSpPr>
          <p:cNvPr id="17" name="text 9.16"/>
          <p:cNvSpPr txBox="1"/>
          <p:nvPr/>
        </p:nvSpPr>
        <p:spPr>
          <a:xfrm>
            <a:off x="5384665" y="5371966"/>
            <a:ext cx="601965"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Round 3</a:t>
            </a:r>
            <a:endParaRPr lang="en-US" sz="1000" dirty="0"/>
          </a:p>
        </p:txBody>
      </p:sp>
      <p:sp>
        <p:nvSpPr>
          <p:cNvPr id="18" name="text 9.17"/>
          <p:cNvSpPr txBox="1"/>
          <p:nvPr/>
        </p:nvSpPr>
        <p:spPr>
          <a:xfrm>
            <a:off x="5384665" y="5562461"/>
            <a:ext cx="1879553" cy="308563"/>
          </a:xfrm>
          <a:prstGeom prst="rect">
            <a:avLst/>
          </a:prstGeom>
          <a:noFill/>
          <a:ln/>
        </p:spPr>
        <p:txBody>
          <a:bodyPr wrap="square" lIns="0" tIns="0" rIns="0" bIns="0" rtlCol="0" anchor="t"/>
          <a:lstStyle/>
          <a:p>
            <a:pPr algn="l" indent="0" marL="0">
              <a:lnSpc>
                <a:spcPts val="1220"/>
              </a:lnSpc>
              <a:buNone/>
            </a:pPr>
            <a:r>
              <a:rPr lang="en-US" sz="900" dirty="0">
                <a:solidFill>
                  <a:srgbClr val="3E475E"/>
                </a:solidFill>
                <a:latin typeface="Arial" pitchFamily="34" charset="0"/>
                <a:ea typeface="Arial" pitchFamily="34" charset="-122"/>
                <a:cs typeface="Arial" pitchFamily="34" charset="-120"/>
              </a:rPr>
              <a:t>2 players, 1 hole. The one inside wins.</a:t>
            </a:r>
            <a:endParaRPr lang="en-US" sz="900" dirty="0"/>
          </a:p>
        </p:txBody>
      </p:sp>
      <p:sp>
        <p:nvSpPr>
          <p:cNvPr id="19" name="text 9.18"/>
          <p:cNvSpPr txBox="1"/>
          <p:nvPr/>
        </p:nvSpPr>
        <p:spPr>
          <a:xfrm>
            <a:off x="863578" y="6019650"/>
            <a:ext cx="6514937"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With more players there are more holes; each round always has one hole fewer than players.</a:t>
            </a:r>
            <a:endParaRPr lang="en-US" sz="850" dirty="0"/>
          </a:p>
        </p:txBody>
      </p:sp>
      <p:sp>
        <p:nvSpPr>
          <p:cNvPr id="20" name="text 9.19"/>
          <p:cNvSpPr txBox="1"/>
          <p:nvPr/>
        </p:nvSpPr>
        <p:spPr>
          <a:xfrm>
            <a:off x="8064298" y="1955751"/>
            <a:ext cx="162158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43B832"/>
                </a:solidFill>
                <a:latin typeface="Arial" pitchFamily="34" charset="0"/>
                <a:ea typeface="Arial" pitchFamily="34" charset="-122"/>
                <a:cs typeface="Arial" pitchFamily="34" charset="-120"/>
              </a:rPr>
              <a:t>PLAYER-SHAPED HOLES</a:t>
            </a:r>
            <a:endParaRPr lang="en-US" sz="800" dirty="0"/>
          </a:p>
        </p:txBody>
      </p:sp>
      <p:sp>
        <p:nvSpPr>
          <p:cNvPr id="21" name="text 9.20"/>
          <p:cNvSpPr txBox="1"/>
          <p:nvPr/>
        </p:nvSpPr>
        <p:spPr>
          <a:xfrm>
            <a:off x="8064298" y="2158946"/>
            <a:ext cx="3340016" cy="690545"/>
          </a:xfrm>
          <a:prstGeom prst="rect">
            <a:avLst/>
          </a:prstGeom>
          <a:noFill/>
          <a:ln/>
        </p:spPr>
        <p:txBody>
          <a:bodyPr wrap="square" lIns="0" tIns="0" rIns="0" bIns="0" rtlCol="0" anchor="t"/>
          <a:lstStyle/>
          <a:p>
            <a:pPr algn="l" indent="0" marL="0">
              <a:lnSpc>
                <a:spcPts val="1810"/>
              </a:lnSpc>
              <a:buNone/>
            </a:pPr>
            <a:r>
              <a:rPr lang="en-US" sz="1250" dirty="0">
                <a:solidFill>
                  <a:srgbClr val="3E475E"/>
                </a:solidFill>
                <a:latin typeface="Arial" pitchFamily="34" charset="0"/>
                <a:ea typeface="Arial" pitchFamily="34" charset="-122"/>
                <a:cs typeface="Arial" pitchFamily="34" charset="-120"/>
              </a:rPr>
              <a:t>Holes open in the ground in the player’s shape, with the barrel’s angle marked. You have to line up to drop in.</a:t>
            </a:r>
            <a:endParaRPr lang="en-US" sz="1250" dirty="0"/>
          </a:p>
        </p:txBody>
      </p:sp>
      <p:sp>
        <p:nvSpPr>
          <p:cNvPr id="22" name="text 9.21"/>
          <p:cNvSpPr txBox="1"/>
          <p:nvPr/>
        </p:nvSpPr>
        <p:spPr>
          <a:xfrm>
            <a:off x="8064298" y="4260743"/>
            <a:ext cx="112108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43B832"/>
                </a:solidFill>
                <a:latin typeface="Arial" pitchFamily="34" charset="0"/>
                <a:ea typeface="Arial" pitchFamily="34" charset="-122"/>
                <a:cs typeface="Arial" pitchFamily="34" charset="-120"/>
              </a:rPr>
              <a:t>SHOOT TO PUSH</a:t>
            </a:r>
            <a:endParaRPr lang="en-US" sz="800" dirty="0"/>
          </a:p>
        </p:txBody>
      </p:sp>
      <p:sp>
        <p:nvSpPr>
          <p:cNvPr id="23" name="text 9.22"/>
          <p:cNvSpPr txBox="1"/>
          <p:nvPr/>
        </p:nvSpPr>
        <p:spPr>
          <a:xfrm>
            <a:off x="8064298" y="4463938"/>
            <a:ext cx="3340016" cy="690545"/>
          </a:xfrm>
          <a:prstGeom prst="rect">
            <a:avLst/>
          </a:prstGeom>
          <a:noFill/>
          <a:ln/>
        </p:spPr>
        <p:txBody>
          <a:bodyPr wrap="square" lIns="0" tIns="0" rIns="0" bIns="0" rtlCol="0" anchor="t"/>
          <a:lstStyle/>
          <a:p>
            <a:pPr algn="l" indent="0" marL="0">
              <a:lnSpc>
                <a:spcPts val="1810"/>
              </a:lnSpc>
              <a:buNone/>
            </a:pPr>
            <a:r>
              <a:rPr lang="en-US" sz="1250" dirty="0">
                <a:solidFill>
                  <a:srgbClr val="3E475E"/>
                </a:solidFill>
                <a:latin typeface="Arial" pitchFamily="34" charset="0"/>
                <a:ea typeface="Arial" pitchFamily="34" charset="-122"/>
                <a:cs typeface="Arial" pitchFamily="34" charset="-120"/>
              </a:rPr>
              <a:t>Shots push other players away from the holes. A player already inside a hole cannot be pushed out.</a:t>
            </a:r>
            <a:endParaRPr lang="en-US" sz="1250" dirty="0"/>
          </a:p>
        </p:txBody>
      </p:sp>
      <p:pic>
        <p:nvPicPr>
          <p:cNvPr id="24" name="raster 9.23" descr="diagram">    </p:cNvPr>
          <p:cNvPicPr>
            <a:picLocks noChangeAspect="1"/>
          </p:cNvPicPr>
          <p:nvPr/>
        </p:nvPicPr>
        <p:blipFill>
          <a:blip r:embed="rId3"/>
          <a:stretch>
            <a:fillRect/>
          </a:stretch>
        </p:blipFill>
        <p:spPr>
          <a:xfrm>
            <a:off x="609585" y="266693"/>
            <a:ext cx="190495" cy="190495"/>
          </a:xfrm>
          <a:prstGeom prst="rect">
            <a:avLst/>
          </a:prstGeom>
        </p:spPr>
      </p:pic>
      <p:sp>
        <p:nvSpPr>
          <p:cNvPr id="25" name="text 9.24"/>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6" name="text 9.25"/>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7" name="text 9.26"/>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8" name="text 9.27"/>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09 / 28</a:t>
            </a:r>
            <a:endParaRPr lang="en-US" sz="750" dirty="0"/>
          </a:p>
        </p:txBody>
      </p:sp>
      <p:sp>
        <p:nvSpPr>
          <p:cNvPr id="29" name="text 9.28"/>
          <p:cNvSpPr txBox="1"/>
          <p:nvPr/>
        </p:nvSpPr>
        <p:spPr>
          <a:xfrm>
            <a:off x="609585" y="698483"/>
            <a:ext cx="2314120"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MINI-GAME 04 · WORKING NAME</a:t>
            </a:r>
            <a:endParaRPr lang="en-US" sz="8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0.1"/>
          <p:cNvSpPr/>
          <p:nvPr/>
        </p:nvSpPr>
        <p:spPr>
          <a:xfrm>
            <a:off x="609585" y="2031949"/>
            <a:ext cx="2666933" cy="3289218"/>
          </a:xfrm>
          <a:prstGeom prst="roundRect">
            <a:avLst>
              <a:gd name="adj" fmla="val 571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0.2"/>
          <p:cNvSpPr/>
          <p:nvPr/>
        </p:nvSpPr>
        <p:spPr>
          <a:xfrm>
            <a:off x="3403515" y="2031949"/>
            <a:ext cx="2666933" cy="3289218"/>
          </a:xfrm>
          <a:prstGeom prst="roundRect">
            <a:avLst>
              <a:gd name="adj" fmla="val 571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0.3"/>
          <p:cNvSpPr/>
          <p:nvPr/>
        </p:nvSpPr>
        <p:spPr>
          <a:xfrm>
            <a:off x="609585" y="5448164"/>
            <a:ext cx="5460863" cy="838179"/>
          </a:xfrm>
          <a:prstGeom prst="roundRect">
            <a:avLst>
              <a:gd name="adj" fmla="val 18182"/>
            </a:avLst>
          </a:prstGeom>
          <a:solidFill>
            <a:srgbClr val="FFF6DA"/>
          </a:solidFill>
          <a:ln w="12700">
            <a:solidFill>
              <a:srgbClr val="F6E3A6"/>
            </a:solidFill>
            <a:prstDash val="solid"/>
          </a:ln>
          <a:effectLst>
            <a:outerShdw sx="100000" sy="100000" kx="0" ky="0" algn="bl" rotWithShape="0" blurRad="203200" dist="76200" dir="5400000">
              <a:srgbClr val="1E468C">
                <a:alpha val="16000"/>
              </a:srgbClr>
            </a:outerShdw>
          </a:effectLst>
        </p:spPr>
      </p:sp>
      <p:sp>
        <p:nvSpPr>
          <p:cNvPr id="5" name="shape 10.4"/>
          <p:cNvSpPr/>
          <p:nvPr/>
        </p:nvSpPr>
        <p:spPr>
          <a:xfrm>
            <a:off x="6324442" y="2260543"/>
            <a:ext cx="5257669" cy="2705032"/>
          </a:xfrm>
          <a:prstGeom prst="roundRect">
            <a:avLst>
              <a:gd name="adj" fmla="val 563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10.5"/>
          <p:cNvSpPr/>
          <p:nvPr/>
        </p:nvSpPr>
        <p:spPr>
          <a:xfrm>
            <a:off x="6324442" y="5092573"/>
            <a:ext cx="5257669" cy="1193770"/>
          </a:xfrm>
          <a:prstGeom prst="roundRect">
            <a:avLst>
              <a:gd name="adj" fmla="val 12766"/>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7" name="img 10.6 adj11034" descr="sp2_fx_damage.png">    </p:cNvPr>
          <p:cNvPicPr>
            <a:picLocks noChangeAspect="1"/>
          </p:cNvPicPr>
          <p:nvPr/>
        </p:nvPicPr>
        <p:blipFill>
          <a:blip r:embed="rId2"/>
          <a:stretch>
            <a:fillRect/>
          </a:stretch>
        </p:blipFill>
        <p:spPr>
          <a:xfrm>
            <a:off x="736582" y="2158946"/>
            <a:ext cx="2412940" cy="920727"/>
          </a:xfrm>
          <a:prstGeom prst="roundRect">
            <a:avLst>
              <a:gd name="adj" fmla="val 11034"/>
            </a:avLst>
          </a:prstGeom>
        </p:spPr>
      </p:pic>
      <p:pic>
        <p:nvPicPr>
          <p:cNvPr id="8" name="img 10.7 adj6926" descr="sp2_types.png">    </p:cNvPr>
          <p:cNvPicPr>
            <a:picLocks noChangeAspect="1"/>
          </p:cNvPicPr>
          <p:nvPr/>
        </p:nvPicPr>
        <p:blipFill>
          <a:blip r:embed="rId3"/>
          <a:stretch>
            <a:fillRect/>
          </a:stretch>
        </p:blipFill>
        <p:spPr>
          <a:xfrm>
            <a:off x="6540336" y="3238419"/>
            <a:ext cx="2095448" cy="1466813"/>
          </a:xfrm>
          <a:prstGeom prst="roundRect">
            <a:avLst>
              <a:gd name="adj" fmla="val 6926"/>
            </a:avLst>
          </a:prstGeom>
        </p:spPr>
      </p:pic>
      <p:sp>
        <p:nvSpPr>
          <p:cNvPr id="9" name="shape 10.8"/>
          <p:cNvSpPr/>
          <p:nvPr/>
        </p:nvSpPr>
        <p:spPr>
          <a:xfrm>
            <a:off x="8788180" y="3263818"/>
            <a:ext cx="2641534" cy="368291"/>
          </a:xfrm>
          <a:prstGeom prst="roundRect">
            <a:avLst>
              <a:gd name="adj" fmla="val 24138"/>
            </a:avLst>
          </a:prstGeom>
          <a:solidFill>
            <a:srgbClr val="FFFFFF"/>
          </a:solidFill>
          <a:ln w="12700">
            <a:solidFill>
              <a:srgbClr val="E4E9DD"/>
            </a:solidFill>
            <a:prstDash val="solid"/>
          </a:ln>
        </p:spPr>
      </p:sp>
      <p:sp>
        <p:nvSpPr>
          <p:cNvPr id="10" name="shape 10.9"/>
          <p:cNvSpPr/>
          <p:nvPr/>
        </p:nvSpPr>
        <p:spPr>
          <a:xfrm>
            <a:off x="8788180" y="3746406"/>
            <a:ext cx="2641534" cy="368291"/>
          </a:xfrm>
          <a:prstGeom prst="roundRect">
            <a:avLst>
              <a:gd name="adj" fmla="val 24138"/>
            </a:avLst>
          </a:prstGeom>
          <a:solidFill>
            <a:srgbClr val="FFFFFF"/>
          </a:solidFill>
          <a:ln w="12700">
            <a:solidFill>
              <a:srgbClr val="E4E9DD"/>
            </a:solidFill>
            <a:prstDash val="solid"/>
          </a:ln>
        </p:spPr>
      </p:sp>
      <p:sp>
        <p:nvSpPr>
          <p:cNvPr id="11" name="shape 10.10"/>
          <p:cNvSpPr/>
          <p:nvPr/>
        </p:nvSpPr>
        <p:spPr>
          <a:xfrm>
            <a:off x="8788180" y="4228994"/>
            <a:ext cx="2641534" cy="368291"/>
          </a:xfrm>
          <a:prstGeom prst="roundRect">
            <a:avLst>
              <a:gd name="adj" fmla="val 24138"/>
            </a:avLst>
          </a:prstGeom>
          <a:solidFill>
            <a:srgbClr val="FFFFFF"/>
          </a:solidFill>
          <a:ln w="12700">
            <a:solidFill>
              <a:srgbClr val="E4E9DD"/>
            </a:solidFill>
            <a:prstDash val="solid"/>
          </a:ln>
        </p:spPr>
      </p:sp>
      <p:sp>
        <p:nvSpPr>
          <p:cNvPr id="12" name="text 10.1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More mini-games &amp; concept ideas</a:t>
            </a:r>
            <a:endParaRPr lang="en-US" sz="3000" dirty="0"/>
          </a:p>
        </p:txBody>
      </p:sp>
      <p:sp>
        <p:nvSpPr>
          <p:cNvPr id="13" name="text 10.12"/>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Same cube, same shot, new maps and rules. </a:t>
            </a:r>
            <a:pPr algn="l" indent="0" marL="0">
              <a:lnSpc>
                <a:spcPts val="1820"/>
              </a:lnSpc>
              <a:buNone/>
            </a:pPr>
            <a:r>
              <a:rPr lang="en-US" sz="1350" b="1" dirty="0">
                <a:solidFill>
                  <a:srgbClr val="8F55F5"/>
                </a:solidFill>
                <a:latin typeface="Arial" pitchFamily="34" charset="0"/>
                <a:ea typeface="Arial" pitchFamily="34" charset="-122"/>
                <a:cs typeface="Arial" pitchFamily="34" charset="-120"/>
              </a:rPr>
              <a:t>The playlist is built to grow.</a:t>
            </a:r>
            <a:endParaRPr lang="en-US" sz="1350" dirty="0"/>
          </a:p>
        </p:txBody>
      </p:sp>
      <p:sp>
        <p:nvSpPr>
          <p:cNvPr id="14" name="text 10.13"/>
          <p:cNvSpPr txBox="1"/>
          <p:nvPr/>
        </p:nvSpPr>
        <p:spPr>
          <a:xfrm>
            <a:off x="609585" y="1816055"/>
            <a:ext cx="1268528"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MORE MINI-GAMES</a:t>
            </a:r>
            <a:endParaRPr lang="en-US" sz="800" dirty="0"/>
          </a:p>
        </p:txBody>
      </p:sp>
      <p:sp>
        <p:nvSpPr>
          <p:cNvPr id="15" name="shape 10.14"/>
          <p:cNvSpPr/>
          <p:nvPr/>
        </p:nvSpPr>
        <p:spPr>
          <a:xfrm>
            <a:off x="838179" y="2260543"/>
            <a:ext cx="761981" cy="190495"/>
          </a:xfrm>
          <a:prstGeom prst="roundRect">
            <a:avLst>
              <a:gd name="adj" fmla="val 50000"/>
            </a:avLst>
          </a:prstGeom>
          <a:solidFill>
            <a:srgbClr val="FFFFFF"/>
          </a:solidFill>
          <a:ln/>
        </p:spPr>
      </p:sp>
      <p:sp>
        <p:nvSpPr>
          <p:cNvPr id="16" name="text 10.15"/>
          <p:cNvSpPr txBox="1"/>
          <p:nvPr/>
        </p:nvSpPr>
        <p:spPr>
          <a:xfrm>
            <a:off x="838179" y="2260543"/>
            <a:ext cx="761981" cy="1904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1B2340"/>
                </a:solidFill>
                <a:latin typeface="Arial" pitchFamily="34" charset="0"/>
                <a:ea typeface="Arial" pitchFamily="34" charset="-122"/>
                <a:cs typeface="Arial" pitchFamily="34" charset="-120"/>
              </a:rPr>
              <a:t>DAMAGE</a:t>
            </a:r>
            <a:endParaRPr lang="en-US" sz="650" dirty="0"/>
          </a:p>
        </p:txBody>
      </p:sp>
      <p:sp>
        <p:nvSpPr>
          <p:cNvPr id="17" name="text 10.16"/>
          <p:cNvSpPr txBox="1"/>
          <p:nvPr/>
        </p:nvSpPr>
        <p:spPr>
          <a:xfrm>
            <a:off x="800080" y="3225719"/>
            <a:ext cx="641403"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Battle</a:t>
            </a:r>
            <a:endParaRPr lang="en-US" sz="1500" dirty="0"/>
          </a:p>
        </p:txBody>
      </p:sp>
      <p:sp>
        <p:nvSpPr>
          <p:cNvPr id="18" name="text 10.17"/>
          <p:cNvSpPr txBox="1"/>
          <p:nvPr/>
        </p:nvSpPr>
        <p:spPr>
          <a:xfrm>
            <a:off x="800080" y="3505112"/>
            <a:ext cx="2336742" cy="1159640"/>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straight shoot-out between all players. Here the shot does damage: hits lower health and the last cube standing wins. A harder setting can raise the damage or remove power-ups.</a:t>
            </a:r>
            <a:endParaRPr lang="en-US" sz="1050" dirty="0"/>
          </a:p>
        </p:txBody>
      </p:sp>
      <p:sp>
        <p:nvSpPr>
          <p:cNvPr id="19" name="shape 10.18"/>
          <p:cNvSpPr/>
          <p:nvPr/>
        </p:nvSpPr>
        <p:spPr>
          <a:xfrm>
            <a:off x="3530512" y="2158946"/>
            <a:ext cx="2412940" cy="920727"/>
          </a:xfrm>
          <a:prstGeom prst="roundRect">
            <a:avLst>
              <a:gd name="adj" fmla="val 11034"/>
            </a:avLst>
          </a:prstGeom>
          <a:solidFill>
            <a:srgbClr val="F1E9FF"/>
          </a:solidFill>
          <a:ln/>
        </p:spPr>
      </p:sp>
      <p:pic>
        <p:nvPicPr>
          <p:cNvPr id="20" name="raster 10.19" descr="diagram">    </p:cNvPr>
          <p:cNvPicPr>
            <a:picLocks noChangeAspect="1"/>
          </p:cNvPicPr>
          <p:nvPr/>
        </p:nvPicPr>
        <p:blipFill>
          <a:blip r:embed="rId4"/>
          <a:stretch>
            <a:fillRect/>
          </a:stretch>
        </p:blipFill>
        <p:spPr>
          <a:xfrm>
            <a:off x="3708307" y="2400240"/>
            <a:ext cx="379701" cy="292093"/>
          </a:xfrm>
          <a:prstGeom prst="rect">
            <a:avLst/>
          </a:prstGeom>
        </p:spPr>
      </p:pic>
      <p:pic>
        <p:nvPicPr>
          <p:cNvPr id="21" name="raster 10.20" descr="diagram">    </p:cNvPr>
          <p:cNvPicPr>
            <a:picLocks noChangeAspect="1"/>
          </p:cNvPicPr>
          <p:nvPr/>
        </p:nvPicPr>
        <p:blipFill>
          <a:blip r:embed="rId5"/>
          <a:stretch>
            <a:fillRect/>
          </a:stretch>
        </p:blipFill>
        <p:spPr>
          <a:xfrm>
            <a:off x="3746406" y="2730432"/>
            <a:ext cx="330192" cy="253994"/>
          </a:xfrm>
          <a:prstGeom prst="rect">
            <a:avLst/>
          </a:prstGeom>
        </p:spPr>
      </p:pic>
      <p:pic>
        <p:nvPicPr>
          <p:cNvPr id="22" name="raster 10.21" descr="diagram">    </p:cNvPr>
          <p:cNvPicPr>
            <a:picLocks noChangeAspect="1"/>
          </p:cNvPicPr>
          <p:nvPr/>
        </p:nvPicPr>
        <p:blipFill>
          <a:blip r:embed="rId6"/>
          <a:stretch>
            <a:fillRect/>
          </a:stretch>
        </p:blipFill>
        <p:spPr>
          <a:xfrm>
            <a:off x="4241694" y="2832029"/>
            <a:ext cx="280584" cy="215895"/>
          </a:xfrm>
          <a:prstGeom prst="rect">
            <a:avLst/>
          </a:prstGeom>
        </p:spPr>
      </p:pic>
      <p:pic>
        <p:nvPicPr>
          <p:cNvPr id="23" name="raster 10.22" descr="diagram">    </p:cNvPr>
          <p:cNvPicPr>
            <a:picLocks noChangeAspect="1"/>
          </p:cNvPicPr>
          <p:nvPr/>
        </p:nvPicPr>
        <p:blipFill>
          <a:blip r:embed="rId7"/>
          <a:stretch>
            <a:fillRect/>
          </a:stretch>
        </p:blipFill>
        <p:spPr>
          <a:xfrm>
            <a:off x="5016375" y="2260543"/>
            <a:ext cx="749281" cy="711182"/>
          </a:xfrm>
          <a:prstGeom prst="rect">
            <a:avLst/>
          </a:prstGeom>
        </p:spPr>
      </p:pic>
      <p:sp>
        <p:nvSpPr>
          <p:cNvPr id="24" name="text 10.23"/>
          <p:cNvSpPr txBox="1"/>
          <p:nvPr/>
        </p:nvSpPr>
        <p:spPr>
          <a:xfrm>
            <a:off x="3594010" y="3225719"/>
            <a:ext cx="1281043"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The Monster</a:t>
            </a:r>
            <a:endParaRPr lang="en-US" sz="1500" dirty="0"/>
          </a:p>
        </p:txBody>
      </p:sp>
      <p:sp>
        <p:nvSpPr>
          <p:cNvPr id="25" name="text 10.24"/>
          <p:cNvSpPr txBox="1"/>
          <p:nvPr/>
        </p:nvSpPr>
        <p:spPr>
          <a:xfrm>
            <a:off x="3594010" y="3505112"/>
            <a:ext cx="2336742" cy="773093"/>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One player becomes the monster for a round and everyone else plays against them. The role moves on each round, so everyone gets a turn.</a:t>
            </a:r>
            <a:endParaRPr lang="en-US" sz="1050" dirty="0"/>
          </a:p>
        </p:txBody>
      </p:sp>
      <p:sp>
        <p:nvSpPr>
          <p:cNvPr id="26" name="text 10.25"/>
          <p:cNvSpPr txBox="1"/>
          <p:nvPr/>
        </p:nvSpPr>
        <p:spPr>
          <a:xfrm>
            <a:off x="838179" y="5613260"/>
            <a:ext cx="5054474" cy="193353"/>
          </a:xfrm>
          <a:prstGeom prst="rect">
            <a:avLst/>
          </a:prstGeom>
          <a:noFill/>
          <a:ln/>
        </p:spPr>
        <p:txBody>
          <a:bodyPr wrap="square" lIns="0" tIns="0" rIns="0" bIns="0" rtlCol="0" anchor="t"/>
          <a:lstStyle/>
          <a:p>
            <a:pPr algn="l" indent="0" marL="0">
              <a:lnSpc>
                <a:spcPts val="1520"/>
              </a:lnSpc>
              <a:buNone/>
            </a:pPr>
            <a:r>
              <a:rPr lang="en-US" sz="1050" b="1" dirty="0">
                <a:solidFill>
                  <a:srgbClr val="1B2340"/>
                </a:solidFill>
                <a:latin typeface="Arial" pitchFamily="34" charset="0"/>
                <a:ea typeface="Arial" pitchFamily="34" charset="-122"/>
                <a:cs typeface="Arial" pitchFamily="34" charset="-120"/>
              </a:rPr>
              <a:t>Battle is next in line</a:t>
            </a:r>
            <a:pPr algn="l" indent="0" marL="0">
              <a:lnSpc>
                <a:spcPts val="1520"/>
              </a:lnSpc>
              <a:buNone/>
            </a:pPr>
            <a:r>
              <a:rPr lang="en-US" sz="1050" dirty="0">
                <a:solidFill>
                  <a:srgbClr val="3E475E"/>
                </a:solidFill>
                <a:latin typeface="Arial" pitchFamily="34" charset="0"/>
                <a:ea typeface="Arial" pitchFamily="34" charset="-122"/>
                <a:cs typeface="Arial" pitchFamily="34" charset="-120"/>
              </a:rPr>
              <a:t> once the four are fun: it is the stretch goal of the final phase.</a:t>
            </a:r>
            <a:endParaRPr lang="en-US" sz="1050" dirty="0"/>
          </a:p>
        </p:txBody>
      </p:sp>
      <p:sp>
        <p:nvSpPr>
          <p:cNvPr id="27" name="text 10.26"/>
          <p:cNvSpPr txBox="1"/>
          <p:nvPr/>
        </p:nvSpPr>
        <p:spPr>
          <a:xfrm>
            <a:off x="6324442" y="1816055"/>
            <a:ext cx="197936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CONCEPT IDEAS WE MAY ADD</a:t>
            </a:r>
            <a:endParaRPr lang="en-US" sz="800" dirty="0"/>
          </a:p>
        </p:txBody>
      </p:sp>
      <p:sp>
        <p:nvSpPr>
          <p:cNvPr id="28" name="text 10.27"/>
          <p:cNvSpPr txBox="1"/>
          <p:nvPr/>
        </p:nvSpPr>
        <p:spPr>
          <a:xfrm>
            <a:off x="6324442" y="1993850"/>
            <a:ext cx="3218471"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Not part of the plan yet; candidates once the core game is fun.</a:t>
            </a:r>
            <a:endParaRPr lang="en-US" sz="850" dirty="0"/>
          </a:p>
        </p:txBody>
      </p:sp>
      <p:sp>
        <p:nvSpPr>
          <p:cNvPr id="29" name="text 10.28"/>
          <p:cNvSpPr txBox="1"/>
          <p:nvPr/>
        </p:nvSpPr>
        <p:spPr>
          <a:xfrm>
            <a:off x="6540336" y="2412940"/>
            <a:ext cx="1645349"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Character types</a:t>
            </a:r>
            <a:endParaRPr lang="en-US" sz="1500" dirty="0"/>
          </a:p>
        </p:txBody>
      </p:sp>
      <p:sp>
        <p:nvSpPr>
          <p:cNvPr id="30" name="text 10.29"/>
          <p:cNvSpPr txBox="1"/>
          <p:nvPr/>
        </p:nvSpPr>
        <p:spPr>
          <a:xfrm>
            <a:off x="6540336" y="2692333"/>
            <a:ext cx="4863978"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Players pick a type with its own strengths. Since knockback depends on mass, weight is the natural first difference.</a:t>
            </a:r>
            <a:endParaRPr lang="en-US" sz="1050" dirty="0"/>
          </a:p>
        </p:txBody>
      </p:sp>
      <p:sp>
        <p:nvSpPr>
          <p:cNvPr id="31" name="text 10.30"/>
          <p:cNvSpPr txBox="1"/>
          <p:nvPr/>
        </p:nvSpPr>
        <p:spPr>
          <a:xfrm>
            <a:off x="8889778" y="3378116"/>
            <a:ext cx="440425" cy="144776"/>
          </a:xfrm>
          <a:prstGeom prst="rect">
            <a:avLst/>
          </a:prstGeom>
          <a:noFill/>
          <a:ln/>
        </p:spPr>
        <p:txBody>
          <a:bodyPr wrap="square" lIns="0" tIns="0" rIns="0" bIns="0" rtlCol="0" anchor="t"/>
          <a:lstStyle/>
          <a:p>
            <a:pPr algn="l" indent="0" marL="0">
              <a:lnSpc>
                <a:spcPts val="1140"/>
              </a:lnSpc>
              <a:buNone/>
            </a:pPr>
            <a:r>
              <a:rPr lang="en-US" sz="950" b="1" dirty="0">
                <a:solidFill>
                  <a:srgbClr val="8F55F5"/>
                </a:solidFill>
                <a:latin typeface="Arial" pitchFamily="34" charset="0"/>
                <a:ea typeface="Arial" pitchFamily="34" charset="-122"/>
                <a:cs typeface="Arial" pitchFamily="34" charset="-120"/>
              </a:rPr>
              <a:t>Heavy</a:t>
            </a:r>
            <a:endParaRPr lang="en-US" sz="950" dirty="0"/>
          </a:p>
        </p:txBody>
      </p:sp>
      <p:sp>
        <p:nvSpPr>
          <p:cNvPr id="32" name="text 10.31"/>
          <p:cNvSpPr txBox="1"/>
          <p:nvPr/>
        </p:nvSpPr>
        <p:spPr>
          <a:xfrm>
            <a:off x="9550161" y="3390815"/>
            <a:ext cx="3810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MASS</a:t>
            </a:r>
            <a:endParaRPr lang="en-US" sz="700" dirty="0"/>
          </a:p>
        </p:txBody>
      </p:sp>
      <p:sp>
        <p:nvSpPr>
          <p:cNvPr id="33" name="text 10.32"/>
          <p:cNvSpPr txBox="1"/>
          <p:nvPr/>
        </p:nvSpPr>
        <p:spPr>
          <a:xfrm>
            <a:off x="10502637" y="3390815"/>
            <a:ext cx="43958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SPEED</a:t>
            </a:r>
            <a:endParaRPr lang="en-US" sz="700" dirty="0"/>
          </a:p>
        </p:txBody>
      </p:sp>
      <p:sp>
        <p:nvSpPr>
          <p:cNvPr id="34" name="shape 10.33"/>
          <p:cNvSpPr/>
          <p:nvPr/>
        </p:nvSpPr>
        <p:spPr>
          <a:xfrm>
            <a:off x="9918452" y="3403515"/>
            <a:ext cx="114297" cy="88898"/>
          </a:xfrm>
          <a:prstGeom prst="roundRect">
            <a:avLst>
              <a:gd name="adj" fmla="val 50000"/>
            </a:avLst>
          </a:prstGeom>
          <a:solidFill>
            <a:srgbClr val="1B2340"/>
          </a:solidFill>
          <a:ln/>
        </p:spPr>
      </p:sp>
      <p:sp>
        <p:nvSpPr>
          <p:cNvPr id="35" name="shape 10.34"/>
          <p:cNvSpPr/>
          <p:nvPr/>
        </p:nvSpPr>
        <p:spPr>
          <a:xfrm>
            <a:off x="10070848" y="3403515"/>
            <a:ext cx="114297" cy="88898"/>
          </a:xfrm>
          <a:prstGeom prst="roundRect">
            <a:avLst>
              <a:gd name="adj" fmla="val 50000"/>
            </a:avLst>
          </a:prstGeom>
          <a:solidFill>
            <a:srgbClr val="1B2340"/>
          </a:solidFill>
          <a:ln/>
        </p:spPr>
      </p:sp>
      <p:sp>
        <p:nvSpPr>
          <p:cNvPr id="36" name="shape 10.35"/>
          <p:cNvSpPr/>
          <p:nvPr/>
        </p:nvSpPr>
        <p:spPr>
          <a:xfrm>
            <a:off x="10223244" y="3403515"/>
            <a:ext cx="114297" cy="88898"/>
          </a:xfrm>
          <a:prstGeom prst="roundRect">
            <a:avLst>
              <a:gd name="adj" fmla="val 50000"/>
            </a:avLst>
          </a:prstGeom>
          <a:solidFill>
            <a:srgbClr val="1B2340"/>
          </a:solidFill>
          <a:ln/>
        </p:spPr>
      </p:sp>
      <p:sp>
        <p:nvSpPr>
          <p:cNvPr id="37" name="shape 10.36"/>
          <p:cNvSpPr/>
          <p:nvPr/>
        </p:nvSpPr>
        <p:spPr>
          <a:xfrm>
            <a:off x="10921727" y="3403515"/>
            <a:ext cx="114297" cy="88898"/>
          </a:xfrm>
          <a:prstGeom prst="roundRect">
            <a:avLst>
              <a:gd name="adj" fmla="val 50000"/>
            </a:avLst>
          </a:prstGeom>
          <a:solidFill>
            <a:srgbClr val="1B2340"/>
          </a:solidFill>
          <a:ln/>
        </p:spPr>
      </p:sp>
      <p:sp>
        <p:nvSpPr>
          <p:cNvPr id="38" name="shape 10.37"/>
          <p:cNvSpPr/>
          <p:nvPr/>
        </p:nvSpPr>
        <p:spPr>
          <a:xfrm>
            <a:off x="11074123" y="3403515"/>
            <a:ext cx="114297" cy="88898"/>
          </a:xfrm>
          <a:prstGeom prst="roundRect">
            <a:avLst>
              <a:gd name="adj" fmla="val 50000"/>
            </a:avLst>
          </a:prstGeom>
          <a:solidFill>
            <a:srgbClr val="E8ECE3"/>
          </a:solidFill>
          <a:ln/>
        </p:spPr>
      </p:sp>
      <p:sp>
        <p:nvSpPr>
          <p:cNvPr id="39" name="shape 10.38"/>
          <p:cNvSpPr/>
          <p:nvPr/>
        </p:nvSpPr>
        <p:spPr>
          <a:xfrm>
            <a:off x="11226519" y="3403515"/>
            <a:ext cx="114297" cy="88898"/>
          </a:xfrm>
          <a:prstGeom prst="roundRect">
            <a:avLst>
              <a:gd name="adj" fmla="val 50000"/>
            </a:avLst>
          </a:prstGeom>
          <a:solidFill>
            <a:srgbClr val="E8ECE3"/>
          </a:solidFill>
          <a:ln/>
        </p:spPr>
      </p:sp>
      <p:sp>
        <p:nvSpPr>
          <p:cNvPr id="40" name="text 10.39"/>
          <p:cNvSpPr txBox="1"/>
          <p:nvPr/>
        </p:nvSpPr>
        <p:spPr>
          <a:xfrm>
            <a:off x="8889778" y="3860703"/>
            <a:ext cx="632149" cy="144776"/>
          </a:xfrm>
          <a:prstGeom prst="rect">
            <a:avLst/>
          </a:prstGeom>
          <a:noFill/>
          <a:ln/>
        </p:spPr>
        <p:txBody>
          <a:bodyPr wrap="square" lIns="0" tIns="0" rIns="0" bIns="0" rtlCol="0" anchor="t"/>
          <a:lstStyle/>
          <a:p>
            <a:pPr algn="l" indent="0" marL="0">
              <a:lnSpc>
                <a:spcPts val="1140"/>
              </a:lnSpc>
              <a:buNone/>
            </a:pPr>
            <a:r>
              <a:rPr lang="en-US" sz="950" b="1" dirty="0">
                <a:solidFill>
                  <a:srgbClr val="FF6B1F"/>
                </a:solidFill>
                <a:latin typeface="Arial" pitchFamily="34" charset="0"/>
                <a:ea typeface="Arial" pitchFamily="34" charset="-122"/>
                <a:cs typeface="Arial" pitchFamily="34" charset="-120"/>
              </a:rPr>
              <a:t>Balanced</a:t>
            </a:r>
            <a:endParaRPr lang="en-US" sz="950" dirty="0"/>
          </a:p>
        </p:txBody>
      </p:sp>
      <p:sp>
        <p:nvSpPr>
          <p:cNvPr id="41" name="text 10.40"/>
          <p:cNvSpPr txBox="1"/>
          <p:nvPr/>
        </p:nvSpPr>
        <p:spPr>
          <a:xfrm>
            <a:off x="9550161" y="3873403"/>
            <a:ext cx="3810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MASS</a:t>
            </a:r>
            <a:endParaRPr lang="en-US" sz="700" dirty="0"/>
          </a:p>
        </p:txBody>
      </p:sp>
      <p:sp>
        <p:nvSpPr>
          <p:cNvPr id="42" name="text 10.41"/>
          <p:cNvSpPr txBox="1"/>
          <p:nvPr/>
        </p:nvSpPr>
        <p:spPr>
          <a:xfrm>
            <a:off x="10502637" y="3873403"/>
            <a:ext cx="43958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SPEED</a:t>
            </a:r>
            <a:endParaRPr lang="en-US" sz="700" dirty="0"/>
          </a:p>
        </p:txBody>
      </p:sp>
      <p:sp>
        <p:nvSpPr>
          <p:cNvPr id="43" name="shape 10.42"/>
          <p:cNvSpPr/>
          <p:nvPr/>
        </p:nvSpPr>
        <p:spPr>
          <a:xfrm>
            <a:off x="9918452" y="3886103"/>
            <a:ext cx="114297" cy="88898"/>
          </a:xfrm>
          <a:prstGeom prst="roundRect">
            <a:avLst>
              <a:gd name="adj" fmla="val 50000"/>
            </a:avLst>
          </a:prstGeom>
          <a:solidFill>
            <a:srgbClr val="1B2340"/>
          </a:solidFill>
          <a:ln/>
        </p:spPr>
      </p:sp>
      <p:sp>
        <p:nvSpPr>
          <p:cNvPr id="44" name="shape 10.43"/>
          <p:cNvSpPr/>
          <p:nvPr/>
        </p:nvSpPr>
        <p:spPr>
          <a:xfrm>
            <a:off x="10070848" y="3886103"/>
            <a:ext cx="114297" cy="88898"/>
          </a:xfrm>
          <a:prstGeom prst="roundRect">
            <a:avLst>
              <a:gd name="adj" fmla="val 50000"/>
            </a:avLst>
          </a:prstGeom>
          <a:solidFill>
            <a:srgbClr val="1B2340"/>
          </a:solidFill>
          <a:ln/>
        </p:spPr>
      </p:sp>
      <p:sp>
        <p:nvSpPr>
          <p:cNvPr id="45" name="shape 10.44"/>
          <p:cNvSpPr/>
          <p:nvPr/>
        </p:nvSpPr>
        <p:spPr>
          <a:xfrm>
            <a:off x="10223244" y="3886103"/>
            <a:ext cx="114297" cy="88898"/>
          </a:xfrm>
          <a:prstGeom prst="roundRect">
            <a:avLst>
              <a:gd name="adj" fmla="val 50000"/>
            </a:avLst>
          </a:prstGeom>
          <a:solidFill>
            <a:srgbClr val="E8ECE3"/>
          </a:solidFill>
          <a:ln/>
        </p:spPr>
      </p:sp>
      <p:sp>
        <p:nvSpPr>
          <p:cNvPr id="46" name="shape 10.45"/>
          <p:cNvSpPr/>
          <p:nvPr/>
        </p:nvSpPr>
        <p:spPr>
          <a:xfrm>
            <a:off x="10921727" y="3886103"/>
            <a:ext cx="114297" cy="88898"/>
          </a:xfrm>
          <a:prstGeom prst="roundRect">
            <a:avLst>
              <a:gd name="adj" fmla="val 50000"/>
            </a:avLst>
          </a:prstGeom>
          <a:solidFill>
            <a:srgbClr val="1B2340"/>
          </a:solidFill>
          <a:ln/>
        </p:spPr>
      </p:sp>
      <p:sp>
        <p:nvSpPr>
          <p:cNvPr id="47" name="shape 10.46"/>
          <p:cNvSpPr/>
          <p:nvPr/>
        </p:nvSpPr>
        <p:spPr>
          <a:xfrm>
            <a:off x="11074123" y="3886103"/>
            <a:ext cx="114297" cy="88898"/>
          </a:xfrm>
          <a:prstGeom prst="roundRect">
            <a:avLst>
              <a:gd name="adj" fmla="val 50000"/>
            </a:avLst>
          </a:prstGeom>
          <a:solidFill>
            <a:srgbClr val="1B2340"/>
          </a:solidFill>
          <a:ln/>
        </p:spPr>
      </p:sp>
      <p:sp>
        <p:nvSpPr>
          <p:cNvPr id="48" name="shape 10.47"/>
          <p:cNvSpPr/>
          <p:nvPr/>
        </p:nvSpPr>
        <p:spPr>
          <a:xfrm>
            <a:off x="11226519" y="3886103"/>
            <a:ext cx="114297" cy="88898"/>
          </a:xfrm>
          <a:prstGeom prst="roundRect">
            <a:avLst>
              <a:gd name="adj" fmla="val 50000"/>
            </a:avLst>
          </a:prstGeom>
          <a:solidFill>
            <a:srgbClr val="E8ECE3"/>
          </a:solidFill>
          <a:ln/>
        </p:spPr>
      </p:sp>
      <p:sp>
        <p:nvSpPr>
          <p:cNvPr id="49" name="text 10.48"/>
          <p:cNvSpPr txBox="1"/>
          <p:nvPr/>
        </p:nvSpPr>
        <p:spPr>
          <a:xfrm>
            <a:off x="8889778" y="4343291"/>
            <a:ext cx="376061" cy="144776"/>
          </a:xfrm>
          <a:prstGeom prst="rect">
            <a:avLst/>
          </a:prstGeom>
          <a:noFill/>
          <a:ln/>
        </p:spPr>
        <p:txBody>
          <a:bodyPr wrap="square" lIns="0" tIns="0" rIns="0" bIns="0" rtlCol="0" anchor="t"/>
          <a:lstStyle/>
          <a:p>
            <a:pPr algn="l" indent="0" marL="0">
              <a:lnSpc>
                <a:spcPts val="1140"/>
              </a:lnSpc>
              <a:buNone/>
            </a:pPr>
            <a:r>
              <a:rPr lang="en-US" sz="950" b="1" dirty="0">
                <a:solidFill>
                  <a:srgbClr val="43B832"/>
                </a:solidFill>
                <a:latin typeface="Arial" pitchFamily="34" charset="0"/>
                <a:ea typeface="Arial" pitchFamily="34" charset="-122"/>
                <a:cs typeface="Arial" pitchFamily="34" charset="-120"/>
              </a:rPr>
              <a:t>Light</a:t>
            </a:r>
            <a:endParaRPr lang="en-US" sz="950" dirty="0"/>
          </a:p>
        </p:txBody>
      </p:sp>
      <p:sp>
        <p:nvSpPr>
          <p:cNvPr id="50" name="text 10.49"/>
          <p:cNvSpPr txBox="1"/>
          <p:nvPr/>
        </p:nvSpPr>
        <p:spPr>
          <a:xfrm>
            <a:off x="9550161" y="4355991"/>
            <a:ext cx="3810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MASS</a:t>
            </a:r>
            <a:endParaRPr lang="en-US" sz="700" dirty="0"/>
          </a:p>
        </p:txBody>
      </p:sp>
      <p:sp>
        <p:nvSpPr>
          <p:cNvPr id="51" name="text 10.50"/>
          <p:cNvSpPr txBox="1"/>
          <p:nvPr/>
        </p:nvSpPr>
        <p:spPr>
          <a:xfrm>
            <a:off x="10502637" y="4355991"/>
            <a:ext cx="43958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SPEED</a:t>
            </a:r>
            <a:endParaRPr lang="en-US" sz="700" dirty="0"/>
          </a:p>
        </p:txBody>
      </p:sp>
      <p:sp>
        <p:nvSpPr>
          <p:cNvPr id="52" name="shape 10.51"/>
          <p:cNvSpPr/>
          <p:nvPr/>
        </p:nvSpPr>
        <p:spPr>
          <a:xfrm>
            <a:off x="9918452" y="4368691"/>
            <a:ext cx="114297" cy="88898"/>
          </a:xfrm>
          <a:prstGeom prst="roundRect">
            <a:avLst>
              <a:gd name="adj" fmla="val 50000"/>
            </a:avLst>
          </a:prstGeom>
          <a:solidFill>
            <a:srgbClr val="1B2340"/>
          </a:solidFill>
          <a:ln/>
        </p:spPr>
      </p:sp>
      <p:sp>
        <p:nvSpPr>
          <p:cNvPr id="53" name="shape 10.52"/>
          <p:cNvSpPr/>
          <p:nvPr/>
        </p:nvSpPr>
        <p:spPr>
          <a:xfrm>
            <a:off x="10070848" y="4368691"/>
            <a:ext cx="114297" cy="88898"/>
          </a:xfrm>
          <a:prstGeom prst="roundRect">
            <a:avLst>
              <a:gd name="adj" fmla="val 50000"/>
            </a:avLst>
          </a:prstGeom>
          <a:solidFill>
            <a:srgbClr val="E8ECE3"/>
          </a:solidFill>
          <a:ln/>
        </p:spPr>
      </p:sp>
      <p:sp>
        <p:nvSpPr>
          <p:cNvPr id="54" name="shape 10.53"/>
          <p:cNvSpPr/>
          <p:nvPr/>
        </p:nvSpPr>
        <p:spPr>
          <a:xfrm>
            <a:off x="10223244" y="4368691"/>
            <a:ext cx="114297" cy="88898"/>
          </a:xfrm>
          <a:prstGeom prst="roundRect">
            <a:avLst>
              <a:gd name="adj" fmla="val 50000"/>
            </a:avLst>
          </a:prstGeom>
          <a:solidFill>
            <a:srgbClr val="E8ECE3"/>
          </a:solidFill>
          <a:ln/>
        </p:spPr>
      </p:sp>
      <p:sp>
        <p:nvSpPr>
          <p:cNvPr id="55" name="shape 10.54"/>
          <p:cNvSpPr/>
          <p:nvPr/>
        </p:nvSpPr>
        <p:spPr>
          <a:xfrm>
            <a:off x="10921727" y="4368691"/>
            <a:ext cx="114297" cy="88898"/>
          </a:xfrm>
          <a:prstGeom prst="roundRect">
            <a:avLst>
              <a:gd name="adj" fmla="val 50000"/>
            </a:avLst>
          </a:prstGeom>
          <a:solidFill>
            <a:srgbClr val="1B2340"/>
          </a:solidFill>
          <a:ln/>
        </p:spPr>
      </p:sp>
      <p:sp>
        <p:nvSpPr>
          <p:cNvPr id="56" name="shape 10.55"/>
          <p:cNvSpPr/>
          <p:nvPr/>
        </p:nvSpPr>
        <p:spPr>
          <a:xfrm>
            <a:off x="11074123" y="4368691"/>
            <a:ext cx="114297" cy="88898"/>
          </a:xfrm>
          <a:prstGeom prst="roundRect">
            <a:avLst>
              <a:gd name="adj" fmla="val 50000"/>
            </a:avLst>
          </a:prstGeom>
          <a:solidFill>
            <a:srgbClr val="1B2340"/>
          </a:solidFill>
          <a:ln/>
        </p:spPr>
      </p:sp>
      <p:sp>
        <p:nvSpPr>
          <p:cNvPr id="57" name="shape 10.56"/>
          <p:cNvSpPr/>
          <p:nvPr/>
        </p:nvSpPr>
        <p:spPr>
          <a:xfrm>
            <a:off x="11226519" y="4368691"/>
            <a:ext cx="114297" cy="88898"/>
          </a:xfrm>
          <a:prstGeom prst="roundRect">
            <a:avLst>
              <a:gd name="adj" fmla="val 50000"/>
            </a:avLst>
          </a:prstGeom>
          <a:solidFill>
            <a:srgbClr val="1B2340"/>
          </a:solidFill>
          <a:ln/>
        </p:spPr>
      </p:sp>
      <p:sp>
        <p:nvSpPr>
          <p:cNvPr id="58" name="text 10.57"/>
          <p:cNvSpPr txBox="1"/>
          <p:nvPr/>
        </p:nvSpPr>
        <p:spPr>
          <a:xfrm>
            <a:off x="6540336" y="5244969"/>
            <a:ext cx="1193647"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Rage meter</a:t>
            </a:r>
            <a:endParaRPr lang="en-US" sz="1500" dirty="0"/>
          </a:p>
        </p:txBody>
      </p:sp>
      <p:sp>
        <p:nvSpPr>
          <p:cNvPr id="59" name="shape 10.58"/>
          <p:cNvSpPr/>
          <p:nvPr/>
        </p:nvSpPr>
        <p:spPr>
          <a:xfrm>
            <a:off x="6540336" y="5562461"/>
            <a:ext cx="1587460" cy="126997"/>
          </a:xfrm>
          <a:prstGeom prst="roundRect">
            <a:avLst>
              <a:gd name="adj" fmla="val 50000"/>
            </a:avLst>
          </a:prstGeom>
          <a:solidFill>
            <a:srgbClr val="E8ECE3"/>
          </a:solidFill>
          <a:ln/>
        </p:spPr>
      </p:sp>
      <p:sp>
        <p:nvSpPr>
          <p:cNvPr id="60" name="shape 10.59"/>
          <p:cNvSpPr/>
          <p:nvPr/>
        </p:nvSpPr>
        <p:spPr>
          <a:xfrm>
            <a:off x="6540336" y="5562461"/>
            <a:ext cx="984225" cy="126997"/>
          </a:xfrm>
          <a:prstGeom prst="roundRect">
            <a:avLst>
              <a:gd name="adj" fmla="val 50000"/>
            </a:avLst>
          </a:prstGeom>
          <a:solidFill>
            <a:srgbClr val="FF6B1F"/>
          </a:solidFill>
          <a:ln/>
        </p:spPr>
      </p:sp>
      <p:sp>
        <p:nvSpPr>
          <p:cNvPr id="61" name="text 10.60"/>
          <p:cNvSpPr txBox="1"/>
          <p:nvPr/>
        </p:nvSpPr>
        <p:spPr>
          <a:xfrm>
            <a:off x="8318292" y="5244969"/>
            <a:ext cx="3149521" cy="579820"/>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 meter that builds up across mini-games. Once it fills over a few rounds, the player can spend it in a later mini-game.</a:t>
            </a:r>
            <a:endParaRPr lang="en-US" sz="1050" dirty="0"/>
          </a:p>
        </p:txBody>
      </p:sp>
      <p:pic>
        <p:nvPicPr>
          <p:cNvPr id="62" name="raster 10.61" descr="diagram">    </p:cNvPr>
          <p:cNvPicPr>
            <a:picLocks noChangeAspect="1"/>
          </p:cNvPicPr>
          <p:nvPr/>
        </p:nvPicPr>
        <p:blipFill>
          <a:blip r:embed="rId8"/>
          <a:stretch>
            <a:fillRect/>
          </a:stretch>
        </p:blipFill>
        <p:spPr>
          <a:xfrm>
            <a:off x="609585" y="266693"/>
            <a:ext cx="190495" cy="190495"/>
          </a:xfrm>
          <a:prstGeom prst="rect">
            <a:avLst/>
          </a:prstGeom>
        </p:spPr>
      </p:pic>
      <p:sp>
        <p:nvSpPr>
          <p:cNvPr id="63" name="text 10.62"/>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64" name="text 10.63"/>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65" name="text 10.64"/>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66" name="text 10.65"/>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10 / 28</a:t>
            </a:r>
            <a:endParaRPr lang="en-US" sz="750" dirty="0"/>
          </a:p>
        </p:txBody>
      </p:sp>
      <p:sp>
        <p:nvSpPr>
          <p:cNvPr id="67" name="text 10.66"/>
          <p:cNvSpPr txBox="1"/>
          <p:nvPr/>
        </p:nvSpPr>
        <p:spPr>
          <a:xfrm>
            <a:off x="609585" y="698483"/>
            <a:ext cx="1138749"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8F55F5"/>
                </a:solidFill>
                <a:latin typeface="Arial" pitchFamily="34" charset="0"/>
                <a:ea typeface="Arial" pitchFamily="34" charset="-122"/>
                <a:cs typeface="Arial" pitchFamily="34" charset="-120"/>
              </a:rPr>
              <a:t>02 · GAMEPLAY</a:t>
            </a:r>
            <a:endParaRPr lang="en-US" sz="8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11.1 adj5687" descr="sp2_shop.png">    </p:cNvPr>
          <p:cNvPicPr>
            <a:picLocks noChangeAspect="1"/>
          </p:cNvPicPr>
          <p:nvPr/>
        </p:nvPicPr>
        <p:blipFill>
          <a:blip r:embed="rId2"/>
          <a:stretch>
            <a:fillRect/>
          </a:stretch>
        </p:blipFill>
        <p:spPr>
          <a:xfrm>
            <a:off x="609585" y="1803355"/>
            <a:ext cx="6984825" cy="2679633"/>
          </a:xfrm>
          <a:prstGeom prst="roundRect">
            <a:avLst>
              <a:gd name="adj" fmla="val 5687"/>
            </a:avLst>
          </a:prstGeom>
        </p:spPr>
      </p:pic>
      <p:sp>
        <p:nvSpPr>
          <p:cNvPr id="3" name="shape 11.2"/>
          <p:cNvSpPr/>
          <p:nvPr/>
        </p:nvSpPr>
        <p:spPr>
          <a:xfrm>
            <a:off x="609585" y="5092573"/>
            <a:ext cx="1650959" cy="1193770"/>
          </a:xfrm>
          <a:prstGeom prst="roundRect">
            <a:avLst>
              <a:gd name="adj" fmla="val 12766"/>
            </a:avLst>
          </a:prstGeom>
          <a:solidFill>
            <a:srgbClr val="FFF0E6"/>
          </a:solidFill>
          <a:ln w="12700">
            <a:solidFill>
              <a:srgbClr val="FBDCC8"/>
            </a:solidFill>
            <a:prstDash val="solid"/>
          </a:ln>
        </p:spPr>
      </p:sp>
      <p:sp>
        <p:nvSpPr>
          <p:cNvPr id="4" name="shape 11.3"/>
          <p:cNvSpPr/>
          <p:nvPr/>
        </p:nvSpPr>
        <p:spPr>
          <a:xfrm>
            <a:off x="2387540" y="5092573"/>
            <a:ext cx="1650959" cy="1193770"/>
          </a:xfrm>
          <a:prstGeom prst="roundRect">
            <a:avLst>
              <a:gd name="adj" fmla="val 12766"/>
            </a:avLst>
          </a:prstGeom>
          <a:solidFill>
            <a:srgbClr val="E3F2FB"/>
          </a:solidFill>
          <a:ln w="12700">
            <a:solidFill>
              <a:srgbClr val="CDE7F7"/>
            </a:solidFill>
            <a:prstDash val="solid"/>
          </a:ln>
        </p:spPr>
      </p:sp>
      <p:sp>
        <p:nvSpPr>
          <p:cNvPr id="5" name="shape 11.4"/>
          <p:cNvSpPr/>
          <p:nvPr/>
        </p:nvSpPr>
        <p:spPr>
          <a:xfrm>
            <a:off x="4165496" y="5092573"/>
            <a:ext cx="1650959" cy="1193770"/>
          </a:xfrm>
          <a:prstGeom prst="roundRect">
            <a:avLst>
              <a:gd name="adj" fmla="val 12766"/>
            </a:avLst>
          </a:prstGeom>
          <a:solidFill>
            <a:srgbClr val="E7F5E1"/>
          </a:solidFill>
          <a:ln w="12700">
            <a:solidFill>
              <a:srgbClr val="D2EBC7"/>
            </a:solidFill>
            <a:prstDash val="solid"/>
          </a:ln>
        </p:spPr>
      </p:sp>
      <p:sp>
        <p:nvSpPr>
          <p:cNvPr id="6" name="shape 11.5"/>
          <p:cNvSpPr/>
          <p:nvPr/>
        </p:nvSpPr>
        <p:spPr>
          <a:xfrm>
            <a:off x="5943451" y="5092573"/>
            <a:ext cx="1650959" cy="1193770"/>
          </a:xfrm>
          <a:prstGeom prst="roundRect">
            <a:avLst>
              <a:gd name="adj" fmla="val 12766"/>
            </a:avLst>
          </a:prstGeom>
          <a:solidFill>
            <a:srgbClr val="F1E9FF"/>
          </a:solidFill>
          <a:ln w="12700">
            <a:solidFill>
              <a:srgbClr val="E0D2FB"/>
            </a:solidFill>
            <a:prstDash val="solid"/>
          </a:ln>
        </p:spPr>
      </p:sp>
      <p:sp>
        <p:nvSpPr>
          <p:cNvPr id="7" name="shape 11.6"/>
          <p:cNvSpPr/>
          <p:nvPr/>
        </p:nvSpPr>
        <p:spPr>
          <a:xfrm>
            <a:off x="7848404" y="1803355"/>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shape 11.7"/>
          <p:cNvSpPr/>
          <p:nvPr/>
        </p:nvSpPr>
        <p:spPr>
          <a:xfrm>
            <a:off x="7848404" y="2949501"/>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9" name="shape 11.8"/>
          <p:cNvSpPr/>
          <p:nvPr/>
        </p:nvSpPr>
        <p:spPr>
          <a:xfrm>
            <a:off x="7848404" y="4095648"/>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10" name="shape 11.9"/>
          <p:cNvSpPr/>
          <p:nvPr/>
        </p:nvSpPr>
        <p:spPr>
          <a:xfrm>
            <a:off x="7848404" y="5241794"/>
            <a:ext cx="3733707" cy="1044549"/>
          </a:xfrm>
          <a:prstGeom prst="roundRect">
            <a:avLst>
              <a:gd name="adj" fmla="val 1459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11" name="text 11.10"/>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Character customisation</a:t>
            </a:r>
            <a:endParaRPr lang="en-US" sz="3000" dirty="0"/>
          </a:p>
        </p:txBody>
      </p:sp>
      <p:sp>
        <p:nvSpPr>
          <p:cNvPr id="12" name="text 11.11"/>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Make the cube yours.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Cosmetics change the look, never the game.</a:t>
            </a:r>
            <a:endParaRPr lang="en-US" sz="1350" dirty="0"/>
          </a:p>
        </p:txBody>
      </p:sp>
      <p:sp>
        <p:nvSpPr>
          <p:cNvPr id="13" name="text 11.12"/>
          <p:cNvSpPr txBox="1"/>
          <p:nvPr/>
        </p:nvSpPr>
        <p:spPr>
          <a:xfrm>
            <a:off x="609585" y="4546486"/>
            <a:ext cx="7022924"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3D concept render of the shop: top hat and moustache, glasses and hair, headphones, bow, cap.</a:t>
            </a:r>
            <a:endParaRPr lang="en-US" sz="850" dirty="0"/>
          </a:p>
        </p:txBody>
      </p:sp>
      <p:sp>
        <p:nvSpPr>
          <p:cNvPr id="14" name="text 11.13"/>
          <p:cNvSpPr txBox="1"/>
          <p:nvPr/>
        </p:nvSpPr>
        <p:spPr>
          <a:xfrm>
            <a:off x="609585" y="4863978"/>
            <a:ext cx="1201745"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COSMETIC SLOTS</a:t>
            </a:r>
            <a:endParaRPr lang="en-US" sz="800" dirty="0"/>
          </a:p>
        </p:txBody>
      </p:sp>
      <p:sp>
        <p:nvSpPr>
          <p:cNvPr id="15" name="text 11.14"/>
          <p:cNvSpPr txBox="1"/>
          <p:nvPr/>
        </p:nvSpPr>
        <p:spPr>
          <a:xfrm>
            <a:off x="761981" y="5270368"/>
            <a:ext cx="548539" cy="204465"/>
          </a:xfrm>
          <a:prstGeom prst="rect">
            <a:avLst/>
          </a:prstGeom>
          <a:noFill/>
          <a:ln/>
        </p:spPr>
        <p:txBody>
          <a:bodyPr wrap="square" lIns="0" tIns="0" rIns="0" bIns="0" rtlCol="0" anchor="t"/>
          <a:lstStyle/>
          <a:p>
            <a:pPr algn="l" indent="0" marL="0">
              <a:lnSpc>
                <a:spcPts val="1610"/>
              </a:lnSpc>
              <a:buNone/>
            </a:pPr>
            <a:r>
              <a:rPr lang="en-US" sz="1400" dirty="0">
                <a:solidFill>
                  <a:srgbClr val="FF6B1F"/>
                </a:solidFill>
                <a:latin typeface="Arial Rounded MT Bold" pitchFamily="34" charset="0"/>
                <a:ea typeface="Arial Rounded MT Bold" pitchFamily="34" charset="-122"/>
                <a:cs typeface="Arial Rounded MT Bold" pitchFamily="34" charset="-120"/>
              </a:rPr>
              <a:t>Head</a:t>
            </a:r>
            <a:endParaRPr lang="en-US" sz="1400" dirty="0"/>
          </a:p>
        </p:txBody>
      </p:sp>
      <p:sp>
        <p:nvSpPr>
          <p:cNvPr id="16" name="text 11.15"/>
          <p:cNvSpPr txBox="1"/>
          <p:nvPr/>
        </p:nvSpPr>
        <p:spPr>
          <a:xfrm>
            <a:off x="761981" y="5575161"/>
            <a:ext cx="1409665" cy="177796"/>
          </a:xfrm>
          <a:prstGeom prst="rect">
            <a:avLst/>
          </a:prstGeom>
          <a:noFill/>
          <a:ln/>
        </p:spPr>
        <p:txBody>
          <a:bodyPr wrap="square" lIns="0" tIns="0" rIns="0" bIns="0" rtlCol="0" anchor="t"/>
          <a:lstStyle/>
          <a:p>
            <a:pPr algn="l" indent="0" marL="0">
              <a:lnSpc>
                <a:spcPts val="1400"/>
              </a:lnSpc>
              <a:buNone/>
            </a:pPr>
            <a:r>
              <a:rPr lang="en-US" sz="1000" dirty="0">
                <a:solidFill>
                  <a:srgbClr val="3E475E"/>
                </a:solidFill>
                <a:latin typeface="Arial" pitchFamily="34" charset="0"/>
                <a:ea typeface="Arial" pitchFamily="34" charset="-122"/>
                <a:cs typeface="Arial" pitchFamily="34" charset="-120"/>
              </a:rPr>
              <a:t>Hats, caps, hair styles</a:t>
            </a:r>
            <a:endParaRPr lang="en-US" sz="1000" dirty="0"/>
          </a:p>
        </p:txBody>
      </p:sp>
      <p:sp>
        <p:nvSpPr>
          <p:cNvPr id="17" name="text 11.16"/>
          <p:cNvSpPr txBox="1"/>
          <p:nvPr/>
        </p:nvSpPr>
        <p:spPr>
          <a:xfrm>
            <a:off x="2539937" y="5270368"/>
            <a:ext cx="508680" cy="204465"/>
          </a:xfrm>
          <a:prstGeom prst="rect">
            <a:avLst/>
          </a:prstGeom>
          <a:noFill/>
          <a:ln/>
        </p:spPr>
        <p:txBody>
          <a:bodyPr wrap="square" lIns="0" tIns="0" rIns="0" bIns="0" rtlCol="0" anchor="t"/>
          <a:lstStyle/>
          <a:p>
            <a:pPr algn="l" indent="0" marL="0">
              <a:lnSpc>
                <a:spcPts val="1610"/>
              </a:lnSpc>
              <a:buNone/>
            </a:pPr>
            <a:r>
              <a:rPr lang="en-US" sz="1400" dirty="0">
                <a:solidFill>
                  <a:srgbClr val="1FA9EA"/>
                </a:solidFill>
                <a:latin typeface="Arial Rounded MT Bold" pitchFamily="34" charset="0"/>
                <a:ea typeface="Arial Rounded MT Bold" pitchFamily="34" charset="-122"/>
                <a:cs typeface="Arial Rounded MT Bold" pitchFamily="34" charset="-120"/>
              </a:rPr>
              <a:t>Face</a:t>
            </a:r>
            <a:endParaRPr lang="en-US" sz="1400" dirty="0"/>
          </a:p>
        </p:txBody>
      </p:sp>
      <p:sp>
        <p:nvSpPr>
          <p:cNvPr id="18" name="text 11.17"/>
          <p:cNvSpPr txBox="1"/>
          <p:nvPr/>
        </p:nvSpPr>
        <p:spPr>
          <a:xfrm>
            <a:off x="2539937" y="5575161"/>
            <a:ext cx="1409665" cy="177796"/>
          </a:xfrm>
          <a:prstGeom prst="rect">
            <a:avLst/>
          </a:prstGeom>
          <a:noFill/>
          <a:ln/>
        </p:spPr>
        <p:txBody>
          <a:bodyPr wrap="square" lIns="0" tIns="0" rIns="0" bIns="0" rtlCol="0" anchor="t"/>
          <a:lstStyle/>
          <a:p>
            <a:pPr algn="l" indent="0" marL="0">
              <a:lnSpc>
                <a:spcPts val="1400"/>
              </a:lnSpc>
              <a:buNone/>
            </a:pPr>
            <a:r>
              <a:rPr lang="en-US" sz="1000" dirty="0">
                <a:solidFill>
                  <a:srgbClr val="3E475E"/>
                </a:solidFill>
                <a:latin typeface="Arial" pitchFamily="34" charset="0"/>
                <a:ea typeface="Arial" pitchFamily="34" charset="-122"/>
                <a:cs typeface="Arial" pitchFamily="34" charset="-120"/>
              </a:rPr>
              <a:t>Glasses, moustaches</a:t>
            </a:r>
            <a:endParaRPr lang="en-US" sz="1000" dirty="0"/>
          </a:p>
        </p:txBody>
      </p:sp>
      <p:sp>
        <p:nvSpPr>
          <p:cNvPr id="19" name="text 11.18"/>
          <p:cNvSpPr txBox="1"/>
          <p:nvPr/>
        </p:nvSpPr>
        <p:spPr>
          <a:xfrm>
            <a:off x="4317892" y="5270368"/>
            <a:ext cx="481231" cy="204465"/>
          </a:xfrm>
          <a:prstGeom prst="rect">
            <a:avLst/>
          </a:prstGeom>
          <a:noFill/>
          <a:ln/>
        </p:spPr>
        <p:txBody>
          <a:bodyPr wrap="square" lIns="0" tIns="0" rIns="0" bIns="0" rtlCol="0" anchor="t"/>
          <a:lstStyle/>
          <a:p>
            <a:pPr algn="l" indent="0" marL="0">
              <a:lnSpc>
                <a:spcPts val="1610"/>
              </a:lnSpc>
              <a:buNone/>
            </a:pPr>
            <a:r>
              <a:rPr lang="en-US" sz="1400" dirty="0">
                <a:solidFill>
                  <a:srgbClr val="43B832"/>
                </a:solidFill>
                <a:latin typeface="Arial Rounded MT Bold" pitchFamily="34" charset="0"/>
                <a:ea typeface="Arial Rounded MT Bold" pitchFamily="34" charset="-122"/>
                <a:cs typeface="Arial Rounded MT Bold" pitchFamily="34" charset="-120"/>
              </a:rPr>
              <a:t>Ears</a:t>
            </a:r>
            <a:endParaRPr lang="en-US" sz="1400" dirty="0"/>
          </a:p>
        </p:txBody>
      </p:sp>
      <p:sp>
        <p:nvSpPr>
          <p:cNvPr id="20" name="text 11.19"/>
          <p:cNvSpPr txBox="1"/>
          <p:nvPr/>
        </p:nvSpPr>
        <p:spPr>
          <a:xfrm>
            <a:off x="4317892" y="5575161"/>
            <a:ext cx="1409665" cy="177796"/>
          </a:xfrm>
          <a:prstGeom prst="rect">
            <a:avLst/>
          </a:prstGeom>
          <a:noFill/>
          <a:ln/>
        </p:spPr>
        <p:txBody>
          <a:bodyPr wrap="square" lIns="0" tIns="0" rIns="0" bIns="0" rtlCol="0" anchor="t"/>
          <a:lstStyle/>
          <a:p>
            <a:pPr algn="l" indent="0" marL="0">
              <a:lnSpc>
                <a:spcPts val="1400"/>
              </a:lnSpc>
              <a:buNone/>
            </a:pPr>
            <a:r>
              <a:rPr lang="en-US" sz="1000" dirty="0">
                <a:solidFill>
                  <a:srgbClr val="3E475E"/>
                </a:solidFill>
                <a:latin typeface="Arial" pitchFamily="34" charset="0"/>
                <a:ea typeface="Arial" pitchFamily="34" charset="-122"/>
                <a:cs typeface="Arial" pitchFamily="34" charset="-120"/>
              </a:rPr>
              <a:t>Headphones, earrings</a:t>
            </a:r>
            <a:endParaRPr lang="en-US" sz="1000" dirty="0"/>
          </a:p>
        </p:txBody>
      </p:sp>
      <p:sp>
        <p:nvSpPr>
          <p:cNvPr id="21" name="text 11.20"/>
          <p:cNvSpPr txBox="1"/>
          <p:nvPr/>
        </p:nvSpPr>
        <p:spPr>
          <a:xfrm>
            <a:off x="6095848" y="5270368"/>
            <a:ext cx="646136" cy="204465"/>
          </a:xfrm>
          <a:prstGeom prst="rect">
            <a:avLst/>
          </a:prstGeom>
          <a:noFill/>
          <a:ln/>
        </p:spPr>
        <p:txBody>
          <a:bodyPr wrap="square" lIns="0" tIns="0" rIns="0" bIns="0" rtlCol="0" anchor="t"/>
          <a:lstStyle/>
          <a:p>
            <a:pPr algn="l" indent="0" marL="0">
              <a:lnSpc>
                <a:spcPts val="1610"/>
              </a:lnSpc>
              <a:buNone/>
            </a:pPr>
            <a:r>
              <a:rPr lang="en-US" sz="1400" dirty="0">
                <a:solidFill>
                  <a:srgbClr val="8F55F5"/>
                </a:solidFill>
                <a:latin typeface="Arial Rounded MT Bold" pitchFamily="34" charset="0"/>
                <a:ea typeface="Arial Rounded MT Bold" pitchFamily="34" charset="-122"/>
                <a:cs typeface="Arial Rounded MT Bold" pitchFamily="34" charset="-120"/>
              </a:rPr>
              <a:t>Extras</a:t>
            </a:r>
            <a:endParaRPr lang="en-US" sz="1400" dirty="0"/>
          </a:p>
        </p:txBody>
      </p:sp>
      <p:sp>
        <p:nvSpPr>
          <p:cNvPr id="22" name="text 11.21"/>
          <p:cNvSpPr txBox="1"/>
          <p:nvPr/>
        </p:nvSpPr>
        <p:spPr>
          <a:xfrm>
            <a:off x="6095848" y="5575161"/>
            <a:ext cx="1409665" cy="177796"/>
          </a:xfrm>
          <a:prstGeom prst="rect">
            <a:avLst/>
          </a:prstGeom>
          <a:noFill/>
          <a:ln/>
        </p:spPr>
        <p:txBody>
          <a:bodyPr wrap="square" lIns="0" tIns="0" rIns="0" bIns="0" rtlCol="0" anchor="t"/>
          <a:lstStyle/>
          <a:p>
            <a:pPr algn="l" indent="0" marL="0">
              <a:lnSpc>
                <a:spcPts val="1400"/>
              </a:lnSpc>
              <a:buNone/>
            </a:pPr>
            <a:r>
              <a:rPr lang="en-US" sz="1000" dirty="0">
                <a:solidFill>
                  <a:srgbClr val="3E475E"/>
                </a:solidFill>
                <a:latin typeface="Arial" pitchFamily="34" charset="0"/>
                <a:ea typeface="Arial" pitchFamily="34" charset="-122"/>
                <a:cs typeface="Arial" pitchFamily="34" charset="-120"/>
              </a:rPr>
              <a:t>Bows, badges, trails</a:t>
            </a:r>
            <a:endParaRPr lang="en-US" sz="1000" dirty="0"/>
          </a:p>
        </p:txBody>
      </p:sp>
      <p:sp>
        <p:nvSpPr>
          <p:cNvPr id="23" name="text 11.22"/>
          <p:cNvSpPr txBox="1"/>
          <p:nvPr/>
        </p:nvSpPr>
        <p:spPr>
          <a:xfrm>
            <a:off x="8064298" y="1955751"/>
            <a:ext cx="71744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THE SHOP</a:t>
            </a:r>
            <a:endParaRPr lang="en-US" sz="800" dirty="0"/>
          </a:p>
        </p:txBody>
      </p:sp>
      <p:sp>
        <p:nvSpPr>
          <p:cNvPr id="24" name="text 11.23"/>
          <p:cNvSpPr txBox="1"/>
          <p:nvPr/>
        </p:nvSpPr>
        <p:spPr>
          <a:xfrm>
            <a:off x="8064298" y="2158946"/>
            <a:ext cx="3340016" cy="579820"/>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An in-game shop where players browse cosmetics, try them on in the lobby and dress their cube before a session.</a:t>
            </a:r>
            <a:endParaRPr lang="en-US" sz="1050" dirty="0"/>
          </a:p>
        </p:txBody>
      </p:sp>
      <p:sp>
        <p:nvSpPr>
          <p:cNvPr id="25" name="text 11.24"/>
          <p:cNvSpPr txBox="1"/>
          <p:nvPr/>
        </p:nvSpPr>
        <p:spPr>
          <a:xfrm>
            <a:off x="8064298" y="3101897"/>
            <a:ext cx="128072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PURELY COSMETIC</a:t>
            </a:r>
            <a:endParaRPr lang="en-US" sz="800" dirty="0"/>
          </a:p>
        </p:txBody>
      </p:sp>
      <p:sp>
        <p:nvSpPr>
          <p:cNvPr id="26" name="text 11.25"/>
          <p:cNvSpPr txBox="1"/>
          <p:nvPr/>
        </p:nvSpPr>
        <p:spPr>
          <a:xfrm>
            <a:off x="8064298" y="3305092"/>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Nothing in the shop changes mass, speed or the shot. Every player stays on equal terms.</a:t>
            </a:r>
            <a:endParaRPr lang="en-US" sz="1050" dirty="0"/>
          </a:p>
        </p:txBody>
      </p:sp>
      <p:sp>
        <p:nvSpPr>
          <p:cNvPr id="27" name="text 11.26"/>
          <p:cNvSpPr txBox="1"/>
          <p:nvPr/>
        </p:nvSpPr>
        <p:spPr>
          <a:xfrm>
            <a:off x="8064298" y="4248044"/>
            <a:ext cx="1330472"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ALWAYS READABLE</a:t>
            </a:r>
            <a:endParaRPr lang="en-US" sz="800" dirty="0"/>
          </a:p>
        </p:txBody>
      </p:sp>
      <p:sp>
        <p:nvSpPr>
          <p:cNvPr id="28" name="text 11.27"/>
          <p:cNvSpPr txBox="1"/>
          <p:nvPr/>
        </p:nvSpPr>
        <p:spPr>
          <a:xfrm>
            <a:off x="8064298" y="4451239"/>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Cosmetics never cover the barrel or the eyes, so where a player is aiming stays clear in every fight.</a:t>
            </a:r>
            <a:endParaRPr lang="en-US" sz="1050" dirty="0"/>
          </a:p>
        </p:txBody>
      </p:sp>
      <p:sp>
        <p:nvSpPr>
          <p:cNvPr id="29" name="text 11.28"/>
          <p:cNvSpPr txBox="1"/>
          <p:nvPr/>
        </p:nvSpPr>
        <p:spPr>
          <a:xfrm>
            <a:off x="8064298" y="5394190"/>
            <a:ext cx="1892602"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THE CROWN STAYS SPECIAL</a:t>
            </a:r>
            <a:endParaRPr lang="en-US" sz="800" dirty="0"/>
          </a:p>
        </p:txBody>
      </p:sp>
      <p:sp>
        <p:nvSpPr>
          <p:cNvPr id="30" name="text 11.29"/>
          <p:cNvSpPr txBox="1"/>
          <p:nvPr/>
        </p:nvSpPr>
        <p:spPr>
          <a:xfrm>
            <a:off x="8064298" y="5597385"/>
            <a:ext cx="3340016" cy="386547"/>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The crown is not for sale: only the current session leader wears it, so everyone knows who to catch.</a:t>
            </a:r>
            <a:endParaRPr lang="en-US" sz="1050" dirty="0"/>
          </a:p>
        </p:txBody>
      </p:sp>
      <p:pic>
        <p:nvPicPr>
          <p:cNvPr id="31" name="raster 11.30" descr="diagram">    </p:cNvPr>
          <p:cNvPicPr>
            <a:picLocks noChangeAspect="1"/>
          </p:cNvPicPr>
          <p:nvPr/>
        </p:nvPicPr>
        <p:blipFill>
          <a:blip r:embed="rId3"/>
          <a:stretch>
            <a:fillRect/>
          </a:stretch>
        </p:blipFill>
        <p:spPr>
          <a:xfrm>
            <a:off x="609585" y="266693"/>
            <a:ext cx="190495" cy="190495"/>
          </a:xfrm>
          <a:prstGeom prst="rect">
            <a:avLst/>
          </a:prstGeom>
        </p:spPr>
      </p:pic>
      <p:sp>
        <p:nvSpPr>
          <p:cNvPr id="32" name="text 11.31"/>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3" name="text 11.32"/>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4" name="text 11.33"/>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5" name="text 11.34"/>
          <p:cNvSpPr txBox="1"/>
          <p:nvPr/>
        </p:nvSpPr>
        <p:spPr>
          <a:xfrm>
            <a:off x="11296070" y="6546686"/>
            <a:ext cx="366701"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11 / 28</a:t>
            </a:r>
            <a:endParaRPr lang="en-US" sz="750" dirty="0"/>
          </a:p>
        </p:txBody>
      </p:sp>
      <p:sp>
        <p:nvSpPr>
          <p:cNvPr id="36" name="text 11.35"/>
          <p:cNvSpPr txBox="1"/>
          <p:nvPr/>
        </p:nvSpPr>
        <p:spPr>
          <a:xfrm>
            <a:off x="609585" y="698483"/>
            <a:ext cx="2110828"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02 · GAMEPLAY · COSMETICS</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2.1"/>
          <p:cNvSpPr/>
          <p:nvPr/>
        </p:nvSpPr>
        <p:spPr>
          <a:xfrm>
            <a:off x="609585" y="1955751"/>
            <a:ext cx="2095448" cy="444489"/>
          </a:xfrm>
          <a:prstGeom prst="roundRect">
            <a:avLst>
              <a:gd name="adj" fmla="val 34286"/>
            </a:avLst>
          </a:prstGeom>
          <a:solidFill>
            <a:srgbClr val="FFF0E6"/>
          </a:solidFill>
          <a:ln w="12700">
            <a:solidFill>
              <a:srgbClr val="E4E9DD"/>
            </a:solidFill>
            <a:prstDash val="solid"/>
          </a:ln>
        </p:spPr>
      </p:sp>
      <p:sp>
        <p:nvSpPr>
          <p:cNvPr id="3" name="shape 12.2"/>
          <p:cNvSpPr/>
          <p:nvPr/>
        </p:nvSpPr>
        <p:spPr>
          <a:xfrm>
            <a:off x="2832029" y="1955751"/>
            <a:ext cx="2095448" cy="444489"/>
          </a:xfrm>
          <a:prstGeom prst="roundRect">
            <a:avLst>
              <a:gd name="adj" fmla="val 34286"/>
            </a:avLst>
          </a:prstGeom>
          <a:solidFill>
            <a:srgbClr val="F1E9FF"/>
          </a:solidFill>
          <a:ln w="12700">
            <a:solidFill>
              <a:srgbClr val="E4E9DD"/>
            </a:solidFill>
            <a:prstDash val="solid"/>
          </a:ln>
        </p:spPr>
      </p:sp>
      <p:sp>
        <p:nvSpPr>
          <p:cNvPr id="4" name="shape 12.3"/>
          <p:cNvSpPr/>
          <p:nvPr/>
        </p:nvSpPr>
        <p:spPr>
          <a:xfrm>
            <a:off x="5054474" y="1955751"/>
            <a:ext cx="2095448" cy="444489"/>
          </a:xfrm>
          <a:prstGeom prst="roundRect">
            <a:avLst>
              <a:gd name="adj" fmla="val 34286"/>
            </a:avLst>
          </a:prstGeom>
          <a:solidFill>
            <a:srgbClr val="E3F2FB"/>
          </a:solidFill>
          <a:ln w="12700">
            <a:solidFill>
              <a:srgbClr val="E4E9DD"/>
            </a:solidFill>
            <a:prstDash val="solid"/>
          </a:ln>
        </p:spPr>
      </p:sp>
      <p:sp>
        <p:nvSpPr>
          <p:cNvPr id="5" name="shape 12.4"/>
          <p:cNvSpPr/>
          <p:nvPr/>
        </p:nvSpPr>
        <p:spPr>
          <a:xfrm>
            <a:off x="7276918" y="1955751"/>
            <a:ext cx="2095448" cy="444489"/>
          </a:xfrm>
          <a:prstGeom prst="roundRect">
            <a:avLst>
              <a:gd name="adj" fmla="val 34286"/>
            </a:avLst>
          </a:prstGeom>
          <a:solidFill>
            <a:srgbClr val="E7F5E1"/>
          </a:solidFill>
          <a:ln w="12700">
            <a:solidFill>
              <a:srgbClr val="E4E9DD"/>
            </a:solidFill>
            <a:prstDash val="solid"/>
          </a:ln>
        </p:spPr>
      </p:sp>
      <p:sp>
        <p:nvSpPr>
          <p:cNvPr id="6" name="shape 12.5"/>
          <p:cNvSpPr/>
          <p:nvPr/>
        </p:nvSpPr>
        <p:spPr>
          <a:xfrm>
            <a:off x="9499363" y="1955751"/>
            <a:ext cx="2095448" cy="444489"/>
          </a:xfrm>
          <a:prstGeom prst="roundRect">
            <a:avLst>
              <a:gd name="adj" fmla="val 34286"/>
            </a:avLst>
          </a:prstGeom>
          <a:ln w="12700">
            <a:solidFill>
              <a:srgbClr val="C9CFC0"/>
            </a:solidFill>
            <a:prstDash val="dash"/>
          </a:ln>
        </p:spPr>
      </p:sp>
      <p:sp>
        <p:nvSpPr>
          <p:cNvPr id="7" name="shape 12.6"/>
          <p:cNvSpPr/>
          <p:nvPr/>
        </p:nvSpPr>
        <p:spPr>
          <a:xfrm>
            <a:off x="609585" y="2717732"/>
            <a:ext cx="10972526" cy="406390"/>
          </a:xfrm>
          <a:prstGeom prst="roundRect">
            <a:avLst>
              <a:gd name="adj" fmla="val 37500"/>
            </a:avLst>
          </a:prstGeom>
          <a:solidFill>
            <a:srgbClr val="FFF6DA"/>
          </a:solidFill>
          <a:ln w="12700">
            <a:solidFill>
              <a:srgbClr val="E4E9DD"/>
            </a:solidFill>
            <a:prstDash val="solid"/>
          </a:ln>
        </p:spPr>
      </p:sp>
      <p:sp>
        <p:nvSpPr>
          <p:cNvPr id="8" name="shape 12.7"/>
          <p:cNvSpPr/>
          <p:nvPr/>
        </p:nvSpPr>
        <p:spPr>
          <a:xfrm>
            <a:off x="609585" y="3441614"/>
            <a:ext cx="3555911" cy="609585"/>
          </a:xfrm>
          <a:prstGeom prst="roundRect">
            <a:avLst>
              <a:gd name="adj" fmla="val 25000"/>
            </a:avLst>
          </a:prstGeom>
          <a:solidFill>
            <a:srgbClr val="FFFFFF"/>
          </a:solidFill>
          <a:ln w="12700">
            <a:solidFill>
              <a:srgbClr val="E4E9DD"/>
            </a:solidFill>
            <a:prstDash val="solid"/>
          </a:ln>
        </p:spPr>
      </p:sp>
      <p:sp>
        <p:nvSpPr>
          <p:cNvPr id="9" name="shape 12.8"/>
          <p:cNvSpPr/>
          <p:nvPr/>
        </p:nvSpPr>
        <p:spPr>
          <a:xfrm>
            <a:off x="4317892" y="3441614"/>
            <a:ext cx="3555911" cy="609585"/>
          </a:xfrm>
          <a:prstGeom prst="roundRect">
            <a:avLst>
              <a:gd name="adj" fmla="val 25000"/>
            </a:avLst>
          </a:prstGeom>
          <a:solidFill>
            <a:srgbClr val="FFFFFF"/>
          </a:solidFill>
          <a:ln w="12700">
            <a:solidFill>
              <a:srgbClr val="E4E9DD"/>
            </a:solidFill>
            <a:prstDash val="solid"/>
          </a:ln>
        </p:spPr>
      </p:sp>
      <p:sp>
        <p:nvSpPr>
          <p:cNvPr id="10" name="shape 12.9"/>
          <p:cNvSpPr/>
          <p:nvPr/>
        </p:nvSpPr>
        <p:spPr>
          <a:xfrm>
            <a:off x="8026199" y="3441614"/>
            <a:ext cx="3555911" cy="609585"/>
          </a:xfrm>
          <a:prstGeom prst="roundRect">
            <a:avLst>
              <a:gd name="adj" fmla="val 25000"/>
            </a:avLst>
          </a:prstGeom>
          <a:solidFill>
            <a:srgbClr val="FFFFFF"/>
          </a:solidFill>
          <a:ln w="12700">
            <a:solidFill>
              <a:srgbClr val="E4E9DD"/>
            </a:solidFill>
            <a:prstDash val="solid"/>
          </a:ln>
        </p:spPr>
      </p:sp>
      <p:sp>
        <p:nvSpPr>
          <p:cNvPr id="11" name="shape 12.10"/>
          <p:cNvSpPr/>
          <p:nvPr/>
        </p:nvSpPr>
        <p:spPr>
          <a:xfrm>
            <a:off x="609585" y="4152796"/>
            <a:ext cx="3555911" cy="609585"/>
          </a:xfrm>
          <a:prstGeom prst="roundRect">
            <a:avLst>
              <a:gd name="adj" fmla="val 25000"/>
            </a:avLst>
          </a:prstGeom>
          <a:solidFill>
            <a:srgbClr val="FFFFFF"/>
          </a:solidFill>
          <a:ln w="12700">
            <a:solidFill>
              <a:srgbClr val="E4E9DD"/>
            </a:solidFill>
            <a:prstDash val="solid"/>
          </a:ln>
        </p:spPr>
      </p:sp>
      <p:sp>
        <p:nvSpPr>
          <p:cNvPr id="12" name="shape 12.11"/>
          <p:cNvSpPr/>
          <p:nvPr/>
        </p:nvSpPr>
        <p:spPr>
          <a:xfrm>
            <a:off x="4317892" y="4152796"/>
            <a:ext cx="3555911" cy="609585"/>
          </a:xfrm>
          <a:prstGeom prst="roundRect">
            <a:avLst>
              <a:gd name="adj" fmla="val 25000"/>
            </a:avLst>
          </a:prstGeom>
          <a:solidFill>
            <a:srgbClr val="FFFFFF"/>
          </a:solidFill>
          <a:ln w="12700">
            <a:solidFill>
              <a:srgbClr val="E4E9DD"/>
            </a:solidFill>
            <a:prstDash val="solid"/>
          </a:ln>
        </p:spPr>
      </p:sp>
      <p:sp>
        <p:nvSpPr>
          <p:cNvPr id="13" name="shape 12.12"/>
          <p:cNvSpPr/>
          <p:nvPr/>
        </p:nvSpPr>
        <p:spPr>
          <a:xfrm>
            <a:off x="8026199" y="4152796"/>
            <a:ext cx="3555911" cy="609585"/>
          </a:xfrm>
          <a:prstGeom prst="roundRect">
            <a:avLst>
              <a:gd name="adj" fmla="val 25000"/>
            </a:avLst>
          </a:prstGeom>
          <a:solidFill>
            <a:srgbClr val="FFFFFF"/>
          </a:solidFill>
          <a:ln w="12700">
            <a:solidFill>
              <a:srgbClr val="E4E9DD"/>
            </a:solidFill>
            <a:prstDash val="solid"/>
          </a:ln>
        </p:spPr>
      </p:sp>
      <p:sp>
        <p:nvSpPr>
          <p:cNvPr id="14" name="shape 12.13"/>
          <p:cNvSpPr/>
          <p:nvPr/>
        </p:nvSpPr>
        <p:spPr>
          <a:xfrm>
            <a:off x="609585" y="5117972"/>
            <a:ext cx="10972526" cy="406390"/>
          </a:xfrm>
          <a:prstGeom prst="roundRect">
            <a:avLst>
              <a:gd name="adj" fmla="val 37500"/>
            </a:avLst>
          </a:prstGeom>
          <a:solidFill>
            <a:srgbClr val="F1E9FF"/>
          </a:solidFill>
          <a:ln w="12700">
            <a:solidFill>
              <a:srgbClr val="E4E9DD"/>
            </a:solidFill>
            <a:prstDash val="solid"/>
          </a:ln>
        </p:spPr>
      </p:sp>
      <p:sp>
        <p:nvSpPr>
          <p:cNvPr id="15" name="shape 12.14"/>
          <p:cNvSpPr/>
          <p:nvPr/>
        </p:nvSpPr>
        <p:spPr>
          <a:xfrm>
            <a:off x="609585" y="5841854"/>
            <a:ext cx="10972526" cy="406390"/>
          </a:xfrm>
          <a:prstGeom prst="roundRect">
            <a:avLst>
              <a:gd name="adj" fmla="val 37500"/>
            </a:avLst>
          </a:prstGeom>
          <a:solidFill>
            <a:srgbClr val="1B2340"/>
          </a:solidFill>
          <a:ln w="12700">
            <a:solidFill>
              <a:srgbClr val="E4E9DD"/>
            </a:solidFill>
            <a:prstDash val="solid"/>
          </a:ln>
        </p:spPr>
      </p:sp>
      <p:sp>
        <p:nvSpPr>
          <p:cNvPr id="16" name="text 12.15"/>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Technical design</a:t>
            </a:r>
            <a:endParaRPr lang="en-US" sz="3000" dirty="0"/>
          </a:p>
        </p:txBody>
      </p:sp>
      <p:sp>
        <p:nvSpPr>
          <p:cNvPr id="17" name="text 12.16"/>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One shared core;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every mini-game plugs into it.</a:t>
            </a:r>
            <a:endParaRPr lang="en-US" sz="1350" dirty="0"/>
          </a:p>
        </p:txBody>
      </p:sp>
      <p:sp>
        <p:nvSpPr>
          <p:cNvPr id="18" name="text 12.17"/>
          <p:cNvSpPr txBox="1"/>
          <p:nvPr/>
        </p:nvSpPr>
        <p:spPr>
          <a:xfrm>
            <a:off x="609585" y="1790655"/>
            <a:ext cx="75246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MINI-GAMES</a:t>
            </a:r>
            <a:endParaRPr lang="en-US" sz="700" dirty="0"/>
          </a:p>
        </p:txBody>
      </p:sp>
      <p:sp>
        <p:nvSpPr>
          <p:cNvPr id="19" name="text 12.18"/>
          <p:cNvSpPr txBox="1"/>
          <p:nvPr/>
        </p:nvSpPr>
        <p:spPr>
          <a:xfrm>
            <a:off x="609585"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FF6B1F"/>
                </a:solidFill>
                <a:latin typeface="Arial" pitchFamily="34" charset="0"/>
                <a:ea typeface="Arial" pitchFamily="34" charset="-122"/>
                <a:cs typeface="Arial" pitchFamily="34" charset="-120"/>
              </a:rPr>
              <a:t>Knockback Arena</a:t>
            </a:r>
            <a:endParaRPr lang="en-US" sz="1050" dirty="0"/>
          </a:p>
        </p:txBody>
      </p:sp>
      <p:sp>
        <p:nvSpPr>
          <p:cNvPr id="20" name="text 12.19"/>
          <p:cNvSpPr txBox="1"/>
          <p:nvPr/>
        </p:nvSpPr>
        <p:spPr>
          <a:xfrm>
            <a:off x="2832029"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8F55F5"/>
                </a:solidFill>
                <a:latin typeface="Arial" pitchFamily="34" charset="0"/>
                <a:ea typeface="Arial" pitchFamily="34" charset="-122"/>
                <a:cs typeface="Arial" pitchFamily="34" charset="-120"/>
              </a:rPr>
              <a:t>Blast Parkour</a:t>
            </a:r>
            <a:endParaRPr lang="en-US" sz="1050" dirty="0"/>
          </a:p>
        </p:txBody>
      </p:sp>
      <p:sp>
        <p:nvSpPr>
          <p:cNvPr id="21" name="text 12.20"/>
          <p:cNvSpPr txBox="1"/>
          <p:nvPr/>
        </p:nvSpPr>
        <p:spPr>
          <a:xfrm>
            <a:off x="5054474"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1FA9EA"/>
                </a:solidFill>
                <a:latin typeface="Arial" pitchFamily="34" charset="0"/>
                <a:ea typeface="Arial" pitchFamily="34" charset="-122"/>
                <a:cs typeface="Arial" pitchFamily="34" charset="-120"/>
              </a:rPr>
              <a:t>Ice Loop</a:t>
            </a:r>
            <a:endParaRPr lang="en-US" sz="1050" dirty="0"/>
          </a:p>
        </p:txBody>
      </p:sp>
      <p:sp>
        <p:nvSpPr>
          <p:cNvPr id="22" name="text 12.21"/>
          <p:cNvSpPr txBox="1"/>
          <p:nvPr/>
        </p:nvSpPr>
        <p:spPr>
          <a:xfrm>
            <a:off x="7276918"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43B832"/>
                </a:solidFill>
                <a:latin typeface="Arial" pitchFamily="34" charset="0"/>
                <a:ea typeface="Arial" pitchFamily="34" charset="-122"/>
                <a:cs typeface="Arial" pitchFamily="34" charset="-120"/>
              </a:rPr>
              <a:t>Hole Grab</a:t>
            </a:r>
            <a:endParaRPr lang="en-US" sz="1050" dirty="0"/>
          </a:p>
        </p:txBody>
      </p:sp>
      <p:sp>
        <p:nvSpPr>
          <p:cNvPr id="23" name="text 12.22"/>
          <p:cNvSpPr txBox="1"/>
          <p:nvPr/>
        </p:nvSpPr>
        <p:spPr>
          <a:xfrm>
            <a:off x="9499363" y="1955751"/>
            <a:ext cx="2095448" cy="444489"/>
          </a:xfrm>
          <a:prstGeom prst="rect">
            <a:avLst/>
          </a:prstGeom>
          <a:noFill/>
          <a:ln/>
        </p:spPr>
        <p:txBody>
          <a:bodyPr wrap="square" lIns="0" tIns="0" rIns="0" bIns="0" rtlCol="0" anchor="ctr"/>
          <a:lstStyle/>
          <a:p>
            <a:pPr algn="ctr" indent="0" marL="0">
              <a:lnSpc>
                <a:spcPts val="1210"/>
              </a:lnSpc>
              <a:buNone/>
            </a:pPr>
            <a:r>
              <a:rPr lang="en-US" sz="1050" b="1" dirty="0">
                <a:solidFill>
                  <a:srgbClr val="6F778C"/>
                </a:solidFill>
                <a:latin typeface="Arial" pitchFamily="34" charset="0"/>
                <a:ea typeface="Arial" pitchFamily="34" charset="-122"/>
                <a:cs typeface="Arial" pitchFamily="34" charset="-120"/>
              </a:rPr>
              <a:t>Battle, more</a:t>
            </a:r>
            <a:endParaRPr lang="en-US" sz="1050" dirty="0"/>
          </a:p>
        </p:txBody>
      </p:sp>
      <p:sp>
        <p:nvSpPr>
          <p:cNvPr id="24" name="text 12.23"/>
          <p:cNvSpPr txBox="1"/>
          <p:nvPr/>
        </p:nvSpPr>
        <p:spPr>
          <a:xfrm>
            <a:off x="609585" y="2552636"/>
            <a:ext cx="68273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CONTRACT</a:t>
            </a:r>
            <a:endParaRPr lang="en-US" sz="700" dirty="0"/>
          </a:p>
        </p:txBody>
      </p:sp>
      <p:sp>
        <p:nvSpPr>
          <p:cNvPr id="25" name="text 12.24"/>
          <p:cNvSpPr txBox="1"/>
          <p:nvPr/>
        </p:nvSpPr>
        <p:spPr>
          <a:xfrm>
            <a:off x="609585" y="2717732"/>
            <a:ext cx="10972526" cy="406390"/>
          </a:xfrm>
          <a:prstGeom prst="rect">
            <a:avLst/>
          </a:prstGeom>
          <a:noFill/>
          <a:ln/>
        </p:spPr>
        <p:txBody>
          <a:bodyPr wrap="square" lIns="0" tIns="0" rIns="0" bIns="0" rtlCol="0" anchor="ctr"/>
          <a:lstStyle/>
          <a:p>
            <a:pPr algn="ctr" indent="0" marL="0">
              <a:lnSpc>
                <a:spcPts val="1210"/>
              </a:lnSpc>
              <a:buNone/>
            </a:pPr>
            <a:r>
              <a:rPr lang="en-US" sz="1050" b="1" dirty="0">
                <a:solidFill>
                  <a:srgbClr val="8A6200"/>
                </a:solidFill>
                <a:latin typeface="Arial" pitchFamily="34" charset="0"/>
                <a:ea typeface="Arial" pitchFamily="34" charset="-122"/>
                <a:cs typeface="Arial" pitchFamily="34" charset="-120"/>
              </a:rPr>
              <a:t>Setup(players, settings) → Run() → Results() : placement</a:t>
            </a:r>
            <a:endParaRPr lang="en-US" sz="1050" dirty="0"/>
          </a:p>
        </p:txBody>
      </p:sp>
      <p:sp>
        <p:nvSpPr>
          <p:cNvPr id="26" name="text 12.25"/>
          <p:cNvSpPr txBox="1"/>
          <p:nvPr/>
        </p:nvSpPr>
        <p:spPr>
          <a:xfrm>
            <a:off x="609585" y="3276518"/>
            <a:ext cx="11826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SHARED GAMEPLAY</a:t>
            </a:r>
            <a:endParaRPr lang="en-US" sz="700" dirty="0"/>
          </a:p>
        </p:txBody>
      </p:sp>
      <p:sp>
        <p:nvSpPr>
          <p:cNvPr id="27" name="text 12.26"/>
          <p:cNvSpPr txBox="1"/>
          <p:nvPr/>
        </p:nvSpPr>
        <p:spPr>
          <a:xfrm>
            <a:off x="609585" y="3530512"/>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Cube controller</a:t>
            </a:r>
            <a:endParaRPr lang="en-US" sz="1200" dirty="0"/>
          </a:p>
        </p:txBody>
      </p:sp>
      <p:sp>
        <p:nvSpPr>
          <p:cNvPr id="28" name="text 12.27"/>
          <p:cNvSpPr txBox="1"/>
          <p:nvPr/>
        </p:nvSpPr>
        <p:spPr>
          <a:xfrm>
            <a:off x="609585" y="3759106"/>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WASD, jump, dash</a:t>
            </a:r>
            <a:endParaRPr lang="en-US" sz="850" dirty="0"/>
          </a:p>
        </p:txBody>
      </p:sp>
      <p:sp>
        <p:nvSpPr>
          <p:cNvPr id="29" name="text 12.28"/>
          <p:cNvSpPr txBox="1"/>
          <p:nvPr/>
        </p:nvSpPr>
        <p:spPr>
          <a:xfrm>
            <a:off x="4317892" y="3530512"/>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TPS camera</a:t>
            </a:r>
            <a:endParaRPr lang="en-US" sz="1200" dirty="0"/>
          </a:p>
        </p:txBody>
      </p:sp>
      <p:sp>
        <p:nvSpPr>
          <p:cNvPr id="30" name="text 12.29"/>
          <p:cNvSpPr txBox="1"/>
          <p:nvPr/>
        </p:nvSpPr>
        <p:spPr>
          <a:xfrm>
            <a:off x="4317892" y="3759106"/>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per-game tweaks</a:t>
            </a:r>
            <a:endParaRPr lang="en-US" sz="850" dirty="0"/>
          </a:p>
        </p:txBody>
      </p:sp>
      <p:sp>
        <p:nvSpPr>
          <p:cNvPr id="31" name="text 12.30"/>
          <p:cNvSpPr txBox="1"/>
          <p:nvPr/>
        </p:nvSpPr>
        <p:spPr>
          <a:xfrm>
            <a:off x="8026199" y="3530512"/>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Shot system</a:t>
            </a:r>
            <a:endParaRPr lang="en-US" sz="1200" dirty="0"/>
          </a:p>
        </p:txBody>
      </p:sp>
      <p:sp>
        <p:nvSpPr>
          <p:cNvPr id="32" name="text 12.31"/>
          <p:cNvSpPr txBox="1"/>
          <p:nvPr/>
        </p:nvSpPr>
        <p:spPr>
          <a:xfrm>
            <a:off x="8026199" y="3759106"/>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effect set per game</a:t>
            </a:r>
            <a:endParaRPr lang="en-US" sz="850" dirty="0"/>
          </a:p>
        </p:txBody>
      </p:sp>
      <p:sp>
        <p:nvSpPr>
          <p:cNvPr id="33" name="text 12.32"/>
          <p:cNvSpPr txBox="1"/>
          <p:nvPr/>
        </p:nvSpPr>
        <p:spPr>
          <a:xfrm>
            <a:off x="609585" y="4241694"/>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Session &amp; playlist</a:t>
            </a:r>
            <a:endParaRPr lang="en-US" sz="1200" dirty="0"/>
          </a:p>
        </p:txBody>
      </p:sp>
      <p:sp>
        <p:nvSpPr>
          <p:cNvPr id="34" name="text 12.33"/>
          <p:cNvSpPr txBox="1"/>
          <p:nvPr/>
        </p:nvSpPr>
        <p:spPr>
          <a:xfrm>
            <a:off x="609585" y="4470288"/>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end rules, exclusions</a:t>
            </a:r>
            <a:endParaRPr lang="en-US" sz="850" dirty="0"/>
          </a:p>
        </p:txBody>
      </p:sp>
      <p:sp>
        <p:nvSpPr>
          <p:cNvPr id="35" name="text 12.34"/>
          <p:cNvSpPr txBox="1"/>
          <p:nvPr/>
        </p:nvSpPr>
        <p:spPr>
          <a:xfrm>
            <a:off x="4317892" y="4241694"/>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Scoreboard</a:t>
            </a:r>
            <a:endParaRPr lang="en-US" sz="1200" dirty="0"/>
          </a:p>
        </p:txBody>
      </p:sp>
      <p:sp>
        <p:nvSpPr>
          <p:cNvPr id="36" name="text 12.35"/>
          <p:cNvSpPr txBox="1"/>
          <p:nvPr/>
        </p:nvSpPr>
        <p:spPr>
          <a:xfrm>
            <a:off x="4317892" y="4470288"/>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points, comeback, crown</a:t>
            </a:r>
            <a:endParaRPr lang="en-US" sz="850" dirty="0"/>
          </a:p>
        </p:txBody>
      </p:sp>
      <p:sp>
        <p:nvSpPr>
          <p:cNvPr id="37" name="text 12.36"/>
          <p:cNvSpPr txBox="1"/>
          <p:nvPr/>
        </p:nvSpPr>
        <p:spPr>
          <a:xfrm>
            <a:off x="8026199" y="4241694"/>
            <a:ext cx="3555911" cy="175256"/>
          </a:xfrm>
          <a:prstGeom prst="rect">
            <a:avLst/>
          </a:prstGeom>
          <a:noFill/>
          <a:ln/>
        </p:spPr>
        <p:txBody>
          <a:bodyPr wrap="square" lIns="0" tIns="0" rIns="0" bIns="0" rtlCol="0" anchor="t"/>
          <a:lstStyle/>
          <a:p>
            <a:pPr algn="ctr" indent="0" marL="0">
              <a:lnSpc>
                <a:spcPts val="1380"/>
              </a:lnSpc>
              <a:buNone/>
            </a:pPr>
            <a:r>
              <a:rPr lang="en-US" sz="1200" dirty="0">
                <a:solidFill>
                  <a:srgbClr val="1B2340"/>
                </a:solidFill>
                <a:latin typeface="Arial Rounded MT Bold" pitchFamily="34" charset="0"/>
                <a:ea typeface="Arial Rounded MT Bold" pitchFamily="34" charset="-122"/>
                <a:cs typeface="Arial Rounded MT Bold" pitchFamily="34" charset="-120"/>
              </a:rPr>
              <a:t>Menus, UI, shop</a:t>
            </a:r>
            <a:endParaRPr lang="en-US" sz="1200" dirty="0"/>
          </a:p>
        </p:txBody>
      </p:sp>
      <p:sp>
        <p:nvSpPr>
          <p:cNvPr id="38" name="text 12.37"/>
          <p:cNvSpPr txBox="1"/>
          <p:nvPr/>
        </p:nvSpPr>
        <p:spPr>
          <a:xfrm>
            <a:off x="8026199" y="4470288"/>
            <a:ext cx="3555911" cy="151126"/>
          </a:xfrm>
          <a:prstGeom prst="rect">
            <a:avLst/>
          </a:prstGeom>
          <a:noFill/>
          <a:ln/>
        </p:spPr>
        <p:txBody>
          <a:bodyPr wrap="square" lIns="0" tIns="0" rIns="0" bIns="0" rtlCol="0" anchor="t"/>
          <a:lstStyle/>
          <a:p>
            <a:pPr algn="ctr" indent="0" marL="0">
              <a:lnSpc>
                <a:spcPts val="1190"/>
              </a:lnSpc>
              <a:buNone/>
            </a:pPr>
            <a:r>
              <a:rPr lang="en-US" sz="850" dirty="0">
                <a:solidFill>
                  <a:srgbClr val="3E475E"/>
                </a:solidFill>
                <a:latin typeface="Arial" pitchFamily="34" charset="0"/>
                <a:ea typeface="Arial" pitchFamily="34" charset="-122"/>
                <a:cs typeface="Arial" pitchFamily="34" charset="-120"/>
              </a:rPr>
              <a:t>join, settings, cosmetics</a:t>
            </a:r>
            <a:endParaRPr lang="en-US" sz="850" dirty="0"/>
          </a:p>
        </p:txBody>
      </p:sp>
      <p:sp>
        <p:nvSpPr>
          <p:cNvPr id="39" name="text 12.38"/>
          <p:cNvSpPr txBox="1"/>
          <p:nvPr/>
        </p:nvSpPr>
        <p:spPr>
          <a:xfrm>
            <a:off x="609585" y="4952876"/>
            <a:ext cx="62951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NETWORK</a:t>
            </a:r>
            <a:endParaRPr lang="en-US" sz="700" dirty="0"/>
          </a:p>
        </p:txBody>
      </p:sp>
      <p:sp>
        <p:nvSpPr>
          <p:cNvPr id="40" name="text 12.39"/>
          <p:cNvSpPr txBox="1"/>
          <p:nvPr/>
        </p:nvSpPr>
        <p:spPr>
          <a:xfrm>
            <a:off x="609585" y="5117972"/>
            <a:ext cx="10972526" cy="406390"/>
          </a:xfrm>
          <a:prstGeom prst="rect">
            <a:avLst/>
          </a:prstGeom>
          <a:noFill/>
          <a:ln/>
        </p:spPr>
        <p:txBody>
          <a:bodyPr wrap="square" lIns="0" tIns="0" rIns="0" bIns="0" rtlCol="0" anchor="ctr"/>
          <a:lstStyle/>
          <a:p>
            <a:pPr algn="ctr" indent="0" marL="0">
              <a:lnSpc>
                <a:spcPts val="1210"/>
              </a:lnSpc>
              <a:buNone/>
            </a:pPr>
            <a:r>
              <a:rPr lang="en-US" sz="1050" b="1" dirty="0">
                <a:solidFill>
                  <a:srgbClr val="8F55F5"/>
                </a:solidFill>
                <a:latin typeface="Arial" pitchFamily="34" charset="0"/>
                <a:ea typeface="Arial" pitchFamily="34" charset="-122"/>
                <a:cs typeface="Arial" pitchFamily="34" charset="-120"/>
              </a:rPr>
              <a:t>One player hosts, the others join as clients · Unity Netcode (candidate) · online servers later</a:t>
            </a:r>
            <a:endParaRPr lang="en-US" sz="1050" dirty="0"/>
          </a:p>
        </p:txBody>
      </p:sp>
      <p:sp>
        <p:nvSpPr>
          <p:cNvPr id="41" name="text 12.40"/>
          <p:cNvSpPr txBox="1"/>
          <p:nvPr/>
        </p:nvSpPr>
        <p:spPr>
          <a:xfrm>
            <a:off x="609585" y="5676758"/>
            <a:ext cx="49269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ENGINE</a:t>
            </a:r>
            <a:endParaRPr lang="en-US" sz="700" dirty="0"/>
          </a:p>
        </p:txBody>
      </p:sp>
      <p:sp>
        <p:nvSpPr>
          <p:cNvPr id="42" name="text 12.41"/>
          <p:cNvSpPr txBox="1"/>
          <p:nvPr/>
        </p:nvSpPr>
        <p:spPr>
          <a:xfrm>
            <a:off x="4914182" y="5968355"/>
            <a:ext cx="2568630" cy="153349"/>
          </a:xfrm>
          <a:prstGeom prst="rect">
            <a:avLst/>
          </a:prstGeom>
          <a:noFill/>
          <a:ln/>
        </p:spPr>
        <p:txBody>
          <a:bodyPr wrap="square" lIns="0" tIns="0" rIns="0" bIns="0" rtlCol="0" anchor="t"/>
          <a:lstStyle/>
          <a:p>
            <a:pPr algn="l" indent="0" marL="0">
              <a:lnSpc>
                <a:spcPts val="1210"/>
              </a:lnSpc>
              <a:buNone/>
            </a:pPr>
            <a:r>
              <a:rPr lang="en-US" sz="1050" b="1" dirty="0">
                <a:solidFill>
                  <a:srgbClr val="FFFFFF"/>
                </a:solidFill>
                <a:latin typeface="Arial" pitchFamily="34" charset="0"/>
                <a:ea typeface="Arial" pitchFamily="34" charset="-122"/>
                <a:cs typeface="Arial" pitchFamily="34" charset="-120"/>
              </a:rPr>
              <a:t>Unity · 3D · built-in rigidbody physics</a:t>
            </a:r>
            <a:endParaRPr lang="en-US" sz="1050" dirty="0"/>
          </a:p>
        </p:txBody>
      </p:sp>
      <p:pic>
        <p:nvPicPr>
          <p:cNvPr id="43" name="raster 12.42" descr="diagram">    </p:cNvPr>
          <p:cNvPicPr>
            <a:picLocks noChangeAspect="1"/>
          </p:cNvPicPr>
          <p:nvPr/>
        </p:nvPicPr>
        <p:blipFill>
          <a:blip r:embed="rId2"/>
          <a:stretch>
            <a:fillRect/>
          </a:stretch>
        </p:blipFill>
        <p:spPr>
          <a:xfrm>
            <a:off x="609585" y="266693"/>
            <a:ext cx="190495" cy="190495"/>
          </a:xfrm>
          <a:prstGeom prst="rect">
            <a:avLst/>
          </a:prstGeom>
        </p:spPr>
      </p:pic>
      <p:sp>
        <p:nvSpPr>
          <p:cNvPr id="44" name="text 12.4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5" name="text 12.4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46" name="text 12.4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7" name="text 12.4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12 / 28</a:t>
            </a:r>
            <a:endParaRPr lang="en-US" sz="750" dirty="0"/>
          </a:p>
        </p:txBody>
      </p:sp>
      <p:sp>
        <p:nvSpPr>
          <p:cNvPr id="48" name="text 12.47"/>
          <p:cNvSpPr txBox="1"/>
          <p:nvPr/>
        </p:nvSpPr>
        <p:spPr>
          <a:xfrm>
            <a:off x="609585" y="698483"/>
            <a:ext cx="170645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02 · GAMEPLAY &amp; TECH</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3.1"/>
          <p:cNvSpPr/>
          <p:nvPr/>
        </p:nvSpPr>
        <p:spPr>
          <a:xfrm>
            <a:off x="1015975" y="1790655"/>
            <a:ext cx="2158946" cy="584185"/>
          </a:xfrm>
          <a:prstGeom prst="roundRect">
            <a:avLst>
              <a:gd name="adj" fmla="val 2608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3.2"/>
          <p:cNvSpPr/>
          <p:nvPr/>
        </p:nvSpPr>
        <p:spPr>
          <a:xfrm>
            <a:off x="5016375" y="1790655"/>
            <a:ext cx="2158946" cy="584185"/>
          </a:xfrm>
          <a:prstGeom prst="roundRect">
            <a:avLst>
              <a:gd name="adj" fmla="val 2608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3.3"/>
          <p:cNvSpPr/>
          <p:nvPr/>
        </p:nvSpPr>
        <p:spPr>
          <a:xfrm>
            <a:off x="9016775" y="1790655"/>
            <a:ext cx="2158946" cy="584185"/>
          </a:xfrm>
          <a:prstGeom prst="roundRect">
            <a:avLst>
              <a:gd name="adj" fmla="val 2608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3.4"/>
          <p:cNvSpPr/>
          <p:nvPr/>
        </p:nvSpPr>
        <p:spPr>
          <a:xfrm>
            <a:off x="609585" y="5587860"/>
            <a:ext cx="10972526" cy="711182"/>
          </a:xfrm>
          <a:prstGeom prst="roundRect">
            <a:avLst>
              <a:gd name="adj" fmla="val 21429"/>
            </a:avLst>
          </a:prstGeom>
          <a:solidFill>
            <a:srgbClr val="E3F2FB"/>
          </a:solidFill>
          <a:ln w="12700">
            <a:solidFill>
              <a:srgbClr val="CDE7F7"/>
            </a:solidFill>
            <a:prstDash val="solid"/>
          </a:ln>
          <a:effectLst>
            <a:outerShdw sx="100000" sy="100000" kx="0" ky="0" algn="bl" rotWithShape="0" blurRad="203200" dist="76200" dir="5400000">
              <a:srgbClr val="1E468C">
                <a:alpha val="16000"/>
              </a:srgbClr>
            </a:outerShdw>
          </a:effectLst>
        </p:spPr>
      </p:sp>
      <p:pic>
        <p:nvPicPr>
          <p:cNvPr id="6" name="raster 13.5" descr="diagram">    </p:cNvPr>
          <p:cNvPicPr>
            <a:picLocks noChangeAspect="1"/>
          </p:cNvPicPr>
          <p:nvPr/>
        </p:nvPicPr>
        <p:blipFill>
          <a:blip r:embed="rId2"/>
          <a:stretch>
            <a:fillRect/>
          </a:stretch>
        </p:blipFill>
        <p:spPr>
          <a:xfrm>
            <a:off x="2044649" y="2584385"/>
            <a:ext cx="4101997" cy="215895"/>
          </a:xfrm>
          <a:prstGeom prst="rect">
            <a:avLst/>
          </a:prstGeom>
        </p:spPr>
      </p:pic>
      <p:pic>
        <p:nvPicPr>
          <p:cNvPr id="7" name="raster 13.6" descr="diagram">    </p:cNvPr>
          <p:cNvPicPr>
            <a:picLocks noChangeAspect="1"/>
          </p:cNvPicPr>
          <p:nvPr/>
        </p:nvPicPr>
        <p:blipFill>
          <a:blip r:embed="rId3"/>
          <a:stretch>
            <a:fillRect/>
          </a:stretch>
        </p:blipFill>
        <p:spPr>
          <a:xfrm>
            <a:off x="2044649" y="4717932"/>
            <a:ext cx="4101997" cy="215895"/>
          </a:xfrm>
          <a:prstGeom prst="rect">
            <a:avLst/>
          </a:prstGeom>
        </p:spPr>
      </p:pic>
      <p:pic>
        <p:nvPicPr>
          <p:cNvPr id="8" name="raster 13.7" descr="diagram">    </p:cNvPr>
          <p:cNvPicPr>
            <a:picLocks noChangeAspect="1"/>
          </p:cNvPicPr>
          <p:nvPr/>
        </p:nvPicPr>
        <p:blipFill>
          <a:blip r:embed="rId4"/>
          <a:stretch>
            <a:fillRect/>
          </a:stretch>
        </p:blipFill>
        <p:spPr>
          <a:xfrm>
            <a:off x="6045049" y="4717932"/>
            <a:ext cx="4101997" cy="215895"/>
          </a:xfrm>
          <a:prstGeom prst="rect">
            <a:avLst/>
          </a:prstGeom>
        </p:spPr>
      </p:pic>
      <p:sp>
        <p:nvSpPr>
          <p:cNvPr id="9" name="text 13.8"/>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One shot in Knockback Arena, over the network</a:t>
            </a:r>
            <a:endParaRPr lang="en-US" sz="3000" dirty="0"/>
          </a:p>
        </p:txBody>
      </p:sp>
      <p:sp>
        <p:nvSpPr>
          <p:cNvPr id="10" name="text 13.9"/>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The host decides;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every screen agrees.</a:t>
            </a:r>
            <a:endParaRPr lang="en-US" sz="1350" dirty="0"/>
          </a:p>
        </p:txBody>
      </p:sp>
      <p:pic>
        <p:nvPicPr>
          <p:cNvPr id="11" name="raster 13.10" descr="diagram">    </p:cNvPr>
          <p:cNvPicPr>
            <a:picLocks noChangeAspect="1"/>
          </p:cNvPicPr>
          <p:nvPr/>
        </p:nvPicPr>
        <p:blipFill>
          <a:blip r:embed="rId5"/>
          <a:stretch>
            <a:fillRect/>
          </a:stretch>
        </p:blipFill>
        <p:spPr>
          <a:xfrm>
            <a:off x="1142971" y="1930352"/>
            <a:ext cx="379701" cy="292093"/>
          </a:xfrm>
          <a:prstGeom prst="rect">
            <a:avLst/>
          </a:prstGeom>
        </p:spPr>
      </p:pic>
      <p:sp>
        <p:nvSpPr>
          <p:cNvPr id="12" name="text 13.11"/>
          <p:cNvSpPr txBox="1"/>
          <p:nvPr/>
        </p:nvSpPr>
        <p:spPr>
          <a:xfrm>
            <a:off x="1625559" y="1904952"/>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Client A</a:t>
            </a:r>
            <a:endParaRPr lang="en-US" sz="1500" dirty="0"/>
          </a:p>
        </p:txBody>
      </p:sp>
      <p:sp>
        <p:nvSpPr>
          <p:cNvPr id="13" name="text 13.12"/>
          <p:cNvSpPr txBox="1"/>
          <p:nvPr/>
        </p:nvSpPr>
        <p:spPr>
          <a:xfrm>
            <a:off x="1625559" y="2146246"/>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shooter</a:t>
            </a:r>
            <a:endParaRPr lang="en-US" sz="850" dirty="0"/>
          </a:p>
        </p:txBody>
      </p:sp>
      <p:sp>
        <p:nvSpPr>
          <p:cNvPr id="14" name="shape 13.13"/>
          <p:cNvSpPr/>
          <p:nvPr/>
        </p:nvSpPr>
        <p:spPr>
          <a:xfrm>
            <a:off x="2089098" y="2374841"/>
            <a:ext cx="12700" cy="3073323"/>
          </a:xfrm>
          <a:prstGeom prst="rect">
            <a:avLst/>
          </a:prstGeom>
          <a:solidFill>
            <a:srgbClr val="C9CFC0"/>
          </a:solidFill>
          <a:ln/>
        </p:spPr>
      </p:sp>
      <p:sp>
        <p:nvSpPr>
          <p:cNvPr id="15" name="text 13.14"/>
          <p:cNvSpPr txBox="1"/>
          <p:nvPr/>
        </p:nvSpPr>
        <p:spPr>
          <a:xfrm>
            <a:off x="5016375" y="1904952"/>
            <a:ext cx="2158946" cy="190495"/>
          </a:xfrm>
          <a:prstGeom prst="rect">
            <a:avLst/>
          </a:prstGeom>
          <a:noFill/>
          <a:ln/>
        </p:spPr>
        <p:txBody>
          <a:bodyPr wrap="square" lIns="0" tIns="0" rIns="0" bIns="0" rtlCol="0" anchor="t"/>
          <a:lstStyle/>
          <a:p>
            <a:pPr algn="ctr" indent="0" marL="0">
              <a:lnSpc>
                <a:spcPts val="1500"/>
              </a:lnSpc>
              <a:buNone/>
            </a:pPr>
            <a:r>
              <a:rPr lang="en-US" sz="1500" dirty="0">
                <a:solidFill>
                  <a:srgbClr val="1B2340"/>
                </a:solidFill>
                <a:latin typeface="Arial Rounded MT Bold" pitchFamily="34" charset="0"/>
                <a:ea typeface="Arial Rounded MT Bold" pitchFamily="34" charset="-122"/>
                <a:cs typeface="Arial Rounded MT Bold" pitchFamily="34" charset="-120"/>
              </a:rPr>
              <a:t>Host</a:t>
            </a:r>
            <a:endParaRPr lang="en-US" sz="1500" dirty="0"/>
          </a:p>
        </p:txBody>
      </p:sp>
      <p:sp>
        <p:nvSpPr>
          <p:cNvPr id="16" name="text 13.15"/>
          <p:cNvSpPr txBox="1"/>
          <p:nvPr/>
        </p:nvSpPr>
        <p:spPr>
          <a:xfrm>
            <a:off x="5016375" y="2146246"/>
            <a:ext cx="2158946" cy="151126"/>
          </a:xfrm>
          <a:prstGeom prst="rect">
            <a:avLst/>
          </a:prstGeom>
          <a:noFill/>
          <a:ln/>
        </p:spPr>
        <p:txBody>
          <a:bodyPr wrap="square" lIns="0" tIns="0" rIns="0" bIns="0" rtlCol="0" anchor="t"/>
          <a:lstStyle/>
          <a:p>
            <a:pPr algn="ctr" indent="0" marL="0">
              <a:lnSpc>
                <a:spcPts val="1190"/>
              </a:lnSpc>
              <a:buNone/>
            </a:pPr>
            <a:r>
              <a:rPr lang="en-US" sz="850" dirty="0">
                <a:solidFill>
                  <a:srgbClr val="6F778C"/>
                </a:solidFill>
                <a:latin typeface="Arial" pitchFamily="34" charset="0"/>
                <a:ea typeface="Arial" pitchFamily="34" charset="-122"/>
                <a:cs typeface="Arial" pitchFamily="34" charset="-120"/>
              </a:rPr>
              <a:t>runs the physics</a:t>
            </a:r>
            <a:endParaRPr lang="en-US" sz="850" dirty="0"/>
          </a:p>
        </p:txBody>
      </p:sp>
      <p:sp>
        <p:nvSpPr>
          <p:cNvPr id="17" name="shape 13.16"/>
          <p:cNvSpPr/>
          <p:nvPr/>
        </p:nvSpPr>
        <p:spPr>
          <a:xfrm>
            <a:off x="6089498" y="2374841"/>
            <a:ext cx="12700" cy="3073323"/>
          </a:xfrm>
          <a:prstGeom prst="rect">
            <a:avLst/>
          </a:prstGeom>
          <a:solidFill>
            <a:srgbClr val="C9CFC0"/>
          </a:solidFill>
          <a:ln/>
        </p:spPr>
      </p:sp>
      <p:pic>
        <p:nvPicPr>
          <p:cNvPr id="18" name="raster 13.17" descr="diagram">    </p:cNvPr>
          <p:cNvPicPr>
            <a:picLocks noChangeAspect="1"/>
          </p:cNvPicPr>
          <p:nvPr/>
        </p:nvPicPr>
        <p:blipFill>
          <a:blip r:embed="rId6"/>
          <a:stretch>
            <a:fillRect/>
          </a:stretch>
        </p:blipFill>
        <p:spPr>
          <a:xfrm>
            <a:off x="9143771" y="1930352"/>
            <a:ext cx="379701" cy="292093"/>
          </a:xfrm>
          <a:prstGeom prst="rect">
            <a:avLst/>
          </a:prstGeom>
        </p:spPr>
      </p:pic>
      <p:sp>
        <p:nvSpPr>
          <p:cNvPr id="19" name="text 13.18"/>
          <p:cNvSpPr txBox="1"/>
          <p:nvPr/>
        </p:nvSpPr>
        <p:spPr>
          <a:xfrm>
            <a:off x="9626359" y="1904952"/>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1FA9EA"/>
                </a:solidFill>
                <a:latin typeface="Arial Rounded MT Bold" pitchFamily="34" charset="0"/>
                <a:ea typeface="Arial Rounded MT Bold" pitchFamily="34" charset="-122"/>
                <a:cs typeface="Arial Rounded MT Bold" pitchFamily="34" charset="-120"/>
              </a:rPr>
              <a:t>Client B</a:t>
            </a:r>
            <a:endParaRPr lang="en-US" sz="1500" dirty="0"/>
          </a:p>
        </p:txBody>
      </p:sp>
      <p:sp>
        <p:nvSpPr>
          <p:cNvPr id="20" name="text 13.19"/>
          <p:cNvSpPr txBox="1"/>
          <p:nvPr/>
        </p:nvSpPr>
        <p:spPr>
          <a:xfrm>
            <a:off x="9626359" y="2146246"/>
            <a:ext cx="1562061"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target</a:t>
            </a:r>
            <a:endParaRPr lang="en-US" sz="850" dirty="0"/>
          </a:p>
        </p:txBody>
      </p:sp>
      <p:sp>
        <p:nvSpPr>
          <p:cNvPr id="21" name="shape 13.20"/>
          <p:cNvSpPr/>
          <p:nvPr/>
        </p:nvSpPr>
        <p:spPr>
          <a:xfrm>
            <a:off x="10089898" y="2374841"/>
            <a:ext cx="12700" cy="3073323"/>
          </a:xfrm>
          <a:prstGeom prst="rect">
            <a:avLst/>
          </a:prstGeom>
          <a:solidFill>
            <a:srgbClr val="C9CFC0"/>
          </a:solidFill>
          <a:ln/>
        </p:spPr>
      </p:sp>
      <p:sp>
        <p:nvSpPr>
          <p:cNvPr id="22" name="shape 13.21"/>
          <p:cNvSpPr/>
          <p:nvPr/>
        </p:nvSpPr>
        <p:spPr>
          <a:xfrm>
            <a:off x="2355791" y="2571686"/>
            <a:ext cx="241294" cy="241294"/>
          </a:xfrm>
          <a:prstGeom prst="roundRect">
            <a:avLst>
              <a:gd name="adj" fmla="val 50000"/>
            </a:avLst>
          </a:prstGeom>
          <a:solidFill>
            <a:srgbClr val="FF6B1F"/>
          </a:solidFill>
          <a:ln w="12700">
            <a:solidFill>
              <a:srgbClr val="E4E9DD"/>
            </a:solidFill>
            <a:prstDash val="solid"/>
          </a:ln>
        </p:spPr>
      </p:sp>
      <p:sp>
        <p:nvSpPr>
          <p:cNvPr id="23" name="text 13.22"/>
          <p:cNvSpPr txBox="1"/>
          <p:nvPr/>
        </p:nvSpPr>
        <p:spPr>
          <a:xfrm>
            <a:off x="2355791" y="257168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1</a:t>
            </a:r>
            <a:endParaRPr lang="en-US" sz="950" dirty="0"/>
          </a:p>
        </p:txBody>
      </p:sp>
      <p:sp>
        <p:nvSpPr>
          <p:cNvPr id="24" name="text 13.23"/>
          <p:cNvSpPr txBox="1"/>
          <p:nvPr/>
        </p:nvSpPr>
        <p:spPr>
          <a:xfrm>
            <a:off x="2679633" y="2451039"/>
            <a:ext cx="1828659"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Fire input and aim direction</a:t>
            </a:r>
            <a:endParaRPr lang="en-US" sz="1000" dirty="0"/>
          </a:p>
        </p:txBody>
      </p:sp>
      <p:sp>
        <p:nvSpPr>
          <p:cNvPr id="25" name="shape 13.24"/>
          <p:cNvSpPr/>
          <p:nvPr/>
        </p:nvSpPr>
        <p:spPr>
          <a:xfrm>
            <a:off x="6025999" y="2882828"/>
            <a:ext cx="139697" cy="1663658"/>
          </a:xfrm>
          <a:prstGeom prst="roundRect">
            <a:avLst>
              <a:gd name="adj" fmla="val 50000"/>
            </a:avLst>
          </a:prstGeom>
          <a:solidFill>
            <a:srgbClr val="FF6B1F"/>
          </a:solidFill>
          <a:ln/>
        </p:spPr>
      </p:sp>
      <p:sp>
        <p:nvSpPr>
          <p:cNvPr id="26" name="shape 13.25"/>
          <p:cNvSpPr/>
          <p:nvPr/>
        </p:nvSpPr>
        <p:spPr>
          <a:xfrm>
            <a:off x="6305392" y="2952676"/>
            <a:ext cx="241294" cy="241294"/>
          </a:xfrm>
          <a:prstGeom prst="roundRect">
            <a:avLst>
              <a:gd name="adj" fmla="val 50000"/>
            </a:avLst>
          </a:prstGeom>
          <a:solidFill>
            <a:srgbClr val="FFFFFF"/>
          </a:solidFill>
          <a:ln w="12700">
            <a:solidFill>
              <a:srgbClr val="E4E9DD"/>
            </a:solidFill>
            <a:prstDash val="solid"/>
          </a:ln>
        </p:spPr>
      </p:sp>
      <p:sp>
        <p:nvSpPr>
          <p:cNvPr id="27" name="text 13.26"/>
          <p:cNvSpPr txBox="1"/>
          <p:nvPr/>
        </p:nvSpPr>
        <p:spPr>
          <a:xfrm>
            <a:off x="6305392" y="295267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2</a:t>
            </a:r>
            <a:endParaRPr lang="en-US" sz="950" dirty="0"/>
          </a:p>
        </p:txBody>
      </p:sp>
      <p:sp>
        <p:nvSpPr>
          <p:cNvPr id="28" name="text 13.27"/>
          <p:cNvSpPr txBox="1"/>
          <p:nvPr/>
        </p:nvSpPr>
        <p:spPr>
          <a:xfrm>
            <a:off x="6629234" y="2990775"/>
            <a:ext cx="3594010" cy="330192"/>
          </a:xfrm>
          <a:prstGeom prst="rect">
            <a:avLst/>
          </a:prstGeom>
          <a:noFill/>
          <a:ln/>
        </p:spPr>
        <p:txBody>
          <a:bodyPr wrap="square" lIns="0" tIns="0" rIns="0" bIns="0" rtlCol="0" anchor="t"/>
          <a:lstStyle/>
          <a:p>
            <a:pPr algn="l" indent="0" marL="0">
              <a:lnSpc>
                <a:spcPts val="1300"/>
              </a:lnSpc>
              <a:buNone/>
            </a:pPr>
            <a:r>
              <a:rPr lang="en-US" sz="1000" dirty="0">
                <a:solidFill>
                  <a:srgbClr val="1B2340"/>
                </a:solidFill>
                <a:latin typeface="Arial" pitchFamily="34" charset="0"/>
                <a:ea typeface="Arial" pitchFamily="34" charset="-122"/>
                <a:cs typeface="Arial" pitchFamily="34" charset="-120"/>
              </a:rPr>
              <a:t>Check the fire-rate limit and spawn the projectile. The shooter is not affected.</a:t>
            </a:r>
            <a:endParaRPr lang="en-US" sz="1000" dirty="0"/>
          </a:p>
        </p:txBody>
      </p:sp>
      <p:sp>
        <p:nvSpPr>
          <p:cNvPr id="29" name="shape 13.28"/>
          <p:cNvSpPr/>
          <p:nvPr/>
        </p:nvSpPr>
        <p:spPr>
          <a:xfrm>
            <a:off x="6305392" y="3498763"/>
            <a:ext cx="241294" cy="241294"/>
          </a:xfrm>
          <a:prstGeom prst="roundRect">
            <a:avLst>
              <a:gd name="adj" fmla="val 50000"/>
            </a:avLst>
          </a:prstGeom>
          <a:solidFill>
            <a:srgbClr val="FFFFFF"/>
          </a:solidFill>
          <a:ln w="12700">
            <a:solidFill>
              <a:srgbClr val="E4E9DD"/>
            </a:solidFill>
            <a:prstDash val="solid"/>
          </a:ln>
        </p:spPr>
      </p:sp>
      <p:sp>
        <p:nvSpPr>
          <p:cNvPr id="30" name="text 13.29"/>
          <p:cNvSpPr txBox="1"/>
          <p:nvPr/>
        </p:nvSpPr>
        <p:spPr>
          <a:xfrm>
            <a:off x="6305392" y="3498763"/>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3</a:t>
            </a:r>
            <a:endParaRPr lang="en-US" sz="950" dirty="0"/>
          </a:p>
        </p:txBody>
      </p:sp>
      <p:sp>
        <p:nvSpPr>
          <p:cNvPr id="31" name="text 13.30"/>
          <p:cNvSpPr txBox="1"/>
          <p:nvPr/>
        </p:nvSpPr>
        <p:spPr>
          <a:xfrm>
            <a:off x="6629234" y="3536862"/>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1B2340"/>
                </a:solidFill>
                <a:latin typeface="Arial" pitchFamily="34" charset="0"/>
                <a:ea typeface="Arial" pitchFamily="34" charset="-122"/>
                <a:cs typeface="Arial" pitchFamily="34" charset="-120"/>
              </a:rPr>
              <a:t>Physics step: the projectile reaches B.</a:t>
            </a:r>
            <a:endParaRPr lang="en-US" sz="1000" dirty="0"/>
          </a:p>
        </p:txBody>
      </p:sp>
      <p:sp>
        <p:nvSpPr>
          <p:cNvPr id="32" name="shape 13.31"/>
          <p:cNvSpPr/>
          <p:nvPr/>
        </p:nvSpPr>
        <p:spPr>
          <a:xfrm>
            <a:off x="6305392" y="4044849"/>
            <a:ext cx="241294" cy="241294"/>
          </a:xfrm>
          <a:prstGeom prst="roundRect">
            <a:avLst>
              <a:gd name="adj" fmla="val 50000"/>
            </a:avLst>
          </a:prstGeom>
          <a:solidFill>
            <a:srgbClr val="FFFFFF"/>
          </a:solidFill>
          <a:ln w="12700">
            <a:solidFill>
              <a:srgbClr val="E4E9DD"/>
            </a:solidFill>
            <a:prstDash val="solid"/>
          </a:ln>
        </p:spPr>
      </p:sp>
      <p:sp>
        <p:nvSpPr>
          <p:cNvPr id="33" name="text 13.32"/>
          <p:cNvSpPr txBox="1"/>
          <p:nvPr/>
        </p:nvSpPr>
        <p:spPr>
          <a:xfrm>
            <a:off x="6305392" y="4044849"/>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4</a:t>
            </a:r>
            <a:endParaRPr lang="en-US" sz="950" dirty="0"/>
          </a:p>
        </p:txBody>
      </p:sp>
      <p:sp>
        <p:nvSpPr>
          <p:cNvPr id="34" name="text 13.33"/>
          <p:cNvSpPr txBox="1"/>
          <p:nvPr/>
        </p:nvSpPr>
        <p:spPr>
          <a:xfrm>
            <a:off x="6629234" y="4082948"/>
            <a:ext cx="3594010" cy="330192"/>
          </a:xfrm>
          <a:prstGeom prst="rect">
            <a:avLst/>
          </a:prstGeom>
          <a:noFill/>
          <a:ln/>
        </p:spPr>
        <p:txBody>
          <a:bodyPr wrap="square" lIns="0" tIns="0" rIns="0" bIns="0" rtlCol="0" anchor="t"/>
          <a:lstStyle/>
          <a:p>
            <a:pPr algn="l" indent="0" marL="0">
              <a:lnSpc>
                <a:spcPts val="1300"/>
              </a:lnSpc>
              <a:buNone/>
            </a:pPr>
            <a:r>
              <a:rPr lang="en-US" sz="1000" dirty="0">
                <a:solidFill>
                  <a:srgbClr val="1B2340"/>
                </a:solidFill>
                <a:latin typeface="Arial" pitchFamily="34" charset="0"/>
                <a:ea typeface="Arial" pitchFamily="34" charset="-122"/>
                <a:cs typeface="Arial" pitchFamily="34" charset="-120"/>
              </a:rPr>
              <a:t>Apply this mini-game’s effect: B loses mass and is pushed from the shot’s direction.</a:t>
            </a:r>
            <a:endParaRPr lang="en-US" sz="1000" dirty="0"/>
          </a:p>
        </p:txBody>
      </p:sp>
      <p:sp>
        <p:nvSpPr>
          <p:cNvPr id="35" name="shape 13.34"/>
          <p:cNvSpPr/>
          <p:nvPr/>
        </p:nvSpPr>
        <p:spPr>
          <a:xfrm>
            <a:off x="5581510" y="4705232"/>
            <a:ext cx="241294" cy="241294"/>
          </a:xfrm>
          <a:prstGeom prst="roundRect">
            <a:avLst>
              <a:gd name="adj" fmla="val 50000"/>
            </a:avLst>
          </a:prstGeom>
          <a:solidFill>
            <a:srgbClr val="1FA9EA"/>
          </a:solidFill>
          <a:ln w="12700">
            <a:solidFill>
              <a:srgbClr val="E4E9DD"/>
            </a:solidFill>
            <a:prstDash val="solid"/>
          </a:ln>
        </p:spPr>
      </p:sp>
      <p:sp>
        <p:nvSpPr>
          <p:cNvPr id="36" name="text 13.35"/>
          <p:cNvSpPr txBox="1"/>
          <p:nvPr/>
        </p:nvSpPr>
        <p:spPr>
          <a:xfrm>
            <a:off x="5581510" y="470523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7" name="shape 13.36"/>
          <p:cNvSpPr/>
          <p:nvPr/>
        </p:nvSpPr>
        <p:spPr>
          <a:xfrm>
            <a:off x="6368891" y="4705232"/>
            <a:ext cx="241294" cy="241294"/>
          </a:xfrm>
          <a:prstGeom prst="roundRect">
            <a:avLst>
              <a:gd name="adj" fmla="val 50000"/>
            </a:avLst>
          </a:prstGeom>
          <a:solidFill>
            <a:srgbClr val="1FA9EA"/>
          </a:solidFill>
          <a:ln w="12700">
            <a:solidFill>
              <a:srgbClr val="E4E9DD"/>
            </a:solidFill>
            <a:prstDash val="solid"/>
          </a:ln>
        </p:spPr>
      </p:sp>
      <p:sp>
        <p:nvSpPr>
          <p:cNvPr id="38" name="text 13.37"/>
          <p:cNvSpPr txBox="1"/>
          <p:nvPr/>
        </p:nvSpPr>
        <p:spPr>
          <a:xfrm>
            <a:off x="6368891" y="470523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39" name="text 13.38"/>
          <p:cNvSpPr txBox="1"/>
          <p:nvPr/>
        </p:nvSpPr>
        <p:spPr>
          <a:xfrm>
            <a:off x="2349441" y="4584585"/>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Snapshot: positions, mass, scores</a:t>
            </a:r>
            <a:endParaRPr lang="en-US" sz="1000" dirty="0"/>
          </a:p>
        </p:txBody>
      </p:sp>
      <p:sp>
        <p:nvSpPr>
          <p:cNvPr id="40" name="text 13.39"/>
          <p:cNvSpPr txBox="1"/>
          <p:nvPr/>
        </p:nvSpPr>
        <p:spPr>
          <a:xfrm>
            <a:off x="6743531" y="4584585"/>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B2340"/>
                </a:solidFill>
                <a:latin typeface="Arial" pitchFamily="34" charset="0"/>
                <a:ea typeface="Arial" pitchFamily="34" charset="-122"/>
                <a:cs typeface="Arial" pitchFamily="34" charset="-120"/>
              </a:rPr>
              <a:t>The same snapshot to all clients</a:t>
            </a:r>
            <a:endParaRPr lang="en-US" sz="1000" dirty="0"/>
          </a:p>
        </p:txBody>
      </p:sp>
      <p:sp>
        <p:nvSpPr>
          <p:cNvPr id="41" name="shape 13.40"/>
          <p:cNvSpPr/>
          <p:nvPr/>
        </p:nvSpPr>
        <p:spPr>
          <a:xfrm>
            <a:off x="1974801" y="5137022"/>
            <a:ext cx="241294" cy="241294"/>
          </a:xfrm>
          <a:prstGeom prst="roundRect">
            <a:avLst>
              <a:gd name="adj" fmla="val 50000"/>
            </a:avLst>
          </a:prstGeom>
          <a:solidFill>
            <a:srgbClr val="FFFFFF"/>
          </a:solidFill>
          <a:ln w="12700">
            <a:solidFill>
              <a:srgbClr val="E4E9DD"/>
            </a:solidFill>
            <a:prstDash val="solid"/>
          </a:ln>
        </p:spPr>
      </p:sp>
      <p:sp>
        <p:nvSpPr>
          <p:cNvPr id="42" name="text 13.41"/>
          <p:cNvSpPr txBox="1"/>
          <p:nvPr/>
        </p:nvSpPr>
        <p:spPr>
          <a:xfrm>
            <a:off x="1974801" y="513702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6</a:t>
            </a:r>
            <a:endParaRPr lang="en-US" sz="950" dirty="0"/>
          </a:p>
        </p:txBody>
      </p:sp>
      <p:sp>
        <p:nvSpPr>
          <p:cNvPr id="43" name="shape 13.42"/>
          <p:cNvSpPr/>
          <p:nvPr/>
        </p:nvSpPr>
        <p:spPr>
          <a:xfrm>
            <a:off x="9975601" y="5137022"/>
            <a:ext cx="241294" cy="241294"/>
          </a:xfrm>
          <a:prstGeom prst="roundRect">
            <a:avLst>
              <a:gd name="adj" fmla="val 50000"/>
            </a:avLst>
          </a:prstGeom>
          <a:solidFill>
            <a:srgbClr val="FFFFFF"/>
          </a:solidFill>
          <a:ln w="12700">
            <a:solidFill>
              <a:srgbClr val="E4E9DD"/>
            </a:solidFill>
            <a:prstDash val="solid"/>
          </a:ln>
        </p:spPr>
      </p:sp>
      <p:sp>
        <p:nvSpPr>
          <p:cNvPr id="44" name="text 13.43"/>
          <p:cNvSpPr txBox="1"/>
          <p:nvPr/>
        </p:nvSpPr>
        <p:spPr>
          <a:xfrm>
            <a:off x="9975601" y="5137022"/>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B2340"/>
                </a:solidFill>
                <a:latin typeface="Arial Rounded MT Bold" pitchFamily="34" charset="0"/>
                <a:ea typeface="Arial Rounded MT Bold" pitchFamily="34" charset="-122"/>
                <a:cs typeface="Arial Rounded MT Bold" pitchFamily="34" charset="-120"/>
              </a:rPr>
              <a:t>6</a:t>
            </a:r>
            <a:endParaRPr lang="en-US" sz="950" dirty="0"/>
          </a:p>
        </p:txBody>
      </p:sp>
      <p:sp>
        <p:nvSpPr>
          <p:cNvPr id="45" name="text 13.44"/>
          <p:cNvSpPr txBox="1"/>
          <p:nvPr/>
        </p:nvSpPr>
        <p:spPr>
          <a:xfrm>
            <a:off x="2324042" y="5175121"/>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3E475E"/>
                </a:solidFill>
                <a:latin typeface="Arial" pitchFamily="34" charset="0"/>
                <a:ea typeface="Arial" pitchFamily="34" charset="-122"/>
                <a:cs typeface="Arial" pitchFamily="34" charset="-120"/>
              </a:rPr>
              <a:t>Clients interpolate between snapshots and draw.</a:t>
            </a:r>
            <a:endParaRPr lang="en-US" sz="1000" dirty="0"/>
          </a:p>
        </p:txBody>
      </p:sp>
      <p:sp>
        <p:nvSpPr>
          <p:cNvPr id="46" name="text 13.45"/>
          <p:cNvSpPr txBox="1"/>
          <p:nvPr/>
        </p:nvSpPr>
        <p:spPr>
          <a:xfrm>
            <a:off x="863578" y="5727557"/>
            <a:ext cx="10515337" cy="386547"/>
          </a:xfrm>
          <a:prstGeom prst="rect">
            <a:avLst/>
          </a:prstGeom>
          <a:noFill/>
          <a:ln/>
        </p:spPr>
        <p:txBody>
          <a:bodyPr wrap="square" lIns="0" tIns="0" rIns="0" bIns="0" rtlCol="0" anchor="t"/>
          <a:lstStyle/>
          <a:p>
            <a:pPr algn="l" indent="0" marL="0">
              <a:lnSpc>
                <a:spcPts val="1520"/>
              </a:lnSpc>
              <a:buNone/>
            </a:pPr>
            <a:r>
              <a:rPr lang="en-US" sz="1050" b="1" dirty="0">
                <a:solidFill>
                  <a:srgbClr val="1B2340"/>
                </a:solidFill>
                <a:latin typeface="Arial" pitchFamily="34" charset="0"/>
                <a:ea typeface="Arial" pitchFamily="34" charset="-122"/>
                <a:cs typeface="Arial" pitchFamily="34" charset="-120"/>
              </a:rPr>
              <a:t>Your own movement is predicted locally, so it feels instant.</a:t>
            </a:r>
            <a:pPr algn="l" indent="0" marL="0">
              <a:lnSpc>
                <a:spcPts val="1520"/>
              </a:lnSpc>
              <a:buNone/>
            </a:pPr>
            <a:r>
              <a:rPr lang="en-US" sz="1050" dirty="0">
                <a:solidFill>
                  <a:srgbClr val="3E475E"/>
                </a:solidFill>
                <a:latin typeface="Arial" pitchFamily="34" charset="0"/>
                <a:ea typeface="Arial" pitchFamily="34" charset="-122"/>
                <a:cs typeface="Arial" pitchFamily="34" charset="-120"/>
              </a:rPr>
              <a:t> Everything that decides a result runs on the host, so every screen agrees. </a:t>
            </a:r>
            <a:pPr algn="l" indent="0" marL="0">
              <a:lnSpc>
                <a:spcPts val="1520"/>
              </a:lnSpc>
              <a:buNone/>
            </a:pPr>
            <a:r>
              <a:rPr lang="en-US" sz="1050" b="1" dirty="0">
                <a:solidFill>
                  <a:srgbClr val="FF6B1F"/>
                </a:solidFill>
                <a:latin typeface="Arial" pitchFamily="34" charset="0"/>
                <a:ea typeface="Arial" pitchFamily="34" charset="-122"/>
                <a:cs typeface="Arial" pitchFamily="34" charset="-120"/>
              </a:rPr>
              <a:t>Main risk:</a:t>
            </a:r>
            <a:pPr algn="l" indent="0" marL="0">
              <a:lnSpc>
                <a:spcPts val="1520"/>
              </a:lnSpc>
              <a:buNone/>
            </a:pPr>
            <a:r>
              <a:rPr lang="en-US" sz="1050" dirty="0">
                <a:solidFill>
                  <a:srgbClr val="3E475E"/>
                </a:solidFill>
                <a:latin typeface="Arial" pitchFamily="34" charset="0"/>
                <a:ea typeface="Arial" pitchFamily="34" charset="-122"/>
                <a:cs typeface="Arial" pitchFamily="34" charset="-120"/>
              </a:rPr>
              <a:t> keeping physics smooth on every client; we tune the snapshot rate and test with real players early.</a:t>
            </a:r>
            <a:endParaRPr lang="en-US" sz="1050" dirty="0"/>
          </a:p>
        </p:txBody>
      </p:sp>
      <p:pic>
        <p:nvPicPr>
          <p:cNvPr id="47" name="raster 13.46" descr="diagram">    </p:cNvPr>
          <p:cNvPicPr>
            <a:picLocks noChangeAspect="1"/>
          </p:cNvPicPr>
          <p:nvPr/>
        </p:nvPicPr>
        <p:blipFill>
          <a:blip r:embed="rId7"/>
          <a:stretch>
            <a:fillRect/>
          </a:stretch>
        </p:blipFill>
        <p:spPr>
          <a:xfrm>
            <a:off x="609585" y="266693"/>
            <a:ext cx="190495" cy="190495"/>
          </a:xfrm>
          <a:prstGeom prst="rect">
            <a:avLst/>
          </a:prstGeom>
        </p:spPr>
      </p:pic>
      <p:sp>
        <p:nvSpPr>
          <p:cNvPr id="48" name="text 13.47"/>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9" name="text 13.48"/>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50" name="text 13.49"/>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51" name="text 13.50"/>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13 / 28</a:t>
            </a:r>
            <a:endParaRPr lang="en-US" sz="750" dirty="0"/>
          </a:p>
        </p:txBody>
      </p:sp>
      <p:sp>
        <p:nvSpPr>
          <p:cNvPr id="52" name="text 13.51"/>
          <p:cNvSpPr txBox="1"/>
          <p:nvPr/>
        </p:nvSpPr>
        <p:spPr>
          <a:xfrm>
            <a:off x="609585" y="698483"/>
            <a:ext cx="170645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02 · GAMEPLAY &amp; TECH</a:t>
            </a:r>
            <a:endParaRPr lang="en-US" sz="8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4.1"/>
          <p:cNvSpPr/>
          <p:nvPr/>
        </p:nvSpPr>
        <p:spPr>
          <a:xfrm>
            <a:off x="609585" y="2603435"/>
            <a:ext cx="2628834" cy="2031949"/>
          </a:xfrm>
          <a:prstGeom prst="roundRect">
            <a:avLst>
              <a:gd name="adj" fmla="val 75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4.2"/>
          <p:cNvSpPr/>
          <p:nvPr/>
        </p:nvSpPr>
        <p:spPr>
          <a:xfrm>
            <a:off x="3390815" y="2603435"/>
            <a:ext cx="2628834" cy="2031949"/>
          </a:xfrm>
          <a:prstGeom prst="roundRect">
            <a:avLst>
              <a:gd name="adj" fmla="val 75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4.3"/>
          <p:cNvSpPr/>
          <p:nvPr/>
        </p:nvSpPr>
        <p:spPr>
          <a:xfrm>
            <a:off x="6172046" y="2603435"/>
            <a:ext cx="2628834" cy="2031949"/>
          </a:xfrm>
          <a:prstGeom prst="roundRect">
            <a:avLst>
              <a:gd name="adj" fmla="val 75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4.4"/>
          <p:cNvSpPr/>
          <p:nvPr/>
        </p:nvSpPr>
        <p:spPr>
          <a:xfrm>
            <a:off x="8953276" y="2603435"/>
            <a:ext cx="2628834" cy="2031949"/>
          </a:xfrm>
          <a:prstGeom prst="roundRect">
            <a:avLst>
              <a:gd name="adj" fmla="val 75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14.5"/>
          <p:cNvSpPr/>
          <p:nvPr/>
        </p:nvSpPr>
        <p:spPr>
          <a:xfrm>
            <a:off x="609585" y="4889378"/>
            <a:ext cx="10972526" cy="1396965"/>
          </a:xfrm>
          <a:prstGeom prst="roundRect">
            <a:avLst>
              <a:gd name="adj" fmla="val 10909"/>
            </a:avLst>
          </a:prstGeom>
          <a:solidFill>
            <a:srgbClr val="FFF6DA"/>
          </a:solidFill>
          <a:ln w="12700">
            <a:solidFill>
              <a:srgbClr val="F6E3A6"/>
            </a:solidFill>
            <a:prstDash val="solid"/>
          </a:ln>
          <a:effectLst>
            <a:outerShdw sx="100000" sy="100000" kx="0" ky="0" algn="bl" rotWithShape="0" blurRad="203200" dist="76200" dir="5400000">
              <a:srgbClr val="1E468C">
                <a:alpha val="16000"/>
              </a:srgbClr>
            </a:outerShdw>
          </a:effectLst>
        </p:spPr>
      </p:sp>
      <p:sp>
        <p:nvSpPr>
          <p:cNvPr id="7" name="text 14.6"/>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Market potential &amp; target audience</a:t>
            </a:r>
            <a:endParaRPr lang="en-US" sz="3000" dirty="0"/>
          </a:p>
        </p:txBody>
      </p:sp>
      <p:sp>
        <p:nvSpPr>
          <p:cNvPr id="8" name="text 14.7"/>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People play to play together,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and party games keep selling for years.</a:t>
            </a:r>
            <a:endParaRPr lang="en-US" sz="1350" dirty="0"/>
          </a:p>
        </p:txBody>
      </p:sp>
      <p:sp>
        <p:nvSpPr>
          <p:cNvPr id="9" name="text 14.8"/>
          <p:cNvSpPr txBox="1"/>
          <p:nvPr/>
        </p:nvSpPr>
        <p:spPr>
          <a:xfrm>
            <a:off x="609585" y="1790655"/>
            <a:ext cx="11010625" cy="441909"/>
          </a:xfrm>
          <a:prstGeom prst="rect">
            <a:avLst/>
          </a:prstGeom>
          <a:noFill/>
          <a:ln/>
        </p:spPr>
        <p:txBody>
          <a:bodyPr wrap="square" lIns="0" tIns="0" rIns="0" bIns="0" rtlCol="0" anchor="t"/>
          <a:lstStyle/>
          <a:p>
            <a:pPr algn="l" indent="0" marL="0">
              <a:lnSpc>
                <a:spcPts val="1740"/>
              </a:lnSpc>
              <a:buNone/>
            </a:pPr>
            <a:r>
              <a:rPr lang="en-US" sz="1200" dirty="0">
                <a:solidFill>
                  <a:srgbClr val="3E475E"/>
                </a:solidFill>
                <a:latin typeface="Arial" pitchFamily="34" charset="0"/>
                <a:ea typeface="Arial" pitchFamily="34" charset="-122"/>
                <a:cs typeface="Arial" pitchFamily="34" charset="-120"/>
              </a:rPr>
              <a:t>Our audience is groups of friends who want short, chaotic rounds together, online or in the same room, and the streamers and viewers who enjoy watching party-game chaos.</a:t>
            </a:r>
            <a:endParaRPr lang="en-US" sz="1200" dirty="0"/>
          </a:p>
        </p:txBody>
      </p:sp>
      <p:sp>
        <p:nvSpPr>
          <p:cNvPr id="10" name="shape 14.9"/>
          <p:cNvSpPr/>
          <p:nvPr/>
        </p:nvSpPr>
        <p:spPr>
          <a:xfrm>
            <a:off x="787380" y="2781230"/>
            <a:ext cx="355591" cy="50799"/>
          </a:xfrm>
          <a:prstGeom prst="roundRect">
            <a:avLst>
              <a:gd name="adj" fmla="val 50000"/>
            </a:avLst>
          </a:prstGeom>
          <a:solidFill>
            <a:srgbClr val="FF6B1F"/>
          </a:solidFill>
          <a:ln/>
        </p:spPr>
      </p:sp>
      <p:sp>
        <p:nvSpPr>
          <p:cNvPr id="11" name="text 14.10"/>
          <p:cNvSpPr txBox="1"/>
          <p:nvPr/>
        </p:nvSpPr>
        <p:spPr>
          <a:xfrm>
            <a:off x="787380" y="2984425"/>
            <a:ext cx="1814146" cy="533387"/>
          </a:xfrm>
          <a:prstGeom prst="rect">
            <a:avLst/>
          </a:prstGeom>
          <a:noFill/>
          <a:ln/>
        </p:spPr>
        <p:txBody>
          <a:bodyPr wrap="square" lIns="0" tIns="0" rIns="0" bIns="0" rtlCol="0" anchor="t"/>
          <a:lstStyle/>
          <a:p>
            <a:pPr algn="l" indent="0" marL="0">
              <a:lnSpc>
                <a:spcPts val="4200"/>
              </a:lnSpc>
              <a:buNone/>
            </a:pPr>
            <a:r>
              <a:rPr lang="en-US" sz="4200" dirty="0">
                <a:solidFill>
                  <a:srgbClr val="FF6B1F"/>
                </a:solidFill>
                <a:latin typeface="Arial Rounded MT Bold" pitchFamily="34" charset="0"/>
                <a:ea typeface="Arial Rounded MT Bold" pitchFamily="34" charset="-122"/>
                <a:cs typeface="Arial Rounded MT Bold" pitchFamily="34" charset="-120"/>
              </a:rPr>
              <a:t>$197B</a:t>
            </a:r>
            <a:endParaRPr lang="en-US" sz="4200" dirty="0"/>
          </a:p>
        </p:txBody>
      </p:sp>
      <p:sp>
        <p:nvSpPr>
          <p:cNvPr id="12" name="text 14.11"/>
          <p:cNvSpPr txBox="1"/>
          <p:nvPr/>
        </p:nvSpPr>
        <p:spPr>
          <a:xfrm>
            <a:off x="787380" y="367020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Global games market in 2025, up 7.5% year on year.</a:t>
            </a:r>
            <a:endParaRPr lang="en-US" sz="1100" dirty="0"/>
          </a:p>
        </p:txBody>
      </p:sp>
      <p:sp>
        <p:nvSpPr>
          <p:cNvPr id="13" name="text 14.12"/>
          <p:cNvSpPr txBox="1"/>
          <p:nvPr/>
        </p:nvSpPr>
        <p:spPr>
          <a:xfrm>
            <a:off x="787380" y="4317892"/>
            <a:ext cx="602280"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Newzoo [1]</a:t>
            </a:r>
            <a:endParaRPr lang="en-US" sz="800" dirty="0"/>
          </a:p>
        </p:txBody>
      </p:sp>
      <p:sp>
        <p:nvSpPr>
          <p:cNvPr id="14" name="shape 14.13"/>
          <p:cNvSpPr/>
          <p:nvPr/>
        </p:nvSpPr>
        <p:spPr>
          <a:xfrm>
            <a:off x="3568611" y="2781230"/>
            <a:ext cx="355591" cy="50799"/>
          </a:xfrm>
          <a:prstGeom prst="roundRect">
            <a:avLst>
              <a:gd name="adj" fmla="val 50000"/>
            </a:avLst>
          </a:prstGeom>
          <a:solidFill>
            <a:srgbClr val="1FA9EA"/>
          </a:solidFill>
          <a:ln/>
        </p:spPr>
      </p:sp>
      <p:sp>
        <p:nvSpPr>
          <p:cNvPr id="15" name="text 14.14"/>
          <p:cNvSpPr txBox="1"/>
          <p:nvPr/>
        </p:nvSpPr>
        <p:spPr>
          <a:xfrm>
            <a:off x="3568611" y="2984425"/>
            <a:ext cx="1991040" cy="533387"/>
          </a:xfrm>
          <a:prstGeom prst="rect">
            <a:avLst/>
          </a:prstGeom>
          <a:noFill/>
          <a:ln/>
        </p:spPr>
        <p:txBody>
          <a:bodyPr wrap="square" lIns="0" tIns="0" rIns="0" bIns="0" rtlCol="0" anchor="t"/>
          <a:lstStyle/>
          <a:p>
            <a:pPr algn="l" indent="0" marL="0">
              <a:lnSpc>
                <a:spcPts val="4200"/>
              </a:lnSpc>
              <a:buNone/>
            </a:pPr>
            <a:r>
              <a:rPr lang="en-US" sz="4200" dirty="0">
                <a:solidFill>
                  <a:srgbClr val="1FA9EA"/>
                </a:solidFill>
                <a:latin typeface="Arial Rounded MT Bold" pitchFamily="34" charset="0"/>
                <a:ea typeface="Arial Rounded MT Bold" pitchFamily="34" charset="-122"/>
                <a:cs typeface="Arial Rounded MT Bold" pitchFamily="34" charset="-120"/>
              </a:rPr>
              <a:t>$43.6B</a:t>
            </a:r>
            <a:endParaRPr lang="en-US" sz="4200" dirty="0"/>
          </a:p>
        </p:txBody>
      </p:sp>
      <p:sp>
        <p:nvSpPr>
          <p:cNvPr id="16" name="text 14.15"/>
          <p:cNvSpPr txBox="1"/>
          <p:nvPr/>
        </p:nvSpPr>
        <p:spPr>
          <a:xfrm>
            <a:off x="3568611" y="367020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PC games revenue in 2025, up 12% year on year.</a:t>
            </a:r>
            <a:endParaRPr lang="en-US" sz="1100" dirty="0"/>
          </a:p>
        </p:txBody>
      </p:sp>
      <p:sp>
        <p:nvSpPr>
          <p:cNvPr id="17" name="text 14.16"/>
          <p:cNvSpPr txBox="1"/>
          <p:nvPr/>
        </p:nvSpPr>
        <p:spPr>
          <a:xfrm>
            <a:off x="3568611" y="4317892"/>
            <a:ext cx="602280"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Newzoo [2]</a:t>
            </a:r>
            <a:endParaRPr lang="en-US" sz="800" dirty="0"/>
          </a:p>
        </p:txBody>
      </p:sp>
      <p:sp>
        <p:nvSpPr>
          <p:cNvPr id="18" name="shape 14.17"/>
          <p:cNvSpPr/>
          <p:nvPr/>
        </p:nvSpPr>
        <p:spPr>
          <a:xfrm>
            <a:off x="6349841" y="2781230"/>
            <a:ext cx="355591" cy="50799"/>
          </a:xfrm>
          <a:prstGeom prst="roundRect">
            <a:avLst>
              <a:gd name="adj" fmla="val 50000"/>
            </a:avLst>
          </a:prstGeom>
          <a:solidFill>
            <a:srgbClr val="43B832"/>
          </a:solidFill>
          <a:ln/>
        </p:spPr>
      </p:sp>
      <p:sp>
        <p:nvSpPr>
          <p:cNvPr id="19" name="text 14.18"/>
          <p:cNvSpPr txBox="1"/>
          <p:nvPr/>
        </p:nvSpPr>
        <p:spPr>
          <a:xfrm>
            <a:off x="6349841" y="2984425"/>
            <a:ext cx="1218362" cy="533387"/>
          </a:xfrm>
          <a:prstGeom prst="rect">
            <a:avLst/>
          </a:prstGeom>
          <a:noFill/>
          <a:ln/>
        </p:spPr>
        <p:txBody>
          <a:bodyPr wrap="square" lIns="0" tIns="0" rIns="0" bIns="0" rtlCol="0" anchor="t"/>
          <a:lstStyle/>
          <a:p>
            <a:pPr algn="l" indent="0" marL="0">
              <a:lnSpc>
                <a:spcPts val="4200"/>
              </a:lnSpc>
              <a:buNone/>
            </a:pPr>
            <a:r>
              <a:rPr lang="en-US" sz="4200" dirty="0">
                <a:solidFill>
                  <a:srgbClr val="43B832"/>
                </a:solidFill>
                <a:latin typeface="Arial Rounded MT Bold" pitchFamily="34" charset="0"/>
                <a:ea typeface="Arial Rounded MT Bold" pitchFamily="34" charset="-122"/>
                <a:cs typeface="Arial Rounded MT Bold" pitchFamily="34" charset="-120"/>
              </a:rPr>
              <a:t>70%</a:t>
            </a:r>
            <a:endParaRPr lang="en-US" sz="4200" dirty="0"/>
          </a:p>
        </p:txBody>
      </p:sp>
      <p:sp>
        <p:nvSpPr>
          <p:cNvPr id="20" name="text 14.19"/>
          <p:cNvSpPr txBox="1"/>
          <p:nvPr/>
        </p:nvSpPr>
        <p:spPr>
          <a:xfrm>
            <a:off x="6349841" y="367020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of US players aged 8+ play games with other people.</a:t>
            </a:r>
            <a:endParaRPr lang="en-US" sz="1100" dirty="0"/>
          </a:p>
        </p:txBody>
      </p:sp>
      <p:sp>
        <p:nvSpPr>
          <p:cNvPr id="21" name="text 14.20"/>
          <p:cNvSpPr txBox="1"/>
          <p:nvPr/>
        </p:nvSpPr>
        <p:spPr>
          <a:xfrm>
            <a:off x="6349841" y="4317892"/>
            <a:ext cx="692200"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ESA 2026 [3]</a:t>
            </a:r>
            <a:endParaRPr lang="en-US" sz="800" dirty="0"/>
          </a:p>
        </p:txBody>
      </p:sp>
      <p:sp>
        <p:nvSpPr>
          <p:cNvPr id="22" name="shape 14.21"/>
          <p:cNvSpPr/>
          <p:nvPr/>
        </p:nvSpPr>
        <p:spPr>
          <a:xfrm>
            <a:off x="9131072" y="2781230"/>
            <a:ext cx="355591" cy="50799"/>
          </a:xfrm>
          <a:prstGeom prst="roundRect">
            <a:avLst>
              <a:gd name="adj" fmla="val 50000"/>
            </a:avLst>
          </a:prstGeom>
          <a:solidFill>
            <a:srgbClr val="8F55F5"/>
          </a:solidFill>
          <a:ln/>
        </p:spPr>
      </p:sp>
      <p:sp>
        <p:nvSpPr>
          <p:cNvPr id="23" name="text 14.22"/>
          <p:cNvSpPr txBox="1"/>
          <p:nvPr/>
        </p:nvSpPr>
        <p:spPr>
          <a:xfrm>
            <a:off x="9131072" y="2984425"/>
            <a:ext cx="1655130" cy="533387"/>
          </a:xfrm>
          <a:prstGeom prst="rect">
            <a:avLst/>
          </a:prstGeom>
          <a:noFill/>
          <a:ln/>
        </p:spPr>
        <p:txBody>
          <a:bodyPr wrap="square" lIns="0" tIns="0" rIns="0" bIns="0" rtlCol="0" anchor="t"/>
          <a:lstStyle/>
          <a:p>
            <a:pPr algn="l" indent="0" marL="0">
              <a:lnSpc>
                <a:spcPts val="4200"/>
              </a:lnSpc>
              <a:buNone/>
            </a:pPr>
            <a:r>
              <a:rPr lang="en-US" sz="4200" dirty="0">
                <a:solidFill>
                  <a:srgbClr val="8F55F5"/>
                </a:solidFill>
                <a:latin typeface="Arial Rounded MT Bold" pitchFamily="34" charset="0"/>
                <a:ea typeface="Arial Rounded MT Bold" pitchFamily="34" charset="-122"/>
                <a:cs typeface="Arial Rounded MT Bold" pitchFamily="34" charset="-120"/>
              </a:rPr>
              <a:t>$4.1B</a:t>
            </a:r>
            <a:endParaRPr lang="en-US" sz="4200" dirty="0"/>
          </a:p>
        </p:txBody>
      </p:sp>
      <p:sp>
        <p:nvSpPr>
          <p:cNvPr id="24" name="text 14.23"/>
          <p:cNvSpPr txBox="1"/>
          <p:nvPr/>
        </p:nvSpPr>
        <p:spPr>
          <a:xfrm>
            <a:off x="9131072" y="367020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Steam revenue of co-op games in H1 2025, a record (estimate).</a:t>
            </a:r>
            <a:endParaRPr lang="en-US" sz="1100" dirty="0"/>
          </a:p>
        </p:txBody>
      </p:sp>
      <p:sp>
        <p:nvSpPr>
          <p:cNvPr id="25" name="text 14.24"/>
          <p:cNvSpPr txBox="1"/>
          <p:nvPr/>
        </p:nvSpPr>
        <p:spPr>
          <a:xfrm>
            <a:off x="9131072" y="4317892"/>
            <a:ext cx="512571"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Alinea [4]</a:t>
            </a:r>
            <a:endParaRPr lang="en-US" sz="800" dirty="0"/>
          </a:p>
        </p:txBody>
      </p:sp>
      <p:sp>
        <p:nvSpPr>
          <p:cNvPr id="26" name="text 14.25"/>
          <p:cNvSpPr txBox="1"/>
          <p:nvPr/>
        </p:nvSpPr>
        <p:spPr>
          <a:xfrm>
            <a:off x="863578" y="5079873"/>
            <a:ext cx="153471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A57600"/>
                </a:solidFill>
                <a:latin typeface="Arial" pitchFamily="34" charset="0"/>
                <a:ea typeface="Arial" pitchFamily="34" charset="-122"/>
                <a:cs typeface="Arial" pitchFamily="34" charset="-120"/>
              </a:rPr>
              <a:t>RISK, STATED PLAINLY</a:t>
            </a:r>
            <a:endParaRPr lang="en-US" sz="800" dirty="0"/>
          </a:p>
        </p:txBody>
      </p:sp>
      <p:sp>
        <p:nvSpPr>
          <p:cNvPr id="27" name="text 14.26"/>
          <p:cNvSpPr txBox="1"/>
          <p:nvPr/>
        </p:nvSpPr>
        <p:spPr>
          <a:xfrm>
            <a:off x="863578" y="5308467"/>
            <a:ext cx="10515337" cy="460363"/>
          </a:xfrm>
          <a:prstGeom prst="rect">
            <a:avLst/>
          </a:prstGeom>
          <a:noFill/>
          <a:ln/>
        </p:spPr>
        <p:txBody>
          <a:bodyPr wrap="square" lIns="0" tIns="0" rIns="0" bIns="0" rtlCol="0" anchor="t"/>
          <a:lstStyle/>
          <a:p>
            <a:pPr algn="l" indent="0" marL="0">
              <a:lnSpc>
                <a:spcPts val="1810"/>
              </a:lnSpc>
              <a:buNone/>
            </a:pPr>
            <a:r>
              <a:rPr lang="en-US" sz="1250" dirty="0">
                <a:solidFill>
                  <a:srgbClr val="1B2340"/>
                </a:solidFill>
                <a:latin typeface="Arial" pitchFamily="34" charset="0"/>
                <a:ea typeface="Arial" pitchFamily="34" charset="-122"/>
                <a:cs typeface="Arial" pitchFamily="34" charset="-120"/>
              </a:rPr>
              <a:t>Steam is crowded: an estimated 65.9% of 2025 releases earned under $1,000 [10]. A party game needs a hook people can explain in one sentence. </a:t>
            </a:r>
            <a:pPr algn="l" indent="0" marL="0">
              <a:lnSpc>
                <a:spcPts val="1810"/>
              </a:lnSpc>
              <a:buNone/>
            </a:pPr>
            <a:r>
              <a:rPr lang="en-US" sz="1250" b="1" dirty="0">
                <a:solidFill>
                  <a:srgbClr val="FF6B1F"/>
                </a:solidFill>
                <a:latin typeface="Arial" pitchFamily="34" charset="0"/>
                <a:ea typeface="Arial" pitchFamily="34" charset="-122"/>
                <a:cs typeface="Arial" pitchFamily="34" charset="-120"/>
              </a:rPr>
              <a:t>Ours: one shot that means something new in every mini-game.</a:t>
            </a:r>
            <a:endParaRPr lang="en-US" sz="1250" dirty="0"/>
          </a:p>
        </p:txBody>
      </p:sp>
      <p:pic>
        <p:nvPicPr>
          <p:cNvPr id="28" name="raster 14.27" descr="diagram">    </p:cNvPr>
          <p:cNvPicPr>
            <a:picLocks noChangeAspect="1"/>
          </p:cNvPicPr>
          <p:nvPr/>
        </p:nvPicPr>
        <p:blipFill>
          <a:blip r:embed="rId2"/>
          <a:stretch>
            <a:fillRect/>
          </a:stretch>
        </p:blipFill>
        <p:spPr>
          <a:xfrm>
            <a:off x="609585" y="266693"/>
            <a:ext cx="190495" cy="190495"/>
          </a:xfrm>
          <a:prstGeom prst="rect">
            <a:avLst/>
          </a:prstGeom>
        </p:spPr>
      </p:pic>
      <p:sp>
        <p:nvSpPr>
          <p:cNvPr id="29" name="text 14.28"/>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0" name="text 14.29"/>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1" name="text 14.30"/>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2" name="text 14.31"/>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14 / 28</a:t>
            </a:r>
            <a:endParaRPr lang="en-US" sz="750" dirty="0"/>
          </a:p>
        </p:txBody>
      </p:sp>
      <p:sp>
        <p:nvSpPr>
          <p:cNvPr id="33" name="text 14.32"/>
          <p:cNvSpPr txBox="1"/>
          <p:nvPr/>
        </p:nvSpPr>
        <p:spPr>
          <a:xfrm>
            <a:off x="609585" y="698483"/>
            <a:ext cx="95817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03 · MARKET</a:t>
            </a:r>
            <a:endParaRPr lang="en-US"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5.1"/>
          <p:cNvSpPr/>
          <p:nvPr/>
        </p:nvSpPr>
        <p:spPr>
          <a:xfrm>
            <a:off x="609585" y="1803355"/>
            <a:ext cx="10972526" cy="4482988"/>
          </a:xfrm>
          <a:prstGeom prst="roundRect">
            <a:avLst>
              <a:gd name="adj" fmla="val 3399"/>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5.2"/>
          <p:cNvSpPr/>
          <p:nvPr/>
        </p:nvSpPr>
        <p:spPr>
          <a:xfrm>
            <a:off x="800080" y="2870128"/>
            <a:ext cx="10591535" cy="12700"/>
          </a:xfrm>
          <a:prstGeom prst="roundRect">
            <a:avLst>
              <a:gd name="adj" fmla="val 49999"/>
            </a:avLst>
          </a:prstGeom>
          <a:solidFill>
            <a:srgbClr val="E4E9DD"/>
          </a:solidFill>
          <a:ln/>
        </p:spPr>
      </p:sp>
      <p:sp>
        <p:nvSpPr>
          <p:cNvPr id="4" name="shape 15.3"/>
          <p:cNvSpPr/>
          <p:nvPr/>
        </p:nvSpPr>
        <p:spPr>
          <a:xfrm>
            <a:off x="800080" y="3543211"/>
            <a:ext cx="10591535" cy="12700"/>
          </a:xfrm>
          <a:prstGeom prst="roundRect">
            <a:avLst>
              <a:gd name="adj" fmla="val 49999"/>
            </a:avLst>
          </a:prstGeom>
          <a:solidFill>
            <a:srgbClr val="E4E9DD"/>
          </a:solidFill>
          <a:ln/>
        </p:spPr>
      </p:sp>
      <p:sp>
        <p:nvSpPr>
          <p:cNvPr id="5" name="shape 15.4"/>
          <p:cNvSpPr/>
          <p:nvPr/>
        </p:nvSpPr>
        <p:spPr>
          <a:xfrm>
            <a:off x="800080" y="4216295"/>
            <a:ext cx="10591535" cy="12700"/>
          </a:xfrm>
          <a:prstGeom prst="roundRect">
            <a:avLst>
              <a:gd name="adj" fmla="val 49999"/>
            </a:avLst>
          </a:prstGeom>
          <a:solidFill>
            <a:srgbClr val="E4E9DD"/>
          </a:solidFill>
          <a:ln/>
        </p:spPr>
      </p:sp>
      <p:sp>
        <p:nvSpPr>
          <p:cNvPr id="6" name="shape 15.5"/>
          <p:cNvSpPr/>
          <p:nvPr/>
        </p:nvSpPr>
        <p:spPr>
          <a:xfrm>
            <a:off x="800080" y="4889378"/>
            <a:ext cx="10591535" cy="12700"/>
          </a:xfrm>
          <a:prstGeom prst="roundRect">
            <a:avLst>
              <a:gd name="adj" fmla="val 49999"/>
            </a:avLst>
          </a:prstGeom>
          <a:solidFill>
            <a:srgbClr val="E4E9DD"/>
          </a:solidFill>
          <a:ln/>
        </p:spPr>
      </p:sp>
      <p:sp>
        <p:nvSpPr>
          <p:cNvPr id="7" name="shape 15.6"/>
          <p:cNvSpPr/>
          <p:nvPr/>
        </p:nvSpPr>
        <p:spPr>
          <a:xfrm>
            <a:off x="800080" y="5562461"/>
            <a:ext cx="10591535" cy="12700"/>
          </a:xfrm>
          <a:prstGeom prst="roundRect">
            <a:avLst>
              <a:gd name="adj" fmla="val 49999"/>
            </a:avLst>
          </a:prstGeom>
          <a:solidFill>
            <a:srgbClr val="E4E9DD"/>
          </a:solidFill>
          <a:ln/>
        </p:spPr>
      </p:sp>
      <p:sp>
        <p:nvSpPr>
          <p:cNvPr id="8" name="text 15.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Party games keep selling</a:t>
            </a:r>
            <a:endParaRPr lang="en-US" sz="3000" dirty="0"/>
          </a:p>
        </p:txBody>
      </p:sp>
      <p:sp>
        <p:nvSpPr>
          <p:cNvPr id="9" name="text 15.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A mass-market genre that is still growing,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and open to small studios.</a:t>
            </a:r>
            <a:endParaRPr lang="en-US" sz="1350" dirty="0"/>
          </a:p>
        </p:txBody>
      </p:sp>
      <p:sp>
        <p:nvSpPr>
          <p:cNvPr id="10" name="text 15.9"/>
          <p:cNvSpPr txBox="1"/>
          <p:nvPr/>
        </p:nvSpPr>
        <p:spPr>
          <a:xfrm>
            <a:off x="863578" y="1981150"/>
            <a:ext cx="796213"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PARTY GAME</a:t>
            </a:r>
            <a:endParaRPr lang="en-US" sz="700" dirty="0"/>
          </a:p>
        </p:txBody>
      </p:sp>
      <p:sp>
        <p:nvSpPr>
          <p:cNvPr id="11" name="text 15.10"/>
          <p:cNvSpPr txBox="1"/>
          <p:nvPr/>
        </p:nvSpPr>
        <p:spPr>
          <a:xfrm>
            <a:off x="4571886" y="1981150"/>
            <a:ext cx="48743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FIGURE</a:t>
            </a:r>
            <a:endParaRPr lang="en-US" sz="700" dirty="0"/>
          </a:p>
        </p:txBody>
      </p:sp>
      <p:sp>
        <p:nvSpPr>
          <p:cNvPr id="12" name="text 15.11"/>
          <p:cNvSpPr txBox="1"/>
          <p:nvPr/>
        </p:nvSpPr>
        <p:spPr>
          <a:xfrm>
            <a:off x="7111822" y="1981150"/>
            <a:ext cx="978261"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WHAT IT SHOWS</a:t>
            </a:r>
            <a:endParaRPr lang="en-US" sz="700" dirty="0"/>
          </a:p>
        </p:txBody>
      </p:sp>
      <p:sp>
        <p:nvSpPr>
          <p:cNvPr id="13" name="text 15.12"/>
          <p:cNvSpPr txBox="1"/>
          <p:nvPr/>
        </p:nvSpPr>
        <p:spPr>
          <a:xfrm>
            <a:off x="863578" y="2438339"/>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Super Mario Party</a:t>
            </a:r>
            <a:endParaRPr lang="en-US" sz="1250" dirty="0"/>
          </a:p>
        </p:txBody>
      </p:sp>
      <p:sp>
        <p:nvSpPr>
          <p:cNvPr id="14" name="text 15.13"/>
          <p:cNvSpPr txBox="1"/>
          <p:nvPr/>
        </p:nvSpPr>
        <p:spPr>
          <a:xfrm>
            <a:off x="4571886" y="2400240"/>
            <a:ext cx="1381795" cy="253994"/>
          </a:xfrm>
          <a:prstGeom prst="rect">
            <a:avLst/>
          </a:prstGeom>
          <a:noFill/>
          <a:ln/>
        </p:spPr>
        <p:txBody>
          <a:bodyPr wrap="square" lIns="0" tIns="0" rIns="0" bIns="0" rtlCol="0" anchor="t"/>
          <a:lstStyle/>
          <a:p>
            <a:pPr algn="l" indent="0" marL="0">
              <a:lnSpc>
                <a:spcPts val="2000"/>
              </a:lnSpc>
              <a:buNone/>
            </a:pPr>
            <a:r>
              <a:rPr lang="en-US" sz="2000" dirty="0">
                <a:solidFill>
                  <a:srgbClr val="FF6B1F"/>
                </a:solidFill>
                <a:latin typeface="Arial Rounded MT Bold" pitchFamily="34" charset="0"/>
                <a:ea typeface="Arial Rounded MT Bold" pitchFamily="34" charset="-122"/>
                <a:cs typeface="Arial Rounded MT Bold" pitchFamily="34" charset="-120"/>
              </a:rPr>
              <a:t>21M+ sold</a:t>
            </a:r>
            <a:endParaRPr lang="en-US" sz="2000" dirty="0"/>
          </a:p>
        </p:txBody>
      </p:sp>
      <p:sp>
        <p:nvSpPr>
          <p:cNvPr id="15" name="text 15.14"/>
          <p:cNvSpPr txBox="1"/>
          <p:nvPr/>
        </p:nvSpPr>
        <p:spPr>
          <a:xfrm>
            <a:off x="7111822" y="2349441"/>
            <a:ext cx="4355991" cy="380990"/>
          </a:xfrm>
          <a:prstGeom prst="rect">
            <a:avLst/>
          </a:prstGeom>
          <a:noFill/>
          <a:ln/>
        </p:spPr>
        <p:txBody>
          <a:bodyPr wrap="square" lIns="0" tIns="0" rIns="0" bIns="0" rtlCol="0" anchor="ctr"/>
          <a:lstStyle/>
          <a:p>
            <a:pPr algn="l" indent="0" marL="0">
              <a:lnSpc>
                <a:spcPts val="1450"/>
              </a:lnSpc>
              <a:buNone/>
            </a:pPr>
            <a:r>
              <a:rPr lang="en-US" sz="1050" dirty="0">
                <a:solidFill>
                  <a:srgbClr val="3E475E"/>
                </a:solidFill>
                <a:latin typeface="Arial" pitchFamily="34" charset="0"/>
                <a:ea typeface="Arial" pitchFamily="34" charset="-122"/>
                <a:cs typeface="Arial" pitchFamily="34" charset="-120"/>
              </a:rPr>
              <a:t>Mini-game party games are a mass-market genre. [5]</a:t>
            </a:r>
            <a:endParaRPr lang="en-US" sz="1050" dirty="0"/>
          </a:p>
        </p:txBody>
      </p:sp>
      <p:sp>
        <p:nvSpPr>
          <p:cNvPr id="16" name="text 15.15"/>
          <p:cNvSpPr txBox="1"/>
          <p:nvPr/>
        </p:nvSpPr>
        <p:spPr>
          <a:xfrm>
            <a:off x="863578" y="3111422"/>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Super Mario Party Jamboree</a:t>
            </a:r>
            <a:endParaRPr lang="en-US" sz="1250" dirty="0"/>
          </a:p>
        </p:txBody>
      </p:sp>
      <p:sp>
        <p:nvSpPr>
          <p:cNvPr id="17" name="text 15.16"/>
          <p:cNvSpPr txBox="1"/>
          <p:nvPr/>
        </p:nvSpPr>
        <p:spPr>
          <a:xfrm>
            <a:off x="4571886" y="3073323"/>
            <a:ext cx="2118926" cy="253994"/>
          </a:xfrm>
          <a:prstGeom prst="rect">
            <a:avLst/>
          </a:prstGeom>
          <a:noFill/>
          <a:ln/>
        </p:spPr>
        <p:txBody>
          <a:bodyPr wrap="square" lIns="0" tIns="0" rIns="0" bIns="0" rtlCol="0" anchor="t"/>
          <a:lstStyle/>
          <a:p>
            <a:pPr algn="l" indent="0" marL="0">
              <a:lnSpc>
                <a:spcPts val="2000"/>
              </a:lnSpc>
              <a:buNone/>
            </a:pPr>
            <a:r>
              <a:rPr lang="en-US" sz="2000" dirty="0">
                <a:solidFill>
                  <a:srgbClr val="FF6B1F"/>
                </a:solidFill>
                <a:latin typeface="Arial Rounded MT Bold" pitchFamily="34" charset="0"/>
                <a:ea typeface="Arial Rounded MT Bold" pitchFamily="34" charset="-122"/>
                <a:cs typeface="Arial Rounded MT Bold" pitchFamily="34" charset="-120"/>
              </a:rPr>
              <a:t>5.6M+ in 11 wks</a:t>
            </a:r>
            <a:endParaRPr lang="en-US" sz="2000" dirty="0"/>
          </a:p>
        </p:txBody>
      </p:sp>
      <p:sp>
        <p:nvSpPr>
          <p:cNvPr id="18" name="text 15.17"/>
          <p:cNvSpPr txBox="1"/>
          <p:nvPr/>
        </p:nvSpPr>
        <p:spPr>
          <a:xfrm>
            <a:off x="7111822" y="3022524"/>
            <a:ext cx="4355991" cy="380990"/>
          </a:xfrm>
          <a:prstGeom prst="rect">
            <a:avLst/>
          </a:prstGeom>
          <a:noFill/>
          <a:ln/>
        </p:spPr>
        <p:txBody>
          <a:bodyPr wrap="square" lIns="0" tIns="0" rIns="0" bIns="0" rtlCol="0" anchor="ctr"/>
          <a:lstStyle/>
          <a:p>
            <a:pPr algn="l" indent="0" marL="0">
              <a:lnSpc>
                <a:spcPts val="1450"/>
              </a:lnSpc>
              <a:buNone/>
            </a:pPr>
            <a:r>
              <a:rPr lang="en-US" sz="1050" dirty="0">
                <a:solidFill>
                  <a:srgbClr val="3E475E"/>
                </a:solidFill>
                <a:latin typeface="Arial" pitchFamily="34" charset="0"/>
                <a:ea typeface="Arial" pitchFamily="34" charset="-122"/>
                <a:cs typeface="Arial" pitchFamily="34" charset="-120"/>
              </a:rPr>
              <a:t>The genre is still growing: the series’ fastest seller. [5]</a:t>
            </a:r>
            <a:endParaRPr lang="en-US" sz="1050" dirty="0"/>
          </a:p>
        </p:txBody>
      </p:sp>
      <p:sp>
        <p:nvSpPr>
          <p:cNvPr id="19" name="text 15.18"/>
          <p:cNvSpPr txBox="1"/>
          <p:nvPr/>
        </p:nvSpPr>
        <p:spPr>
          <a:xfrm>
            <a:off x="863578" y="3784505"/>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Stick Fight: The Game</a:t>
            </a:r>
            <a:endParaRPr lang="en-US" sz="1250" dirty="0"/>
          </a:p>
        </p:txBody>
      </p:sp>
      <p:sp>
        <p:nvSpPr>
          <p:cNvPr id="20" name="text 15.19"/>
          <p:cNvSpPr txBox="1"/>
          <p:nvPr/>
        </p:nvSpPr>
        <p:spPr>
          <a:xfrm>
            <a:off x="4571886" y="3746406"/>
            <a:ext cx="999820" cy="253994"/>
          </a:xfrm>
          <a:prstGeom prst="rect">
            <a:avLst/>
          </a:prstGeom>
          <a:noFill/>
          <a:ln/>
        </p:spPr>
        <p:txBody>
          <a:bodyPr wrap="square" lIns="0" tIns="0" rIns="0" bIns="0" rtlCol="0" anchor="t"/>
          <a:lstStyle/>
          <a:p>
            <a:pPr algn="l" indent="0" marL="0">
              <a:lnSpc>
                <a:spcPts val="2000"/>
              </a:lnSpc>
              <a:buNone/>
            </a:pPr>
            <a:r>
              <a:rPr lang="en-US" sz="2000" dirty="0">
                <a:solidFill>
                  <a:srgbClr val="1FA9EA"/>
                </a:solidFill>
                <a:latin typeface="Arial Rounded MT Bold" pitchFamily="34" charset="0"/>
                <a:ea typeface="Arial Rounded MT Bold" pitchFamily="34" charset="-122"/>
                <a:cs typeface="Arial Rounded MT Bold" pitchFamily="34" charset="-120"/>
              </a:rPr>
              <a:t>≈4.75M</a:t>
            </a:r>
            <a:endParaRPr lang="en-US" sz="2000" dirty="0"/>
          </a:p>
        </p:txBody>
      </p:sp>
      <p:sp>
        <p:nvSpPr>
          <p:cNvPr id="21" name="text 15.20"/>
          <p:cNvSpPr txBox="1"/>
          <p:nvPr/>
        </p:nvSpPr>
        <p:spPr>
          <a:xfrm>
            <a:off x="7111822" y="3695608"/>
            <a:ext cx="4355991" cy="380990"/>
          </a:xfrm>
          <a:prstGeom prst="rect">
            <a:avLst/>
          </a:prstGeom>
          <a:noFill/>
          <a:ln/>
        </p:spPr>
        <p:txBody>
          <a:bodyPr wrap="square" lIns="0" tIns="0" rIns="0" bIns="0" rtlCol="0" anchor="ctr"/>
          <a:lstStyle/>
          <a:p>
            <a:pPr algn="l" indent="0" marL="0">
              <a:lnSpc>
                <a:spcPts val="1450"/>
              </a:lnSpc>
              <a:buNone/>
            </a:pPr>
            <a:r>
              <a:rPr lang="en-US" sz="1050" dirty="0">
                <a:solidFill>
                  <a:srgbClr val="3E475E"/>
                </a:solidFill>
                <a:latin typeface="Arial" pitchFamily="34" charset="0"/>
                <a:ea typeface="Arial" pitchFamily="34" charset="-122"/>
                <a:cs typeface="Arial" pitchFamily="34" charset="-120"/>
              </a:rPr>
              <a:t>A small studio’s physics shooter can reach millions (Steam estimate). [6]</a:t>
            </a:r>
            <a:endParaRPr lang="en-US" sz="1050" dirty="0"/>
          </a:p>
        </p:txBody>
      </p:sp>
      <p:sp>
        <p:nvSpPr>
          <p:cNvPr id="22" name="text 15.21"/>
          <p:cNvSpPr txBox="1"/>
          <p:nvPr/>
        </p:nvSpPr>
        <p:spPr>
          <a:xfrm>
            <a:off x="863578" y="4457589"/>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Pummel Party</a:t>
            </a:r>
            <a:endParaRPr lang="en-US" sz="1250" dirty="0"/>
          </a:p>
        </p:txBody>
      </p:sp>
      <p:sp>
        <p:nvSpPr>
          <p:cNvPr id="23" name="text 15.22"/>
          <p:cNvSpPr txBox="1"/>
          <p:nvPr/>
        </p:nvSpPr>
        <p:spPr>
          <a:xfrm>
            <a:off x="4571886" y="4419490"/>
            <a:ext cx="1770921" cy="253994"/>
          </a:xfrm>
          <a:prstGeom prst="rect">
            <a:avLst/>
          </a:prstGeom>
          <a:noFill/>
          <a:ln/>
        </p:spPr>
        <p:txBody>
          <a:bodyPr wrap="square" lIns="0" tIns="0" rIns="0" bIns="0" rtlCol="0" anchor="t"/>
          <a:lstStyle/>
          <a:p>
            <a:pPr algn="l" indent="0" marL="0">
              <a:lnSpc>
                <a:spcPts val="2000"/>
              </a:lnSpc>
              <a:buNone/>
            </a:pPr>
            <a:r>
              <a:rPr lang="en-US" sz="2000" dirty="0">
                <a:solidFill>
                  <a:srgbClr val="1FA9EA"/>
                </a:solidFill>
                <a:latin typeface="Arial Rounded MT Bold" pitchFamily="34" charset="0"/>
                <a:ea typeface="Arial Rounded MT Bold" pitchFamily="34" charset="-122"/>
                <a:cs typeface="Arial Rounded MT Bold" pitchFamily="34" charset="-120"/>
              </a:rPr>
              <a:t>2–5M owners</a:t>
            </a:r>
            <a:endParaRPr lang="en-US" sz="2000" dirty="0"/>
          </a:p>
        </p:txBody>
      </p:sp>
      <p:sp>
        <p:nvSpPr>
          <p:cNvPr id="24" name="text 15.23"/>
          <p:cNvSpPr txBox="1"/>
          <p:nvPr/>
        </p:nvSpPr>
        <p:spPr>
          <a:xfrm>
            <a:off x="7111822" y="4368691"/>
            <a:ext cx="4355991" cy="380990"/>
          </a:xfrm>
          <a:prstGeom prst="rect">
            <a:avLst/>
          </a:prstGeom>
          <a:noFill/>
          <a:ln/>
        </p:spPr>
        <p:txBody>
          <a:bodyPr wrap="square" lIns="0" tIns="0" rIns="0" bIns="0" rtlCol="0" anchor="ctr"/>
          <a:lstStyle/>
          <a:p>
            <a:pPr algn="l" indent="0" marL="0">
              <a:lnSpc>
                <a:spcPts val="1450"/>
              </a:lnSpc>
              <a:buNone/>
            </a:pPr>
            <a:r>
              <a:rPr lang="en-US" sz="1050" dirty="0">
                <a:solidFill>
                  <a:srgbClr val="3E475E"/>
                </a:solidFill>
                <a:latin typeface="Arial" pitchFamily="34" charset="0"/>
                <a:ea typeface="Arial" pitchFamily="34" charset="-122"/>
                <a:cs typeface="Arial" pitchFamily="34" charset="-120"/>
              </a:rPr>
              <a:t>Mini-games and friends, sold for years after launch (estimate). [7]</a:t>
            </a:r>
            <a:endParaRPr lang="en-US" sz="1050" dirty="0"/>
          </a:p>
        </p:txBody>
      </p:sp>
      <p:sp>
        <p:nvSpPr>
          <p:cNvPr id="25" name="text 15.24"/>
          <p:cNvSpPr txBox="1"/>
          <p:nvPr/>
        </p:nvSpPr>
        <p:spPr>
          <a:xfrm>
            <a:off x="863578" y="5130672"/>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Party Animals</a:t>
            </a:r>
            <a:endParaRPr lang="en-US" sz="1250" dirty="0"/>
          </a:p>
        </p:txBody>
      </p:sp>
      <p:sp>
        <p:nvSpPr>
          <p:cNvPr id="26" name="text 15.25"/>
          <p:cNvSpPr txBox="1"/>
          <p:nvPr/>
        </p:nvSpPr>
        <p:spPr>
          <a:xfrm>
            <a:off x="4571886" y="5092573"/>
            <a:ext cx="1817616" cy="253994"/>
          </a:xfrm>
          <a:prstGeom prst="rect">
            <a:avLst/>
          </a:prstGeom>
          <a:noFill/>
          <a:ln/>
        </p:spPr>
        <p:txBody>
          <a:bodyPr wrap="square" lIns="0" tIns="0" rIns="0" bIns="0" rtlCol="0" anchor="t"/>
          <a:lstStyle/>
          <a:p>
            <a:pPr algn="l" indent="0" marL="0">
              <a:lnSpc>
                <a:spcPts val="2000"/>
              </a:lnSpc>
              <a:buNone/>
            </a:pPr>
            <a:r>
              <a:rPr lang="en-US" sz="2000" dirty="0">
                <a:solidFill>
                  <a:srgbClr val="43B832"/>
                </a:solidFill>
                <a:latin typeface="Arial Rounded MT Bold" pitchFamily="34" charset="0"/>
                <a:ea typeface="Arial Rounded MT Bold" pitchFamily="34" charset="-122"/>
                <a:cs typeface="Arial Rounded MT Bold" pitchFamily="34" charset="-120"/>
              </a:rPr>
              <a:t>135,834 peak</a:t>
            </a:r>
            <a:endParaRPr lang="en-US" sz="2000" dirty="0"/>
          </a:p>
        </p:txBody>
      </p:sp>
      <p:sp>
        <p:nvSpPr>
          <p:cNvPr id="27" name="text 15.26"/>
          <p:cNvSpPr txBox="1"/>
          <p:nvPr/>
        </p:nvSpPr>
        <p:spPr>
          <a:xfrm>
            <a:off x="7111822" y="5041774"/>
            <a:ext cx="4355991" cy="380990"/>
          </a:xfrm>
          <a:prstGeom prst="rect">
            <a:avLst/>
          </a:prstGeom>
          <a:noFill/>
          <a:ln/>
        </p:spPr>
        <p:txBody>
          <a:bodyPr wrap="square" lIns="0" tIns="0" rIns="0" bIns="0" rtlCol="0" anchor="ctr"/>
          <a:lstStyle/>
          <a:p>
            <a:pPr algn="l" indent="0" marL="0">
              <a:lnSpc>
                <a:spcPts val="1450"/>
              </a:lnSpc>
              <a:buNone/>
            </a:pPr>
            <a:r>
              <a:rPr lang="en-US" sz="1050" dirty="0">
                <a:solidFill>
                  <a:srgbClr val="3E475E"/>
                </a:solidFill>
                <a:latin typeface="Arial" pitchFamily="34" charset="0"/>
                <a:ea typeface="Arial" pitchFamily="34" charset="-122"/>
                <a:cs typeface="Arial" pitchFamily="34" charset="-120"/>
              </a:rPr>
              <a:t>Players in its free playtest; 113,000+ Twitch viewers watched. [8]</a:t>
            </a:r>
            <a:endParaRPr lang="en-US" sz="1050" dirty="0"/>
          </a:p>
        </p:txBody>
      </p:sp>
      <p:sp>
        <p:nvSpPr>
          <p:cNvPr id="28" name="text 15.27"/>
          <p:cNvSpPr txBox="1"/>
          <p:nvPr/>
        </p:nvSpPr>
        <p:spPr>
          <a:xfrm>
            <a:off x="863578" y="5803755"/>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Feather Party</a:t>
            </a:r>
            <a:endParaRPr lang="en-US" sz="1250" dirty="0"/>
          </a:p>
        </p:txBody>
      </p:sp>
      <p:sp>
        <p:nvSpPr>
          <p:cNvPr id="29" name="text 15.28"/>
          <p:cNvSpPr txBox="1"/>
          <p:nvPr/>
        </p:nvSpPr>
        <p:spPr>
          <a:xfrm>
            <a:off x="4571886" y="5765656"/>
            <a:ext cx="1701194" cy="253994"/>
          </a:xfrm>
          <a:prstGeom prst="rect">
            <a:avLst/>
          </a:prstGeom>
          <a:noFill/>
          <a:ln/>
        </p:spPr>
        <p:txBody>
          <a:bodyPr wrap="square" lIns="0" tIns="0" rIns="0" bIns="0" rtlCol="0" anchor="t"/>
          <a:lstStyle/>
          <a:p>
            <a:pPr algn="l" indent="0" marL="0">
              <a:lnSpc>
                <a:spcPts val="2000"/>
              </a:lnSpc>
              <a:buNone/>
            </a:pPr>
            <a:r>
              <a:rPr lang="en-US" sz="2000" dirty="0">
                <a:solidFill>
                  <a:srgbClr val="8F55F5"/>
                </a:solidFill>
                <a:latin typeface="Arial Rounded MT Bold" pitchFamily="34" charset="0"/>
                <a:ea typeface="Arial Rounded MT Bold" pitchFamily="34" charset="-122"/>
                <a:cs typeface="Arial Rounded MT Bold" pitchFamily="34" charset="-120"/>
              </a:rPr>
              <a:t>87% positive</a:t>
            </a:r>
            <a:endParaRPr lang="en-US" sz="2000" dirty="0"/>
          </a:p>
        </p:txBody>
      </p:sp>
      <p:sp>
        <p:nvSpPr>
          <p:cNvPr id="30" name="text 15.29"/>
          <p:cNvSpPr txBox="1"/>
          <p:nvPr/>
        </p:nvSpPr>
        <p:spPr>
          <a:xfrm>
            <a:off x="7111822" y="5714857"/>
            <a:ext cx="4355991" cy="380990"/>
          </a:xfrm>
          <a:prstGeom prst="rect">
            <a:avLst/>
          </a:prstGeom>
          <a:noFill/>
          <a:ln/>
        </p:spPr>
        <p:txBody>
          <a:bodyPr wrap="square" lIns="0" tIns="0" rIns="0" bIns="0" rtlCol="0" anchor="ctr"/>
          <a:lstStyle/>
          <a:p>
            <a:pPr algn="l" indent="0" marL="0">
              <a:lnSpc>
                <a:spcPts val="1450"/>
              </a:lnSpc>
              <a:buNone/>
            </a:pPr>
            <a:r>
              <a:rPr lang="en-US" sz="1050" dirty="0">
                <a:solidFill>
                  <a:srgbClr val="3E475E"/>
                </a:solidFill>
                <a:latin typeface="Arial" pitchFamily="34" charset="0"/>
                <a:ea typeface="Arial" pitchFamily="34" charset="-122"/>
                <a:cs typeface="Arial" pitchFamily="34" charset="-120"/>
              </a:rPr>
              <a:t>Of 551 Steam reviews; 22 mini-games for up to 8 players. [9]</a:t>
            </a:r>
            <a:endParaRPr lang="en-US" sz="1050" dirty="0"/>
          </a:p>
        </p:txBody>
      </p:sp>
      <p:pic>
        <p:nvPicPr>
          <p:cNvPr id="31" name="raster 15.30" descr="diagram">    </p:cNvPr>
          <p:cNvPicPr>
            <a:picLocks noChangeAspect="1"/>
          </p:cNvPicPr>
          <p:nvPr/>
        </p:nvPicPr>
        <p:blipFill>
          <a:blip r:embed="rId2"/>
          <a:stretch>
            <a:fillRect/>
          </a:stretch>
        </p:blipFill>
        <p:spPr>
          <a:xfrm>
            <a:off x="609585" y="266693"/>
            <a:ext cx="190495" cy="190495"/>
          </a:xfrm>
          <a:prstGeom prst="rect">
            <a:avLst/>
          </a:prstGeom>
        </p:spPr>
      </p:pic>
      <p:sp>
        <p:nvSpPr>
          <p:cNvPr id="32" name="text 15.31"/>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3" name="text 15.32"/>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4" name="text 15.33"/>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5" name="text 15.34"/>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15 / 28</a:t>
            </a:r>
            <a:endParaRPr lang="en-US" sz="750" dirty="0"/>
          </a:p>
        </p:txBody>
      </p:sp>
      <p:sp>
        <p:nvSpPr>
          <p:cNvPr id="36" name="text 15.35"/>
          <p:cNvSpPr txBox="1"/>
          <p:nvPr/>
        </p:nvSpPr>
        <p:spPr>
          <a:xfrm>
            <a:off x="609585" y="698483"/>
            <a:ext cx="95817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03 · MARKET</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6.1"/>
          <p:cNvSpPr/>
          <p:nvPr/>
        </p:nvSpPr>
        <p:spPr>
          <a:xfrm>
            <a:off x="609585"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6.2"/>
          <p:cNvSpPr/>
          <p:nvPr/>
        </p:nvSpPr>
        <p:spPr>
          <a:xfrm>
            <a:off x="2832029"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6.3"/>
          <p:cNvSpPr/>
          <p:nvPr/>
        </p:nvSpPr>
        <p:spPr>
          <a:xfrm>
            <a:off x="5054474"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6.4"/>
          <p:cNvSpPr/>
          <p:nvPr/>
        </p:nvSpPr>
        <p:spPr>
          <a:xfrm>
            <a:off x="7276918"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16.5"/>
          <p:cNvSpPr/>
          <p:nvPr/>
        </p:nvSpPr>
        <p:spPr>
          <a:xfrm>
            <a:off x="9499363" y="1803355"/>
            <a:ext cx="2095448" cy="4444889"/>
          </a:xfrm>
          <a:prstGeom prst="roundRect">
            <a:avLst>
              <a:gd name="adj" fmla="val 727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7" name="img 16.6 adj10227" descr="1260320_3.jpg">    </p:cNvPr>
          <p:cNvPicPr>
            <a:picLocks noChangeAspect="1"/>
          </p:cNvPicPr>
          <p:nvPr/>
        </p:nvPicPr>
        <p:blipFill>
          <a:blip r:embed="rId2"/>
          <a:stretch>
            <a:fillRect/>
          </a:stretch>
        </p:blipFill>
        <p:spPr>
          <a:xfrm>
            <a:off x="673083" y="1866853"/>
            <a:ext cx="1968451" cy="1117572"/>
          </a:xfrm>
          <a:prstGeom prst="roundRect">
            <a:avLst>
              <a:gd name="adj" fmla="val 10227"/>
            </a:avLst>
          </a:prstGeom>
        </p:spPr>
      </p:pic>
      <p:pic>
        <p:nvPicPr>
          <p:cNvPr id="8" name="img 16.7 adj10227" descr="285900_1.jpg">    </p:cNvPr>
          <p:cNvPicPr>
            <a:picLocks noChangeAspect="1"/>
          </p:cNvPicPr>
          <p:nvPr/>
        </p:nvPicPr>
        <p:blipFill>
          <a:blip r:embed="rId3"/>
          <a:stretch>
            <a:fillRect/>
          </a:stretch>
        </p:blipFill>
        <p:spPr>
          <a:xfrm>
            <a:off x="2895528" y="1866853"/>
            <a:ext cx="1968451" cy="1117572"/>
          </a:xfrm>
          <a:prstGeom prst="roundRect">
            <a:avLst>
              <a:gd name="adj" fmla="val 10227"/>
            </a:avLst>
          </a:prstGeom>
        </p:spPr>
      </p:pic>
      <p:pic>
        <p:nvPicPr>
          <p:cNvPr id="9" name="img 16.8 adj10227" descr="1097150_2.jpg">    </p:cNvPr>
          <p:cNvPicPr>
            <a:picLocks noChangeAspect="1"/>
          </p:cNvPicPr>
          <p:nvPr/>
        </p:nvPicPr>
        <p:blipFill>
          <a:blip r:embed="rId4"/>
          <a:stretch>
            <a:fillRect/>
          </a:stretch>
        </p:blipFill>
        <p:spPr>
          <a:xfrm>
            <a:off x="5117972" y="1866853"/>
            <a:ext cx="1968451" cy="1117572"/>
          </a:xfrm>
          <a:prstGeom prst="roundRect">
            <a:avLst>
              <a:gd name="adj" fmla="val 10227"/>
            </a:avLst>
          </a:prstGeom>
        </p:spPr>
      </p:pic>
      <p:pic>
        <p:nvPicPr>
          <p:cNvPr id="10" name="img 16.9 adj10227" descr="880940_1.jpg">    </p:cNvPr>
          <p:cNvPicPr>
            <a:picLocks noChangeAspect="1"/>
          </p:cNvPicPr>
          <p:nvPr/>
        </p:nvPicPr>
        <p:blipFill>
          <a:blip r:embed="rId5"/>
          <a:stretch>
            <a:fillRect/>
          </a:stretch>
        </p:blipFill>
        <p:spPr>
          <a:xfrm>
            <a:off x="7340416" y="1866853"/>
            <a:ext cx="1968451" cy="1117572"/>
          </a:xfrm>
          <a:prstGeom prst="roundRect">
            <a:avLst>
              <a:gd name="adj" fmla="val 10227"/>
            </a:avLst>
          </a:prstGeom>
        </p:spPr>
      </p:pic>
      <p:pic>
        <p:nvPicPr>
          <p:cNvPr id="11" name="img 16.10 adj10227" descr="2300230_1.jpg">    </p:cNvPr>
          <p:cNvPicPr>
            <a:picLocks noChangeAspect="1"/>
          </p:cNvPicPr>
          <p:nvPr/>
        </p:nvPicPr>
        <p:blipFill>
          <a:blip r:embed="rId6"/>
          <a:stretch>
            <a:fillRect/>
          </a:stretch>
        </p:blipFill>
        <p:spPr>
          <a:xfrm>
            <a:off x="9562861" y="1866853"/>
            <a:ext cx="1968451" cy="1117572"/>
          </a:xfrm>
          <a:prstGeom prst="roundRect">
            <a:avLst>
              <a:gd name="adj" fmla="val 10227"/>
            </a:avLst>
          </a:prstGeom>
        </p:spPr>
      </p:pic>
      <p:sp>
        <p:nvSpPr>
          <p:cNvPr id="12" name="text 16.1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Competitors</a:t>
            </a:r>
            <a:endParaRPr lang="en-US" sz="3000" dirty="0"/>
          </a:p>
        </p:txBody>
      </p:sp>
      <p:sp>
        <p:nvSpPr>
          <p:cNvPr id="13" name="text 16.12"/>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Five games we are measured against.</a:t>
            </a:r>
            <a:endParaRPr lang="en-US" sz="1350" dirty="0"/>
          </a:p>
        </p:txBody>
      </p:sp>
      <p:sp>
        <p:nvSpPr>
          <p:cNvPr id="14" name="text 16.13"/>
          <p:cNvSpPr txBox="1"/>
          <p:nvPr/>
        </p:nvSpPr>
        <p:spPr>
          <a:xfrm>
            <a:off x="761981" y="3111422"/>
            <a:ext cx="1237082"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Party Animals</a:t>
            </a:r>
            <a:endParaRPr lang="en-US" sz="1300" dirty="0"/>
          </a:p>
        </p:txBody>
      </p:sp>
      <p:sp>
        <p:nvSpPr>
          <p:cNvPr id="15" name="text 16.14"/>
          <p:cNvSpPr txBox="1"/>
          <p:nvPr/>
        </p:nvSpPr>
        <p:spPr>
          <a:xfrm>
            <a:off x="761981" y="3340016"/>
            <a:ext cx="1212788"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Recreate Games · 2023</a:t>
            </a:r>
            <a:endParaRPr lang="en-US" sz="800" dirty="0"/>
          </a:p>
        </p:txBody>
      </p:sp>
      <p:sp>
        <p:nvSpPr>
          <p:cNvPr id="16" name="text 16.15"/>
          <p:cNvSpPr txBox="1"/>
          <p:nvPr/>
        </p:nvSpPr>
        <p:spPr>
          <a:xfrm>
            <a:off x="761981"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17" name="text 16.16"/>
          <p:cNvSpPr txBox="1"/>
          <p:nvPr/>
        </p:nvSpPr>
        <p:spPr>
          <a:xfrm>
            <a:off x="761981"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Physics brawling: grab, punch, throw rivals out.</a:t>
            </a:r>
            <a:endParaRPr lang="en-US" sz="950" dirty="0"/>
          </a:p>
        </p:txBody>
      </p:sp>
      <p:sp>
        <p:nvSpPr>
          <p:cNvPr id="18" name="text 16.17"/>
          <p:cNvSpPr txBox="1"/>
          <p:nvPr/>
        </p:nvSpPr>
        <p:spPr>
          <a:xfrm>
            <a:off x="761981"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19" name="text 16.18"/>
          <p:cNvSpPr txBox="1"/>
          <p:nvPr/>
        </p:nvSpPr>
        <p:spPr>
          <a:xfrm>
            <a:off x="761981" y="462268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Online and same-screen.</a:t>
            </a:r>
            <a:endParaRPr lang="en-US" sz="950" dirty="0"/>
          </a:p>
        </p:txBody>
      </p:sp>
      <p:sp>
        <p:nvSpPr>
          <p:cNvPr id="20" name="text 16.19"/>
          <p:cNvSpPr txBox="1"/>
          <p:nvPr/>
        </p:nvSpPr>
        <p:spPr>
          <a:xfrm>
            <a:off x="761981"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21" name="text 16.20"/>
          <p:cNvSpPr txBox="1"/>
          <p:nvPr/>
        </p:nvSpPr>
        <p:spPr>
          <a:xfrm>
            <a:off x="761981"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Launch peak 104,174 players. Owner est. 2.5M–6.0M.</a:t>
            </a:r>
            <a:endParaRPr lang="en-US" sz="950" dirty="0"/>
          </a:p>
        </p:txBody>
      </p:sp>
      <p:sp>
        <p:nvSpPr>
          <p:cNvPr id="22" name="text 16.21"/>
          <p:cNvSpPr txBox="1"/>
          <p:nvPr/>
        </p:nvSpPr>
        <p:spPr>
          <a:xfrm>
            <a:off x="2984425" y="3111422"/>
            <a:ext cx="1150423"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Gang Beasts</a:t>
            </a:r>
            <a:endParaRPr lang="en-US" sz="1300" dirty="0"/>
          </a:p>
        </p:txBody>
      </p:sp>
      <p:sp>
        <p:nvSpPr>
          <p:cNvPr id="23" name="text 16.22"/>
          <p:cNvSpPr txBox="1"/>
          <p:nvPr/>
        </p:nvSpPr>
        <p:spPr>
          <a:xfrm>
            <a:off x="2984425" y="3340016"/>
            <a:ext cx="823977"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Boneloaf · 2017</a:t>
            </a:r>
            <a:endParaRPr lang="en-US" sz="800" dirty="0"/>
          </a:p>
        </p:txBody>
      </p:sp>
      <p:sp>
        <p:nvSpPr>
          <p:cNvPr id="24" name="text 16.23"/>
          <p:cNvSpPr txBox="1"/>
          <p:nvPr/>
        </p:nvSpPr>
        <p:spPr>
          <a:xfrm>
            <a:off x="2984425"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25" name="text 16.24"/>
          <p:cNvSpPr txBox="1"/>
          <p:nvPr/>
        </p:nvSpPr>
        <p:spPr>
          <a:xfrm>
            <a:off x="2984425"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Ragdoll brawling into stage hazards.</a:t>
            </a:r>
            <a:endParaRPr lang="en-US" sz="950" dirty="0"/>
          </a:p>
        </p:txBody>
      </p:sp>
      <p:sp>
        <p:nvSpPr>
          <p:cNvPr id="26" name="text 16.25"/>
          <p:cNvSpPr txBox="1"/>
          <p:nvPr/>
        </p:nvSpPr>
        <p:spPr>
          <a:xfrm>
            <a:off x="2984425"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27" name="text 16.26"/>
          <p:cNvSpPr txBox="1"/>
          <p:nvPr/>
        </p:nvSpPr>
        <p:spPr>
          <a:xfrm>
            <a:off x="2984425" y="462268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Same-screen and online.</a:t>
            </a:r>
            <a:endParaRPr lang="en-US" sz="950" dirty="0"/>
          </a:p>
        </p:txBody>
      </p:sp>
      <p:sp>
        <p:nvSpPr>
          <p:cNvPr id="28" name="text 16.27"/>
          <p:cNvSpPr txBox="1"/>
          <p:nvPr/>
        </p:nvSpPr>
        <p:spPr>
          <a:xfrm>
            <a:off x="2984425"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29" name="text 16.28"/>
          <p:cNvSpPr txBox="1"/>
          <p:nvPr/>
        </p:nvSpPr>
        <p:spPr>
          <a:xfrm>
            <a:off x="2984425"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85% positive. Owner est. 4.6M–5.8M.</a:t>
            </a:r>
            <a:endParaRPr lang="en-US" sz="950" dirty="0"/>
          </a:p>
        </p:txBody>
      </p:sp>
      <p:sp>
        <p:nvSpPr>
          <p:cNvPr id="30" name="text 16.29"/>
          <p:cNvSpPr txBox="1"/>
          <p:nvPr/>
        </p:nvSpPr>
        <p:spPr>
          <a:xfrm>
            <a:off x="5206870" y="3111422"/>
            <a:ext cx="839227"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Fall Guys</a:t>
            </a:r>
            <a:endParaRPr lang="en-US" sz="1300" dirty="0"/>
          </a:p>
        </p:txBody>
      </p:sp>
      <p:sp>
        <p:nvSpPr>
          <p:cNvPr id="31" name="text 16.30"/>
          <p:cNvSpPr txBox="1"/>
          <p:nvPr/>
        </p:nvSpPr>
        <p:spPr>
          <a:xfrm>
            <a:off x="5206870" y="3340016"/>
            <a:ext cx="1218888"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Mediatonic / Epic · 2020</a:t>
            </a:r>
            <a:endParaRPr lang="en-US" sz="800" dirty="0"/>
          </a:p>
        </p:txBody>
      </p:sp>
      <p:sp>
        <p:nvSpPr>
          <p:cNvPr id="32" name="text 16.31"/>
          <p:cNvSpPr txBox="1"/>
          <p:nvPr/>
        </p:nvSpPr>
        <p:spPr>
          <a:xfrm>
            <a:off x="5206870"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33" name="text 16.32"/>
          <p:cNvSpPr txBox="1"/>
          <p:nvPr/>
        </p:nvSpPr>
        <p:spPr>
          <a:xfrm>
            <a:off x="5206870"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Short race and survival rounds in a playlist.</a:t>
            </a:r>
            <a:endParaRPr lang="en-US" sz="950" dirty="0"/>
          </a:p>
        </p:txBody>
      </p:sp>
      <p:sp>
        <p:nvSpPr>
          <p:cNvPr id="34" name="text 16.33"/>
          <p:cNvSpPr txBox="1"/>
          <p:nvPr/>
        </p:nvSpPr>
        <p:spPr>
          <a:xfrm>
            <a:off x="5206870"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35" name="text 16.34"/>
          <p:cNvSpPr txBox="1"/>
          <p:nvPr/>
        </p:nvSpPr>
        <p:spPr>
          <a:xfrm>
            <a:off x="5206870" y="462268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Online, cross-platform.</a:t>
            </a:r>
            <a:endParaRPr lang="en-US" sz="950" dirty="0"/>
          </a:p>
        </p:txBody>
      </p:sp>
      <p:sp>
        <p:nvSpPr>
          <p:cNvPr id="36" name="text 16.35"/>
          <p:cNvSpPr txBox="1"/>
          <p:nvPr/>
        </p:nvSpPr>
        <p:spPr>
          <a:xfrm>
            <a:off x="5206870"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37" name="text 16.36"/>
          <p:cNvSpPr txBox="1"/>
          <p:nvPr/>
        </p:nvSpPr>
        <p:spPr>
          <a:xfrm>
            <a:off x="5206870"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Free-to-play. Legacy Steam peak 172,213. Metacritic 80.</a:t>
            </a:r>
            <a:endParaRPr lang="en-US" sz="950" dirty="0"/>
          </a:p>
        </p:txBody>
      </p:sp>
      <p:sp>
        <p:nvSpPr>
          <p:cNvPr id="38" name="text 16.37"/>
          <p:cNvSpPr txBox="1"/>
          <p:nvPr/>
        </p:nvSpPr>
        <p:spPr>
          <a:xfrm>
            <a:off x="7429314" y="3111422"/>
            <a:ext cx="1240447"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Pummel Party</a:t>
            </a:r>
            <a:endParaRPr lang="en-US" sz="1300" dirty="0"/>
          </a:p>
        </p:txBody>
      </p:sp>
      <p:sp>
        <p:nvSpPr>
          <p:cNvPr id="39" name="text 16.38"/>
          <p:cNvSpPr txBox="1"/>
          <p:nvPr/>
        </p:nvSpPr>
        <p:spPr>
          <a:xfrm>
            <a:off x="7429314" y="3340016"/>
            <a:ext cx="1111089"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Rebuilt Games · 2018</a:t>
            </a:r>
            <a:endParaRPr lang="en-US" sz="800" dirty="0"/>
          </a:p>
        </p:txBody>
      </p:sp>
      <p:sp>
        <p:nvSpPr>
          <p:cNvPr id="40" name="text 16.39"/>
          <p:cNvSpPr txBox="1"/>
          <p:nvPr/>
        </p:nvSpPr>
        <p:spPr>
          <a:xfrm>
            <a:off x="7429314"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41" name="text 16.40"/>
          <p:cNvSpPr txBox="1"/>
          <p:nvPr/>
        </p:nvSpPr>
        <p:spPr>
          <a:xfrm>
            <a:off x="7429314" y="3809905"/>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Board game with short competitive mini-games.</a:t>
            </a:r>
            <a:endParaRPr lang="en-US" sz="950" dirty="0"/>
          </a:p>
        </p:txBody>
      </p:sp>
      <p:sp>
        <p:nvSpPr>
          <p:cNvPr id="42" name="text 16.41"/>
          <p:cNvSpPr txBox="1"/>
          <p:nvPr/>
        </p:nvSpPr>
        <p:spPr>
          <a:xfrm>
            <a:off x="7429314"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43" name="text 16.42"/>
          <p:cNvSpPr txBox="1"/>
          <p:nvPr/>
        </p:nvSpPr>
        <p:spPr>
          <a:xfrm>
            <a:off x="7429314" y="462268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4–8 players, online and local.</a:t>
            </a:r>
            <a:endParaRPr lang="en-US" sz="950" dirty="0"/>
          </a:p>
        </p:txBody>
      </p:sp>
      <p:sp>
        <p:nvSpPr>
          <p:cNvPr id="44" name="text 16.43"/>
          <p:cNvSpPr txBox="1"/>
          <p:nvPr/>
        </p:nvSpPr>
        <p:spPr>
          <a:xfrm>
            <a:off x="7429314"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45" name="text 16.44"/>
          <p:cNvSpPr txBox="1"/>
          <p:nvPr/>
        </p:nvSpPr>
        <p:spPr>
          <a:xfrm>
            <a:off x="7429314"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$14.99. Peak 20,957. Owner est. 1.5M–7.6M.</a:t>
            </a:r>
            <a:endParaRPr lang="en-US" sz="950" dirty="0"/>
          </a:p>
        </p:txBody>
      </p:sp>
      <p:sp>
        <p:nvSpPr>
          <p:cNvPr id="46" name="text 16.45"/>
          <p:cNvSpPr txBox="1"/>
          <p:nvPr/>
        </p:nvSpPr>
        <p:spPr>
          <a:xfrm>
            <a:off x="9651759" y="3111422"/>
            <a:ext cx="1207845"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Feather Party</a:t>
            </a:r>
            <a:endParaRPr lang="en-US" sz="1300" dirty="0"/>
          </a:p>
        </p:txBody>
      </p:sp>
      <p:sp>
        <p:nvSpPr>
          <p:cNvPr id="47" name="text 16.46"/>
          <p:cNvSpPr txBox="1"/>
          <p:nvPr/>
        </p:nvSpPr>
        <p:spPr>
          <a:xfrm>
            <a:off x="9651759" y="3340016"/>
            <a:ext cx="745942" cy="142236"/>
          </a:xfrm>
          <a:prstGeom prst="rect">
            <a:avLst/>
          </a:prstGeom>
          <a:noFill/>
          <a:ln/>
        </p:spPr>
        <p:txBody>
          <a:bodyPr wrap="square" lIns="0" tIns="0" rIns="0" bIns="0" rtlCol="0" anchor="t"/>
          <a:lstStyle/>
          <a:p>
            <a:pPr algn="l" indent="0" marL="0">
              <a:lnSpc>
                <a:spcPts val="1120"/>
              </a:lnSpc>
              <a:buNone/>
            </a:pPr>
            <a:r>
              <a:rPr lang="en-US" sz="800" dirty="0">
                <a:solidFill>
                  <a:srgbClr val="6F778C"/>
                </a:solidFill>
                <a:latin typeface="Arial" pitchFamily="34" charset="0"/>
                <a:ea typeface="Arial" pitchFamily="34" charset="-122"/>
                <a:cs typeface="Arial" pitchFamily="34" charset="-120"/>
              </a:rPr>
              <a:t>threeW · 2026</a:t>
            </a:r>
            <a:endParaRPr lang="en-US" sz="800" dirty="0"/>
          </a:p>
        </p:txBody>
      </p:sp>
      <p:sp>
        <p:nvSpPr>
          <p:cNvPr id="48" name="text 16.47"/>
          <p:cNvSpPr txBox="1"/>
          <p:nvPr/>
        </p:nvSpPr>
        <p:spPr>
          <a:xfrm>
            <a:off x="9651759" y="3670208"/>
            <a:ext cx="66180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MECHANIC</a:t>
            </a:r>
            <a:endParaRPr lang="en-US" sz="700" dirty="0"/>
          </a:p>
        </p:txBody>
      </p:sp>
      <p:sp>
        <p:nvSpPr>
          <p:cNvPr id="49" name="text 16.48"/>
          <p:cNvSpPr txBox="1"/>
          <p:nvPr/>
        </p:nvSpPr>
        <p:spPr>
          <a:xfrm>
            <a:off x="9651759" y="3809905"/>
            <a:ext cx="1879553" cy="484870"/>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Board mode plus 22 mini-games; ice, fire and electric effects change the physics.</a:t>
            </a:r>
            <a:endParaRPr lang="en-US" sz="950" dirty="0"/>
          </a:p>
        </p:txBody>
      </p:sp>
      <p:sp>
        <p:nvSpPr>
          <p:cNvPr id="50" name="text 16.49"/>
          <p:cNvSpPr txBox="1"/>
          <p:nvPr/>
        </p:nvSpPr>
        <p:spPr>
          <a:xfrm>
            <a:off x="9651759" y="4482988"/>
            <a:ext cx="84238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MULTIPLAYER</a:t>
            </a:r>
            <a:endParaRPr lang="en-US" sz="700" dirty="0"/>
          </a:p>
        </p:txBody>
      </p:sp>
      <p:sp>
        <p:nvSpPr>
          <p:cNvPr id="51" name="text 16.50"/>
          <p:cNvSpPr txBox="1"/>
          <p:nvPr/>
        </p:nvSpPr>
        <p:spPr>
          <a:xfrm>
            <a:off x="9651759" y="4622684"/>
            <a:ext cx="1879553" cy="16166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Up to 8 players, online.</a:t>
            </a:r>
            <a:endParaRPr lang="en-US" sz="950" dirty="0"/>
          </a:p>
        </p:txBody>
      </p:sp>
      <p:sp>
        <p:nvSpPr>
          <p:cNvPr id="52" name="text 16.51"/>
          <p:cNvSpPr txBox="1"/>
          <p:nvPr/>
        </p:nvSpPr>
        <p:spPr>
          <a:xfrm>
            <a:off x="9651759" y="5295768"/>
            <a:ext cx="747204"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FINANCIALS</a:t>
            </a:r>
            <a:endParaRPr lang="en-US" sz="700" dirty="0"/>
          </a:p>
        </p:txBody>
      </p:sp>
      <p:sp>
        <p:nvSpPr>
          <p:cNvPr id="53" name="text 16.52"/>
          <p:cNvSpPr txBox="1"/>
          <p:nvPr/>
        </p:nvSpPr>
        <p:spPr>
          <a:xfrm>
            <a:off x="9651759" y="5435464"/>
            <a:ext cx="1879553" cy="323247"/>
          </a:xfrm>
          <a:prstGeom prst="rect">
            <a:avLst/>
          </a:prstGeom>
          <a:noFill/>
          <a:ln/>
        </p:spPr>
        <p:txBody>
          <a:bodyPr wrap="square" lIns="0" tIns="0" rIns="0" bIns="0" rtlCol="0" anchor="t"/>
          <a:lstStyle/>
          <a:p>
            <a:pPr algn="l" indent="0" marL="0">
              <a:lnSpc>
                <a:spcPts val="1270"/>
              </a:lnSpc>
              <a:buNone/>
            </a:pPr>
            <a:r>
              <a:rPr lang="en-US" sz="950" dirty="0">
                <a:solidFill>
                  <a:srgbClr val="3E475E"/>
                </a:solidFill>
                <a:latin typeface="Arial" pitchFamily="34" charset="0"/>
                <a:ea typeface="Arial" pitchFamily="34" charset="-122"/>
                <a:cs typeface="Arial" pitchFamily="34" charset="-120"/>
              </a:rPr>
              <a:t>$8.99. 87% positive of 551 reviews.</a:t>
            </a:r>
            <a:endParaRPr lang="en-US" sz="950" dirty="0"/>
          </a:p>
        </p:txBody>
      </p:sp>
      <p:sp>
        <p:nvSpPr>
          <p:cNvPr id="54" name="text 16.53"/>
          <p:cNvSpPr txBox="1"/>
          <p:nvPr/>
        </p:nvSpPr>
        <p:spPr>
          <a:xfrm>
            <a:off x="609585" y="6351131"/>
            <a:ext cx="1169437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Screenshots: official Steam media, © publishers. Owner estimates are third-party (SteamDB), not sales [11]; Feather Party from its Steam page [9].</a:t>
            </a:r>
            <a:endParaRPr lang="en-US" sz="850" dirty="0"/>
          </a:p>
        </p:txBody>
      </p:sp>
      <p:pic>
        <p:nvPicPr>
          <p:cNvPr id="55" name="raster 16.54" descr="diagram">    </p:cNvPr>
          <p:cNvPicPr>
            <a:picLocks noChangeAspect="1"/>
          </p:cNvPicPr>
          <p:nvPr/>
        </p:nvPicPr>
        <p:blipFill>
          <a:blip r:embed="rId7"/>
          <a:stretch>
            <a:fillRect/>
          </a:stretch>
        </p:blipFill>
        <p:spPr>
          <a:xfrm>
            <a:off x="609585" y="266693"/>
            <a:ext cx="190495" cy="190495"/>
          </a:xfrm>
          <a:prstGeom prst="rect">
            <a:avLst/>
          </a:prstGeom>
        </p:spPr>
      </p:pic>
      <p:sp>
        <p:nvSpPr>
          <p:cNvPr id="56" name="text 16.55"/>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57" name="text 16.56"/>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58" name="text 16.57"/>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59" name="text 16.58"/>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16 / 28</a:t>
            </a:r>
            <a:endParaRPr lang="en-US" sz="750" dirty="0"/>
          </a:p>
        </p:txBody>
      </p:sp>
      <p:sp>
        <p:nvSpPr>
          <p:cNvPr id="60" name="text 16.59"/>
          <p:cNvSpPr txBox="1"/>
          <p:nvPr/>
        </p:nvSpPr>
        <p:spPr>
          <a:xfrm>
            <a:off x="609585" y="698483"/>
            <a:ext cx="95817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03 · MARKET</a:t>
            </a:r>
            <a:endParaRPr lang="en-US" sz="8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7.1"/>
          <p:cNvSpPr/>
          <p:nvPr/>
        </p:nvSpPr>
        <p:spPr>
          <a:xfrm>
            <a:off x="609585" y="1904952"/>
            <a:ext cx="9708907" cy="3543211"/>
          </a:xfrm>
          <a:prstGeom prst="roundRect">
            <a:avLst>
              <a:gd name="adj" fmla="val 4301"/>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17.2"/>
          <p:cNvSpPr/>
          <p:nvPr/>
        </p:nvSpPr>
        <p:spPr>
          <a:xfrm>
            <a:off x="10381990" y="1816055"/>
            <a:ext cx="1187420" cy="3721007"/>
          </a:xfrm>
          <a:prstGeom prst="roundRect">
            <a:avLst>
              <a:gd name="adj" fmla="val 12834"/>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pic>
        <p:nvPicPr>
          <p:cNvPr id="4" name="raster 17.3" descr="diagram">    </p:cNvPr>
          <p:cNvPicPr>
            <a:picLocks noChangeAspect="1"/>
          </p:cNvPicPr>
          <p:nvPr/>
        </p:nvPicPr>
        <p:blipFill>
          <a:blip r:embed="rId2"/>
          <a:stretch>
            <a:fillRect/>
          </a:stretch>
        </p:blipFill>
        <p:spPr>
          <a:xfrm>
            <a:off x="4867153" y="2609785"/>
            <a:ext cx="342891" cy="342891"/>
          </a:xfrm>
          <a:prstGeom prst="rect">
            <a:avLst/>
          </a:prstGeom>
        </p:spPr>
      </p:pic>
      <p:pic>
        <p:nvPicPr>
          <p:cNvPr id="5" name="raster 17.4" descr="diagram">    </p:cNvPr>
          <p:cNvPicPr>
            <a:picLocks noChangeAspect="1"/>
          </p:cNvPicPr>
          <p:nvPr/>
        </p:nvPicPr>
        <p:blipFill>
          <a:blip r:embed="rId3"/>
          <a:stretch>
            <a:fillRect/>
          </a:stretch>
        </p:blipFill>
        <p:spPr>
          <a:xfrm>
            <a:off x="6054574" y="2609785"/>
            <a:ext cx="342891" cy="342891"/>
          </a:xfrm>
          <a:prstGeom prst="rect">
            <a:avLst/>
          </a:prstGeom>
        </p:spPr>
      </p:pic>
      <p:pic>
        <p:nvPicPr>
          <p:cNvPr id="6" name="raster 17.5" descr="diagram">    </p:cNvPr>
          <p:cNvPicPr>
            <a:picLocks noChangeAspect="1"/>
          </p:cNvPicPr>
          <p:nvPr/>
        </p:nvPicPr>
        <p:blipFill>
          <a:blip r:embed="rId4"/>
          <a:stretch>
            <a:fillRect/>
          </a:stretch>
        </p:blipFill>
        <p:spPr>
          <a:xfrm>
            <a:off x="7241994" y="2609785"/>
            <a:ext cx="342891" cy="342891"/>
          </a:xfrm>
          <a:prstGeom prst="rect">
            <a:avLst/>
          </a:prstGeom>
        </p:spPr>
      </p:pic>
      <p:pic>
        <p:nvPicPr>
          <p:cNvPr id="7" name="raster 17.6" descr="diagram">    </p:cNvPr>
          <p:cNvPicPr>
            <a:picLocks noChangeAspect="1"/>
          </p:cNvPicPr>
          <p:nvPr/>
        </p:nvPicPr>
        <p:blipFill>
          <a:blip r:embed="rId5"/>
          <a:stretch>
            <a:fillRect/>
          </a:stretch>
        </p:blipFill>
        <p:spPr>
          <a:xfrm>
            <a:off x="8429414" y="2609785"/>
            <a:ext cx="342891" cy="342891"/>
          </a:xfrm>
          <a:prstGeom prst="rect">
            <a:avLst/>
          </a:prstGeom>
        </p:spPr>
      </p:pic>
      <p:pic>
        <p:nvPicPr>
          <p:cNvPr id="8" name="raster 17.7" descr="diagram">    </p:cNvPr>
          <p:cNvPicPr>
            <a:picLocks noChangeAspect="1"/>
          </p:cNvPicPr>
          <p:nvPr/>
        </p:nvPicPr>
        <p:blipFill>
          <a:blip r:embed="rId6"/>
          <a:stretch>
            <a:fillRect/>
          </a:stretch>
        </p:blipFill>
        <p:spPr>
          <a:xfrm>
            <a:off x="9616835" y="2609785"/>
            <a:ext cx="342891" cy="342891"/>
          </a:xfrm>
          <a:prstGeom prst="rect">
            <a:avLst/>
          </a:prstGeom>
        </p:spPr>
      </p:pic>
      <p:pic>
        <p:nvPicPr>
          <p:cNvPr id="9" name="raster 17.8" descr="diagram">    </p:cNvPr>
          <p:cNvPicPr>
            <a:picLocks noChangeAspect="1"/>
          </p:cNvPicPr>
          <p:nvPr/>
        </p:nvPicPr>
        <p:blipFill>
          <a:blip r:embed="rId7"/>
          <a:stretch>
            <a:fillRect/>
          </a:stretch>
        </p:blipFill>
        <p:spPr>
          <a:xfrm>
            <a:off x="10804255" y="2609785"/>
            <a:ext cx="342891" cy="342891"/>
          </a:xfrm>
          <a:prstGeom prst="rect">
            <a:avLst/>
          </a:prstGeom>
        </p:spPr>
      </p:pic>
      <p:sp>
        <p:nvSpPr>
          <p:cNvPr id="10" name="shape 17.9"/>
          <p:cNvSpPr/>
          <p:nvPr/>
        </p:nvSpPr>
        <p:spPr>
          <a:xfrm>
            <a:off x="800080" y="3149521"/>
            <a:ext cx="9327917" cy="12700"/>
          </a:xfrm>
          <a:prstGeom prst="roundRect">
            <a:avLst>
              <a:gd name="adj" fmla="val 49999"/>
            </a:avLst>
          </a:prstGeom>
          <a:solidFill>
            <a:srgbClr val="E4E9DD"/>
          </a:solidFill>
          <a:ln/>
        </p:spPr>
      </p:sp>
      <p:pic>
        <p:nvPicPr>
          <p:cNvPr id="11" name="raster 17.10" descr="diagram">    </p:cNvPr>
          <p:cNvPicPr>
            <a:picLocks noChangeAspect="1"/>
          </p:cNvPicPr>
          <p:nvPr/>
        </p:nvPicPr>
        <p:blipFill>
          <a:blip r:embed="rId8"/>
          <a:stretch>
            <a:fillRect/>
          </a:stretch>
        </p:blipFill>
        <p:spPr>
          <a:xfrm>
            <a:off x="4873503" y="3352716"/>
            <a:ext cx="330192" cy="330192"/>
          </a:xfrm>
          <a:prstGeom prst="rect">
            <a:avLst/>
          </a:prstGeom>
        </p:spPr>
      </p:pic>
      <p:pic>
        <p:nvPicPr>
          <p:cNvPr id="12" name="raster 17.11" descr="diagram">    </p:cNvPr>
          <p:cNvPicPr>
            <a:picLocks noChangeAspect="1"/>
          </p:cNvPicPr>
          <p:nvPr/>
        </p:nvPicPr>
        <p:blipFill>
          <a:blip r:embed="rId9"/>
          <a:stretch>
            <a:fillRect/>
          </a:stretch>
        </p:blipFill>
        <p:spPr>
          <a:xfrm>
            <a:off x="6060923" y="3352716"/>
            <a:ext cx="330192" cy="330192"/>
          </a:xfrm>
          <a:prstGeom prst="rect">
            <a:avLst/>
          </a:prstGeom>
        </p:spPr>
      </p:pic>
      <p:pic>
        <p:nvPicPr>
          <p:cNvPr id="13" name="raster 17.12" descr="diagram">    </p:cNvPr>
          <p:cNvPicPr>
            <a:picLocks noChangeAspect="1"/>
          </p:cNvPicPr>
          <p:nvPr/>
        </p:nvPicPr>
        <p:blipFill>
          <a:blip r:embed="rId10"/>
          <a:stretch>
            <a:fillRect/>
          </a:stretch>
        </p:blipFill>
        <p:spPr>
          <a:xfrm>
            <a:off x="7241994" y="3346366"/>
            <a:ext cx="342891" cy="342891"/>
          </a:xfrm>
          <a:prstGeom prst="rect">
            <a:avLst/>
          </a:prstGeom>
        </p:spPr>
      </p:pic>
      <p:pic>
        <p:nvPicPr>
          <p:cNvPr id="14" name="raster 17.13" descr="diagram">    </p:cNvPr>
          <p:cNvPicPr>
            <a:picLocks noChangeAspect="1"/>
          </p:cNvPicPr>
          <p:nvPr/>
        </p:nvPicPr>
        <p:blipFill>
          <a:blip r:embed="rId11"/>
          <a:stretch>
            <a:fillRect/>
          </a:stretch>
        </p:blipFill>
        <p:spPr>
          <a:xfrm>
            <a:off x="8429414" y="3346366"/>
            <a:ext cx="342891" cy="342891"/>
          </a:xfrm>
          <a:prstGeom prst="rect">
            <a:avLst/>
          </a:prstGeom>
        </p:spPr>
      </p:pic>
      <p:pic>
        <p:nvPicPr>
          <p:cNvPr id="15" name="raster 17.14" descr="diagram">    </p:cNvPr>
          <p:cNvPicPr>
            <a:picLocks noChangeAspect="1"/>
          </p:cNvPicPr>
          <p:nvPr/>
        </p:nvPicPr>
        <p:blipFill>
          <a:blip r:embed="rId12"/>
          <a:stretch>
            <a:fillRect/>
          </a:stretch>
        </p:blipFill>
        <p:spPr>
          <a:xfrm>
            <a:off x="9616835" y="3346366"/>
            <a:ext cx="342891" cy="342891"/>
          </a:xfrm>
          <a:prstGeom prst="rect">
            <a:avLst/>
          </a:prstGeom>
        </p:spPr>
      </p:pic>
      <p:pic>
        <p:nvPicPr>
          <p:cNvPr id="16" name="raster 17.15" descr="diagram">    </p:cNvPr>
          <p:cNvPicPr>
            <a:picLocks noChangeAspect="1"/>
          </p:cNvPicPr>
          <p:nvPr/>
        </p:nvPicPr>
        <p:blipFill>
          <a:blip r:embed="rId13"/>
          <a:stretch>
            <a:fillRect/>
          </a:stretch>
        </p:blipFill>
        <p:spPr>
          <a:xfrm>
            <a:off x="10804255" y="3346366"/>
            <a:ext cx="342891" cy="342891"/>
          </a:xfrm>
          <a:prstGeom prst="rect">
            <a:avLst/>
          </a:prstGeom>
        </p:spPr>
      </p:pic>
      <p:sp>
        <p:nvSpPr>
          <p:cNvPr id="17" name="shape 17.16"/>
          <p:cNvSpPr/>
          <p:nvPr/>
        </p:nvSpPr>
        <p:spPr>
          <a:xfrm>
            <a:off x="800080" y="3886103"/>
            <a:ext cx="9327917" cy="12700"/>
          </a:xfrm>
          <a:prstGeom prst="roundRect">
            <a:avLst>
              <a:gd name="adj" fmla="val 49999"/>
            </a:avLst>
          </a:prstGeom>
          <a:solidFill>
            <a:srgbClr val="E4E9DD"/>
          </a:solidFill>
          <a:ln/>
        </p:spPr>
      </p:sp>
      <p:pic>
        <p:nvPicPr>
          <p:cNvPr id="18" name="raster 17.17" descr="diagram">    </p:cNvPr>
          <p:cNvPicPr>
            <a:picLocks noChangeAspect="1"/>
          </p:cNvPicPr>
          <p:nvPr/>
        </p:nvPicPr>
        <p:blipFill>
          <a:blip r:embed="rId14"/>
          <a:stretch>
            <a:fillRect/>
          </a:stretch>
        </p:blipFill>
        <p:spPr>
          <a:xfrm>
            <a:off x="4867153" y="4082948"/>
            <a:ext cx="342891" cy="342891"/>
          </a:xfrm>
          <a:prstGeom prst="rect">
            <a:avLst/>
          </a:prstGeom>
        </p:spPr>
      </p:pic>
      <p:pic>
        <p:nvPicPr>
          <p:cNvPr id="19" name="raster 17.18" descr="diagram">    </p:cNvPr>
          <p:cNvPicPr>
            <a:picLocks noChangeAspect="1"/>
          </p:cNvPicPr>
          <p:nvPr/>
        </p:nvPicPr>
        <p:blipFill>
          <a:blip r:embed="rId15"/>
          <a:stretch>
            <a:fillRect/>
          </a:stretch>
        </p:blipFill>
        <p:spPr>
          <a:xfrm>
            <a:off x="6054574" y="4082948"/>
            <a:ext cx="342891" cy="342891"/>
          </a:xfrm>
          <a:prstGeom prst="rect">
            <a:avLst/>
          </a:prstGeom>
        </p:spPr>
      </p:pic>
      <p:pic>
        <p:nvPicPr>
          <p:cNvPr id="20" name="raster 17.19" descr="diagram">    </p:cNvPr>
          <p:cNvPicPr>
            <a:picLocks noChangeAspect="1"/>
          </p:cNvPicPr>
          <p:nvPr/>
        </p:nvPicPr>
        <p:blipFill>
          <a:blip r:embed="rId16"/>
          <a:stretch>
            <a:fillRect/>
          </a:stretch>
        </p:blipFill>
        <p:spPr>
          <a:xfrm>
            <a:off x="7241994" y="4082948"/>
            <a:ext cx="342891" cy="342891"/>
          </a:xfrm>
          <a:prstGeom prst="rect">
            <a:avLst/>
          </a:prstGeom>
        </p:spPr>
      </p:pic>
      <p:pic>
        <p:nvPicPr>
          <p:cNvPr id="21" name="raster 17.20" descr="diagram">    </p:cNvPr>
          <p:cNvPicPr>
            <a:picLocks noChangeAspect="1"/>
          </p:cNvPicPr>
          <p:nvPr/>
        </p:nvPicPr>
        <p:blipFill>
          <a:blip r:embed="rId17"/>
          <a:stretch>
            <a:fillRect/>
          </a:stretch>
        </p:blipFill>
        <p:spPr>
          <a:xfrm>
            <a:off x="8429414" y="4082948"/>
            <a:ext cx="342891" cy="342891"/>
          </a:xfrm>
          <a:prstGeom prst="rect">
            <a:avLst/>
          </a:prstGeom>
        </p:spPr>
      </p:pic>
      <p:pic>
        <p:nvPicPr>
          <p:cNvPr id="22" name="raster 17.21" descr="diagram">    </p:cNvPr>
          <p:cNvPicPr>
            <a:picLocks noChangeAspect="1"/>
          </p:cNvPicPr>
          <p:nvPr/>
        </p:nvPicPr>
        <p:blipFill>
          <a:blip r:embed="rId18"/>
          <a:stretch>
            <a:fillRect/>
          </a:stretch>
        </p:blipFill>
        <p:spPr>
          <a:xfrm>
            <a:off x="9616835" y="4082948"/>
            <a:ext cx="342891" cy="342891"/>
          </a:xfrm>
          <a:prstGeom prst="rect">
            <a:avLst/>
          </a:prstGeom>
        </p:spPr>
      </p:pic>
      <p:pic>
        <p:nvPicPr>
          <p:cNvPr id="23" name="raster 17.22" descr="diagram">    </p:cNvPr>
          <p:cNvPicPr>
            <a:picLocks noChangeAspect="1"/>
          </p:cNvPicPr>
          <p:nvPr/>
        </p:nvPicPr>
        <p:blipFill>
          <a:blip r:embed="rId19"/>
          <a:stretch>
            <a:fillRect/>
          </a:stretch>
        </p:blipFill>
        <p:spPr>
          <a:xfrm>
            <a:off x="10804255" y="4082948"/>
            <a:ext cx="342891" cy="342891"/>
          </a:xfrm>
          <a:prstGeom prst="rect">
            <a:avLst/>
          </a:prstGeom>
        </p:spPr>
      </p:pic>
      <p:sp>
        <p:nvSpPr>
          <p:cNvPr id="24" name="shape 17.23"/>
          <p:cNvSpPr/>
          <p:nvPr/>
        </p:nvSpPr>
        <p:spPr>
          <a:xfrm>
            <a:off x="800080" y="4622684"/>
            <a:ext cx="9327917" cy="12700"/>
          </a:xfrm>
          <a:prstGeom prst="roundRect">
            <a:avLst>
              <a:gd name="adj" fmla="val 49999"/>
            </a:avLst>
          </a:prstGeom>
          <a:solidFill>
            <a:srgbClr val="E4E9DD"/>
          </a:solidFill>
          <a:ln/>
        </p:spPr>
      </p:sp>
      <p:pic>
        <p:nvPicPr>
          <p:cNvPr id="25" name="raster 17.24" descr="diagram">    </p:cNvPr>
          <p:cNvPicPr>
            <a:picLocks noChangeAspect="1"/>
          </p:cNvPicPr>
          <p:nvPr/>
        </p:nvPicPr>
        <p:blipFill>
          <a:blip r:embed="rId20"/>
          <a:stretch>
            <a:fillRect/>
          </a:stretch>
        </p:blipFill>
        <p:spPr>
          <a:xfrm>
            <a:off x="4873503" y="4825879"/>
            <a:ext cx="330192" cy="330192"/>
          </a:xfrm>
          <a:prstGeom prst="rect">
            <a:avLst/>
          </a:prstGeom>
        </p:spPr>
      </p:pic>
      <p:pic>
        <p:nvPicPr>
          <p:cNvPr id="26" name="raster 17.25" descr="diagram">    </p:cNvPr>
          <p:cNvPicPr>
            <a:picLocks noChangeAspect="1"/>
          </p:cNvPicPr>
          <p:nvPr/>
        </p:nvPicPr>
        <p:blipFill>
          <a:blip r:embed="rId21"/>
          <a:stretch>
            <a:fillRect/>
          </a:stretch>
        </p:blipFill>
        <p:spPr>
          <a:xfrm>
            <a:off x="6060923" y="4825879"/>
            <a:ext cx="330192" cy="330192"/>
          </a:xfrm>
          <a:prstGeom prst="rect">
            <a:avLst/>
          </a:prstGeom>
        </p:spPr>
      </p:pic>
      <p:pic>
        <p:nvPicPr>
          <p:cNvPr id="27" name="raster 17.26" descr="diagram">    </p:cNvPr>
          <p:cNvPicPr>
            <a:picLocks noChangeAspect="1"/>
          </p:cNvPicPr>
          <p:nvPr/>
        </p:nvPicPr>
        <p:blipFill>
          <a:blip r:embed="rId22"/>
          <a:stretch>
            <a:fillRect/>
          </a:stretch>
        </p:blipFill>
        <p:spPr>
          <a:xfrm>
            <a:off x="7248344" y="4825879"/>
            <a:ext cx="330192" cy="330192"/>
          </a:xfrm>
          <a:prstGeom prst="rect">
            <a:avLst/>
          </a:prstGeom>
        </p:spPr>
      </p:pic>
      <p:pic>
        <p:nvPicPr>
          <p:cNvPr id="28" name="raster 17.27" descr="diagram">    </p:cNvPr>
          <p:cNvPicPr>
            <a:picLocks noChangeAspect="1"/>
          </p:cNvPicPr>
          <p:nvPr/>
        </p:nvPicPr>
        <p:blipFill>
          <a:blip r:embed="rId23"/>
          <a:stretch>
            <a:fillRect/>
          </a:stretch>
        </p:blipFill>
        <p:spPr>
          <a:xfrm>
            <a:off x="8435764" y="4825879"/>
            <a:ext cx="330192" cy="330192"/>
          </a:xfrm>
          <a:prstGeom prst="rect">
            <a:avLst/>
          </a:prstGeom>
        </p:spPr>
      </p:pic>
      <p:pic>
        <p:nvPicPr>
          <p:cNvPr id="29" name="raster 17.28" descr="diagram">    </p:cNvPr>
          <p:cNvPicPr>
            <a:picLocks noChangeAspect="1"/>
          </p:cNvPicPr>
          <p:nvPr/>
        </p:nvPicPr>
        <p:blipFill>
          <a:blip r:embed="rId24"/>
          <a:stretch>
            <a:fillRect/>
          </a:stretch>
        </p:blipFill>
        <p:spPr>
          <a:xfrm>
            <a:off x="9623184" y="4825879"/>
            <a:ext cx="330192" cy="330192"/>
          </a:xfrm>
          <a:prstGeom prst="rect">
            <a:avLst/>
          </a:prstGeom>
        </p:spPr>
      </p:pic>
      <p:pic>
        <p:nvPicPr>
          <p:cNvPr id="30" name="raster 17.29" descr="diagram">    </p:cNvPr>
          <p:cNvPicPr>
            <a:picLocks noChangeAspect="1"/>
          </p:cNvPicPr>
          <p:nvPr/>
        </p:nvPicPr>
        <p:blipFill>
          <a:blip r:embed="rId25"/>
          <a:stretch>
            <a:fillRect/>
          </a:stretch>
        </p:blipFill>
        <p:spPr>
          <a:xfrm>
            <a:off x="10804255" y="4819530"/>
            <a:ext cx="342891" cy="342891"/>
          </a:xfrm>
          <a:prstGeom prst="rect">
            <a:avLst/>
          </a:prstGeom>
        </p:spPr>
      </p:pic>
      <p:pic>
        <p:nvPicPr>
          <p:cNvPr id="31" name="raster 17.30" descr="diagram">    </p:cNvPr>
          <p:cNvPicPr>
            <a:picLocks noChangeAspect="1"/>
          </p:cNvPicPr>
          <p:nvPr/>
        </p:nvPicPr>
        <p:blipFill>
          <a:blip r:embed="rId26"/>
          <a:stretch>
            <a:fillRect/>
          </a:stretch>
        </p:blipFill>
        <p:spPr>
          <a:xfrm>
            <a:off x="565136" y="5638659"/>
            <a:ext cx="2654234" cy="241294"/>
          </a:xfrm>
          <a:prstGeom prst="rect">
            <a:avLst/>
          </a:prstGeom>
        </p:spPr>
      </p:pic>
      <p:sp>
        <p:nvSpPr>
          <p:cNvPr id="32" name="text 17.3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Where we sit among them</a:t>
            </a:r>
            <a:endParaRPr lang="en-US" sz="3000" dirty="0"/>
          </a:p>
        </p:txBody>
      </p:sp>
      <p:sp>
        <p:nvSpPr>
          <p:cNvPr id="33" name="text 17.32"/>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Everyone has 3D characters and cosmetics.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No one keeps one shot with a new effect per mini-game.</a:t>
            </a:r>
            <a:endParaRPr lang="en-US" sz="1350" dirty="0"/>
          </a:p>
        </p:txBody>
      </p:sp>
      <p:sp>
        <p:nvSpPr>
          <p:cNvPr id="34" name="text 17.33"/>
          <p:cNvSpPr txBox="1"/>
          <p:nvPr/>
        </p:nvSpPr>
        <p:spPr>
          <a:xfrm>
            <a:off x="4444889" y="2108147"/>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PARTY ANIMALS</a:t>
            </a:r>
            <a:endParaRPr lang="en-US" sz="750" dirty="0"/>
          </a:p>
        </p:txBody>
      </p:sp>
      <p:sp>
        <p:nvSpPr>
          <p:cNvPr id="35" name="text 17.34"/>
          <p:cNvSpPr txBox="1"/>
          <p:nvPr/>
        </p:nvSpPr>
        <p:spPr>
          <a:xfrm>
            <a:off x="5632309" y="2108147"/>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GANG BEASTS</a:t>
            </a:r>
            <a:endParaRPr lang="en-US" sz="750" dirty="0"/>
          </a:p>
        </p:txBody>
      </p:sp>
      <p:sp>
        <p:nvSpPr>
          <p:cNvPr id="36" name="text 17.35"/>
          <p:cNvSpPr txBox="1"/>
          <p:nvPr/>
        </p:nvSpPr>
        <p:spPr>
          <a:xfrm>
            <a:off x="6819730" y="2108147"/>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FALL GUYS</a:t>
            </a:r>
            <a:endParaRPr lang="en-US" sz="750" dirty="0"/>
          </a:p>
        </p:txBody>
      </p:sp>
      <p:sp>
        <p:nvSpPr>
          <p:cNvPr id="37" name="text 17.36"/>
          <p:cNvSpPr txBox="1"/>
          <p:nvPr/>
        </p:nvSpPr>
        <p:spPr>
          <a:xfrm>
            <a:off x="8007150" y="2108147"/>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PUMMEL PARTY</a:t>
            </a:r>
            <a:endParaRPr lang="en-US" sz="750" dirty="0"/>
          </a:p>
        </p:txBody>
      </p:sp>
      <p:sp>
        <p:nvSpPr>
          <p:cNvPr id="38" name="text 17.37"/>
          <p:cNvSpPr txBox="1"/>
          <p:nvPr/>
        </p:nvSpPr>
        <p:spPr>
          <a:xfrm>
            <a:off x="9194570" y="2108147"/>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6F778C"/>
                </a:solidFill>
                <a:latin typeface="Arial" pitchFamily="34" charset="0"/>
                <a:ea typeface="Arial" pitchFamily="34" charset="-122"/>
                <a:cs typeface="Arial" pitchFamily="34" charset="-120"/>
              </a:rPr>
              <a:t>FEATHER PARTY</a:t>
            </a:r>
            <a:endParaRPr lang="en-US" sz="750" dirty="0"/>
          </a:p>
        </p:txBody>
      </p:sp>
      <p:sp>
        <p:nvSpPr>
          <p:cNvPr id="39" name="text 17.38"/>
          <p:cNvSpPr txBox="1"/>
          <p:nvPr/>
        </p:nvSpPr>
        <p:spPr>
          <a:xfrm>
            <a:off x="10381990" y="2108147"/>
            <a:ext cx="1187420" cy="114297"/>
          </a:xfrm>
          <a:prstGeom prst="rect">
            <a:avLst/>
          </a:prstGeom>
          <a:noFill/>
          <a:ln/>
        </p:spPr>
        <p:txBody>
          <a:bodyPr wrap="square" lIns="0" tIns="0" rIns="0" bIns="0" rtlCol="0" anchor="t"/>
          <a:lstStyle/>
          <a:p>
            <a:pPr algn="ctr"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SHOOTER PARTY</a:t>
            </a:r>
            <a:endParaRPr lang="en-US" sz="750" dirty="0"/>
          </a:p>
        </p:txBody>
      </p:sp>
      <p:sp>
        <p:nvSpPr>
          <p:cNvPr id="40" name="text 17.39"/>
          <p:cNvSpPr txBox="1"/>
          <p:nvPr/>
        </p:nvSpPr>
        <p:spPr>
          <a:xfrm>
            <a:off x="825479" y="2679633"/>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3D characters</a:t>
            </a:r>
            <a:endParaRPr lang="en-US" sz="1250" dirty="0"/>
          </a:p>
        </p:txBody>
      </p:sp>
      <p:sp>
        <p:nvSpPr>
          <p:cNvPr id="41" name="text 17.40"/>
          <p:cNvSpPr txBox="1"/>
          <p:nvPr/>
        </p:nvSpPr>
        <p:spPr>
          <a:xfrm>
            <a:off x="825479" y="3416215"/>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Several mini-games, one result</a:t>
            </a:r>
            <a:endParaRPr lang="en-US" sz="1250" dirty="0"/>
          </a:p>
        </p:txBody>
      </p:sp>
      <p:sp>
        <p:nvSpPr>
          <p:cNvPr id="42" name="text 17.41"/>
          <p:cNvSpPr txBox="1"/>
          <p:nvPr/>
        </p:nvSpPr>
        <p:spPr>
          <a:xfrm>
            <a:off x="825479" y="4152796"/>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Cosmetic customisation</a:t>
            </a:r>
            <a:endParaRPr lang="en-US" sz="1250" dirty="0"/>
          </a:p>
        </p:txBody>
      </p:sp>
      <p:sp>
        <p:nvSpPr>
          <p:cNvPr id="43" name="text 17.42"/>
          <p:cNvSpPr txBox="1"/>
          <p:nvPr/>
        </p:nvSpPr>
        <p:spPr>
          <a:xfrm>
            <a:off x="825479" y="4889378"/>
            <a:ext cx="3594010" cy="190495"/>
          </a:xfrm>
          <a:prstGeom prst="rect">
            <a:avLst/>
          </a:prstGeom>
          <a:noFill/>
          <a:ln/>
        </p:spPr>
        <p:txBody>
          <a:bodyPr wrap="square" lIns="0" tIns="0" rIns="0" bIns="0" rtlCol="0" anchor="t"/>
          <a:lstStyle/>
          <a:p>
            <a:pPr algn="l" indent="0" marL="0">
              <a:lnSpc>
                <a:spcPts val="1500"/>
              </a:lnSpc>
              <a:buNone/>
            </a:pPr>
            <a:r>
              <a:rPr lang="en-US" sz="1250" b="1" dirty="0">
                <a:solidFill>
                  <a:srgbClr val="1B2340"/>
                </a:solidFill>
                <a:latin typeface="Arial" pitchFamily="34" charset="0"/>
                <a:ea typeface="Arial" pitchFamily="34" charset="-122"/>
                <a:cs typeface="Arial" pitchFamily="34" charset="-120"/>
              </a:rPr>
              <a:t>One shot, new effect per mini-game</a:t>
            </a:r>
            <a:endParaRPr lang="en-US" sz="1250" dirty="0"/>
          </a:p>
        </p:txBody>
      </p:sp>
      <p:sp>
        <p:nvSpPr>
          <p:cNvPr id="44" name="text 17.43"/>
          <p:cNvSpPr txBox="1"/>
          <p:nvPr/>
        </p:nvSpPr>
        <p:spPr>
          <a:xfrm>
            <a:off x="812780" y="5695808"/>
            <a:ext cx="250174"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Yes</a:t>
            </a:r>
            <a:endParaRPr lang="en-US" sz="850" dirty="0"/>
          </a:p>
        </p:txBody>
      </p:sp>
      <p:sp>
        <p:nvSpPr>
          <p:cNvPr id="45" name="text 17.44"/>
          <p:cNvSpPr txBox="1"/>
          <p:nvPr/>
        </p:nvSpPr>
        <p:spPr>
          <a:xfrm>
            <a:off x="1638259" y="5695808"/>
            <a:ext cx="356079"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Partly</a:t>
            </a:r>
            <a:endParaRPr lang="en-US" sz="850" dirty="0"/>
          </a:p>
        </p:txBody>
      </p:sp>
      <p:sp>
        <p:nvSpPr>
          <p:cNvPr id="46" name="text 17.45"/>
          <p:cNvSpPr txBox="1"/>
          <p:nvPr/>
        </p:nvSpPr>
        <p:spPr>
          <a:xfrm>
            <a:off x="2527237" y="5695808"/>
            <a:ext cx="209789"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No</a:t>
            </a:r>
            <a:endParaRPr lang="en-US" sz="850" dirty="0"/>
          </a:p>
        </p:txBody>
      </p:sp>
      <p:sp>
        <p:nvSpPr>
          <p:cNvPr id="47" name="text 17.46"/>
          <p:cNvSpPr txBox="1"/>
          <p:nvPr/>
        </p:nvSpPr>
        <p:spPr>
          <a:xfrm>
            <a:off x="3225719" y="5695808"/>
            <a:ext cx="1291139"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Planned (Shooter Party)</a:t>
            </a:r>
            <a:endParaRPr lang="en-US" sz="850" dirty="0"/>
          </a:p>
        </p:txBody>
      </p:sp>
      <p:sp>
        <p:nvSpPr>
          <p:cNvPr id="48" name="text 17.47"/>
          <p:cNvSpPr txBox="1"/>
          <p:nvPr/>
        </p:nvSpPr>
        <p:spPr>
          <a:xfrm>
            <a:off x="609585" y="6351131"/>
            <a:ext cx="1169437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“Partly”: Fall Guys’ playlist eliminates players rather than scoring each round. Feather Party changes physics with elemental effects; it has no shared shot. The Shooter Party column is our plan, not shipped software.</a:t>
            </a:r>
            <a:endParaRPr lang="en-US" sz="850" dirty="0"/>
          </a:p>
        </p:txBody>
      </p:sp>
      <p:pic>
        <p:nvPicPr>
          <p:cNvPr id="49" name="raster 17.48" descr="diagram">    </p:cNvPr>
          <p:cNvPicPr>
            <a:picLocks noChangeAspect="1"/>
          </p:cNvPicPr>
          <p:nvPr/>
        </p:nvPicPr>
        <p:blipFill>
          <a:blip r:embed="rId27"/>
          <a:stretch>
            <a:fillRect/>
          </a:stretch>
        </p:blipFill>
        <p:spPr>
          <a:xfrm>
            <a:off x="609585" y="266693"/>
            <a:ext cx="190495" cy="190495"/>
          </a:xfrm>
          <a:prstGeom prst="rect">
            <a:avLst/>
          </a:prstGeom>
        </p:spPr>
      </p:pic>
      <p:sp>
        <p:nvSpPr>
          <p:cNvPr id="50" name="text 17.49"/>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51" name="text 17.50"/>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52" name="text 17.51"/>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53" name="text 17.52"/>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17 / 28</a:t>
            </a:r>
            <a:endParaRPr lang="en-US" sz="750" dirty="0"/>
          </a:p>
        </p:txBody>
      </p:sp>
      <p:sp>
        <p:nvSpPr>
          <p:cNvPr id="54" name="text 17.53"/>
          <p:cNvSpPr txBox="1"/>
          <p:nvPr/>
        </p:nvSpPr>
        <p:spPr>
          <a:xfrm>
            <a:off x="609585" y="698483"/>
            <a:ext cx="958173"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03 · MARKET</a:t>
            </a:r>
            <a:endParaRPr lang="en-US" sz="8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8.1"/>
          <p:cNvSpPr/>
          <p:nvPr/>
        </p:nvSpPr>
        <p:spPr>
          <a:xfrm>
            <a:off x="609585" y="1803355"/>
            <a:ext cx="3555911" cy="2171646"/>
          </a:xfrm>
          <a:prstGeom prst="roundRect">
            <a:avLst>
              <a:gd name="adj" fmla="val 7018"/>
            </a:avLst>
          </a:prstGeom>
          <a:solidFill>
            <a:srgbClr val="FFF0E6"/>
          </a:solidFill>
          <a:ln w="19050">
            <a:solidFill>
              <a:srgbClr val="FF6B1F"/>
            </a:solidFill>
            <a:prstDash val="solid"/>
          </a:ln>
          <a:effectLst>
            <a:outerShdw sx="100000" sy="100000" kx="0" ky="0" algn="bl" rotWithShape="0" blurRad="203200" dist="76200" dir="5400000">
              <a:srgbClr val="1E468C">
                <a:alpha val="16000"/>
              </a:srgbClr>
            </a:outerShdw>
          </a:effectLst>
        </p:spPr>
      </p:sp>
      <p:sp>
        <p:nvSpPr>
          <p:cNvPr id="3" name="shape 18.2"/>
          <p:cNvSpPr/>
          <p:nvPr/>
        </p:nvSpPr>
        <p:spPr>
          <a:xfrm>
            <a:off x="4317892" y="1803355"/>
            <a:ext cx="3555911" cy="2171646"/>
          </a:xfrm>
          <a:prstGeom prst="roundRect">
            <a:avLst>
              <a:gd name="adj" fmla="val 70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4" name="shape 18.3"/>
          <p:cNvSpPr/>
          <p:nvPr/>
        </p:nvSpPr>
        <p:spPr>
          <a:xfrm>
            <a:off x="8026199" y="1803355"/>
            <a:ext cx="3555911" cy="2171646"/>
          </a:xfrm>
          <a:prstGeom prst="roundRect">
            <a:avLst>
              <a:gd name="adj" fmla="val 70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18.4"/>
          <p:cNvSpPr/>
          <p:nvPr/>
        </p:nvSpPr>
        <p:spPr>
          <a:xfrm>
            <a:off x="609585" y="4101997"/>
            <a:ext cx="3555911" cy="2171646"/>
          </a:xfrm>
          <a:prstGeom prst="roundRect">
            <a:avLst>
              <a:gd name="adj" fmla="val 70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18.5"/>
          <p:cNvSpPr/>
          <p:nvPr/>
        </p:nvSpPr>
        <p:spPr>
          <a:xfrm>
            <a:off x="4317892" y="4101997"/>
            <a:ext cx="3555911" cy="2171646"/>
          </a:xfrm>
          <a:prstGeom prst="roundRect">
            <a:avLst>
              <a:gd name="adj" fmla="val 70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18.6"/>
          <p:cNvSpPr/>
          <p:nvPr/>
        </p:nvSpPr>
        <p:spPr>
          <a:xfrm>
            <a:off x="8026199" y="4101997"/>
            <a:ext cx="3555911" cy="2171646"/>
          </a:xfrm>
          <a:prstGeom prst="roundRect">
            <a:avLst>
              <a:gd name="adj" fmla="val 70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text 18.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Innovation &amp; creativity</a:t>
            </a:r>
            <a:endParaRPr lang="en-US" sz="3000" dirty="0"/>
          </a:p>
        </p:txBody>
      </p:sp>
      <p:sp>
        <p:nvSpPr>
          <p:cNvPr id="9" name="text 18.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A party game built on </a:t>
            </a:r>
            <a:pPr algn="l" indent="0" marL="0">
              <a:lnSpc>
                <a:spcPts val="1820"/>
              </a:lnSpc>
              <a:buNone/>
            </a:pPr>
            <a:r>
              <a:rPr lang="en-US" sz="1350" b="1" dirty="0">
                <a:solidFill>
                  <a:srgbClr val="FF6B1F"/>
                </a:solidFill>
                <a:latin typeface="Arial" pitchFamily="34" charset="0"/>
                <a:ea typeface="Arial" pitchFamily="34" charset="-122"/>
                <a:cs typeface="Arial" pitchFamily="34" charset="-120"/>
              </a:rPr>
              <a:t>one shot that changes its meaning</a:t>
            </a:r>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 in every mini-game.</a:t>
            </a:r>
            <a:endParaRPr lang="en-US" sz="1350" dirty="0"/>
          </a:p>
        </p:txBody>
      </p:sp>
      <p:sp>
        <p:nvSpPr>
          <p:cNvPr id="10" name="text 18.9"/>
          <p:cNvSpPr txBox="1"/>
          <p:nvPr/>
        </p:nvSpPr>
        <p:spPr>
          <a:xfrm>
            <a:off x="838179" y="2006550"/>
            <a:ext cx="511519" cy="355591"/>
          </a:xfrm>
          <a:prstGeom prst="rect">
            <a:avLst/>
          </a:prstGeom>
          <a:noFill/>
          <a:ln/>
        </p:spPr>
        <p:txBody>
          <a:bodyPr wrap="square" lIns="0" tIns="0" rIns="0" bIns="0" rtlCol="0" anchor="t"/>
          <a:lstStyle/>
          <a:p>
            <a:pPr algn="l" indent="0" marL="0">
              <a:lnSpc>
                <a:spcPts val="2800"/>
              </a:lnSpc>
              <a:buNone/>
            </a:pPr>
            <a:r>
              <a:rPr lang="en-US" sz="2800" dirty="0">
                <a:solidFill>
                  <a:srgbClr val="FF6B1F"/>
                </a:solidFill>
                <a:latin typeface="Arial Rounded MT Bold" pitchFamily="34" charset="0"/>
                <a:ea typeface="Arial Rounded MT Bold" pitchFamily="34" charset="-122"/>
                <a:cs typeface="Arial Rounded MT Bold" pitchFamily="34" charset="-120"/>
              </a:rPr>
              <a:t>01</a:t>
            </a:r>
            <a:endParaRPr lang="en-US" sz="2800" dirty="0"/>
          </a:p>
        </p:txBody>
      </p:sp>
      <p:pic>
        <p:nvPicPr>
          <p:cNvPr id="11" name="raster 18.10" descr="diagram">    </p:cNvPr>
          <p:cNvPicPr>
            <a:picLocks noChangeAspect="1"/>
          </p:cNvPicPr>
          <p:nvPr/>
        </p:nvPicPr>
        <p:blipFill>
          <a:blip r:embed="rId2"/>
          <a:stretch>
            <a:fillRect/>
          </a:stretch>
        </p:blipFill>
        <p:spPr>
          <a:xfrm>
            <a:off x="3276518" y="1993850"/>
            <a:ext cx="577836" cy="444489"/>
          </a:xfrm>
          <a:prstGeom prst="rect">
            <a:avLst/>
          </a:prstGeom>
        </p:spPr>
      </p:pic>
      <p:sp>
        <p:nvSpPr>
          <p:cNvPr id="12" name="text 18.11"/>
          <p:cNvSpPr txBox="1"/>
          <p:nvPr/>
        </p:nvSpPr>
        <p:spPr>
          <a:xfrm>
            <a:off x="838179" y="2552636"/>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One trigger, many effects</a:t>
            </a:r>
            <a:endParaRPr lang="en-US" sz="1500" dirty="0"/>
          </a:p>
        </p:txBody>
      </p:sp>
      <p:sp>
        <p:nvSpPr>
          <p:cNvPr id="13" name="text 18.12"/>
          <p:cNvSpPr txBox="1"/>
          <p:nvPr/>
        </p:nvSpPr>
        <p:spPr>
          <a:xfrm>
            <a:off x="838179" y="2870128"/>
            <a:ext cx="3149521" cy="6075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The same shot pushes, damages, lifts or steers, depending on the mini-game. Controls are learned once; every mini-game still feels new.</a:t>
            </a:r>
            <a:endParaRPr lang="en-US" sz="1100" dirty="0"/>
          </a:p>
        </p:txBody>
      </p:sp>
      <p:sp>
        <p:nvSpPr>
          <p:cNvPr id="14" name="text 18.13"/>
          <p:cNvSpPr txBox="1"/>
          <p:nvPr/>
        </p:nvSpPr>
        <p:spPr>
          <a:xfrm>
            <a:off x="4546486" y="2006550"/>
            <a:ext cx="511519" cy="355591"/>
          </a:xfrm>
          <a:prstGeom prst="rect">
            <a:avLst/>
          </a:prstGeom>
          <a:noFill/>
          <a:ln/>
        </p:spPr>
        <p:txBody>
          <a:bodyPr wrap="square" lIns="0" tIns="0" rIns="0" bIns="0" rtlCol="0" anchor="t"/>
          <a:lstStyle/>
          <a:p>
            <a:pPr algn="l" indent="0" marL="0">
              <a:lnSpc>
                <a:spcPts val="2800"/>
              </a:lnSpc>
              <a:buNone/>
            </a:pPr>
            <a:r>
              <a:rPr lang="en-US" sz="2800" dirty="0">
                <a:solidFill>
                  <a:srgbClr val="1FA9EA"/>
                </a:solidFill>
                <a:latin typeface="Arial Rounded MT Bold" pitchFamily="34" charset="0"/>
                <a:ea typeface="Arial Rounded MT Bold" pitchFamily="34" charset="-122"/>
                <a:cs typeface="Arial Rounded MT Bold" pitchFamily="34" charset="-120"/>
              </a:rPr>
              <a:t>02</a:t>
            </a:r>
            <a:endParaRPr lang="en-US" sz="2800" dirty="0"/>
          </a:p>
        </p:txBody>
      </p:sp>
      <p:pic>
        <p:nvPicPr>
          <p:cNvPr id="15" name="raster 18.14" descr="diagram">    </p:cNvPr>
          <p:cNvPicPr>
            <a:picLocks noChangeAspect="1"/>
          </p:cNvPicPr>
          <p:nvPr/>
        </p:nvPicPr>
        <p:blipFill>
          <a:blip r:embed="rId3"/>
          <a:stretch>
            <a:fillRect/>
          </a:stretch>
        </p:blipFill>
        <p:spPr>
          <a:xfrm>
            <a:off x="6984825" y="1993850"/>
            <a:ext cx="577836" cy="444489"/>
          </a:xfrm>
          <a:prstGeom prst="rect">
            <a:avLst/>
          </a:prstGeom>
        </p:spPr>
      </p:pic>
      <p:sp>
        <p:nvSpPr>
          <p:cNvPr id="16" name="text 18.15"/>
          <p:cNvSpPr txBox="1"/>
          <p:nvPr/>
        </p:nvSpPr>
        <p:spPr>
          <a:xfrm>
            <a:off x="4546486" y="2552636"/>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Shooting at the heart</a:t>
            </a:r>
            <a:endParaRPr lang="en-US" sz="1500" dirty="0"/>
          </a:p>
        </p:txBody>
      </p:sp>
      <p:sp>
        <p:nvSpPr>
          <p:cNvPr id="17" name="text 18.16"/>
          <p:cNvSpPr txBox="1"/>
          <p:nvPr/>
        </p:nvSpPr>
        <p:spPr>
          <a:xfrm>
            <a:off x="4546486" y="2870128"/>
            <a:ext cx="3149521" cy="6075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Most party games are about brawling, racing or luck. Here aiming and timing a shot is the core skill in every round.</a:t>
            </a:r>
            <a:endParaRPr lang="en-US" sz="1100" dirty="0"/>
          </a:p>
        </p:txBody>
      </p:sp>
      <p:sp>
        <p:nvSpPr>
          <p:cNvPr id="18" name="text 18.17"/>
          <p:cNvSpPr txBox="1"/>
          <p:nvPr/>
        </p:nvSpPr>
        <p:spPr>
          <a:xfrm>
            <a:off x="8254794" y="2006550"/>
            <a:ext cx="511519" cy="355591"/>
          </a:xfrm>
          <a:prstGeom prst="rect">
            <a:avLst/>
          </a:prstGeom>
          <a:noFill/>
          <a:ln/>
        </p:spPr>
        <p:txBody>
          <a:bodyPr wrap="square" lIns="0" tIns="0" rIns="0" bIns="0" rtlCol="0" anchor="t"/>
          <a:lstStyle/>
          <a:p>
            <a:pPr algn="l" indent="0" marL="0">
              <a:lnSpc>
                <a:spcPts val="2800"/>
              </a:lnSpc>
              <a:buNone/>
            </a:pPr>
            <a:r>
              <a:rPr lang="en-US" sz="2800" dirty="0">
                <a:solidFill>
                  <a:srgbClr val="43B832"/>
                </a:solidFill>
                <a:latin typeface="Arial Rounded MT Bold" pitchFamily="34" charset="0"/>
                <a:ea typeface="Arial Rounded MT Bold" pitchFamily="34" charset="-122"/>
                <a:cs typeface="Arial Rounded MT Bold" pitchFamily="34" charset="-120"/>
              </a:rPr>
              <a:t>03</a:t>
            </a:r>
            <a:endParaRPr lang="en-US" sz="2800" dirty="0"/>
          </a:p>
        </p:txBody>
      </p:sp>
      <p:pic>
        <p:nvPicPr>
          <p:cNvPr id="19" name="raster 18.18" descr="diagram">    </p:cNvPr>
          <p:cNvPicPr>
            <a:picLocks noChangeAspect="1"/>
          </p:cNvPicPr>
          <p:nvPr/>
        </p:nvPicPr>
        <p:blipFill>
          <a:blip r:embed="rId4"/>
          <a:stretch>
            <a:fillRect/>
          </a:stretch>
        </p:blipFill>
        <p:spPr>
          <a:xfrm>
            <a:off x="10693133" y="1993850"/>
            <a:ext cx="577836" cy="444489"/>
          </a:xfrm>
          <a:prstGeom prst="rect">
            <a:avLst/>
          </a:prstGeom>
        </p:spPr>
      </p:pic>
      <p:sp>
        <p:nvSpPr>
          <p:cNvPr id="20" name="text 18.19"/>
          <p:cNvSpPr txBox="1"/>
          <p:nvPr/>
        </p:nvSpPr>
        <p:spPr>
          <a:xfrm>
            <a:off x="8254794" y="2552636"/>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Variety on one mechanic</a:t>
            </a:r>
            <a:endParaRPr lang="en-US" sz="1500" dirty="0"/>
          </a:p>
        </p:txBody>
      </p:sp>
      <p:sp>
        <p:nvSpPr>
          <p:cNvPr id="21" name="text 18.20"/>
          <p:cNvSpPr txBox="1"/>
          <p:nvPr/>
        </p:nvSpPr>
        <p:spPr>
          <a:xfrm>
            <a:off x="8254794" y="2870128"/>
            <a:ext cx="3149521" cy="6075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Different maps, themes and rules, from grass islands to an ice track, all built on the same cube and the same shot.</a:t>
            </a:r>
            <a:endParaRPr lang="en-US" sz="1100" dirty="0"/>
          </a:p>
        </p:txBody>
      </p:sp>
      <p:sp>
        <p:nvSpPr>
          <p:cNvPr id="22" name="text 18.21"/>
          <p:cNvSpPr txBox="1"/>
          <p:nvPr/>
        </p:nvSpPr>
        <p:spPr>
          <a:xfrm>
            <a:off x="838179" y="4305192"/>
            <a:ext cx="511519" cy="355591"/>
          </a:xfrm>
          <a:prstGeom prst="rect">
            <a:avLst/>
          </a:prstGeom>
          <a:noFill/>
          <a:ln/>
        </p:spPr>
        <p:txBody>
          <a:bodyPr wrap="square" lIns="0" tIns="0" rIns="0" bIns="0" rtlCol="0" anchor="t"/>
          <a:lstStyle/>
          <a:p>
            <a:pPr algn="l" indent="0" marL="0">
              <a:lnSpc>
                <a:spcPts val="2800"/>
              </a:lnSpc>
              <a:buNone/>
            </a:pPr>
            <a:r>
              <a:rPr lang="en-US" sz="2800" dirty="0">
                <a:solidFill>
                  <a:srgbClr val="8F55F5"/>
                </a:solidFill>
                <a:latin typeface="Arial Rounded MT Bold" pitchFamily="34" charset="0"/>
                <a:ea typeface="Arial Rounded MT Bold" pitchFamily="34" charset="-122"/>
                <a:cs typeface="Arial Rounded MT Bold" pitchFamily="34" charset="-120"/>
              </a:rPr>
              <a:t>04</a:t>
            </a:r>
            <a:endParaRPr lang="en-US" sz="2800" dirty="0"/>
          </a:p>
        </p:txBody>
      </p:sp>
      <p:pic>
        <p:nvPicPr>
          <p:cNvPr id="23" name="raster 18.22" descr="diagram">    </p:cNvPr>
          <p:cNvPicPr>
            <a:picLocks noChangeAspect="1"/>
          </p:cNvPicPr>
          <p:nvPr/>
        </p:nvPicPr>
        <p:blipFill>
          <a:blip r:embed="rId5"/>
          <a:stretch>
            <a:fillRect/>
          </a:stretch>
        </p:blipFill>
        <p:spPr>
          <a:xfrm>
            <a:off x="3276518" y="4292493"/>
            <a:ext cx="577836" cy="444489"/>
          </a:xfrm>
          <a:prstGeom prst="rect">
            <a:avLst/>
          </a:prstGeom>
        </p:spPr>
      </p:pic>
      <p:sp>
        <p:nvSpPr>
          <p:cNvPr id="24" name="text 18.23"/>
          <p:cNvSpPr txBox="1"/>
          <p:nvPr/>
        </p:nvSpPr>
        <p:spPr>
          <a:xfrm>
            <a:off x="838179" y="4851279"/>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A comeback built in</a:t>
            </a:r>
            <a:endParaRPr lang="en-US" sz="1500" dirty="0"/>
          </a:p>
        </p:txBody>
      </p:sp>
      <p:sp>
        <p:nvSpPr>
          <p:cNvPr id="25" name="text 18.24"/>
          <p:cNvSpPr txBox="1"/>
          <p:nvPr/>
        </p:nvSpPr>
        <p:spPr>
          <a:xfrm>
            <a:off x="838179" y="5168771"/>
            <a:ext cx="3149521" cy="4050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Last place earns +1 point, ties go to the underdog, and the leader wears a crown everyone aims at.</a:t>
            </a:r>
            <a:endParaRPr lang="en-US" sz="1100" dirty="0"/>
          </a:p>
        </p:txBody>
      </p:sp>
      <p:sp>
        <p:nvSpPr>
          <p:cNvPr id="26" name="text 18.25"/>
          <p:cNvSpPr txBox="1"/>
          <p:nvPr/>
        </p:nvSpPr>
        <p:spPr>
          <a:xfrm>
            <a:off x="4546486" y="4305192"/>
            <a:ext cx="511519" cy="355591"/>
          </a:xfrm>
          <a:prstGeom prst="rect">
            <a:avLst/>
          </a:prstGeom>
          <a:noFill/>
          <a:ln/>
        </p:spPr>
        <p:txBody>
          <a:bodyPr wrap="square" lIns="0" tIns="0" rIns="0" bIns="0" rtlCol="0" anchor="t"/>
          <a:lstStyle/>
          <a:p>
            <a:pPr algn="l" indent="0" marL="0">
              <a:lnSpc>
                <a:spcPts val="2800"/>
              </a:lnSpc>
              <a:buNone/>
            </a:pPr>
            <a:r>
              <a:rPr lang="en-US" sz="2800" dirty="0">
                <a:solidFill>
                  <a:srgbClr val="FF6B1F"/>
                </a:solidFill>
                <a:latin typeface="Arial Rounded MT Bold" pitchFamily="34" charset="0"/>
                <a:ea typeface="Arial Rounded MT Bold" pitchFamily="34" charset="-122"/>
                <a:cs typeface="Arial Rounded MT Bold" pitchFamily="34" charset="-120"/>
              </a:rPr>
              <a:t>05</a:t>
            </a:r>
            <a:endParaRPr lang="en-US" sz="2800" dirty="0"/>
          </a:p>
        </p:txBody>
      </p:sp>
      <p:pic>
        <p:nvPicPr>
          <p:cNvPr id="27" name="raster 18.26" descr="diagram">    </p:cNvPr>
          <p:cNvPicPr>
            <a:picLocks noChangeAspect="1"/>
          </p:cNvPicPr>
          <p:nvPr/>
        </p:nvPicPr>
        <p:blipFill>
          <a:blip r:embed="rId6"/>
          <a:stretch>
            <a:fillRect/>
          </a:stretch>
        </p:blipFill>
        <p:spPr>
          <a:xfrm>
            <a:off x="6984825" y="4292493"/>
            <a:ext cx="577836" cy="444489"/>
          </a:xfrm>
          <a:prstGeom prst="rect">
            <a:avLst/>
          </a:prstGeom>
        </p:spPr>
      </p:pic>
      <p:sp>
        <p:nvSpPr>
          <p:cNvPr id="28" name="text 18.27"/>
          <p:cNvSpPr txBox="1"/>
          <p:nvPr/>
        </p:nvSpPr>
        <p:spPr>
          <a:xfrm>
            <a:off x="4546486" y="4851279"/>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Your session, your rules</a:t>
            </a:r>
            <a:endParaRPr lang="en-US" sz="1500" dirty="0"/>
          </a:p>
        </p:txBody>
      </p:sp>
      <p:sp>
        <p:nvSpPr>
          <p:cNvPr id="29" name="text 18.28"/>
          <p:cNvSpPr txBox="1"/>
          <p:nvPr/>
        </p:nvSpPr>
        <p:spPr>
          <a:xfrm>
            <a:off x="4546486" y="5168771"/>
            <a:ext cx="3149521" cy="6075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Random or custom playlists, excluded or repeated mini-games, and an end by game count or target score.</a:t>
            </a:r>
            <a:endParaRPr lang="en-US" sz="1100" dirty="0"/>
          </a:p>
        </p:txBody>
      </p:sp>
      <p:sp>
        <p:nvSpPr>
          <p:cNvPr id="30" name="text 18.29"/>
          <p:cNvSpPr txBox="1"/>
          <p:nvPr/>
        </p:nvSpPr>
        <p:spPr>
          <a:xfrm>
            <a:off x="8254794" y="4305192"/>
            <a:ext cx="511519" cy="355591"/>
          </a:xfrm>
          <a:prstGeom prst="rect">
            <a:avLst/>
          </a:prstGeom>
          <a:noFill/>
          <a:ln/>
        </p:spPr>
        <p:txBody>
          <a:bodyPr wrap="square" lIns="0" tIns="0" rIns="0" bIns="0" rtlCol="0" anchor="t"/>
          <a:lstStyle/>
          <a:p>
            <a:pPr algn="l" indent="0" marL="0">
              <a:lnSpc>
                <a:spcPts val="2800"/>
              </a:lnSpc>
              <a:buNone/>
            </a:pPr>
            <a:r>
              <a:rPr lang="en-US" sz="2800" dirty="0">
                <a:solidFill>
                  <a:srgbClr val="1FA9EA"/>
                </a:solidFill>
                <a:latin typeface="Arial Rounded MT Bold" pitchFamily="34" charset="0"/>
                <a:ea typeface="Arial Rounded MT Bold" pitchFamily="34" charset="-122"/>
                <a:cs typeface="Arial Rounded MT Bold" pitchFamily="34" charset="-120"/>
              </a:rPr>
              <a:t>06</a:t>
            </a:r>
            <a:endParaRPr lang="en-US" sz="2800" dirty="0"/>
          </a:p>
        </p:txBody>
      </p:sp>
      <p:pic>
        <p:nvPicPr>
          <p:cNvPr id="31" name="raster 18.30" descr="diagram">    </p:cNvPr>
          <p:cNvPicPr>
            <a:picLocks noChangeAspect="1"/>
          </p:cNvPicPr>
          <p:nvPr/>
        </p:nvPicPr>
        <p:blipFill>
          <a:blip r:embed="rId7"/>
          <a:stretch>
            <a:fillRect/>
          </a:stretch>
        </p:blipFill>
        <p:spPr>
          <a:xfrm>
            <a:off x="10693133" y="4292493"/>
            <a:ext cx="577836" cy="444489"/>
          </a:xfrm>
          <a:prstGeom prst="rect">
            <a:avLst/>
          </a:prstGeom>
        </p:spPr>
      </p:pic>
      <p:sp>
        <p:nvSpPr>
          <p:cNvPr id="32" name="text 18.31"/>
          <p:cNvSpPr txBox="1"/>
          <p:nvPr/>
        </p:nvSpPr>
        <p:spPr>
          <a:xfrm>
            <a:off x="8254794" y="4851279"/>
            <a:ext cx="3149521" cy="219070"/>
          </a:xfrm>
          <a:prstGeom prst="rect">
            <a:avLst/>
          </a:prstGeom>
          <a:noFill/>
          <a:ln/>
        </p:spPr>
        <p:txBody>
          <a:bodyPr wrap="square" lIns="0" tIns="0" rIns="0" bIns="0" rtlCol="0" anchor="t"/>
          <a:lstStyle/>
          <a:p>
            <a:pPr algn="l" indent="0" marL="0">
              <a:lnSpc>
                <a:spcPts val="1730"/>
              </a:lnSpc>
              <a:buNone/>
            </a:pPr>
            <a:r>
              <a:rPr lang="en-US" sz="1500" dirty="0">
                <a:solidFill>
                  <a:srgbClr val="1B2340"/>
                </a:solidFill>
                <a:latin typeface="Arial Rounded MT Bold" pitchFamily="34" charset="0"/>
                <a:ea typeface="Arial Rounded MT Bold" pitchFamily="34" charset="-122"/>
                <a:cs typeface="Arial Rounded MT Bold" pitchFamily="34" charset="-120"/>
              </a:rPr>
              <a:t>Mass, not size</a:t>
            </a:r>
            <a:endParaRPr lang="en-US" sz="1500" dirty="0"/>
          </a:p>
        </p:txBody>
      </p:sp>
      <p:sp>
        <p:nvSpPr>
          <p:cNvPr id="33" name="text 18.32"/>
          <p:cNvSpPr txBox="1"/>
          <p:nvPr/>
        </p:nvSpPr>
        <p:spPr>
          <a:xfrm>
            <a:off x="8254794" y="5168771"/>
            <a:ext cx="3149521" cy="607501"/>
          </a:xfrm>
          <a:prstGeom prst="rect">
            <a:avLst/>
          </a:prstGeom>
          <a:noFill/>
          <a:ln/>
        </p:spPr>
        <p:txBody>
          <a:bodyPr wrap="square" lIns="0" tIns="0" rIns="0" bIns="0" rtlCol="0" anchor="t"/>
          <a:lstStyle/>
          <a:p>
            <a:pPr algn="l" indent="0" marL="0">
              <a:lnSpc>
                <a:spcPts val="1590"/>
              </a:lnSpc>
              <a:buNone/>
            </a:pPr>
            <a:r>
              <a:rPr lang="en-US" sz="1100" dirty="0">
                <a:solidFill>
                  <a:srgbClr val="3E475E"/>
                </a:solidFill>
                <a:latin typeface="Arial" pitchFamily="34" charset="0"/>
                <a:ea typeface="Arial" pitchFamily="34" charset="-122"/>
                <a:cs typeface="Arial" pitchFamily="34" charset="-120"/>
              </a:rPr>
              <a:t>In Knockback Arena, hits lower a player’s mass while the size stays, so the same shot sends them further each time.</a:t>
            </a:r>
            <a:endParaRPr lang="en-US" sz="1100" dirty="0"/>
          </a:p>
        </p:txBody>
      </p:sp>
      <p:pic>
        <p:nvPicPr>
          <p:cNvPr id="34" name="raster 18.33" descr="diagram">    </p:cNvPr>
          <p:cNvPicPr>
            <a:picLocks noChangeAspect="1"/>
          </p:cNvPicPr>
          <p:nvPr/>
        </p:nvPicPr>
        <p:blipFill>
          <a:blip r:embed="rId8"/>
          <a:stretch>
            <a:fillRect/>
          </a:stretch>
        </p:blipFill>
        <p:spPr>
          <a:xfrm>
            <a:off x="609585" y="266693"/>
            <a:ext cx="190495" cy="190495"/>
          </a:xfrm>
          <a:prstGeom prst="rect">
            <a:avLst/>
          </a:prstGeom>
        </p:spPr>
      </p:pic>
      <p:sp>
        <p:nvSpPr>
          <p:cNvPr id="35" name="text 18.34"/>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6" name="text 18.35"/>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7" name="text 18.36"/>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8" name="text 18.37"/>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18 / 28</a:t>
            </a:r>
            <a:endParaRPr lang="en-US" sz="750" dirty="0"/>
          </a:p>
        </p:txBody>
      </p:sp>
      <p:sp>
        <p:nvSpPr>
          <p:cNvPr id="39" name="text 18.38"/>
          <p:cNvSpPr txBox="1"/>
          <p:nvPr/>
        </p:nvSpPr>
        <p:spPr>
          <a:xfrm>
            <a:off x="609585" y="698483"/>
            <a:ext cx="1234137"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04 · INNOVATION</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19.1"/>
          <p:cNvSpPr/>
          <p:nvPr/>
        </p:nvSpPr>
        <p:spPr>
          <a:xfrm>
            <a:off x="609585" y="1498563"/>
            <a:ext cx="10972526" cy="774681"/>
          </a:xfrm>
          <a:prstGeom prst="roundRect">
            <a:avLst>
              <a:gd name="adj" fmla="val 19672"/>
            </a:avLst>
          </a:prstGeom>
          <a:solidFill>
            <a:srgbClr val="FFFFFF"/>
          </a:solidFill>
          <a:ln w="12700">
            <a:solidFill>
              <a:srgbClr val="E4E9DD"/>
            </a:solidFill>
            <a:prstDash val="solid"/>
          </a:ln>
        </p:spPr>
      </p:sp>
      <p:sp>
        <p:nvSpPr>
          <p:cNvPr id="3" name="shape 19.2"/>
          <p:cNvSpPr/>
          <p:nvPr/>
        </p:nvSpPr>
        <p:spPr>
          <a:xfrm>
            <a:off x="609585" y="2387540"/>
            <a:ext cx="10972526" cy="774681"/>
          </a:xfrm>
          <a:prstGeom prst="roundRect">
            <a:avLst>
              <a:gd name="adj" fmla="val 19672"/>
            </a:avLst>
          </a:prstGeom>
          <a:solidFill>
            <a:srgbClr val="FFFFFF"/>
          </a:solidFill>
          <a:ln w="12700">
            <a:solidFill>
              <a:srgbClr val="E4E9DD"/>
            </a:solidFill>
            <a:prstDash val="solid"/>
          </a:ln>
        </p:spPr>
      </p:sp>
      <p:sp>
        <p:nvSpPr>
          <p:cNvPr id="4" name="shape 19.3"/>
          <p:cNvSpPr/>
          <p:nvPr/>
        </p:nvSpPr>
        <p:spPr>
          <a:xfrm>
            <a:off x="609585" y="3276518"/>
            <a:ext cx="10972526" cy="774681"/>
          </a:xfrm>
          <a:prstGeom prst="roundRect">
            <a:avLst>
              <a:gd name="adj" fmla="val 19672"/>
            </a:avLst>
          </a:prstGeom>
          <a:solidFill>
            <a:srgbClr val="FFFFFF"/>
          </a:solidFill>
          <a:ln w="12700">
            <a:solidFill>
              <a:srgbClr val="E4E9DD"/>
            </a:solidFill>
            <a:prstDash val="solid"/>
          </a:ln>
        </p:spPr>
      </p:sp>
      <p:sp>
        <p:nvSpPr>
          <p:cNvPr id="5" name="shape 19.4"/>
          <p:cNvSpPr/>
          <p:nvPr/>
        </p:nvSpPr>
        <p:spPr>
          <a:xfrm>
            <a:off x="609585" y="4165496"/>
            <a:ext cx="10972526" cy="774681"/>
          </a:xfrm>
          <a:prstGeom prst="roundRect">
            <a:avLst>
              <a:gd name="adj" fmla="val 19672"/>
            </a:avLst>
          </a:prstGeom>
          <a:solidFill>
            <a:srgbClr val="FFFFFF"/>
          </a:solidFill>
          <a:ln w="12700">
            <a:solidFill>
              <a:srgbClr val="E4E9DD"/>
            </a:solidFill>
            <a:prstDash val="solid"/>
          </a:ln>
        </p:spPr>
      </p:sp>
      <p:sp>
        <p:nvSpPr>
          <p:cNvPr id="6" name="shape 19.5"/>
          <p:cNvSpPr/>
          <p:nvPr/>
        </p:nvSpPr>
        <p:spPr>
          <a:xfrm>
            <a:off x="609585" y="5206870"/>
            <a:ext cx="10972526" cy="1079473"/>
          </a:xfrm>
          <a:prstGeom prst="roundRect">
            <a:avLst>
              <a:gd name="adj" fmla="val 14118"/>
            </a:avLst>
          </a:prstGeom>
          <a:solidFill>
            <a:srgbClr val="E7F5E1"/>
          </a:solidFill>
          <a:ln w="12700">
            <a:solidFill>
              <a:srgbClr val="D2EBC7"/>
            </a:solidFill>
            <a:prstDash val="solid"/>
          </a:ln>
          <a:effectLst>
            <a:outerShdw sx="100000" sy="100000" kx="0" ky="0" algn="bl" rotWithShape="0" blurRad="203200" dist="76200" dir="5400000">
              <a:srgbClr val="1E468C">
                <a:alpha val="16000"/>
              </a:srgbClr>
            </a:outerShdw>
          </a:effectLst>
        </p:spPr>
      </p:sp>
      <p:sp>
        <p:nvSpPr>
          <p:cNvPr id="7" name="text 19.6"/>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How this differs from the closest games</a:t>
            </a:r>
            <a:endParaRPr lang="en-US" sz="3000" dirty="0"/>
          </a:p>
        </p:txBody>
      </p:sp>
      <p:sp>
        <p:nvSpPr>
          <p:cNvPr id="8" name="shape 19.7"/>
          <p:cNvSpPr/>
          <p:nvPr/>
        </p:nvSpPr>
        <p:spPr>
          <a:xfrm>
            <a:off x="609585" y="1498563"/>
            <a:ext cx="76198" cy="774681"/>
          </a:xfrm>
          <a:prstGeom prst="roundRect">
            <a:avLst>
              <a:gd name="adj" fmla="val 50000"/>
            </a:avLst>
          </a:prstGeom>
          <a:solidFill>
            <a:srgbClr val="FF6B1F"/>
          </a:solidFill>
          <a:ln/>
        </p:spPr>
      </p:sp>
      <p:sp>
        <p:nvSpPr>
          <p:cNvPr id="9" name="text 19.8"/>
          <p:cNvSpPr txBox="1"/>
          <p:nvPr/>
        </p:nvSpPr>
        <p:spPr>
          <a:xfrm>
            <a:off x="927077" y="1625559"/>
            <a:ext cx="2832029" cy="520687"/>
          </a:xfrm>
          <a:prstGeom prst="rect">
            <a:avLst/>
          </a:prstGeom>
          <a:noFill/>
          <a:ln/>
        </p:spPr>
        <p:txBody>
          <a:bodyPr wrap="square" lIns="0" tIns="0" rIns="0" bIns="0" rtlCol="0" anchor="ctr"/>
          <a:lstStyle/>
          <a:p>
            <a:pPr algn="l" indent="0" marL="0">
              <a:lnSpc>
                <a:spcPts val="1680"/>
              </a:lnSpc>
              <a:buNone/>
            </a:pPr>
            <a:r>
              <a:rPr lang="en-US" sz="1400" dirty="0">
                <a:solidFill>
                  <a:srgbClr val="FF6B1F"/>
                </a:solidFill>
                <a:latin typeface="Arial Rounded MT Bold" pitchFamily="34" charset="0"/>
                <a:ea typeface="Arial Rounded MT Bold" pitchFamily="34" charset="-122"/>
                <a:cs typeface="Arial Rounded MT Bold" pitchFamily="34" charset="-120"/>
              </a:rPr>
              <a:t>One shared shot</a:t>
            </a:r>
            <a:endParaRPr lang="en-US" sz="1400" dirty="0"/>
          </a:p>
        </p:txBody>
      </p:sp>
      <p:sp>
        <p:nvSpPr>
          <p:cNvPr id="10" name="text 19.9"/>
          <p:cNvSpPr txBox="1"/>
          <p:nvPr/>
        </p:nvSpPr>
        <p:spPr>
          <a:xfrm>
            <a:off x="3936902" y="1600160"/>
            <a:ext cx="7467413" cy="571486"/>
          </a:xfrm>
          <a:prstGeom prst="rect">
            <a:avLst/>
          </a:prstGeom>
          <a:noFill/>
          <a:ln/>
        </p:spPr>
        <p:txBody>
          <a:bodyPr wrap="square" lIns="0" tIns="0" rIns="0" bIns="0" rtlCol="0" anchor="ctr"/>
          <a:lstStyle/>
          <a:p>
            <a:pPr algn="l" indent="0" marL="0">
              <a:lnSpc>
                <a:spcPts val="1560"/>
              </a:lnSpc>
              <a:buNone/>
            </a:pPr>
            <a:r>
              <a:rPr lang="en-US" sz="1100" dirty="0">
                <a:solidFill>
                  <a:srgbClr val="3E475E"/>
                </a:solidFill>
                <a:latin typeface="Arial" pitchFamily="34" charset="0"/>
                <a:ea typeface="Arial" pitchFamily="34" charset="-122"/>
                <a:cs typeface="Arial" pitchFamily="34" charset="-120"/>
              </a:rPr>
              <a:t>Pummel Party and Feather Party give each mini-game its own controls and goal; Feather Party varies physics with elemental effects. Neither keeps one shot as the common verb.</a:t>
            </a:r>
            <a:endParaRPr lang="en-US" sz="1100" dirty="0"/>
          </a:p>
        </p:txBody>
      </p:sp>
      <p:sp>
        <p:nvSpPr>
          <p:cNvPr id="11" name="shape 19.10"/>
          <p:cNvSpPr/>
          <p:nvPr/>
        </p:nvSpPr>
        <p:spPr>
          <a:xfrm>
            <a:off x="609585" y="2387540"/>
            <a:ext cx="76198" cy="774681"/>
          </a:xfrm>
          <a:prstGeom prst="roundRect">
            <a:avLst>
              <a:gd name="adj" fmla="val 50000"/>
            </a:avLst>
          </a:prstGeom>
          <a:solidFill>
            <a:srgbClr val="8F55F5"/>
          </a:solidFill>
          <a:ln/>
        </p:spPr>
      </p:sp>
      <p:sp>
        <p:nvSpPr>
          <p:cNvPr id="12" name="text 19.11"/>
          <p:cNvSpPr txBox="1"/>
          <p:nvPr/>
        </p:nvSpPr>
        <p:spPr>
          <a:xfrm>
            <a:off x="927077" y="2514537"/>
            <a:ext cx="2832029" cy="520687"/>
          </a:xfrm>
          <a:prstGeom prst="rect">
            <a:avLst/>
          </a:prstGeom>
          <a:noFill/>
          <a:ln/>
        </p:spPr>
        <p:txBody>
          <a:bodyPr wrap="square" lIns="0" tIns="0" rIns="0" bIns="0" rtlCol="0" anchor="ctr"/>
          <a:lstStyle/>
          <a:p>
            <a:pPr algn="l" indent="0" marL="0">
              <a:lnSpc>
                <a:spcPts val="1680"/>
              </a:lnSpc>
              <a:buNone/>
            </a:pPr>
            <a:r>
              <a:rPr lang="en-US" sz="1400" dirty="0">
                <a:solidFill>
                  <a:srgbClr val="8F55F5"/>
                </a:solidFill>
                <a:latin typeface="Arial Rounded MT Bold" pitchFamily="34" charset="0"/>
                <a:ea typeface="Arial Rounded MT Bold" pitchFamily="34" charset="-122"/>
                <a:cs typeface="Arial Rounded MT Bold" pitchFamily="34" charset="-120"/>
              </a:rPr>
              <a:t>Comeback rules</a:t>
            </a:r>
            <a:endParaRPr lang="en-US" sz="1400" dirty="0"/>
          </a:p>
        </p:txBody>
      </p:sp>
      <p:sp>
        <p:nvSpPr>
          <p:cNvPr id="13" name="text 19.12"/>
          <p:cNvSpPr txBox="1"/>
          <p:nvPr/>
        </p:nvSpPr>
        <p:spPr>
          <a:xfrm>
            <a:off x="3936902" y="2489138"/>
            <a:ext cx="7467413" cy="571486"/>
          </a:xfrm>
          <a:prstGeom prst="rect">
            <a:avLst/>
          </a:prstGeom>
          <a:noFill/>
          <a:ln/>
        </p:spPr>
        <p:txBody>
          <a:bodyPr wrap="square" lIns="0" tIns="0" rIns="0" bIns="0" rtlCol="0" anchor="ctr"/>
          <a:lstStyle/>
          <a:p>
            <a:pPr algn="l" indent="0" marL="0">
              <a:lnSpc>
                <a:spcPts val="1560"/>
              </a:lnSpc>
              <a:buNone/>
            </a:pPr>
            <a:r>
              <a:rPr lang="en-US" sz="1100" dirty="0">
                <a:solidFill>
                  <a:srgbClr val="3E475E"/>
                </a:solidFill>
                <a:latin typeface="Arial" pitchFamily="34" charset="0"/>
                <a:ea typeface="Arial" pitchFamily="34" charset="-122"/>
                <a:cs typeface="Arial" pitchFamily="34" charset="-120"/>
              </a:rPr>
              <a:t>Racing and party games often help the trailing player with random items, a luck-based catch-up. Ours is a fixed, visible rule: +1 point and the tie-break.</a:t>
            </a:r>
            <a:endParaRPr lang="en-US" sz="1100" dirty="0"/>
          </a:p>
        </p:txBody>
      </p:sp>
      <p:sp>
        <p:nvSpPr>
          <p:cNvPr id="14" name="shape 19.13"/>
          <p:cNvSpPr/>
          <p:nvPr/>
        </p:nvSpPr>
        <p:spPr>
          <a:xfrm>
            <a:off x="609585" y="3276518"/>
            <a:ext cx="76198" cy="774681"/>
          </a:xfrm>
          <a:prstGeom prst="roundRect">
            <a:avLst>
              <a:gd name="adj" fmla="val 50000"/>
            </a:avLst>
          </a:prstGeom>
          <a:solidFill>
            <a:srgbClr val="1FA9EA"/>
          </a:solidFill>
          <a:ln/>
        </p:spPr>
      </p:sp>
      <p:sp>
        <p:nvSpPr>
          <p:cNvPr id="15" name="text 19.14"/>
          <p:cNvSpPr txBox="1"/>
          <p:nvPr/>
        </p:nvSpPr>
        <p:spPr>
          <a:xfrm>
            <a:off x="927077" y="3403515"/>
            <a:ext cx="2832029" cy="520687"/>
          </a:xfrm>
          <a:prstGeom prst="rect">
            <a:avLst/>
          </a:prstGeom>
          <a:noFill/>
          <a:ln/>
        </p:spPr>
        <p:txBody>
          <a:bodyPr wrap="square" lIns="0" tIns="0" rIns="0" bIns="0" rtlCol="0" anchor="ctr"/>
          <a:lstStyle/>
          <a:p>
            <a:pPr algn="l" indent="0" marL="0">
              <a:lnSpc>
                <a:spcPts val="1680"/>
              </a:lnSpc>
              <a:buNone/>
            </a:pPr>
            <a:r>
              <a:rPr lang="en-US" sz="1400" dirty="0">
                <a:solidFill>
                  <a:srgbClr val="1FA9EA"/>
                </a:solidFill>
                <a:latin typeface="Arial Rounded MT Bold" pitchFamily="34" charset="0"/>
                <a:ea typeface="Arial Rounded MT Bold" pitchFamily="34" charset="-122"/>
                <a:cs typeface="Arial Rounded MT Bold" pitchFamily="34" charset="-120"/>
              </a:rPr>
              <a:t>Knockback from lost mass</a:t>
            </a:r>
            <a:endParaRPr lang="en-US" sz="1400" dirty="0"/>
          </a:p>
        </p:txBody>
      </p:sp>
      <p:sp>
        <p:nvSpPr>
          <p:cNvPr id="16" name="text 19.15"/>
          <p:cNvSpPr txBox="1"/>
          <p:nvPr/>
        </p:nvSpPr>
        <p:spPr>
          <a:xfrm>
            <a:off x="3936902" y="3378116"/>
            <a:ext cx="7467413" cy="571486"/>
          </a:xfrm>
          <a:prstGeom prst="rect">
            <a:avLst/>
          </a:prstGeom>
          <a:noFill/>
          <a:ln/>
        </p:spPr>
        <p:txBody>
          <a:bodyPr wrap="square" lIns="0" tIns="0" rIns="0" bIns="0" rtlCol="0" anchor="ctr"/>
          <a:lstStyle/>
          <a:p>
            <a:pPr algn="l" indent="0" marL="0">
              <a:lnSpc>
                <a:spcPts val="1560"/>
              </a:lnSpc>
              <a:buNone/>
            </a:pPr>
            <a:r>
              <a:rPr lang="en-US" sz="1100" dirty="0">
                <a:solidFill>
                  <a:srgbClr val="3E475E"/>
                </a:solidFill>
                <a:latin typeface="Arial" pitchFamily="34" charset="0"/>
                <a:ea typeface="Arial" pitchFamily="34" charset="-122"/>
                <a:cs typeface="Arial" pitchFamily="34" charset="-120"/>
              </a:rPr>
              <a:t>Smash Bros. raises knockback with a damage % counter. We use the physical mass a hit removes.</a:t>
            </a:r>
            <a:endParaRPr lang="en-US" sz="1100" dirty="0"/>
          </a:p>
        </p:txBody>
      </p:sp>
      <p:sp>
        <p:nvSpPr>
          <p:cNvPr id="17" name="shape 19.16"/>
          <p:cNvSpPr/>
          <p:nvPr/>
        </p:nvSpPr>
        <p:spPr>
          <a:xfrm>
            <a:off x="609585" y="4165496"/>
            <a:ext cx="76198" cy="774681"/>
          </a:xfrm>
          <a:prstGeom prst="roundRect">
            <a:avLst>
              <a:gd name="adj" fmla="val 50000"/>
            </a:avLst>
          </a:prstGeom>
          <a:solidFill>
            <a:srgbClr val="43B832"/>
          </a:solidFill>
          <a:ln/>
        </p:spPr>
      </p:sp>
      <p:sp>
        <p:nvSpPr>
          <p:cNvPr id="18" name="text 19.17"/>
          <p:cNvSpPr txBox="1"/>
          <p:nvPr/>
        </p:nvSpPr>
        <p:spPr>
          <a:xfrm>
            <a:off x="927077" y="4292493"/>
            <a:ext cx="2832029" cy="520687"/>
          </a:xfrm>
          <a:prstGeom prst="rect">
            <a:avLst/>
          </a:prstGeom>
          <a:noFill/>
          <a:ln/>
        </p:spPr>
        <p:txBody>
          <a:bodyPr wrap="square" lIns="0" tIns="0" rIns="0" bIns="0" rtlCol="0" anchor="ctr"/>
          <a:lstStyle/>
          <a:p>
            <a:pPr algn="l" indent="0" marL="0">
              <a:lnSpc>
                <a:spcPts val="1680"/>
              </a:lnSpc>
              <a:buNone/>
            </a:pPr>
            <a:r>
              <a:rPr lang="en-US" sz="1400" dirty="0">
                <a:solidFill>
                  <a:srgbClr val="43B832"/>
                </a:solidFill>
                <a:latin typeface="Arial Rounded MT Bold" pitchFamily="34" charset="0"/>
                <a:ea typeface="Arial Rounded MT Bold" pitchFamily="34" charset="-122"/>
                <a:cs typeface="Arial Rounded MT Bold" pitchFamily="34" charset="-120"/>
              </a:rPr>
              <a:t>Custom sessions</a:t>
            </a:r>
            <a:endParaRPr lang="en-US" sz="1400" dirty="0"/>
          </a:p>
        </p:txBody>
      </p:sp>
      <p:sp>
        <p:nvSpPr>
          <p:cNvPr id="19" name="text 19.18"/>
          <p:cNvSpPr txBox="1"/>
          <p:nvPr/>
        </p:nvSpPr>
        <p:spPr>
          <a:xfrm>
            <a:off x="3936902" y="4267093"/>
            <a:ext cx="7467413" cy="571486"/>
          </a:xfrm>
          <a:prstGeom prst="rect">
            <a:avLst/>
          </a:prstGeom>
          <a:noFill/>
          <a:ln/>
        </p:spPr>
        <p:txBody>
          <a:bodyPr wrap="square" lIns="0" tIns="0" rIns="0" bIns="0" rtlCol="0" anchor="ctr"/>
          <a:lstStyle/>
          <a:p>
            <a:pPr algn="l" indent="0" marL="0">
              <a:lnSpc>
                <a:spcPts val="1560"/>
              </a:lnSpc>
              <a:buNone/>
            </a:pPr>
            <a:r>
              <a:rPr lang="en-US" sz="1100" dirty="0">
                <a:solidFill>
                  <a:srgbClr val="3E475E"/>
                </a:solidFill>
                <a:latin typeface="Arial" pitchFamily="34" charset="0"/>
                <a:ea typeface="Arial" pitchFamily="34" charset="-122"/>
                <a:cs typeface="Arial" pitchFamily="34" charset="-120"/>
              </a:rPr>
              <a:t>Many party games let players pick mini-games. We add an end by score or by count, and favourites that can repeat.</a:t>
            </a:r>
            <a:endParaRPr lang="en-US" sz="1100" dirty="0"/>
          </a:p>
        </p:txBody>
      </p:sp>
      <p:sp>
        <p:nvSpPr>
          <p:cNvPr id="20" name="text 19.19"/>
          <p:cNvSpPr txBox="1"/>
          <p:nvPr/>
        </p:nvSpPr>
        <p:spPr>
          <a:xfrm>
            <a:off x="863578" y="5371966"/>
            <a:ext cx="10515337" cy="468698"/>
          </a:xfrm>
          <a:prstGeom prst="rect">
            <a:avLst/>
          </a:prstGeom>
          <a:noFill/>
          <a:ln/>
        </p:spPr>
        <p:txBody>
          <a:bodyPr wrap="square" lIns="0" tIns="0" rIns="0" bIns="0" rtlCol="0" anchor="t"/>
          <a:lstStyle/>
          <a:p>
            <a:pPr algn="l" indent="0" marL="0">
              <a:lnSpc>
                <a:spcPts val="1850"/>
              </a:lnSpc>
              <a:buNone/>
            </a:pPr>
            <a:r>
              <a:rPr lang="en-US" sz="1300" dirty="0">
                <a:solidFill>
                  <a:srgbClr val="1B2340"/>
                </a:solidFill>
                <a:latin typeface="Arial" pitchFamily="34" charset="0"/>
                <a:ea typeface="Arial" pitchFamily="34" charset="-122"/>
                <a:cs typeface="Arial" pitchFamily="34" charset="-120"/>
              </a:rPr>
              <a:t>Most party games are a playlist of unrelated mini-games. </a:t>
            </a:r>
            <a:pPr algn="l" indent="0" marL="0">
              <a:lnSpc>
                <a:spcPts val="1850"/>
              </a:lnSpc>
              <a:buNone/>
            </a:pPr>
            <a:r>
              <a:rPr lang="en-US" sz="1300" b="1" dirty="0">
                <a:solidFill>
                  <a:srgbClr val="2E8A22"/>
                </a:solidFill>
                <a:latin typeface="Arial" pitchFamily="34" charset="0"/>
                <a:ea typeface="Arial" pitchFamily="34" charset="-122"/>
                <a:cs typeface="Arial" pitchFamily="34" charset="-120"/>
              </a:rPr>
              <a:t>Shooter Party keeps one character and one shot across the whole session and lets each mini-game bend what that shot means</a:t>
            </a:r>
            <a:pPr algn="l" indent="0" marL="0">
              <a:lnSpc>
                <a:spcPts val="1850"/>
              </a:lnSpc>
              <a:buNone/>
            </a:pPr>
            <a:r>
              <a:rPr lang="en-US" sz="1300" dirty="0">
                <a:solidFill>
                  <a:srgbClr val="1B2340"/>
                </a:solidFill>
                <a:latin typeface="Arial" pitchFamily="34" charset="0"/>
                <a:ea typeface="Arial" pitchFamily="34" charset="-122"/>
                <a:cs typeface="Arial" pitchFamily="34" charset="-120"/>
              </a:rPr>
              <a:t>, so players carry their skill from round to round.</a:t>
            </a:r>
            <a:endParaRPr lang="en-US" sz="1300" dirty="0"/>
          </a:p>
        </p:txBody>
      </p:sp>
      <p:pic>
        <p:nvPicPr>
          <p:cNvPr id="21" name="raster 19.20" descr="diagram">    </p:cNvPr>
          <p:cNvPicPr>
            <a:picLocks noChangeAspect="1"/>
          </p:cNvPicPr>
          <p:nvPr/>
        </p:nvPicPr>
        <p:blipFill>
          <a:blip r:embed="rId2"/>
          <a:stretch>
            <a:fillRect/>
          </a:stretch>
        </p:blipFill>
        <p:spPr>
          <a:xfrm>
            <a:off x="609585" y="266693"/>
            <a:ext cx="190495" cy="190495"/>
          </a:xfrm>
          <a:prstGeom prst="rect">
            <a:avLst/>
          </a:prstGeom>
        </p:spPr>
      </p:pic>
      <p:sp>
        <p:nvSpPr>
          <p:cNvPr id="22" name="text 19.21"/>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3" name="text 19.22"/>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4" name="text 19.23"/>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5" name="text 19.24"/>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19 / 28</a:t>
            </a:r>
            <a:endParaRPr lang="en-US" sz="750" dirty="0"/>
          </a:p>
        </p:txBody>
      </p:sp>
      <p:sp>
        <p:nvSpPr>
          <p:cNvPr id="26" name="text 19.25"/>
          <p:cNvSpPr txBox="1"/>
          <p:nvPr/>
        </p:nvSpPr>
        <p:spPr>
          <a:xfrm>
            <a:off x="609585" y="698483"/>
            <a:ext cx="1234137"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04 · INNOVATION</a:t>
            </a:r>
            <a:endParaRPr lang="en-US" sz="8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20.1 adj9677" descr="sp2_lineup.png">    </p:cNvPr>
          <p:cNvPicPr>
            <a:picLocks noChangeAspect="1"/>
          </p:cNvPicPr>
          <p:nvPr/>
        </p:nvPicPr>
        <p:blipFill>
          <a:blip r:embed="rId2"/>
          <a:stretch>
            <a:fillRect/>
          </a:stretch>
        </p:blipFill>
        <p:spPr>
          <a:xfrm>
            <a:off x="609585" y="1803355"/>
            <a:ext cx="6984825" cy="1574761"/>
          </a:xfrm>
          <a:prstGeom prst="roundRect">
            <a:avLst>
              <a:gd name="adj" fmla="val 9677"/>
            </a:avLst>
          </a:prstGeom>
        </p:spPr>
      </p:pic>
      <p:sp>
        <p:nvSpPr>
          <p:cNvPr id="3" name="shape 20.2"/>
          <p:cNvSpPr/>
          <p:nvPr/>
        </p:nvSpPr>
        <p:spPr>
          <a:xfrm>
            <a:off x="7848404" y="1803355"/>
            <a:ext cx="3733707" cy="1574761"/>
          </a:xfrm>
          <a:prstGeom prst="roundRect">
            <a:avLst>
              <a:gd name="adj" fmla="val 9677"/>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4" name="img 20.3 adj10300" descr="sp2_blk_arena.png">    </p:cNvPr>
          <p:cNvPicPr>
            <a:picLocks noChangeAspect="1"/>
          </p:cNvPicPr>
          <p:nvPr/>
        </p:nvPicPr>
        <p:blipFill>
          <a:blip r:embed="rId3"/>
          <a:stretch>
            <a:fillRect/>
          </a:stretch>
        </p:blipFill>
        <p:spPr>
          <a:xfrm>
            <a:off x="609585" y="3911502"/>
            <a:ext cx="2628834" cy="1479513"/>
          </a:xfrm>
          <a:prstGeom prst="roundRect">
            <a:avLst>
              <a:gd name="adj" fmla="val 10300"/>
            </a:avLst>
          </a:prstGeom>
        </p:spPr>
      </p:pic>
      <p:pic>
        <p:nvPicPr>
          <p:cNvPr id="5" name="img 20.4 adj10300" descr="sp2_blk_parkour.png">    </p:cNvPr>
          <p:cNvPicPr>
            <a:picLocks noChangeAspect="1"/>
          </p:cNvPicPr>
          <p:nvPr/>
        </p:nvPicPr>
        <p:blipFill>
          <a:blip r:embed="rId4"/>
          <a:stretch>
            <a:fillRect/>
          </a:stretch>
        </p:blipFill>
        <p:spPr>
          <a:xfrm>
            <a:off x="3390815" y="3911502"/>
            <a:ext cx="2628834" cy="1479513"/>
          </a:xfrm>
          <a:prstGeom prst="roundRect">
            <a:avLst>
              <a:gd name="adj" fmla="val 10300"/>
            </a:avLst>
          </a:prstGeom>
        </p:spPr>
      </p:pic>
      <p:pic>
        <p:nvPicPr>
          <p:cNvPr id="6" name="img 20.5 adj10300" descr="sp2_blk_ice.png">    </p:cNvPr>
          <p:cNvPicPr>
            <a:picLocks noChangeAspect="1"/>
          </p:cNvPicPr>
          <p:nvPr/>
        </p:nvPicPr>
        <p:blipFill>
          <a:blip r:embed="rId5"/>
          <a:stretch>
            <a:fillRect/>
          </a:stretch>
        </p:blipFill>
        <p:spPr>
          <a:xfrm>
            <a:off x="6172046" y="3911502"/>
            <a:ext cx="2628834" cy="1479513"/>
          </a:xfrm>
          <a:prstGeom prst="roundRect">
            <a:avLst>
              <a:gd name="adj" fmla="val 10300"/>
            </a:avLst>
          </a:prstGeom>
        </p:spPr>
      </p:pic>
      <p:pic>
        <p:nvPicPr>
          <p:cNvPr id="7" name="img 20.6 adj10300" descr="sp2_blk_hole.png">    </p:cNvPr>
          <p:cNvPicPr>
            <a:picLocks noChangeAspect="1"/>
          </p:cNvPicPr>
          <p:nvPr/>
        </p:nvPicPr>
        <p:blipFill>
          <a:blip r:embed="rId6"/>
          <a:stretch>
            <a:fillRect/>
          </a:stretch>
        </p:blipFill>
        <p:spPr>
          <a:xfrm>
            <a:off x="8953276" y="3911502"/>
            <a:ext cx="2628834" cy="1479513"/>
          </a:xfrm>
          <a:prstGeom prst="roundRect">
            <a:avLst>
              <a:gd name="adj" fmla="val 10300"/>
            </a:avLst>
          </a:prstGeom>
        </p:spPr>
      </p:pic>
      <p:sp>
        <p:nvSpPr>
          <p:cNvPr id="8" name="text 20.7"/>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Drafts: art direction &amp; 3D blockouts</a:t>
            </a:r>
            <a:endParaRPr lang="en-US" sz="3000" dirty="0"/>
          </a:p>
        </p:txBody>
      </p:sp>
      <p:sp>
        <p:nvSpPr>
          <p:cNvPr id="9" name="text 20.8"/>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Art direction: </a:t>
            </a:r>
            <a:pPr algn="l" indent="0" marL="0">
              <a:lnSpc>
                <a:spcPts val="1820"/>
              </a:lnSpc>
              <a:buNone/>
            </a:pPr>
            <a:r>
              <a:rPr lang="en-US" sz="1350" b="1" dirty="0">
                <a:solidFill>
                  <a:srgbClr val="43B832"/>
                </a:solidFill>
                <a:latin typeface="Arial" pitchFamily="34" charset="0"/>
                <a:ea typeface="Arial" pitchFamily="34" charset="-122"/>
                <a:cs typeface="Arial" pitchFamily="34" charset="-120"/>
              </a:rPr>
              <a:t>glossy toy.</a:t>
            </a:r>
            <a:endParaRPr lang="en-US" sz="1350" dirty="0"/>
          </a:p>
        </p:txBody>
      </p:sp>
      <p:sp>
        <p:nvSpPr>
          <p:cNvPr id="10" name="text 20.9"/>
          <p:cNvSpPr txBox="1"/>
          <p:nvPr/>
        </p:nvSpPr>
        <p:spPr>
          <a:xfrm>
            <a:off x="8076998" y="1943051"/>
            <a:ext cx="3365416" cy="552436"/>
          </a:xfrm>
          <a:prstGeom prst="rect">
            <a:avLst/>
          </a:prstGeom>
          <a:noFill/>
          <a:ln/>
        </p:spPr>
        <p:txBody>
          <a:bodyPr wrap="square" lIns="0" tIns="0" rIns="0" bIns="0" rtlCol="0" anchor="t"/>
          <a:lstStyle/>
          <a:p>
            <a:pPr algn="l" indent="0" marL="0">
              <a:lnSpc>
                <a:spcPts val="1450"/>
              </a:lnSpc>
              <a:buNone/>
            </a:pPr>
            <a:r>
              <a:rPr lang="en-US" sz="1000" dirty="0">
                <a:solidFill>
                  <a:srgbClr val="3E475E"/>
                </a:solidFill>
                <a:latin typeface="Arial" pitchFamily="34" charset="0"/>
                <a:ea typeface="Arial" pitchFamily="34" charset="-122"/>
                <a:cs typeface="Arial" pitchFamily="34" charset="-120"/>
              </a:rPr>
              <a:t>Rounded cubes in bright colours, a barrel on every character, and bright party settings such as grass, sky and water. Ice appears in Ice Loop only.</a:t>
            </a:r>
            <a:endParaRPr lang="en-US" sz="1000" dirty="0"/>
          </a:p>
        </p:txBody>
      </p:sp>
      <p:sp>
        <p:nvSpPr>
          <p:cNvPr id="11" name="shape 20.10"/>
          <p:cNvSpPr/>
          <p:nvPr/>
        </p:nvSpPr>
        <p:spPr>
          <a:xfrm>
            <a:off x="8076998" y="2870128"/>
            <a:ext cx="393690" cy="393690"/>
          </a:xfrm>
          <a:prstGeom prst="roundRect">
            <a:avLst>
              <a:gd name="adj" fmla="val 29032"/>
            </a:avLst>
          </a:prstGeom>
          <a:solidFill>
            <a:srgbClr val="FF6A1E"/>
          </a:solidFill>
          <a:ln/>
        </p:spPr>
      </p:sp>
      <p:sp>
        <p:nvSpPr>
          <p:cNvPr id="12" name="shape 20.11"/>
          <p:cNvSpPr/>
          <p:nvPr/>
        </p:nvSpPr>
        <p:spPr>
          <a:xfrm>
            <a:off x="8623084" y="2870128"/>
            <a:ext cx="393690" cy="393690"/>
          </a:xfrm>
          <a:prstGeom prst="roundRect">
            <a:avLst>
              <a:gd name="adj" fmla="val 29032"/>
            </a:avLst>
          </a:prstGeom>
          <a:solidFill>
            <a:srgbClr val="1FA3E8"/>
          </a:solidFill>
          <a:ln/>
        </p:spPr>
      </p:sp>
      <p:sp>
        <p:nvSpPr>
          <p:cNvPr id="13" name="shape 20.12"/>
          <p:cNvSpPr/>
          <p:nvPr/>
        </p:nvSpPr>
        <p:spPr>
          <a:xfrm>
            <a:off x="9169171" y="2870128"/>
            <a:ext cx="393690" cy="393690"/>
          </a:xfrm>
          <a:prstGeom prst="roundRect">
            <a:avLst>
              <a:gd name="adj" fmla="val 29032"/>
            </a:avLst>
          </a:prstGeom>
          <a:solidFill>
            <a:srgbClr val="5CC93A"/>
          </a:solidFill>
          <a:ln/>
        </p:spPr>
      </p:sp>
      <p:sp>
        <p:nvSpPr>
          <p:cNvPr id="14" name="shape 20.13"/>
          <p:cNvSpPr/>
          <p:nvPr/>
        </p:nvSpPr>
        <p:spPr>
          <a:xfrm>
            <a:off x="9715257" y="2870128"/>
            <a:ext cx="393690" cy="393690"/>
          </a:xfrm>
          <a:prstGeom prst="roundRect">
            <a:avLst>
              <a:gd name="adj" fmla="val 29032"/>
            </a:avLst>
          </a:prstGeom>
          <a:solidFill>
            <a:srgbClr val="8B5CF6"/>
          </a:solidFill>
          <a:ln/>
        </p:spPr>
      </p:sp>
      <p:sp>
        <p:nvSpPr>
          <p:cNvPr id="15" name="shape 20.14"/>
          <p:cNvSpPr/>
          <p:nvPr/>
        </p:nvSpPr>
        <p:spPr>
          <a:xfrm>
            <a:off x="10261343" y="2870128"/>
            <a:ext cx="393690" cy="393690"/>
          </a:xfrm>
          <a:prstGeom prst="roundRect">
            <a:avLst>
              <a:gd name="adj" fmla="val 29032"/>
            </a:avLst>
          </a:prstGeom>
          <a:solidFill>
            <a:srgbClr val="FF5EA2"/>
          </a:solidFill>
          <a:ln/>
        </p:spPr>
      </p:sp>
      <p:sp>
        <p:nvSpPr>
          <p:cNvPr id="16" name="shape 20.15"/>
          <p:cNvSpPr/>
          <p:nvPr/>
        </p:nvSpPr>
        <p:spPr>
          <a:xfrm>
            <a:off x="10807430" y="2870128"/>
            <a:ext cx="393690" cy="393690"/>
          </a:xfrm>
          <a:prstGeom prst="roundRect">
            <a:avLst>
              <a:gd name="adj" fmla="val 29032"/>
            </a:avLst>
          </a:prstGeom>
          <a:solidFill>
            <a:srgbClr val="FFC12E"/>
          </a:solidFill>
          <a:ln/>
        </p:spPr>
      </p:sp>
      <p:sp>
        <p:nvSpPr>
          <p:cNvPr id="17" name="text 20.16"/>
          <p:cNvSpPr txBox="1"/>
          <p:nvPr/>
        </p:nvSpPr>
        <p:spPr>
          <a:xfrm>
            <a:off x="609585" y="3682908"/>
            <a:ext cx="1546700"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3D BLOCKOUT SCENES</a:t>
            </a:r>
            <a:endParaRPr lang="en-US" sz="800" dirty="0"/>
          </a:p>
        </p:txBody>
      </p:sp>
      <p:sp>
        <p:nvSpPr>
          <p:cNvPr id="18" name="text 20.17"/>
          <p:cNvSpPr txBox="1"/>
          <p:nvPr/>
        </p:nvSpPr>
        <p:spPr>
          <a:xfrm>
            <a:off x="609585" y="5498963"/>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FF6B1F"/>
                </a:solidFill>
                <a:latin typeface="Arial Rounded MT Bold" pitchFamily="34" charset="0"/>
                <a:ea typeface="Arial Rounded MT Bold" pitchFamily="34" charset="-122"/>
                <a:cs typeface="Arial Rounded MT Bold" pitchFamily="34" charset="-120"/>
              </a:rPr>
              <a:t>Knockback Arena</a:t>
            </a:r>
            <a:endParaRPr lang="en-US" sz="1200" dirty="0"/>
          </a:p>
        </p:txBody>
      </p:sp>
      <p:sp>
        <p:nvSpPr>
          <p:cNvPr id="19" name="text 20.18"/>
          <p:cNvSpPr txBox="1"/>
          <p:nvPr/>
        </p:nvSpPr>
        <p:spPr>
          <a:xfrm>
            <a:off x="3390815" y="5498963"/>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8F55F5"/>
                </a:solidFill>
                <a:latin typeface="Arial Rounded MT Bold" pitchFamily="34" charset="0"/>
                <a:ea typeface="Arial Rounded MT Bold" pitchFamily="34" charset="-122"/>
                <a:cs typeface="Arial Rounded MT Bold" pitchFamily="34" charset="-120"/>
              </a:rPr>
              <a:t>Blast Parkour</a:t>
            </a:r>
            <a:endParaRPr lang="en-US" sz="1200" dirty="0"/>
          </a:p>
        </p:txBody>
      </p:sp>
      <p:sp>
        <p:nvSpPr>
          <p:cNvPr id="20" name="text 20.19"/>
          <p:cNvSpPr txBox="1"/>
          <p:nvPr/>
        </p:nvSpPr>
        <p:spPr>
          <a:xfrm>
            <a:off x="6172046" y="5498963"/>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1FA9EA"/>
                </a:solidFill>
                <a:latin typeface="Arial Rounded MT Bold" pitchFamily="34" charset="0"/>
                <a:ea typeface="Arial Rounded MT Bold" pitchFamily="34" charset="-122"/>
                <a:cs typeface="Arial Rounded MT Bold" pitchFamily="34" charset="-120"/>
              </a:rPr>
              <a:t>Ice Loop</a:t>
            </a:r>
            <a:endParaRPr lang="en-US" sz="1200" dirty="0"/>
          </a:p>
        </p:txBody>
      </p:sp>
      <p:sp>
        <p:nvSpPr>
          <p:cNvPr id="21" name="text 20.20"/>
          <p:cNvSpPr txBox="1"/>
          <p:nvPr/>
        </p:nvSpPr>
        <p:spPr>
          <a:xfrm>
            <a:off x="8953276" y="5498963"/>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Hole Grab</a:t>
            </a:r>
            <a:endParaRPr lang="en-US" sz="1200" dirty="0"/>
          </a:p>
        </p:txBody>
      </p:sp>
      <p:sp>
        <p:nvSpPr>
          <p:cNvPr id="22" name="text 20.21"/>
          <p:cNvSpPr txBox="1"/>
          <p:nvPr/>
        </p:nvSpPr>
        <p:spPr>
          <a:xfrm>
            <a:off x="609585" y="5841854"/>
            <a:ext cx="11010625" cy="193353"/>
          </a:xfrm>
          <a:prstGeom prst="rect">
            <a:avLst/>
          </a:prstGeom>
          <a:noFill/>
          <a:ln/>
        </p:spPr>
        <p:txBody>
          <a:bodyPr wrap="square" lIns="0" tIns="0" rIns="0" bIns="0" rtlCol="0" anchor="t"/>
          <a:lstStyle/>
          <a:p>
            <a:pPr algn="l" indent="0" marL="0">
              <a:lnSpc>
                <a:spcPts val="1520"/>
              </a:lnSpc>
              <a:buNone/>
            </a:pPr>
            <a:r>
              <a:rPr lang="en-US" sz="1050" dirty="0">
                <a:solidFill>
                  <a:srgbClr val="3E475E"/>
                </a:solidFill>
                <a:latin typeface="Arial" pitchFamily="34" charset="0"/>
                <a:ea typeface="Arial" pitchFamily="34" charset="-122"/>
                <a:cs typeface="Arial" pitchFamily="34" charset="-120"/>
              </a:rPr>
              <a:t>Each mini-game was blocked out in 3D to check camera angle, scale and how readable the shots are before building it in Unity.</a:t>
            </a:r>
            <a:endParaRPr lang="en-US" sz="1050" dirty="0"/>
          </a:p>
        </p:txBody>
      </p:sp>
      <p:pic>
        <p:nvPicPr>
          <p:cNvPr id="23" name="raster 20.22" descr="diagram">    </p:cNvPr>
          <p:cNvPicPr>
            <a:picLocks noChangeAspect="1"/>
          </p:cNvPicPr>
          <p:nvPr/>
        </p:nvPicPr>
        <p:blipFill>
          <a:blip r:embed="rId7"/>
          <a:stretch>
            <a:fillRect/>
          </a:stretch>
        </p:blipFill>
        <p:spPr>
          <a:xfrm>
            <a:off x="609585" y="266693"/>
            <a:ext cx="190495" cy="190495"/>
          </a:xfrm>
          <a:prstGeom prst="rect">
            <a:avLst/>
          </a:prstGeom>
        </p:spPr>
      </p:pic>
      <p:sp>
        <p:nvSpPr>
          <p:cNvPr id="24" name="text 20.2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5" name="text 20.2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6" name="text 20.2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7" name="text 20.2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20 / 28</a:t>
            </a:r>
            <a:endParaRPr lang="en-US" sz="750" dirty="0"/>
          </a:p>
        </p:txBody>
      </p:sp>
      <p:sp>
        <p:nvSpPr>
          <p:cNvPr id="28" name="text 20.27"/>
          <p:cNvSpPr txBox="1"/>
          <p:nvPr/>
        </p:nvSpPr>
        <p:spPr>
          <a:xfrm>
            <a:off x="609585" y="698483"/>
            <a:ext cx="93272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05 · DRAFTS</a:t>
            </a:r>
            <a:endParaRPr lang="en-US" sz="8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1.1"/>
          <p:cNvSpPr/>
          <p:nvPr/>
        </p:nvSpPr>
        <p:spPr>
          <a:xfrm>
            <a:off x="609585" y="1841454"/>
            <a:ext cx="5359266" cy="4381390"/>
          </a:xfrm>
          <a:prstGeom prst="roundRect">
            <a:avLst>
              <a:gd name="adj" fmla="val 347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1.2"/>
          <p:cNvSpPr/>
          <p:nvPr/>
        </p:nvSpPr>
        <p:spPr>
          <a:xfrm>
            <a:off x="6222844" y="1841454"/>
            <a:ext cx="5359266" cy="4381390"/>
          </a:xfrm>
          <a:prstGeom prst="roundRect">
            <a:avLst>
              <a:gd name="adj" fmla="val 347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4" name="raster 21.3" descr="diagram">    </p:cNvPr>
          <p:cNvPicPr>
            <a:picLocks noChangeAspect="1"/>
          </p:cNvPicPr>
          <p:nvPr/>
        </p:nvPicPr>
        <p:blipFill>
          <a:blip r:embed="rId2"/>
          <a:stretch>
            <a:fillRect/>
          </a:stretch>
        </p:blipFill>
        <p:spPr>
          <a:xfrm>
            <a:off x="1320767" y="2425639"/>
            <a:ext cx="3086023" cy="3086023"/>
          </a:xfrm>
          <a:prstGeom prst="rect">
            <a:avLst/>
          </a:prstGeom>
        </p:spPr>
      </p:pic>
      <p:pic>
        <p:nvPicPr>
          <p:cNvPr id="5" name="raster 21.4" descr="diagram">    </p:cNvPr>
          <p:cNvPicPr>
            <a:picLocks noChangeAspect="1"/>
          </p:cNvPicPr>
          <p:nvPr/>
        </p:nvPicPr>
        <p:blipFill>
          <a:blip r:embed="rId3"/>
          <a:stretch>
            <a:fillRect/>
          </a:stretch>
        </p:blipFill>
        <p:spPr>
          <a:xfrm>
            <a:off x="6883228" y="2412940"/>
            <a:ext cx="4063898" cy="3441614"/>
          </a:xfrm>
          <a:prstGeom prst="rect">
            <a:avLst/>
          </a:prstGeom>
        </p:spPr>
      </p:pic>
      <p:sp>
        <p:nvSpPr>
          <p:cNvPr id="6" name="text 21.5"/>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Level drafts, top-down</a:t>
            </a:r>
            <a:endParaRPr lang="en-US" sz="3000" dirty="0"/>
          </a:p>
        </p:txBody>
      </p:sp>
      <p:sp>
        <p:nvSpPr>
          <p:cNvPr id="7" name="text 21.6"/>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Draft layouts for </a:t>
            </a:r>
            <a:pPr algn="l" indent="0" marL="0">
              <a:lnSpc>
                <a:spcPts val="1820"/>
              </a:lnSpc>
              <a:buNone/>
            </a:pPr>
            <a:r>
              <a:rPr lang="en-US" sz="1350" b="1" dirty="0">
                <a:solidFill>
                  <a:srgbClr val="43B832"/>
                </a:solidFill>
                <a:latin typeface="Arial" pitchFamily="34" charset="0"/>
                <a:ea typeface="Arial" pitchFamily="34" charset="-122"/>
                <a:cs typeface="Arial" pitchFamily="34" charset="-120"/>
              </a:rPr>
              <a:t>scope and blockout.</a:t>
            </a:r>
            <a:endParaRPr lang="en-US" sz="1350" dirty="0"/>
          </a:p>
        </p:txBody>
      </p:sp>
      <p:sp>
        <p:nvSpPr>
          <p:cNvPr id="8" name="text 21.7"/>
          <p:cNvSpPr txBox="1"/>
          <p:nvPr/>
        </p:nvSpPr>
        <p:spPr>
          <a:xfrm>
            <a:off x="863578" y="2044649"/>
            <a:ext cx="241455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FF6B1F"/>
                </a:solidFill>
                <a:latin typeface="Arial" pitchFamily="34" charset="0"/>
                <a:ea typeface="Arial" pitchFamily="34" charset="-122"/>
                <a:cs typeface="Arial" pitchFamily="34" charset="-120"/>
              </a:rPr>
              <a:t>KNOCKBACK ARENA · ARENA DRAFT</a:t>
            </a:r>
            <a:endParaRPr lang="en-US" sz="800" dirty="0"/>
          </a:p>
        </p:txBody>
      </p:sp>
      <p:pic>
        <p:nvPicPr>
          <p:cNvPr id="9" name="raster 21.8" descr="diagram">    </p:cNvPr>
          <p:cNvPicPr>
            <a:picLocks noChangeAspect="1"/>
          </p:cNvPicPr>
          <p:nvPr/>
        </p:nvPicPr>
        <p:blipFill>
          <a:blip r:embed="rId4"/>
          <a:stretch>
            <a:fillRect/>
          </a:stretch>
        </p:blipFill>
        <p:spPr>
          <a:xfrm>
            <a:off x="1739857" y="2844729"/>
            <a:ext cx="279393" cy="279393"/>
          </a:xfrm>
          <a:prstGeom prst="rect">
            <a:avLst/>
          </a:prstGeom>
        </p:spPr>
      </p:pic>
      <p:pic>
        <p:nvPicPr>
          <p:cNvPr id="10" name="raster 21.9" descr="diagram">    </p:cNvPr>
          <p:cNvPicPr>
            <a:picLocks noChangeAspect="1"/>
          </p:cNvPicPr>
          <p:nvPr/>
        </p:nvPicPr>
        <p:blipFill>
          <a:blip r:embed="rId5"/>
          <a:stretch>
            <a:fillRect/>
          </a:stretch>
        </p:blipFill>
        <p:spPr>
          <a:xfrm>
            <a:off x="3606710" y="2844729"/>
            <a:ext cx="279393" cy="279393"/>
          </a:xfrm>
          <a:prstGeom prst="rect">
            <a:avLst/>
          </a:prstGeom>
        </p:spPr>
      </p:pic>
      <p:pic>
        <p:nvPicPr>
          <p:cNvPr id="11" name="raster 21.10" descr="diagram">    </p:cNvPr>
          <p:cNvPicPr>
            <a:picLocks noChangeAspect="1"/>
          </p:cNvPicPr>
          <p:nvPr/>
        </p:nvPicPr>
        <p:blipFill>
          <a:blip r:embed="rId6"/>
          <a:stretch>
            <a:fillRect/>
          </a:stretch>
        </p:blipFill>
        <p:spPr>
          <a:xfrm>
            <a:off x="1739857" y="4711582"/>
            <a:ext cx="279393" cy="279393"/>
          </a:xfrm>
          <a:prstGeom prst="rect">
            <a:avLst/>
          </a:prstGeom>
        </p:spPr>
      </p:pic>
      <p:pic>
        <p:nvPicPr>
          <p:cNvPr id="12" name="raster 21.11" descr="diagram">    </p:cNvPr>
          <p:cNvPicPr>
            <a:picLocks noChangeAspect="1"/>
          </p:cNvPicPr>
          <p:nvPr/>
        </p:nvPicPr>
        <p:blipFill>
          <a:blip r:embed="rId7"/>
          <a:stretch>
            <a:fillRect/>
          </a:stretch>
        </p:blipFill>
        <p:spPr>
          <a:xfrm>
            <a:off x="3606710" y="4711582"/>
            <a:ext cx="279393" cy="279393"/>
          </a:xfrm>
          <a:prstGeom prst="rect">
            <a:avLst/>
          </a:prstGeom>
        </p:spPr>
      </p:pic>
      <p:sp>
        <p:nvSpPr>
          <p:cNvPr id="13" name="text 21.12"/>
          <p:cNvSpPr txBox="1"/>
          <p:nvPr/>
        </p:nvSpPr>
        <p:spPr>
          <a:xfrm>
            <a:off x="1371566" y="5625959"/>
            <a:ext cx="2984425" cy="106677"/>
          </a:xfrm>
          <a:prstGeom prst="rect">
            <a:avLst/>
          </a:prstGeom>
          <a:noFill/>
          <a:ln/>
        </p:spPr>
        <p:txBody>
          <a:bodyPr wrap="square" lIns="0" tIns="0" rIns="0" bIns="0" rtlCol="0" anchor="t"/>
          <a:lstStyle/>
          <a:p>
            <a:pPr algn="ctr" indent="0" marL="0">
              <a:lnSpc>
                <a:spcPts val="840"/>
              </a:lnSpc>
              <a:buNone/>
            </a:pPr>
            <a:r>
              <a:rPr lang="en-US" sz="700" b="1" spc="84" kern="0" dirty="0">
                <a:solidFill>
                  <a:srgbClr val="FF6B1F"/>
                </a:solidFill>
                <a:latin typeface="Arial" pitchFamily="34" charset="0"/>
                <a:ea typeface="Arial" pitchFamily="34" charset="-122"/>
                <a:cs typeface="Arial" pitchFamily="34" charset="-120"/>
              </a:rPr>
              <a:t>OPEN EDGE = KNOCKOUT LINE</a:t>
            </a:r>
            <a:endParaRPr lang="en-US" sz="700" dirty="0"/>
          </a:p>
        </p:txBody>
      </p:sp>
      <p:sp>
        <p:nvSpPr>
          <p:cNvPr id="14" name="text 21.13"/>
          <p:cNvSpPr txBox="1"/>
          <p:nvPr/>
        </p:nvSpPr>
        <p:spPr>
          <a:xfrm>
            <a:off x="4521087" y="2603435"/>
            <a:ext cx="1308067" cy="302213"/>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Fall zone. No walls, no cover.</a:t>
            </a:r>
            <a:endParaRPr lang="en-US" sz="850" dirty="0"/>
          </a:p>
        </p:txBody>
      </p:sp>
      <p:sp>
        <p:nvSpPr>
          <p:cNvPr id="15" name="text 21.14"/>
          <p:cNvSpPr txBox="1"/>
          <p:nvPr/>
        </p:nvSpPr>
        <p:spPr>
          <a:xfrm>
            <a:off x="4521087" y="3835304"/>
            <a:ext cx="1308067"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One flat square platform.</a:t>
            </a:r>
            <a:endParaRPr lang="en-US" sz="850" dirty="0"/>
          </a:p>
        </p:txBody>
      </p:sp>
      <p:sp>
        <p:nvSpPr>
          <p:cNvPr id="16" name="text 21.15"/>
          <p:cNvSpPr txBox="1"/>
          <p:nvPr/>
        </p:nvSpPr>
        <p:spPr>
          <a:xfrm>
            <a:off x="4521087" y="4825879"/>
            <a:ext cx="1308067"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Spawn near corners.</a:t>
            </a:r>
            <a:endParaRPr lang="en-US" sz="850" dirty="0"/>
          </a:p>
        </p:txBody>
      </p:sp>
      <p:sp>
        <p:nvSpPr>
          <p:cNvPr id="17" name="text 21.16"/>
          <p:cNvSpPr txBox="1"/>
          <p:nvPr/>
        </p:nvSpPr>
        <p:spPr>
          <a:xfrm>
            <a:off x="6476838" y="2044649"/>
            <a:ext cx="1727907"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FA9EA"/>
                </a:solidFill>
                <a:latin typeface="Arial" pitchFamily="34" charset="0"/>
                <a:ea typeface="Arial" pitchFamily="34" charset="-122"/>
                <a:cs typeface="Arial" pitchFamily="34" charset="-120"/>
              </a:rPr>
              <a:t>ICE LOOP · TRACK DRAFT</a:t>
            </a:r>
            <a:endParaRPr lang="en-US" sz="800" dirty="0"/>
          </a:p>
        </p:txBody>
      </p:sp>
      <p:sp>
        <p:nvSpPr>
          <p:cNvPr id="18" name="text 21.17"/>
          <p:cNvSpPr txBox="1"/>
          <p:nvPr/>
        </p:nvSpPr>
        <p:spPr>
          <a:xfrm>
            <a:off x="7429314" y="4368691"/>
            <a:ext cx="91631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START / FINISH</a:t>
            </a:r>
            <a:endParaRPr lang="en-US" sz="700" dirty="0"/>
          </a:p>
        </p:txBody>
      </p:sp>
      <p:sp>
        <p:nvSpPr>
          <p:cNvPr id="19" name="text 21.18"/>
          <p:cNvSpPr txBox="1"/>
          <p:nvPr/>
        </p:nvSpPr>
        <p:spPr>
          <a:xfrm>
            <a:off x="8369091" y="2222444"/>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CP1</a:t>
            </a:r>
            <a:endParaRPr lang="en-US" sz="700" dirty="0"/>
          </a:p>
        </p:txBody>
      </p:sp>
      <p:sp>
        <p:nvSpPr>
          <p:cNvPr id="20" name="text 21.19"/>
          <p:cNvSpPr txBox="1"/>
          <p:nvPr/>
        </p:nvSpPr>
        <p:spPr>
          <a:xfrm>
            <a:off x="8737382" y="3568611"/>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CP2</a:t>
            </a:r>
            <a:endParaRPr lang="en-US" sz="700" dirty="0"/>
          </a:p>
        </p:txBody>
      </p:sp>
      <p:sp>
        <p:nvSpPr>
          <p:cNvPr id="21" name="text 21.20"/>
          <p:cNvSpPr txBox="1"/>
          <p:nvPr/>
        </p:nvSpPr>
        <p:spPr>
          <a:xfrm>
            <a:off x="10959826" y="5117972"/>
            <a:ext cx="28077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FA9EA"/>
                </a:solidFill>
                <a:latin typeface="Arial" pitchFamily="34" charset="0"/>
                <a:ea typeface="Arial" pitchFamily="34" charset="-122"/>
                <a:cs typeface="Arial" pitchFamily="34" charset="-120"/>
              </a:rPr>
              <a:t>CP3</a:t>
            </a:r>
            <a:endParaRPr lang="en-US" sz="700" dirty="0"/>
          </a:p>
        </p:txBody>
      </p:sp>
      <p:sp>
        <p:nvSpPr>
          <p:cNvPr id="22" name="text 21.21"/>
          <p:cNvSpPr txBox="1"/>
          <p:nvPr/>
        </p:nvSpPr>
        <p:spPr>
          <a:xfrm>
            <a:off x="9842254" y="2730432"/>
            <a:ext cx="1562061" cy="302213"/>
          </a:xfrm>
          <a:prstGeom prst="rect">
            <a:avLst/>
          </a:prstGeom>
          <a:noFill/>
          <a:ln/>
        </p:spPr>
        <p:txBody>
          <a:bodyPr wrap="square" lIns="0" tIns="0" rIns="0" bIns="0" rtlCol="0" anchor="t"/>
          <a:lstStyle/>
          <a:p>
            <a:pPr algn="l" indent="0" marL="0">
              <a:lnSpc>
                <a:spcPts val="1190"/>
              </a:lnSpc>
              <a:buNone/>
            </a:pPr>
            <a:r>
              <a:rPr lang="en-US" sz="850" b="1" dirty="0">
                <a:solidFill>
                  <a:srgbClr val="A57600"/>
                </a:solidFill>
                <a:latin typeface="Arial" pitchFamily="34" charset="0"/>
                <a:ea typeface="Arial" pitchFamily="34" charset="-122"/>
                <a:cs typeface="Arial" pitchFamily="34" charset="-120"/>
              </a:rPr>
              <a:t>Yellow:</a:t>
            </a:r>
            <a:pPr algn="l" indent="0" marL="0">
              <a:lnSpc>
                <a:spcPts val="1190"/>
              </a:lnSpc>
              <a:buNone/>
            </a:pPr>
            <a:r>
              <a:rPr lang="en-US" sz="850" dirty="0">
                <a:solidFill>
                  <a:srgbClr val="6F778C"/>
                </a:solidFill>
                <a:latin typeface="Arial" pitchFamily="34" charset="0"/>
                <a:ea typeface="Arial" pitchFamily="34" charset="-122"/>
                <a:cs typeface="Arial" pitchFamily="34" charset="-120"/>
              </a:rPr>
              <a:t> slippery corners. Set up early or slide off.</a:t>
            </a:r>
            <a:endParaRPr lang="en-US" sz="850" dirty="0"/>
          </a:p>
        </p:txBody>
      </p:sp>
      <p:sp>
        <p:nvSpPr>
          <p:cNvPr id="23" name="text 21.22"/>
          <p:cNvSpPr txBox="1"/>
          <p:nvPr/>
        </p:nvSpPr>
        <p:spPr>
          <a:xfrm>
            <a:off x="9842254" y="3657509"/>
            <a:ext cx="1562061" cy="302213"/>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Open edges: a fall respawns you at the last checkpoint.</a:t>
            </a:r>
            <a:endParaRPr lang="en-US" sz="850" dirty="0"/>
          </a:p>
        </p:txBody>
      </p:sp>
      <p:sp>
        <p:nvSpPr>
          <p:cNvPr id="24" name="text 21.23"/>
          <p:cNvSpPr txBox="1"/>
          <p:nvPr/>
        </p:nvSpPr>
        <p:spPr>
          <a:xfrm>
            <a:off x="609585" y="6351131"/>
            <a:ext cx="1169437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Dimensions, spawn points and checkpoint count are not set.</a:t>
            </a:r>
            <a:endParaRPr lang="en-US" sz="850" dirty="0"/>
          </a:p>
        </p:txBody>
      </p:sp>
      <p:pic>
        <p:nvPicPr>
          <p:cNvPr id="25" name="raster 21.24" descr="diagram">    </p:cNvPr>
          <p:cNvPicPr>
            <a:picLocks noChangeAspect="1"/>
          </p:cNvPicPr>
          <p:nvPr/>
        </p:nvPicPr>
        <p:blipFill>
          <a:blip r:embed="rId8"/>
          <a:stretch>
            <a:fillRect/>
          </a:stretch>
        </p:blipFill>
        <p:spPr>
          <a:xfrm>
            <a:off x="609585" y="266693"/>
            <a:ext cx="190495" cy="190495"/>
          </a:xfrm>
          <a:prstGeom prst="rect">
            <a:avLst/>
          </a:prstGeom>
        </p:spPr>
      </p:pic>
      <p:sp>
        <p:nvSpPr>
          <p:cNvPr id="26" name="text 21.25"/>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27" name="text 21.26"/>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28" name="text 21.27"/>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9" name="text 21.28"/>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21 / 28</a:t>
            </a:r>
            <a:endParaRPr lang="en-US" sz="750" dirty="0"/>
          </a:p>
        </p:txBody>
      </p:sp>
      <p:sp>
        <p:nvSpPr>
          <p:cNvPr id="30" name="text 21.29"/>
          <p:cNvSpPr txBox="1"/>
          <p:nvPr/>
        </p:nvSpPr>
        <p:spPr>
          <a:xfrm>
            <a:off x="609585" y="698483"/>
            <a:ext cx="93272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43B832"/>
                </a:solidFill>
                <a:latin typeface="Arial" pitchFamily="34" charset="0"/>
                <a:ea typeface="Arial" pitchFamily="34" charset="-122"/>
                <a:cs typeface="Arial" pitchFamily="34" charset="-120"/>
              </a:rPr>
              <a:t>05 · DRAFTS</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2.1"/>
          <p:cNvSpPr/>
          <p:nvPr/>
        </p:nvSpPr>
        <p:spPr>
          <a:xfrm>
            <a:off x="609585" y="2120847"/>
            <a:ext cx="2628834" cy="1663658"/>
          </a:xfrm>
          <a:prstGeom prst="roundRect">
            <a:avLst>
              <a:gd name="adj" fmla="val 9160"/>
            </a:avLst>
          </a:prstGeom>
          <a:solidFill>
            <a:srgbClr val="E7F5E1"/>
          </a:solidFill>
          <a:ln w="12700">
            <a:solidFill>
              <a:srgbClr val="D2EBC7"/>
            </a:solidFill>
            <a:prstDash val="solid"/>
          </a:ln>
          <a:effectLst>
            <a:outerShdw sx="100000" sy="100000" kx="0" ky="0" algn="bl" rotWithShape="0" blurRad="203200" dist="76200" dir="5400000">
              <a:srgbClr val="1E468C">
                <a:alpha val="16000"/>
              </a:srgbClr>
            </a:outerShdw>
          </a:effectLst>
        </p:spPr>
      </p:sp>
      <p:sp>
        <p:nvSpPr>
          <p:cNvPr id="3" name="shape 22.2"/>
          <p:cNvSpPr/>
          <p:nvPr/>
        </p:nvSpPr>
        <p:spPr>
          <a:xfrm>
            <a:off x="3390815" y="2120847"/>
            <a:ext cx="2628834" cy="1663658"/>
          </a:xfrm>
          <a:prstGeom prst="roundRect">
            <a:avLst>
              <a:gd name="adj" fmla="val 9160"/>
            </a:avLst>
          </a:prstGeom>
          <a:solidFill>
            <a:srgbClr val="E3F2FB"/>
          </a:solidFill>
          <a:ln w="12700">
            <a:solidFill>
              <a:srgbClr val="CDE7F7"/>
            </a:solidFill>
            <a:prstDash val="solid"/>
          </a:ln>
          <a:effectLst>
            <a:outerShdw sx="100000" sy="100000" kx="0" ky="0" algn="bl" rotWithShape="0" blurRad="203200" dist="76200" dir="5400000">
              <a:srgbClr val="1E468C">
                <a:alpha val="16000"/>
              </a:srgbClr>
            </a:outerShdw>
          </a:effectLst>
        </p:spPr>
      </p:sp>
      <p:sp>
        <p:nvSpPr>
          <p:cNvPr id="4" name="shape 22.3"/>
          <p:cNvSpPr/>
          <p:nvPr/>
        </p:nvSpPr>
        <p:spPr>
          <a:xfrm>
            <a:off x="6172046" y="2120847"/>
            <a:ext cx="2628834" cy="1663658"/>
          </a:xfrm>
          <a:prstGeom prst="roundRect">
            <a:avLst>
              <a:gd name="adj" fmla="val 9160"/>
            </a:avLst>
          </a:prstGeom>
          <a:solidFill>
            <a:srgbClr val="FFF0E6"/>
          </a:solidFill>
          <a:ln w="12700">
            <a:solidFill>
              <a:srgbClr val="FBDCC8"/>
            </a:solidFill>
            <a:prstDash val="solid"/>
          </a:ln>
          <a:effectLst>
            <a:outerShdw sx="100000" sy="100000" kx="0" ky="0" algn="bl" rotWithShape="0" blurRad="203200" dist="76200" dir="5400000">
              <a:srgbClr val="1E468C">
                <a:alpha val="16000"/>
              </a:srgbClr>
            </a:outerShdw>
          </a:effectLst>
        </p:spPr>
      </p:sp>
      <p:sp>
        <p:nvSpPr>
          <p:cNvPr id="5" name="shape 22.4"/>
          <p:cNvSpPr/>
          <p:nvPr/>
        </p:nvSpPr>
        <p:spPr>
          <a:xfrm>
            <a:off x="8953276" y="2120847"/>
            <a:ext cx="2628834" cy="1663658"/>
          </a:xfrm>
          <a:prstGeom prst="roundRect">
            <a:avLst>
              <a:gd name="adj" fmla="val 9160"/>
            </a:avLst>
          </a:prstGeom>
          <a:solidFill>
            <a:srgbClr val="F1E9FF"/>
          </a:solidFill>
          <a:ln w="12700">
            <a:solidFill>
              <a:srgbClr val="E0D2FB"/>
            </a:solidFill>
            <a:prstDash val="solid"/>
          </a:ln>
          <a:effectLst>
            <a:outerShdw sx="100000" sy="100000" kx="0" ky="0" algn="bl" rotWithShape="0" blurRad="203200" dist="76200" dir="5400000">
              <a:srgbClr val="1E468C">
                <a:alpha val="16000"/>
              </a:srgbClr>
            </a:outerShdw>
          </a:effectLst>
        </p:spPr>
      </p:sp>
      <p:sp>
        <p:nvSpPr>
          <p:cNvPr id="6" name="shape 22.5"/>
          <p:cNvSpPr/>
          <p:nvPr/>
        </p:nvSpPr>
        <p:spPr>
          <a:xfrm>
            <a:off x="609585" y="4292493"/>
            <a:ext cx="3555911" cy="1993850"/>
          </a:xfrm>
          <a:prstGeom prst="roundRect">
            <a:avLst>
              <a:gd name="adj" fmla="val 764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shape 22.6"/>
          <p:cNvSpPr/>
          <p:nvPr/>
        </p:nvSpPr>
        <p:spPr>
          <a:xfrm>
            <a:off x="4317892" y="4292493"/>
            <a:ext cx="3555911" cy="1993850"/>
          </a:xfrm>
          <a:prstGeom prst="roundRect">
            <a:avLst>
              <a:gd name="adj" fmla="val 764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8" name="shape 22.7"/>
          <p:cNvSpPr/>
          <p:nvPr/>
        </p:nvSpPr>
        <p:spPr>
          <a:xfrm>
            <a:off x="8026199" y="4292493"/>
            <a:ext cx="3555911" cy="1993850"/>
          </a:xfrm>
          <a:prstGeom prst="roundRect">
            <a:avLst>
              <a:gd name="adj" fmla="val 7643"/>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9" name="raster 22.8" descr="diagram">    </p:cNvPr>
          <p:cNvPicPr>
            <a:picLocks noChangeAspect="1"/>
          </p:cNvPicPr>
          <p:nvPr/>
        </p:nvPicPr>
        <p:blipFill>
          <a:blip r:embed="rId2"/>
          <a:stretch>
            <a:fillRect/>
          </a:stretch>
        </p:blipFill>
        <p:spPr>
          <a:xfrm>
            <a:off x="1873203" y="1854154"/>
            <a:ext cx="8445289" cy="101597"/>
          </a:xfrm>
          <a:prstGeom prst="rect">
            <a:avLst/>
          </a:prstGeom>
        </p:spPr>
      </p:pic>
      <p:sp>
        <p:nvSpPr>
          <p:cNvPr id="10" name="text 22.9"/>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Development plan</a:t>
            </a:r>
            <a:endParaRPr lang="en-US" sz="3000" dirty="0"/>
          </a:p>
        </p:txBody>
      </p:sp>
      <p:sp>
        <p:nvSpPr>
          <p:cNvPr id="11" name="text 22.10"/>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12 weeks, four presentations,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one playable step each.</a:t>
            </a:r>
            <a:endParaRPr lang="en-US" sz="1350" dirty="0"/>
          </a:p>
        </p:txBody>
      </p:sp>
      <p:sp>
        <p:nvSpPr>
          <p:cNvPr id="12" name="shape 22.11"/>
          <p:cNvSpPr/>
          <p:nvPr/>
        </p:nvSpPr>
        <p:spPr>
          <a:xfrm>
            <a:off x="1822404" y="1803355"/>
            <a:ext cx="203195" cy="203195"/>
          </a:xfrm>
          <a:prstGeom prst="roundRect">
            <a:avLst>
              <a:gd name="adj" fmla="val 50000"/>
            </a:avLst>
          </a:prstGeom>
          <a:solidFill>
            <a:srgbClr val="43B832"/>
          </a:solidFill>
          <a:ln/>
        </p:spPr>
      </p:sp>
      <p:sp>
        <p:nvSpPr>
          <p:cNvPr id="13" name="text 22.12"/>
          <p:cNvSpPr txBox="1"/>
          <p:nvPr/>
        </p:nvSpPr>
        <p:spPr>
          <a:xfrm>
            <a:off x="787380" y="2298643"/>
            <a:ext cx="919366" cy="253994"/>
          </a:xfrm>
          <a:prstGeom prst="rect">
            <a:avLst/>
          </a:prstGeom>
          <a:noFill/>
          <a:ln/>
        </p:spPr>
        <p:txBody>
          <a:bodyPr wrap="square" lIns="0" tIns="0" rIns="0" bIns="0" rtlCol="0" anchor="t"/>
          <a:lstStyle/>
          <a:p>
            <a:pPr algn="l" indent="0" marL="0">
              <a:lnSpc>
                <a:spcPts val="2000"/>
              </a:lnSpc>
              <a:buNone/>
            </a:pPr>
            <a:r>
              <a:rPr lang="en-US" sz="2000" dirty="0">
                <a:solidFill>
                  <a:srgbClr val="43B832"/>
                </a:solidFill>
                <a:latin typeface="Arial Rounded MT Bold" pitchFamily="34" charset="0"/>
                <a:ea typeface="Arial Rounded MT Bold" pitchFamily="34" charset="-122"/>
                <a:cs typeface="Arial Rounded MT Bold" pitchFamily="34" charset="-120"/>
              </a:rPr>
              <a:t>19 Oct</a:t>
            </a:r>
            <a:endParaRPr lang="en-US" sz="2000" dirty="0"/>
          </a:p>
        </p:txBody>
      </p:sp>
      <p:sp>
        <p:nvSpPr>
          <p:cNvPr id="14" name="text 22.13"/>
          <p:cNvSpPr txBox="1"/>
          <p:nvPr/>
        </p:nvSpPr>
        <p:spPr>
          <a:xfrm>
            <a:off x="787380" y="2628834"/>
            <a:ext cx="817352"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Proposal</a:t>
            </a:r>
            <a:endParaRPr lang="en-US" sz="1300" dirty="0"/>
          </a:p>
        </p:txBody>
      </p:sp>
      <p:sp>
        <p:nvSpPr>
          <p:cNvPr id="15" name="text 22.14"/>
          <p:cNvSpPr txBox="1"/>
          <p:nvPr/>
        </p:nvSpPr>
        <p:spPr>
          <a:xfrm>
            <a:off x="787380" y="289552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Concept, research, 3D drafts and this pitch.</a:t>
            </a:r>
            <a:endParaRPr lang="en-US" sz="1100" dirty="0"/>
          </a:p>
        </p:txBody>
      </p:sp>
      <p:sp>
        <p:nvSpPr>
          <p:cNvPr id="16" name="shape 22.15"/>
          <p:cNvSpPr/>
          <p:nvPr/>
        </p:nvSpPr>
        <p:spPr>
          <a:xfrm>
            <a:off x="4603635" y="1803355"/>
            <a:ext cx="203195" cy="203195"/>
          </a:xfrm>
          <a:prstGeom prst="roundRect">
            <a:avLst>
              <a:gd name="adj" fmla="val 50000"/>
            </a:avLst>
          </a:prstGeom>
          <a:solidFill>
            <a:srgbClr val="1FA9EA"/>
          </a:solidFill>
          <a:ln/>
        </p:spPr>
      </p:sp>
      <p:sp>
        <p:nvSpPr>
          <p:cNvPr id="17" name="text 22.16"/>
          <p:cNvSpPr txBox="1"/>
          <p:nvPr/>
        </p:nvSpPr>
        <p:spPr>
          <a:xfrm>
            <a:off x="3568611" y="2298643"/>
            <a:ext cx="960382" cy="253994"/>
          </a:xfrm>
          <a:prstGeom prst="rect">
            <a:avLst/>
          </a:prstGeom>
          <a:noFill/>
          <a:ln/>
        </p:spPr>
        <p:txBody>
          <a:bodyPr wrap="square" lIns="0" tIns="0" rIns="0" bIns="0" rtlCol="0" anchor="t"/>
          <a:lstStyle/>
          <a:p>
            <a:pPr algn="l" indent="0" marL="0">
              <a:lnSpc>
                <a:spcPts val="2000"/>
              </a:lnSpc>
              <a:buNone/>
            </a:pPr>
            <a:r>
              <a:rPr lang="en-US" sz="2000" dirty="0">
                <a:solidFill>
                  <a:srgbClr val="1FA9EA"/>
                </a:solidFill>
                <a:latin typeface="Arial Rounded MT Bold" pitchFamily="34" charset="0"/>
                <a:ea typeface="Arial Rounded MT Bold" pitchFamily="34" charset="-122"/>
                <a:cs typeface="Arial Rounded MT Bold" pitchFamily="34" charset="-120"/>
              </a:rPr>
              <a:t>16 Nov</a:t>
            </a:r>
            <a:endParaRPr lang="en-US" sz="2000" dirty="0"/>
          </a:p>
        </p:txBody>
      </p:sp>
      <p:sp>
        <p:nvSpPr>
          <p:cNvPr id="18" name="text 22.17"/>
          <p:cNvSpPr txBox="1"/>
          <p:nvPr/>
        </p:nvSpPr>
        <p:spPr>
          <a:xfrm>
            <a:off x="3568611" y="2628834"/>
            <a:ext cx="705346"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Demo 1</a:t>
            </a:r>
            <a:endParaRPr lang="en-US" sz="1300" dirty="0"/>
          </a:p>
        </p:txBody>
      </p:sp>
      <p:sp>
        <p:nvSpPr>
          <p:cNvPr id="19" name="text 22.18"/>
          <p:cNvSpPr txBox="1"/>
          <p:nvPr/>
        </p:nvSpPr>
        <p:spPr>
          <a:xfrm>
            <a:off x="3568611" y="289552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Core prototype, host and join, first mini-games playable.</a:t>
            </a:r>
            <a:endParaRPr lang="en-US" sz="1100" dirty="0"/>
          </a:p>
        </p:txBody>
      </p:sp>
      <p:sp>
        <p:nvSpPr>
          <p:cNvPr id="20" name="shape 22.19"/>
          <p:cNvSpPr/>
          <p:nvPr/>
        </p:nvSpPr>
        <p:spPr>
          <a:xfrm>
            <a:off x="7384865" y="1803355"/>
            <a:ext cx="203195" cy="203195"/>
          </a:xfrm>
          <a:prstGeom prst="roundRect">
            <a:avLst>
              <a:gd name="adj" fmla="val 50000"/>
            </a:avLst>
          </a:prstGeom>
          <a:solidFill>
            <a:srgbClr val="FF6B1F"/>
          </a:solidFill>
          <a:ln/>
        </p:spPr>
      </p:sp>
      <p:sp>
        <p:nvSpPr>
          <p:cNvPr id="21" name="text 22.20"/>
          <p:cNvSpPr txBox="1"/>
          <p:nvPr/>
        </p:nvSpPr>
        <p:spPr>
          <a:xfrm>
            <a:off x="6349841" y="2298643"/>
            <a:ext cx="970057" cy="253994"/>
          </a:xfrm>
          <a:prstGeom prst="rect">
            <a:avLst/>
          </a:prstGeom>
          <a:noFill/>
          <a:ln/>
        </p:spPr>
        <p:txBody>
          <a:bodyPr wrap="square" lIns="0" tIns="0" rIns="0" bIns="0" rtlCol="0" anchor="t"/>
          <a:lstStyle/>
          <a:p>
            <a:pPr algn="l" indent="0" marL="0">
              <a:lnSpc>
                <a:spcPts val="2000"/>
              </a:lnSpc>
              <a:buNone/>
            </a:pPr>
            <a:r>
              <a:rPr lang="en-US" sz="2000" dirty="0">
                <a:solidFill>
                  <a:srgbClr val="FF6B1F"/>
                </a:solidFill>
                <a:latin typeface="Arial Rounded MT Bold" pitchFamily="34" charset="0"/>
                <a:ea typeface="Arial Rounded MT Bold" pitchFamily="34" charset="-122"/>
                <a:cs typeface="Arial Rounded MT Bold" pitchFamily="34" charset="-120"/>
              </a:rPr>
              <a:t>14 Dec</a:t>
            </a:r>
            <a:endParaRPr lang="en-US" sz="2000" dirty="0"/>
          </a:p>
        </p:txBody>
      </p:sp>
      <p:sp>
        <p:nvSpPr>
          <p:cNvPr id="22" name="text 22.21"/>
          <p:cNvSpPr txBox="1"/>
          <p:nvPr/>
        </p:nvSpPr>
        <p:spPr>
          <a:xfrm>
            <a:off x="6349841" y="2628834"/>
            <a:ext cx="705346"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Demo 2</a:t>
            </a:r>
            <a:endParaRPr lang="en-US" sz="1300" dirty="0"/>
          </a:p>
        </p:txBody>
      </p:sp>
      <p:sp>
        <p:nvSpPr>
          <p:cNvPr id="23" name="text 22.22"/>
          <p:cNvSpPr txBox="1"/>
          <p:nvPr/>
        </p:nvSpPr>
        <p:spPr>
          <a:xfrm>
            <a:off x="6349841" y="289552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All four mini-games and a full session with scoreboard and menus.</a:t>
            </a:r>
            <a:endParaRPr lang="en-US" sz="1100" dirty="0"/>
          </a:p>
        </p:txBody>
      </p:sp>
      <p:sp>
        <p:nvSpPr>
          <p:cNvPr id="24" name="shape 22.23"/>
          <p:cNvSpPr/>
          <p:nvPr/>
        </p:nvSpPr>
        <p:spPr>
          <a:xfrm>
            <a:off x="10166096" y="1803355"/>
            <a:ext cx="203195" cy="203195"/>
          </a:xfrm>
          <a:prstGeom prst="roundRect">
            <a:avLst>
              <a:gd name="adj" fmla="val 50000"/>
            </a:avLst>
          </a:prstGeom>
          <a:solidFill>
            <a:srgbClr val="8F55F5"/>
          </a:solidFill>
          <a:ln/>
        </p:spPr>
      </p:sp>
      <p:sp>
        <p:nvSpPr>
          <p:cNvPr id="25" name="text 22.24"/>
          <p:cNvSpPr txBox="1"/>
          <p:nvPr/>
        </p:nvSpPr>
        <p:spPr>
          <a:xfrm>
            <a:off x="9131072" y="2298643"/>
            <a:ext cx="927779" cy="253994"/>
          </a:xfrm>
          <a:prstGeom prst="rect">
            <a:avLst/>
          </a:prstGeom>
          <a:noFill/>
          <a:ln/>
        </p:spPr>
        <p:txBody>
          <a:bodyPr wrap="square" lIns="0" tIns="0" rIns="0" bIns="0" rtlCol="0" anchor="t"/>
          <a:lstStyle/>
          <a:p>
            <a:pPr algn="l" indent="0" marL="0">
              <a:lnSpc>
                <a:spcPts val="2000"/>
              </a:lnSpc>
              <a:buNone/>
            </a:pPr>
            <a:r>
              <a:rPr lang="en-US" sz="2000" dirty="0">
                <a:solidFill>
                  <a:srgbClr val="8F55F5"/>
                </a:solidFill>
                <a:latin typeface="Arial Rounded MT Bold" pitchFamily="34" charset="0"/>
                <a:ea typeface="Arial Rounded MT Bold" pitchFamily="34" charset="-122"/>
                <a:cs typeface="Arial Rounded MT Bold" pitchFamily="34" charset="-120"/>
              </a:rPr>
              <a:t>11 Jan</a:t>
            </a:r>
            <a:endParaRPr lang="en-US" sz="2000" dirty="0"/>
          </a:p>
        </p:txBody>
      </p:sp>
      <p:sp>
        <p:nvSpPr>
          <p:cNvPr id="26" name="text 22.25"/>
          <p:cNvSpPr txBox="1"/>
          <p:nvPr/>
        </p:nvSpPr>
        <p:spPr>
          <a:xfrm>
            <a:off x="9131072" y="2628834"/>
            <a:ext cx="471450" cy="189860"/>
          </a:xfrm>
          <a:prstGeom prst="rect">
            <a:avLst/>
          </a:prstGeom>
          <a:noFill/>
          <a:ln/>
        </p:spPr>
        <p:txBody>
          <a:bodyPr wrap="square" lIns="0" tIns="0" rIns="0" bIns="0" rtlCol="0" anchor="t"/>
          <a:lstStyle/>
          <a:p>
            <a:pPr algn="l" indent="0" marL="0">
              <a:lnSpc>
                <a:spcPts val="1490"/>
              </a:lnSpc>
              <a:buNone/>
            </a:pPr>
            <a:r>
              <a:rPr lang="en-US" sz="1300" dirty="0">
                <a:solidFill>
                  <a:srgbClr val="1B2340"/>
                </a:solidFill>
                <a:latin typeface="Arial Rounded MT Bold" pitchFamily="34" charset="0"/>
                <a:ea typeface="Arial Rounded MT Bold" pitchFamily="34" charset="-122"/>
                <a:cs typeface="Arial Rounded MT Bold" pitchFamily="34" charset="-120"/>
              </a:rPr>
              <a:t>Final</a:t>
            </a:r>
            <a:endParaRPr lang="en-US" sz="1300" dirty="0"/>
          </a:p>
        </p:txBody>
      </p:sp>
      <p:sp>
        <p:nvSpPr>
          <p:cNvPr id="27" name="text 22.26"/>
          <p:cNvSpPr txBox="1"/>
          <p:nvPr/>
        </p:nvSpPr>
        <p:spPr>
          <a:xfrm>
            <a:off x="9131072" y="2895528"/>
            <a:ext cx="2324042" cy="391111"/>
          </a:xfrm>
          <a:prstGeom prst="rect">
            <a:avLst/>
          </a:prstGeom>
          <a:noFill/>
          <a:ln/>
        </p:spPr>
        <p:txBody>
          <a:bodyPr wrap="square" lIns="0" tIns="0" rIns="0" bIns="0" rtlCol="0" anchor="t"/>
          <a:lstStyle/>
          <a:p>
            <a:pPr algn="l" indent="0" marL="0">
              <a:lnSpc>
                <a:spcPts val="1540"/>
              </a:lnSpc>
              <a:buNone/>
            </a:pPr>
            <a:r>
              <a:rPr lang="en-US" sz="1100" dirty="0">
                <a:solidFill>
                  <a:srgbClr val="3E475E"/>
                </a:solidFill>
                <a:latin typeface="Arial" pitchFamily="34" charset="0"/>
                <a:ea typeface="Arial" pitchFamily="34" charset="-122"/>
                <a:cs typeface="Arial" pitchFamily="34" charset="-120"/>
              </a:rPr>
              <a:t>UI, sound, cosmetics, polish and the promo video.</a:t>
            </a:r>
            <a:endParaRPr lang="en-US" sz="1100" dirty="0"/>
          </a:p>
        </p:txBody>
      </p:sp>
      <p:sp>
        <p:nvSpPr>
          <p:cNvPr id="28" name="text 22.27"/>
          <p:cNvSpPr txBox="1"/>
          <p:nvPr/>
        </p:nvSpPr>
        <p:spPr>
          <a:xfrm>
            <a:off x="609585" y="4063898"/>
            <a:ext cx="2323901"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1B2340"/>
                </a:solidFill>
                <a:latin typeface="Arial" pitchFamily="34" charset="0"/>
                <a:ea typeface="Arial" pitchFamily="34" charset="-122"/>
                <a:cs typeface="Arial" pitchFamily="34" charset="-120"/>
              </a:rPr>
              <a:t>RISKS AND HOW WE HANDLE THEM</a:t>
            </a:r>
            <a:endParaRPr lang="en-US" sz="800" dirty="0"/>
          </a:p>
        </p:txBody>
      </p:sp>
      <p:sp>
        <p:nvSpPr>
          <p:cNvPr id="29" name="shape 22.28"/>
          <p:cNvSpPr/>
          <p:nvPr/>
        </p:nvSpPr>
        <p:spPr>
          <a:xfrm>
            <a:off x="787380" y="4470288"/>
            <a:ext cx="660383" cy="190495"/>
          </a:xfrm>
          <a:prstGeom prst="roundRect">
            <a:avLst>
              <a:gd name="adj" fmla="val 50000"/>
            </a:avLst>
          </a:prstGeom>
          <a:solidFill>
            <a:srgbClr val="E3F2FB"/>
          </a:solidFill>
          <a:ln/>
        </p:spPr>
      </p:sp>
      <p:sp>
        <p:nvSpPr>
          <p:cNvPr id="30" name="text 22.29"/>
          <p:cNvSpPr txBox="1"/>
          <p:nvPr/>
        </p:nvSpPr>
        <p:spPr>
          <a:xfrm>
            <a:off x="787380" y="4470288"/>
            <a:ext cx="660383" cy="1904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1FA9EA"/>
                </a:solidFill>
                <a:latin typeface="Arial" pitchFamily="34" charset="0"/>
                <a:ea typeface="Arial" pitchFamily="34" charset="-122"/>
                <a:cs typeface="Arial" pitchFamily="34" charset="-120"/>
              </a:rPr>
              <a:t>RISK 01</a:t>
            </a:r>
            <a:endParaRPr lang="en-US" sz="650" dirty="0"/>
          </a:p>
        </p:txBody>
      </p:sp>
      <p:sp>
        <p:nvSpPr>
          <p:cNvPr id="31" name="text 22.30"/>
          <p:cNvSpPr txBox="1"/>
          <p:nvPr/>
        </p:nvSpPr>
        <p:spPr>
          <a:xfrm>
            <a:off x="787380" y="4787780"/>
            <a:ext cx="2177295" cy="215895"/>
          </a:xfrm>
          <a:prstGeom prst="rect">
            <a:avLst/>
          </a:prstGeom>
          <a:noFill/>
          <a:ln/>
        </p:spPr>
        <p:txBody>
          <a:bodyPr wrap="square" lIns="0" tIns="0" rIns="0" bIns="0" rtlCol="0" anchor="t"/>
          <a:lstStyle/>
          <a:p>
            <a:pPr algn="l" indent="0" marL="0">
              <a:lnSpc>
                <a:spcPts val="1700"/>
              </a:lnSpc>
              <a:buNone/>
            </a:pPr>
            <a:r>
              <a:rPr lang="en-US" sz="1700" dirty="0">
                <a:solidFill>
                  <a:srgbClr val="1FA9EA"/>
                </a:solidFill>
                <a:latin typeface="Arial Rounded MT Bold" pitchFamily="34" charset="0"/>
                <a:ea typeface="Arial Rounded MT Bold" pitchFamily="34" charset="-122"/>
                <a:cs typeface="Arial Rounded MT Bold" pitchFamily="34" charset="-120"/>
              </a:rPr>
              <a:t>Networked physics</a:t>
            </a:r>
            <a:endParaRPr lang="en-US" sz="1700" dirty="0"/>
          </a:p>
        </p:txBody>
      </p:sp>
      <p:sp>
        <p:nvSpPr>
          <p:cNvPr id="32" name="text 22.31"/>
          <p:cNvSpPr txBox="1"/>
          <p:nvPr/>
        </p:nvSpPr>
        <p:spPr>
          <a:xfrm>
            <a:off x="787380" y="5117972"/>
            <a:ext cx="3238419" cy="192781"/>
          </a:xfrm>
          <a:prstGeom prst="rect">
            <a:avLst/>
          </a:prstGeom>
          <a:noFill/>
          <a:ln/>
        </p:spPr>
        <p:txBody>
          <a:bodyPr wrap="square" lIns="0" tIns="0" rIns="0" bIns="0" rtlCol="0" anchor="t"/>
          <a:lstStyle/>
          <a:p>
            <a:pPr algn="l" indent="0" marL="0">
              <a:lnSpc>
                <a:spcPts val="1520"/>
              </a:lnSpc>
              <a:buNone/>
            </a:pPr>
            <a:r>
              <a:rPr lang="en-US" sz="1100" b="1" dirty="0">
                <a:solidFill>
                  <a:srgbClr val="1B2340"/>
                </a:solidFill>
                <a:latin typeface="Arial" pitchFamily="34" charset="0"/>
                <a:ea typeface="Arial" pitchFamily="34" charset="-122"/>
                <a:cs typeface="Arial" pitchFamily="34" charset="-120"/>
              </a:rPr>
              <a:t>Players disagree on a push or a fall.</a:t>
            </a:r>
            <a:endParaRPr lang="en-US" sz="1100" dirty="0"/>
          </a:p>
        </p:txBody>
      </p:sp>
      <p:sp>
        <p:nvSpPr>
          <p:cNvPr id="33" name="text 22.32"/>
          <p:cNvSpPr txBox="1"/>
          <p:nvPr/>
        </p:nvSpPr>
        <p:spPr>
          <a:xfrm>
            <a:off x="787380" y="5587860"/>
            <a:ext cx="3238419" cy="391111"/>
          </a:xfrm>
          <a:prstGeom prst="rect">
            <a:avLst/>
          </a:prstGeom>
          <a:noFill/>
          <a:ln/>
        </p:spPr>
        <p:txBody>
          <a:bodyPr wrap="square" lIns="0" tIns="0" rIns="0" bIns="0" rtlCol="0" anchor="t"/>
          <a:lstStyle/>
          <a:p>
            <a:pPr algn="l" indent="0" marL="0">
              <a:lnSpc>
                <a:spcPts val="1540"/>
              </a:lnSpc>
              <a:buNone/>
            </a:pPr>
            <a:r>
              <a:rPr lang="en-US" sz="1100" b="1" dirty="0">
                <a:solidFill>
                  <a:srgbClr val="1FA9EA"/>
                </a:solidFill>
                <a:latin typeface="Arial" pitchFamily="34" charset="0"/>
                <a:ea typeface="Arial" pitchFamily="34" charset="-122"/>
                <a:cs typeface="Arial" pitchFamily="34" charset="-120"/>
              </a:rPr>
              <a:t>Plan:</a:t>
            </a:r>
            <a:pPr algn="l" indent="0" marL="0">
              <a:lnSpc>
                <a:spcPts val="1540"/>
              </a:lnSpc>
              <a:buNone/>
            </a:pPr>
            <a:r>
              <a:rPr lang="en-US" sz="1100" dirty="0">
                <a:solidFill>
                  <a:srgbClr val="3E475E"/>
                </a:solidFill>
                <a:latin typeface="Arial" pitchFamily="34" charset="0"/>
                <a:ea typeface="Arial" pitchFamily="34" charset="-122"/>
                <a:cs typeface="Arial" pitchFamily="34" charset="-120"/>
              </a:rPr>
              <a:t> The host simulates; clients only render and interpolate.</a:t>
            </a:r>
            <a:endParaRPr lang="en-US" sz="1100" dirty="0"/>
          </a:p>
        </p:txBody>
      </p:sp>
      <p:sp>
        <p:nvSpPr>
          <p:cNvPr id="34" name="shape 22.33"/>
          <p:cNvSpPr/>
          <p:nvPr/>
        </p:nvSpPr>
        <p:spPr>
          <a:xfrm>
            <a:off x="4495688" y="4470288"/>
            <a:ext cx="660383" cy="190495"/>
          </a:xfrm>
          <a:prstGeom prst="roundRect">
            <a:avLst>
              <a:gd name="adj" fmla="val 50000"/>
            </a:avLst>
          </a:prstGeom>
          <a:solidFill>
            <a:srgbClr val="FFF0E6"/>
          </a:solidFill>
          <a:ln/>
        </p:spPr>
      </p:sp>
      <p:sp>
        <p:nvSpPr>
          <p:cNvPr id="35" name="text 22.34"/>
          <p:cNvSpPr txBox="1"/>
          <p:nvPr/>
        </p:nvSpPr>
        <p:spPr>
          <a:xfrm>
            <a:off x="4495688" y="4470288"/>
            <a:ext cx="660383" cy="1904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6B1F"/>
                </a:solidFill>
                <a:latin typeface="Arial" pitchFamily="34" charset="0"/>
                <a:ea typeface="Arial" pitchFamily="34" charset="-122"/>
                <a:cs typeface="Arial" pitchFamily="34" charset="-120"/>
              </a:rPr>
              <a:t>RISK 02</a:t>
            </a:r>
            <a:endParaRPr lang="en-US" sz="650" dirty="0"/>
          </a:p>
        </p:txBody>
      </p:sp>
      <p:sp>
        <p:nvSpPr>
          <p:cNvPr id="36" name="text 22.35"/>
          <p:cNvSpPr txBox="1"/>
          <p:nvPr/>
        </p:nvSpPr>
        <p:spPr>
          <a:xfrm>
            <a:off x="4495688" y="4787780"/>
            <a:ext cx="972371" cy="215895"/>
          </a:xfrm>
          <a:prstGeom prst="rect">
            <a:avLst/>
          </a:prstGeom>
          <a:noFill/>
          <a:ln/>
        </p:spPr>
        <p:txBody>
          <a:bodyPr wrap="square" lIns="0" tIns="0" rIns="0" bIns="0" rtlCol="0" anchor="t"/>
          <a:lstStyle/>
          <a:p>
            <a:pPr algn="l" indent="0" marL="0">
              <a:lnSpc>
                <a:spcPts val="1700"/>
              </a:lnSpc>
              <a:buNone/>
            </a:pPr>
            <a:r>
              <a:rPr lang="en-US" sz="1700" dirty="0">
                <a:solidFill>
                  <a:srgbClr val="FF6B1F"/>
                </a:solidFill>
                <a:latin typeface="Arial Rounded MT Bold" pitchFamily="34" charset="0"/>
                <a:ea typeface="Arial Rounded MT Bold" pitchFamily="34" charset="-122"/>
                <a:cs typeface="Arial Rounded MT Bold" pitchFamily="34" charset="-120"/>
              </a:rPr>
              <a:t>Balance</a:t>
            </a:r>
            <a:endParaRPr lang="en-US" sz="1700" dirty="0"/>
          </a:p>
        </p:txBody>
      </p:sp>
      <p:sp>
        <p:nvSpPr>
          <p:cNvPr id="37" name="text 22.36"/>
          <p:cNvSpPr txBox="1"/>
          <p:nvPr/>
        </p:nvSpPr>
        <p:spPr>
          <a:xfrm>
            <a:off x="4495688" y="5117972"/>
            <a:ext cx="3238419" cy="385554"/>
          </a:xfrm>
          <a:prstGeom prst="rect">
            <a:avLst/>
          </a:prstGeom>
          <a:noFill/>
          <a:ln/>
        </p:spPr>
        <p:txBody>
          <a:bodyPr wrap="square" lIns="0" tIns="0" rIns="0" bIns="0" rtlCol="0" anchor="t"/>
          <a:lstStyle/>
          <a:p>
            <a:pPr algn="l" indent="0" marL="0">
              <a:lnSpc>
                <a:spcPts val="1520"/>
              </a:lnSpc>
              <a:buNone/>
            </a:pPr>
            <a:r>
              <a:rPr lang="en-US" sz="1100" b="1" dirty="0">
                <a:solidFill>
                  <a:srgbClr val="1B2340"/>
                </a:solidFill>
                <a:latin typeface="Arial" pitchFamily="34" charset="0"/>
                <a:ea typeface="Arial" pitchFamily="34" charset="-122"/>
                <a:cs typeface="Arial" pitchFamily="34" charset="-120"/>
              </a:rPr>
              <a:t>Hits too easy, jumping too strong, a runaway leader.</a:t>
            </a:r>
            <a:endParaRPr lang="en-US" sz="1100" dirty="0"/>
          </a:p>
        </p:txBody>
      </p:sp>
      <p:sp>
        <p:nvSpPr>
          <p:cNvPr id="38" name="text 22.37"/>
          <p:cNvSpPr txBox="1"/>
          <p:nvPr/>
        </p:nvSpPr>
        <p:spPr>
          <a:xfrm>
            <a:off x="4495688" y="5587860"/>
            <a:ext cx="3238419" cy="391111"/>
          </a:xfrm>
          <a:prstGeom prst="rect">
            <a:avLst/>
          </a:prstGeom>
          <a:noFill/>
          <a:ln/>
        </p:spPr>
        <p:txBody>
          <a:bodyPr wrap="square" lIns="0" tIns="0" rIns="0" bIns="0" rtlCol="0" anchor="t"/>
          <a:lstStyle/>
          <a:p>
            <a:pPr algn="l" indent="0" marL="0">
              <a:lnSpc>
                <a:spcPts val="1540"/>
              </a:lnSpc>
              <a:buNone/>
            </a:pPr>
            <a:r>
              <a:rPr lang="en-US" sz="1100" b="1" dirty="0">
                <a:solidFill>
                  <a:srgbClr val="FF6B1F"/>
                </a:solidFill>
                <a:latin typeface="Arial" pitchFamily="34" charset="0"/>
                <a:ea typeface="Arial" pitchFamily="34" charset="-122"/>
                <a:cs typeface="Arial" pitchFamily="34" charset="-120"/>
              </a:rPr>
              <a:t>Plan:</a:t>
            </a:r>
            <a:pPr algn="l" indent="0" marL="0">
              <a:lnSpc>
                <a:spcPts val="1540"/>
              </a:lnSpc>
              <a:buNone/>
            </a:pPr>
            <a:r>
              <a:rPr lang="en-US" sz="1100" dirty="0">
                <a:solidFill>
                  <a:srgbClr val="3E475E"/>
                </a:solidFill>
                <a:latin typeface="Arial" pitchFamily="34" charset="0"/>
                <a:ea typeface="Arial" pitchFamily="34" charset="-122"/>
                <a:cs typeface="Arial" pitchFamily="34" charset="-120"/>
              </a:rPr>
              <a:t> Fire-rate limits, jump as a power-up, comeback rules.</a:t>
            </a:r>
            <a:endParaRPr lang="en-US" sz="1100" dirty="0"/>
          </a:p>
        </p:txBody>
      </p:sp>
      <p:sp>
        <p:nvSpPr>
          <p:cNvPr id="39" name="shape 22.38"/>
          <p:cNvSpPr/>
          <p:nvPr/>
        </p:nvSpPr>
        <p:spPr>
          <a:xfrm>
            <a:off x="8203995" y="4470288"/>
            <a:ext cx="660383" cy="190495"/>
          </a:xfrm>
          <a:prstGeom prst="roundRect">
            <a:avLst>
              <a:gd name="adj" fmla="val 50000"/>
            </a:avLst>
          </a:prstGeom>
          <a:solidFill>
            <a:srgbClr val="F1E9FF"/>
          </a:solidFill>
          <a:ln/>
        </p:spPr>
      </p:sp>
      <p:sp>
        <p:nvSpPr>
          <p:cNvPr id="40" name="text 22.39"/>
          <p:cNvSpPr txBox="1"/>
          <p:nvPr/>
        </p:nvSpPr>
        <p:spPr>
          <a:xfrm>
            <a:off x="8203995" y="4470288"/>
            <a:ext cx="660383" cy="1904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8F55F5"/>
                </a:solidFill>
                <a:latin typeface="Arial" pitchFamily="34" charset="0"/>
                <a:ea typeface="Arial" pitchFamily="34" charset="-122"/>
                <a:cs typeface="Arial" pitchFamily="34" charset="-120"/>
              </a:rPr>
              <a:t>RISK 03</a:t>
            </a:r>
            <a:endParaRPr lang="en-US" sz="650" dirty="0"/>
          </a:p>
        </p:txBody>
      </p:sp>
      <p:sp>
        <p:nvSpPr>
          <p:cNvPr id="41" name="text 22.40"/>
          <p:cNvSpPr txBox="1"/>
          <p:nvPr/>
        </p:nvSpPr>
        <p:spPr>
          <a:xfrm>
            <a:off x="8203995" y="4787780"/>
            <a:ext cx="769394" cy="215895"/>
          </a:xfrm>
          <a:prstGeom prst="rect">
            <a:avLst/>
          </a:prstGeom>
          <a:noFill/>
          <a:ln/>
        </p:spPr>
        <p:txBody>
          <a:bodyPr wrap="square" lIns="0" tIns="0" rIns="0" bIns="0" rtlCol="0" anchor="t"/>
          <a:lstStyle/>
          <a:p>
            <a:pPr algn="l" indent="0" marL="0">
              <a:lnSpc>
                <a:spcPts val="1700"/>
              </a:lnSpc>
              <a:buNone/>
            </a:pPr>
            <a:r>
              <a:rPr lang="en-US" sz="1700" dirty="0">
                <a:solidFill>
                  <a:srgbClr val="8F55F5"/>
                </a:solidFill>
                <a:latin typeface="Arial Rounded MT Bold" pitchFamily="34" charset="0"/>
                <a:ea typeface="Arial Rounded MT Bold" pitchFamily="34" charset="-122"/>
                <a:cs typeface="Arial Rounded MT Bold" pitchFamily="34" charset="-120"/>
              </a:rPr>
              <a:t>Scope</a:t>
            </a:r>
            <a:endParaRPr lang="en-US" sz="1700" dirty="0"/>
          </a:p>
        </p:txBody>
      </p:sp>
      <p:sp>
        <p:nvSpPr>
          <p:cNvPr id="42" name="text 22.41"/>
          <p:cNvSpPr txBox="1"/>
          <p:nvPr/>
        </p:nvSpPr>
        <p:spPr>
          <a:xfrm>
            <a:off x="8203995" y="5117972"/>
            <a:ext cx="3238419" cy="192781"/>
          </a:xfrm>
          <a:prstGeom prst="rect">
            <a:avLst/>
          </a:prstGeom>
          <a:noFill/>
          <a:ln/>
        </p:spPr>
        <p:txBody>
          <a:bodyPr wrap="square" lIns="0" tIns="0" rIns="0" bIns="0" rtlCol="0" anchor="t"/>
          <a:lstStyle/>
          <a:p>
            <a:pPr algn="l" indent="0" marL="0">
              <a:lnSpc>
                <a:spcPts val="1520"/>
              </a:lnSpc>
              <a:buNone/>
            </a:pPr>
            <a:r>
              <a:rPr lang="en-US" sz="1100" b="1" dirty="0">
                <a:solidFill>
                  <a:srgbClr val="1B2340"/>
                </a:solidFill>
                <a:latin typeface="Arial" pitchFamily="34" charset="0"/>
                <a:ea typeface="Arial" pitchFamily="34" charset="-122"/>
                <a:cs typeface="Arial" pitchFamily="34" charset="-120"/>
              </a:rPr>
              <a:t>Four mini-games by four people.</a:t>
            </a:r>
            <a:endParaRPr lang="en-US" sz="1100" dirty="0"/>
          </a:p>
        </p:txBody>
      </p:sp>
      <p:sp>
        <p:nvSpPr>
          <p:cNvPr id="43" name="text 22.42"/>
          <p:cNvSpPr txBox="1"/>
          <p:nvPr/>
        </p:nvSpPr>
        <p:spPr>
          <a:xfrm>
            <a:off x="8203995" y="5587860"/>
            <a:ext cx="3238419" cy="391111"/>
          </a:xfrm>
          <a:prstGeom prst="rect">
            <a:avLst/>
          </a:prstGeom>
          <a:noFill/>
          <a:ln/>
        </p:spPr>
        <p:txBody>
          <a:bodyPr wrap="square" lIns="0" tIns="0" rIns="0" bIns="0" rtlCol="0" anchor="t"/>
          <a:lstStyle/>
          <a:p>
            <a:pPr algn="l" indent="0" marL="0">
              <a:lnSpc>
                <a:spcPts val="1540"/>
              </a:lnSpc>
              <a:buNone/>
            </a:pPr>
            <a:r>
              <a:rPr lang="en-US" sz="1100" b="1" dirty="0">
                <a:solidFill>
                  <a:srgbClr val="8F55F5"/>
                </a:solidFill>
                <a:latin typeface="Arial" pitchFamily="34" charset="0"/>
                <a:ea typeface="Arial" pitchFamily="34" charset="-122"/>
                <a:cs typeface="Arial" pitchFamily="34" charset="-120"/>
              </a:rPr>
              <a:t>Plan:</a:t>
            </a:r>
            <a:pPr algn="l" indent="0" marL="0">
              <a:lnSpc>
                <a:spcPts val="1540"/>
              </a:lnSpc>
              <a:buNone/>
            </a:pPr>
            <a:r>
              <a:rPr lang="en-US" sz="1100" dirty="0">
                <a:solidFill>
                  <a:srgbClr val="3E475E"/>
                </a:solidFill>
                <a:latin typeface="Arial" pitchFamily="34" charset="0"/>
                <a:ea typeface="Arial" pitchFamily="34" charset="-122"/>
                <a:cs typeface="Arial" pitchFamily="34" charset="-120"/>
              </a:rPr>
              <a:t> One shared core first, small mini-games, extras only after the MVP.</a:t>
            </a:r>
            <a:endParaRPr lang="en-US" sz="1100" dirty="0"/>
          </a:p>
        </p:txBody>
      </p:sp>
      <p:pic>
        <p:nvPicPr>
          <p:cNvPr id="44" name="raster 22.43" descr="diagram">    </p:cNvPr>
          <p:cNvPicPr>
            <a:picLocks noChangeAspect="1"/>
          </p:cNvPicPr>
          <p:nvPr/>
        </p:nvPicPr>
        <p:blipFill>
          <a:blip r:embed="rId3"/>
          <a:stretch>
            <a:fillRect/>
          </a:stretch>
        </p:blipFill>
        <p:spPr>
          <a:xfrm>
            <a:off x="609585" y="266693"/>
            <a:ext cx="190495" cy="190495"/>
          </a:xfrm>
          <a:prstGeom prst="rect">
            <a:avLst/>
          </a:prstGeom>
        </p:spPr>
      </p:pic>
      <p:sp>
        <p:nvSpPr>
          <p:cNvPr id="45" name="text 22.44"/>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46" name="text 22.45"/>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47" name="text 22.46"/>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48" name="text 22.47"/>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22 / 28</a:t>
            </a:r>
            <a:endParaRPr lang="en-US" sz="750" dirty="0"/>
          </a:p>
        </p:txBody>
      </p:sp>
      <p:sp>
        <p:nvSpPr>
          <p:cNvPr id="49" name="text 22.48"/>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3.1"/>
          <p:cNvSpPr/>
          <p:nvPr/>
        </p:nvSpPr>
        <p:spPr>
          <a:xfrm>
            <a:off x="609585" y="2387540"/>
            <a:ext cx="10972526" cy="3809905"/>
          </a:xfrm>
          <a:prstGeom prst="roundRect">
            <a:avLst>
              <a:gd name="adj" fmla="val 4000"/>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pic>
        <p:nvPicPr>
          <p:cNvPr id="3" name="img 23.2 adj12963" descr="sp2_arena.png">    </p:cNvPr>
          <p:cNvPicPr>
            <a:picLocks noChangeAspect="1"/>
          </p:cNvPicPr>
          <p:nvPr/>
        </p:nvPicPr>
        <p:blipFill>
          <a:blip r:embed="rId2"/>
          <a:stretch>
            <a:fillRect/>
          </a:stretch>
        </p:blipFill>
        <p:spPr>
          <a:xfrm>
            <a:off x="2793930" y="2793930"/>
            <a:ext cx="1346166" cy="685783"/>
          </a:xfrm>
          <a:prstGeom prst="roundRect">
            <a:avLst>
              <a:gd name="adj" fmla="val 12963"/>
            </a:avLst>
          </a:prstGeom>
        </p:spPr>
      </p:pic>
      <p:sp>
        <p:nvSpPr>
          <p:cNvPr id="4" name="shape 23.3"/>
          <p:cNvSpPr/>
          <p:nvPr/>
        </p:nvSpPr>
        <p:spPr>
          <a:xfrm>
            <a:off x="800080" y="3555911"/>
            <a:ext cx="10591535" cy="12700"/>
          </a:xfrm>
          <a:prstGeom prst="roundRect">
            <a:avLst>
              <a:gd name="adj" fmla="val 49999"/>
            </a:avLst>
          </a:prstGeom>
          <a:solidFill>
            <a:srgbClr val="E4E9DD"/>
          </a:solidFill>
          <a:ln/>
        </p:spPr>
      </p:sp>
      <p:pic>
        <p:nvPicPr>
          <p:cNvPr id="5" name="img 23.4 adj12963" descr="sp2_parkour.png">    </p:cNvPr>
          <p:cNvPicPr>
            <a:picLocks noChangeAspect="1"/>
          </p:cNvPicPr>
          <p:nvPr/>
        </p:nvPicPr>
        <p:blipFill>
          <a:blip r:embed="rId3"/>
          <a:stretch>
            <a:fillRect/>
          </a:stretch>
        </p:blipFill>
        <p:spPr>
          <a:xfrm>
            <a:off x="2793930" y="3644809"/>
            <a:ext cx="1346166" cy="685783"/>
          </a:xfrm>
          <a:prstGeom prst="roundRect">
            <a:avLst>
              <a:gd name="adj" fmla="val 12963"/>
            </a:avLst>
          </a:prstGeom>
        </p:spPr>
      </p:pic>
      <p:sp>
        <p:nvSpPr>
          <p:cNvPr id="6" name="shape 23.5"/>
          <p:cNvSpPr/>
          <p:nvPr/>
        </p:nvSpPr>
        <p:spPr>
          <a:xfrm>
            <a:off x="800080" y="4406790"/>
            <a:ext cx="10591535" cy="12700"/>
          </a:xfrm>
          <a:prstGeom prst="roundRect">
            <a:avLst>
              <a:gd name="adj" fmla="val 49999"/>
            </a:avLst>
          </a:prstGeom>
          <a:solidFill>
            <a:srgbClr val="E4E9DD"/>
          </a:solidFill>
          <a:ln/>
        </p:spPr>
      </p:sp>
      <p:pic>
        <p:nvPicPr>
          <p:cNvPr id="7" name="img 23.6 adj12963" descr="sp2_iceloop.png">    </p:cNvPr>
          <p:cNvPicPr>
            <a:picLocks noChangeAspect="1"/>
          </p:cNvPicPr>
          <p:nvPr/>
        </p:nvPicPr>
        <p:blipFill>
          <a:blip r:embed="rId4"/>
          <a:stretch>
            <a:fillRect/>
          </a:stretch>
        </p:blipFill>
        <p:spPr>
          <a:xfrm>
            <a:off x="2793930" y="4495688"/>
            <a:ext cx="1346166" cy="685783"/>
          </a:xfrm>
          <a:prstGeom prst="roundRect">
            <a:avLst>
              <a:gd name="adj" fmla="val 12963"/>
            </a:avLst>
          </a:prstGeom>
        </p:spPr>
      </p:pic>
      <p:sp>
        <p:nvSpPr>
          <p:cNvPr id="8" name="shape 23.7"/>
          <p:cNvSpPr/>
          <p:nvPr/>
        </p:nvSpPr>
        <p:spPr>
          <a:xfrm>
            <a:off x="800080" y="5257669"/>
            <a:ext cx="10591535" cy="12700"/>
          </a:xfrm>
          <a:prstGeom prst="roundRect">
            <a:avLst>
              <a:gd name="adj" fmla="val 49999"/>
            </a:avLst>
          </a:prstGeom>
          <a:solidFill>
            <a:srgbClr val="E4E9DD"/>
          </a:solidFill>
          <a:ln/>
        </p:spPr>
      </p:sp>
      <p:pic>
        <p:nvPicPr>
          <p:cNvPr id="9" name="img 23.8 adj12963" descr="sp2_holegrab.png">    </p:cNvPr>
          <p:cNvPicPr>
            <a:picLocks noChangeAspect="1"/>
          </p:cNvPicPr>
          <p:nvPr/>
        </p:nvPicPr>
        <p:blipFill>
          <a:blip r:embed="rId5"/>
          <a:stretch>
            <a:fillRect/>
          </a:stretch>
        </p:blipFill>
        <p:spPr>
          <a:xfrm>
            <a:off x="2793930" y="5346566"/>
            <a:ext cx="1346166" cy="685783"/>
          </a:xfrm>
          <a:prstGeom prst="roundRect">
            <a:avLst>
              <a:gd name="adj" fmla="val 12963"/>
            </a:avLst>
          </a:prstGeom>
        </p:spPr>
      </p:pic>
      <p:sp>
        <p:nvSpPr>
          <p:cNvPr id="10" name="text 23.9"/>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Everyone designs a mini-game</a:t>
            </a:r>
            <a:endParaRPr lang="en-US" sz="3000" dirty="0"/>
          </a:p>
        </p:txBody>
      </p:sp>
      <p:sp>
        <p:nvSpPr>
          <p:cNvPr id="11" name="text 23.10"/>
          <p:cNvSpPr txBox="1"/>
          <p:nvPr/>
        </p:nvSpPr>
        <p:spPr>
          <a:xfrm>
            <a:off x="609585" y="1358866"/>
            <a:ext cx="11694376" cy="231452"/>
          </a:xfrm>
          <a:prstGeom prst="rect">
            <a:avLst/>
          </a:prstGeom>
          <a:noFill/>
          <a:ln/>
        </p:spPr>
        <p:txBody>
          <a:bodyPr wrap="square" lIns="0" tIns="0" rIns="0" bIns="0" rtlCol="0" anchor="t"/>
          <a:lstStyle/>
          <a:p>
            <a:pPr algn="l" indent="0" marL="0">
              <a:lnSpc>
                <a:spcPts val="1820"/>
              </a:lnSpc>
              <a:buNone/>
            </a:pPr>
            <a:r>
              <a:rPr lang="en-US" sz="1350" b="1" dirty="0">
                <a:solidFill>
                  <a:srgbClr val="1B2340"/>
                </a:solidFill>
                <a:latin typeface="Arial" pitchFamily="34" charset="0"/>
                <a:ea typeface="Arial" pitchFamily="34" charset="-122"/>
                <a:cs typeface="Arial" pitchFamily="34" charset="-120"/>
              </a:rPr>
              <a:t>One mini-game and its shot each, </a:t>
            </a:r>
            <a:pPr algn="l" indent="0" marL="0">
              <a:lnSpc>
                <a:spcPts val="1820"/>
              </a:lnSpc>
              <a:buNone/>
            </a:pPr>
            <a:r>
              <a:rPr lang="en-US" sz="1350" b="1" dirty="0">
                <a:solidFill>
                  <a:srgbClr val="1FA9EA"/>
                </a:solidFill>
                <a:latin typeface="Arial" pitchFamily="34" charset="0"/>
                <a:ea typeface="Arial" pitchFamily="34" charset="-122"/>
                <a:cs typeface="Arial" pitchFamily="34" charset="-120"/>
              </a:rPr>
              <a:t>plus one shared system.</a:t>
            </a:r>
            <a:endParaRPr lang="en-US" sz="1350" dirty="0"/>
          </a:p>
        </p:txBody>
      </p:sp>
      <p:sp>
        <p:nvSpPr>
          <p:cNvPr id="12" name="text 23.11"/>
          <p:cNvSpPr txBox="1"/>
          <p:nvPr/>
        </p:nvSpPr>
        <p:spPr>
          <a:xfrm>
            <a:off x="609585" y="1777956"/>
            <a:ext cx="11010625" cy="423455"/>
          </a:xfrm>
          <a:prstGeom prst="rect">
            <a:avLst/>
          </a:prstGeom>
          <a:noFill/>
          <a:ln/>
        </p:spPr>
        <p:txBody>
          <a:bodyPr wrap="square" lIns="0" tIns="0" rIns="0" bIns="0" rtlCol="0" anchor="t"/>
          <a:lstStyle/>
          <a:p>
            <a:pPr algn="l" indent="0" marL="0">
              <a:lnSpc>
                <a:spcPts val="1670"/>
              </a:lnSpc>
              <a:buNone/>
            </a:pPr>
            <a:r>
              <a:rPr lang="en-US" sz="1150" dirty="0">
                <a:solidFill>
                  <a:srgbClr val="3E475E"/>
                </a:solidFill>
                <a:latin typeface="Arial" pitchFamily="34" charset="0"/>
                <a:ea typeface="Arial" pitchFamily="34" charset="-122"/>
                <a:cs typeface="Arial" pitchFamily="34" charset="-120"/>
              </a:rPr>
              <a:t>Each member designs and builds at least one mini-game, including what the shot does in it (a hit, a jump or momentum), and finds its assets. Each also owns one shared system.</a:t>
            </a:r>
            <a:endParaRPr lang="en-US" sz="1150" dirty="0"/>
          </a:p>
        </p:txBody>
      </p:sp>
      <p:sp>
        <p:nvSpPr>
          <p:cNvPr id="13" name="text 23.12"/>
          <p:cNvSpPr txBox="1"/>
          <p:nvPr/>
        </p:nvSpPr>
        <p:spPr>
          <a:xfrm>
            <a:off x="863578" y="2539937"/>
            <a:ext cx="550222"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MEMBER</a:t>
            </a:r>
            <a:endParaRPr lang="en-US" sz="700" dirty="0"/>
          </a:p>
        </p:txBody>
      </p:sp>
      <p:sp>
        <p:nvSpPr>
          <p:cNvPr id="14" name="text 23.13"/>
          <p:cNvSpPr txBox="1"/>
          <p:nvPr/>
        </p:nvSpPr>
        <p:spPr>
          <a:xfrm>
            <a:off x="4381390" y="2539937"/>
            <a:ext cx="151283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MINI-GAME AND ITS SHOT</a:t>
            </a:r>
            <a:endParaRPr lang="en-US" sz="700" dirty="0"/>
          </a:p>
        </p:txBody>
      </p:sp>
      <p:sp>
        <p:nvSpPr>
          <p:cNvPr id="15" name="text 23.14"/>
          <p:cNvSpPr txBox="1"/>
          <p:nvPr/>
        </p:nvSpPr>
        <p:spPr>
          <a:xfrm>
            <a:off x="8254794" y="2539937"/>
            <a:ext cx="1022116"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SHARED SYSTEM</a:t>
            </a:r>
            <a:endParaRPr lang="en-US" sz="700" dirty="0"/>
          </a:p>
        </p:txBody>
      </p:sp>
      <p:sp>
        <p:nvSpPr>
          <p:cNvPr id="16" name="shape 23.15"/>
          <p:cNvSpPr/>
          <p:nvPr/>
        </p:nvSpPr>
        <p:spPr>
          <a:xfrm>
            <a:off x="863578" y="3022524"/>
            <a:ext cx="228594" cy="228594"/>
          </a:xfrm>
          <a:prstGeom prst="roundRect">
            <a:avLst>
              <a:gd name="adj" fmla="val 27778"/>
            </a:avLst>
          </a:prstGeom>
          <a:solidFill>
            <a:srgbClr val="1FA9EA"/>
          </a:solidFill>
          <a:ln/>
        </p:spPr>
      </p:sp>
      <p:sp>
        <p:nvSpPr>
          <p:cNvPr id="17" name="text 23.16"/>
          <p:cNvSpPr txBox="1"/>
          <p:nvPr/>
        </p:nvSpPr>
        <p:spPr>
          <a:xfrm>
            <a:off x="1206470" y="3047924"/>
            <a:ext cx="1227722" cy="190495"/>
          </a:xfrm>
          <a:prstGeom prst="rect">
            <a:avLst/>
          </a:prstGeom>
          <a:noFill/>
          <a:ln/>
        </p:spPr>
        <p:txBody>
          <a:bodyPr wrap="square" lIns="0" tIns="0" rIns="0" bIns="0" rtlCol="0" anchor="t"/>
          <a:lstStyle/>
          <a:p>
            <a:pPr algn="l" indent="0" marL="0">
              <a:lnSpc>
                <a:spcPts val="1500"/>
              </a:lnSpc>
              <a:buNone/>
            </a:pPr>
            <a:r>
              <a:rPr lang="en-US" sz="1500" dirty="0">
                <a:solidFill>
                  <a:srgbClr val="1FA9EA"/>
                </a:solidFill>
                <a:latin typeface="Arial Rounded MT Bold" pitchFamily="34" charset="0"/>
                <a:ea typeface="Arial Rounded MT Bold" pitchFamily="34" charset="-122"/>
                <a:cs typeface="Arial Rounded MT Bold" pitchFamily="34" charset="-120"/>
              </a:rPr>
              <a:t>Abdurrahim</a:t>
            </a:r>
            <a:endParaRPr lang="en-US" sz="1500" dirty="0"/>
          </a:p>
        </p:txBody>
      </p:sp>
      <p:sp>
        <p:nvSpPr>
          <p:cNvPr id="18" name="text 23.17"/>
          <p:cNvSpPr txBox="1"/>
          <p:nvPr/>
        </p:nvSpPr>
        <p:spPr>
          <a:xfrm>
            <a:off x="4381390" y="2946326"/>
            <a:ext cx="3721007" cy="204465"/>
          </a:xfrm>
          <a:prstGeom prst="rect">
            <a:avLst/>
          </a:prstGeom>
          <a:noFill/>
          <a:ln/>
        </p:spPr>
        <p:txBody>
          <a:bodyPr wrap="square" lIns="0" tIns="0" rIns="0" bIns="0" rtlCol="0" anchor="t"/>
          <a:lstStyle/>
          <a:p>
            <a:pPr algn="l" indent="0" marL="0">
              <a:lnSpc>
                <a:spcPts val="1610"/>
              </a:lnSpc>
              <a:buNone/>
            </a:pPr>
            <a:r>
              <a:rPr lang="en-US" sz="1150" b="1" dirty="0">
                <a:solidFill>
                  <a:srgbClr val="1B2340"/>
                </a:solidFill>
                <a:latin typeface="Arial" pitchFamily="34" charset="0"/>
                <a:ea typeface="Arial" pitchFamily="34" charset="-122"/>
                <a:cs typeface="Arial" pitchFamily="34" charset="-120"/>
              </a:rPr>
              <a:t>Knockback Arena:</a:t>
            </a:r>
            <a:pPr algn="l" indent="0" marL="0">
              <a:lnSpc>
                <a:spcPts val="1610"/>
              </a:lnSpc>
              <a:buNone/>
            </a:pPr>
            <a:r>
              <a:rPr lang="en-US" sz="1150" dirty="0">
                <a:solidFill>
                  <a:srgbClr val="3E475E"/>
                </a:solidFill>
                <a:latin typeface="Arial" pitchFamily="34" charset="0"/>
                <a:ea typeface="Arial" pitchFamily="34" charset="-122"/>
                <a:cs typeface="Arial" pitchFamily="34" charset="-120"/>
              </a:rPr>
              <a:t> knockback and mass loss</a:t>
            </a:r>
            <a:endParaRPr lang="en-US" sz="1150" dirty="0"/>
          </a:p>
        </p:txBody>
      </p:sp>
      <p:sp>
        <p:nvSpPr>
          <p:cNvPr id="19" name="text 23.18"/>
          <p:cNvSpPr txBox="1"/>
          <p:nvPr/>
        </p:nvSpPr>
        <p:spPr>
          <a:xfrm>
            <a:off x="8254794" y="2946326"/>
            <a:ext cx="3149521" cy="204465"/>
          </a:xfrm>
          <a:prstGeom prst="rect">
            <a:avLst/>
          </a:prstGeom>
          <a:noFill/>
          <a:ln/>
        </p:spPr>
        <p:txBody>
          <a:bodyPr wrap="square" lIns="0" tIns="0" rIns="0" bIns="0" rtlCol="0" anchor="t"/>
          <a:lstStyle/>
          <a:p>
            <a:pPr algn="l" indent="0" marL="0">
              <a:lnSpc>
                <a:spcPts val="1610"/>
              </a:lnSpc>
              <a:buNone/>
            </a:pPr>
            <a:r>
              <a:rPr lang="en-US" sz="1150" dirty="0">
                <a:solidFill>
                  <a:srgbClr val="3E475E"/>
                </a:solidFill>
                <a:latin typeface="Arial" pitchFamily="34" charset="0"/>
                <a:ea typeface="Arial" pitchFamily="34" charset="-122"/>
                <a:cs typeface="Arial" pitchFamily="34" charset="-120"/>
              </a:rPr>
              <a:t>Core mechanics prototype; scoreboard system</a:t>
            </a:r>
            <a:endParaRPr lang="en-US" sz="1150" dirty="0"/>
          </a:p>
        </p:txBody>
      </p:sp>
      <p:sp>
        <p:nvSpPr>
          <p:cNvPr id="20" name="shape 23.19"/>
          <p:cNvSpPr/>
          <p:nvPr/>
        </p:nvSpPr>
        <p:spPr>
          <a:xfrm>
            <a:off x="863578" y="3873403"/>
            <a:ext cx="228594" cy="228594"/>
          </a:xfrm>
          <a:prstGeom prst="roundRect">
            <a:avLst>
              <a:gd name="adj" fmla="val 27778"/>
            </a:avLst>
          </a:prstGeom>
          <a:solidFill>
            <a:srgbClr val="8F55F5"/>
          </a:solidFill>
          <a:ln/>
        </p:spPr>
      </p:sp>
      <p:sp>
        <p:nvSpPr>
          <p:cNvPr id="21" name="text 23.20"/>
          <p:cNvSpPr txBox="1"/>
          <p:nvPr/>
        </p:nvSpPr>
        <p:spPr>
          <a:xfrm>
            <a:off x="1206470" y="3898803"/>
            <a:ext cx="527610" cy="190495"/>
          </a:xfrm>
          <a:prstGeom prst="rect">
            <a:avLst/>
          </a:prstGeom>
          <a:noFill/>
          <a:ln/>
        </p:spPr>
        <p:txBody>
          <a:bodyPr wrap="square" lIns="0" tIns="0" rIns="0" bIns="0" rtlCol="0" anchor="t"/>
          <a:lstStyle/>
          <a:p>
            <a:pPr algn="l" indent="0" marL="0">
              <a:lnSpc>
                <a:spcPts val="1500"/>
              </a:lnSpc>
              <a:buNone/>
            </a:pPr>
            <a:r>
              <a:rPr lang="en-US" sz="1500" dirty="0">
                <a:solidFill>
                  <a:srgbClr val="8F55F5"/>
                </a:solidFill>
                <a:latin typeface="Arial Rounded MT Bold" pitchFamily="34" charset="0"/>
                <a:ea typeface="Arial Rounded MT Bold" pitchFamily="34" charset="-122"/>
                <a:cs typeface="Arial Rounded MT Bold" pitchFamily="34" charset="-120"/>
              </a:rPr>
              <a:t>Ardıl</a:t>
            </a:r>
            <a:endParaRPr lang="en-US" sz="1500" dirty="0"/>
          </a:p>
        </p:txBody>
      </p:sp>
      <p:sp>
        <p:nvSpPr>
          <p:cNvPr id="22" name="text 23.21"/>
          <p:cNvSpPr txBox="1"/>
          <p:nvPr/>
        </p:nvSpPr>
        <p:spPr>
          <a:xfrm>
            <a:off x="4381390" y="3797205"/>
            <a:ext cx="3721007" cy="204465"/>
          </a:xfrm>
          <a:prstGeom prst="rect">
            <a:avLst/>
          </a:prstGeom>
          <a:noFill/>
          <a:ln/>
        </p:spPr>
        <p:txBody>
          <a:bodyPr wrap="square" lIns="0" tIns="0" rIns="0" bIns="0" rtlCol="0" anchor="t"/>
          <a:lstStyle/>
          <a:p>
            <a:pPr algn="l" indent="0" marL="0">
              <a:lnSpc>
                <a:spcPts val="1610"/>
              </a:lnSpc>
              <a:buNone/>
            </a:pPr>
            <a:r>
              <a:rPr lang="en-US" sz="1150" b="1" dirty="0">
                <a:solidFill>
                  <a:srgbClr val="1B2340"/>
                </a:solidFill>
                <a:latin typeface="Arial" pitchFamily="34" charset="0"/>
                <a:ea typeface="Arial" pitchFamily="34" charset="-122"/>
                <a:cs typeface="Arial" pitchFamily="34" charset="-120"/>
              </a:rPr>
              <a:t>Blast Parkour:</a:t>
            </a:r>
            <a:pPr algn="l" indent="0" marL="0">
              <a:lnSpc>
                <a:spcPts val="1610"/>
              </a:lnSpc>
              <a:buNone/>
            </a:pPr>
            <a:r>
              <a:rPr lang="en-US" sz="1150" dirty="0">
                <a:solidFill>
                  <a:srgbClr val="3E475E"/>
                </a:solidFill>
                <a:latin typeface="Arial" pitchFamily="34" charset="0"/>
                <a:ea typeface="Arial" pitchFamily="34" charset="-122"/>
                <a:cs typeface="Arial" pitchFamily="34" charset="-120"/>
              </a:rPr>
              <a:t> blast jump and charged shot</a:t>
            </a:r>
            <a:endParaRPr lang="en-US" sz="1150" dirty="0"/>
          </a:p>
        </p:txBody>
      </p:sp>
      <p:sp>
        <p:nvSpPr>
          <p:cNvPr id="23" name="text 23.22"/>
          <p:cNvSpPr txBox="1"/>
          <p:nvPr/>
        </p:nvSpPr>
        <p:spPr>
          <a:xfrm>
            <a:off x="8254794" y="3797205"/>
            <a:ext cx="3149521" cy="204465"/>
          </a:xfrm>
          <a:prstGeom prst="rect">
            <a:avLst/>
          </a:prstGeom>
          <a:noFill/>
          <a:ln/>
        </p:spPr>
        <p:txBody>
          <a:bodyPr wrap="square" lIns="0" tIns="0" rIns="0" bIns="0" rtlCol="0" anchor="t"/>
          <a:lstStyle/>
          <a:p>
            <a:pPr algn="l" indent="0" marL="0">
              <a:lnSpc>
                <a:spcPts val="1610"/>
              </a:lnSpc>
              <a:buNone/>
            </a:pPr>
            <a:r>
              <a:rPr lang="en-US" sz="1150" dirty="0">
                <a:solidFill>
                  <a:srgbClr val="3E475E"/>
                </a:solidFill>
                <a:latin typeface="Arial" pitchFamily="34" charset="0"/>
                <a:ea typeface="Arial" pitchFamily="34" charset="-122"/>
                <a:cs typeface="Arial" pitchFamily="34" charset="-120"/>
              </a:rPr>
              <a:t>Menus; promo video</a:t>
            </a:r>
            <a:endParaRPr lang="en-US" sz="1150" dirty="0"/>
          </a:p>
        </p:txBody>
      </p:sp>
      <p:sp>
        <p:nvSpPr>
          <p:cNvPr id="24" name="shape 23.23"/>
          <p:cNvSpPr/>
          <p:nvPr/>
        </p:nvSpPr>
        <p:spPr>
          <a:xfrm>
            <a:off x="863578" y="4724282"/>
            <a:ext cx="228594" cy="228594"/>
          </a:xfrm>
          <a:prstGeom prst="roundRect">
            <a:avLst>
              <a:gd name="adj" fmla="val 27778"/>
            </a:avLst>
          </a:prstGeom>
          <a:solidFill>
            <a:srgbClr val="43B832"/>
          </a:solidFill>
          <a:ln/>
        </p:spPr>
      </p:sp>
      <p:sp>
        <p:nvSpPr>
          <p:cNvPr id="25" name="text 23.24"/>
          <p:cNvSpPr txBox="1"/>
          <p:nvPr/>
        </p:nvSpPr>
        <p:spPr>
          <a:xfrm>
            <a:off x="1206470" y="4749681"/>
            <a:ext cx="703138" cy="190495"/>
          </a:xfrm>
          <a:prstGeom prst="rect">
            <a:avLst/>
          </a:prstGeom>
          <a:noFill/>
          <a:ln/>
        </p:spPr>
        <p:txBody>
          <a:bodyPr wrap="square" lIns="0" tIns="0" rIns="0" bIns="0" rtlCol="0" anchor="t"/>
          <a:lstStyle/>
          <a:p>
            <a:pPr algn="l" indent="0" marL="0">
              <a:lnSpc>
                <a:spcPts val="1500"/>
              </a:lnSpc>
              <a:buNone/>
            </a:pPr>
            <a:r>
              <a:rPr lang="en-US" sz="1500" dirty="0">
                <a:solidFill>
                  <a:srgbClr val="43B832"/>
                </a:solidFill>
                <a:latin typeface="Arial Rounded MT Bold" pitchFamily="34" charset="0"/>
                <a:ea typeface="Arial Rounded MT Bold" pitchFamily="34" charset="-122"/>
                <a:cs typeface="Arial Rounded MT Bold" pitchFamily="34" charset="-120"/>
              </a:rPr>
              <a:t>Kürşat</a:t>
            </a:r>
            <a:endParaRPr lang="en-US" sz="1500" dirty="0"/>
          </a:p>
        </p:txBody>
      </p:sp>
      <p:sp>
        <p:nvSpPr>
          <p:cNvPr id="26" name="text 23.25"/>
          <p:cNvSpPr txBox="1"/>
          <p:nvPr/>
        </p:nvSpPr>
        <p:spPr>
          <a:xfrm>
            <a:off x="4381390" y="4648084"/>
            <a:ext cx="3721007" cy="204465"/>
          </a:xfrm>
          <a:prstGeom prst="rect">
            <a:avLst/>
          </a:prstGeom>
          <a:noFill/>
          <a:ln/>
        </p:spPr>
        <p:txBody>
          <a:bodyPr wrap="square" lIns="0" tIns="0" rIns="0" bIns="0" rtlCol="0" anchor="t"/>
          <a:lstStyle/>
          <a:p>
            <a:pPr algn="l" indent="0" marL="0">
              <a:lnSpc>
                <a:spcPts val="1610"/>
              </a:lnSpc>
              <a:buNone/>
            </a:pPr>
            <a:r>
              <a:rPr lang="en-US" sz="1150" b="1" dirty="0">
                <a:solidFill>
                  <a:srgbClr val="1B2340"/>
                </a:solidFill>
                <a:latin typeface="Arial" pitchFamily="34" charset="0"/>
                <a:ea typeface="Arial" pitchFamily="34" charset="-122"/>
                <a:cs typeface="Arial" pitchFamily="34" charset="-120"/>
              </a:rPr>
              <a:t>Ice Loop:</a:t>
            </a:r>
            <a:pPr algn="l" indent="0" marL="0">
              <a:lnSpc>
                <a:spcPts val="1610"/>
              </a:lnSpc>
              <a:buNone/>
            </a:pPr>
            <a:r>
              <a:rPr lang="en-US" sz="1150" dirty="0">
                <a:solidFill>
                  <a:srgbClr val="3E475E"/>
                </a:solidFill>
                <a:latin typeface="Arial" pitchFamily="34" charset="0"/>
                <a:ea typeface="Arial" pitchFamily="34" charset="-122"/>
                <a:cs typeface="Arial" pitchFamily="34" charset="-120"/>
              </a:rPr>
              <a:t> push and recoil momentum</a:t>
            </a:r>
            <a:endParaRPr lang="en-US" sz="1150" dirty="0"/>
          </a:p>
        </p:txBody>
      </p:sp>
      <p:sp>
        <p:nvSpPr>
          <p:cNvPr id="27" name="text 23.26"/>
          <p:cNvSpPr txBox="1"/>
          <p:nvPr/>
        </p:nvSpPr>
        <p:spPr>
          <a:xfrm>
            <a:off x="8254794" y="4648084"/>
            <a:ext cx="3149521" cy="204465"/>
          </a:xfrm>
          <a:prstGeom prst="rect">
            <a:avLst/>
          </a:prstGeom>
          <a:noFill/>
          <a:ln/>
        </p:spPr>
        <p:txBody>
          <a:bodyPr wrap="square" lIns="0" tIns="0" rIns="0" bIns="0" rtlCol="0" anchor="t"/>
          <a:lstStyle/>
          <a:p>
            <a:pPr algn="l" indent="0" marL="0">
              <a:lnSpc>
                <a:spcPts val="1610"/>
              </a:lnSpc>
              <a:buNone/>
            </a:pPr>
            <a:r>
              <a:rPr lang="en-US" sz="1150" dirty="0">
                <a:solidFill>
                  <a:srgbClr val="3E475E"/>
                </a:solidFill>
                <a:latin typeface="Arial" pitchFamily="34" charset="0"/>
                <a:ea typeface="Arial" pitchFamily="34" charset="-122"/>
                <a:cs typeface="Arial" pitchFamily="34" charset="-120"/>
              </a:rPr>
              <a:t>UI design; sound and music</a:t>
            </a:r>
            <a:endParaRPr lang="en-US" sz="1150" dirty="0"/>
          </a:p>
        </p:txBody>
      </p:sp>
      <p:sp>
        <p:nvSpPr>
          <p:cNvPr id="28" name="shape 23.27"/>
          <p:cNvSpPr/>
          <p:nvPr/>
        </p:nvSpPr>
        <p:spPr>
          <a:xfrm>
            <a:off x="863578" y="5575161"/>
            <a:ext cx="228594" cy="228594"/>
          </a:xfrm>
          <a:prstGeom prst="roundRect">
            <a:avLst>
              <a:gd name="adj" fmla="val 27778"/>
            </a:avLst>
          </a:prstGeom>
          <a:solidFill>
            <a:srgbClr val="FF6B1F"/>
          </a:solidFill>
          <a:ln/>
        </p:spPr>
      </p:sp>
      <p:sp>
        <p:nvSpPr>
          <p:cNvPr id="29" name="text 23.28"/>
          <p:cNvSpPr txBox="1"/>
          <p:nvPr/>
        </p:nvSpPr>
        <p:spPr>
          <a:xfrm>
            <a:off x="1206470" y="5600560"/>
            <a:ext cx="475446"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Ezel</a:t>
            </a:r>
            <a:endParaRPr lang="en-US" sz="1500" dirty="0"/>
          </a:p>
        </p:txBody>
      </p:sp>
      <p:sp>
        <p:nvSpPr>
          <p:cNvPr id="30" name="text 23.29"/>
          <p:cNvSpPr txBox="1"/>
          <p:nvPr/>
        </p:nvSpPr>
        <p:spPr>
          <a:xfrm>
            <a:off x="4381390" y="5498963"/>
            <a:ext cx="3721007" cy="204465"/>
          </a:xfrm>
          <a:prstGeom prst="rect">
            <a:avLst/>
          </a:prstGeom>
          <a:noFill/>
          <a:ln/>
        </p:spPr>
        <p:txBody>
          <a:bodyPr wrap="square" lIns="0" tIns="0" rIns="0" bIns="0" rtlCol="0" anchor="t"/>
          <a:lstStyle/>
          <a:p>
            <a:pPr algn="l" indent="0" marL="0">
              <a:lnSpc>
                <a:spcPts val="1610"/>
              </a:lnSpc>
              <a:buNone/>
            </a:pPr>
            <a:r>
              <a:rPr lang="en-US" sz="1150" b="1" dirty="0">
                <a:solidFill>
                  <a:srgbClr val="1B2340"/>
                </a:solidFill>
                <a:latin typeface="Arial" pitchFamily="34" charset="0"/>
                <a:ea typeface="Arial" pitchFamily="34" charset="-122"/>
                <a:cs typeface="Arial" pitchFamily="34" charset="-120"/>
              </a:rPr>
              <a:t>Hole Grab:</a:t>
            </a:r>
            <a:pPr algn="l" indent="0" marL="0">
              <a:lnSpc>
                <a:spcPts val="1610"/>
              </a:lnSpc>
              <a:buNone/>
            </a:pPr>
            <a:r>
              <a:rPr lang="en-US" sz="1150" dirty="0">
                <a:solidFill>
                  <a:srgbClr val="3E475E"/>
                </a:solidFill>
                <a:latin typeface="Arial" pitchFamily="34" charset="0"/>
                <a:ea typeface="Arial" pitchFamily="34" charset="-122"/>
                <a:cs typeface="Arial" pitchFamily="34" charset="-120"/>
              </a:rPr>
              <a:t> push rivals away from holes</a:t>
            </a:r>
            <a:endParaRPr lang="en-US" sz="1150" dirty="0"/>
          </a:p>
        </p:txBody>
      </p:sp>
      <p:sp>
        <p:nvSpPr>
          <p:cNvPr id="31" name="text 23.30"/>
          <p:cNvSpPr txBox="1"/>
          <p:nvPr/>
        </p:nvSpPr>
        <p:spPr>
          <a:xfrm>
            <a:off x="8254794" y="5498963"/>
            <a:ext cx="3149521" cy="408771"/>
          </a:xfrm>
          <a:prstGeom prst="rect">
            <a:avLst/>
          </a:prstGeom>
          <a:noFill/>
          <a:ln/>
        </p:spPr>
        <p:txBody>
          <a:bodyPr wrap="square" lIns="0" tIns="0" rIns="0" bIns="0" rtlCol="0" anchor="t"/>
          <a:lstStyle/>
          <a:p>
            <a:pPr algn="l" indent="0" marL="0">
              <a:lnSpc>
                <a:spcPts val="1610"/>
              </a:lnSpc>
              <a:buNone/>
            </a:pPr>
            <a:r>
              <a:rPr lang="en-US" sz="1150" dirty="0">
                <a:solidFill>
                  <a:srgbClr val="3E475E"/>
                </a:solidFill>
                <a:latin typeface="Arial" pitchFamily="34" charset="0"/>
                <a:ea typeface="Arial" pitchFamily="34" charset="-122"/>
                <a:cs typeface="Arial" pitchFamily="34" charset="-120"/>
              </a:rPr>
              <a:t>Online system (research and build); sound and music</a:t>
            </a:r>
            <a:endParaRPr lang="en-US" sz="1150" dirty="0"/>
          </a:p>
        </p:txBody>
      </p:sp>
      <p:sp>
        <p:nvSpPr>
          <p:cNvPr id="32" name="text 23.31"/>
          <p:cNvSpPr txBox="1"/>
          <p:nvPr/>
        </p:nvSpPr>
        <p:spPr>
          <a:xfrm>
            <a:off x="609585" y="6351131"/>
            <a:ext cx="11694376" cy="151126"/>
          </a:xfrm>
          <a:prstGeom prst="rect">
            <a:avLst/>
          </a:prstGeom>
          <a:noFill/>
          <a:ln/>
        </p:spPr>
        <p:txBody>
          <a:bodyPr wrap="square" lIns="0" tIns="0" rIns="0" bIns="0" rtlCol="0" anchor="t"/>
          <a:lstStyle/>
          <a:p>
            <a:pPr algn="l" indent="0" marL="0">
              <a:lnSpc>
                <a:spcPts val="1190"/>
              </a:lnSpc>
              <a:buNone/>
            </a:pPr>
            <a:r>
              <a:rPr lang="en-US" sz="850" dirty="0">
                <a:solidFill>
                  <a:srgbClr val="6F778C"/>
                </a:solidFill>
                <a:latin typeface="Arial" pitchFamily="34" charset="0"/>
                <a:ea typeface="Arial" pitchFamily="34" charset="-122"/>
                <a:cs typeface="Arial" pitchFamily="34" charset="-120"/>
              </a:rPr>
              <a:t>Mini-game assignments are a proposal; Battle is next in line once the four are fun.</a:t>
            </a:r>
            <a:endParaRPr lang="en-US" sz="850" dirty="0"/>
          </a:p>
        </p:txBody>
      </p:sp>
      <p:pic>
        <p:nvPicPr>
          <p:cNvPr id="33" name="raster 23.32" descr="diagram">    </p:cNvPr>
          <p:cNvPicPr>
            <a:picLocks noChangeAspect="1"/>
          </p:cNvPicPr>
          <p:nvPr/>
        </p:nvPicPr>
        <p:blipFill>
          <a:blip r:embed="rId6"/>
          <a:stretch>
            <a:fillRect/>
          </a:stretch>
        </p:blipFill>
        <p:spPr>
          <a:xfrm>
            <a:off x="609585" y="266693"/>
            <a:ext cx="190495" cy="190495"/>
          </a:xfrm>
          <a:prstGeom prst="rect">
            <a:avLst/>
          </a:prstGeom>
        </p:spPr>
      </p:pic>
      <p:sp>
        <p:nvSpPr>
          <p:cNvPr id="34" name="text 23.33"/>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35" name="text 23.34"/>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36" name="text 23.35"/>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37" name="text 23.36"/>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23 / 28</a:t>
            </a:r>
            <a:endParaRPr lang="en-US" sz="750" dirty="0"/>
          </a:p>
        </p:txBody>
      </p:sp>
      <p:sp>
        <p:nvSpPr>
          <p:cNvPr id="38" name="text 23.37"/>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4.1"/>
          <p:cNvSpPr/>
          <p:nvPr/>
        </p:nvSpPr>
        <p:spPr>
          <a:xfrm>
            <a:off x="609585" y="1765256"/>
            <a:ext cx="10972526" cy="4546486"/>
          </a:xfrm>
          <a:prstGeom prst="roundRect">
            <a:avLst>
              <a:gd name="adj" fmla="val 3352"/>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4.2"/>
          <p:cNvSpPr/>
          <p:nvPr/>
        </p:nvSpPr>
        <p:spPr>
          <a:xfrm>
            <a:off x="698483" y="2565336"/>
            <a:ext cx="10794730" cy="292093"/>
          </a:xfrm>
          <a:prstGeom prst="roundRect">
            <a:avLst>
              <a:gd name="adj" fmla="val 30435"/>
            </a:avLst>
          </a:prstGeom>
          <a:solidFill>
            <a:srgbClr val="F1F5EA"/>
          </a:solidFill>
          <a:ln/>
        </p:spPr>
      </p:sp>
      <p:pic>
        <p:nvPicPr>
          <p:cNvPr id="4" name="raster 24.3" descr="diagram">    </p:cNvPr>
          <p:cNvPicPr>
            <a:picLocks noChangeAspect="1"/>
          </p:cNvPicPr>
          <p:nvPr/>
        </p:nvPicPr>
        <p:blipFill>
          <a:blip r:embed="rId2"/>
          <a:stretch>
            <a:fillRect/>
          </a:stretch>
        </p:blipFill>
        <p:spPr>
          <a:xfrm>
            <a:off x="6502237" y="2819330"/>
            <a:ext cx="4978276" cy="3428914"/>
          </a:xfrm>
          <a:prstGeom prst="rect">
            <a:avLst/>
          </a:prstGeom>
        </p:spPr>
      </p:pic>
      <p:sp>
        <p:nvSpPr>
          <p:cNvPr id="5" name="shape 24.4"/>
          <p:cNvSpPr/>
          <p:nvPr/>
        </p:nvSpPr>
        <p:spPr>
          <a:xfrm>
            <a:off x="761981" y="3213020"/>
            <a:ext cx="5714857" cy="9525"/>
          </a:xfrm>
          <a:prstGeom prst="rect">
            <a:avLst/>
          </a:prstGeom>
          <a:solidFill>
            <a:srgbClr val="EEF1EA"/>
          </a:solidFill>
          <a:ln/>
        </p:spPr>
      </p:sp>
      <p:sp>
        <p:nvSpPr>
          <p:cNvPr id="6" name="shape 24.5"/>
          <p:cNvSpPr/>
          <p:nvPr/>
        </p:nvSpPr>
        <p:spPr>
          <a:xfrm>
            <a:off x="761981" y="3543211"/>
            <a:ext cx="5714857" cy="9525"/>
          </a:xfrm>
          <a:prstGeom prst="rect">
            <a:avLst/>
          </a:prstGeom>
          <a:solidFill>
            <a:srgbClr val="EEF1EA"/>
          </a:solidFill>
          <a:ln/>
        </p:spPr>
      </p:sp>
      <p:sp>
        <p:nvSpPr>
          <p:cNvPr id="7" name="shape 24.6"/>
          <p:cNvSpPr/>
          <p:nvPr/>
        </p:nvSpPr>
        <p:spPr>
          <a:xfrm>
            <a:off x="761981" y="3873403"/>
            <a:ext cx="5714857" cy="9525"/>
          </a:xfrm>
          <a:prstGeom prst="rect">
            <a:avLst/>
          </a:prstGeom>
          <a:solidFill>
            <a:srgbClr val="EEF1EA"/>
          </a:solidFill>
          <a:ln/>
        </p:spPr>
      </p:sp>
      <p:sp>
        <p:nvSpPr>
          <p:cNvPr id="8" name="shape 24.7"/>
          <p:cNvSpPr/>
          <p:nvPr/>
        </p:nvSpPr>
        <p:spPr>
          <a:xfrm>
            <a:off x="761981" y="4203595"/>
            <a:ext cx="5714857" cy="9525"/>
          </a:xfrm>
          <a:prstGeom prst="rect">
            <a:avLst/>
          </a:prstGeom>
          <a:solidFill>
            <a:srgbClr val="EEF1EA"/>
          </a:solidFill>
          <a:ln/>
        </p:spPr>
      </p:sp>
      <p:sp>
        <p:nvSpPr>
          <p:cNvPr id="9" name="shape 24.8"/>
          <p:cNvSpPr/>
          <p:nvPr/>
        </p:nvSpPr>
        <p:spPr>
          <a:xfrm>
            <a:off x="761981" y="4533787"/>
            <a:ext cx="5714857" cy="9525"/>
          </a:xfrm>
          <a:prstGeom prst="rect">
            <a:avLst/>
          </a:prstGeom>
          <a:solidFill>
            <a:srgbClr val="EEF1EA"/>
          </a:solidFill>
          <a:ln/>
        </p:spPr>
      </p:sp>
      <p:sp>
        <p:nvSpPr>
          <p:cNvPr id="10" name="shape 24.9"/>
          <p:cNvSpPr/>
          <p:nvPr/>
        </p:nvSpPr>
        <p:spPr>
          <a:xfrm>
            <a:off x="761981" y="4863978"/>
            <a:ext cx="5714857" cy="9525"/>
          </a:xfrm>
          <a:prstGeom prst="rect">
            <a:avLst/>
          </a:prstGeom>
          <a:solidFill>
            <a:srgbClr val="EEF1EA"/>
          </a:solidFill>
          <a:ln/>
        </p:spPr>
      </p:sp>
      <p:sp>
        <p:nvSpPr>
          <p:cNvPr id="11" name="shape 24.10"/>
          <p:cNvSpPr/>
          <p:nvPr/>
        </p:nvSpPr>
        <p:spPr>
          <a:xfrm>
            <a:off x="761981" y="5194170"/>
            <a:ext cx="5714857" cy="9525"/>
          </a:xfrm>
          <a:prstGeom prst="rect">
            <a:avLst/>
          </a:prstGeom>
          <a:solidFill>
            <a:srgbClr val="EEF1EA"/>
          </a:solidFill>
          <a:ln/>
        </p:spPr>
      </p:sp>
      <p:sp>
        <p:nvSpPr>
          <p:cNvPr id="12" name="shape 24.11"/>
          <p:cNvSpPr/>
          <p:nvPr/>
        </p:nvSpPr>
        <p:spPr>
          <a:xfrm>
            <a:off x="761981" y="5524362"/>
            <a:ext cx="5714857" cy="9525"/>
          </a:xfrm>
          <a:prstGeom prst="rect">
            <a:avLst/>
          </a:prstGeom>
          <a:solidFill>
            <a:srgbClr val="EEF1EA"/>
          </a:solidFill>
          <a:ln/>
        </p:spPr>
      </p:sp>
      <p:sp>
        <p:nvSpPr>
          <p:cNvPr id="13" name="shape 24.12"/>
          <p:cNvSpPr/>
          <p:nvPr/>
        </p:nvSpPr>
        <p:spPr>
          <a:xfrm>
            <a:off x="761981" y="5854554"/>
            <a:ext cx="5714857" cy="9525"/>
          </a:xfrm>
          <a:prstGeom prst="rect">
            <a:avLst/>
          </a:prstGeom>
          <a:solidFill>
            <a:srgbClr val="EEF1EA"/>
          </a:solidFill>
          <a:ln/>
        </p:spPr>
      </p:sp>
      <p:sp>
        <p:nvSpPr>
          <p:cNvPr id="14" name="text 24.13"/>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Gantt chart: </a:t>
            </a:r>
            <a:pPr algn="l" indent="0" marL="0">
              <a:lnSpc>
                <a:spcPts val="3300"/>
              </a:lnSpc>
              <a:buNone/>
            </a:pPr>
            <a:r>
              <a:rPr lang="en-US" sz="3000" dirty="0">
                <a:solidFill>
                  <a:srgbClr val="1FA9EA"/>
                </a:solidFill>
                <a:latin typeface="Arial Rounded MT Bold" pitchFamily="34" charset="0"/>
                <a:ea typeface="Arial Rounded MT Bold" pitchFamily="34" charset="-122"/>
                <a:cs typeface="Arial Rounded MT Bold" pitchFamily="34" charset="-120"/>
              </a:rPr>
              <a:t>demo 1</a:t>
            </a:r>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 · 16 Nov</a:t>
            </a:r>
            <a:endParaRPr lang="en-US" sz="3000" dirty="0"/>
          </a:p>
        </p:txBody>
      </p:sp>
      <p:sp>
        <p:nvSpPr>
          <p:cNvPr id="15" name="text 24.14"/>
          <p:cNvSpPr txBox="1"/>
          <p:nvPr/>
        </p:nvSpPr>
        <p:spPr>
          <a:xfrm>
            <a:off x="609585" y="1358866"/>
            <a:ext cx="11694376" cy="197163"/>
          </a:xfrm>
          <a:prstGeom prst="rect">
            <a:avLst/>
          </a:prstGeom>
          <a:noFill/>
          <a:ln/>
        </p:spPr>
        <p:txBody>
          <a:bodyPr wrap="square" lIns="0" tIns="0" rIns="0" bIns="0" rtlCol="0" anchor="t"/>
          <a:lstStyle/>
          <a:p>
            <a:pPr algn="l" indent="0" marL="0">
              <a:lnSpc>
                <a:spcPts val="1550"/>
              </a:lnSpc>
              <a:buNone/>
            </a:pPr>
            <a:r>
              <a:rPr lang="en-US" sz="1150" dirty="0">
                <a:solidFill>
                  <a:srgbClr val="3E475E"/>
                </a:solidFill>
                <a:latin typeface="Arial" pitchFamily="34" charset="0"/>
                <a:ea typeface="Arial" pitchFamily="34" charset="-122"/>
                <a:cs typeface="Arial" pitchFamily="34" charset="-120"/>
              </a:rPr>
              <a:t>Everyone designs one mini-game and develops its shot (hit, jump or momentum). </a:t>
            </a:r>
            <a:pPr algn="l" indent="0" marL="0">
              <a:lnSpc>
                <a:spcPts val="1550"/>
              </a:lnSpc>
              <a:buNone/>
            </a:pPr>
            <a:r>
              <a:rPr lang="en-US" sz="1150" b="1" dirty="0">
                <a:solidFill>
                  <a:srgbClr val="1B2340"/>
                </a:solidFill>
                <a:latin typeface="Arial" pitchFamily="34" charset="0"/>
                <a:ea typeface="Arial" pitchFamily="34" charset="-122"/>
                <a:cs typeface="Arial" pitchFamily="34" charset="-120"/>
              </a:rPr>
              <a:t>Those rows are in bold.</a:t>
            </a:r>
            <a:endParaRPr lang="en-US" sz="1150" dirty="0"/>
          </a:p>
        </p:txBody>
      </p:sp>
      <p:sp>
        <p:nvSpPr>
          <p:cNvPr id="16" name="text 24.15"/>
          <p:cNvSpPr txBox="1"/>
          <p:nvPr/>
        </p:nvSpPr>
        <p:spPr>
          <a:xfrm>
            <a:off x="761981" y="2158946"/>
            <a:ext cx="45718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WBS</a:t>
            </a:r>
            <a:endParaRPr lang="en-US" sz="700" dirty="0"/>
          </a:p>
        </p:txBody>
      </p:sp>
      <p:sp>
        <p:nvSpPr>
          <p:cNvPr id="17" name="text 24.16"/>
          <p:cNvSpPr txBox="1"/>
          <p:nvPr/>
        </p:nvSpPr>
        <p:spPr>
          <a:xfrm>
            <a:off x="1244569" y="2158946"/>
            <a:ext cx="340351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TASK</a:t>
            </a:r>
            <a:endParaRPr lang="en-US" sz="700" dirty="0"/>
          </a:p>
        </p:txBody>
      </p:sp>
      <p:sp>
        <p:nvSpPr>
          <p:cNvPr id="18" name="text 24.17"/>
          <p:cNvSpPr txBox="1"/>
          <p:nvPr/>
        </p:nvSpPr>
        <p:spPr>
          <a:xfrm>
            <a:off x="4673483" y="2158946"/>
            <a:ext cx="1181070"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OWNER</a:t>
            </a:r>
            <a:endParaRPr lang="en-US" sz="700" dirty="0"/>
          </a:p>
        </p:txBody>
      </p:sp>
      <p:sp>
        <p:nvSpPr>
          <p:cNvPr id="19" name="text 24.18"/>
          <p:cNvSpPr txBox="1"/>
          <p:nvPr/>
        </p:nvSpPr>
        <p:spPr>
          <a:xfrm>
            <a:off x="5879953" y="2158946"/>
            <a:ext cx="60958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DURATION</a:t>
            </a:r>
            <a:endParaRPr lang="en-US" sz="700" dirty="0"/>
          </a:p>
        </p:txBody>
      </p:sp>
      <p:sp>
        <p:nvSpPr>
          <p:cNvPr id="20" name="text 24.19"/>
          <p:cNvSpPr txBox="1"/>
          <p:nvPr/>
        </p:nvSpPr>
        <p:spPr>
          <a:xfrm>
            <a:off x="6553036"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19–23 Oct</a:t>
            </a:r>
            <a:endParaRPr lang="en-US" sz="900" dirty="0"/>
          </a:p>
        </p:txBody>
      </p:sp>
      <p:sp>
        <p:nvSpPr>
          <p:cNvPr id="21" name="shape 24.20"/>
          <p:cNvSpPr/>
          <p:nvPr/>
        </p:nvSpPr>
        <p:spPr>
          <a:xfrm>
            <a:off x="6578436" y="2095448"/>
            <a:ext cx="1168371" cy="203195"/>
          </a:xfrm>
          <a:prstGeom prst="roundRect">
            <a:avLst>
              <a:gd name="adj" fmla="val 50000"/>
            </a:avLst>
          </a:prstGeom>
          <a:solidFill>
            <a:srgbClr val="1FA9EA"/>
          </a:solidFill>
          <a:ln/>
        </p:spPr>
      </p:sp>
      <p:sp>
        <p:nvSpPr>
          <p:cNvPr id="22" name="text 24.21"/>
          <p:cNvSpPr txBox="1"/>
          <p:nvPr/>
        </p:nvSpPr>
        <p:spPr>
          <a:xfrm>
            <a:off x="6578436"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a:t>
            </a:r>
            <a:endParaRPr lang="en-US" sz="800" dirty="0"/>
          </a:p>
        </p:txBody>
      </p:sp>
      <p:sp>
        <p:nvSpPr>
          <p:cNvPr id="23" name="text 24.22"/>
          <p:cNvSpPr txBox="1"/>
          <p:nvPr/>
        </p:nvSpPr>
        <p:spPr>
          <a:xfrm>
            <a:off x="6553036"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4" name="text 24.23"/>
          <p:cNvSpPr txBox="1"/>
          <p:nvPr/>
        </p:nvSpPr>
        <p:spPr>
          <a:xfrm>
            <a:off x="679681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5" name="text 24.24"/>
          <p:cNvSpPr txBox="1"/>
          <p:nvPr/>
        </p:nvSpPr>
        <p:spPr>
          <a:xfrm>
            <a:off x="7040684"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26" name="text 24.25"/>
          <p:cNvSpPr txBox="1"/>
          <p:nvPr/>
        </p:nvSpPr>
        <p:spPr>
          <a:xfrm>
            <a:off x="7284459"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7" name="text 24.26"/>
          <p:cNvSpPr txBox="1"/>
          <p:nvPr/>
        </p:nvSpPr>
        <p:spPr>
          <a:xfrm>
            <a:off x="7528332"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28" name="text 24.27"/>
          <p:cNvSpPr txBox="1"/>
          <p:nvPr/>
        </p:nvSpPr>
        <p:spPr>
          <a:xfrm>
            <a:off x="7772206"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26–30 Oct</a:t>
            </a:r>
            <a:endParaRPr lang="en-US" sz="900" dirty="0"/>
          </a:p>
        </p:txBody>
      </p:sp>
      <p:sp>
        <p:nvSpPr>
          <p:cNvPr id="29" name="shape 24.28"/>
          <p:cNvSpPr/>
          <p:nvPr/>
        </p:nvSpPr>
        <p:spPr>
          <a:xfrm>
            <a:off x="7797605" y="2095448"/>
            <a:ext cx="1168371" cy="203195"/>
          </a:xfrm>
          <a:prstGeom prst="roundRect">
            <a:avLst>
              <a:gd name="adj" fmla="val 50000"/>
            </a:avLst>
          </a:prstGeom>
          <a:solidFill>
            <a:srgbClr val="1FA9EA"/>
          </a:solidFill>
          <a:ln/>
        </p:spPr>
      </p:sp>
      <p:sp>
        <p:nvSpPr>
          <p:cNvPr id="30" name="text 24.29"/>
          <p:cNvSpPr txBox="1"/>
          <p:nvPr/>
        </p:nvSpPr>
        <p:spPr>
          <a:xfrm>
            <a:off x="7797605"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W2</a:t>
            </a:r>
            <a:endParaRPr lang="en-US" sz="800" dirty="0"/>
          </a:p>
        </p:txBody>
      </p:sp>
      <p:sp>
        <p:nvSpPr>
          <p:cNvPr id="31" name="text 24.30"/>
          <p:cNvSpPr txBox="1"/>
          <p:nvPr/>
        </p:nvSpPr>
        <p:spPr>
          <a:xfrm>
            <a:off x="7772206"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2" name="text 24.31"/>
          <p:cNvSpPr txBox="1"/>
          <p:nvPr/>
        </p:nvSpPr>
        <p:spPr>
          <a:xfrm>
            <a:off x="8015980"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3" name="text 24.32"/>
          <p:cNvSpPr txBox="1"/>
          <p:nvPr/>
        </p:nvSpPr>
        <p:spPr>
          <a:xfrm>
            <a:off x="8259854"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4" name="text 24.33"/>
          <p:cNvSpPr txBox="1"/>
          <p:nvPr/>
        </p:nvSpPr>
        <p:spPr>
          <a:xfrm>
            <a:off x="8503628"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5" name="text 24.34"/>
          <p:cNvSpPr txBox="1"/>
          <p:nvPr/>
        </p:nvSpPr>
        <p:spPr>
          <a:xfrm>
            <a:off x="8747502"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36" name="text 24.35"/>
          <p:cNvSpPr txBox="1"/>
          <p:nvPr/>
        </p:nvSpPr>
        <p:spPr>
          <a:xfrm>
            <a:off x="8991375"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2–6 Nov</a:t>
            </a:r>
            <a:endParaRPr lang="en-US" sz="900" dirty="0"/>
          </a:p>
        </p:txBody>
      </p:sp>
      <p:sp>
        <p:nvSpPr>
          <p:cNvPr id="37" name="shape 24.36"/>
          <p:cNvSpPr/>
          <p:nvPr/>
        </p:nvSpPr>
        <p:spPr>
          <a:xfrm>
            <a:off x="9016775" y="2095448"/>
            <a:ext cx="1168371" cy="203195"/>
          </a:xfrm>
          <a:prstGeom prst="roundRect">
            <a:avLst>
              <a:gd name="adj" fmla="val 50000"/>
            </a:avLst>
          </a:prstGeom>
          <a:solidFill>
            <a:srgbClr val="1FA9EA"/>
          </a:solidFill>
          <a:ln/>
        </p:spPr>
      </p:sp>
      <p:sp>
        <p:nvSpPr>
          <p:cNvPr id="38" name="text 24.37"/>
          <p:cNvSpPr txBox="1"/>
          <p:nvPr/>
        </p:nvSpPr>
        <p:spPr>
          <a:xfrm>
            <a:off x="9016775"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W3</a:t>
            </a:r>
            <a:endParaRPr lang="en-US" sz="800" dirty="0"/>
          </a:p>
        </p:txBody>
      </p:sp>
      <p:sp>
        <p:nvSpPr>
          <p:cNvPr id="39" name="text 24.38"/>
          <p:cNvSpPr txBox="1"/>
          <p:nvPr/>
        </p:nvSpPr>
        <p:spPr>
          <a:xfrm>
            <a:off x="8991375"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0" name="text 24.39"/>
          <p:cNvSpPr txBox="1"/>
          <p:nvPr/>
        </p:nvSpPr>
        <p:spPr>
          <a:xfrm>
            <a:off x="9235150"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1" name="text 24.40"/>
          <p:cNvSpPr txBox="1"/>
          <p:nvPr/>
        </p:nvSpPr>
        <p:spPr>
          <a:xfrm>
            <a:off x="9479023"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2" name="text 24.41"/>
          <p:cNvSpPr txBox="1"/>
          <p:nvPr/>
        </p:nvSpPr>
        <p:spPr>
          <a:xfrm>
            <a:off x="9722798"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3" name="text 24.42"/>
          <p:cNvSpPr txBox="1"/>
          <p:nvPr/>
        </p:nvSpPr>
        <p:spPr>
          <a:xfrm>
            <a:off x="996667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4" name="text 24.43"/>
          <p:cNvSpPr txBox="1"/>
          <p:nvPr/>
        </p:nvSpPr>
        <p:spPr>
          <a:xfrm>
            <a:off x="10210545"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9–13 Nov</a:t>
            </a:r>
            <a:endParaRPr lang="en-US" sz="900" dirty="0"/>
          </a:p>
        </p:txBody>
      </p:sp>
      <p:sp>
        <p:nvSpPr>
          <p:cNvPr id="45" name="shape 24.44"/>
          <p:cNvSpPr/>
          <p:nvPr/>
        </p:nvSpPr>
        <p:spPr>
          <a:xfrm>
            <a:off x="10235944" y="2095448"/>
            <a:ext cx="1168371" cy="203195"/>
          </a:xfrm>
          <a:prstGeom prst="roundRect">
            <a:avLst>
              <a:gd name="adj" fmla="val 50000"/>
            </a:avLst>
          </a:prstGeom>
          <a:solidFill>
            <a:srgbClr val="1FA9EA"/>
          </a:solidFill>
          <a:ln/>
        </p:spPr>
      </p:sp>
      <p:sp>
        <p:nvSpPr>
          <p:cNvPr id="46" name="text 24.45"/>
          <p:cNvSpPr txBox="1"/>
          <p:nvPr/>
        </p:nvSpPr>
        <p:spPr>
          <a:xfrm>
            <a:off x="10235944"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W4</a:t>
            </a:r>
            <a:endParaRPr lang="en-US" sz="800" dirty="0"/>
          </a:p>
        </p:txBody>
      </p:sp>
      <p:sp>
        <p:nvSpPr>
          <p:cNvPr id="47" name="text 24.46"/>
          <p:cNvSpPr txBox="1"/>
          <p:nvPr/>
        </p:nvSpPr>
        <p:spPr>
          <a:xfrm>
            <a:off x="10210545"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8" name="text 24.47"/>
          <p:cNvSpPr txBox="1"/>
          <p:nvPr/>
        </p:nvSpPr>
        <p:spPr>
          <a:xfrm>
            <a:off x="10454319"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9" name="text 24.48"/>
          <p:cNvSpPr txBox="1"/>
          <p:nvPr/>
        </p:nvSpPr>
        <p:spPr>
          <a:xfrm>
            <a:off x="10698193"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50" name="text 24.49"/>
          <p:cNvSpPr txBox="1"/>
          <p:nvPr/>
        </p:nvSpPr>
        <p:spPr>
          <a:xfrm>
            <a:off x="10941967"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51" name="text 24.50"/>
          <p:cNvSpPr txBox="1"/>
          <p:nvPr/>
        </p:nvSpPr>
        <p:spPr>
          <a:xfrm>
            <a:off x="1118584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52" name="text 24.51"/>
          <p:cNvSpPr txBox="1"/>
          <p:nvPr/>
        </p:nvSpPr>
        <p:spPr>
          <a:xfrm>
            <a:off x="761981" y="2641534"/>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1</a:t>
            </a:r>
            <a:endParaRPr lang="en-US" sz="1150" dirty="0"/>
          </a:p>
        </p:txBody>
      </p:sp>
      <p:sp>
        <p:nvSpPr>
          <p:cNvPr id="53" name="text 24.52"/>
          <p:cNvSpPr txBox="1"/>
          <p:nvPr/>
        </p:nvSpPr>
        <p:spPr>
          <a:xfrm>
            <a:off x="1244569" y="2641534"/>
            <a:ext cx="1275995"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Demo 1 · 16 Nov</a:t>
            </a:r>
            <a:endParaRPr lang="en-US" sz="1150" dirty="0"/>
          </a:p>
        </p:txBody>
      </p:sp>
      <p:sp>
        <p:nvSpPr>
          <p:cNvPr id="54" name="text 24.53"/>
          <p:cNvSpPr txBox="1"/>
          <p:nvPr/>
        </p:nvSpPr>
        <p:spPr>
          <a:xfrm>
            <a:off x="761981" y="299712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1.1</a:t>
            </a:r>
            <a:endParaRPr lang="en-US" sz="950" dirty="0"/>
          </a:p>
        </p:txBody>
      </p:sp>
      <p:sp>
        <p:nvSpPr>
          <p:cNvPr id="55" name="text 24.54"/>
          <p:cNvSpPr txBox="1"/>
          <p:nvPr/>
        </p:nvSpPr>
        <p:spPr>
          <a:xfrm>
            <a:off x="1244569" y="2990775"/>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Core mechanics prototype: move, shoot, mass</a:t>
            </a:r>
            <a:endParaRPr lang="en-US" sz="1050" dirty="0"/>
          </a:p>
        </p:txBody>
      </p:sp>
      <p:sp>
        <p:nvSpPr>
          <p:cNvPr id="56" name="shape 24.55"/>
          <p:cNvSpPr/>
          <p:nvPr/>
        </p:nvSpPr>
        <p:spPr>
          <a:xfrm>
            <a:off x="4673483" y="2959026"/>
            <a:ext cx="1015975" cy="203195"/>
          </a:xfrm>
          <a:prstGeom prst="roundRect">
            <a:avLst>
              <a:gd name="adj" fmla="val 50000"/>
            </a:avLst>
          </a:prstGeom>
          <a:solidFill>
            <a:srgbClr val="E3F2FB"/>
          </a:solidFill>
          <a:ln/>
        </p:spPr>
      </p:sp>
      <p:sp>
        <p:nvSpPr>
          <p:cNvPr id="57" name="text 24.56"/>
          <p:cNvSpPr txBox="1"/>
          <p:nvPr/>
        </p:nvSpPr>
        <p:spPr>
          <a:xfrm>
            <a:off x="4673483" y="2959026"/>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58" name="text 24.57"/>
          <p:cNvSpPr txBox="1"/>
          <p:nvPr/>
        </p:nvSpPr>
        <p:spPr>
          <a:xfrm>
            <a:off x="5879953" y="2997125"/>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59" name="shape 24.58"/>
          <p:cNvSpPr/>
          <p:nvPr/>
        </p:nvSpPr>
        <p:spPr>
          <a:xfrm>
            <a:off x="6578436" y="2971726"/>
            <a:ext cx="3606710" cy="177796"/>
          </a:xfrm>
          <a:prstGeom prst="roundRect">
            <a:avLst>
              <a:gd name="adj" fmla="val 50000"/>
            </a:avLst>
          </a:prstGeom>
          <a:solidFill>
            <a:srgbClr val="1FA9EA"/>
          </a:solidFill>
          <a:ln/>
        </p:spPr>
      </p:sp>
      <p:sp>
        <p:nvSpPr>
          <p:cNvPr id="60" name="text 24.59"/>
          <p:cNvSpPr txBox="1"/>
          <p:nvPr/>
        </p:nvSpPr>
        <p:spPr>
          <a:xfrm>
            <a:off x="761981" y="332731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1.2</a:t>
            </a:r>
            <a:endParaRPr lang="en-US" sz="950" dirty="0"/>
          </a:p>
        </p:txBody>
      </p:sp>
      <p:sp>
        <p:nvSpPr>
          <p:cNvPr id="61" name="text 24.60"/>
          <p:cNvSpPr txBox="1"/>
          <p:nvPr/>
        </p:nvSpPr>
        <p:spPr>
          <a:xfrm>
            <a:off x="1244569" y="3320967"/>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Online system research, host and join</a:t>
            </a:r>
            <a:endParaRPr lang="en-US" sz="1050" dirty="0"/>
          </a:p>
        </p:txBody>
      </p:sp>
      <p:sp>
        <p:nvSpPr>
          <p:cNvPr id="62" name="shape 24.61"/>
          <p:cNvSpPr/>
          <p:nvPr/>
        </p:nvSpPr>
        <p:spPr>
          <a:xfrm>
            <a:off x="4673483" y="3289218"/>
            <a:ext cx="1015975" cy="203195"/>
          </a:xfrm>
          <a:prstGeom prst="roundRect">
            <a:avLst>
              <a:gd name="adj" fmla="val 50000"/>
            </a:avLst>
          </a:prstGeom>
          <a:solidFill>
            <a:srgbClr val="FFF0E6"/>
          </a:solidFill>
          <a:ln/>
        </p:spPr>
      </p:sp>
      <p:sp>
        <p:nvSpPr>
          <p:cNvPr id="63" name="text 24.62"/>
          <p:cNvSpPr txBox="1"/>
          <p:nvPr/>
        </p:nvSpPr>
        <p:spPr>
          <a:xfrm>
            <a:off x="4673483" y="3289218"/>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64" name="text 24.63"/>
          <p:cNvSpPr txBox="1"/>
          <p:nvPr/>
        </p:nvSpPr>
        <p:spPr>
          <a:xfrm>
            <a:off x="5879953" y="3327317"/>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65" name="shape 24.64"/>
          <p:cNvSpPr/>
          <p:nvPr/>
        </p:nvSpPr>
        <p:spPr>
          <a:xfrm>
            <a:off x="6578436" y="3301917"/>
            <a:ext cx="3606710" cy="177796"/>
          </a:xfrm>
          <a:prstGeom prst="roundRect">
            <a:avLst>
              <a:gd name="adj" fmla="val 50000"/>
            </a:avLst>
          </a:prstGeom>
          <a:solidFill>
            <a:srgbClr val="FF6B1F"/>
          </a:solidFill>
          <a:ln/>
        </p:spPr>
      </p:sp>
      <p:sp>
        <p:nvSpPr>
          <p:cNvPr id="66" name="text 24.65"/>
          <p:cNvSpPr txBox="1"/>
          <p:nvPr/>
        </p:nvSpPr>
        <p:spPr>
          <a:xfrm>
            <a:off x="761981" y="3657509"/>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1.3</a:t>
            </a:r>
            <a:endParaRPr lang="en-US" sz="950" dirty="0"/>
          </a:p>
        </p:txBody>
      </p:sp>
      <p:sp>
        <p:nvSpPr>
          <p:cNvPr id="67" name="text 24.66"/>
          <p:cNvSpPr txBox="1"/>
          <p:nvPr/>
        </p:nvSpPr>
        <p:spPr>
          <a:xfrm>
            <a:off x="1244569" y="3651159"/>
            <a:ext cx="3378116" cy="146681"/>
          </a:xfrm>
          <a:prstGeom prst="rect">
            <a:avLst/>
          </a:prstGeom>
          <a:noFill/>
          <a:ln/>
        </p:spPr>
        <p:txBody>
          <a:bodyPr wrap="square" lIns="0" tIns="0" rIns="0" bIns="0" rtlCol="0" anchor="t"/>
          <a:lstStyle/>
          <a:p>
            <a:pPr algn="l" indent="0" marL="0">
              <a:lnSpc>
                <a:spcPts val="1160"/>
              </a:lnSpc>
              <a:buNone/>
            </a:pPr>
            <a:r>
              <a:rPr lang="en-US" sz="1050" b="1" dirty="0">
                <a:solidFill>
                  <a:srgbClr val="1B2340"/>
                </a:solidFill>
                <a:latin typeface="Arial" pitchFamily="34" charset="0"/>
                <a:ea typeface="Arial" pitchFamily="34" charset="-122"/>
                <a:cs typeface="Arial" pitchFamily="34" charset="-120"/>
              </a:rPr>
              <a:t>Design own mini-game and its shot</a:t>
            </a:r>
            <a:endParaRPr lang="en-US" sz="1050" dirty="0"/>
          </a:p>
        </p:txBody>
      </p:sp>
      <p:sp>
        <p:nvSpPr>
          <p:cNvPr id="68" name="shape 24.67"/>
          <p:cNvSpPr/>
          <p:nvPr/>
        </p:nvSpPr>
        <p:spPr>
          <a:xfrm>
            <a:off x="4673483" y="3619410"/>
            <a:ext cx="1015975" cy="203195"/>
          </a:xfrm>
          <a:prstGeom prst="roundRect">
            <a:avLst>
              <a:gd name="adj" fmla="val 50000"/>
            </a:avLst>
          </a:prstGeom>
          <a:solidFill>
            <a:srgbClr val="E9ECF2"/>
          </a:solidFill>
          <a:ln/>
        </p:spPr>
      </p:sp>
      <p:sp>
        <p:nvSpPr>
          <p:cNvPr id="69" name="text 24.68"/>
          <p:cNvSpPr txBox="1"/>
          <p:nvPr/>
        </p:nvSpPr>
        <p:spPr>
          <a:xfrm>
            <a:off x="4673483" y="3619410"/>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Everyone</a:t>
            </a:r>
            <a:endParaRPr lang="en-US" sz="850" dirty="0"/>
          </a:p>
        </p:txBody>
      </p:sp>
      <p:sp>
        <p:nvSpPr>
          <p:cNvPr id="70" name="text 24.69"/>
          <p:cNvSpPr txBox="1"/>
          <p:nvPr/>
        </p:nvSpPr>
        <p:spPr>
          <a:xfrm>
            <a:off x="5879953" y="3657509"/>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71" name="shape 24.70"/>
          <p:cNvSpPr/>
          <p:nvPr/>
        </p:nvSpPr>
        <p:spPr>
          <a:xfrm>
            <a:off x="6578436" y="3632109"/>
            <a:ext cx="1168371" cy="177796"/>
          </a:xfrm>
          <a:prstGeom prst="roundRect">
            <a:avLst>
              <a:gd name="adj" fmla="val 50000"/>
            </a:avLst>
          </a:prstGeom>
          <a:solidFill>
            <a:srgbClr val="1B2340"/>
          </a:solidFill>
          <a:ln/>
        </p:spPr>
      </p:sp>
      <p:sp>
        <p:nvSpPr>
          <p:cNvPr id="72" name="text 24.71"/>
          <p:cNvSpPr txBox="1"/>
          <p:nvPr/>
        </p:nvSpPr>
        <p:spPr>
          <a:xfrm>
            <a:off x="761981" y="3987700"/>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1.4</a:t>
            </a:r>
            <a:endParaRPr lang="en-US" sz="950" dirty="0"/>
          </a:p>
        </p:txBody>
      </p:sp>
      <p:sp>
        <p:nvSpPr>
          <p:cNvPr id="73" name="text 24.72"/>
          <p:cNvSpPr txBox="1"/>
          <p:nvPr/>
        </p:nvSpPr>
        <p:spPr>
          <a:xfrm>
            <a:off x="1244569" y="3981350"/>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Main menu and lobby flow</a:t>
            </a:r>
            <a:endParaRPr lang="en-US" sz="1050" dirty="0"/>
          </a:p>
        </p:txBody>
      </p:sp>
      <p:sp>
        <p:nvSpPr>
          <p:cNvPr id="74" name="shape 24.73"/>
          <p:cNvSpPr/>
          <p:nvPr/>
        </p:nvSpPr>
        <p:spPr>
          <a:xfrm>
            <a:off x="4673483" y="3949601"/>
            <a:ext cx="1015975" cy="203195"/>
          </a:xfrm>
          <a:prstGeom prst="roundRect">
            <a:avLst>
              <a:gd name="adj" fmla="val 50000"/>
            </a:avLst>
          </a:prstGeom>
          <a:solidFill>
            <a:srgbClr val="F1E9FF"/>
          </a:solidFill>
          <a:ln/>
        </p:spPr>
      </p:sp>
      <p:sp>
        <p:nvSpPr>
          <p:cNvPr id="75" name="text 24.74"/>
          <p:cNvSpPr txBox="1"/>
          <p:nvPr/>
        </p:nvSpPr>
        <p:spPr>
          <a:xfrm>
            <a:off x="4673483" y="3949601"/>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76" name="text 24.75"/>
          <p:cNvSpPr txBox="1"/>
          <p:nvPr/>
        </p:nvSpPr>
        <p:spPr>
          <a:xfrm>
            <a:off x="5879953" y="3987700"/>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77" name="shape 24.76"/>
          <p:cNvSpPr/>
          <p:nvPr/>
        </p:nvSpPr>
        <p:spPr>
          <a:xfrm>
            <a:off x="6578436" y="3962301"/>
            <a:ext cx="2387540" cy="177796"/>
          </a:xfrm>
          <a:prstGeom prst="roundRect">
            <a:avLst>
              <a:gd name="adj" fmla="val 50000"/>
            </a:avLst>
          </a:prstGeom>
          <a:solidFill>
            <a:srgbClr val="8F55F5"/>
          </a:solidFill>
          <a:ln/>
        </p:spPr>
      </p:sp>
      <p:sp>
        <p:nvSpPr>
          <p:cNvPr id="78" name="text 24.77"/>
          <p:cNvSpPr txBox="1"/>
          <p:nvPr/>
        </p:nvSpPr>
        <p:spPr>
          <a:xfrm>
            <a:off x="761981" y="4317892"/>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1.5</a:t>
            </a:r>
            <a:endParaRPr lang="en-US" sz="950" dirty="0"/>
          </a:p>
        </p:txBody>
      </p:sp>
      <p:sp>
        <p:nvSpPr>
          <p:cNvPr id="79" name="text 24.78"/>
          <p:cNvSpPr txBox="1"/>
          <p:nvPr/>
        </p:nvSpPr>
        <p:spPr>
          <a:xfrm>
            <a:off x="1244569" y="4311542"/>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UI style and HUD drafts</a:t>
            </a:r>
            <a:endParaRPr lang="en-US" sz="1050" dirty="0"/>
          </a:p>
        </p:txBody>
      </p:sp>
      <p:sp>
        <p:nvSpPr>
          <p:cNvPr id="80" name="shape 24.79"/>
          <p:cNvSpPr/>
          <p:nvPr/>
        </p:nvSpPr>
        <p:spPr>
          <a:xfrm>
            <a:off x="4673483" y="4279793"/>
            <a:ext cx="1015975" cy="203195"/>
          </a:xfrm>
          <a:prstGeom prst="roundRect">
            <a:avLst>
              <a:gd name="adj" fmla="val 50000"/>
            </a:avLst>
          </a:prstGeom>
          <a:solidFill>
            <a:srgbClr val="E7F5E1"/>
          </a:solidFill>
          <a:ln/>
        </p:spPr>
      </p:sp>
      <p:sp>
        <p:nvSpPr>
          <p:cNvPr id="81" name="text 24.80"/>
          <p:cNvSpPr txBox="1"/>
          <p:nvPr/>
        </p:nvSpPr>
        <p:spPr>
          <a:xfrm>
            <a:off x="4673483" y="4279793"/>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2" name="text 24.81"/>
          <p:cNvSpPr txBox="1"/>
          <p:nvPr/>
        </p:nvSpPr>
        <p:spPr>
          <a:xfrm>
            <a:off x="5879953" y="4317892"/>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83" name="shape 24.82"/>
          <p:cNvSpPr/>
          <p:nvPr/>
        </p:nvSpPr>
        <p:spPr>
          <a:xfrm>
            <a:off x="6578436" y="4292493"/>
            <a:ext cx="2387540" cy="177796"/>
          </a:xfrm>
          <a:prstGeom prst="roundRect">
            <a:avLst>
              <a:gd name="adj" fmla="val 50000"/>
            </a:avLst>
          </a:prstGeom>
          <a:solidFill>
            <a:srgbClr val="43B832"/>
          </a:solidFill>
          <a:ln/>
        </p:spPr>
      </p:sp>
      <p:sp>
        <p:nvSpPr>
          <p:cNvPr id="84" name="text 24.83"/>
          <p:cNvSpPr txBox="1"/>
          <p:nvPr/>
        </p:nvSpPr>
        <p:spPr>
          <a:xfrm>
            <a:off x="761981" y="464808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1.6</a:t>
            </a:r>
            <a:endParaRPr lang="en-US" sz="950" dirty="0"/>
          </a:p>
        </p:txBody>
      </p:sp>
      <p:sp>
        <p:nvSpPr>
          <p:cNvPr id="85" name="text 24.84"/>
          <p:cNvSpPr txBox="1"/>
          <p:nvPr/>
        </p:nvSpPr>
        <p:spPr>
          <a:xfrm>
            <a:off x="1244569" y="4641734"/>
            <a:ext cx="3378116" cy="146681"/>
          </a:xfrm>
          <a:prstGeom prst="rect">
            <a:avLst/>
          </a:prstGeom>
          <a:noFill/>
          <a:ln/>
        </p:spPr>
        <p:txBody>
          <a:bodyPr wrap="square" lIns="0" tIns="0" rIns="0" bIns="0" rtlCol="0" anchor="t"/>
          <a:lstStyle/>
          <a:p>
            <a:pPr algn="l" indent="0" marL="0">
              <a:lnSpc>
                <a:spcPts val="1160"/>
              </a:lnSpc>
              <a:buNone/>
            </a:pPr>
            <a:r>
              <a:rPr lang="en-US" sz="1050" b="1" dirty="0">
                <a:solidFill>
                  <a:srgbClr val="1B2340"/>
                </a:solidFill>
                <a:latin typeface="Arial" pitchFamily="34" charset="0"/>
                <a:ea typeface="Arial" pitchFamily="34" charset="-122"/>
                <a:cs typeface="Arial" pitchFamily="34" charset="-120"/>
              </a:rPr>
              <a:t>Knockback Arena blockout</a:t>
            </a:r>
            <a:endParaRPr lang="en-US" sz="1050" dirty="0"/>
          </a:p>
        </p:txBody>
      </p:sp>
      <p:sp>
        <p:nvSpPr>
          <p:cNvPr id="86" name="shape 24.85"/>
          <p:cNvSpPr/>
          <p:nvPr/>
        </p:nvSpPr>
        <p:spPr>
          <a:xfrm>
            <a:off x="4673483" y="4609985"/>
            <a:ext cx="1015975" cy="203195"/>
          </a:xfrm>
          <a:prstGeom prst="roundRect">
            <a:avLst>
              <a:gd name="adj" fmla="val 50000"/>
            </a:avLst>
          </a:prstGeom>
          <a:solidFill>
            <a:srgbClr val="E3F2FB"/>
          </a:solidFill>
          <a:ln/>
        </p:spPr>
      </p:sp>
      <p:sp>
        <p:nvSpPr>
          <p:cNvPr id="87" name="text 24.86"/>
          <p:cNvSpPr txBox="1"/>
          <p:nvPr/>
        </p:nvSpPr>
        <p:spPr>
          <a:xfrm>
            <a:off x="4673483" y="4609985"/>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88" name="text 24.87"/>
          <p:cNvSpPr txBox="1"/>
          <p:nvPr/>
        </p:nvSpPr>
        <p:spPr>
          <a:xfrm>
            <a:off x="5879953" y="4648084"/>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89" name="shape 24.88"/>
          <p:cNvSpPr/>
          <p:nvPr/>
        </p:nvSpPr>
        <p:spPr>
          <a:xfrm>
            <a:off x="9016775" y="4622684"/>
            <a:ext cx="2387540" cy="177796"/>
          </a:xfrm>
          <a:prstGeom prst="roundRect">
            <a:avLst>
              <a:gd name="adj" fmla="val 50000"/>
            </a:avLst>
          </a:prstGeom>
          <a:solidFill>
            <a:srgbClr val="1FA9EA"/>
          </a:solidFill>
          <a:ln/>
        </p:spPr>
      </p:sp>
      <p:sp>
        <p:nvSpPr>
          <p:cNvPr id="90" name="text 24.89"/>
          <p:cNvSpPr txBox="1"/>
          <p:nvPr/>
        </p:nvSpPr>
        <p:spPr>
          <a:xfrm>
            <a:off x="761981" y="497827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1.7</a:t>
            </a:r>
            <a:endParaRPr lang="en-US" sz="950" dirty="0"/>
          </a:p>
        </p:txBody>
      </p:sp>
      <p:sp>
        <p:nvSpPr>
          <p:cNvPr id="91" name="text 24.90"/>
          <p:cNvSpPr txBox="1"/>
          <p:nvPr/>
        </p:nvSpPr>
        <p:spPr>
          <a:xfrm>
            <a:off x="1244569" y="4971926"/>
            <a:ext cx="3378116" cy="146681"/>
          </a:xfrm>
          <a:prstGeom prst="rect">
            <a:avLst/>
          </a:prstGeom>
          <a:noFill/>
          <a:ln/>
        </p:spPr>
        <p:txBody>
          <a:bodyPr wrap="square" lIns="0" tIns="0" rIns="0" bIns="0" rtlCol="0" anchor="t"/>
          <a:lstStyle/>
          <a:p>
            <a:pPr algn="l" indent="0" marL="0">
              <a:lnSpc>
                <a:spcPts val="1160"/>
              </a:lnSpc>
              <a:buNone/>
            </a:pPr>
            <a:r>
              <a:rPr lang="en-US" sz="1050" b="1" dirty="0">
                <a:solidFill>
                  <a:srgbClr val="1B2340"/>
                </a:solidFill>
                <a:latin typeface="Arial" pitchFamily="34" charset="0"/>
                <a:ea typeface="Arial" pitchFamily="34" charset="-122"/>
                <a:cs typeface="Arial" pitchFamily="34" charset="-120"/>
              </a:rPr>
              <a:t>Blast Parkour blockout</a:t>
            </a:r>
            <a:endParaRPr lang="en-US" sz="1050" dirty="0"/>
          </a:p>
        </p:txBody>
      </p:sp>
      <p:sp>
        <p:nvSpPr>
          <p:cNvPr id="92" name="shape 24.91"/>
          <p:cNvSpPr/>
          <p:nvPr/>
        </p:nvSpPr>
        <p:spPr>
          <a:xfrm>
            <a:off x="4673483" y="4940176"/>
            <a:ext cx="1015975" cy="203195"/>
          </a:xfrm>
          <a:prstGeom prst="roundRect">
            <a:avLst>
              <a:gd name="adj" fmla="val 50000"/>
            </a:avLst>
          </a:prstGeom>
          <a:solidFill>
            <a:srgbClr val="F1E9FF"/>
          </a:solidFill>
          <a:ln/>
        </p:spPr>
      </p:sp>
      <p:sp>
        <p:nvSpPr>
          <p:cNvPr id="93" name="text 24.92"/>
          <p:cNvSpPr txBox="1"/>
          <p:nvPr/>
        </p:nvSpPr>
        <p:spPr>
          <a:xfrm>
            <a:off x="4673483" y="4940176"/>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94" name="text 24.93"/>
          <p:cNvSpPr txBox="1"/>
          <p:nvPr/>
        </p:nvSpPr>
        <p:spPr>
          <a:xfrm>
            <a:off x="5879953" y="4978276"/>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95" name="shape 24.94"/>
          <p:cNvSpPr/>
          <p:nvPr/>
        </p:nvSpPr>
        <p:spPr>
          <a:xfrm>
            <a:off x="9016775" y="4952876"/>
            <a:ext cx="2387540" cy="177796"/>
          </a:xfrm>
          <a:prstGeom prst="roundRect">
            <a:avLst>
              <a:gd name="adj" fmla="val 50000"/>
            </a:avLst>
          </a:prstGeom>
          <a:solidFill>
            <a:srgbClr val="8F55F5"/>
          </a:solidFill>
          <a:ln/>
        </p:spPr>
      </p:sp>
      <p:sp>
        <p:nvSpPr>
          <p:cNvPr id="96" name="text 24.95"/>
          <p:cNvSpPr txBox="1"/>
          <p:nvPr/>
        </p:nvSpPr>
        <p:spPr>
          <a:xfrm>
            <a:off x="761981" y="530846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1.8</a:t>
            </a:r>
            <a:endParaRPr lang="en-US" sz="950" dirty="0"/>
          </a:p>
        </p:txBody>
      </p:sp>
      <p:sp>
        <p:nvSpPr>
          <p:cNvPr id="97" name="text 24.96"/>
          <p:cNvSpPr txBox="1"/>
          <p:nvPr/>
        </p:nvSpPr>
        <p:spPr>
          <a:xfrm>
            <a:off x="1244569" y="5302117"/>
            <a:ext cx="3378116" cy="146681"/>
          </a:xfrm>
          <a:prstGeom prst="rect">
            <a:avLst/>
          </a:prstGeom>
          <a:noFill/>
          <a:ln/>
        </p:spPr>
        <p:txBody>
          <a:bodyPr wrap="square" lIns="0" tIns="0" rIns="0" bIns="0" rtlCol="0" anchor="t"/>
          <a:lstStyle/>
          <a:p>
            <a:pPr algn="l" indent="0" marL="0">
              <a:lnSpc>
                <a:spcPts val="1160"/>
              </a:lnSpc>
              <a:buNone/>
            </a:pPr>
            <a:r>
              <a:rPr lang="en-US" sz="1050" b="1" dirty="0">
                <a:solidFill>
                  <a:srgbClr val="1B2340"/>
                </a:solidFill>
                <a:latin typeface="Arial" pitchFamily="34" charset="0"/>
                <a:ea typeface="Arial" pitchFamily="34" charset="-122"/>
                <a:cs typeface="Arial" pitchFamily="34" charset="-120"/>
              </a:rPr>
              <a:t>Ice Loop blockout</a:t>
            </a:r>
            <a:endParaRPr lang="en-US" sz="1050" dirty="0"/>
          </a:p>
        </p:txBody>
      </p:sp>
      <p:sp>
        <p:nvSpPr>
          <p:cNvPr id="98" name="shape 24.97"/>
          <p:cNvSpPr/>
          <p:nvPr/>
        </p:nvSpPr>
        <p:spPr>
          <a:xfrm>
            <a:off x="4673483" y="5270368"/>
            <a:ext cx="1015975" cy="203195"/>
          </a:xfrm>
          <a:prstGeom prst="roundRect">
            <a:avLst>
              <a:gd name="adj" fmla="val 50000"/>
            </a:avLst>
          </a:prstGeom>
          <a:solidFill>
            <a:srgbClr val="E7F5E1"/>
          </a:solidFill>
          <a:ln/>
        </p:spPr>
      </p:sp>
      <p:sp>
        <p:nvSpPr>
          <p:cNvPr id="99" name="text 24.98"/>
          <p:cNvSpPr txBox="1"/>
          <p:nvPr/>
        </p:nvSpPr>
        <p:spPr>
          <a:xfrm>
            <a:off x="4673483" y="5270368"/>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100" name="text 24.99"/>
          <p:cNvSpPr txBox="1"/>
          <p:nvPr/>
        </p:nvSpPr>
        <p:spPr>
          <a:xfrm>
            <a:off x="5879953" y="5308467"/>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101" name="shape 24.100"/>
          <p:cNvSpPr/>
          <p:nvPr/>
        </p:nvSpPr>
        <p:spPr>
          <a:xfrm>
            <a:off x="9016775" y="5283068"/>
            <a:ext cx="2387540" cy="177796"/>
          </a:xfrm>
          <a:prstGeom prst="roundRect">
            <a:avLst>
              <a:gd name="adj" fmla="val 50000"/>
            </a:avLst>
          </a:prstGeom>
          <a:solidFill>
            <a:srgbClr val="43B832"/>
          </a:solidFill>
          <a:ln/>
        </p:spPr>
      </p:sp>
      <p:sp>
        <p:nvSpPr>
          <p:cNvPr id="102" name="text 24.101"/>
          <p:cNvSpPr txBox="1"/>
          <p:nvPr/>
        </p:nvSpPr>
        <p:spPr>
          <a:xfrm>
            <a:off x="761981" y="5638659"/>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1.9</a:t>
            </a:r>
            <a:endParaRPr lang="en-US" sz="950" dirty="0"/>
          </a:p>
        </p:txBody>
      </p:sp>
      <p:sp>
        <p:nvSpPr>
          <p:cNvPr id="103" name="text 24.102"/>
          <p:cNvSpPr txBox="1"/>
          <p:nvPr/>
        </p:nvSpPr>
        <p:spPr>
          <a:xfrm>
            <a:off x="1244569" y="5632309"/>
            <a:ext cx="3378116" cy="146681"/>
          </a:xfrm>
          <a:prstGeom prst="rect">
            <a:avLst/>
          </a:prstGeom>
          <a:noFill/>
          <a:ln/>
        </p:spPr>
        <p:txBody>
          <a:bodyPr wrap="square" lIns="0" tIns="0" rIns="0" bIns="0" rtlCol="0" anchor="t"/>
          <a:lstStyle/>
          <a:p>
            <a:pPr algn="l" indent="0" marL="0">
              <a:lnSpc>
                <a:spcPts val="1160"/>
              </a:lnSpc>
              <a:buNone/>
            </a:pPr>
            <a:r>
              <a:rPr lang="en-US" sz="1050" b="1" dirty="0">
                <a:solidFill>
                  <a:srgbClr val="1B2340"/>
                </a:solidFill>
                <a:latin typeface="Arial" pitchFamily="34" charset="0"/>
                <a:ea typeface="Arial" pitchFamily="34" charset="-122"/>
                <a:cs typeface="Arial" pitchFamily="34" charset="-120"/>
              </a:rPr>
              <a:t>Hole Grab blockout</a:t>
            </a:r>
            <a:endParaRPr lang="en-US" sz="1050" dirty="0"/>
          </a:p>
        </p:txBody>
      </p:sp>
      <p:sp>
        <p:nvSpPr>
          <p:cNvPr id="104" name="shape 24.103"/>
          <p:cNvSpPr/>
          <p:nvPr/>
        </p:nvSpPr>
        <p:spPr>
          <a:xfrm>
            <a:off x="4673483" y="5600560"/>
            <a:ext cx="1015975" cy="203195"/>
          </a:xfrm>
          <a:prstGeom prst="roundRect">
            <a:avLst>
              <a:gd name="adj" fmla="val 50000"/>
            </a:avLst>
          </a:prstGeom>
          <a:solidFill>
            <a:srgbClr val="FFF0E6"/>
          </a:solidFill>
          <a:ln/>
        </p:spPr>
      </p:sp>
      <p:sp>
        <p:nvSpPr>
          <p:cNvPr id="105" name="text 24.104"/>
          <p:cNvSpPr txBox="1"/>
          <p:nvPr/>
        </p:nvSpPr>
        <p:spPr>
          <a:xfrm>
            <a:off x="4673483" y="5600560"/>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106" name="text 24.105"/>
          <p:cNvSpPr txBox="1"/>
          <p:nvPr/>
        </p:nvSpPr>
        <p:spPr>
          <a:xfrm>
            <a:off x="5879953" y="5638659"/>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107" name="shape 24.106"/>
          <p:cNvSpPr/>
          <p:nvPr/>
        </p:nvSpPr>
        <p:spPr>
          <a:xfrm>
            <a:off x="10235944" y="5613260"/>
            <a:ext cx="1168371" cy="177796"/>
          </a:xfrm>
          <a:prstGeom prst="roundRect">
            <a:avLst>
              <a:gd name="adj" fmla="val 50000"/>
            </a:avLst>
          </a:prstGeom>
          <a:solidFill>
            <a:srgbClr val="FF6B1F"/>
          </a:solidFill>
          <a:ln/>
        </p:spPr>
      </p:sp>
      <p:sp>
        <p:nvSpPr>
          <p:cNvPr id="108" name="text 24.107"/>
          <p:cNvSpPr txBox="1"/>
          <p:nvPr/>
        </p:nvSpPr>
        <p:spPr>
          <a:xfrm>
            <a:off x="761981" y="5968851"/>
            <a:ext cx="312434"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1.10</a:t>
            </a:r>
            <a:endParaRPr lang="en-US" sz="950" dirty="0"/>
          </a:p>
        </p:txBody>
      </p:sp>
      <p:sp>
        <p:nvSpPr>
          <p:cNvPr id="109" name="text 24.108"/>
          <p:cNvSpPr txBox="1"/>
          <p:nvPr/>
        </p:nvSpPr>
        <p:spPr>
          <a:xfrm>
            <a:off x="1244569" y="5962501"/>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Demo 1 build and presentation</a:t>
            </a:r>
            <a:endParaRPr lang="en-US" sz="1050" dirty="0"/>
          </a:p>
        </p:txBody>
      </p:sp>
      <p:sp>
        <p:nvSpPr>
          <p:cNvPr id="110" name="shape 24.109"/>
          <p:cNvSpPr/>
          <p:nvPr/>
        </p:nvSpPr>
        <p:spPr>
          <a:xfrm>
            <a:off x="4673483" y="5930752"/>
            <a:ext cx="1015975" cy="203195"/>
          </a:xfrm>
          <a:prstGeom prst="roundRect">
            <a:avLst>
              <a:gd name="adj" fmla="val 50000"/>
            </a:avLst>
          </a:prstGeom>
          <a:solidFill>
            <a:srgbClr val="E9ECF2"/>
          </a:solidFill>
          <a:ln/>
        </p:spPr>
      </p:sp>
      <p:sp>
        <p:nvSpPr>
          <p:cNvPr id="111" name="text 24.110"/>
          <p:cNvSpPr txBox="1"/>
          <p:nvPr/>
        </p:nvSpPr>
        <p:spPr>
          <a:xfrm>
            <a:off x="4673483" y="5930752"/>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112" name="text 24.111"/>
          <p:cNvSpPr txBox="1"/>
          <p:nvPr/>
        </p:nvSpPr>
        <p:spPr>
          <a:xfrm>
            <a:off x="5879953" y="5968851"/>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113" name="shape 24.112"/>
          <p:cNvSpPr/>
          <p:nvPr/>
        </p:nvSpPr>
        <p:spPr>
          <a:xfrm>
            <a:off x="10235944" y="5943451"/>
            <a:ext cx="1168371" cy="177796"/>
          </a:xfrm>
          <a:prstGeom prst="roundRect">
            <a:avLst>
              <a:gd name="adj" fmla="val 50000"/>
            </a:avLst>
          </a:prstGeom>
          <a:solidFill>
            <a:srgbClr val="1B2340"/>
          </a:solidFill>
          <a:ln/>
        </p:spPr>
      </p:sp>
      <p:pic>
        <p:nvPicPr>
          <p:cNvPr id="114" name="raster 24.113" descr="diagram">    </p:cNvPr>
          <p:cNvPicPr>
            <a:picLocks noChangeAspect="1"/>
          </p:cNvPicPr>
          <p:nvPr/>
        </p:nvPicPr>
        <p:blipFill>
          <a:blip r:embed="rId3"/>
          <a:stretch>
            <a:fillRect/>
          </a:stretch>
        </p:blipFill>
        <p:spPr>
          <a:xfrm>
            <a:off x="609585" y="266693"/>
            <a:ext cx="190495" cy="190495"/>
          </a:xfrm>
          <a:prstGeom prst="rect">
            <a:avLst/>
          </a:prstGeom>
        </p:spPr>
      </p:pic>
      <p:sp>
        <p:nvSpPr>
          <p:cNvPr id="115" name="text 24.114"/>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16" name="text 24.115"/>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17" name="text 24.116"/>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118" name="text 24.117"/>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24 / 28</a:t>
            </a:r>
            <a:endParaRPr lang="en-US" sz="750" dirty="0"/>
          </a:p>
        </p:txBody>
      </p:sp>
      <p:sp>
        <p:nvSpPr>
          <p:cNvPr id="119" name="text 24.118"/>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5.1"/>
          <p:cNvSpPr/>
          <p:nvPr/>
        </p:nvSpPr>
        <p:spPr>
          <a:xfrm>
            <a:off x="609585" y="1765256"/>
            <a:ext cx="10972526" cy="4228994"/>
          </a:xfrm>
          <a:prstGeom prst="roundRect">
            <a:avLst>
              <a:gd name="adj" fmla="val 360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5.2"/>
          <p:cNvSpPr/>
          <p:nvPr/>
        </p:nvSpPr>
        <p:spPr>
          <a:xfrm>
            <a:off x="698483" y="2565336"/>
            <a:ext cx="10794730" cy="330192"/>
          </a:xfrm>
          <a:prstGeom prst="roundRect">
            <a:avLst>
              <a:gd name="adj" fmla="val 26923"/>
            </a:avLst>
          </a:prstGeom>
          <a:solidFill>
            <a:srgbClr val="F1F5EA"/>
          </a:solidFill>
          <a:ln/>
        </p:spPr>
      </p:sp>
      <p:pic>
        <p:nvPicPr>
          <p:cNvPr id="4" name="raster 25.3" descr="diagram">    </p:cNvPr>
          <p:cNvPicPr>
            <a:picLocks noChangeAspect="1"/>
          </p:cNvPicPr>
          <p:nvPr/>
        </p:nvPicPr>
        <p:blipFill>
          <a:blip r:embed="rId2"/>
          <a:stretch>
            <a:fillRect/>
          </a:stretch>
        </p:blipFill>
        <p:spPr>
          <a:xfrm>
            <a:off x="6502237" y="2857429"/>
            <a:ext cx="4978276" cy="3073323"/>
          </a:xfrm>
          <a:prstGeom prst="rect">
            <a:avLst/>
          </a:prstGeom>
        </p:spPr>
      </p:pic>
      <p:sp>
        <p:nvSpPr>
          <p:cNvPr id="5" name="shape 25.4"/>
          <p:cNvSpPr/>
          <p:nvPr/>
        </p:nvSpPr>
        <p:spPr>
          <a:xfrm>
            <a:off x="761981" y="3289218"/>
            <a:ext cx="5714857" cy="9525"/>
          </a:xfrm>
          <a:prstGeom prst="rect">
            <a:avLst/>
          </a:prstGeom>
          <a:solidFill>
            <a:srgbClr val="EEF1EA"/>
          </a:solidFill>
          <a:ln/>
        </p:spPr>
      </p:sp>
      <p:sp>
        <p:nvSpPr>
          <p:cNvPr id="6" name="shape 25.5"/>
          <p:cNvSpPr/>
          <p:nvPr/>
        </p:nvSpPr>
        <p:spPr>
          <a:xfrm>
            <a:off x="761981" y="3657509"/>
            <a:ext cx="5714857" cy="9525"/>
          </a:xfrm>
          <a:prstGeom prst="rect">
            <a:avLst/>
          </a:prstGeom>
          <a:solidFill>
            <a:srgbClr val="EEF1EA"/>
          </a:solidFill>
          <a:ln/>
        </p:spPr>
      </p:sp>
      <p:sp>
        <p:nvSpPr>
          <p:cNvPr id="7" name="shape 25.6"/>
          <p:cNvSpPr/>
          <p:nvPr/>
        </p:nvSpPr>
        <p:spPr>
          <a:xfrm>
            <a:off x="761981" y="4025799"/>
            <a:ext cx="5714857" cy="9525"/>
          </a:xfrm>
          <a:prstGeom prst="rect">
            <a:avLst/>
          </a:prstGeom>
          <a:solidFill>
            <a:srgbClr val="EEF1EA"/>
          </a:solidFill>
          <a:ln/>
        </p:spPr>
      </p:sp>
      <p:sp>
        <p:nvSpPr>
          <p:cNvPr id="8" name="shape 25.7"/>
          <p:cNvSpPr/>
          <p:nvPr/>
        </p:nvSpPr>
        <p:spPr>
          <a:xfrm>
            <a:off x="761981" y="4394090"/>
            <a:ext cx="5714857" cy="9525"/>
          </a:xfrm>
          <a:prstGeom prst="rect">
            <a:avLst/>
          </a:prstGeom>
          <a:solidFill>
            <a:srgbClr val="EEF1EA"/>
          </a:solidFill>
          <a:ln/>
        </p:spPr>
      </p:sp>
      <p:sp>
        <p:nvSpPr>
          <p:cNvPr id="9" name="shape 25.8"/>
          <p:cNvSpPr/>
          <p:nvPr/>
        </p:nvSpPr>
        <p:spPr>
          <a:xfrm>
            <a:off x="761981" y="4762381"/>
            <a:ext cx="5714857" cy="9525"/>
          </a:xfrm>
          <a:prstGeom prst="rect">
            <a:avLst/>
          </a:prstGeom>
          <a:solidFill>
            <a:srgbClr val="EEF1EA"/>
          </a:solidFill>
          <a:ln/>
        </p:spPr>
      </p:sp>
      <p:sp>
        <p:nvSpPr>
          <p:cNvPr id="10" name="shape 25.9"/>
          <p:cNvSpPr/>
          <p:nvPr/>
        </p:nvSpPr>
        <p:spPr>
          <a:xfrm>
            <a:off x="761981" y="5130672"/>
            <a:ext cx="5714857" cy="9525"/>
          </a:xfrm>
          <a:prstGeom prst="rect">
            <a:avLst/>
          </a:prstGeom>
          <a:solidFill>
            <a:srgbClr val="EEF1EA"/>
          </a:solidFill>
          <a:ln/>
        </p:spPr>
      </p:sp>
      <p:sp>
        <p:nvSpPr>
          <p:cNvPr id="11" name="shape 25.10"/>
          <p:cNvSpPr/>
          <p:nvPr/>
        </p:nvSpPr>
        <p:spPr>
          <a:xfrm>
            <a:off x="761981" y="5498963"/>
            <a:ext cx="5714857" cy="9525"/>
          </a:xfrm>
          <a:prstGeom prst="rect">
            <a:avLst/>
          </a:prstGeom>
          <a:solidFill>
            <a:srgbClr val="EEF1EA"/>
          </a:solidFill>
          <a:ln/>
        </p:spPr>
      </p:sp>
      <p:sp>
        <p:nvSpPr>
          <p:cNvPr id="12" name="text 25.1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Gantt chart: </a:t>
            </a:r>
            <a:pPr algn="l" indent="0" marL="0">
              <a:lnSpc>
                <a:spcPts val="3300"/>
              </a:lnSpc>
              <a:buNone/>
            </a:pPr>
            <a:r>
              <a:rPr lang="en-US" sz="3000" dirty="0">
                <a:solidFill>
                  <a:srgbClr val="FF6B1F"/>
                </a:solidFill>
                <a:latin typeface="Arial Rounded MT Bold" pitchFamily="34" charset="0"/>
                <a:ea typeface="Arial Rounded MT Bold" pitchFamily="34" charset="-122"/>
                <a:cs typeface="Arial Rounded MT Bold" pitchFamily="34" charset="-120"/>
              </a:rPr>
              <a:t>demo 2</a:t>
            </a:r>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 · 14 Dec</a:t>
            </a:r>
            <a:endParaRPr lang="en-US" sz="3000" dirty="0"/>
          </a:p>
        </p:txBody>
      </p:sp>
      <p:sp>
        <p:nvSpPr>
          <p:cNvPr id="13" name="text 25.12"/>
          <p:cNvSpPr txBox="1"/>
          <p:nvPr/>
        </p:nvSpPr>
        <p:spPr>
          <a:xfrm>
            <a:off x="609585" y="1358866"/>
            <a:ext cx="11694376" cy="197163"/>
          </a:xfrm>
          <a:prstGeom prst="rect">
            <a:avLst/>
          </a:prstGeom>
          <a:noFill/>
          <a:ln/>
        </p:spPr>
        <p:txBody>
          <a:bodyPr wrap="square" lIns="0" tIns="0" rIns="0" bIns="0" rtlCol="0" anchor="t"/>
          <a:lstStyle/>
          <a:p>
            <a:pPr algn="l" indent="0" marL="0">
              <a:lnSpc>
                <a:spcPts val="1550"/>
              </a:lnSpc>
              <a:buNone/>
            </a:pPr>
            <a:r>
              <a:rPr lang="en-US" sz="1150" dirty="0">
                <a:solidFill>
                  <a:srgbClr val="3E475E"/>
                </a:solidFill>
                <a:latin typeface="Arial" pitchFamily="34" charset="0"/>
                <a:ea typeface="Arial" pitchFamily="34" charset="-122"/>
                <a:cs typeface="Arial" pitchFamily="34" charset="-120"/>
              </a:rPr>
              <a:t>Everyone designs one mini-game and develops its shot (hit, jump or momentum). </a:t>
            </a:r>
            <a:pPr algn="l" indent="0" marL="0">
              <a:lnSpc>
                <a:spcPts val="1550"/>
              </a:lnSpc>
              <a:buNone/>
            </a:pPr>
            <a:r>
              <a:rPr lang="en-US" sz="1150" b="1" dirty="0">
                <a:solidFill>
                  <a:srgbClr val="1B2340"/>
                </a:solidFill>
                <a:latin typeface="Arial" pitchFamily="34" charset="0"/>
                <a:ea typeface="Arial" pitchFamily="34" charset="-122"/>
                <a:cs typeface="Arial" pitchFamily="34" charset="-120"/>
              </a:rPr>
              <a:t>Those rows are in bold.</a:t>
            </a:r>
            <a:endParaRPr lang="en-US" sz="1150" dirty="0"/>
          </a:p>
        </p:txBody>
      </p:sp>
      <p:sp>
        <p:nvSpPr>
          <p:cNvPr id="14" name="text 25.13"/>
          <p:cNvSpPr txBox="1"/>
          <p:nvPr/>
        </p:nvSpPr>
        <p:spPr>
          <a:xfrm>
            <a:off x="761981" y="2158946"/>
            <a:ext cx="45718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WBS</a:t>
            </a:r>
            <a:endParaRPr lang="en-US" sz="700" dirty="0"/>
          </a:p>
        </p:txBody>
      </p:sp>
      <p:sp>
        <p:nvSpPr>
          <p:cNvPr id="15" name="text 25.14"/>
          <p:cNvSpPr txBox="1"/>
          <p:nvPr/>
        </p:nvSpPr>
        <p:spPr>
          <a:xfrm>
            <a:off x="1244569" y="2158946"/>
            <a:ext cx="340351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TASK</a:t>
            </a:r>
            <a:endParaRPr lang="en-US" sz="700" dirty="0"/>
          </a:p>
        </p:txBody>
      </p:sp>
      <p:sp>
        <p:nvSpPr>
          <p:cNvPr id="16" name="text 25.15"/>
          <p:cNvSpPr txBox="1"/>
          <p:nvPr/>
        </p:nvSpPr>
        <p:spPr>
          <a:xfrm>
            <a:off x="4673483" y="2158946"/>
            <a:ext cx="1181070"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OWNER</a:t>
            </a:r>
            <a:endParaRPr lang="en-US" sz="700" dirty="0"/>
          </a:p>
        </p:txBody>
      </p:sp>
      <p:sp>
        <p:nvSpPr>
          <p:cNvPr id="17" name="text 25.16"/>
          <p:cNvSpPr txBox="1"/>
          <p:nvPr/>
        </p:nvSpPr>
        <p:spPr>
          <a:xfrm>
            <a:off x="5879953" y="2158946"/>
            <a:ext cx="60958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DURATION</a:t>
            </a:r>
            <a:endParaRPr lang="en-US" sz="700" dirty="0"/>
          </a:p>
        </p:txBody>
      </p:sp>
      <p:sp>
        <p:nvSpPr>
          <p:cNvPr id="18" name="text 25.17"/>
          <p:cNvSpPr txBox="1"/>
          <p:nvPr/>
        </p:nvSpPr>
        <p:spPr>
          <a:xfrm>
            <a:off x="6553036"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16–20 Nov</a:t>
            </a:r>
            <a:endParaRPr lang="en-US" sz="900" dirty="0"/>
          </a:p>
        </p:txBody>
      </p:sp>
      <p:sp>
        <p:nvSpPr>
          <p:cNvPr id="19" name="shape 25.18"/>
          <p:cNvSpPr/>
          <p:nvPr/>
        </p:nvSpPr>
        <p:spPr>
          <a:xfrm>
            <a:off x="6578436" y="2095448"/>
            <a:ext cx="1168371" cy="203195"/>
          </a:xfrm>
          <a:prstGeom prst="roundRect">
            <a:avLst>
              <a:gd name="adj" fmla="val 50000"/>
            </a:avLst>
          </a:prstGeom>
          <a:solidFill>
            <a:srgbClr val="FF6B1F"/>
          </a:solidFill>
          <a:ln/>
        </p:spPr>
      </p:sp>
      <p:sp>
        <p:nvSpPr>
          <p:cNvPr id="20" name="text 25.19"/>
          <p:cNvSpPr txBox="1"/>
          <p:nvPr/>
        </p:nvSpPr>
        <p:spPr>
          <a:xfrm>
            <a:off x="6578436"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W5</a:t>
            </a:r>
            <a:endParaRPr lang="en-US" sz="800" dirty="0"/>
          </a:p>
        </p:txBody>
      </p:sp>
      <p:sp>
        <p:nvSpPr>
          <p:cNvPr id="21" name="text 25.20"/>
          <p:cNvSpPr txBox="1"/>
          <p:nvPr/>
        </p:nvSpPr>
        <p:spPr>
          <a:xfrm>
            <a:off x="6553036"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2" name="text 25.21"/>
          <p:cNvSpPr txBox="1"/>
          <p:nvPr/>
        </p:nvSpPr>
        <p:spPr>
          <a:xfrm>
            <a:off x="679681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3" name="text 25.22"/>
          <p:cNvSpPr txBox="1"/>
          <p:nvPr/>
        </p:nvSpPr>
        <p:spPr>
          <a:xfrm>
            <a:off x="7040684"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24" name="text 25.23"/>
          <p:cNvSpPr txBox="1"/>
          <p:nvPr/>
        </p:nvSpPr>
        <p:spPr>
          <a:xfrm>
            <a:off x="7284459"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5" name="text 25.24"/>
          <p:cNvSpPr txBox="1"/>
          <p:nvPr/>
        </p:nvSpPr>
        <p:spPr>
          <a:xfrm>
            <a:off x="7528332"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26" name="text 25.25"/>
          <p:cNvSpPr txBox="1"/>
          <p:nvPr/>
        </p:nvSpPr>
        <p:spPr>
          <a:xfrm>
            <a:off x="7772206"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23–27 Nov</a:t>
            </a:r>
            <a:endParaRPr lang="en-US" sz="900" dirty="0"/>
          </a:p>
        </p:txBody>
      </p:sp>
      <p:sp>
        <p:nvSpPr>
          <p:cNvPr id="27" name="shape 25.26"/>
          <p:cNvSpPr/>
          <p:nvPr/>
        </p:nvSpPr>
        <p:spPr>
          <a:xfrm>
            <a:off x="7797605" y="2095448"/>
            <a:ext cx="1168371" cy="203195"/>
          </a:xfrm>
          <a:prstGeom prst="roundRect">
            <a:avLst>
              <a:gd name="adj" fmla="val 50000"/>
            </a:avLst>
          </a:prstGeom>
          <a:solidFill>
            <a:srgbClr val="FF6B1F"/>
          </a:solidFill>
          <a:ln/>
        </p:spPr>
      </p:sp>
      <p:sp>
        <p:nvSpPr>
          <p:cNvPr id="28" name="text 25.27"/>
          <p:cNvSpPr txBox="1"/>
          <p:nvPr/>
        </p:nvSpPr>
        <p:spPr>
          <a:xfrm>
            <a:off x="7797605"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W6</a:t>
            </a:r>
            <a:endParaRPr lang="en-US" sz="800" dirty="0"/>
          </a:p>
        </p:txBody>
      </p:sp>
      <p:sp>
        <p:nvSpPr>
          <p:cNvPr id="29" name="text 25.28"/>
          <p:cNvSpPr txBox="1"/>
          <p:nvPr/>
        </p:nvSpPr>
        <p:spPr>
          <a:xfrm>
            <a:off x="7772206"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0" name="text 25.29"/>
          <p:cNvSpPr txBox="1"/>
          <p:nvPr/>
        </p:nvSpPr>
        <p:spPr>
          <a:xfrm>
            <a:off x="8015980"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1" name="text 25.30"/>
          <p:cNvSpPr txBox="1"/>
          <p:nvPr/>
        </p:nvSpPr>
        <p:spPr>
          <a:xfrm>
            <a:off x="8259854"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2" name="text 25.31"/>
          <p:cNvSpPr txBox="1"/>
          <p:nvPr/>
        </p:nvSpPr>
        <p:spPr>
          <a:xfrm>
            <a:off x="8503628"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3" name="text 25.32"/>
          <p:cNvSpPr txBox="1"/>
          <p:nvPr/>
        </p:nvSpPr>
        <p:spPr>
          <a:xfrm>
            <a:off x="8747502"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34" name="text 25.33"/>
          <p:cNvSpPr txBox="1"/>
          <p:nvPr/>
        </p:nvSpPr>
        <p:spPr>
          <a:xfrm>
            <a:off x="8991375"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30 Nov–4 Dec</a:t>
            </a:r>
            <a:endParaRPr lang="en-US" sz="900" dirty="0"/>
          </a:p>
        </p:txBody>
      </p:sp>
      <p:sp>
        <p:nvSpPr>
          <p:cNvPr id="35" name="shape 25.34"/>
          <p:cNvSpPr/>
          <p:nvPr/>
        </p:nvSpPr>
        <p:spPr>
          <a:xfrm>
            <a:off x="9016775" y="2095448"/>
            <a:ext cx="1168371" cy="203195"/>
          </a:xfrm>
          <a:prstGeom prst="roundRect">
            <a:avLst>
              <a:gd name="adj" fmla="val 50000"/>
            </a:avLst>
          </a:prstGeom>
          <a:solidFill>
            <a:srgbClr val="FF6B1F"/>
          </a:solidFill>
          <a:ln/>
        </p:spPr>
      </p:sp>
      <p:sp>
        <p:nvSpPr>
          <p:cNvPr id="36" name="text 25.35"/>
          <p:cNvSpPr txBox="1"/>
          <p:nvPr/>
        </p:nvSpPr>
        <p:spPr>
          <a:xfrm>
            <a:off x="9016775"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W7</a:t>
            </a:r>
            <a:endParaRPr lang="en-US" sz="800" dirty="0"/>
          </a:p>
        </p:txBody>
      </p:sp>
      <p:sp>
        <p:nvSpPr>
          <p:cNvPr id="37" name="text 25.36"/>
          <p:cNvSpPr txBox="1"/>
          <p:nvPr/>
        </p:nvSpPr>
        <p:spPr>
          <a:xfrm>
            <a:off x="8991375"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8" name="text 25.37"/>
          <p:cNvSpPr txBox="1"/>
          <p:nvPr/>
        </p:nvSpPr>
        <p:spPr>
          <a:xfrm>
            <a:off x="9235150"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9" name="text 25.38"/>
          <p:cNvSpPr txBox="1"/>
          <p:nvPr/>
        </p:nvSpPr>
        <p:spPr>
          <a:xfrm>
            <a:off x="9479023"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0" name="text 25.39"/>
          <p:cNvSpPr txBox="1"/>
          <p:nvPr/>
        </p:nvSpPr>
        <p:spPr>
          <a:xfrm>
            <a:off x="9722798"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1" name="text 25.40"/>
          <p:cNvSpPr txBox="1"/>
          <p:nvPr/>
        </p:nvSpPr>
        <p:spPr>
          <a:xfrm>
            <a:off x="996667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2" name="text 25.41"/>
          <p:cNvSpPr txBox="1"/>
          <p:nvPr/>
        </p:nvSpPr>
        <p:spPr>
          <a:xfrm>
            <a:off x="10210545"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7–11 Dec</a:t>
            </a:r>
            <a:endParaRPr lang="en-US" sz="900" dirty="0"/>
          </a:p>
        </p:txBody>
      </p:sp>
      <p:sp>
        <p:nvSpPr>
          <p:cNvPr id="43" name="shape 25.42"/>
          <p:cNvSpPr/>
          <p:nvPr/>
        </p:nvSpPr>
        <p:spPr>
          <a:xfrm>
            <a:off x="10235944" y="2095448"/>
            <a:ext cx="1168371" cy="203195"/>
          </a:xfrm>
          <a:prstGeom prst="roundRect">
            <a:avLst>
              <a:gd name="adj" fmla="val 50000"/>
            </a:avLst>
          </a:prstGeom>
          <a:solidFill>
            <a:srgbClr val="FF6B1F"/>
          </a:solidFill>
          <a:ln/>
        </p:spPr>
      </p:sp>
      <p:sp>
        <p:nvSpPr>
          <p:cNvPr id="44" name="text 25.43"/>
          <p:cNvSpPr txBox="1"/>
          <p:nvPr/>
        </p:nvSpPr>
        <p:spPr>
          <a:xfrm>
            <a:off x="10235944"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W8</a:t>
            </a:r>
            <a:endParaRPr lang="en-US" sz="800" dirty="0"/>
          </a:p>
        </p:txBody>
      </p:sp>
      <p:sp>
        <p:nvSpPr>
          <p:cNvPr id="45" name="text 25.44"/>
          <p:cNvSpPr txBox="1"/>
          <p:nvPr/>
        </p:nvSpPr>
        <p:spPr>
          <a:xfrm>
            <a:off x="10210545"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6" name="text 25.45"/>
          <p:cNvSpPr txBox="1"/>
          <p:nvPr/>
        </p:nvSpPr>
        <p:spPr>
          <a:xfrm>
            <a:off x="10454319"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7" name="text 25.46"/>
          <p:cNvSpPr txBox="1"/>
          <p:nvPr/>
        </p:nvSpPr>
        <p:spPr>
          <a:xfrm>
            <a:off x="10698193"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8" name="text 25.47"/>
          <p:cNvSpPr txBox="1"/>
          <p:nvPr/>
        </p:nvSpPr>
        <p:spPr>
          <a:xfrm>
            <a:off x="10941967"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9" name="text 25.48"/>
          <p:cNvSpPr txBox="1"/>
          <p:nvPr/>
        </p:nvSpPr>
        <p:spPr>
          <a:xfrm>
            <a:off x="1118584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50" name="text 25.49"/>
          <p:cNvSpPr txBox="1"/>
          <p:nvPr/>
        </p:nvSpPr>
        <p:spPr>
          <a:xfrm>
            <a:off x="761981" y="2660583"/>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2</a:t>
            </a:r>
            <a:endParaRPr lang="en-US" sz="1150" dirty="0"/>
          </a:p>
        </p:txBody>
      </p:sp>
      <p:sp>
        <p:nvSpPr>
          <p:cNvPr id="51" name="text 25.50"/>
          <p:cNvSpPr txBox="1"/>
          <p:nvPr/>
        </p:nvSpPr>
        <p:spPr>
          <a:xfrm>
            <a:off x="1244569" y="2660583"/>
            <a:ext cx="1281569"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Demo 2 · 14 Dec</a:t>
            </a:r>
            <a:endParaRPr lang="en-US" sz="1150" dirty="0"/>
          </a:p>
        </p:txBody>
      </p:sp>
      <p:sp>
        <p:nvSpPr>
          <p:cNvPr id="52" name="text 25.51"/>
          <p:cNvSpPr txBox="1"/>
          <p:nvPr/>
        </p:nvSpPr>
        <p:spPr>
          <a:xfrm>
            <a:off x="761981" y="305427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2.1</a:t>
            </a:r>
            <a:endParaRPr lang="en-US" sz="950" dirty="0"/>
          </a:p>
        </p:txBody>
      </p:sp>
      <p:sp>
        <p:nvSpPr>
          <p:cNvPr id="53" name="text 25.52"/>
          <p:cNvSpPr txBox="1"/>
          <p:nvPr/>
        </p:nvSpPr>
        <p:spPr>
          <a:xfrm>
            <a:off x="1244569" y="3047924"/>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Scoreboard, points and comeback rules</a:t>
            </a:r>
            <a:endParaRPr lang="en-US" sz="1050" dirty="0"/>
          </a:p>
        </p:txBody>
      </p:sp>
      <p:sp>
        <p:nvSpPr>
          <p:cNvPr id="54" name="shape 25.53"/>
          <p:cNvSpPr/>
          <p:nvPr/>
        </p:nvSpPr>
        <p:spPr>
          <a:xfrm>
            <a:off x="4673483" y="3016175"/>
            <a:ext cx="1015975" cy="203195"/>
          </a:xfrm>
          <a:prstGeom prst="roundRect">
            <a:avLst>
              <a:gd name="adj" fmla="val 50000"/>
            </a:avLst>
          </a:prstGeom>
          <a:solidFill>
            <a:srgbClr val="E3F2FB"/>
          </a:solidFill>
          <a:ln/>
        </p:spPr>
      </p:sp>
      <p:sp>
        <p:nvSpPr>
          <p:cNvPr id="55" name="text 25.54"/>
          <p:cNvSpPr txBox="1"/>
          <p:nvPr/>
        </p:nvSpPr>
        <p:spPr>
          <a:xfrm>
            <a:off x="4673483" y="3016175"/>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56" name="text 25.55"/>
          <p:cNvSpPr txBox="1"/>
          <p:nvPr/>
        </p:nvSpPr>
        <p:spPr>
          <a:xfrm>
            <a:off x="5879953" y="3054274"/>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57" name="shape 25.56"/>
          <p:cNvSpPr/>
          <p:nvPr/>
        </p:nvSpPr>
        <p:spPr>
          <a:xfrm>
            <a:off x="6578436" y="3028874"/>
            <a:ext cx="2387540" cy="177796"/>
          </a:xfrm>
          <a:prstGeom prst="roundRect">
            <a:avLst>
              <a:gd name="adj" fmla="val 50000"/>
            </a:avLst>
          </a:prstGeom>
          <a:solidFill>
            <a:srgbClr val="1FA9EA"/>
          </a:solidFill>
          <a:ln/>
        </p:spPr>
      </p:sp>
      <p:sp>
        <p:nvSpPr>
          <p:cNvPr id="58" name="text 25.57"/>
          <p:cNvSpPr txBox="1"/>
          <p:nvPr/>
        </p:nvSpPr>
        <p:spPr>
          <a:xfrm>
            <a:off x="761981" y="342256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2.2</a:t>
            </a:r>
            <a:endParaRPr lang="en-US" sz="950" dirty="0"/>
          </a:p>
        </p:txBody>
      </p:sp>
      <p:sp>
        <p:nvSpPr>
          <p:cNvPr id="59" name="text 25.58"/>
          <p:cNvSpPr txBox="1"/>
          <p:nvPr/>
        </p:nvSpPr>
        <p:spPr>
          <a:xfrm>
            <a:off x="1244569" y="3416215"/>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Networked shots and state sync</a:t>
            </a:r>
            <a:endParaRPr lang="en-US" sz="1050" dirty="0"/>
          </a:p>
        </p:txBody>
      </p:sp>
      <p:sp>
        <p:nvSpPr>
          <p:cNvPr id="60" name="shape 25.59"/>
          <p:cNvSpPr/>
          <p:nvPr/>
        </p:nvSpPr>
        <p:spPr>
          <a:xfrm>
            <a:off x="4673483" y="3384465"/>
            <a:ext cx="1015975" cy="203195"/>
          </a:xfrm>
          <a:prstGeom prst="roundRect">
            <a:avLst>
              <a:gd name="adj" fmla="val 50000"/>
            </a:avLst>
          </a:prstGeom>
          <a:solidFill>
            <a:srgbClr val="FFF0E6"/>
          </a:solidFill>
          <a:ln/>
        </p:spPr>
      </p:sp>
      <p:sp>
        <p:nvSpPr>
          <p:cNvPr id="61" name="text 25.60"/>
          <p:cNvSpPr txBox="1"/>
          <p:nvPr/>
        </p:nvSpPr>
        <p:spPr>
          <a:xfrm>
            <a:off x="4673483" y="3384465"/>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62" name="text 25.61"/>
          <p:cNvSpPr txBox="1"/>
          <p:nvPr/>
        </p:nvSpPr>
        <p:spPr>
          <a:xfrm>
            <a:off x="5879953" y="3422564"/>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63" name="shape 25.62"/>
          <p:cNvSpPr/>
          <p:nvPr/>
        </p:nvSpPr>
        <p:spPr>
          <a:xfrm>
            <a:off x="6578436" y="3397165"/>
            <a:ext cx="3606710" cy="177796"/>
          </a:xfrm>
          <a:prstGeom prst="roundRect">
            <a:avLst>
              <a:gd name="adj" fmla="val 50000"/>
            </a:avLst>
          </a:prstGeom>
          <a:solidFill>
            <a:srgbClr val="FF6B1F"/>
          </a:solidFill>
          <a:ln/>
        </p:spPr>
      </p:sp>
      <p:sp>
        <p:nvSpPr>
          <p:cNvPr id="64" name="text 25.63"/>
          <p:cNvSpPr txBox="1"/>
          <p:nvPr/>
        </p:nvSpPr>
        <p:spPr>
          <a:xfrm>
            <a:off x="761981" y="379085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2.3</a:t>
            </a:r>
            <a:endParaRPr lang="en-US" sz="950" dirty="0"/>
          </a:p>
        </p:txBody>
      </p:sp>
      <p:sp>
        <p:nvSpPr>
          <p:cNvPr id="65" name="text 25.64"/>
          <p:cNvSpPr txBox="1"/>
          <p:nvPr/>
        </p:nvSpPr>
        <p:spPr>
          <a:xfrm>
            <a:off x="1244569" y="3784505"/>
            <a:ext cx="3378116" cy="146681"/>
          </a:xfrm>
          <a:prstGeom prst="rect">
            <a:avLst/>
          </a:prstGeom>
          <a:noFill/>
          <a:ln/>
        </p:spPr>
        <p:txBody>
          <a:bodyPr wrap="square" lIns="0" tIns="0" rIns="0" bIns="0" rtlCol="0" anchor="t"/>
          <a:lstStyle/>
          <a:p>
            <a:pPr algn="l" indent="0" marL="0">
              <a:lnSpc>
                <a:spcPts val="1160"/>
              </a:lnSpc>
              <a:buNone/>
            </a:pPr>
            <a:r>
              <a:rPr lang="en-US" sz="1050" b="1" dirty="0">
                <a:solidFill>
                  <a:srgbClr val="1B2340"/>
                </a:solidFill>
                <a:latin typeface="Arial" pitchFamily="34" charset="0"/>
                <a:ea typeface="Arial" pitchFamily="34" charset="-122"/>
                <a:cs typeface="Arial" pitchFamily="34" charset="-120"/>
              </a:rPr>
              <a:t>Finish own mini-game and its shot</a:t>
            </a:r>
            <a:endParaRPr lang="en-US" sz="1050" dirty="0"/>
          </a:p>
        </p:txBody>
      </p:sp>
      <p:sp>
        <p:nvSpPr>
          <p:cNvPr id="66" name="shape 25.65"/>
          <p:cNvSpPr/>
          <p:nvPr/>
        </p:nvSpPr>
        <p:spPr>
          <a:xfrm>
            <a:off x="4673483" y="3752756"/>
            <a:ext cx="1015975" cy="203195"/>
          </a:xfrm>
          <a:prstGeom prst="roundRect">
            <a:avLst>
              <a:gd name="adj" fmla="val 50000"/>
            </a:avLst>
          </a:prstGeom>
          <a:solidFill>
            <a:srgbClr val="E9ECF2"/>
          </a:solidFill>
          <a:ln/>
        </p:spPr>
      </p:sp>
      <p:sp>
        <p:nvSpPr>
          <p:cNvPr id="67" name="text 25.66"/>
          <p:cNvSpPr txBox="1"/>
          <p:nvPr/>
        </p:nvSpPr>
        <p:spPr>
          <a:xfrm>
            <a:off x="4673483" y="3752756"/>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Everyone</a:t>
            </a:r>
            <a:endParaRPr lang="en-US" sz="850" dirty="0"/>
          </a:p>
        </p:txBody>
      </p:sp>
      <p:sp>
        <p:nvSpPr>
          <p:cNvPr id="68" name="text 25.67"/>
          <p:cNvSpPr txBox="1"/>
          <p:nvPr/>
        </p:nvSpPr>
        <p:spPr>
          <a:xfrm>
            <a:off x="5879953" y="3790855"/>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4 wk</a:t>
            </a:r>
            <a:endParaRPr lang="en-US" sz="950" dirty="0"/>
          </a:p>
        </p:txBody>
      </p:sp>
      <p:sp>
        <p:nvSpPr>
          <p:cNvPr id="69" name="shape 25.68"/>
          <p:cNvSpPr/>
          <p:nvPr/>
        </p:nvSpPr>
        <p:spPr>
          <a:xfrm>
            <a:off x="6578436" y="3765456"/>
            <a:ext cx="4825879" cy="177796"/>
          </a:xfrm>
          <a:prstGeom prst="roundRect">
            <a:avLst>
              <a:gd name="adj" fmla="val 50000"/>
            </a:avLst>
          </a:prstGeom>
          <a:solidFill>
            <a:srgbClr val="1B2340"/>
          </a:solidFill>
          <a:ln/>
        </p:spPr>
      </p:sp>
      <p:sp>
        <p:nvSpPr>
          <p:cNvPr id="70" name="text 25.69"/>
          <p:cNvSpPr txBox="1"/>
          <p:nvPr/>
        </p:nvSpPr>
        <p:spPr>
          <a:xfrm>
            <a:off x="761981" y="415914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2.4</a:t>
            </a:r>
            <a:endParaRPr lang="en-US" sz="950" dirty="0"/>
          </a:p>
        </p:txBody>
      </p:sp>
      <p:sp>
        <p:nvSpPr>
          <p:cNvPr id="71" name="text 25.70"/>
          <p:cNvSpPr txBox="1"/>
          <p:nvPr/>
        </p:nvSpPr>
        <p:spPr>
          <a:xfrm>
            <a:off x="1244569" y="4152796"/>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Assets for own mini-game</a:t>
            </a:r>
            <a:endParaRPr lang="en-US" sz="1050" dirty="0"/>
          </a:p>
        </p:txBody>
      </p:sp>
      <p:sp>
        <p:nvSpPr>
          <p:cNvPr id="72" name="shape 25.71"/>
          <p:cNvSpPr/>
          <p:nvPr/>
        </p:nvSpPr>
        <p:spPr>
          <a:xfrm>
            <a:off x="4673483" y="4121047"/>
            <a:ext cx="1015975" cy="203195"/>
          </a:xfrm>
          <a:prstGeom prst="roundRect">
            <a:avLst>
              <a:gd name="adj" fmla="val 50000"/>
            </a:avLst>
          </a:prstGeom>
          <a:solidFill>
            <a:srgbClr val="E9ECF2"/>
          </a:solidFill>
          <a:ln/>
        </p:spPr>
      </p:sp>
      <p:sp>
        <p:nvSpPr>
          <p:cNvPr id="73" name="text 25.72"/>
          <p:cNvSpPr txBox="1"/>
          <p:nvPr/>
        </p:nvSpPr>
        <p:spPr>
          <a:xfrm>
            <a:off x="4673483" y="4121047"/>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Everyone</a:t>
            </a:r>
            <a:endParaRPr lang="en-US" sz="850" dirty="0"/>
          </a:p>
        </p:txBody>
      </p:sp>
      <p:sp>
        <p:nvSpPr>
          <p:cNvPr id="74" name="text 25.73"/>
          <p:cNvSpPr txBox="1"/>
          <p:nvPr/>
        </p:nvSpPr>
        <p:spPr>
          <a:xfrm>
            <a:off x="5879953" y="4159146"/>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75" name="shape 25.74"/>
          <p:cNvSpPr/>
          <p:nvPr/>
        </p:nvSpPr>
        <p:spPr>
          <a:xfrm>
            <a:off x="7797605" y="4133747"/>
            <a:ext cx="3606710" cy="177796"/>
          </a:xfrm>
          <a:prstGeom prst="roundRect">
            <a:avLst>
              <a:gd name="adj" fmla="val 50000"/>
            </a:avLst>
          </a:prstGeom>
          <a:solidFill>
            <a:srgbClr val="1B2340"/>
          </a:solidFill>
          <a:ln/>
        </p:spPr>
      </p:sp>
      <p:sp>
        <p:nvSpPr>
          <p:cNvPr id="76" name="text 25.75"/>
          <p:cNvSpPr txBox="1"/>
          <p:nvPr/>
        </p:nvSpPr>
        <p:spPr>
          <a:xfrm>
            <a:off x="761981" y="452743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2.5</a:t>
            </a:r>
            <a:endParaRPr lang="en-US" sz="950" dirty="0"/>
          </a:p>
        </p:txBody>
      </p:sp>
      <p:sp>
        <p:nvSpPr>
          <p:cNvPr id="77" name="text 25.76"/>
          <p:cNvSpPr txBox="1"/>
          <p:nvPr/>
        </p:nvSpPr>
        <p:spPr>
          <a:xfrm>
            <a:off x="1244569" y="4521087"/>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Session menu: playlist and end rules</a:t>
            </a:r>
            <a:endParaRPr lang="en-US" sz="1050" dirty="0"/>
          </a:p>
        </p:txBody>
      </p:sp>
      <p:sp>
        <p:nvSpPr>
          <p:cNvPr id="78" name="shape 25.77"/>
          <p:cNvSpPr/>
          <p:nvPr/>
        </p:nvSpPr>
        <p:spPr>
          <a:xfrm>
            <a:off x="4673483" y="4489338"/>
            <a:ext cx="1015975" cy="203195"/>
          </a:xfrm>
          <a:prstGeom prst="roundRect">
            <a:avLst>
              <a:gd name="adj" fmla="val 50000"/>
            </a:avLst>
          </a:prstGeom>
          <a:solidFill>
            <a:srgbClr val="F1E9FF"/>
          </a:solidFill>
          <a:ln/>
        </p:spPr>
      </p:sp>
      <p:sp>
        <p:nvSpPr>
          <p:cNvPr id="79" name="text 25.78"/>
          <p:cNvSpPr txBox="1"/>
          <p:nvPr/>
        </p:nvSpPr>
        <p:spPr>
          <a:xfrm>
            <a:off x="4673483" y="4489338"/>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80" name="text 25.79"/>
          <p:cNvSpPr txBox="1"/>
          <p:nvPr/>
        </p:nvSpPr>
        <p:spPr>
          <a:xfrm>
            <a:off x="5879953" y="4527437"/>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81" name="shape 25.80"/>
          <p:cNvSpPr/>
          <p:nvPr/>
        </p:nvSpPr>
        <p:spPr>
          <a:xfrm>
            <a:off x="7797605" y="4502037"/>
            <a:ext cx="2387540" cy="177796"/>
          </a:xfrm>
          <a:prstGeom prst="roundRect">
            <a:avLst>
              <a:gd name="adj" fmla="val 50000"/>
            </a:avLst>
          </a:prstGeom>
          <a:solidFill>
            <a:srgbClr val="8F55F5"/>
          </a:solidFill>
          <a:ln/>
        </p:spPr>
      </p:sp>
      <p:sp>
        <p:nvSpPr>
          <p:cNvPr id="82" name="text 25.81"/>
          <p:cNvSpPr txBox="1"/>
          <p:nvPr/>
        </p:nvSpPr>
        <p:spPr>
          <a:xfrm>
            <a:off x="761981" y="489572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2.6</a:t>
            </a:r>
            <a:endParaRPr lang="en-US" sz="950" dirty="0"/>
          </a:p>
        </p:txBody>
      </p:sp>
      <p:sp>
        <p:nvSpPr>
          <p:cNvPr id="83" name="text 25.82"/>
          <p:cNvSpPr txBox="1"/>
          <p:nvPr/>
        </p:nvSpPr>
        <p:spPr>
          <a:xfrm>
            <a:off x="1244569" y="4889378"/>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In-game UI: HUD and scoreboard screens</a:t>
            </a:r>
            <a:endParaRPr lang="en-US" sz="1050" dirty="0"/>
          </a:p>
        </p:txBody>
      </p:sp>
      <p:sp>
        <p:nvSpPr>
          <p:cNvPr id="84" name="shape 25.83"/>
          <p:cNvSpPr/>
          <p:nvPr/>
        </p:nvSpPr>
        <p:spPr>
          <a:xfrm>
            <a:off x="4673483" y="4857629"/>
            <a:ext cx="1015975" cy="203195"/>
          </a:xfrm>
          <a:prstGeom prst="roundRect">
            <a:avLst>
              <a:gd name="adj" fmla="val 50000"/>
            </a:avLst>
          </a:prstGeom>
          <a:solidFill>
            <a:srgbClr val="E7F5E1"/>
          </a:solidFill>
          <a:ln/>
        </p:spPr>
      </p:sp>
      <p:sp>
        <p:nvSpPr>
          <p:cNvPr id="85" name="text 25.84"/>
          <p:cNvSpPr txBox="1"/>
          <p:nvPr/>
        </p:nvSpPr>
        <p:spPr>
          <a:xfrm>
            <a:off x="4673483" y="4857629"/>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86" name="text 25.85"/>
          <p:cNvSpPr txBox="1"/>
          <p:nvPr/>
        </p:nvSpPr>
        <p:spPr>
          <a:xfrm>
            <a:off x="5879953" y="4895728"/>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87" name="shape 25.86"/>
          <p:cNvSpPr/>
          <p:nvPr/>
        </p:nvSpPr>
        <p:spPr>
          <a:xfrm>
            <a:off x="7797605" y="4870328"/>
            <a:ext cx="2387540" cy="177796"/>
          </a:xfrm>
          <a:prstGeom prst="roundRect">
            <a:avLst>
              <a:gd name="adj" fmla="val 50000"/>
            </a:avLst>
          </a:prstGeom>
          <a:solidFill>
            <a:srgbClr val="43B832"/>
          </a:solidFill>
          <a:ln/>
        </p:spPr>
      </p:sp>
      <p:sp>
        <p:nvSpPr>
          <p:cNvPr id="88" name="text 25.87"/>
          <p:cNvSpPr txBox="1"/>
          <p:nvPr/>
        </p:nvSpPr>
        <p:spPr>
          <a:xfrm>
            <a:off x="761981" y="526401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2.7</a:t>
            </a:r>
            <a:endParaRPr lang="en-US" sz="950" dirty="0"/>
          </a:p>
        </p:txBody>
      </p:sp>
      <p:sp>
        <p:nvSpPr>
          <p:cNvPr id="89" name="text 25.88"/>
          <p:cNvSpPr txBox="1"/>
          <p:nvPr/>
        </p:nvSpPr>
        <p:spPr>
          <a:xfrm>
            <a:off x="1244569" y="5257669"/>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First full-session playtest</a:t>
            </a:r>
            <a:endParaRPr lang="en-US" sz="1050" dirty="0"/>
          </a:p>
        </p:txBody>
      </p:sp>
      <p:sp>
        <p:nvSpPr>
          <p:cNvPr id="90" name="shape 25.89"/>
          <p:cNvSpPr/>
          <p:nvPr/>
        </p:nvSpPr>
        <p:spPr>
          <a:xfrm>
            <a:off x="4673483" y="5225919"/>
            <a:ext cx="1015975" cy="203195"/>
          </a:xfrm>
          <a:prstGeom prst="roundRect">
            <a:avLst>
              <a:gd name="adj" fmla="val 50000"/>
            </a:avLst>
          </a:prstGeom>
          <a:solidFill>
            <a:srgbClr val="E9ECF2"/>
          </a:solidFill>
          <a:ln/>
        </p:spPr>
      </p:sp>
      <p:sp>
        <p:nvSpPr>
          <p:cNvPr id="91" name="text 25.90"/>
          <p:cNvSpPr txBox="1"/>
          <p:nvPr/>
        </p:nvSpPr>
        <p:spPr>
          <a:xfrm>
            <a:off x="4673483" y="5225919"/>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92" name="text 25.91"/>
          <p:cNvSpPr txBox="1"/>
          <p:nvPr/>
        </p:nvSpPr>
        <p:spPr>
          <a:xfrm>
            <a:off x="5879953" y="5264018"/>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93" name="shape 25.92"/>
          <p:cNvSpPr/>
          <p:nvPr/>
        </p:nvSpPr>
        <p:spPr>
          <a:xfrm>
            <a:off x="10235944" y="5238619"/>
            <a:ext cx="1168371" cy="177796"/>
          </a:xfrm>
          <a:prstGeom prst="roundRect">
            <a:avLst>
              <a:gd name="adj" fmla="val 50000"/>
            </a:avLst>
          </a:prstGeom>
          <a:solidFill>
            <a:srgbClr val="1B2340"/>
          </a:solidFill>
          <a:ln/>
        </p:spPr>
      </p:sp>
      <p:sp>
        <p:nvSpPr>
          <p:cNvPr id="94" name="text 25.93"/>
          <p:cNvSpPr txBox="1"/>
          <p:nvPr/>
        </p:nvSpPr>
        <p:spPr>
          <a:xfrm>
            <a:off x="761981" y="5632309"/>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2.8</a:t>
            </a:r>
            <a:endParaRPr lang="en-US" sz="950" dirty="0"/>
          </a:p>
        </p:txBody>
      </p:sp>
      <p:sp>
        <p:nvSpPr>
          <p:cNvPr id="95" name="text 25.94"/>
          <p:cNvSpPr txBox="1"/>
          <p:nvPr/>
        </p:nvSpPr>
        <p:spPr>
          <a:xfrm>
            <a:off x="1244569" y="5625959"/>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Demo 2 build and presentation</a:t>
            </a:r>
            <a:endParaRPr lang="en-US" sz="1050" dirty="0"/>
          </a:p>
        </p:txBody>
      </p:sp>
      <p:sp>
        <p:nvSpPr>
          <p:cNvPr id="96" name="shape 25.95"/>
          <p:cNvSpPr/>
          <p:nvPr/>
        </p:nvSpPr>
        <p:spPr>
          <a:xfrm>
            <a:off x="4673483" y="5594210"/>
            <a:ext cx="1015975" cy="203195"/>
          </a:xfrm>
          <a:prstGeom prst="roundRect">
            <a:avLst>
              <a:gd name="adj" fmla="val 50000"/>
            </a:avLst>
          </a:prstGeom>
          <a:solidFill>
            <a:srgbClr val="E9ECF2"/>
          </a:solidFill>
          <a:ln/>
        </p:spPr>
      </p:sp>
      <p:sp>
        <p:nvSpPr>
          <p:cNvPr id="97" name="text 25.96"/>
          <p:cNvSpPr txBox="1"/>
          <p:nvPr/>
        </p:nvSpPr>
        <p:spPr>
          <a:xfrm>
            <a:off x="4673483" y="5594210"/>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98" name="text 25.97"/>
          <p:cNvSpPr txBox="1"/>
          <p:nvPr/>
        </p:nvSpPr>
        <p:spPr>
          <a:xfrm>
            <a:off x="5879953" y="5632309"/>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99" name="shape 25.98"/>
          <p:cNvSpPr/>
          <p:nvPr/>
        </p:nvSpPr>
        <p:spPr>
          <a:xfrm>
            <a:off x="10235944" y="5606910"/>
            <a:ext cx="1168371" cy="177796"/>
          </a:xfrm>
          <a:prstGeom prst="roundRect">
            <a:avLst>
              <a:gd name="adj" fmla="val 50000"/>
            </a:avLst>
          </a:prstGeom>
          <a:solidFill>
            <a:srgbClr val="1B2340"/>
          </a:solidFill>
          <a:ln/>
        </p:spPr>
      </p:sp>
      <p:pic>
        <p:nvPicPr>
          <p:cNvPr id="100" name="raster 25.99" descr="diagram">    </p:cNvPr>
          <p:cNvPicPr>
            <a:picLocks noChangeAspect="1"/>
          </p:cNvPicPr>
          <p:nvPr/>
        </p:nvPicPr>
        <p:blipFill>
          <a:blip r:embed="rId3"/>
          <a:stretch>
            <a:fillRect/>
          </a:stretch>
        </p:blipFill>
        <p:spPr>
          <a:xfrm>
            <a:off x="609585" y="266693"/>
            <a:ext cx="190495" cy="190495"/>
          </a:xfrm>
          <a:prstGeom prst="rect">
            <a:avLst/>
          </a:prstGeom>
        </p:spPr>
      </p:pic>
      <p:sp>
        <p:nvSpPr>
          <p:cNvPr id="101" name="text 25.100"/>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02" name="text 25.101"/>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03" name="text 25.102"/>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104" name="text 25.103"/>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25 / 28</a:t>
            </a:r>
            <a:endParaRPr lang="en-US" sz="750" dirty="0"/>
          </a:p>
        </p:txBody>
      </p:sp>
      <p:sp>
        <p:nvSpPr>
          <p:cNvPr id="105" name="text 25.104"/>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FF6B1F"/>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6.1"/>
          <p:cNvSpPr/>
          <p:nvPr/>
        </p:nvSpPr>
        <p:spPr>
          <a:xfrm>
            <a:off x="609585" y="1765256"/>
            <a:ext cx="10972526" cy="4228994"/>
          </a:xfrm>
          <a:prstGeom prst="roundRect">
            <a:avLst>
              <a:gd name="adj" fmla="val 3604"/>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shape 26.2"/>
          <p:cNvSpPr/>
          <p:nvPr/>
        </p:nvSpPr>
        <p:spPr>
          <a:xfrm>
            <a:off x="698483" y="2565336"/>
            <a:ext cx="10794730" cy="330192"/>
          </a:xfrm>
          <a:prstGeom prst="roundRect">
            <a:avLst>
              <a:gd name="adj" fmla="val 26923"/>
            </a:avLst>
          </a:prstGeom>
          <a:solidFill>
            <a:srgbClr val="F1F5EA"/>
          </a:solidFill>
          <a:ln/>
        </p:spPr>
      </p:sp>
      <p:pic>
        <p:nvPicPr>
          <p:cNvPr id="4" name="raster 26.3" descr="diagram">    </p:cNvPr>
          <p:cNvPicPr>
            <a:picLocks noChangeAspect="1"/>
          </p:cNvPicPr>
          <p:nvPr/>
        </p:nvPicPr>
        <p:blipFill>
          <a:blip r:embed="rId2"/>
          <a:stretch>
            <a:fillRect/>
          </a:stretch>
        </p:blipFill>
        <p:spPr>
          <a:xfrm>
            <a:off x="6502237" y="2857429"/>
            <a:ext cx="4978276" cy="3073323"/>
          </a:xfrm>
          <a:prstGeom prst="rect">
            <a:avLst/>
          </a:prstGeom>
        </p:spPr>
      </p:pic>
      <p:sp>
        <p:nvSpPr>
          <p:cNvPr id="5" name="shape 26.4"/>
          <p:cNvSpPr/>
          <p:nvPr/>
        </p:nvSpPr>
        <p:spPr>
          <a:xfrm>
            <a:off x="761981" y="3289218"/>
            <a:ext cx="5714857" cy="9525"/>
          </a:xfrm>
          <a:prstGeom prst="rect">
            <a:avLst/>
          </a:prstGeom>
          <a:solidFill>
            <a:srgbClr val="EEF1EA"/>
          </a:solidFill>
          <a:ln/>
        </p:spPr>
      </p:sp>
      <p:sp>
        <p:nvSpPr>
          <p:cNvPr id="6" name="shape 26.5"/>
          <p:cNvSpPr/>
          <p:nvPr/>
        </p:nvSpPr>
        <p:spPr>
          <a:xfrm>
            <a:off x="761981" y="3657509"/>
            <a:ext cx="5714857" cy="9525"/>
          </a:xfrm>
          <a:prstGeom prst="rect">
            <a:avLst/>
          </a:prstGeom>
          <a:solidFill>
            <a:srgbClr val="EEF1EA"/>
          </a:solidFill>
          <a:ln/>
        </p:spPr>
      </p:sp>
      <p:sp>
        <p:nvSpPr>
          <p:cNvPr id="7" name="shape 26.6"/>
          <p:cNvSpPr/>
          <p:nvPr/>
        </p:nvSpPr>
        <p:spPr>
          <a:xfrm>
            <a:off x="761981" y="4025799"/>
            <a:ext cx="5714857" cy="9525"/>
          </a:xfrm>
          <a:prstGeom prst="rect">
            <a:avLst/>
          </a:prstGeom>
          <a:solidFill>
            <a:srgbClr val="EEF1EA"/>
          </a:solidFill>
          <a:ln/>
        </p:spPr>
      </p:sp>
      <p:sp>
        <p:nvSpPr>
          <p:cNvPr id="8" name="shape 26.7"/>
          <p:cNvSpPr/>
          <p:nvPr/>
        </p:nvSpPr>
        <p:spPr>
          <a:xfrm>
            <a:off x="761981" y="4394090"/>
            <a:ext cx="5714857" cy="9525"/>
          </a:xfrm>
          <a:prstGeom prst="rect">
            <a:avLst/>
          </a:prstGeom>
          <a:solidFill>
            <a:srgbClr val="EEF1EA"/>
          </a:solidFill>
          <a:ln/>
        </p:spPr>
      </p:sp>
      <p:sp>
        <p:nvSpPr>
          <p:cNvPr id="9" name="shape 26.8"/>
          <p:cNvSpPr/>
          <p:nvPr/>
        </p:nvSpPr>
        <p:spPr>
          <a:xfrm>
            <a:off x="761981" y="4762381"/>
            <a:ext cx="5714857" cy="9525"/>
          </a:xfrm>
          <a:prstGeom prst="rect">
            <a:avLst/>
          </a:prstGeom>
          <a:solidFill>
            <a:srgbClr val="EEF1EA"/>
          </a:solidFill>
          <a:ln/>
        </p:spPr>
      </p:sp>
      <p:sp>
        <p:nvSpPr>
          <p:cNvPr id="10" name="shape 26.9"/>
          <p:cNvSpPr/>
          <p:nvPr/>
        </p:nvSpPr>
        <p:spPr>
          <a:xfrm>
            <a:off x="761981" y="5130672"/>
            <a:ext cx="5714857" cy="9525"/>
          </a:xfrm>
          <a:prstGeom prst="rect">
            <a:avLst/>
          </a:prstGeom>
          <a:solidFill>
            <a:srgbClr val="EEF1EA"/>
          </a:solidFill>
          <a:ln/>
        </p:spPr>
      </p:sp>
      <p:sp>
        <p:nvSpPr>
          <p:cNvPr id="11" name="shape 26.10"/>
          <p:cNvSpPr/>
          <p:nvPr/>
        </p:nvSpPr>
        <p:spPr>
          <a:xfrm>
            <a:off x="761981" y="5498963"/>
            <a:ext cx="5714857" cy="9525"/>
          </a:xfrm>
          <a:prstGeom prst="rect">
            <a:avLst/>
          </a:prstGeom>
          <a:solidFill>
            <a:srgbClr val="EEF1EA"/>
          </a:solidFill>
          <a:ln/>
        </p:spPr>
      </p:sp>
      <p:sp>
        <p:nvSpPr>
          <p:cNvPr id="12" name="text 26.11"/>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Gantt chart: </a:t>
            </a:r>
            <a:pPr algn="l" indent="0" marL="0">
              <a:lnSpc>
                <a:spcPts val="3300"/>
              </a:lnSpc>
              <a:buNone/>
            </a:pPr>
            <a:r>
              <a:rPr lang="en-US" sz="3000" dirty="0">
                <a:solidFill>
                  <a:srgbClr val="8F55F5"/>
                </a:solidFill>
                <a:latin typeface="Arial Rounded MT Bold" pitchFamily="34" charset="0"/>
                <a:ea typeface="Arial Rounded MT Bold" pitchFamily="34" charset="-122"/>
                <a:cs typeface="Arial Rounded MT Bold" pitchFamily="34" charset="-120"/>
              </a:rPr>
              <a:t>final</a:t>
            </a:r>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 · 11 Jan</a:t>
            </a:r>
            <a:endParaRPr lang="en-US" sz="3000" dirty="0"/>
          </a:p>
        </p:txBody>
      </p:sp>
      <p:sp>
        <p:nvSpPr>
          <p:cNvPr id="13" name="text 26.12"/>
          <p:cNvSpPr txBox="1"/>
          <p:nvPr/>
        </p:nvSpPr>
        <p:spPr>
          <a:xfrm>
            <a:off x="609585" y="1358866"/>
            <a:ext cx="11694376" cy="197163"/>
          </a:xfrm>
          <a:prstGeom prst="rect">
            <a:avLst/>
          </a:prstGeom>
          <a:noFill/>
          <a:ln/>
        </p:spPr>
        <p:txBody>
          <a:bodyPr wrap="square" lIns="0" tIns="0" rIns="0" bIns="0" rtlCol="0" anchor="t"/>
          <a:lstStyle/>
          <a:p>
            <a:pPr algn="l" indent="0" marL="0">
              <a:lnSpc>
                <a:spcPts val="1550"/>
              </a:lnSpc>
              <a:buNone/>
            </a:pPr>
            <a:r>
              <a:rPr lang="en-US" sz="1150" dirty="0">
                <a:solidFill>
                  <a:srgbClr val="3E475E"/>
                </a:solidFill>
                <a:latin typeface="Arial" pitchFamily="34" charset="0"/>
                <a:ea typeface="Arial" pitchFamily="34" charset="-122"/>
                <a:cs typeface="Arial" pitchFamily="34" charset="-120"/>
              </a:rPr>
              <a:t>Everyone designs one mini-game and develops its shot (hit, jump or momentum). </a:t>
            </a:r>
            <a:pPr algn="l" indent="0" marL="0">
              <a:lnSpc>
                <a:spcPts val="1550"/>
              </a:lnSpc>
              <a:buNone/>
            </a:pPr>
            <a:r>
              <a:rPr lang="en-US" sz="1150" b="1" dirty="0">
                <a:solidFill>
                  <a:srgbClr val="1B2340"/>
                </a:solidFill>
                <a:latin typeface="Arial" pitchFamily="34" charset="0"/>
                <a:ea typeface="Arial" pitchFamily="34" charset="-122"/>
                <a:cs typeface="Arial" pitchFamily="34" charset="-120"/>
              </a:rPr>
              <a:t>Those rows are in bold.</a:t>
            </a:r>
            <a:endParaRPr lang="en-US" sz="1150" dirty="0"/>
          </a:p>
        </p:txBody>
      </p:sp>
      <p:sp>
        <p:nvSpPr>
          <p:cNvPr id="14" name="text 26.13"/>
          <p:cNvSpPr txBox="1"/>
          <p:nvPr/>
        </p:nvSpPr>
        <p:spPr>
          <a:xfrm>
            <a:off x="761981" y="2158946"/>
            <a:ext cx="457189"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WBS</a:t>
            </a:r>
            <a:endParaRPr lang="en-US" sz="700" dirty="0"/>
          </a:p>
        </p:txBody>
      </p:sp>
      <p:sp>
        <p:nvSpPr>
          <p:cNvPr id="15" name="text 26.14"/>
          <p:cNvSpPr txBox="1"/>
          <p:nvPr/>
        </p:nvSpPr>
        <p:spPr>
          <a:xfrm>
            <a:off x="1244569" y="2158946"/>
            <a:ext cx="340351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TASK</a:t>
            </a:r>
            <a:endParaRPr lang="en-US" sz="700" dirty="0"/>
          </a:p>
        </p:txBody>
      </p:sp>
      <p:sp>
        <p:nvSpPr>
          <p:cNvPr id="16" name="text 26.15"/>
          <p:cNvSpPr txBox="1"/>
          <p:nvPr/>
        </p:nvSpPr>
        <p:spPr>
          <a:xfrm>
            <a:off x="4673483" y="2158946"/>
            <a:ext cx="1181070"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OWNER</a:t>
            </a:r>
            <a:endParaRPr lang="en-US" sz="700" dirty="0"/>
          </a:p>
        </p:txBody>
      </p:sp>
      <p:sp>
        <p:nvSpPr>
          <p:cNvPr id="17" name="text 26.16"/>
          <p:cNvSpPr txBox="1"/>
          <p:nvPr/>
        </p:nvSpPr>
        <p:spPr>
          <a:xfrm>
            <a:off x="5879953" y="2158946"/>
            <a:ext cx="609585"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6F778C"/>
                </a:solidFill>
                <a:latin typeface="Arial" pitchFamily="34" charset="0"/>
                <a:ea typeface="Arial" pitchFamily="34" charset="-122"/>
                <a:cs typeface="Arial" pitchFamily="34" charset="-120"/>
              </a:rPr>
              <a:t>DURATION</a:t>
            </a:r>
            <a:endParaRPr lang="en-US" sz="700" dirty="0"/>
          </a:p>
        </p:txBody>
      </p:sp>
      <p:sp>
        <p:nvSpPr>
          <p:cNvPr id="18" name="text 26.17"/>
          <p:cNvSpPr txBox="1"/>
          <p:nvPr/>
        </p:nvSpPr>
        <p:spPr>
          <a:xfrm>
            <a:off x="6553036"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14–18 Dec</a:t>
            </a:r>
            <a:endParaRPr lang="en-US" sz="900" dirty="0"/>
          </a:p>
        </p:txBody>
      </p:sp>
      <p:sp>
        <p:nvSpPr>
          <p:cNvPr id="19" name="shape 26.18"/>
          <p:cNvSpPr/>
          <p:nvPr/>
        </p:nvSpPr>
        <p:spPr>
          <a:xfrm>
            <a:off x="6578436" y="2095448"/>
            <a:ext cx="1168371" cy="203195"/>
          </a:xfrm>
          <a:prstGeom prst="roundRect">
            <a:avLst>
              <a:gd name="adj" fmla="val 50000"/>
            </a:avLst>
          </a:prstGeom>
          <a:solidFill>
            <a:srgbClr val="8F55F5"/>
          </a:solidFill>
          <a:ln/>
        </p:spPr>
      </p:sp>
      <p:sp>
        <p:nvSpPr>
          <p:cNvPr id="20" name="text 26.19"/>
          <p:cNvSpPr txBox="1"/>
          <p:nvPr/>
        </p:nvSpPr>
        <p:spPr>
          <a:xfrm>
            <a:off x="6578436"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W9</a:t>
            </a:r>
            <a:endParaRPr lang="en-US" sz="800" dirty="0"/>
          </a:p>
        </p:txBody>
      </p:sp>
      <p:sp>
        <p:nvSpPr>
          <p:cNvPr id="21" name="text 26.20"/>
          <p:cNvSpPr txBox="1"/>
          <p:nvPr/>
        </p:nvSpPr>
        <p:spPr>
          <a:xfrm>
            <a:off x="6553036"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22" name="text 26.21"/>
          <p:cNvSpPr txBox="1"/>
          <p:nvPr/>
        </p:nvSpPr>
        <p:spPr>
          <a:xfrm>
            <a:off x="679681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3" name="text 26.22"/>
          <p:cNvSpPr txBox="1"/>
          <p:nvPr/>
        </p:nvSpPr>
        <p:spPr>
          <a:xfrm>
            <a:off x="7040684"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24" name="text 26.23"/>
          <p:cNvSpPr txBox="1"/>
          <p:nvPr/>
        </p:nvSpPr>
        <p:spPr>
          <a:xfrm>
            <a:off x="7284459"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25" name="text 26.24"/>
          <p:cNvSpPr txBox="1"/>
          <p:nvPr/>
        </p:nvSpPr>
        <p:spPr>
          <a:xfrm>
            <a:off x="7528332"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26" name="text 26.25"/>
          <p:cNvSpPr txBox="1"/>
          <p:nvPr/>
        </p:nvSpPr>
        <p:spPr>
          <a:xfrm>
            <a:off x="7772206"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21–25 Dec</a:t>
            </a:r>
            <a:endParaRPr lang="en-US" sz="900" dirty="0"/>
          </a:p>
        </p:txBody>
      </p:sp>
      <p:sp>
        <p:nvSpPr>
          <p:cNvPr id="27" name="shape 26.26"/>
          <p:cNvSpPr/>
          <p:nvPr/>
        </p:nvSpPr>
        <p:spPr>
          <a:xfrm>
            <a:off x="7797605" y="2095448"/>
            <a:ext cx="1168371" cy="203195"/>
          </a:xfrm>
          <a:prstGeom prst="roundRect">
            <a:avLst>
              <a:gd name="adj" fmla="val 50000"/>
            </a:avLst>
          </a:prstGeom>
          <a:solidFill>
            <a:srgbClr val="8F55F5"/>
          </a:solidFill>
          <a:ln/>
        </p:spPr>
      </p:sp>
      <p:sp>
        <p:nvSpPr>
          <p:cNvPr id="28" name="text 26.27"/>
          <p:cNvSpPr txBox="1"/>
          <p:nvPr/>
        </p:nvSpPr>
        <p:spPr>
          <a:xfrm>
            <a:off x="7797605"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W10</a:t>
            </a:r>
            <a:endParaRPr lang="en-US" sz="800" dirty="0"/>
          </a:p>
        </p:txBody>
      </p:sp>
      <p:sp>
        <p:nvSpPr>
          <p:cNvPr id="29" name="text 26.28"/>
          <p:cNvSpPr txBox="1"/>
          <p:nvPr/>
        </p:nvSpPr>
        <p:spPr>
          <a:xfrm>
            <a:off x="7772206"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0" name="text 26.29"/>
          <p:cNvSpPr txBox="1"/>
          <p:nvPr/>
        </p:nvSpPr>
        <p:spPr>
          <a:xfrm>
            <a:off x="8015980"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1" name="text 26.30"/>
          <p:cNvSpPr txBox="1"/>
          <p:nvPr/>
        </p:nvSpPr>
        <p:spPr>
          <a:xfrm>
            <a:off x="8259854"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32" name="text 26.31"/>
          <p:cNvSpPr txBox="1"/>
          <p:nvPr/>
        </p:nvSpPr>
        <p:spPr>
          <a:xfrm>
            <a:off x="8503628"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3" name="text 26.32"/>
          <p:cNvSpPr txBox="1"/>
          <p:nvPr/>
        </p:nvSpPr>
        <p:spPr>
          <a:xfrm>
            <a:off x="8747502"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34" name="text 26.33"/>
          <p:cNvSpPr txBox="1"/>
          <p:nvPr/>
        </p:nvSpPr>
        <p:spPr>
          <a:xfrm>
            <a:off x="8991375"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28 Dec–1 Jan</a:t>
            </a:r>
            <a:endParaRPr lang="en-US" sz="900" dirty="0"/>
          </a:p>
        </p:txBody>
      </p:sp>
      <p:sp>
        <p:nvSpPr>
          <p:cNvPr id="35" name="shape 26.34"/>
          <p:cNvSpPr/>
          <p:nvPr/>
        </p:nvSpPr>
        <p:spPr>
          <a:xfrm>
            <a:off x="9016775" y="2095448"/>
            <a:ext cx="1168371" cy="203195"/>
          </a:xfrm>
          <a:prstGeom prst="roundRect">
            <a:avLst>
              <a:gd name="adj" fmla="val 50000"/>
            </a:avLst>
          </a:prstGeom>
          <a:solidFill>
            <a:srgbClr val="8F55F5"/>
          </a:solidFill>
          <a:ln/>
        </p:spPr>
      </p:sp>
      <p:sp>
        <p:nvSpPr>
          <p:cNvPr id="36" name="text 26.35"/>
          <p:cNvSpPr txBox="1"/>
          <p:nvPr/>
        </p:nvSpPr>
        <p:spPr>
          <a:xfrm>
            <a:off x="9016775"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W11</a:t>
            </a:r>
            <a:endParaRPr lang="en-US" sz="800" dirty="0"/>
          </a:p>
        </p:txBody>
      </p:sp>
      <p:sp>
        <p:nvSpPr>
          <p:cNvPr id="37" name="text 26.36"/>
          <p:cNvSpPr txBox="1"/>
          <p:nvPr/>
        </p:nvSpPr>
        <p:spPr>
          <a:xfrm>
            <a:off x="8991375"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38" name="text 26.37"/>
          <p:cNvSpPr txBox="1"/>
          <p:nvPr/>
        </p:nvSpPr>
        <p:spPr>
          <a:xfrm>
            <a:off x="9235150"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39" name="text 26.38"/>
          <p:cNvSpPr txBox="1"/>
          <p:nvPr/>
        </p:nvSpPr>
        <p:spPr>
          <a:xfrm>
            <a:off x="9479023"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0" name="text 26.39"/>
          <p:cNvSpPr txBox="1"/>
          <p:nvPr/>
        </p:nvSpPr>
        <p:spPr>
          <a:xfrm>
            <a:off x="9722798"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1" name="text 26.40"/>
          <p:cNvSpPr txBox="1"/>
          <p:nvPr/>
        </p:nvSpPr>
        <p:spPr>
          <a:xfrm>
            <a:off x="996667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42" name="text 26.41"/>
          <p:cNvSpPr txBox="1"/>
          <p:nvPr/>
        </p:nvSpPr>
        <p:spPr>
          <a:xfrm>
            <a:off x="10210545" y="1904952"/>
            <a:ext cx="1219170" cy="137157"/>
          </a:xfrm>
          <a:prstGeom prst="rect">
            <a:avLst/>
          </a:prstGeom>
          <a:noFill/>
          <a:ln/>
        </p:spPr>
        <p:txBody>
          <a:bodyPr wrap="square" lIns="0" tIns="0" rIns="0" bIns="0" rtlCol="0" anchor="t"/>
          <a:lstStyle/>
          <a:p>
            <a:pPr algn="ctr" indent="0" marL="0">
              <a:lnSpc>
                <a:spcPts val="1080"/>
              </a:lnSpc>
              <a:buNone/>
            </a:pPr>
            <a:r>
              <a:rPr lang="en-US" sz="900" b="1" dirty="0">
                <a:solidFill>
                  <a:srgbClr val="1B2340"/>
                </a:solidFill>
                <a:latin typeface="Arial" pitchFamily="34" charset="0"/>
                <a:ea typeface="Arial" pitchFamily="34" charset="-122"/>
                <a:cs typeface="Arial" pitchFamily="34" charset="-120"/>
              </a:rPr>
              <a:t>4–8 Jan</a:t>
            </a:r>
            <a:endParaRPr lang="en-US" sz="900" dirty="0"/>
          </a:p>
        </p:txBody>
      </p:sp>
      <p:sp>
        <p:nvSpPr>
          <p:cNvPr id="43" name="shape 26.42"/>
          <p:cNvSpPr/>
          <p:nvPr/>
        </p:nvSpPr>
        <p:spPr>
          <a:xfrm>
            <a:off x="10235944" y="2095448"/>
            <a:ext cx="1168371" cy="203195"/>
          </a:xfrm>
          <a:prstGeom prst="roundRect">
            <a:avLst>
              <a:gd name="adj" fmla="val 50000"/>
            </a:avLst>
          </a:prstGeom>
          <a:solidFill>
            <a:srgbClr val="8F55F5"/>
          </a:solidFill>
          <a:ln/>
        </p:spPr>
      </p:sp>
      <p:sp>
        <p:nvSpPr>
          <p:cNvPr id="44" name="text 26.43"/>
          <p:cNvSpPr txBox="1"/>
          <p:nvPr/>
        </p:nvSpPr>
        <p:spPr>
          <a:xfrm>
            <a:off x="10235944" y="2095448"/>
            <a:ext cx="1168371" cy="203195"/>
          </a:xfrm>
          <a:prstGeom prst="rect">
            <a:avLst/>
          </a:prstGeom>
          <a:noFill/>
          <a:ln/>
        </p:spPr>
        <p:txBody>
          <a:bodyPr wrap="square" lIns="0" tIns="0" rIns="0" bIns="0" rtlCol="0" anchor="ctr"/>
          <a:lstStyle/>
          <a:p>
            <a:pPr algn="ctr" indent="0" marL="0">
              <a:lnSpc>
                <a:spcPts val="800"/>
              </a:lnSpc>
              <a:buNone/>
            </a:pPr>
            <a:r>
              <a:rPr lang="en-US" sz="800" b="1" spc="48" kern="0" dirty="0">
                <a:solidFill>
                  <a:srgbClr val="FFFFFF"/>
                </a:solidFill>
                <a:latin typeface="Arial" pitchFamily="34" charset="0"/>
                <a:ea typeface="Arial" pitchFamily="34" charset="-122"/>
                <a:cs typeface="Arial" pitchFamily="34" charset="-120"/>
              </a:rPr>
              <a:t>W12</a:t>
            </a:r>
            <a:endParaRPr lang="en-US" sz="800" dirty="0"/>
          </a:p>
        </p:txBody>
      </p:sp>
      <p:sp>
        <p:nvSpPr>
          <p:cNvPr id="45" name="text 26.44"/>
          <p:cNvSpPr txBox="1"/>
          <p:nvPr/>
        </p:nvSpPr>
        <p:spPr>
          <a:xfrm>
            <a:off x="10210545"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M</a:t>
            </a:r>
            <a:endParaRPr lang="en-US" sz="750" dirty="0"/>
          </a:p>
        </p:txBody>
      </p:sp>
      <p:sp>
        <p:nvSpPr>
          <p:cNvPr id="46" name="text 26.45"/>
          <p:cNvSpPr txBox="1"/>
          <p:nvPr/>
        </p:nvSpPr>
        <p:spPr>
          <a:xfrm>
            <a:off x="10454319"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7" name="text 26.46"/>
          <p:cNvSpPr txBox="1"/>
          <p:nvPr/>
        </p:nvSpPr>
        <p:spPr>
          <a:xfrm>
            <a:off x="10698193"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W</a:t>
            </a:r>
            <a:endParaRPr lang="en-US" sz="750" dirty="0"/>
          </a:p>
        </p:txBody>
      </p:sp>
      <p:sp>
        <p:nvSpPr>
          <p:cNvPr id="48" name="text 26.47"/>
          <p:cNvSpPr txBox="1"/>
          <p:nvPr/>
        </p:nvSpPr>
        <p:spPr>
          <a:xfrm>
            <a:off x="10941967"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T</a:t>
            </a:r>
            <a:endParaRPr lang="en-US" sz="750" dirty="0"/>
          </a:p>
        </p:txBody>
      </p:sp>
      <p:sp>
        <p:nvSpPr>
          <p:cNvPr id="49" name="text 26.48"/>
          <p:cNvSpPr txBox="1"/>
          <p:nvPr/>
        </p:nvSpPr>
        <p:spPr>
          <a:xfrm>
            <a:off x="11185841" y="2336742"/>
            <a:ext cx="243774" cy="190495"/>
          </a:xfrm>
          <a:prstGeom prst="rect">
            <a:avLst/>
          </a:prstGeom>
          <a:noFill/>
          <a:ln/>
        </p:spPr>
        <p:txBody>
          <a:bodyPr wrap="square" lIns="0" tIns="0" rIns="0" bIns="0" rtlCol="0" anchor="ctr"/>
          <a:lstStyle/>
          <a:p>
            <a:pPr algn="ctr" indent="0" marL="0">
              <a:lnSpc>
                <a:spcPts val="750"/>
              </a:lnSpc>
              <a:buNone/>
            </a:pPr>
            <a:r>
              <a:rPr lang="en-US" sz="750" b="1" dirty="0">
                <a:solidFill>
                  <a:srgbClr val="6F778C"/>
                </a:solidFill>
                <a:latin typeface="Arial" pitchFamily="34" charset="0"/>
                <a:ea typeface="Arial" pitchFamily="34" charset="-122"/>
                <a:cs typeface="Arial" pitchFamily="34" charset="-120"/>
              </a:rPr>
              <a:t>F</a:t>
            </a:r>
            <a:endParaRPr lang="en-US" sz="750" dirty="0"/>
          </a:p>
        </p:txBody>
      </p:sp>
      <p:sp>
        <p:nvSpPr>
          <p:cNvPr id="50" name="text 26.49"/>
          <p:cNvSpPr txBox="1"/>
          <p:nvPr/>
        </p:nvSpPr>
        <p:spPr>
          <a:xfrm>
            <a:off x="761981" y="2660583"/>
            <a:ext cx="155522"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3</a:t>
            </a:r>
            <a:endParaRPr lang="en-US" sz="1150" dirty="0"/>
          </a:p>
        </p:txBody>
      </p:sp>
      <p:sp>
        <p:nvSpPr>
          <p:cNvPr id="51" name="text 26.50"/>
          <p:cNvSpPr txBox="1"/>
          <p:nvPr/>
        </p:nvSpPr>
        <p:spPr>
          <a:xfrm>
            <a:off x="1244569" y="2660583"/>
            <a:ext cx="1050301" cy="146046"/>
          </a:xfrm>
          <a:prstGeom prst="rect">
            <a:avLst/>
          </a:prstGeom>
          <a:noFill/>
          <a:ln/>
        </p:spPr>
        <p:txBody>
          <a:bodyPr wrap="square" lIns="0" tIns="0" rIns="0" bIns="0" rtlCol="0" anchor="t"/>
          <a:lstStyle/>
          <a:p>
            <a:pPr algn="l" indent="0" marL="0">
              <a:lnSpc>
                <a:spcPts val="1150"/>
              </a:lnSpc>
              <a:buNone/>
            </a:pPr>
            <a:r>
              <a:rPr lang="en-US" sz="1150" dirty="0">
                <a:solidFill>
                  <a:srgbClr val="1B2340"/>
                </a:solidFill>
                <a:latin typeface="Arial Rounded MT Bold" pitchFamily="34" charset="0"/>
                <a:ea typeface="Arial Rounded MT Bold" pitchFamily="34" charset="-122"/>
                <a:cs typeface="Arial Rounded MT Bold" pitchFamily="34" charset="-120"/>
              </a:rPr>
              <a:t>Final · 11 Jan</a:t>
            </a:r>
            <a:endParaRPr lang="en-US" sz="1150" dirty="0"/>
          </a:p>
        </p:txBody>
      </p:sp>
      <p:sp>
        <p:nvSpPr>
          <p:cNvPr id="52" name="text 26.51"/>
          <p:cNvSpPr txBox="1"/>
          <p:nvPr/>
        </p:nvSpPr>
        <p:spPr>
          <a:xfrm>
            <a:off x="761981" y="305427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3.1</a:t>
            </a:r>
            <a:endParaRPr lang="en-US" sz="950" dirty="0"/>
          </a:p>
        </p:txBody>
      </p:sp>
      <p:sp>
        <p:nvSpPr>
          <p:cNvPr id="53" name="text 26.52"/>
          <p:cNvSpPr txBox="1"/>
          <p:nvPr/>
        </p:nvSpPr>
        <p:spPr>
          <a:xfrm>
            <a:off x="1244569" y="3047924"/>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Cosmetics shop and customisation</a:t>
            </a:r>
            <a:endParaRPr lang="en-US" sz="1050" dirty="0"/>
          </a:p>
        </p:txBody>
      </p:sp>
      <p:sp>
        <p:nvSpPr>
          <p:cNvPr id="54" name="shape 26.53"/>
          <p:cNvSpPr/>
          <p:nvPr/>
        </p:nvSpPr>
        <p:spPr>
          <a:xfrm>
            <a:off x="4673483" y="3016175"/>
            <a:ext cx="1015975" cy="203195"/>
          </a:xfrm>
          <a:prstGeom prst="roundRect">
            <a:avLst>
              <a:gd name="adj" fmla="val 50000"/>
            </a:avLst>
          </a:prstGeom>
          <a:solidFill>
            <a:srgbClr val="E7F5E1"/>
          </a:solidFill>
          <a:ln/>
        </p:spPr>
      </p:sp>
      <p:sp>
        <p:nvSpPr>
          <p:cNvPr id="55" name="text 26.54"/>
          <p:cNvSpPr txBox="1"/>
          <p:nvPr/>
        </p:nvSpPr>
        <p:spPr>
          <a:xfrm>
            <a:off x="4673483" y="3016175"/>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a:t>
            </a:r>
            <a:endParaRPr lang="en-US" sz="850" dirty="0"/>
          </a:p>
        </p:txBody>
      </p:sp>
      <p:sp>
        <p:nvSpPr>
          <p:cNvPr id="56" name="text 26.55"/>
          <p:cNvSpPr txBox="1"/>
          <p:nvPr/>
        </p:nvSpPr>
        <p:spPr>
          <a:xfrm>
            <a:off x="5879953" y="3054274"/>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57" name="shape 26.56"/>
          <p:cNvSpPr/>
          <p:nvPr/>
        </p:nvSpPr>
        <p:spPr>
          <a:xfrm>
            <a:off x="6578436" y="3028874"/>
            <a:ext cx="2387540" cy="177796"/>
          </a:xfrm>
          <a:prstGeom prst="roundRect">
            <a:avLst>
              <a:gd name="adj" fmla="val 50000"/>
            </a:avLst>
          </a:prstGeom>
          <a:solidFill>
            <a:srgbClr val="43B832"/>
          </a:solidFill>
          <a:ln/>
        </p:spPr>
      </p:sp>
      <p:sp>
        <p:nvSpPr>
          <p:cNvPr id="58" name="text 26.57"/>
          <p:cNvSpPr txBox="1"/>
          <p:nvPr/>
        </p:nvSpPr>
        <p:spPr>
          <a:xfrm>
            <a:off x="761981" y="3422564"/>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3.2</a:t>
            </a:r>
            <a:endParaRPr lang="en-US" sz="950" dirty="0"/>
          </a:p>
        </p:txBody>
      </p:sp>
      <p:sp>
        <p:nvSpPr>
          <p:cNvPr id="59" name="text 26.58"/>
          <p:cNvSpPr txBox="1"/>
          <p:nvPr/>
        </p:nvSpPr>
        <p:spPr>
          <a:xfrm>
            <a:off x="1244569" y="3416215"/>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Sound effects and music</a:t>
            </a:r>
            <a:endParaRPr lang="en-US" sz="1050" dirty="0"/>
          </a:p>
        </p:txBody>
      </p:sp>
      <p:sp>
        <p:nvSpPr>
          <p:cNvPr id="60" name="shape 26.59"/>
          <p:cNvSpPr/>
          <p:nvPr/>
        </p:nvSpPr>
        <p:spPr>
          <a:xfrm>
            <a:off x="4673483" y="3384465"/>
            <a:ext cx="1015975" cy="203195"/>
          </a:xfrm>
          <a:prstGeom prst="roundRect">
            <a:avLst>
              <a:gd name="adj" fmla="val 50000"/>
            </a:avLst>
          </a:prstGeom>
          <a:solidFill>
            <a:srgbClr val="E7F5E1"/>
          </a:solidFill>
          <a:ln/>
        </p:spPr>
      </p:sp>
      <p:sp>
        <p:nvSpPr>
          <p:cNvPr id="61" name="text 26.60"/>
          <p:cNvSpPr txBox="1"/>
          <p:nvPr/>
        </p:nvSpPr>
        <p:spPr>
          <a:xfrm>
            <a:off x="4673483" y="3384465"/>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43B832"/>
                </a:solidFill>
                <a:latin typeface="Arial" pitchFamily="34" charset="0"/>
                <a:ea typeface="Arial" pitchFamily="34" charset="-122"/>
                <a:cs typeface="Arial" pitchFamily="34" charset="-120"/>
              </a:rPr>
              <a:t>Kürşat, Ezel</a:t>
            </a:r>
            <a:endParaRPr lang="en-US" sz="850" dirty="0"/>
          </a:p>
        </p:txBody>
      </p:sp>
      <p:sp>
        <p:nvSpPr>
          <p:cNvPr id="62" name="text 26.61"/>
          <p:cNvSpPr txBox="1"/>
          <p:nvPr/>
        </p:nvSpPr>
        <p:spPr>
          <a:xfrm>
            <a:off x="5879953" y="3422564"/>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63" name="shape 26.62"/>
          <p:cNvSpPr/>
          <p:nvPr/>
        </p:nvSpPr>
        <p:spPr>
          <a:xfrm>
            <a:off x="7797605" y="3397165"/>
            <a:ext cx="2387540" cy="177796"/>
          </a:xfrm>
          <a:prstGeom prst="roundRect">
            <a:avLst>
              <a:gd name="adj" fmla="val 50000"/>
            </a:avLst>
          </a:prstGeom>
          <a:solidFill>
            <a:srgbClr val="43B832"/>
          </a:solidFill>
          <a:ln/>
        </p:spPr>
      </p:sp>
      <p:sp>
        <p:nvSpPr>
          <p:cNvPr id="64" name="text 26.63"/>
          <p:cNvSpPr txBox="1"/>
          <p:nvPr/>
        </p:nvSpPr>
        <p:spPr>
          <a:xfrm>
            <a:off x="761981" y="3790855"/>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3.3</a:t>
            </a:r>
            <a:endParaRPr lang="en-US" sz="950" dirty="0"/>
          </a:p>
        </p:txBody>
      </p:sp>
      <p:sp>
        <p:nvSpPr>
          <p:cNvPr id="65" name="text 26.64"/>
          <p:cNvSpPr txBox="1"/>
          <p:nvPr/>
        </p:nvSpPr>
        <p:spPr>
          <a:xfrm>
            <a:off x="1244569" y="3784505"/>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Balance tuning from playtests</a:t>
            </a:r>
            <a:endParaRPr lang="en-US" sz="1050" dirty="0"/>
          </a:p>
        </p:txBody>
      </p:sp>
      <p:sp>
        <p:nvSpPr>
          <p:cNvPr id="66" name="shape 26.65"/>
          <p:cNvSpPr/>
          <p:nvPr/>
        </p:nvSpPr>
        <p:spPr>
          <a:xfrm>
            <a:off x="4673483" y="3752756"/>
            <a:ext cx="1015975" cy="203195"/>
          </a:xfrm>
          <a:prstGeom prst="roundRect">
            <a:avLst>
              <a:gd name="adj" fmla="val 50000"/>
            </a:avLst>
          </a:prstGeom>
          <a:solidFill>
            <a:srgbClr val="E9ECF2"/>
          </a:solidFill>
          <a:ln/>
        </p:spPr>
      </p:sp>
      <p:sp>
        <p:nvSpPr>
          <p:cNvPr id="67" name="text 26.66"/>
          <p:cNvSpPr txBox="1"/>
          <p:nvPr/>
        </p:nvSpPr>
        <p:spPr>
          <a:xfrm>
            <a:off x="4673483" y="3752756"/>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68" name="text 26.67"/>
          <p:cNvSpPr txBox="1"/>
          <p:nvPr/>
        </p:nvSpPr>
        <p:spPr>
          <a:xfrm>
            <a:off x="5879953" y="3790855"/>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69" name="shape 26.68"/>
          <p:cNvSpPr/>
          <p:nvPr/>
        </p:nvSpPr>
        <p:spPr>
          <a:xfrm>
            <a:off x="6578436" y="3765456"/>
            <a:ext cx="2387540" cy="177796"/>
          </a:xfrm>
          <a:prstGeom prst="roundRect">
            <a:avLst>
              <a:gd name="adj" fmla="val 50000"/>
            </a:avLst>
          </a:prstGeom>
          <a:solidFill>
            <a:srgbClr val="1B2340"/>
          </a:solidFill>
          <a:ln/>
        </p:spPr>
      </p:sp>
      <p:sp>
        <p:nvSpPr>
          <p:cNvPr id="70" name="text 26.69"/>
          <p:cNvSpPr txBox="1"/>
          <p:nvPr/>
        </p:nvSpPr>
        <p:spPr>
          <a:xfrm>
            <a:off x="761981" y="4159146"/>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3.4</a:t>
            </a:r>
            <a:endParaRPr lang="en-US" sz="950" dirty="0"/>
          </a:p>
        </p:txBody>
      </p:sp>
      <p:sp>
        <p:nvSpPr>
          <p:cNvPr id="71" name="text 26.70"/>
          <p:cNvSpPr txBox="1"/>
          <p:nvPr/>
        </p:nvSpPr>
        <p:spPr>
          <a:xfrm>
            <a:off x="1244569" y="4152796"/>
            <a:ext cx="3378116" cy="146681"/>
          </a:xfrm>
          <a:prstGeom prst="rect">
            <a:avLst/>
          </a:prstGeom>
          <a:noFill/>
          <a:ln/>
        </p:spPr>
        <p:txBody>
          <a:bodyPr wrap="square" lIns="0" tIns="0" rIns="0" bIns="0" rtlCol="0" anchor="t"/>
          <a:lstStyle/>
          <a:p>
            <a:pPr algn="l" indent="0" marL="0">
              <a:lnSpc>
                <a:spcPts val="1160"/>
              </a:lnSpc>
              <a:buNone/>
            </a:pPr>
            <a:r>
              <a:rPr lang="en-US" sz="1050" b="1" dirty="0">
                <a:solidFill>
                  <a:srgbClr val="1B2340"/>
                </a:solidFill>
                <a:latin typeface="Arial" pitchFamily="34" charset="0"/>
                <a:ea typeface="Arial" pitchFamily="34" charset="-122"/>
                <a:cs typeface="Arial" pitchFamily="34" charset="-120"/>
              </a:rPr>
              <a:t>Polish own mini-game</a:t>
            </a:r>
            <a:endParaRPr lang="en-US" sz="1050" dirty="0"/>
          </a:p>
        </p:txBody>
      </p:sp>
      <p:sp>
        <p:nvSpPr>
          <p:cNvPr id="72" name="shape 26.71"/>
          <p:cNvSpPr/>
          <p:nvPr/>
        </p:nvSpPr>
        <p:spPr>
          <a:xfrm>
            <a:off x="4673483" y="4121047"/>
            <a:ext cx="1015975" cy="203195"/>
          </a:xfrm>
          <a:prstGeom prst="roundRect">
            <a:avLst>
              <a:gd name="adj" fmla="val 50000"/>
            </a:avLst>
          </a:prstGeom>
          <a:solidFill>
            <a:srgbClr val="E9ECF2"/>
          </a:solidFill>
          <a:ln/>
        </p:spPr>
      </p:sp>
      <p:sp>
        <p:nvSpPr>
          <p:cNvPr id="73" name="text 26.72"/>
          <p:cNvSpPr txBox="1"/>
          <p:nvPr/>
        </p:nvSpPr>
        <p:spPr>
          <a:xfrm>
            <a:off x="4673483" y="4121047"/>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Everyone</a:t>
            </a:r>
            <a:endParaRPr lang="en-US" sz="850" dirty="0"/>
          </a:p>
        </p:txBody>
      </p:sp>
      <p:sp>
        <p:nvSpPr>
          <p:cNvPr id="74" name="text 26.73"/>
          <p:cNvSpPr txBox="1"/>
          <p:nvPr/>
        </p:nvSpPr>
        <p:spPr>
          <a:xfrm>
            <a:off x="5879953" y="4159146"/>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75" name="shape 26.74"/>
          <p:cNvSpPr/>
          <p:nvPr/>
        </p:nvSpPr>
        <p:spPr>
          <a:xfrm>
            <a:off x="7797605" y="4133747"/>
            <a:ext cx="2387540" cy="177796"/>
          </a:xfrm>
          <a:prstGeom prst="roundRect">
            <a:avLst>
              <a:gd name="adj" fmla="val 50000"/>
            </a:avLst>
          </a:prstGeom>
          <a:solidFill>
            <a:srgbClr val="1B2340"/>
          </a:solidFill>
          <a:ln/>
        </p:spPr>
      </p:sp>
      <p:sp>
        <p:nvSpPr>
          <p:cNvPr id="76" name="text 26.75"/>
          <p:cNvSpPr txBox="1"/>
          <p:nvPr/>
        </p:nvSpPr>
        <p:spPr>
          <a:xfrm>
            <a:off x="761981" y="4527437"/>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3.5</a:t>
            </a:r>
            <a:endParaRPr lang="en-US" sz="950" dirty="0"/>
          </a:p>
        </p:txBody>
      </p:sp>
      <p:sp>
        <p:nvSpPr>
          <p:cNvPr id="77" name="text 26.76"/>
          <p:cNvSpPr txBox="1"/>
          <p:nvPr/>
        </p:nvSpPr>
        <p:spPr>
          <a:xfrm>
            <a:off x="1244569" y="4521087"/>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Battle mini-game (stretch goal)</a:t>
            </a:r>
            <a:endParaRPr lang="en-US" sz="1050" dirty="0"/>
          </a:p>
        </p:txBody>
      </p:sp>
      <p:sp>
        <p:nvSpPr>
          <p:cNvPr id="78" name="shape 26.77"/>
          <p:cNvSpPr/>
          <p:nvPr/>
        </p:nvSpPr>
        <p:spPr>
          <a:xfrm>
            <a:off x="4673483" y="4489338"/>
            <a:ext cx="1015975" cy="203195"/>
          </a:xfrm>
          <a:prstGeom prst="roundRect">
            <a:avLst>
              <a:gd name="adj" fmla="val 50000"/>
            </a:avLst>
          </a:prstGeom>
          <a:solidFill>
            <a:srgbClr val="E3F2FB"/>
          </a:solidFill>
          <a:ln/>
        </p:spPr>
      </p:sp>
      <p:sp>
        <p:nvSpPr>
          <p:cNvPr id="79" name="text 26.78"/>
          <p:cNvSpPr txBox="1"/>
          <p:nvPr/>
        </p:nvSpPr>
        <p:spPr>
          <a:xfrm>
            <a:off x="4673483" y="4489338"/>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FA9EA"/>
                </a:solidFill>
                <a:latin typeface="Arial" pitchFamily="34" charset="0"/>
                <a:ea typeface="Arial" pitchFamily="34" charset="-122"/>
                <a:cs typeface="Arial" pitchFamily="34" charset="-120"/>
              </a:rPr>
              <a:t>Abdurrahim</a:t>
            </a:r>
            <a:endParaRPr lang="en-US" sz="850" dirty="0"/>
          </a:p>
        </p:txBody>
      </p:sp>
      <p:sp>
        <p:nvSpPr>
          <p:cNvPr id="80" name="text 26.79"/>
          <p:cNvSpPr txBox="1"/>
          <p:nvPr/>
        </p:nvSpPr>
        <p:spPr>
          <a:xfrm>
            <a:off x="5879953" y="4527437"/>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3 wk</a:t>
            </a:r>
            <a:endParaRPr lang="en-US" sz="950" dirty="0"/>
          </a:p>
        </p:txBody>
      </p:sp>
      <p:sp>
        <p:nvSpPr>
          <p:cNvPr id="81" name="shape 26.80"/>
          <p:cNvSpPr/>
          <p:nvPr/>
        </p:nvSpPr>
        <p:spPr>
          <a:xfrm>
            <a:off x="6578436" y="4502037"/>
            <a:ext cx="3606710" cy="177796"/>
          </a:xfrm>
          <a:prstGeom prst="roundRect">
            <a:avLst>
              <a:gd name="adj" fmla="val 50000"/>
            </a:avLst>
          </a:prstGeom>
          <a:solidFill>
            <a:srgbClr val="1FA9EA"/>
          </a:solidFill>
          <a:ln/>
        </p:spPr>
      </p:sp>
      <p:sp>
        <p:nvSpPr>
          <p:cNvPr id="82" name="text 26.81"/>
          <p:cNvSpPr txBox="1"/>
          <p:nvPr/>
        </p:nvSpPr>
        <p:spPr>
          <a:xfrm>
            <a:off x="761981" y="489572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3.6</a:t>
            </a:r>
            <a:endParaRPr lang="en-US" sz="950" dirty="0"/>
          </a:p>
        </p:txBody>
      </p:sp>
      <p:sp>
        <p:nvSpPr>
          <p:cNvPr id="83" name="text 26.82"/>
          <p:cNvSpPr txBox="1"/>
          <p:nvPr/>
        </p:nvSpPr>
        <p:spPr>
          <a:xfrm>
            <a:off x="1244569" y="4889378"/>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Online tests and final build</a:t>
            </a:r>
            <a:endParaRPr lang="en-US" sz="1050" dirty="0"/>
          </a:p>
        </p:txBody>
      </p:sp>
      <p:sp>
        <p:nvSpPr>
          <p:cNvPr id="84" name="shape 26.83"/>
          <p:cNvSpPr/>
          <p:nvPr/>
        </p:nvSpPr>
        <p:spPr>
          <a:xfrm>
            <a:off x="4673483" y="4857629"/>
            <a:ext cx="1015975" cy="203195"/>
          </a:xfrm>
          <a:prstGeom prst="roundRect">
            <a:avLst>
              <a:gd name="adj" fmla="val 50000"/>
            </a:avLst>
          </a:prstGeom>
          <a:solidFill>
            <a:srgbClr val="FFF0E6"/>
          </a:solidFill>
          <a:ln/>
        </p:spPr>
      </p:sp>
      <p:sp>
        <p:nvSpPr>
          <p:cNvPr id="85" name="text 26.84"/>
          <p:cNvSpPr txBox="1"/>
          <p:nvPr/>
        </p:nvSpPr>
        <p:spPr>
          <a:xfrm>
            <a:off x="4673483" y="4857629"/>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FF6B1F"/>
                </a:solidFill>
                <a:latin typeface="Arial" pitchFamily="34" charset="0"/>
                <a:ea typeface="Arial" pitchFamily="34" charset="-122"/>
                <a:cs typeface="Arial" pitchFamily="34" charset="-120"/>
              </a:rPr>
              <a:t>Ezel</a:t>
            </a:r>
            <a:endParaRPr lang="en-US" sz="850" dirty="0"/>
          </a:p>
        </p:txBody>
      </p:sp>
      <p:sp>
        <p:nvSpPr>
          <p:cNvPr id="86" name="text 26.85"/>
          <p:cNvSpPr txBox="1"/>
          <p:nvPr/>
        </p:nvSpPr>
        <p:spPr>
          <a:xfrm>
            <a:off x="5879953" y="4895728"/>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87" name="shape 26.86"/>
          <p:cNvSpPr/>
          <p:nvPr/>
        </p:nvSpPr>
        <p:spPr>
          <a:xfrm>
            <a:off x="9016775" y="4870328"/>
            <a:ext cx="2387540" cy="177796"/>
          </a:xfrm>
          <a:prstGeom prst="roundRect">
            <a:avLst>
              <a:gd name="adj" fmla="val 50000"/>
            </a:avLst>
          </a:prstGeom>
          <a:solidFill>
            <a:srgbClr val="FF6B1F"/>
          </a:solidFill>
          <a:ln/>
        </p:spPr>
      </p:sp>
      <p:sp>
        <p:nvSpPr>
          <p:cNvPr id="88" name="text 26.87"/>
          <p:cNvSpPr txBox="1"/>
          <p:nvPr/>
        </p:nvSpPr>
        <p:spPr>
          <a:xfrm>
            <a:off x="761981" y="5264018"/>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3.7</a:t>
            </a:r>
            <a:endParaRPr lang="en-US" sz="950" dirty="0"/>
          </a:p>
        </p:txBody>
      </p:sp>
      <p:sp>
        <p:nvSpPr>
          <p:cNvPr id="89" name="text 26.88"/>
          <p:cNvSpPr txBox="1"/>
          <p:nvPr/>
        </p:nvSpPr>
        <p:spPr>
          <a:xfrm>
            <a:off x="1244569" y="5257669"/>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Promo video</a:t>
            </a:r>
            <a:endParaRPr lang="en-US" sz="1050" dirty="0"/>
          </a:p>
        </p:txBody>
      </p:sp>
      <p:sp>
        <p:nvSpPr>
          <p:cNvPr id="90" name="shape 26.89"/>
          <p:cNvSpPr/>
          <p:nvPr/>
        </p:nvSpPr>
        <p:spPr>
          <a:xfrm>
            <a:off x="4673483" y="5225919"/>
            <a:ext cx="1015975" cy="203195"/>
          </a:xfrm>
          <a:prstGeom prst="roundRect">
            <a:avLst>
              <a:gd name="adj" fmla="val 50000"/>
            </a:avLst>
          </a:prstGeom>
          <a:solidFill>
            <a:srgbClr val="F1E9FF"/>
          </a:solidFill>
          <a:ln/>
        </p:spPr>
      </p:sp>
      <p:sp>
        <p:nvSpPr>
          <p:cNvPr id="91" name="text 26.90"/>
          <p:cNvSpPr txBox="1"/>
          <p:nvPr/>
        </p:nvSpPr>
        <p:spPr>
          <a:xfrm>
            <a:off x="4673483" y="5225919"/>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8F55F5"/>
                </a:solidFill>
                <a:latin typeface="Arial" pitchFamily="34" charset="0"/>
                <a:ea typeface="Arial" pitchFamily="34" charset="-122"/>
                <a:cs typeface="Arial" pitchFamily="34" charset="-120"/>
              </a:rPr>
              <a:t>Ardıl</a:t>
            </a:r>
            <a:endParaRPr lang="en-US" sz="850" dirty="0"/>
          </a:p>
        </p:txBody>
      </p:sp>
      <p:sp>
        <p:nvSpPr>
          <p:cNvPr id="92" name="text 26.91"/>
          <p:cNvSpPr txBox="1"/>
          <p:nvPr/>
        </p:nvSpPr>
        <p:spPr>
          <a:xfrm>
            <a:off x="5879953" y="5264018"/>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2 wk</a:t>
            </a:r>
            <a:endParaRPr lang="en-US" sz="950" dirty="0"/>
          </a:p>
        </p:txBody>
      </p:sp>
      <p:sp>
        <p:nvSpPr>
          <p:cNvPr id="93" name="shape 26.92"/>
          <p:cNvSpPr/>
          <p:nvPr/>
        </p:nvSpPr>
        <p:spPr>
          <a:xfrm>
            <a:off x="9016775" y="5238619"/>
            <a:ext cx="2387540" cy="177796"/>
          </a:xfrm>
          <a:prstGeom prst="roundRect">
            <a:avLst>
              <a:gd name="adj" fmla="val 50000"/>
            </a:avLst>
          </a:prstGeom>
          <a:solidFill>
            <a:srgbClr val="8F55F5"/>
          </a:solidFill>
          <a:ln/>
        </p:spPr>
      </p:sp>
      <p:sp>
        <p:nvSpPr>
          <p:cNvPr id="94" name="text 26.93"/>
          <p:cNvSpPr txBox="1"/>
          <p:nvPr/>
        </p:nvSpPr>
        <p:spPr>
          <a:xfrm>
            <a:off x="761981" y="5632309"/>
            <a:ext cx="241340" cy="120647"/>
          </a:xfrm>
          <a:prstGeom prst="rect">
            <a:avLst/>
          </a:prstGeom>
          <a:noFill/>
          <a:ln/>
        </p:spPr>
        <p:txBody>
          <a:bodyPr wrap="square" lIns="0" tIns="0" rIns="0" bIns="0" rtlCol="0" anchor="t"/>
          <a:lstStyle/>
          <a:p>
            <a:pPr algn="l" indent="0" marL="0">
              <a:lnSpc>
                <a:spcPts val="950"/>
              </a:lnSpc>
              <a:buNone/>
            </a:pPr>
            <a:r>
              <a:rPr lang="en-US" sz="950" dirty="0">
                <a:solidFill>
                  <a:srgbClr val="6F778C"/>
                </a:solidFill>
                <a:latin typeface="Arial" pitchFamily="34" charset="0"/>
                <a:ea typeface="Arial" pitchFamily="34" charset="-122"/>
                <a:cs typeface="Arial" pitchFamily="34" charset="-120"/>
              </a:rPr>
              <a:t>3.8</a:t>
            </a:r>
            <a:endParaRPr lang="en-US" sz="950" dirty="0"/>
          </a:p>
        </p:txBody>
      </p:sp>
      <p:sp>
        <p:nvSpPr>
          <p:cNvPr id="95" name="text 26.94"/>
          <p:cNvSpPr txBox="1"/>
          <p:nvPr/>
        </p:nvSpPr>
        <p:spPr>
          <a:xfrm>
            <a:off x="1244569" y="5625959"/>
            <a:ext cx="3378116" cy="146681"/>
          </a:xfrm>
          <a:prstGeom prst="rect">
            <a:avLst/>
          </a:prstGeom>
          <a:noFill/>
          <a:ln/>
        </p:spPr>
        <p:txBody>
          <a:bodyPr wrap="square" lIns="0" tIns="0" rIns="0" bIns="0" rtlCol="0" anchor="t"/>
          <a:lstStyle/>
          <a:p>
            <a:pPr algn="l" indent="0" marL="0">
              <a:lnSpc>
                <a:spcPts val="1160"/>
              </a:lnSpc>
              <a:buNone/>
            </a:pPr>
            <a:r>
              <a:rPr lang="en-US" sz="1050" dirty="0">
                <a:solidFill>
                  <a:srgbClr val="1B2340"/>
                </a:solidFill>
                <a:latin typeface="Arial" pitchFamily="34" charset="0"/>
                <a:ea typeface="Arial" pitchFamily="34" charset="-122"/>
                <a:cs typeface="Arial" pitchFamily="34" charset="-120"/>
              </a:rPr>
              <a:t>Final deck and hand-in</a:t>
            </a:r>
            <a:endParaRPr lang="en-US" sz="1050" dirty="0"/>
          </a:p>
        </p:txBody>
      </p:sp>
      <p:sp>
        <p:nvSpPr>
          <p:cNvPr id="96" name="shape 26.95"/>
          <p:cNvSpPr/>
          <p:nvPr/>
        </p:nvSpPr>
        <p:spPr>
          <a:xfrm>
            <a:off x="4673483" y="5594210"/>
            <a:ext cx="1015975" cy="203195"/>
          </a:xfrm>
          <a:prstGeom prst="roundRect">
            <a:avLst>
              <a:gd name="adj" fmla="val 50000"/>
            </a:avLst>
          </a:prstGeom>
          <a:solidFill>
            <a:srgbClr val="E9ECF2"/>
          </a:solidFill>
          <a:ln/>
        </p:spPr>
      </p:sp>
      <p:sp>
        <p:nvSpPr>
          <p:cNvPr id="97" name="text 26.96"/>
          <p:cNvSpPr txBox="1"/>
          <p:nvPr/>
        </p:nvSpPr>
        <p:spPr>
          <a:xfrm>
            <a:off x="4673483" y="5594210"/>
            <a:ext cx="1015975" cy="203195"/>
          </a:xfrm>
          <a:prstGeom prst="rect">
            <a:avLst/>
          </a:prstGeom>
          <a:noFill/>
          <a:ln/>
        </p:spPr>
        <p:txBody>
          <a:bodyPr wrap="square" lIns="0" tIns="0" rIns="0" bIns="0" rtlCol="0" anchor="ctr"/>
          <a:lstStyle/>
          <a:p>
            <a:pPr algn="ctr" indent="0" marL="0">
              <a:lnSpc>
                <a:spcPts val="850"/>
              </a:lnSpc>
              <a:buNone/>
            </a:pPr>
            <a:r>
              <a:rPr lang="en-US" sz="850" b="1" dirty="0">
                <a:solidFill>
                  <a:srgbClr val="1B2340"/>
                </a:solidFill>
                <a:latin typeface="Arial" pitchFamily="34" charset="0"/>
                <a:ea typeface="Arial" pitchFamily="34" charset="-122"/>
                <a:cs typeface="Arial" pitchFamily="34" charset="-120"/>
              </a:rPr>
              <a:t>Team</a:t>
            </a:r>
            <a:endParaRPr lang="en-US" sz="850" dirty="0"/>
          </a:p>
        </p:txBody>
      </p:sp>
      <p:sp>
        <p:nvSpPr>
          <p:cNvPr id="98" name="text 26.97"/>
          <p:cNvSpPr txBox="1"/>
          <p:nvPr/>
        </p:nvSpPr>
        <p:spPr>
          <a:xfrm>
            <a:off x="5879953" y="5632309"/>
            <a:ext cx="444489" cy="120647"/>
          </a:xfrm>
          <a:prstGeom prst="rect">
            <a:avLst/>
          </a:prstGeom>
          <a:noFill/>
          <a:ln/>
        </p:spPr>
        <p:txBody>
          <a:bodyPr wrap="square" lIns="0" tIns="0" rIns="0" bIns="0" rtlCol="0" anchor="t"/>
          <a:lstStyle/>
          <a:p>
            <a:pPr algn="ctr" indent="0" marL="0">
              <a:lnSpc>
                <a:spcPts val="950"/>
              </a:lnSpc>
              <a:buNone/>
            </a:pPr>
            <a:r>
              <a:rPr lang="en-US" sz="950" dirty="0">
                <a:solidFill>
                  <a:srgbClr val="3E475E"/>
                </a:solidFill>
                <a:latin typeface="Arial" pitchFamily="34" charset="0"/>
                <a:ea typeface="Arial" pitchFamily="34" charset="-122"/>
                <a:cs typeface="Arial" pitchFamily="34" charset="-120"/>
              </a:rPr>
              <a:t>1 wk</a:t>
            </a:r>
            <a:endParaRPr lang="en-US" sz="950" dirty="0"/>
          </a:p>
        </p:txBody>
      </p:sp>
      <p:sp>
        <p:nvSpPr>
          <p:cNvPr id="99" name="shape 26.98"/>
          <p:cNvSpPr/>
          <p:nvPr/>
        </p:nvSpPr>
        <p:spPr>
          <a:xfrm>
            <a:off x="10235944" y="5606910"/>
            <a:ext cx="1168371" cy="177796"/>
          </a:xfrm>
          <a:prstGeom prst="roundRect">
            <a:avLst>
              <a:gd name="adj" fmla="val 50000"/>
            </a:avLst>
          </a:prstGeom>
          <a:solidFill>
            <a:srgbClr val="1B2340"/>
          </a:solidFill>
          <a:ln/>
        </p:spPr>
      </p:sp>
      <p:sp>
        <p:nvSpPr>
          <p:cNvPr id="100" name="text 26.99"/>
          <p:cNvSpPr txBox="1"/>
          <p:nvPr/>
        </p:nvSpPr>
        <p:spPr>
          <a:xfrm>
            <a:off x="609585" y="6273643"/>
            <a:ext cx="1374328" cy="106677"/>
          </a:xfrm>
          <a:prstGeom prst="rect">
            <a:avLst/>
          </a:prstGeom>
          <a:noFill/>
          <a:ln/>
        </p:spPr>
        <p:txBody>
          <a:bodyPr wrap="square" lIns="0" tIns="0" rIns="0" bIns="0" rtlCol="0" anchor="t"/>
          <a:lstStyle/>
          <a:p>
            <a:pPr algn="l" indent="0" marL="0">
              <a:lnSpc>
                <a:spcPts val="840"/>
              </a:lnSpc>
              <a:buNone/>
            </a:pPr>
            <a:r>
              <a:rPr lang="en-US" sz="700" b="1" spc="84" kern="0" dirty="0">
                <a:solidFill>
                  <a:srgbClr val="1B2340"/>
                </a:solidFill>
                <a:latin typeface="Arial" pitchFamily="34" charset="0"/>
                <a:ea typeface="Arial" pitchFamily="34" charset="-122"/>
                <a:cs typeface="Arial" pitchFamily="34" charset="-120"/>
              </a:rPr>
              <a:t>BAR COLOUR = OWNER</a:t>
            </a:r>
            <a:endParaRPr lang="en-US" sz="700" dirty="0"/>
          </a:p>
        </p:txBody>
      </p:sp>
      <p:sp>
        <p:nvSpPr>
          <p:cNvPr id="101" name="shape 26.100"/>
          <p:cNvSpPr/>
          <p:nvPr/>
        </p:nvSpPr>
        <p:spPr>
          <a:xfrm>
            <a:off x="2095448" y="6235544"/>
            <a:ext cx="190495" cy="190495"/>
          </a:xfrm>
          <a:prstGeom prst="roundRect">
            <a:avLst>
              <a:gd name="adj" fmla="val 30000"/>
            </a:avLst>
          </a:prstGeom>
          <a:solidFill>
            <a:srgbClr val="FF6B1F"/>
          </a:solidFill>
          <a:ln/>
        </p:spPr>
      </p:sp>
      <p:sp>
        <p:nvSpPr>
          <p:cNvPr id="102" name="text 26.101"/>
          <p:cNvSpPr txBox="1"/>
          <p:nvPr/>
        </p:nvSpPr>
        <p:spPr>
          <a:xfrm>
            <a:off x="2362141" y="6267293"/>
            <a:ext cx="332942" cy="139697"/>
          </a:xfrm>
          <a:prstGeom prst="rect">
            <a:avLst/>
          </a:prstGeom>
          <a:noFill/>
          <a:ln/>
        </p:spPr>
        <p:txBody>
          <a:bodyPr wrap="square" lIns="0" tIns="0" rIns="0" bIns="0" rtlCol="0" anchor="t"/>
          <a:lstStyle/>
          <a:p>
            <a:pPr algn="l" indent="0" marL="0">
              <a:lnSpc>
                <a:spcPts val="1100"/>
              </a:lnSpc>
              <a:buNone/>
            </a:pPr>
            <a:r>
              <a:rPr lang="en-US" sz="1000" b="1" dirty="0">
                <a:solidFill>
                  <a:srgbClr val="1B2340"/>
                </a:solidFill>
                <a:latin typeface="Arial" pitchFamily="34" charset="0"/>
                <a:ea typeface="Arial" pitchFamily="34" charset="-122"/>
                <a:cs typeface="Arial" pitchFamily="34" charset="-120"/>
              </a:rPr>
              <a:t>Ezel</a:t>
            </a:r>
            <a:endParaRPr lang="en-US" sz="1000" dirty="0"/>
          </a:p>
        </p:txBody>
      </p:sp>
      <p:sp>
        <p:nvSpPr>
          <p:cNvPr id="103" name="shape 26.102"/>
          <p:cNvSpPr/>
          <p:nvPr/>
        </p:nvSpPr>
        <p:spPr>
          <a:xfrm>
            <a:off x="3555911" y="6235544"/>
            <a:ext cx="190495" cy="190495"/>
          </a:xfrm>
          <a:prstGeom prst="roundRect">
            <a:avLst>
              <a:gd name="adj" fmla="val 30000"/>
            </a:avLst>
          </a:prstGeom>
          <a:solidFill>
            <a:srgbClr val="1FA9EA"/>
          </a:solidFill>
          <a:ln/>
        </p:spPr>
      </p:sp>
      <p:sp>
        <p:nvSpPr>
          <p:cNvPr id="104" name="text 26.103"/>
          <p:cNvSpPr txBox="1"/>
          <p:nvPr/>
        </p:nvSpPr>
        <p:spPr>
          <a:xfrm>
            <a:off x="3822604" y="6267293"/>
            <a:ext cx="826396" cy="139697"/>
          </a:xfrm>
          <a:prstGeom prst="rect">
            <a:avLst/>
          </a:prstGeom>
          <a:noFill/>
          <a:ln/>
        </p:spPr>
        <p:txBody>
          <a:bodyPr wrap="square" lIns="0" tIns="0" rIns="0" bIns="0" rtlCol="0" anchor="t"/>
          <a:lstStyle/>
          <a:p>
            <a:pPr algn="l" indent="0" marL="0">
              <a:lnSpc>
                <a:spcPts val="1100"/>
              </a:lnSpc>
              <a:buNone/>
            </a:pPr>
            <a:r>
              <a:rPr lang="en-US" sz="1000" b="1" dirty="0">
                <a:solidFill>
                  <a:srgbClr val="1B2340"/>
                </a:solidFill>
                <a:latin typeface="Arial" pitchFamily="34" charset="0"/>
                <a:ea typeface="Arial" pitchFamily="34" charset="-122"/>
                <a:cs typeface="Arial" pitchFamily="34" charset="-120"/>
              </a:rPr>
              <a:t>Abdurrahim</a:t>
            </a:r>
            <a:endParaRPr lang="en-US" sz="1000" dirty="0"/>
          </a:p>
        </p:txBody>
      </p:sp>
      <p:sp>
        <p:nvSpPr>
          <p:cNvPr id="105" name="shape 26.104"/>
          <p:cNvSpPr/>
          <p:nvPr/>
        </p:nvSpPr>
        <p:spPr>
          <a:xfrm>
            <a:off x="5016375" y="6235544"/>
            <a:ext cx="190495" cy="190495"/>
          </a:xfrm>
          <a:prstGeom prst="roundRect">
            <a:avLst>
              <a:gd name="adj" fmla="val 30000"/>
            </a:avLst>
          </a:prstGeom>
          <a:solidFill>
            <a:srgbClr val="43B832"/>
          </a:solidFill>
          <a:ln/>
        </p:spPr>
      </p:sp>
      <p:sp>
        <p:nvSpPr>
          <p:cNvPr id="106" name="text 26.105"/>
          <p:cNvSpPr txBox="1"/>
          <p:nvPr/>
        </p:nvSpPr>
        <p:spPr>
          <a:xfrm>
            <a:off x="5283068" y="6267293"/>
            <a:ext cx="489960" cy="139697"/>
          </a:xfrm>
          <a:prstGeom prst="rect">
            <a:avLst/>
          </a:prstGeom>
          <a:noFill/>
          <a:ln/>
        </p:spPr>
        <p:txBody>
          <a:bodyPr wrap="square" lIns="0" tIns="0" rIns="0" bIns="0" rtlCol="0" anchor="t"/>
          <a:lstStyle/>
          <a:p>
            <a:pPr algn="l" indent="0" marL="0">
              <a:lnSpc>
                <a:spcPts val="1100"/>
              </a:lnSpc>
              <a:buNone/>
            </a:pPr>
            <a:r>
              <a:rPr lang="en-US" sz="1000" b="1" dirty="0">
                <a:solidFill>
                  <a:srgbClr val="1B2340"/>
                </a:solidFill>
                <a:latin typeface="Arial" pitchFamily="34" charset="0"/>
                <a:ea typeface="Arial" pitchFamily="34" charset="-122"/>
                <a:cs typeface="Arial" pitchFamily="34" charset="-120"/>
              </a:rPr>
              <a:t>Kürşat</a:t>
            </a:r>
            <a:endParaRPr lang="en-US" sz="1000" dirty="0"/>
          </a:p>
        </p:txBody>
      </p:sp>
      <p:sp>
        <p:nvSpPr>
          <p:cNvPr id="107" name="shape 26.106"/>
          <p:cNvSpPr/>
          <p:nvPr/>
        </p:nvSpPr>
        <p:spPr>
          <a:xfrm>
            <a:off x="6476838" y="6235544"/>
            <a:ext cx="190495" cy="190495"/>
          </a:xfrm>
          <a:prstGeom prst="roundRect">
            <a:avLst>
              <a:gd name="adj" fmla="val 30000"/>
            </a:avLst>
          </a:prstGeom>
          <a:solidFill>
            <a:srgbClr val="8F55F5"/>
          </a:solidFill>
          <a:ln/>
        </p:spPr>
      </p:sp>
      <p:sp>
        <p:nvSpPr>
          <p:cNvPr id="108" name="text 26.107"/>
          <p:cNvSpPr txBox="1"/>
          <p:nvPr/>
        </p:nvSpPr>
        <p:spPr>
          <a:xfrm>
            <a:off x="6743531" y="6267293"/>
            <a:ext cx="370172" cy="139697"/>
          </a:xfrm>
          <a:prstGeom prst="rect">
            <a:avLst/>
          </a:prstGeom>
          <a:noFill/>
          <a:ln/>
        </p:spPr>
        <p:txBody>
          <a:bodyPr wrap="square" lIns="0" tIns="0" rIns="0" bIns="0" rtlCol="0" anchor="t"/>
          <a:lstStyle/>
          <a:p>
            <a:pPr algn="l" indent="0" marL="0">
              <a:lnSpc>
                <a:spcPts val="1100"/>
              </a:lnSpc>
              <a:buNone/>
            </a:pPr>
            <a:r>
              <a:rPr lang="en-US" sz="1000" b="1" dirty="0">
                <a:solidFill>
                  <a:srgbClr val="1B2340"/>
                </a:solidFill>
                <a:latin typeface="Arial" pitchFamily="34" charset="0"/>
                <a:ea typeface="Arial" pitchFamily="34" charset="-122"/>
                <a:cs typeface="Arial" pitchFamily="34" charset="-120"/>
              </a:rPr>
              <a:t>Ardıl</a:t>
            </a:r>
            <a:endParaRPr lang="en-US" sz="1000" dirty="0"/>
          </a:p>
        </p:txBody>
      </p:sp>
      <p:sp>
        <p:nvSpPr>
          <p:cNvPr id="109" name="shape 26.108"/>
          <p:cNvSpPr/>
          <p:nvPr/>
        </p:nvSpPr>
        <p:spPr>
          <a:xfrm>
            <a:off x="7937302" y="6235544"/>
            <a:ext cx="190495" cy="190495"/>
          </a:xfrm>
          <a:prstGeom prst="roundRect">
            <a:avLst>
              <a:gd name="adj" fmla="val 30000"/>
            </a:avLst>
          </a:prstGeom>
          <a:solidFill>
            <a:srgbClr val="1B2340"/>
          </a:solidFill>
          <a:ln/>
        </p:spPr>
      </p:sp>
      <p:sp>
        <p:nvSpPr>
          <p:cNvPr id="110" name="text 26.109"/>
          <p:cNvSpPr txBox="1"/>
          <p:nvPr/>
        </p:nvSpPr>
        <p:spPr>
          <a:xfrm>
            <a:off x="8203995" y="6267293"/>
            <a:ext cx="1123499" cy="139697"/>
          </a:xfrm>
          <a:prstGeom prst="rect">
            <a:avLst/>
          </a:prstGeom>
          <a:noFill/>
          <a:ln/>
        </p:spPr>
        <p:txBody>
          <a:bodyPr wrap="square" lIns="0" tIns="0" rIns="0" bIns="0" rtlCol="0" anchor="t"/>
          <a:lstStyle/>
          <a:p>
            <a:pPr algn="l" indent="0" marL="0">
              <a:lnSpc>
                <a:spcPts val="1100"/>
              </a:lnSpc>
              <a:buNone/>
            </a:pPr>
            <a:r>
              <a:rPr lang="en-US" sz="1000" b="1" dirty="0">
                <a:solidFill>
                  <a:srgbClr val="1B2340"/>
                </a:solidFill>
                <a:latin typeface="Arial" pitchFamily="34" charset="0"/>
                <a:ea typeface="Arial" pitchFamily="34" charset="-122"/>
                <a:cs typeface="Arial" pitchFamily="34" charset="-120"/>
              </a:rPr>
              <a:t>Everyone / Team</a:t>
            </a:r>
            <a:endParaRPr lang="en-US" sz="1000" dirty="0"/>
          </a:p>
        </p:txBody>
      </p:sp>
      <p:pic>
        <p:nvPicPr>
          <p:cNvPr id="111" name="raster 26.110" descr="diagram">    </p:cNvPr>
          <p:cNvPicPr>
            <a:picLocks noChangeAspect="1"/>
          </p:cNvPicPr>
          <p:nvPr/>
        </p:nvPicPr>
        <p:blipFill>
          <a:blip r:embed="rId3"/>
          <a:stretch>
            <a:fillRect/>
          </a:stretch>
        </p:blipFill>
        <p:spPr>
          <a:xfrm>
            <a:off x="609585" y="266693"/>
            <a:ext cx="190495" cy="190495"/>
          </a:xfrm>
          <a:prstGeom prst="rect">
            <a:avLst/>
          </a:prstGeom>
        </p:spPr>
      </p:pic>
      <p:sp>
        <p:nvSpPr>
          <p:cNvPr id="112" name="text 26.111"/>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13" name="text 26.112"/>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14" name="text 26.113"/>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115" name="text 26.114"/>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26 / 28</a:t>
            </a:r>
            <a:endParaRPr lang="en-US" sz="750" dirty="0"/>
          </a:p>
        </p:txBody>
      </p:sp>
      <p:sp>
        <p:nvSpPr>
          <p:cNvPr id="116" name="text 26.115"/>
          <p:cNvSpPr txBox="1"/>
          <p:nvPr/>
        </p:nvSpPr>
        <p:spPr>
          <a:xfrm>
            <a:off x="609585" y="698483"/>
            <a:ext cx="1843172"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8F55F5"/>
                </a:solidFill>
                <a:latin typeface="Arial" pitchFamily="34" charset="0"/>
                <a:ea typeface="Arial" pitchFamily="34" charset="-122"/>
                <a:cs typeface="Arial" pitchFamily="34" charset="-120"/>
              </a:rPr>
              <a:t>06 · DEVELOPMENT PLAN</a:t>
            </a:r>
            <a:endParaRPr lang="en-US" sz="8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g 27.1" descr="sp2_cover.png">    </p:cNvPr>
          <p:cNvPicPr>
            <a:picLocks noChangeAspect="1"/>
          </p:cNvPicPr>
          <p:nvPr/>
        </p:nvPicPr>
        <p:blipFill>
          <a:blip r:embed="rId2"/>
          <a:stretch>
            <a:fillRect/>
          </a:stretch>
        </p:blipFill>
        <p:spPr>
          <a:xfrm>
            <a:off x="0" y="0"/>
            <a:ext cx="12191695" cy="6857829"/>
          </a:xfrm>
          <a:prstGeom prst="rect">
            <a:avLst/>
          </a:prstGeom>
        </p:spPr>
      </p:pic>
      <p:sp>
        <p:nvSpPr>
          <p:cNvPr id="3" name="shape 27.2"/>
          <p:cNvSpPr/>
          <p:nvPr/>
        </p:nvSpPr>
        <p:spPr>
          <a:xfrm>
            <a:off x="609585" y="419090"/>
            <a:ext cx="6349841" cy="5714857"/>
          </a:xfrm>
          <a:prstGeom prst="roundRect">
            <a:avLst>
              <a:gd name="adj" fmla="val 2667"/>
            </a:avLst>
          </a:prstGeom>
          <a:solidFill>
            <a:srgbClr val="FFFFFF"/>
          </a:solidFill>
          <a:ln/>
          <a:effectLst>
            <a:outerShdw sx="100000" sy="100000" kx="0" ky="0" algn="bl" rotWithShape="0" blurRad="203200" dist="76200" dir="5400000">
              <a:srgbClr val="1E468C">
                <a:alpha val="16000"/>
              </a:srgbClr>
            </a:outerShdw>
          </a:effectLst>
        </p:spPr>
      </p:sp>
      <p:sp>
        <p:nvSpPr>
          <p:cNvPr id="4" name="shape 27.3"/>
          <p:cNvSpPr/>
          <p:nvPr/>
        </p:nvSpPr>
        <p:spPr>
          <a:xfrm>
            <a:off x="888978" y="1904952"/>
            <a:ext cx="5714857" cy="698483"/>
          </a:xfrm>
          <a:prstGeom prst="roundRect">
            <a:avLst>
              <a:gd name="adj" fmla="val 218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5" name="shape 27.4"/>
          <p:cNvSpPr/>
          <p:nvPr/>
        </p:nvSpPr>
        <p:spPr>
          <a:xfrm>
            <a:off x="888978" y="2743131"/>
            <a:ext cx="5714857" cy="698483"/>
          </a:xfrm>
          <a:prstGeom prst="roundRect">
            <a:avLst>
              <a:gd name="adj" fmla="val 218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6" name="shape 27.5"/>
          <p:cNvSpPr/>
          <p:nvPr/>
        </p:nvSpPr>
        <p:spPr>
          <a:xfrm>
            <a:off x="888978" y="3581310"/>
            <a:ext cx="5714857" cy="698483"/>
          </a:xfrm>
          <a:prstGeom prst="roundRect">
            <a:avLst>
              <a:gd name="adj" fmla="val 2181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7" name="text 27.6"/>
          <p:cNvSpPr txBox="1"/>
          <p:nvPr/>
        </p:nvSpPr>
        <p:spPr>
          <a:xfrm>
            <a:off x="914377" y="736582"/>
            <a:ext cx="1228668" cy="121917"/>
          </a:xfrm>
          <a:prstGeom prst="rect">
            <a:avLst/>
          </a:prstGeom>
          <a:noFill/>
          <a:ln/>
        </p:spPr>
        <p:txBody>
          <a:bodyPr wrap="square" lIns="0" tIns="0" rIns="0" bIns="0" rtlCol="0" anchor="t"/>
          <a:lstStyle/>
          <a:p>
            <a:pPr algn="l" indent="0" marL="0">
              <a:lnSpc>
                <a:spcPts val="960"/>
              </a:lnSpc>
              <a:buNone/>
            </a:pPr>
            <a:r>
              <a:rPr lang="en-US" sz="800" b="1" spc="96" kern="0" dirty="0">
                <a:solidFill>
                  <a:srgbClr val="6F778C"/>
                </a:solidFill>
                <a:latin typeface="Arial" pitchFamily="34" charset="0"/>
                <a:ea typeface="Arial" pitchFamily="34" charset="-122"/>
                <a:cs typeface="Arial" pitchFamily="34" charset="-120"/>
              </a:rPr>
              <a:t>FINAL STANDINGS</a:t>
            </a:r>
            <a:endParaRPr lang="en-US" sz="800" dirty="0"/>
          </a:p>
        </p:txBody>
      </p:sp>
      <p:sp>
        <p:nvSpPr>
          <p:cNvPr id="8" name="text 27.7"/>
          <p:cNvSpPr txBox="1"/>
          <p:nvPr/>
        </p:nvSpPr>
        <p:spPr>
          <a:xfrm>
            <a:off x="888978" y="977876"/>
            <a:ext cx="6064561" cy="533387"/>
          </a:xfrm>
          <a:prstGeom prst="rect">
            <a:avLst/>
          </a:prstGeom>
          <a:noFill/>
          <a:ln/>
        </p:spPr>
        <p:txBody>
          <a:bodyPr wrap="square" lIns="0" tIns="0" rIns="0" bIns="0" rtlCol="0" anchor="t"/>
          <a:lstStyle/>
          <a:p>
            <a:pPr algn="l" indent="0" marL="0">
              <a:lnSpc>
                <a:spcPts val="4200"/>
              </a:lnSpc>
              <a:buNone/>
            </a:pPr>
            <a:r>
              <a:rPr lang="en-US" sz="42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4200"/>
              </a:lnSpc>
              <a:buNone/>
            </a:pPr>
            <a:r>
              <a:rPr lang="en-US" sz="4200" dirty="0">
                <a:solidFill>
                  <a:srgbClr val="43B832"/>
                </a:solidFill>
                <a:latin typeface="Arial Rounded MT Bold" pitchFamily="34" charset="0"/>
                <a:ea typeface="Arial Rounded MT Bold" pitchFamily="34" charset="-122"/>
                <a:cs typeface="Arial Rounded MT Bold" pitchFamily="34" charset="-120"/>
              </a:rPr>
              <a:t>Party</a:t>
            </a:r>
            <a:pPr algn="l" indent="0" marL="0">
              <a:lnSpc>
                <a:spcPts val="4200"/>
              </a:lnSpc>
              <a:buNone/>
            </a:pPr>
            <a:r>
              <a:rPr lang="en-US" sz="4200" dirty="0">
                <a:solidFill>
                  <a:srgbClr val="1B2340"/>
                </a:solidFill>
                <a:latin typeface="Arial Rounded MT Bold" pitchFamily="34" charset="0"/>
                <a:ea typeface="Arial Rounded MT Bold" pitchFamily="34" charset="-122"/>
                <a:cs typeface="Arial Rounded MT Bold" pitchFamily="34" charset="-120"/>
              </a:rPr>
              <a:t> in short</a:t>
            </a:r>
            <a:endParaRPr lang="en-US" sz="4200" dirty="0"/>
          </a:p>
        </p:txBody>
      </p:sp>
      <p:sp>
        <p:nvSpPr>
          <p:cNvPr id="9" name="shape 27.8"/>
          <p:cNvSpPr/>
          <p:nvPr/>
        </p:nvSpPr>
        <p:spPr>
          <a:xfrm>
            <a:off x="1054074" y="2101797"/>
            <a:ext cx="546086" cy="304792"/>
          </a:xfrm>
          <a:prstGeom prst="roundRect">
            <a:avLst>
              <a:gd name="adj" fmla="val 50000"/>
            </a:avLst>
          </a:prstGeom>
          <a:solidFill>
            <a:srgbClr val="FF6B1F"/>
          </a:solidFill>
          <a:ln/>
        </p:spPr>
      </p:sp>
      <p:sp>
        <p:nvSpPr>
          <p:cNvPr id="10" name="text 27.9"/>
          <p:cNvSpPr txBox="1"/>
          <p:nvPr/>
        </p:nvSpPr>
        <p:spPr>
          <a:xfrm>
            <a:off x="1054074" y="2101797"/>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1st</a:t>
            </a:r>
            <a:endParaRPr lang="en-US" sz="1300" dirty="0"/>
          </a:p>
        </p:txBody>
      </p:sp>
      <p:sp>
        <p:nvSpPr>
          <p:cNvPr id="11" name="text 27.10"/>
          <p:cNvSpPr txBox="1"/>
          <p:nvPr/>
        </p:nvSpPr>
        <p:spPr>
          <a:xfrm>
            <a:off x="1777956" y="2063698"/>
            <a:ext cx="4673483" cy="380990"/>
          </a:xfrm>
          <a:prstGeom prst="rect">
            <a:avLst/>
          </a:prstGeom>
          <a:noFill/>
          <a:ln/>
        </p:spPr>
        <p:txBody>
          <a:bodyPr wrap="square" lIns="0" tIns="0" rIns="0" bIns="0" rtlCol="0" anchor="ctr"/>
          <a:lstStyle/>
          <a:p>
            <a:pPr algn="l" indent="0" marL="0">
              <a:lnSpc>
                <a:spcPts val="1650"/>
              </a:lnSpc>
              <a:buNone/>
            </a:pPr>
            <a:r>
              <a:rPr lang="en-US" sz="1250" dirty="0">
                <a:solidFill>
                  <a:srgbClr val="1B2340"/>
                </a:solidFill>
                <a:latin typeface="Arial" pitchFamily="34" charset="0"/>
                <a:ea typeface="Arial" pitchFamily="34" charset="-122"/>
                <a:cs typeface="Arial" pitchFamily="34" charset="-120"/>
              </a:rPr>
              <a:t>One shooting cube; every mini-game changes what a shot does.</a:t>
            </a:r>
            <a:endParaRPr lang="en-US" sz="1250" dirty="0"/>
          </a:p>
        </p:txBody>
      </p:sp>
      <p:sp>
        <p:nvSpPr>
          <p:cNvPr id="12" name="shape 27.11"/>
          <p:cNvSpPr/>
          <p:nvPr/>
        </p:nvSpPr>
        <p:spPr>
          <a:xfrm>
            <a:off x="1054074" y="2939976"/>
            <a:ext cx="546086" cy="304792"/>
          </a:xfrm>
          <a:prstGeom prst="roundRect">
            <a:avLst>
              <a:gd name="adj" fmla="val 50000"/>
            </a:avLst>
          </a:prstGeom>
          <a:solidFill>
            <a:srgbClr val="1FA9EA"/>
          </a:solidFill>
          <a:ln/>
        </p:spPr>
      </p:sp>
      <p:sp>
        <p:nvSpPr>
          <p:cNvPr id="13" name="text 27.12"/>
          <p:cNvSpPr txBox="1"/>
          <p:nvPr/>
        </p:nvSpPr>
        <p:spPr>
          <a:xfrm>
            <a:off x="1054074" y="2939976"/>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2nd</a:t>
            </a:r>
            <a:endParaRPr lang="en-US" sz="1300" dirty="0"/>
          </a:p>
        </p:txBody>
      </p:sp>
      <p:sp>
        <p:nvSpPr>
          <p:cNvPr id="14" name="text 27.13"/>
          <p:cNvSpPr txBox="1"/>
          <p:nvPr/>
        </p:nvSpPr>
        <p:spPr>
          <a:xfrm>
            <a:off x="1777956" y="2901877"/>
            <a:ext cx="4673483" cy="380990"/>
          </a:xfrm>
          <a:prstGeom prst="rect">
            <a:avLst/>
          </a:prstGeom>
          <a:noFill/>
          <a:ln/>
        </p:spPr>
        <p:txBody>
          <a:bodyPr wrap="square" lIns="0" tIns="0" rIns="0" bIns="0" rtlCol="0" anchor="ctr"/>
          <a:lstStyle/>
          <a:p>
            <a:pPr algn="l" indent="0" marL="0">
              <a:lnSpc>
                <a:spcPts val="1650"/>
              </a:lnSpc>
              <a:buNone/>
            </a:pPr>
            <a:r>
              <a:rPr lang="en-US" sz="1250" dirty="0">
                <a:solidFill>
                  <a:srgbClr val="1B2340"/>
                </a:solidFill>
                <a:latin typeface="Arial" pitchFamily="34" charset="0"/>
                <a:ea typeface="Arial" pitchFamily="34" charset="-122"/>
                <a:cs typeface="Arial" pitchFamily="34" charset="-120"/>
              </a:rPr>
              <a:t>A comeback built in: +1 for last place, ties to the underdog, a crown on the leader.</a:t>
            </a:r>
            <a:endParaRPr lang="en-US" sz="1250" dirty="0"/>
          </a:p>
        </p:txBody>
      </p:sp>
      <p:sp>
        <p:nvSpPr>
          <p:cNvPr id="15" name="shape 27.14"/>
          <p:cNvSpPr/>
          <p:nvPr/>
        </p:nvSpPr>
        <p:spPr>
          <a:xfrm>
            <a:off x="1054074" y="3778156"/>
            <a:ext cx="546086" cy="304792"/>
          </a:xfrm>
          <a:prstGeom prst="roundRect">
            <a:avLst>
              <a:gd name="adj" fmla="val 50000"/>
            </a:avLst>
          </a:prstGeom>
          <a:solidFill>
            <a:srgbClr val="43B832"/>
          </a:solidFill>
          <a:ln/>
        </p:spPr>
      </p:sp>
      <p:sp>
        <p:nvSpPr>
          <p:cNvPr id="16" name="text 27.15"/>
          <p:cNvSpPr txBox="1"/>
          <p:nvPr/>
        </p:nvSpPr>
        <p:spPr>
          <a:xfrm>
            <a:off x="1054074" y="3778156"/>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3rd</a:t>
            </a:r>
            <a:endParaRPr lang="en-US" sz="1300" dirty="0"/>
          </a:p>
        </p:txBody>
      </p:sp>
      <p:sp>
        <p:nvSpPr>
          <p:cNvPr id="17" name="text 27.16"/>
          <p:cNvSpPr txBox="1"/>
          <p:nvPr/>
        </p:nvSpPr>
        <p:spPr>
          <a:xfrm>
            <a:off x="1777956" y="3740056"/>
            <a:ext cx="4673483" cy="380990"/>
          </a:xfrm>
          <a:prstGeom prst="rect">
            <a:avLst/>
          </a:prstGeom>
          <a:noFill/>
          <a:ln/>
        </p:spPr>
        <p:txBody>
          <a:bodyPr wrap="square" lIns="0" tIns="0" rIns="0" bIns="0" rtlCol="0" anchor="ctr"/>
          <a:lstStyle/>
          <a:p>
            <a:pPr algn="l" indent="0" marL="0">
              <a:lnSpc>
                <a:spcPts val="1650"/>
              </a:lnSpc>
              <a:buNone/>
            </a:pPr>
            <a:r>
              <a:rPr lang="en-US" sz="1250" dirty="0">
                <a:solidFill>
                  <a:srgbClr val="1B2340"/>
                </a:solidFill>
                <a:latin typeface="Arial" pitchFamily="34" charset="0"/>
                <a:ea typeface="Arial" pitchFamily="34" charset="-122"/>
                <a:cs typeface="Arial" pitchFamily="34" charset="-120"/>
              </a:rPr>
              <a:t>Multiplayer sessions you shape: your playlist, your end rule, your look.</a:t>
            </a:r>
            <a:endParaRPr lang="en-US" sz="1250" dirty="0"/>
          </a:p>
        </p:txBody>
      </p:sp>
      <p:sp>
        <p:nvSpPr>
          <p:cNvPr id="18" name="text 27.17"/>
          <p:cNvSpPr txBox="1"/>
          <p:nvPr/>
        </p:nvSpPr>
        <p:spPr>
          <a:xfrm>
            <a:off x="901677" y="4698883"/>
            <a:ext cx="3752310" cy="634984"/>
          </a:xfrm>
          <a:prstGeom prst="rect">
            <a:avLst/>
          </a:prstGeom>
          <a:noFill/>
          <a:ln/>
        </p:spPr>
        <p:txBody>
          <a:bodyPr wrap="square" lIns="0" tIns="0" rIns="0" bIns="0" rtlCol="0" anchor="t"/>
          <a:lstStyle/>
          <a:p>
            <a:pPr algn="l" indent="0" marL="0">
              <a:lnSpc>
                <a:spcPts val="5000"/>
              </a:lnSpc>
              <a:buNone/>
            </a:pPr>
            <a:r>
              <a:rPr lang="en-US" sz="5000" dirty="0">
                <a:solidFill>
                  <a:srgbClr val="FF6B1F"/>
                </a:solidFill>
                <a:latin typeface="Arial Rounded MT Bold" pitchFamily="34" charset="0"/>
                <a:ea typeface="Arial Rounded MT Bold" pitchFamily="34" charset="-122"/>
                <a:cs typeface="Arial Rounded MT Bold" pitchFamily="34" charset="-120"/>
              </a:rPr>
              <a:t>Questions?</a:t>
            </a:r>
            <a:endParaRPr lang="en-US" sz="5000" dirty="0"/>
          </a:p>
        </p:txBody>
      </p:sp>
      <p:sp>
        <p:nvSpPr>
          <p:cNvPr id="19" name="text 27.18"/>
          <p:cNvSpPr txBox="1"/>
          <p:nvPr/>
        </p:nvSpPr>
        <p:spPr>
          <a:xfrm>
            <a:off x="914377" y="5714857"/>
            <a:ext cx="5752956" cy="177796"/>
          </a:xfrm>
          <a:prstGeom prst="rect">
            <a:avLst/>
          </a:prstGeom>
          <a:noFill/>
          <a:ln/>
        </p:spPr>
        <p:txBody>
          <a:bodyPr wrap="square" lIns="0" tIns="0" rIns="0" bIns="0" rtlCol="0" anchor="t"/>
          <a:lstStyle/>
          <a:p>
            <a:pPr algn="l" indent="0" marL="0">
              <a:lnSpc>
                <a:spcPts val="1400"/>
              </a:lnSpc>
              <a:buNone/>
            </a:pPr>
            <a:r>
              <a:rPr lang="en-US" sz="1000" dirty="0">
                <a:solidFill>
                  <a:srgbClr val="6F778C"/>
                </a:solidFill>
                <a:latin typeface="Arial" pitchFamily="34" charset="0"/>
                <a:ea typeface="Arial" pitchFamily="34" charset="-122"/>
                <a:cs typeface="Arial" pitchFamily="34" charset="-120"/>
              </a:rPr>
              <a:t>Ezel Bayraktar · Abdurrahim Özağaç · Kürşat Hürkan Aydın · Ardıl Bilal Ülkü</a:t>
            </a:r>
            <a:endParaRPr lang="en-US" sz="10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28.1"/>
          <p:cNvSpPr/>
          <p:nvPr/>
        </p:nvSpPr>
        <p:spPr>
          <a:xfrm>
            <a:off x="609585" y="1498563"/>
            <a:ext cx="10972526" cy="4825879"/>
          </a:xfrm>
          <a:prstGeom prst="roundRect">
            <a:avLst>
              <a:gd name="adj" fmla="val 3158"/>
            </a:avLst>
          </a:prstGeom>
          <a:solidFill>
            <a:srgbClr val="FFFFFF"/>
          </a:solidFill>
          <a:ln w="12700">
            <a:solidFill>
              <a:srgbClr val="E4E9DD"/>
            </a:solidFill>
            <a:prstDash val="solid"/>
          </a:ln>
          <a:effectLst>
            <a:outerShdw sx="100000" sy="100000" kx="0" ky="0" algn="bl" rotWithShape="0" blurRad="203200" dist="76200" dir="5400000">
              <a:srgbClr val="1E468C">
                <a:alpha val="16000"/>
              </a:srgbClr>
            </a:outerShdw>
          </a:effectLst>
        </p:spPr>
      </p:sp>
      <p:sp>
        <p:nvSpPr>
          <p:cNvPr id="3" name="text 28.2"/>
          <p:cNvSpPr txBox="1"/>
          <p:nvPr/>
        </p:nvSpPr>
        <p:spPr>
          <a:xfrm>
            <a:off x="609585" y="863578"/>
            <a:ext cx="11694376" cy="419090"/>
          </a:xfrm>
          <a:prstGeom prst="rect">
            <a:avLst/>
          </a:prstGeom>
          <a:noFill/>
          <a:ln/>
        </p:spPr>
        <p:txBody>
          <a:bodyPr wrap="square" lIns="0" tIns="0" rIns="0" bIns="0" rtlCol="0" anchor="t"/>
          <a:lstStyle/>
          <a:p>
            <a:pPr algn="l" indent="0" marL="0">
              <a:lnSpc>
                <a:spcPts val="3300"/>
              </a:lnSpc>
              <a:buNone/>
            </a:pPr>
            <a:r>
              <a:rPr lang="en-US" sz="3000" dirty="0">
                <a:solidFill>
                  <a:srgbClr val="1B2340"/>
                </a:solidFill>
                <a:latin typeface="Arial Rounded MT Bold" pitchFamily="34" charset="0"/>
                <a:ea typeface="Arial Rounded MT Bold" pitchFamily="34" charset="-122"/>
                <a:cs typeface="Arial Rounded MT Bold" pitchFamily="34" charset="-120"/>
              </a:rPr>
              <a:t>Sources</a:t>
            </a:r>
            <a:endParaRPr lang="en-US" sz="3000" dirty="0"/>
          </a:p>
        </p:txBody>
      </p:sp>
      <p:sp>
        <p:nvSpPr>
          <p:cNvPr id="4" name="text 28.3"/>
          <p:cNvSpPr txBox="1"/>
          <p:nvPr/>
        </p:nvSpPr>
        <p:spPr>
          <a:xfrm>
            <a:off x="863578" y="168905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[1] Newzoo, State of Gaming 2025, via PocketGamer.biz, 18 Dec 2025. pocketgamer.biz</a:t>
            </a:r>
            <a:endParaRPr lang="en-US" sz="950" dirty="0"/>
          </a:p>
        </p:txBody>
      </p:sp>
      <p:sp>
        <p:nvSpPr>
          <p:cNvPr id="5" name="text 28.4"/>
          <p:cNvSpPr txBox="1"/>
          <p:nvPr/>
        </p:nvSpPr>
        <p:spPr>
          <a:xfrm>
            <a:off x="863578" y="2050999"/>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[2] Newzoo final 2025 figures, via GameDev Reports, 26 Jun 2026. gamedevreports.substack.com</a:t>
            </a:r>
            <a:endParaRPr lang="en-US" sz="950" dirty="0"/>
          </a:p>
        </p:txBody>
      </p:sp>
      <p:sp>
        <p:nvSpPr>
          <p:cNvPr id="6" name="text 28.5"/>
          <p:cNvSpPr txBox="1"/>
          <p:nvPr/>
        </p:nvSpPr>
        <p:spPr>
          <a:xfrm>
            <a:off x="863578" y="2412940"/>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[3] ESA Essential Facts 2026 (survey Feb 2026, n=13,545). theesa.com</a:t>
            </a:r>
            <a:endParaRPr lang="en-US" sz="950" dirty="0"/>
          </a:p>
        </p:txBody>
      </p:sp>
      <p:sp>
        <p:nvSpPr>
          <p:cNvPr id="7" name="text 28.6"/>
          <p:cNvSpPr txBox="1"/>
          <p:nvPr/>
        </p:nvSpPr>
        <p:spPr>
          <a:xfrm>
            <a:off x="863578" y="2774881"/>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[4] Alinea Analytics, games with co-op on Steam, H1 2025 (estimates). alineaanalytics.substack.com</a:t>
            </a:r>
            <a:endParaRPr lang="en-US" sz="950" dirty="0"/>
          </a:p>
        </p:txBody>
      </p:sp>
      <p:sp>
        <p:nvSpPr>
          <p:cNvPr id="8" name="text 28.7"/>
          <p:cNvSpPr txBox="1"/>
          <p:nvPr/>
        </p:nvSpPr>
        <p:spPr>
          <a:xfrm>
            <a:off x="863578" y="3136822"/>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[5] Gameranx: Super Mario Party Jamboree is the fastest-selling entry (Nintendo figures, Feb 2025). gameranx.com</a:t>
            </a:r>
            <a:endParaRPr lang="en-US" sz="950" dirty="0"/>
          </a:p>
        </p:txBody>
      </p:sp>
      <p:sp>
        <p:nvSpPr>
          <p:cNvPr id="9" name="text 28.8"/>
          <p:cNvSpPr txBox="1"/>
          <p:nvPr/>
        </p:nvSpPr>
        <p:spPr>
          <a:xfrm>
            <a:off x="863578" y="3498763"/>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[6] Raijin: Stick Fight: The Game, Steam estimates. raijin.gg</a:t>
            </a:r>
            <a:endParaRPr lang="en-US" sz="950" dirty="0"/>
          </a:p>
        </p:txBody>
      </p:sp>
      <p:sp>
        <p:nvSpPr>
          <p:cNvPr id="10" name="text 28.9"/>
          <p:cNvSpPr txBox="1"/>
          <p:nvPr/>
        </p:nvSpPr>
        <p:spPr>
          <a:xfrm>
            <a:off x="863578" y="3860703"/>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[7] SteamSpy: Pummel Party owner estimate. steamspy.com</a:t>
            </a:r>
            <a:endParaRPr lang="en-US" sz="950" dirty="0"/>
          </a:p>
        </p:txBody>
      </p:sp>
      <p:sp>
        <p:nvSpPr>
          <p:cNvPr id="11" name="text 28.10"/>
          <p:cNvSpPr txBox="1"/>
          <p:nvPr/>
        </p:nvSpPr>
        <p:spPr>
          <a:xfrm>
            <a:off x="863578" y="4222644"/>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[8] Wikipedia: Party Animals (playtest peak, Twitch viewers). wikipedia.org</a:t>
            </a:r>
            <a:endParaRPr lang="en-US" sz="950" dirty="0"/>
          </a:p>
        </p:txBody>
      </p:sp>
      <p:sp>
        <p:nvSpPr>
          <p:cNvPr id="12" name="text 28.11"/>
          <p:cNvSpPr txBox="1"/>
          <p:nvPr/>
        </p:nvSpPr>
        <p:spPr>
          <a:xfrm>
            <a:off x="863578" y="4584585"/>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[9] Feather Party on Steam (app 2300230). store.steampowered.com</a:t>
            </a:r>
            <a:endParaRPr lang="en-US" sz="950" dirty="0"/>
          </a:p>
        </p:txBody>
      </p:sp>
      <p:sp>
        <p:nvSpPr>
          <p:cNvPr id="13" name="text 28.12"/>
          <p:cNvSpPr txBox="1"/>
          <p:nvPr/>
        </p:nvSpPr>
        <p:spPr>
          <a:xfrm>
            <a:off x="863578" y="4946526"/>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[10] Game Developers, 2025 Steam revenue distribution (Gamalytic estimates), 21 Aug 2026. game-developers.org</a:t>
            </a:r>
            <a:endParaRPr lang="en-US" sz="950" dirty="0"/>
          </a:p>
        </p:txBody>
      </p:sp>
      <p:sp>
        <p:nvSpPr>
          <p:cNvPr id="14" name="text 28.13"/>
          <p:cNvSpPr txBox="1"/>
          <p:nvPr/>
        </p:nvSpPr>
        <p:spPr>
          <a:xfrm>
            <a:off x="863578" y="530846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E475E"/>
                </a:solidFill>
                <a:latin typeface="Arial" pitchFamily="34" charset="0"/>
                <a:ea typeface="Arial" pitchFamily="34" charset="-122"/>
                <a:cs typeface="Arial" pitchFamily="34" charset="-120"/>
              </a:rPr>
              <a:t>[11] Steam store pages and SteamDB charts for Party Animals, Gang Beasts, Fall Guys and Pummel Party: prices, peaks, reviews, owner estimates. 17 Oct 2026.</a:t>
            </a:r>
            <a:endParaRPr lang="en-US" sz="950" dirty="0"/>
          </a:p>
        </p:txBody>
      </p:sp>
      <p:sp>
        <p:nvSpPr>
          <p:cNvPr id="15" name="text 28.14"/>
          <p:cNvSpPr txBox="1"/>
          <p:nvPr/>
        </p:nvSpPr>
        <p:spPr>
          <a:xfrm>
            <a:off x="863578" y="5841854"/>
            <a:ext cx="10515337" cy="337732"/>
          </a:xfrm>
          <a:prstGeom prst="rect">
            <a:avLst/>
          </a:prstGeom>
          <a:noFill/>
          <a:ln/>
        </p:spPr>
        <p:txBody>
          <a:bodyPr wrap="square" lIns="0" tIns="0" rIns="0" bIns="0" rtlCol="0" anchor="t"/>
          <a:lstStyle/>
          <a:p>
            <a:pPr algn="l" indent="0" marL="0">
              <a:lnSpc>
                <a:spcPts val="1330"/>
              </a:lnSpc>
              <a:buNone/>
            </a:pPr>
            <a:r>
              <a:rPr lang="en-US" sz="950" dirty="0">
                <a:solidFill>
                  <a:srgbClr val="6F778C"/>
                </a:solidFill>
                <a:latin typeface="Arial" pitchFamily="34" charset="0"/>
                <a:ea typeface="Arial" pitchFamily="34" charset="-122"/>
                <a:cs typeface="Arial" pitchFamily="34" charset="-120"/>
              </a:rPr>
              <a:t>Images. All character and scene images are 3D concept renders made for this pitch; none show final gameplay. Level drafts were made for this pitch. Competitor screenshots: official Steam media, © publishers.</a:t>
            </a:r>
            <a:endParaRPr lang="en-US" sz="950" dirty="0"/>
          </a:p>
        </p:txBody>
      </p:sp>
      <p:pic>
        <p:nvPicPr>
          <p:cNvPr id="16" name="raster 28.15" descr="diagram">    </p:cNvPr>
          <p:cNvPicPr>
            <a:picLocks noChangeAspect="1"/>
          </p:cNvPicPr>
          <p:nvPr/>
        </p:nvPicPr>
        <p:blipFill>
          <a:blip r:embed="rId2"/>
          <a:stretch>
            <a:fillRect/>
          </a:stretch>
        </p:blipFill>
        <p:spPr>
          <a:xfrm>
            <a:off x="609585" y="266693"/>
            <a:ext cx="190495" cy="190495"/>
          </a:xfrm>
          <a:prstGeom prst="rect">
            <a:avLst/>
          </a:prstGeom>
        </p:spPr>
      </p:pic>
      <p:sp>
        <p:nvSpPr>
          <p:cNvPr id="17" name="text 28.16"/>
          <p:cNvSpPr txBox="1"/>
          <p:nvPr/>
        </p:nvSpPr>
        <p:spPr>
          <a:xfrm>
            <a:off x="863578" y="298443"/>
            <a:ext cx="1053457" cy="139697"/>
          </a:xfrm>
          <a:prstGeom prst="rect">
            <a:avLst/>
          </a:prstGeom>
          <a:noFill/>
          <a:ln/>
        </p:spPr>
        <p:txBody>
          <a:bodyPr wrap="square" lIns="0" tIns="0" rIns="0" bIns="0" rtlCol="0" anchor="t"/>
          <a:lstStyle/>
          <a:p>
            <a:pPr algn="l" indent="0" marL="0">
              <a:lnSpc>
                <a:spcPts val="1100"/>
              </a:lnSpc>
              <a:buNone/>
            </a:pPr>
            <a:r>
              <a:rPr lang="en-US" sz="1100" dirty="0">
                <a:solidFill>
                  <a:srgbClr val="1B2340"/>
                </a:solidFill>
                <a:latin typeface="Arial Rounded MT Bold" pitchFamily="34" charset="0"/>
                <a:ea typeface="Arial Rounded MT Bold" pitchFamily="34" charset="-122"/>
                <a:cs typeface="Arial Rounded MT Bold" pitchFamily="34" charset="-120"/>
              </a:rPr>
              <a:t>Shooter </a:t>
            </a:r>
            <a:pPr algn="l" indent="0" marL="0">
              <a:lnSpc>
                <a:spcPts val="1100"/>
              </a:lnSpc>
              <a:buNone/>
            </a:pPr>
            <a:r>
              <a:rPr lang="en-US" sz="1100" dirty="0">
                <a:solidFill>
                  <a:srgbClr val="43B832"/>
                </a:solidFill>
                <a:latin typeface="Arial Rounded MT Bold" pitchFamily="34" charset="0"/>
                <a:ea typeface="Arial Rounded MT Bold" pitchFamily="34" charset="-122"/>
                <a:cs typeface="Arial Rounded MT Bold" pitchFamily="34" charset="-120"/>
              </a:rPr>
              <a:t>Party</a:t>
            </a:r>
            <a:endParaRPr lang="en-US" sz="1100" dirty="0"/>
          </a:p>
        </p:txBody>
      </p:sp>
      <p:sp>
        <p:nvSpPr>
          <p:cNvPr id="18" name="text 28.17"/>
          <p:cNvSpPr txBox="1"/>
          <p:nvPr/>
        </p:nvSpPr>
        <p:spPr>
          <a:xfrm>
            <a:off x="10127104" y="317492"/>
            <a:ext cx="1605805" cy="101597"/>
          </a:xfrm>
          <a:prstGeom prst="rect">
            <a:avLst/>
          </a:prstGeom>
          <a:noFill/>
          <a:ln/>
        </p:spPr>
        <p:txBody>
          <a:bodyPr wrap="square" lIns="0" tIns="0" rIns="0" bIns="0" rtlCol="0" anchor="t"/>
          <a:lstStyle/>
          <a:p>
            <a:pPr algn="l" indent="0" marL="0">
              <a:lnSpc>
                <a:spcPts val="800"/>
              </a:lnSpc>
              <a:buNone/>
            </a:pPr>
            <a:r>
              <a:rPr lang="en-US" sz="800" b="1" dirty="0">
                <a:solidFill>
                  <a:srgbClr val="6F778C"/>
                </a:solidFill>
                <a:latin typeface="Arial" pitchFamily="34" charset="0"/>
                <a:ea typeface="Arial" pitchFamily="34" charset="-122"/>
                <a:cs typeface="Arial" pitchFamily="34" charset="-120"/>
              </a:rPr>
              <a:t>CMP406 GameTech · Fall 2026</a:t>
            </a:r>
            <a:endParaRPr lang="en-US" sz="800" dirty="0"/>
          </a:p>
        </p:txBody>
      </p:sp>
      <p:sp>
        <p:nvSpPr>
          <p:cNvPr id="19" name="text 28.18"/>
          <p:cNvSpPr txBox="1"/>
          <p:nvPr/>
        </p:nvSpPr>
        <p:spPr>
          <a:xfrm>
            <a:off x="609585" y="6546686"/>
            <a:ext cx="1460882" cy="95248"/>
          </a:xfrm>
          <a:prstGeom prst="rect">
            <a:avLst/>
          </a:prstGeom>
          <a:noFill/>
          <a:ln/>
        </p:spPr>
        <p:txBody>
          <a:bodyPr wrap="square" lIns="0" tIns="0" rIns="0" bIns="0" rtlCol="0" anchor="t"/>
          <a:lstStyle/>
          <a:p>
            <a:pPr algn="l" indent="0" marL="0">
              <a:lnSpc>
                <a:spcPts val="750"/>
              </a:lnSpc>
              <a:buNone/>
            </a:pPr>
            <a:r>
              <a:rPr lang="en-US" sz="750" dirty="0">
                <a:solidFill>
                  <a:srgbClr val="6F778C"/>
                </a:solidFill>
                <a:latin typeface="Arial" pitchFamily="34" charset="0"/>
                <a:ea typeface="Arial" pitchFamily="34" charset="-122"/>
                <a:cs typeface="Arial" pitchFamily="34" charset="-120"/>
              </a:rPr>
              <a:t>Shooter Party · Game proposal</a:t>
            </a:r>
            <a:endParaRPr lang="en-US" sz="750" dirty="0"/>
          </a:p>
        </p:txBody>
      </p:sp>
      <p:sp>
        <p:nvSpPr>
          <p:cNvPr id="20" name="text 28.19"/>
          <p:cNvSpPr txBox="1"/>
          <p:nvPr/>
        </p:nvSpPr>
        <p:spPr>
          <a:xfrm>
            <a:off x="11290811" y="6546686"/>
            <a:ext cx="372275" cy="95248"/>
          </a:xfrm>
          <a:prstGeom prst="rect">
            <a:avLst/>
          </a:prstGeom>
          <a:noFill/>
          <a:ln/>
        </p:spPr>
        <p:txBody>
          <a:bodyPr wrap="square" lIns="0" tIns="0" rIns="0" bIns="0" rtlCol="0" anchor="t"/>
          <a:lstStyle/>
          <a:p>
            <a:pPr algn="l" indent="0" marL="0">
              <a:lnSpc>
                <a:spcPts val="750"/>
              </a:lnSpc>
              <a:buNone/>
            </a:pPr>
            <a:r>
              <a:rPr lang="en-US" sz="750" b="1" dirty="0">
                <a:solidFill>
                  <a:srgbClr val="6F778C"/>
                </a:solidFill>
                <a:latin typeface="Arial" pitchFamily="34" charset="0"/>
                <a:ea typeface="Arial" pitchFamily="34" charset="-122"/>
                <a:cs typeface="Arial" pitchFamily="34" charset="-120"/>
              </a:rPr>
              <a:t>28 / 28</a:t>
            </a:r>
            <a:endParaRPr lang="en-US" sz="750" dirty="0"/>
          </a:p>
        </p:txBody>
      </p:sp>
      <p:sp>
        <p:nvSpPr>
          <p:cNvPr id="21" name="text 28.20"/>
          <p:cNvSpPr txBox="1"/>
          <p:nvPr/>
        </p:nvSpPr>
        <p:spPr>
          <a:xfrm>
            <a:off x="609585" y="698483"/>
            <a:ext cx="776651" cy="107947"/>
          </a:xfrm>
          <a:prstGeom prst="rect">
            <a:avLst/>
          </a:prstGeom>
          <a:noFill/>
          <a:ln/>
        </p:spPr>
        <p:txBody>
          <a:bodyPr wrap="square" lIns="0" tIns="0" rIns="0" bIns="0" rtlCol="0" anchor="t"/>
          <a:lstStyle/>
          <a:p>
            <a:pPr algn="l" indent="0" marL="0">
              <a:lnSpc>
                <a:spcPts val="850"/>
              </a:lnSpc>
              <a:buNone/>
            </a:pPr>
            <a:r>
              <a:rPr lang="en-US" sz="850" b="1" spc="119" kern="0" dirty="0">
                <a:solidFill>
                  <a:srgbClr val="1FA9EA"/>
                </a:solidFill>
                <a:latin typeface="Arial" pitchFamily="34" charset="0"/>
                <a:ea typeface="Arial" pitchFamily="34" charset="-122"/>
                <a:cs typeface="Arial" pitchFamily="34" charset="-120"/>
              </a:rPr>
              <a:t>APPENDIX</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Rounded MT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Shooter Party — Game Proposal</dc:title>
  <dc:subject>PptxGenJS Presentation</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2026-10-18T11:11:25Z</dcterms:created>
  <dcterms:modified xsi:type="dcterms:W3CDTF">2026-10-18T11:11:25Z</dcterms:modified>
</cp:coreProperties>
</file>